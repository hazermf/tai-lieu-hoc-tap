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24818" autoAdjust="0"/>
  </p:normalViewPr>
  <p:slideViewPr>
    <p:cSldViewPr>
      <p:cViewPr varScale="1">
        <p:scale>
          <a:sx n="52" d="100"/>
          <a:sy n="52" d="100"/>
        </p:scale>
        <p:origin x="4188" y="60"/>
      </p:cViewPr>
      <p:guideLst>
        <p:guide orient="horz" pos="2880"/>
        <p:guide pos="2160"/>
      </p:guideLst>
    </p:cSldViewPr>
  </p:slideViewPr>
  <p:notesTextViewPr>
    <p:cViewPr>
      <p:scale>
        <a:sx n="100" d="100"/>
        <a:sy n="100" d="100"/>
      </p:scale>
      <p:origin x="0" y="-12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FB1434FA-833D-4607-B2E8-33AA21B518FA}" type="datetimeFigureOut">
              <a:rPr lang="en-US" smtClean="0"/>
              <a:t>11/18/2025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239FF1FD-65A6-4FF9-B413-EF3BDF7973BD}" type="slidenum">
              <a:rPr lang="en-US" smtClean="0"/>
              <a:t>‹#›</a:t>
            </a:fld>
            <a:endParaRPr lang="en-US"/>
          </a:p>
        </p:txBody>
      </p:sp>
    </p:spTree>
    <p:extLst>
      <p:ext uri="{BB962C8B-B14F-4D97-AF65-F5344CB8AC3E}">
        <p14:creationId xmlns:p14="http://schemas.microsoft.com/office/powerpoint/2010/main" val="1591952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1. Khái niệm cơ bản (Basics)</a:t>
            </a:r>
          </a:p>
          <a:p>
            <a:r>
              <a:rPr lang="vi-VN" b="1" dirty="0"/>
              <a:t>Định nghĩa</a:t>
            </a:r>
          </a:p>
          <a:p>
            <a:pPr>
              <a:buFont typeface="Arial" panose="020B0604020202020204" pitchFamily="34" charset="0"/>
              <a:buChar char="•"/>
            </a:pPr>
            <a:r>
              <a:rPr lang="vi-VN" dirty="0"/>
              <a:t>Trong một hệ thống phân tán, </a:t>
            </a:r>
            <a:r>
              <a:rPr lang="vi-VN" b="1" dirty="0"/>
              <a:t>mỗi thành phần (component)</a:t>
            </a:r>
            <a:r>
              <a:rPr lang="vi-VN" dirty="0"/>
              <a:t> cung cấp </a:t>
            </a:r>
            <a:r>
              <a:rPr lang="vi-VN" b="1" dirty="0"/>
              <a:t>dịch vụ (service)</a:t>
            </a:r>
            <a:r>
              <a:rPr lang="vi-VN" dirty="0"/>
              <a:t> cho </a:t>
            </a:r>
            <a:r>
              <a:rPr lang="vi-VN" b="1" dirty="0"/>
              <a:t>client</a:t>
            </a:r>
            <a:r>
              <a:rPr lang="vi-VN" dirty="0"/>
              <a:t>.</a:t>
            </a:r>
          </a:p>
          <a:p>
            <a:pPr>
              <a:buFont typeface="Arial" panose="020B0604020202020204" pitchFamily="34" charset="0"/>
              <a:buChar char="•"/>
            </a:pPr>
            <a:r>
              <a:rPr lang="vi-VN" dirty="0"/>
              <a:t>Để hoạt động, </a:t>
            </a:r>
            <a:r>
              <a:rPr lang="vi-VN" b="1" dirty="0"/>
              <a:t>thành phần này có thể cần sử dụng dịch vụ từ thành phần khác</a:t>
            </a:r>
            <a:r>
              <a:rPr lang="vi-VN" dirty="0"/>
              <a:t> ⇒ Nói cách khác, </a:t>
            </a:r>
            <a:r>
              <a:rPr lang="vi-VN" b="1" dirty="0"/>
              <a:t>một component có thể phụ thuộc (depend) vào component khác</a:t>
            </a:r>
            <a:r>
              <a:rPr lang="vi-VN" dirty="0"/>
              <a:t>.</a:t>
            </a:r>
          </a:p>
          <a:p>
            <a:r>
              <a:rPr lang="vi-VN" i="1" dirty="0"/>
              <a:t>Ví dụ minh họa:</a:t>
            </a:r>
            <a:endParaRPr lang="vi-VN" dirty="0"/>
          </a:p>
          <a:p>
            <a:pPr>
              <a:buFont typeface="Arial" panose="020B0604020202020204" pitchFamily="34" charset="0"/>
              <a:buChar char="•"/>
            </a:pPr>
            <a:r>
              <a:rPr lang="vi-VN" dirty="0"/>
              <a:t>Một </a:t>
            </a:r>
            <a:r>
              <a:rPr lang="vi-VN" b="1" dirty="0"/>
              <a:t>Web Server</a:t>
            </a:r>
            <a:r>
              <a:rPr lang="vi-VN" dirty="0"/>
              <a:t> (A) phụ thuộc vào </a:t>
            </a:r>
            <a:r>
              <a:rPr lang="vi-VN" b="1" dirty="0"/>
              <a:t>Database Server</a:t>
            </a:r>
            <a:r>
              <a:rPr lang="vi-VN" dirty="0"/>
              <a:t> (B) để lấy dữ liệu.</a:t>
            </a:r>
            <a:br>
              <a:rPr lang="vi-VN" dirty="0"/>
            </a:br>
            <a:r>
              <a:rPr lang="vi-VN" dirty="0"/>
              <a:t>Nếu B ngừng hoạt động, thì A không thể phục vụ người dùng → A không còn </a:t>
            </a:r>
            <a:r>
              <a:rPr lang="vi-VN" i="1" dirty="0"/>
              <a:t>dependable</a:t>
            </a:r>
            <a:r>
              <a:rPr lang="vi-VN" dirty="0"/>
              <a:t>.</a:t>
            </a:r>
          </a:p>
          <a:p>
            <a:endParaRPr lang="en-US" b="1" dirty="0"/>
          </a:p>
          <a:p>
            <a:r>
              <a:rPr lang="vi-VN" b="1" dirty="0"/>
              <a:t>2. Mối quan hệ phụ thuộc (Specifically)</a:t>
            </a:r>
          </a:p>
          <a:p>
            <a:r>
              <a:rPr lang="vi-VN" dirty="0"/>
              <a:t>Một component </a:t>
            </a:r>
            <a:r>
              <a:rPr lang="vi-VN" b="1" dirty="0"/>
              <a:t>C</a:t>
            </a:r>
            <a:r>
              <a:rPr lang="vi-VN" dirty="0"/>
              <a:t> phụ thuộc vào </a:t>
            </a:r>
            <a:r>
              <a:rPr lang="vi-VN" b="1" dirty="0"/>
              <a:t>C*</a:t>
            </a:r>
            <a:r>
              <a:rPr lang="vi-VN" dirty="0"/>
              <a:t> nếu:</a:t>
            </a:r>
          </a:p>
          <a:p>
            <a:r>
              <a:rPr lang="vi-VN" b="1" dirty="0"/>
              <a:t>Tính đúng đắn (correctness)</a:t>
            </a:r>
            <a:r>
              <a:rPr lang="vi-VN" dirty="0"/>
              <a:t> trong hành vi của </a:t>
            </a:r>
            <a:r>
              <a:rPr lang="vi-VN" b="1" dirty="0"/>
              <a:t>C</a:t>
            </a:r>
            <a:r>
              <a:rPr lang="vi-VN" dirty="0"/>
              <a:t> phụ thuộc vào tính đúng đắn của </a:t>
            </a:r>
            <a:r>
              <a:rPr lang="vi-VN" b="1" dirty="0"/>
              <a:t>C*</a:t>
            </a:r>
            <a:r>
              <a:rPr lang="vi-VN" dirty="0"/>
              <a:t>.</a:t>
            </a:r>
          </a:p>
          <a:p>
            <a:r>
              <a:rPr lang="vi-VN" dirty="0"/>
              <a:t>→ Các component ở đây có thể là:</a:t>
            </a:r>
          </a:p>
          <a:p>
            <a:pPr>
              <a:buFont typeface="Arial" panose="020B0604020202020204" pitchFamily="34" charset="0"/>
              <a:buChar char="•"/>
            </a:pPr>
            <a:r>
              <a:rPr lang="vi-VN" b="1" dirty="0"/>
              <a:t>Processes</a:t>
            </a:r>
            <a:r>
              <a:rPr lang="vi-VN" dirty="0"/>
              <a:t> (quy trình)</a:t>
            </a:r>
          </a:p>
          <a:p>
            <a:pPr>
              <a:buFont typeface="Arial" panose="020B0604020202020204" pitchFamily="34" charset="0"/>
              <a:buChar char="•"/>
            </a:pPr>
            <a:r>
              <a:rPr lang="vi-VN" b="1" dirty="0"/>
              <a:t>Channels</a:t>
            </a:r>
            <a:r>
              <a:rPr lang="vi-VN" dirty="0"/>
              <a:t> (kênh truyền thông giữa các quy trình)</a:t>
            </a:r>
          </a:p>
          <a:p>
            <a:r>
              <a:rPr lang="vi-VN" i="1" dirty="0"/>
              <a:t>Ví dụ:</a:t>
            </a:r>
            <a:br>
              <a:rPr lang="vi-VN" dirty="0"/>
            </a:br>
            <a:r>
              <a:rPr lang="vi-VN" dirty="0"/>
              <a:t>Trong hệ thống IoT phân tán, cảm biến (sensor) gửi dữ liệu qua gateway đến cloud server.</a:t>
            </a:r>
            <a:br>
              <a:rPr lang="vi-VN" dirty="0"/>
            </a:br>
            <a:r>
              <a:rPr lang="vi-VN" dirty="0"/>
              <a:t>Nếu gateway (C*) bị lỗi, cloud server (C) sẽ không nhận được dữ liệu ⇒ mất </a:t>
            </a:r>
            <a:r>
              <a:rPr lang="vi-VN" i="1" dirty="0"/>
              <a:t>dependability</a:t>
            </a:r>
            <a:r>
              <a:rPr lang="vi-VN" dirty="0"/>
              <a:t>.</a:t>
            </a:r>
          </a:p>
          <a:p>
            <a:endParaRPr lang="en-US" b="1" dirty="0"/>
          </a:p>
          <a:p>
            <a:r>
              <a:rPr lang="en-US" b="1" dirty="0"/>
              <a:t>3. </a:t>
            </a:r>
            <a:r>
              <a:rPr lang="vi-VN" b="1" dirty="0"/>
              <a:t>Các yêu cầu liên quan đến tính tin cậy (Requirements related to dependability)</a:t>
            </a:r>
          </a:p>
          <a:p>
            <a:r>
              <a:rPr lang="vi-VN" dirty="0"/>
              <a:t>Bảng dưới nêu 4 thuộc tính cốt lõi đảm bảo </a:t>
            </a:r>
            <a:r>
              <a:rPr lang="vi-VN" b="1" dirty="0"/>
              <a:t>một hệ thống có thể được tin cậy (dependable system):</a:t>
            </a:r>
            <a:endParaRPr lang="vi-VN" dirty="0"/>
          </a:p>
          <a:p>
            <a:r>
              <a:rPr lang="vi-VN" b="1" dirty="0"/>
              <a:t>Yêu cầu</a:t>
            </a:r>
            <a:r>
              <a:rPr lang="en-US" b="1" dirty="0"/>
              <a:t>		</a:t>
            </a:r>
            <a:r>
              <a:rPr lang="vi-VN" b="1" dirty="0"/>
              <a:t>Mô tả</a:t>
            </a:r>
            <a:endParaRPr lang="en-US" b="1" dirty="0"/>
          </a:p>
          <a:p>
            <a:r>
              <a:rPr lang="vi-VN" b="1" dirty="0"/>
              <a:t>Availability</a:t>
            </a:r>
            <a:r>
              <a:rPr lang="en-US" b="1" dirty="0"/>
              <a:t>		</a:t>
            </a:r>
            <a:r>
              <a:rPr lang="vi-VN" dirty="0"/>
              <a:t>Mức độ sẵn sàng sử dụng của hệ thống. </a:t>
            </a:r>
            <a:br>
              <a:rPr lang="vi-VN" dirty="0"/>
            </a:br>
            <a:r>
              <a:rPr lang="en-US" dirty="0"/>
              <a:t>		</a:t>
            </a:r>
            <a:r>
              <a:rPr lang="vi-VN" i="1" dirty="0"/>
              <a:t>(Hệ thống có hoạt động đúng tại thời điểm người dùng cần không?)</a:t>
            </a:r>
            <a:endParaRPr lang="en-US" i="1" dirty="0"/>
          </a:p>
          <a:p>
            <a:r>
              <a:rPr lang="vi-VN" b="1" dirty="0"/>
              <a:t>Reliability</a:t>
            </a:r>
            <a:r>
              <a:rPr lang="en-US" b="1" dirty="0"/>
              <a:t>		</a:t>
            </a:r>
            <a:r>
              <a:rPr lang="vi-VN" dirty="0"/>
              <a:t>Tính liên tục trong việc cung cấp dịch vụ. </a:t>
            </a:r>
            <a:br>
              <a:rPr lang="vi-VN" dirty="0"/>
            </a:br>
            <a:r>
              <a:rPr lang="en-US" dirty="0"/>
              <a:t>		</a:t>
            </a:r>
            <a:r>
              <a:rPr lang="vi-VN" i="1" dirty="0"/>
              <a:t>(Hệ thống hoạt động không gián đoạn trong bao lâu?)</a:t>
            </a:r>
            <a:endParaRPr lang="en-US" i="1" dirty="0"/>
          </a:p>
          <a:p>
            <a:r>
              <a:rPr lang="vi-VN" b="1" dirty="0"/>
              <a:t>Safety</a:t>
            </a:r>
            <a:r>
              <a:rPr lang="en-US" b="1" dirty="0"/>
              <a:t>		</a:t>
            </a:r>
            <a:r>
              <a:rPr lang="vi-VN" dirty="0"/>
              <a:t>Đảm bảo hệ thống không gây ra hậu quả nghiêm trọng. </a:t>
            </a:r>
            <a:br>
              <a:rPr lang="vi-VN" dirty="0"/>
            </a:br>
            <a:r>
              <a:rPr lang="en-US" dirty="0"/>
              <a:t>		</a:t>
            </a:r>
            <a:r>
              <a:rPr lang="vi-VN" i="1" dirty="0"/>
              <a:t>(Ví dụ: tránh lỗi gây hỏng dữ liệu, nổ lò phản ứng, v.v.)</a:t>
            </a:r>
            <a:endParaRPr lang="en-US" i="1" dirty="0"/>
          </a:p>
          <a:p>
            <a:r>
              <a:rPr lang="vi-VN" b="1" dirty="0"/>
              <a:t>Maintainability</a:t>
            </a:r>
            <a:r>
              <a:rPr lang="en-US" b="1" dirty="0"/>
              <a:t>	</a:t>
            </a:r>
            <a:r>
              <a:rPr lang="vi-VN" dirty="0"/>
              <a:t>Khả năng phục hồi và sửa chữa sau lỗi. </a:t>
            </a:r>
            <a:br>
              <a:rPr lang="vi-VN" dirty="0"/>
            </a:br>
            <a:r>
              <a:rPr lang="en-US" dirty="0"/>
              <a:t>		</a:t>
            </a:r>
            <a:r>
              <a:rPr lang="vi-VN" i="1" dirty="0"/>
              <a:t>(Hệ thống có dễ bảo trì và khôi phục sau sự cố không?)</a:t>
            </a:r>
            <a:endParaRPr lang="vi-VN" dirty="0"/>
          </a:p>
          <a:p>
            <a:endParaRPr lang="en-US" b="1" dirty="0"/>
          </a:p>
          <a:p>
            <a:r>
              <a:rPr lang="en-US" b="1" dirty="0"/>
              <a:t>4. </a:t>
            </a:r>
            <a:r>
              <a:rPr lang="vi-VN" b="1" dirty="0"/>
              <a:t>Tóm tắt theo góc nhìn giảng dạy</a:t>
            </a:r>
          </a:p>
          <a:p>
            <a:r>
              <a:rPr lang="vi-VN" b="1" dirty="0"/>
              <a:t>Khía cạnh</a:t>
            </a:r>
            <a:r>
              <a:rPr lang="en-US" b="1" dirty="0"/>
              <a:t>			</a:t>
            </a:r>
            <a:r>
              <a:rPr lang="vi-VN" b="1" dirty="0"/>
              <a:t>Ý nghĩa trong hệ thống phân tán</a:t>
            </a:r>
            <a:endParaRPr lang="en-US" b="1" dirty="0"/>
          </a:p>
          <a:p>
            <a:r>
              <a:rPr lang="vi-VN" b="1" dirty="0"/>
              <a:t>Dependability</a:t>
            </a:r>
            <a:r>
              <a:rPr lang="en-US" b="1" dirty="0"/>
              <a:t>		</a:t>
            </a:r>
            <a:r>
              <a:rPr lang="vi-VN" dirty="0"/>
              <a:t>Là khả năng </a:t>
            </a:r>
            <a:r>
              <a:rPr lang="vi-VN" i="1" dirty="0"/>
              <a:t>đáng tin cậy</a:t>
            </a:r>
            <a:r>
              <a:rPr lang="vi-VN" dirty="0"/>
              <a:t> tổng thể của hệ thống.</a:t>
            </a:r>
            <a:endParaRPr lang="en-US" dirty="0"/>
          </a:p>
          <a:p>
            <a:r>
              <a:rPr lang="vi-VN" b="1" dirty="0"/>
              <a:t>Phụ thuộc giữa components</a:t>
            </a:r>
            <a:r>
              <a:rPr lang="en-US" b="1" dirty="0"/>
              <a:t>	</a:t>
            </a:r>
            <a:r>
              <a:rPr lang="vi-VN" dirty="0"/>
              <a:t>Một node hoặc process có thể phụ thuộc vào node khác – do đó lỗi có thể lan truyền.</a:t>
            </a:r>
            <a:endParaRPr lang="en-US" dirty="0"/>
          </a:p>
          <a:p>
            <a:r>
              <a:rPr lang="vi-VN" b="1" dirty="0"/>
              <a:t>4 tiêu chí chính</a:t>
            </a:r>
            <a:r>
              <a:rPr lang="en-US" b="1" dirty="0"/>
              <a:t>		</a:t>
            </a:r>
            <a:r>
              <a:rPr lang="vi-VN" dirty="0"/>
              <a:t>Availability, Reliability, Safety, Maintainability là 4 trụ cột đảm bảo hệ thống chịu lỗi tốt.</a:t>
            </a:r>
          </a:p>
          <a:p>
            <a:endParaRPr lang="en-US" b="1" dirty="0"/>
          </a:p>
          <a:p>
            <a:r>
              <a:rPr lang="en-US" b="1" dirty="0"/>
              <a:t>5. </a:t>
            </a:r>
            <a:r>
              <a:rPr lang="vi-VN" b="1" dirty="0"/>
              <a:t>Ví dụ thực tế minh họa</a:t>
            </a:r>
          </a:p>
          <a:p>
            <a:r>
              <a:rPr lang="vi-VN" dirty="0"/>
              <a:t>Giả sử hệ thống thương mại điện tử có 3 thành phần:</a:t>
            </a:r>
          </a:p>
          <a:p>
            <a:pPr>
              <a:buFont typeface="Arial" panose="020B0604020202020204" pitchFamily="34" charset="0"/>
              <a:buChar char="•"/>
            </a:pPr>
            <a:r>
              <a:rPr lang="vi-VN" b="1" dirty="0"/>
              <a:t>Frontend (Web UI)</a:t>
            </a:r>
            <a:endParaRPr lang="vi-VN" dirty="0"/>
          </a:p>
          <a:p>
            <a:pPr>
              <a:buFont typeface="Arial" panose="020B0604020202020204" pitchFamily="34" charset="0"/>
              <a:buChar char="•"/>
            </a:pPr>
            <a:r>
              <a:rPr lang="vi-VN" b="1" dirty="0"/>
              <a:t>Backend API</a:t>
            </a:r>
            <a:endParaRPr lang="vi-VN" dirty="0"/>
          </a:p>
          <a:p>
            <a:pPr>
              <a:buFont typeface="Arial" panose="020B0604020202020204" pitchFamily="34" charset="0"/>
              <a:buChar char="•"/>
            </a:pPr>
            <a:r>
              <a:rPr lang="vi-VN" b="1" dirty="0"/>
              <a:t>Database</a:t>
            </a:r>
            <a:endParaRPr lang="vi-VN" dirty="0"/>
          </a:p>
          <a:p>
            <a:r>
              <a:rPr lang="vi-VN" dirty="0"/>
              <a:t>Trường hợp</a:t>
            </a:r>
            <a:r>
              <a:rPr lang="en-US" dirty="0"/>
              <a:t>			</a:t>
            </a:r>
            <a:r>
              <a:rPr lang="vi-VN" dirty="0"/>
              <a:t>Mức độ ảnh hưởng đến dependability</a:t>
            </a:r>
            <a:endParaRPr lang="en-US" dirty="0"/>
          </a:p>
          <a:p>
            <a:r>
              <a:rPr lang="vi-VN" dirty="0"/>
              <a:t>Database ngừng hoạt động</a:t>
            </a:r>
            <a:r>
              <a:rPr lang="en-US" dirty="0"/>
              <a:t>		</a:t>
            </a:r>
            <a:r>
              <a:rPr lang="vi-VN" dirty="0"/>
              <a:t>→ Ảnh hưởng đến reliability &amp; availability</a:t>
            </a:r>
            <a:endParaRPr lang="en-US" dirty="0"/>
          </a:p>
          <a:p>
            <a:r>
              <a:rPr lang="vi-VN" dirty="0"/>
              <a:t>API bị treo trong 5 phút</a:t>
            </a:r>
            <a:r>
              <a:rPr lang="en-US" dirty="0"/>
              <a:t>		</a:t>
            </a:r>
            <a:r>
              <a:rPr lang="vi-VN" dirty="0"/>
              <a:t>→ Giảm reliability nhưng có thể khôi phục được</a:t>
            </a:r>
            <a:endParaRPr lang="en-US" dirty="0"/>
          </a:p>
          <a:p>
            <a:r>
              <a:rPr lang="vi-VN" dirty="0"/>
              <a:t>Dữ liệu bị ghi sai do lỗi mã hóa</a:t>
            </a:r>
            <a:r>
              <a:rPr lang="en-US" dirty="0"/>
              <a:t>	</a:t>
            </a:r>
            <a:r>
              <a:rPr lang="vi-VN" dirty="0"/>
              <a:t>→ Ảnh hưởng safety</a:t>
            </a:r>
            <a:endParaRPr lang="en-US" dirty="0"/>
          </a:p>
          <a:p>
            <a:r>
              <a:rPr lang="vi-VN" dirty="0"/>
              <a:t>Hệ thống khôi phục nhanh trong 2 phút</a:t>
            </a:r>
            <a:r>
              <a:rPr lang="en-US" dirty="0"/>
              <a:t>	</a:t>
            </a:r>
            <a:r>
              <a:rPr lang="vi-VN" dirty="0"/>
              <a:t>→ Tăng maintainability</a:t>
            </a:r>
          </a:p>
          <a:p>
            <a:endParaRPr lang="en-US" b="1" dirty="0"/>
          </a:p>
          <a:p>
            <a:r>
              <a:rPr lang="vi-VN" b="1" dirty="0"/>
              <a:t>Kết luận</a:t>
            </a:r>
          </a:p>
          <a:p>
            <a:r>
              <a:rPr lang="vi-VN" b="1" dirty="0"/>
              <a:t>Dependability</a:t>
            </a:r>
            <a:r>
              <a:rPr lang="vi-VN" dirty="0"/>
              <a:t> là nền tảng của tính chịu lỗi </a:t>
            </a:r>
            <a:r>
              <a:rPr lang="en-US" dirty="0"/>
              <a:t>-</a:t>
            </a:r>
            <a:r>
              <a:rPr lang="vi-VN" dirty="0"/>
              <a:t> nó không chỉ nói về việc “hệ thống có chạy không”, mà còn nói về việc “hệ thống có thể được tin cậy, duy trì, và khôi phục an toàn sau lỗi hay không”.</a:t>
            </a:r>
          </a:p>
          <a:p>
            <a:r>
              <a:rPr lang="vi-VN" dirty="0"/>
              <a:t>Bốn tiêu chí </a:t>
            </a:r>
            <a:r>
              <a:rPr lang="vi-VN" b="1" dirty="0"/>
              <a:t>Availability – Reliability – Safety – Maintainability</a:t>
            </a:r>
            <a:r>
              <a:rPr lang="vi-VN" dirty="0"/>
              <a:t> chính là thước đo để đánh giá độ </a:t>
            </a:r>
            <a:r>
              <a:rPr lang="vi-VN" i="1" dirty="0"/>
              <a:t>bền vững và đáng tin cậy</a:t>
            </a:r>
            <a:r>
              <a:rPr lang="vi-VN" dirty="0"/>
              <a:t> của một hệ thống phân tán.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3</a:t>
            </a:fld>
            <a:endParaRPr lang="en-US"/>
          </a:p>
        </p:txBody>
      </p:sp>
    </p:spTree>
    <p:extLst>
      <p:ext uri="{BB962C8B-B14F-4D97-AF65-F5344CB8AC3E}">
        <p14:creationId xmlns:p14="http://schemas.microsoft.com/office/powerpoint/2010/main" val="1994764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Reliability versus Availability</a:t>
            </a:r>
          </a:p>
          <a:p>
            <a:r>
              <a:rPr lang="vi-VN" dirty="0"/>
              <a:t>Trong hệ thống phân tán, khi đánh giá mức độ </a:t>
            </a:r>
            <a:r>
              <a:rPr lang="vi-VN" i="1" dirty="0"/>
              <a:t>chịu lỗi</a:t>
            </a:r>
            <a:r>
              <a:rPr lang="vi-VN" dirty="0"/>
              <a:t>, hai khái niệm quan trọng nhất là:</a:t>
            </a:r>
          </a:p>
          <a:p>
            <a:pPr>
              <a:buFont typeface="Arial" panose="020B0604020202020204" pitchFamily="34" charset="0"/>
              <a:buChar char="•"/>
            </a:pPr>
            <a:r>
              <a:rPr lang="vi-VN" b="1" dirty="0"/>
              <a:t>Reliability (Độ tin cậy)</a:t>
            </a:r>
            <a:endParaRPr lang="vi-VN" dirty="0"/>
          </a:p>
          <a:p>
            <a:pPr>
              <a:buFont typeface="Arial" panose="020B0604020202020204" pitchFamily="34" charset="0"/>
              <a:buChar char="•"/>
            </a:pPr>
            <a:r>
              <a:rPr lang="vi-VN" b="1" dirty="0"/>
              <a:t>Availability (Mức độ sẵn sàng)</a:t>
            </a:r>
            <a:endParaRPr lang="vi-VN" dirty="0"/>
          </a:p>
          <a:p>
            <a:r>
              <a:rPr lang="vi-VN" dirty="0"/>
              <a:t>Mặc dù hai chỉ số này liên quan chặt chẽ, nhưng chúng </a:t>
            </a:r>
            <a:r>
              <a:rPr lang="vi-VN" b="1" dirty="0"/>
              <a:t>không giống nhau</a:t>
            </a:r>
            <a:r>
              <a:rPr lang="vi-VN" dirty="0"/>
              <a:t>.</a:t>
            </a:r>
          </a:p>
          <a:p>
            <a:r>
              <a:rPr lang="vi-VN" b="1" dirty="0"/>
              <a:t>Reliability R(t): Độ tin cậy của component C</a:t>
            </a:r>
          </a:p>
          <a:p>
            <a:r>
              <a:rPr lang="vi-VN" b="1" dirty="0"/>
              <a:t>Reliability R(t)</a:t>
            </a:r>
            <a:r>
              <a:rPr lang="vi-VN" dirty="0"/>
              <a:t> là:</a:t>
            </a:r>
          </a:p>
          <a:p>
            <a:r>
              <a:rPr lang="vi-VN" b="1" dirty="0"/>
              <a:t>Xác suất có điều kiện rằng component C đã hoạt động đúng suốt khoảng thời gian [0, t], với điều kiện tại thời điểm t = 0 nó hoạt động bình thường.</a:t>
            </a:r>
            <a:endParaRPr lang="vi-VN" dirty="0"/>
          </a:p>
          <a:p>
            <a:r>
              <a:rPr lang="en-US" dirty="0"/>
              <a:t>* </a:t>
            </a:r>
            <a:r>
              <a:rPr lang="vi-VN" dirty="0"/>
              <a:t>Nói đơn giản hơn:</a:t>
            </a:r>
            <a:br>
              <a:rPr lang="vi-VN" dirty="0"/>
            </a:br>
            <a:r>
              <a:rPr lang="vi-VN" b="1" dirty="0"/>
              <a:t>Reliability</a:t>
            </a:r>
            <a:r>
              <a:rPr lang="vi-VN" dirty="0"/>
              <a:t> đo lường khả năng hệ thống hoạt động </a:t>
            </a:r>
            <a:r>
              <a:rPr lang="vi-VN" i="1" dirty="0"/>
              <a:t>liên tục, không bị lỗi</a:t>
            </a:r>
            <a:r>
              <a:rPr lang="vi-VN" dirty="0"/>
              <a:t>, trong một khoảng thời gian.</a:t>
            </a:r>
          </a:p>
          <a:p>
            <a:r>
              <a:rPr lang="en-US" dirty="0"/>
              <a:t>* </a:t>
            </a:r>
            <a:r>
              <a:rPr lang="vi-VN" i="1" dirty="0"/>
              <a:t>Ví dụ:</a:t>
            </a:r>
            <a:br>
              <a:rPr lang="vi-VN" dirty="0"/>
            </a:br>
            <a:r>
              <a:rPr lang="vi-VN" dirty="0"/>
              <a:t>Một server có Reliability cao nếu nó chạy liền 100 giờ không lỗi lần nào.</a:t>
            </a:r>
          </a:p>
          <a:p>
            <a:endParaRPr lang="en-US" b="1" dirty="0"/>
          </a:p>
          <a:p>
            <a:endParaRPr lang="en-US" b="1" dirty="0"/>
          </a:p>
          <a:p>
            <a:r>
              <a:rPr lang="en-US" b="1" dirty="0"/>
              <a:t>- </a:t>
            </a:r>
            <a:r>
              <a:rPr lang="vi-VN" b="1" dirty="0"/>
              <a:t>Các chỉ số truyền thống (Traditional metrics)</a:t>
            </a:r>
          </a:p>
          <a:p>
            <a:r>
              <a:rPr lang="en-US" b="1" dirty="0"/>
              <a:t>1.</a:t>
            </a:r>
            <a:r>
              <a:rPr lang="vi-VN" b="1" dirty="0"/>
              <a:t> MTTF – Mean Time To Failure</a:t>
            </a:r>
          </a:p>
          <a:p>
            <a:pPr>
              <a:buFont typeface="Arial" panose="020B0604020202020204" pitchFamily="34" charset="0"/>
              <a:buChar char="•"/>
            </a:pPr>
            <a:r>
              <a:rPr lang="vi-VN" dirty="0"/>
              <a:t>Thời gian trung bình </a:t>
            </a:r>
            <a:r>
              <a:rPr lang="vi-VN" b="1" dirty="0"/>
              <a:t>cho đến khi hệ thống gặp lỗi</a:t>
            </a:r>
            <a:r>
              <a:rPr lang="vi-VN" dirty="0"/>
              <a:t>.</a:t>
            </a:r>
          </a:p>
          <a:p>
            <a:pPr>
              <a:buFont typeface="Arial" panose="020B0604020202020204" pitchFamily="34" charset="0"/>
              <a:buChar char="•"/>
            </a:pPr>
            <a:r>
              <a:rPr lang="vi-VN" dirty="0"/>
              <a:t>Càng lớn thì </a:t>
            </a:r>
            <a:r>
              <a:rPr lang="vi-VN" b="1" dirty="0"/>
              <a:t>reliability càng cao</a:t>
            </a:r>
            <a:r>
              <a:rPr lang="vi-VN" dirty="0"/>
              <a:t>.</a:t>
            </a:r>
          </a:p>
          <a:p>
            <a:r>
              <a:rPr lang="en-US" dirty="0"/>
              <a:t>* </a:t>
            </a:r>
            <a:r>
              <a:rPr lang="vi-VN" i="1" dirty="0"/>
              <a:t>Ví dụ:</a:t>
            </a:r>
            <a:br>
              <a:rPr lang="vi-VN" dirty="0"/>
            </a:br>
            <a:r>
              <a:rPr lang="vi-VN" dirty="0"/>
              <a:t>MTTF = 1000 giờ ⇒ trung bình 1000 giờ mới hỏng một lần.</a:t>
            </a:r>
          </a:p>
          <a:p>
            <a:r>
              <a:rPr lang="en-US" b="1" dirty="0"/>
              <a:t>2.</a:t>
            </a:r>
            <a:r>
              <a:rPr lang="vi-VN" b="1" dirty="0"/>
              <a:t> MTTR – Mean Time To Repair</a:t>
            </a:r>
          </a:p>
          <a:p>
            <a:pPr>
              <a:buFont typeface="Arial" panose="020B0604020202020204" pitchFamily="34" charset="0"/>
              <a:buChar char="•"/>
            </a:pPr>
            <a:r>
              <a:rPr lang="vi-VN" dirty="0"/>
              <a:t>Thời gian trung bình cần để </a:t>
            </a:r>
            <a:r>
              <a:rPr lang="vi-VN" b="1" dirty="0"/>
              <a:t>sửa chữa và đưa hệ thống hoạt động trở lại</a:t>
            </a:r>
            <a:r>
              <a:rPr lang="vi-VN" dirty="0"/>
              <a:t>.</a:t>
            </a:r>
          </a:p>
          <a:p>
            <a:pPr>
              <a:buFont typeface="Arial" panose="020B0604020202020204" pitchFamily="34" charset="0"/>
              <a:buChar char="•"/>
            </a:pPr>
            <a:r>
              <a:rPr lang="vi-VN" dirty="0"/>
              <a:t>Càng nhỏ → </a:t>
            </a:r>
            <a:r>
              <a:rPr lang="vi-VN" b="1" dirty="0"/>
              <a:t>khả năng phục hồi càng tốt</a:t>
            </a:r>
            <a:r>
              <a:rPr lang="vi-VN" dirty="0"/>
              <a:t>.</a:t>
            </a:r>
          </a:p>
          <a:p>
            <a:r>
              <a:rPr lang="en-US" dirty="0"/>
              <a:t>* </a:t>
            </a:r>
            <a:r>
              <a:rPr lang="vi-VN" i="1" dirty="0"/>
              <a:t>Ví dụ:</a:t>
            </a:r>
            <a:br>
              <a:rPr lang="vi-VN" dirty="0"/>
            </a:br>
            <a:r>
              <a:rPr lang="vi-VN" dirty="0"/>
              <a:t>MTTR = 2 giờ ⇒ mỗi lần lỗi mất 2 giờ để sửa.</a:t>
            </a:r>
          </a:p>
          <a:p>
            <a:r>
              <a:rPr lang="en-US" b="1" dirty="0"/>
              <a:t>3.</a:t>
            </a:r>
            <a:r>
              <a:rPr lang="vi-VN" b="1" dirty="0"/>
              <a:t> MTBF – Mean Time Between Failures</a:t>
            </a:r>
          </a:p>
          <a:p>
            <a:r>
              <a:rPr lang="vi-VN" dirty="0"/>
              <a:t>Được định nghĩa là:</a:t>
            </a:r>
          </a:p>
          <a:p>
            <a:r>
              <a:rPr lang="vi-VN" dirty="0"/>
              <a:t>MTBF=MTTF+MTTR</a:t>
            </a:r>
            <a:endParaRPr lang="en-US" dirty="0"/>
          </a:p>
          <a:p>
            <a:r>
              <a:rPr lang="vi-VN" dirty="0"/>
              <a:t>Ý nghĩa:</a:t>
            </a:r>
          </a:p>
          <a:p>
            <a:pPr>
              <a:buFont typeface="Arial" panose="020B0604020202020204" pitchFamily="34" charset="0"/>
              <a:buChar char="•"/>
            </a:pPr>
            <a:r>
              <a:rPr lang="vi-VN" dirty="0"/>
              <a:t>Khoảng thời gian trung bình </a:t>
            </a:r>
            <a:r>
              <a:rPr lang="vi-VN" i="1" dirty="0"/>
              <a:t>giữa hai lần hệ thống bị lỗi liên tiếp</a:t>
            </a:r>
            <a:r>
              <a:rPr lang="vi-VN" dirty="0"/>
              <a:t>.</a:t>
            </a:r>
          </a:p>
          <a:p>
            <a:pPr>
              <a:buFont typeface="Arial" panose="020B0604020202020204" pitchFamily="34" charset="0"/>
              <a:buChar char="•"/>
            </a:pPr>
            <a:r>
              <a:rPr lang="vi-VN" dirty="0"/>
              <a:t>Dùng nhiều trong các hệ thống phần cứng/thiết bị.</a:t>
            </a:r>
          </a:p>
          <a:p>
            <a:r>
              <a:rPr lang="vi-VN" dirty="0"/>
              <a:t>Lưu ý:</a:t>
            </a:r>
          </a:p>
          <a:p>
            <a:pPr>
              <a:buFont typeface="Arial" panose="020B0604020202020204" pitchFamily="34" charset="0"/>
              <a:buChar char="•"/>
            </a:pPr>
            <a:r>
              <a:rPr lang="vi-VN" b="1" dirty="0"/>
              <a:t>Reliability</a:t>
            </a:r>
            <a:r>
              <a:rPr lang="vi-VN" dirty="0"/>
              <a:t> phụ thuộc vào </a:t>
            </a:r>
            <a:r>
              <a:rPr lang="vi-VN" i="1" dirty="0"/>
              <a:t>MTTF</a:t>
            </a:r>
            <a:r>
              <a:rPr lang="vi-VN" dirty="0"/>
              <a:t>.</a:t>
            </a:r>
          </a:p>
          <a:p>
            <a:pPr>
              <a:buFont typeface="Arial" panose="020B0604020202020204" pitchFamily="34" charset="0"/>
              <a:buChar char="•"/>
            </a:pPr>
            <a:r>
              <a:rPr lang="vi-VN" b="1" dirty="0"/>
              <a:t>Availability</a:t>
            </a:r>
            <a:r>
              <a:rPr lang="vi-VN" dirty="0"/>
              <a:t> phụ thuộc vào </a:t>
            </a:r>
            <a:r>
              <a:rPr lang="vi-VN" i="1" dirty="0"/>
              <a:t>MTTF và MTTR</a:t>
            </a:r>
            <a:r>
              <a:rPr lang="vi-VN" dirty="0"/>
              <a:t> (vì availability = thời gian hoạt động / tổng thời gian).</a:t>
            </a:r>
          </a:p>
          <a:p>
            <a:endParaRPr lang="en-US" b="1" dirty="0"/>
          </a:p>
          <a:p>
            <a:r>
              <a:rPr lang="vi-VN" b="1" dirty="0"/>
              <a:t>Minh họa phân biệt Reliability vs Availability</a:t>
            </a:r>
          </a:p>
          <a:p>
            <a:r>
              <a:rPr lang="vi-VN" dirty="0"/>
              <a:t>Thuộc tính</a:t>
            </a:r>
            <a:r>
              <a:rPr lang="en-US" dirty="0"/>
              <a:t>	</a:t>
            </a:r>
            <a:r>
              <a:rPr lang="vi-VN" dirty="0"/>
              <a:t>Câu hỏi đo lường</a:t>
            </a:r>
            <a:r>
              <a:rPr lang="en-US" dirty="0"/>
              <a:t>			</a:t>
            </a:r>
            <a:r>
              <a:rPr lang="vi-VN" dirty="0"/>
              <a:t>Ví dụ</a:t>
            </a:r>
            <a:endParaRPr lang="en-US" dirty="0"/>
          </a:p>
          <a:p>
            <a:r>
              <a:rPr lang="vi-VN" b="1" dirty="0"/>
              <a:t>Reliability</a:t>
            </a:r>
            <a:r>
              <a:rPr lang="en-US" b="1" dirty="0"/>
              <a:t>	</a:t>
            </a:r>
            <a:r>
              <a:rPr lang="vi-VN" dirty="0"/>
              <a:t>“Hệ thống có chạy liên tục không?”</a:t>
            </a:r>
            <a:r>
              <a:rPr lang="en-US" dirty="0"/>
              <a:t>		</a:t>
            </a:r>
            <a:r>
              <a:rPr lang="vi-VN" dirty="0"/>
              <a:t>Server hoạt động 1 năm không hỏng → Reliability cao</a:t>
            </a:r>
            <a:endParaRPr lang="en-US" dirty="0"/>
          </a:p>
          <a:p>
            <a:r>
              <a:rPr lang="vi-VN" b="1" dirty="0"/>
              <a:t>Availability</a:t>
            </a:r>
            <a:r>
              <a:rPr lang="en-US" b="1" dirty="0"/>
              <a:t>	</a:t>
            </a:r>
            <a:r>
              <a:rPr lang="vi-VN" dirty="0"/>
              <a:t>“Tại thời điểm cần, hệ thống có hoạt động không?”</a:t>
            </a:r>
            <a:r>
              <a:rPr lang="en-US" dirty="0"/>
              <a:t>	</a:t>
            </a:r>
            <a:r>
              <a:rPr lang="vi-VN" dirty="0"/>
              <a:t>Server hay hỏng nhưng sửa rất nhanh → Availability vẫn cao</a:t>
            </a:r>
          </a:p>
          <a:p>
            <a:endParaRPr lang="en-US" b="1" dirty="0"/>
          </a:p>
          <a:p>
            <a:r>
              <a:rPr lang="vi-VN" b="1" dirty="0"/>
              <a:t>Ví dụ đời thực</a:t>
            </a:r>
          </a:p>
          <a:p>
            <a:r>
              <a:rPr lang="en-US" b="1" dirty="0"/>
              <a:t>- </a:t>
            </a:r>
            <a:r>
              <a:rPr lang="vi-VN" b="1" dirty="0"/>
              <a:t>Xe máy của bạn:</a:t>
            </a:r>
          </a:p>
          <a:p>
            <a:pPr>
              <a:buFont typeface="Arial" panose="020B0604020202020204" pitchFamily="34" charset="0"/>
              <a:buChar char="•"/>
            </a:pPr>
            <a:r>
              <a:rPr lang="vi-VN" dirty="0"/>
              <a:t>Có thể ít hỏng (reliable)</a:t>
            </a:r>
          </a:p>
          <a:p>
            <a:pPr>
              <a:buFont typeface="Arial" panose="020B0604020202020204" pitchFamily="34" charset="0"/>
              <a:buChar char="•"/>
            </a:pPr>
            <a:r>
              <a:rPr lang="vi-VN" dirty="0"/>
              <a:t>Nhưng khi hỏng phải sửa mất 2 ngày → availability thấp</a:t>
            </a:r>
          </a:p>
          <a:p>
            <a:r>
              <a:rPr lang="en-US" b="1" dirty="0"/>
              <a:t>- </a:t>
            </a:r>
            <a:r>
              <a:rPr lang="vi-VN" b="1" dirty="0"/>
              <a:t>Taxi công nghệ:</a:t>
            </a:r>
          </a:p>
          <a:p>
            <a:pPr>
              <a:buFont typeface="Arial" panose="020B0604020202020204" pitchFamily="34" charset="0"/>
              <a:buChar char="•"/>
            </a:pPr>
            <a:r>
              <a:rPr lang="vi-VN" dirty="0"/>
              <a:t>Có thể hay hỏng (low reliability)</a:t>
            </a:r>
          </a:p>
          <a:p>
            <a:pPr>
              <a:buFont typeface="Arial" panose="020B0604020202020204" pitchFamily="34" charset="0"/>
              <a:buChar char="•"/>
            </a:pPr>
            <a:r>
              <a:rPr lang="vi-VN" dirty="0"/>
              <a:t>Nhưng sửa 10 phút là chạy được → availability cao</a:t>
            </a:r>
          </a:p>
          <a:p>
            <a:r>
              <a:rPr lang="vi-VN" dirty="0"/>
              <a:t>→ Tùy ứng dụng mà doanh nghiệp quan tâm hơn đến </a:t>
            </a:r>
            <a:r>
              <a:rPr lang="vi-VN" i="1" dirty="0"/>
              <a:t>reliability</a:t>
            </a:r>
            <a:r>
              <a:rPr lang="vi-VN" dirty="0"/>
              <a:t> hoặc </a:t>
            </a:r>
            <a:r>
              <a:rPr lang="vi-VN" i="1" dirty="0"/>
              <a:t>availability</a:t>
            </a:r>
            <a:r>
              <a:rPr lang="vi-VN" dirty="0"/>
              <a:t>.</a:t>
            </a:r>
          </a:p>
          <a:p>
            <a:endParaRPr lang="en-US" b="1" dirty="0"/>
          </a:p>
          <a:p>
            <a:r>
              <a:rPr lang="vi-VN" b="1" dirty="0"/>
              <a:t>Kết luận slide</a:t>
            </a:r>
          </a:p>
          <a:p>
            <a:pPr>
              <a:buFont typeface="Arial" panose="020B0604020202020204" pitchFamily="34" charset="0"/>
              <a:buChar char="•"/>
            </a:pPr>
            <a:r>
              <a:rPr lang="vi-VN" b="1" dirty="0"/>
              <a:t>Reliability</a:t>
            </a:r>
            <a:r>
              <a:rPr lang="vi-VN" dirty="0"/>
              <a:t> là khả năng “</a:t>
            </a:r>
            <a:r>
              <a:rPr lang="vi-VN" i="1" dirty="0"/>
              <a:t>chạy không hỏng</a:t>
            </a:r>
            <a:r>
              <a:rPr lang="vi-VN" dirty="0"/>
              <a:t>”.</a:t>
            </a:r>
          </a:p>
          <a:p>
            <a:pPr>
              <a:buFont typeface="Arial" panose="020B0604020202020204" pitchFamily="34" charset="0"/>
              <a:buChar char="•"/>
            </a:pPr>
            <a:r>
              <a:rPr lang="vi-VN" dirty="0"/>
              <a:t>Được mô tả bằng: </a:t>
            </a:r>
            <a:r>
              <a:rPr lang="vi-VN" b="1" dirty="0"/>
              <a:t>MTTF, MTTR, MTBF</a:t>
            </a:r>
            <a:r>
              <a:rPr lang="vi-VN" dirty="0"/>
              <a:t>.</a:t>
            </a:r>
          </a:p>
          <a:p>
            <a:pPr>
              <a:buFont typeface="Arial" panose="020B0604020202020204" pitchFamily="34" charset="0"/>
              <a:buChar char="•"/>
            </a:pPr>
            <a:r>
              <a:rPr lang="vi-VN" dirty="0"/>
              <a:t>Đây là nền tảng để hiểu sâu hơn các mô hình </a:t>
            </a:r>
            <a:r>
              <a:rPr lang="vi-VN" b="1" dirty="0"/>
              <a:t>fault tolerance</a:t>
            </a:r>
            <a:r>
              <a:rPr lang="vi-VN" dirty="0"/>
              <a:t> trong hệ thống phân tán.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4</a:t>
            </a:fld>
            <a:endParaRPr lang="en-US"/>
          </a:p>
        </p:txBody>
      </p:sp>
    </p:spTree>
    <p:extLst>
      <p:ext uri="{BB962C8B-B14F-4D97-AF65-F5344CB8AC3E}">
        <p14:creationId xmlns:p14="http://schemas.microsoft.com/office/powerpoint/2010/main" val="2544530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Reliability versus Availability</a:t>
            </a:r>
          </a:p>
          <a:p>
            <a:r>
              <a:rPr lang="vi-VN" dirty="0"/>
              <a:t>Slide này giúp phân biệt </a:t>
            </a:r>
            <a:r>
              <a:rPr lang="vi-VN" b="1" dirty="0"/>
              <a:t>Reliability (độ tin cậy)</a:t>
            </a:r>
            <a:r>
              <a:rPr lang="vi-VN" dirty="0"/>
              <a:t> và </a:t>
            </a:r>
            <a:r>
              <a:rPr lang="vi-VN" b="1" dirty="0"/>
              <a:t>Availability (độ sẵn sàng)</a:t>
            </a:r>
            <a:r>
              <a:rPr lang="vi-VN" dirty="0"/>
              <a:t>—hai khái niệm rất quan trọng trong thiết kế hệ thống phân tán chịu lỗi.</a:t>
            </a:r>
          </a:p>
          <a:p>
            <a:endParaRPr lang="en-US" b="1" dirty="0"/>
          </a:p>
          <a:p>
            <a:r>
              <a:rPr lang="en-US" b="1" dirty="0"/>
              <a:t>1. </a:t>
            </a:r>
            <a:r>
              <a:rPr lang="vi-VN" b="1" dirty="0"/>
              <a:t>Availability A(t) – Độ sẵn sàng của thành phần C</a:t>
            </a:r>
          </a:p>
          <a:p>
            <a:r>
              <a:rPr lang="vi-VN" b="1" dirty="0"/>
              <a:t>Định nghĩa:</a:t>
            </a:r>
            <a:br>
              <a:rPr lang="vi-VN" dirty="0"/>
            </a:br>
            <a:r>
              <a:rPr lang="vi-VN" dirty="0"/>
              <a:t>Availability là </a:t>
            </a:r>
            <a:r>
              <a:rPr lang="vi-VN" i="1" dirty="0"/>
              <a:t>tỉ lệ thời gian</a:t>
            </a:r>
            <a:r>
              <a:rPr lang="vi-VN" dirty="0"/>
              <a:t> mà một thành phần </a:t>
            </a:r>
            <a:r>
              <a:rPr lang="vi-VN" b="1" dirty="0"/>
              <a:t>đang ở trong trạng thái hoạt động đúng (running)</a:t>
            </a:r>
            <a:r>
              <a:rPr lang="vi-VN" dirty="0"/>
              <a:t> trong khoảng thời gian [0,t].</a:t>
            </a:r>
          </a:p>
          <a:p>
            <a:r>
              <a:rPr lang="vi-VN" dirty="0"/>
              <a:t>Nói cách khác:</a:t>
            </a:r>
          </a:p>
          <a:p>
            <a:r>
              <a:rPr lang="vi-VN" b="1" dirty="0"/>
              <a:t>Trong khoảng từ 0 → t, thành phần C “sống” bao nhiêu phần trăm thời gian?</a:t>
            </a:r>
            <a:endParaRPr lang="vi-VN" dirty="0"/>
          </a:p>
          <a:p>
            <a:endParaRPr lang="en-US" b="1" dirty="0"/>
          </a:p>
          <a:p>
            <a:r>
              <a:rPr lang="en-US" b="1" dirty="0"/>
              <a:t>2. </a:t>
            </a:r>
            <a:r>
              <a:rPr lang="vi-VN" b="1" dirty="0"/>
              <a:t>Công thức Availability dài hạn</a:t>
            </a:r>
          </a:p>
          <a:p>
            <a:r>
              <a:rPr lang="vi-VN" dirty="0"/>
              <a:t>Slide đưa ra công thức:</a:t>
            </a:r>
          </a:p>
          <a:p>
            <a:r>
              <a:rPr lang="vi-VN" dirty="0"/>
              <a:t>A=MTTFMTTF+MTTR</a:t>
            </a:r>
            <a:endParaRPr lang="en-US" dirty="0"/>
          </a:p>
          <a:p>
            <a:r>
              <a:rPr lang="vi-VN" dirty="0"/>
              <a:t>Trong đó:</a:t>
            </a:r>
          </a:p>
          <a:p>
            <a:pPr>
              <a:buFont typeface="Arial" panose="020B0604020202020204" pitchFamily="34" charset="0"/>
              <a:buChar char="•"/>
            </a:pPr>
            <a:r>
              <a:rPr lang="vi-VN" b="1" dirty="0"/>
              <a:t>MTTF – Mean Time To Failure</a:t>
            </a:r>
            <a:br>
              <a:rPr lang="vi-VN" dirty="0"/>
            </a:br>
            <a:r>
              <a:rPr lang="vi-VN" dirty="0"/>
              <a:t>Thời gian trung bình cho đến khi một thành phần bị lỗi.</a:t>
            </a:r>
          </a:p>
          <a:p>
            <a:pPr>
              <a:buFont typeface="Arial" panose="020B0604020202020204" pitchFamily="34" charset="0"/>
              <a:buChar char="•"/>
            </a:pPr>
            <a:r>
              <a:rPr lang="vi-VN" b="1" dirty="0"/>
              <a:t>MTTR – Mean Time To Repair</a:t>
            </a:r>
            <a:br>
              <a:rPr lang="vi-VN" dirty="0"/>
            </a:br>
            <a:r>
              <a:rPr lang="vi-VN" dirty="0"/>
              <a:t>Thời gian trung bình để sửa lỗi và đưa thành phần hoạt động trở lại.</a:t>
            </a:r>
          </a:p>
          <a:p>
            <a:r>
              <a:rPr lang="en-US" b="1" dirty="0"/>
              <a:t>* </a:t>
            </a:r>
            <a:r>
              <a:rPr lang="vi-VN" b="1" dirty="0"/>
              <a:t>Ý nghĩa:</a:t>
            </a:r>
          </a:p>
          <a:p>
            <a:pPr>
              <a:buFont typeface="Arial" panose="020B0604020202020204" pitchFamily="34" charset="0"/>
              <a:buChar char="•"/>
            </a:pPr>
            <a:r>
              <a:rPr lang="vi-VN" dirty="0"/>
              <a:t>Nếu </a:t>
            </a:r>
            <a:r>
              <a:rPr lang="vi-VN" b="1" dirty="0"/>
              <a:t>MTTR nhỏ</a:t>
            </a:r>
            <a:r>
              <a:rPr lang="vi-VN" dirty="0"/>
              <a:t> → sửa nhanh → </a:t>
            </a:r>
            <a:r>
              <a:rPr lang="vi-VN" i="1" dirty="0"/>
              <a:t>availability cao</a:t>
            </a:r>
            <a:r>
              <a:rPr lang="vi-VN" dirty="0"/>
              <a:t>.</a:t>
            </a:r>
          </a:p>
          <a:p>
            <a:pPr>
              <a:buFont typeface="Arial" panose="020B0604020202020204" pitchFamily="34" charset="0"/>
              <a:buChar char="•"/>
            </a:pPr>
            <a:r>
              <a:rPr lang="vi-VN" dirty="0"/>
              <a:t>Nếu </a:t>
            </a:r>
            <a:r>
              <a:rPr lang="vi-VN" b="1" dirty="0"/>
              <a:t>MTTF lớn</a:t>
            </a:r>
            <a:r>
              <a:rPr lang="vi-VN" dirty="0"/>
              <a:t> → ít hỏng → </a:t>
            </a:r>
            <a:r>
              <a:rPr lang="vi-VN" i="1" dirty="0"/>
              <a:t>availability cao</a:t>
            </a:r>
            <a:r>
              <a:rPr lang="vi-VN" dirty="0"/>
              <a:t>.</a:t>
            </a:r>
          </a:p>
          <a:p>
            <a:endParaRPr lang="en-US" b="1" dirty="0"/>
          </a:p>
          <a:p>
            <a:r>
              <a:rPr lang="en-US" b="1" dirty="0"/>
              <a:t>3. </a:t>
            </a:r>
            <a:r>
              <a:rPr lang="vi-VN" b="1" dirty="0"/>
              <a:t>Observation – Nhận xét quan trọng</a:t>
            </a:r>
          </a:p>
          <a:p>
            <a:r>
              <a:rPr lang="vi-VN" dirty="0"/>
              <a:t>"Reliability and availability make sense only if we have an accurate notion of what a failure actually is."</a:t>
            </a:r>
          </a:p>
          <a:p>
            <a:r>
              <a:rPr lang="vi-VN" dirty="0"/>
              <a:t>Nghĩa là:</a:t>
            </a:r>
          </a:p>
          <a:p>
            <a:pPr>
              <a:buFont typeface="Arial" panose="020B0604020202020204" pitchFamily="34" charset="0"/>
              <a:buChar char="•"/>
            </a:pPr>
            <a:r>
              <a:rPr lang="vi-VN" dirty="0"/>
              <a:t>Muốn đo độ tin cậy hay độ sẵn sàng, ta phải </a:t>
            </a:r>
            <a:r>
              <a:rPr lang="vi-VN" b="1" dirty="0"/>
              <a:t>định nghĩa rõ thất bại (failure)</a:t>
            </a:r>
            <a:r>
              <a:rPr lang="vi-VN" dirty="0"/>
              <a:t> là gì.</a:t>
            </a:r>
          </a:p>
          <a:p>
            <a:pPr>
              <a:buFont typeface="Arial" panose="020B0604020202020204" pitchFamily="34" charset="0"/>
              <a:buChar char="•"/>
            </a:pPr>
            <a:r>
              <a:rPr lang="vi-VN" dirty="0"/>
              <a:t>Hệ thống có thể “hỏng” ở nhiều cấp độ:</a:t>
            </a:r>
          </a:p>
          <a:p>
            <a:pPr marL="742950" lvl="1" indent="-285750">
              <a:buFont typeface="Arial" panose="020B0604020202020204" pitchFamily="34" charset="0"/>
              <a:buChar char="•"/>
            </a:pPr>
            <a:r>
              <a:rPr lang="vi-VN" dirty="0"/>
              <a:t>lỗi phần cứng,</a:t>
            </a:r>
          </a:p>
          <a:p>
            <a:pPr marL="742950" lvl="1" indent="-285750">
              <a:buFont typeface="Arial" panose="020B0604020202020204" pitchFamily="34" charset="0"/>
              <a:buChar char="•"/>
            </a:pPr>
            <a:r>
              <a:rPr lang="vi-VN" dirty="0"/>
              <a:t>lỗi phần mềm,</a:t>
            </a:r>
          </a:p>
          <a:p>
            <a:pPr marL="742950" lvl="1" indent="-285750">
              <a:buFont typeface="Arial" panose="020B0604020202020204" pitchFamily="34" charset="0"/>
              <a:buChar char="•"/>
            </a:pPr>
            <a:r>
              <a:rPr lang="vi-VN" dirty="0"/>
              <a:t>lỗi mạng,</a:t>
            </a:r>
          </a:p>
          <a:p>
            <a:pPr marL="742950" lvl="1" indent="-285750">
              <a:buFont typeface="Arial" panose="020B0604020202020204" pitchFamily="34" charset="0"/>
              <a:buChar char="•"/>
            </a:pPr>
            <a:r>
              <a:rPr lang="vi-VN" dirty="0"/>
              <a:t>lỗi hiệu năng,</a:t>
            </a:r>
          </a:p>
          <a:p>
            <a:pPr marL="742950" lvl="1" indent="-285750">
              <a:buFont typeface="Arial" panose="020B0604020202020204" pitchFamily="34" charset="0"/>
              <a:buChar char="•"/>
            </a:pPr>
            <a:r>
              <a:rPr lang="vi-VN" dirty="0"/>
              <a:t>lỗi không đáp ứng SLA, v.v.</a:t>
            </a:r>
          </a:p>
          <a:p>
            <a:r>
              <a:rPr lang="vi-VN" dirty="0"/>
              <a:t>Nếu không định nghĩa đúng "failure", mọi tính toán MTTF, MTTR, Availability đều vô nghĩa.</a:t>
            </a:r>
          </a:p>
          <a:p>
            <a:endParaRPr lang="en-US" b="1" dirty="0"/>
          </a:p>
          <a:p>
            <a:r>
              <a:rPr lang="en-US" b="1" dirty="0"/>
              <a:t>4. </a:t>
            </a:r>
            <a:r>
              <a:rPr lang="vi-VN" b="1" dirty="0"/>
              <a:t>Minh hoạ dễ hiểu</a:t>
            </a:r>
          </a:p>
          <a:p>
            <a:r>
              <a:rPr lang="vi-VN" dirty="0"/>
              <a:t>Ví dụ 1:</a:t>
            </a:r>
          </a:p>
          <a:p>
            <a:pPr>
              <a:buFont typeface="Arial" panose="020B0604020202020204" pitchFamily="34" charset="0"/>
              <a:buChar char="•"/>
            </a:pPr>
            <a:r>
              <a:rPr lang="vi-VN" dirty="0"/>
              <a:t>Một dịch vụ web hoạt động 100 giờ rồi hỏng → MTTF = 100h</a:t>
            </a:r>
          </a:p>
          <a:p>
            <a:pPr>
              <a:buFont typeface="Arial" panose="020B0604020202020204" pitchFamily="34" charset="0"/>
              <a:buChar char="•"/>
            </a:pPr>
            <a:r>
              <a:rPr lang="vi-VN" dirty="0"/>
              <a:t>Sửa trong 1 giờ → MTTR = 1h</a:t>
            </a:r>
          </a:p>
          <a:p>
            <a:r>
              <a:rPr lang="vi-VN" dirty="0"/>
              <a:t>→ Availability:</a:t>
            </a:r>
          </a:p>
          <a:p>
            <a:r>
              <a:rPr lang="vi-VN" dirty="0"/>
              <a:t>A=100</a:t>
            </a:r>
            <a:r>
              <a:rPr lang="en-US" dirty="0"/>
              <a:t>/(</a:t>
            </a:r>
            <a:r>
              <a:rPr lang="vi-VN" dirty="0"/>
              <a:t>100+1</a:t>
            </a:r>
            <a:r>
              <a:rPr lang="en-US" dirty="0"/>
              <a:t>)</a:t>
            </a:r>
            <a:r>
              <a:rPr lang="vi-VN" dirty="0"/>
              <a:t>≈99.01%</a:t>
            </a:r>
            <a:endParaRPr lang="en-US" dirty="0"/>
          </a:p>
          <a:p>
            <a:r>
              <a:rPr lang="vi-VN" dirty="0"/>
              <a:t>Ví dụ 2:</a:t>
            </a:r>
          </a:p>
          <a:p>
            <a:pPr>
              <a:buFont typeface="Arial" panose="020B0604020202020204" pitchFamily="34" charset="0"/>
              <a:buChar char="•"/>
            </a:pPr>
            <a:r>
              <a:rPr lang="vi-VN" dirty="0"/>
              <a:t>Một dịch vụ hỏng thường xuyên hơn:</a:t>
            </a:r>
            <a:br>
              <a:rPr lang="vi-VN" dirty="0"/>
            </a:br>
            <a:r>
              <a:rPr lang="vi-VN" dirty="0"/>
              <a:t>MTTF = 10h, MTTR = 1h</a:t>
            </a:r>
          </a:p>
          <a:p>
            <a:r>
              <a:rPr lang="vi-VN" dirty="0"/>
              <a:t>A=1010+1=90.9%</a:t>
            </a:r>
            <a:endParaRPr lang="en-US" dirty="0"/>
          </a:p>
          <a:p>
            <a:r>
              <a:rPr lang="vi-VN" dirty="0"/>
              <a:t>Dù MTTR sửa lỗi như nhau, việc MTTF kém làm Availability giảm cực mạnh.</a:t>
            </a:r>
          </a:p>
          <a:p>
            <a:endParaRPr lang="en-US" b="1" dirty="0"/>
          </a:p>
          <a:p>
            <a:r>
              <a:rPr lang="en-US" b="1" dirty="0"/>
              <a:t>5. </a:t>
            </a:r>
            <a:r>
              <a:rPr lang="vi-VN" b="1" dirty="0"/>
              <a:t>Sự khác nhau cốt lõi giữa Reliability &amp; Availability</a:t>
            </a:r>
          </a:p>
          <a:p>
            <a:r>
              <a:rPr lang="vi-VN" dirty="0"/>
              <a:t>Khái niệm</a:t>
            </a:r>
            <a:r>
              <a:rPr lang="en-US" dirty="0"/>
              <a:t>	</a:t>
            </a:r>
            <a:r>
              <a:rPr lang="vi-VN" dirty="0"/>
              <a:t>Mô tả</a:t>
            </a:r>
            <a:r>
              <a:rPr lang="en-US" dirty="0"/>
              <a:t>					</a:t>
            </a:r>
            <a:r>
              <a:rPr lang="vi-VN" dirty="0"/>
              <a:t>Cần gì?</a:t>
            </a:r>
            <a:endParaRPr lang="en-US" dirty="0"/>
          </a:p>
          <a:p>
            <a:r>
              <a:rPr lang="vi-VN" b="1" dirty="0"/>
              <a:t>Reliability</a:t>
            </a:r>
            <a:r>
              <a:rPr lang="en-US" b="1" dirty="0"/>
              <a:t>	</a:t>
            </a:r>
            <a:r>
              <a:rPr lang="vi-VN" dirty="0"/>
              <a:t>Khả năng hoạt động liên tục </a:t>
            </a:r>
            <a:r>
              <a:rPr lang="vi-VN" i="1" dirty="0"/>
              <a:t>không thất bại</a:t>
            </a:r>
            <a:r>
              <a:rPr lang="vi-VN" dirty="0"/>
              <a:t> trong một khoảng thời gian</a:t>
            </a:r>
            <a:r>
              <a:rPr lang="en-US" dirty="0"/>
              <a:t>	</a:t>
            </a:r>
            <a:r>
              <a:rPr lang="vi-VN" dirty="0"/>
              <a:t>MTTF</a:t>
            </a:r>
            <a:endParaRPr lang="en-US" dirty="0"/>
          </a:p>
          <a:p>
            <a:r>
              <a:rPr lang="vi-VN" b="1" dirty="0"/>
              <a:t>Availability</a:t>
            </a:r>
            <a:r>
              <a:rPr lang="en-US" b="1" dirty="0"/>
              <a:t>	</a:t>
            </a:r>
            <a:r>
              <a:rPr lang="vi-VN" dirty="0"/>
              <a:t>Xác suất hệ thống </a:t>
            </a:r>
            <a:r>
              <a:rPr lang="vi-VN" i="1" dirty="0"/>
              <a:t>đang hoạt động</a:t>
            </a:r>
            <a:r>
              <a:rPr lang="vi-VN" dirty="0"/>
              <a:t> tại một thời điểm</a:t>
            </a:r>
            <a:r>
              <a:rPr lang="en-US" dirty="0"/>
              <a:t>		</a:t>
            </a:r>
            <a:r>
              <a:rPr lang="vi-VN" dirty="0"/>
              <a:t>MTTF và MTTR</a:t>
            </a:r>
          </a:p>
          <a:p>
            <a:r>
              <a:rPr lang="vi-VN" b="1" dirty="0"/>
              <a:t>Reliability tập trung vào: sự cố xảy ra khi nào</a:t>
            </a:r>
            <a:br>
              <a:rPr lang="vi-VN" dirty="0"/>
            </a:br>
            <a:r>
              <a:rPr lang="vi-VN" b="1" dirty="0"/>
              <a:t>Availability tập trung vào: hệ thống có sẵn để dùng hay không</a:t>
            </a:r>
            <a:endParaRPr lang="en-US" b="0" dirty="0"/>
          </a:p>
          <a:p>
            <a:endParaRPr lang="en-US" b="0" dirty="0"/>
          </a:p>
          <a:p>
            <a:r>
              <a:rPr lang="vi-VN" b="1" dirty="0"/>
              <a:t>Kết luận</a:t>
            </a:r>
            <a:r>
              <a:rPr lang="en-US" b="1" dirty="0"/>
              <a:t>:</a:t>
            </a:r>
            <a:endParaRPr lang="vi-VN" dirty="0"/>
          </a:p>
          <a:p>
            <a:pPr>
              <a:buFont typeface="Arial" panose="020B0604020202020204" pitchFamily="34" charset="0"/>
              <a:buChar char="•"/>
            </a:pPr>
            <a:r>
              <a:rPr lang="vi-VN" dirty="0"/>
              <a:t>Availability phụ thuộc cả </a:t>
            </a:r>
            <a:r>
              <a:rPr lang="vi-VN" b="1" dirty="0"/>
              <a:t>tần suất lỗi</a:t>
            </a:r>
            <a:r>
              <a:rPr lang="vi-VN" dirty="0"/>
              <a:t> và </a:t>
            </a:r>
            <a:r>
              <a:rPr lang="vi-VN" b="1" dirty="0"/>
              <a:t>tốc độ phục hồi</a:t>
            </a:r>
            <a:r>
              <a:rPr lang="vi-VN" dirty="0"/>
              <a:t>.</a:t>
            </a:r>
          </a:p>
          <a:p>
            <a:pPr>
              <a:buFont typeface="Arial" panose="020B0604020202020204" pitchFamily="34" charset="0"/>
              <a:buChar char="•"/>
            </a:pPr>
            <a:r>
              <a:rPr lang="vi-VN" dirty="0"/>
              <a:t>Reliability chỉ nói về </a:t>
            </a:r>
            <a:r>
              <a:rPr lang="vi-VN" b="1" dirty="0"/>
              <a:t>tần suất lỗi</a:t>
            </a:r>
            <a:r>
              <a:rPr lang="vi-VN" dirty="0"/>
              <a:t>.</a:t>
            </a:r>
          </a:p>
          <a:p>
            <a:pPr>
              <a:buFont typeface="Arial" panose="020B0604020202020204" pitchFamily="34" charset="0"/>
              <a:buChar char="•"/>
            </a:pPr>
            <a:r>
              <a:rPr lang="vi-VN" dirty="0"/>
              <a:t>Hai khái niệm này chỉ có ý nghĩa khi chúng ta </a:t>
            </a:r>
            <a:r>
              <a:rPr lang="vi-VN" b="1" dirty="0"/>
              <a:t>định nghĩa đúng failure</a:t>
            </a:r>
            <a:r>
              <a:rPr lang="vi-VN" dirty="0"/>
              <a:t> trong ngữ cảnh hệ thống phân tán.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a:t>
            </a:fld>
            <a:endParaRPr lang="en-US"/>
          </a:p>
        </p:txBody>
      </p:sp>
    </p:spTree>
    <p:extLst>
      <p:ext uri="{BB962C8B-B14F-4D97-AF65-F5344CB8AC3E}">
        <p14:creationId xmlns:p14="http://schemas.microsoft.com/office/powerpoint/2010/main" val="3313578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“Terminology: Failure, Error, Fault”</a:t>
            </a:r>
          </a:p>
          <a:p>
            <a:r>
              <a:rPr lang="vi-VN" dirty="0"/>
              <a:t>Slide này trình bày ba khái niệm cốt lõi của lý thuyết </a:t>
            </a:r>
            <a:r>
              <a:rPr lang="vi-VN" i="1" dirty="0"/>
              <a:t>tính chịu lỗi</a:t>
            </a:r>
            <a:r>
              <a:rPr lang="vi-VN" dirty="0"/>
              <a:t> trong hệ thống phân tán:</a:t>
            </a:r>
          </a:p>
          <a:p>
            <a:pPr>
              <a:buFont typeface="Arial" panose="020B0604020202020204" pitchFamily="34" charset="0"/>
              <a:buChar char="•"/>
            </a:pPr>
            <a:r>
              <a:rPr lang="vi-VN" b="1" dirty="0"/>
              <a:t>Fault</a:t>
            </a:r>
            <a:r>
              <a:rPr lang="vi-VN" dirty="0"/>
              <a:t> (Lỗi gốc / nguyên nhân)</a:t>
            </a:r>
          </a:p>
          <a:p>
            <a:pPr>
              <a:buFont typeface="Arial" panose="020B0604020202020204" pitchFamily="34" charset="0"/>
              <a:buChar char="•"/>
            </a:pPr>
            <a:r>
              <a:rPr lang="vi-VN" b="1" dirty="0"/>
              <a:t>Error</a:t>
            </a:r>
            <a:r>
              <a:rPr lang="vi-VN" dirty="0"/>
              <a:t> (Lỗi trạng thái)</a:t>
            </a:r>
          </a:p>
          <a:p>
            <a:pPr>
              <a:buFont typeface="Arial" panose="020B0604020202020204" pitchFamily="34" charset="0"/>
              <a:buChar char="•"/>
            </a:pPr>
            <a:r>
              <a:rPr lang="vi-VN" b="1" dirty="0"/>
              <a:t>Failure</a:t>
            </a:r>
            <a:r>
              <a:rPr lang="vi-VN" dirty="0"/>
              <a:t> (Hỏng hóc / thất bại)</a:t>
            </a:r>
          </a:p>
          <a:p>
            <a:r>
              <a:rPr lang="vi-VN" dirty="0"/>
              <a:t>Ba khái niệm này tạo thành một chuỗi nhân–quả:</a:t>
            </a:r>
          </a:p>
          <a:p>
            <a:r>
              <a:rPr lang="vi-VN" dirty="0"/>
              <a:t>Fault  ⟶  Error  ⟶  Failure</a:t>
            </a:r>
            <a:endParaRPr lang="en-US" dirty="0"/>
          </a:p>
          <a:p>
            <a:endParaRPr lang="en-US" b="1" dirty="0"/>
          </a:p>
          <a:p>
            <a:r>
              <a:rPr lang="en-US" b="1" dirty="0"/>
              <a:t>1. </a:t>
            </a:r>
            <a:r>
              <a:rPr lang="vi-VN" b="1" dirty="0"/>
              <a:t>Fault – Nguyên nhân ban đầu (Cause)</a:t>
            </a:r>
          </a:p>
          <a:p>
            <a:r>
              <a:rPr lang="vi-VN" b="1" dirty="0"/>
              <a:t>Định nghĩa</a:t>
            </a:r>
          </a:p>
          <a:p>
            <a:r>
              <a:rPr lang="vi-VN" dirty="0"/>
              <a:t>Fault là </a:t>
            </a:r>
            <a:r>
              <a:rPr lang="vi-VN" i="1" dirty="0"/>
              <a:t>nguyên nhân</a:t>
            </a:r>
            <a:r>
              <a:rPr lang="vi-VN" dirty="0"/>
              <a:t> dẫn đến một error.</a:t>
            </a:r>
            <a:br>
              <a:rPr lang="vi-VN" dirty="0"/>
            </a:br>
            <a:r>
              <a:rPr lang="vi-VN" dirty="0"/>
              <a:t>Đây là “gốc rễ” của vấn đề.</a:t>
            </a:r>
          </a:p>
          <a:p>
            <a:r>
              <a:rPr lang="vi-VN" b="1" dirty="0"/>
              <a:t>Ví dụ trong slide</a:t>
            </a:r>
          </a:p>
          <a:p>
            <a:pPr>
              <a:buFont typeface="Arial" panose="020B0604020202020204" pitchFamily="34" charset="0"/>
              <a:buChar char="•"/>
            </a:pPr>
            <a:r>
              <a:rPr lang="vi-VN" i="1" dirty="0"/>
              <a:t>Sloppy programmer</a:t>
            </a:r>
            <a:r>
              <a:rPr lang="vi-VN" dirty="0"/>
              <a:t> → lập trình viên viết code cẩu thả → sinh ra bug.</a:t>
            </a:r>
          </a:p>
          <a:p>
            <a:r>
              <a:rPr lang="vi-VN" b="1" dirty="0"/>
              <a:t>Ví dụ thực tế</a:t>
            </a:r>
          </a:p>
          <a:p>
            <a:pPr>
              <a:buFont typeface="Arial" panose="020B0604020202020204" pitchFamily="34" charset="0"/>
              <a:buChar char="•"/>
            </a:pPr>
            <a:r>
              <a:rPr lang="vi-VN" dirty="0"/>
              <a:t>Bit flip trong RAM</a:t>
            </a:r>
          </a:p>
          <a:p>
            <a:pPr>
              <a:buFont typeface="Arial" panose="020B0604020202020204" pitchFamily="34" charset="0"/>
              <a:buChar char="•"/>
            </a:pPr>
            <a:r>
              <a:rPr lang="vi-VN" dirty="0"/>
              <a:t>Ổ cứng bắt đầu hỏng sector</a:t>
            </a:r>
          </a:p>
          <a:p>
            <a:pPr>
              <a:buFont typeface="Arial" panose="020B0604020202020204" pitchFamily="34" charset="0"/>
              <a:buChar char="•"/>
            </a:pPr>
            <a:r>
              <a:rPr lang="vi-VN" dirty="0"/>
              <a:t>Network cable bị loose</a:t>
            </a:r>
          </a:p>
          <a:p>
            <a:pPr>
              <a:buFont typeface="Arial" panose="020B0604020202020204" pitchFamily="34" charset="0"/>
              <a:buChar char="•"/>
            </a:pPr>
            <a:r>
              <a:rPr lang="vi-VN" dirty="0"/>
              <a:t>Lập trình viên viết sai logic (bug)</a:t>
            </a:r>
          </a:p>
          <a:p>
            <a:r>
              <a:rPr lang="vi-VN" dirty="0"/>
              <a:t>Fault </a:t>
            </a:r>
            <a:r>
              <a:rPr lang="vi-VN" b="1" dirty="0"/>
              <a:t>chưa chắc</a:t>
            </a:r>
            <a:r>
              <a:rPr lang="vi-VN" dirty="0"/>
              <a:t> làm hệ thống hỏng ngay lập tức.</a:t>
            </a:r>
          </a:p>
          <a:p>
            <a:endParaRPr lang="en-US" b="1" dirty="0"/>
          </a:p>
          <a:p>
            <a:r>
              <a:rPr lang="en-US" b="1" dirty="0"/>
              <a:t>2. </a:t>
            </a:r>
            <a:r>
              <a:rPr lang="vi-VN" b="1" dirty="0"/>
              <a:t>Error – Trạng thái lỗi trong hệ thống</a:t>
            </a:r>
          </a:p>
          <a:p>
            <a:r>
              <a:rPr lang="vi-VN" b="1" dirty="0"/>
              <a:t>Định nghĩa</a:t>
            </a:r>
          </a:p>
          <a:p>
            <a:r>
              <a:rPr lang="vi-VN" dirty="0"/>
              <a:t>Error là </a:t>
            </a:r>
            <a:r>
              <a:rPr lang="vi-VN" i="1" dirty="0"/>
              <a:t>một trạng thái sai</a:t>
            </a:r>
            <a:r>
              <a:rPr lang="vi-VN" dirty="0"/>
              <a:t> của hệ thống, có khả năng dẫn đến Failure nếu không được xử lý.</a:t>
            </a:r>
          </a:p>
          <a:p>
            <a:r>
              <a:rPr lang="vi-VN" b="1" dirty="0"/>
              <a:t>Ví dụ trong slide</a:t>
            </a:r>
          </a:p>
          <a:p>
            <a:pPr>
              <a:buFont typeface="Arial" panose="020B0604020202020204" pitchFamily="34" charset="0"/>
              <a:buChar char="•"/>
            </a:pPr>
            <a:r>
              <a:rPr lang="vi-VN" i="1" dirty="0"/>
              <a:t>Programming bug</a:t>
            </a:r>
            <a:r>
              <a:rPr lang="vi-VN" dirty="0"/>
              <a:t> — đoạn code sai logic xuất hiện trong chương trình.</a:t>
            </a:r>
          </a:p>
          <a:p>
            <a:r>
              <a:rPr lang="vi-VN" b="1" dirty="0"/>
              <a:t>Ví dụ thực tế</a:t>
            </a:r>
          </a:p>
          <a:p>
            <a:pPr>
              <a:buFont typeface="Arial" panose="020B0604020202020204" pitchFamily="34" charset="0"/>
              <a:buChar char="•"/>
            </a:pPr>
            <a:r>
              <a:rPr lang="vi-VN" dirty="0"/>
              <a:t>Vùng nhớ chứa giá trị sai</a:t>
            </a:r>
          </a:p>
          <a:p>
            <a:pPr>
              <a:buFont typeface="Arial" panose="020B0604020202020204" pitchFamily="34" charset="0"/>
              <a:buChar char="•"/>
            </a:pPr>
            <a:r>
              <a:rPr lang="vi-VN" dirty="0"/>
              <a:t>Counter bị overflow</a:t>
            </a:r>
          </a:p>
          <a:p>
            <a:pPr>
              <a:buFont typeface="Arial" panose="020B0604020202020204" pitchFamily="34" charset="0"/>
              <a:buChar char="•"/>
            </a:pPr>
            <a:r>
              <a:rPr lang="vi-VN" dirty="0"/>
              <a:t>Một tiến trình giữ lock mà không thả</a:t>
            </a:r>
          </a:p>
          <a:p>
            <a:pPr>
              <a:buFont typeface="Arial" panose="020B0604020202020204" pitchFamily="34" charset="0"/>
              <a:buChar char="•"/>
            </a:pPr>
            <a:r>
              <a:rPr lang="vi-VN" dirty="0"/>
              <a:t>Checksum mismatch</a:t>
            </a:r>
          </a:p>
          <a:p>
            <a:r>
              <a:rPr lang="vi-VN" dirty="0"/>
              <a:t>Error là “dấu hiệu” cho thấy hệ thống đang lệch khỏi trạng thái mong muốn.</a:t>
            </a:r>
          </a:p>
          <a:p>
            <a:endParaRPr lang="en-US" b="1" dirty="0"/>
          </a:p>
          <a:p>
            <a:r>
              <a:rPr lang="en-US" b="1" dirty="0"/>
              <a:t>3. </a:t>
            </a:r>
            <a:r>
              <a:rPr lang="vi-VN" b="1" dirty="0"/>
              <a:t>Failure – Thành phần không đáp ứng được đặc tả</a:t>
            </a:r>
          </a:p>
          <a:p>
            <a:r>
              <a:rPr lang="vi-VN" b="1" dirty="0"/>
              <a:t>Định nghĩa</a:t>
            </a:r>
          </a:p>
          <a:p>
            <a:r>
              <a:rPr lang="vi-VN" dirty="0"/>
              <a:t>Failure xảy ra khi </a:t>
            </a:r>
            <a:r>
              <a:rPr lang="vi-VN" b="1" dirty="0"/>
              <a:t>hệ thống không còn đáp ứng được đặc tả (specification)</a:t>
            </a:r>
            <a:br>
              <a:rPr lang="vi-VN" dirty="0"/>
            </a:br>
            <a:r>
              <a:rPr lang="vi-VN" dirty="0"/>
              <a:t>=&gt; Tức là lúc này </a:t>
            </a:r>
            <a:r>
              <a:rPr lang="vi-VN" i="1" dirty="0"/>
              <a:t>hệ thống đã thực sự hỏng đối với người dùng</a:t>
            </a:r>
            <a:r>
              <a:rPr lang="vi-VN" dirty="0"/>
              <a:t>.</a:t>
            </a:r>
          </a:p>
          <a:p>
            <a:r>
              <a:rPr lang="vi-VN" b="1" dirty="0"/>
              <a:t>Ví dụ trong slide</a:t>
            </a:r>
          </a:p>
          <a:p>
            <a:pPr>
              <a:buFont typeface="Arial" panose="020B0604020202020204" pitchFamily="34" charset="0"/>
              <a:buChar char="•"/>
            </a:pPr>
            <a:r>
              <a:rPr lang="vi-VN" i="1" dirty="0"/>
              <a:t>Crashed program</a:t>
            </a:r>
            <a:r>
              <a:rPr lang="vi-VN" dirty="0"/>
              <a:t> — chương trình bị crash → người dùng không thể sử dụng.</a:t>
            </a:r>
          </a:p>
          <a:p>
            <a:r>
              <a:rPr lang="vi-VN" b="1" dirty="0"/>
              <a:t>Ví dụ thực tế</a:t>
            </a:r>
          </a:p>
          <a:p>
            <a:pPr>
              <a:buFont typeface="Arial" panose="020B0604020202020204" pitchFamily="34" charset="0"/>
              <a:buChar char="•"/>
            </a:pPr>
            <a:r>
              <a:rPr lang="vi-VN" dirty="0"/>
              <a:t>Web server trả lỗi 500</a:t>
            </a:r>
          </a:p>
          <a:p>
            <a:pPr>
              <a:buFont typeface="Arial" panose="020B0604020202020204" pitchFamily="34" charset="0"/>
              <a:buChar char="•"/>
            </a:pPr>
            <a:r>
              <a:rPr lang="vi-VN" dirty="0"/>
              <a:t>File hệ thống bị corrupt</a:t>
            </a:r>
          </a:p>
          <a:p>
            <a:pPr>
              <a:buFont typeface="Arial" panose="020B0604020202020204" pitchFamily="34" charset="0"/>
              <a:buChar char="•"/>
            </a:pPr>
            <a:r>
              <a:rPr lang="vi-VN" dirty="0"/>
              <a:t>Database không nhận kết nối</a:t>
            </a:r>
          </a:p>
          <a:p>
            <a:pPr>
              <a:buFont typeface="Arial" panose="020B0604020202020204" pitchFamily="34" charset="0"/>
              <a:buChar char="•"/>
            </a:pPr>
            <a:r>
              <a:rPr lang="vi-VN" dirty="0"/>
              <a:t>Node trong distributed system bị drop khỏi cluster</a:t>
            </a:r>
          </a:p>
          <a:p>
            <a:r>
              <a:rPr lang="vi-VN" dirty="0"/>
              <a:t>Failure là điểm cuối cùng của chuỗi:</a:t>
            </a:r>
          </a:p>
          <a:p>
            <a:r>
              <a:rPr lang="vi-VN" b="1" dirty="0"/>
              <a:t>Fault → Error → Failure</a:t>
            </a:r>
            <a:endParaRPr lang="vi-VN" dirty="0"/>
          </a:p>
          <a:p>
            <a:endParaRPr lang="en-US" b="1" dirty="0"/>
          </a:p>
          <a:p>
            <a:r>
              <a:rPr lang="vi-VN" b="1" dirty="0"/>
              <a:t>Minh hoạ bằng ví dụ hệ thống phân tán</a:t>
            </a:r>
          </a:p>
          <a:p>
            <a:r>
              <a:rPr lang="vi-VN" dirty="0"/>
              <a:t>Giả sử bạn có dịch vụ phân tán:</a:t>
            </a:r>
          </a:p>
          <a:p>
            <a:pPr>
              <a:buFont typeface="+mj-lt"/>
              <a:buAutoNum type="arabicPeriod"/>
            </a:pPr>
            <a:r>
              <a:rPr lang="vi-VN" b="1" dirty="0"/>
              <a:t>Fault:</a:t>
            </a:r>
            <a:br>
              <a:rPr lang="vi-VN" dirty="0"/>
            </a:br>
            <a:r>
              <a:rPr lang="vi-VN" dirty="0"/>
              <a:t>Lập trình viên viết sai logic: “chia cho 0”.</a:t>
            </a:r>
          </a:p>
          <a:p>
            <a:pPr>
              <a:buFont typeface="+mj-lt"/>
              <a:buAutoNum type="arabicPeriod"/>
            </a:pPr>
            <a:r>
              <a:rPr lang="vi-VN" b="1" dirty="0"/>
              <a:t>Error:</a:t>
            </a:r>
            <a:br>
              <a:rPr lang="vi-VN" dirty="0"/>
            </a:br>
            <a:r>
              <a:rPr lang="vi-VN" dirty="0"/>
              <a:t>Khi chạy, phép chia cho 0 xảy ra → chương trình tạo trạng thái lỗi.</a:t>
            </a:r>
          </a:p>
          <a:p>
            <a:pPr>
              <a:buFont typeface="+mj-lt"/>
              <a:buAutoNum type="arabicPeriod"/>
            </a:pPr>
            <a:r>
              <a:rPr lang="vi-VN" b="1" dirty="0"/>
              <a:t>Failure:</a:t>
            </a:r>
            <a:br>
              <a:rPr lang="vi-VN" dirty="0"/>
            </a:br>
            <a:r>
              <a:rPr lang="vi-VN" dirty="0"/>
              <a:t>Tiến trình crash → dịch vụ không trả lời yêu cầu → khách hàng thấy lỗi 500.</a:t>
            </a:r>
          </a:p>
          <a:p>
            <a:endParaRPr lang="en-US" b="1" dirty="0"/>
          </a:p>
          <a:p>
            <a:r>
              <a:rPr lang="vi-VN" b="1" dirty="0"/>
              <a:t>Kết luận giảng viên</a:t>
            </a:r>
          </a:p>
          <a:p>
            <a:pPr>
              <a:buFont typeface="Arial" panose="020B0604020202020204" pitchFamily="34" charset="0"/>
              <a:buChar char="•"/>
            </a:pPr>
            <a:r>
              <a:rPr lang="vi-VN" dirty="0"/>
              <a:t>BA KHÁI NIỆM KHÔNG GIỐNG NHAU.</a:t>
            </a:r>
          </a:p>
          <a:p>
            <a:pPr>
              <a:buFont typeface="Arial" panose="020B0604020202020204" pitchFamily="34" charset="0"/>
              <a:buChar char="•"/>
            </a:pPr>
            <a:r>
              <a:rPr lang="vi-VN" dirty="0"/>
              <a:t>Một fault </a:t>
            </a:r>
            <a:r>
              <a:rPr lang="vi-VN" i="1" dirty="0"/>
              <a:t>tiềm ẩn</a:t>
            </a:r>
            <a:r>
              <a:rPr lang="vi-VN" dirty="0"/>
              <a:t> có thể tồn tại lâu mà không gây hỏng.</a:t>
            </a:r>
          </a:p>
          <a:p>
            <a:pPr>
              <a:buFont typeface="Arial" panose="020B0604020202020204" pitchFamily="34" charset="0"/>
              <a:buChar char="•"/>
            </a:pPr>
            <a:r>
              <a:rPr lang="vi-VN" dirty="0"/>
              <a:t>Error là </a:t>
            </a:r>
            <a:r>
              <a:rPr lang="vi-VN" i="1" dirty="0"/>
              <a:t>biểu hiện</a:t>
            </a:r>
            <a:r>
              <a:rPr lang="vi-VN" dirty="0"/>
              <a:t> của fault.</a:t>
            </a:r>
          </a:p>
          <a:p>
            <a:pPr>
              <a:buFont typeface="Arial" panose="020B0604020202020204" pitchFamily="34" charset="0"/>
              <a:buChar char="•"/>
            </a:pPr>
            <a:r>
              <a:rPr lang="vi-VN" dirty="0"/>
              <a:t>Failure là </a:t>
            </a:r>
            <a:r>
              <a:rPr lang="vi-VN" i="1" dirty="0"/>
              <a:t>mất khả năng phục vụ</a:t>
            </a:r>
            <a:r>
              <a:rPr lang="vi-VN" dirty="0"/>
              <a:t>, là điều ta muốn tránh bằng các cơ chế chịu lỗi.</a:t>
            </a:r>
          </a:p>
          <a:p>
            <a:r>
              <a:rPr lang="en-US" dirty="0"/>
              <a:t>=&gt; </a:t>
            </a:r>
            <a:r>
              <a:rPr lang="vi-VN" dirty="0"/>
              <a:t>Hiểu đúng bộ ba này là nền tảng cho các phần sau:</a:t>
            </a:r>
            <a:br>
              <a:rPr lang="vi-VN" dirty="0"/>
            </a:br>
            <a:r>
              <a:rPr lang="vi-VN" b="1" dirty="0"/>
              <a:t>masking fault, detection, recovery, redundancy, checkpointing, replication…</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a:t>
            </a:fld>
            <a:endParaRPr lang="en-US"/>
          </a:p>
        </p:txBody>
      </p:sp>
    </p:spTree>
    <p:extLst>
      <p:ext uri="{BB962C8B-B14F-4D97-AF65-F5344CB8AC3E}">
        <p14:creationId xmlns:p14="http://schemas.microsoft.com/office/powerpoint/2010/main" val="1539865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Handling Faults (Xử lý lỗi trong hệ thống phân tán)</a:t>
            </a:r>
          </a:p>
          <a:p>
            <a:r>
              <a:rPr lang="vi-VN" dirty="0"/>
              <a:t>Slide liệt kê </a:t>
            </a:r>
            <a:r>
              <a:rPr lang="vi-VN" b="1" dirty="0"/>
              <a:t>4 chiến lược chính</a:t>
            </a:r>
            <a:r>
              <a:rPr lang="vi-VN" dirty="0"/>
              <a:t> để xử lý lỗi trong một hệ thống. Đây là 4 hướng tiếp cận kinh điển được sử dụng trong thiết kế các hệ thống có </a:t>
            </a:r>
            <a:r>
              <a:rPr lang="vi-VN" b="1" dirty="0"/>
              <a:t>tính chịu lỗi (fault tolerance)</a:t>
            </a:r>
            <a:r>
              <a:rPr lang="vi-VN" dirty="0"/>
              <a:t>.</a:t>
            </a:r>
          </a:p>
          <a:p>
            <a:endParaRPr lang="en-US" b="1" dirty="0"/>
          </a:p>
          <a:p>
            <a:r>
              <a:rPr lang="en-US" b="1" dirty="0"/>
              <a:t>1. </a:t>
            </a:r>
            <a:r>
              <a:rPr lang="vi-VN" b="1" dirty="0"/>
              <a:t>Fault Prevention – Ngăn chặn lỗi xảy ra</a:t>
            </a:r>
            <a:endParaRPr lang="en-US" b="1" dirty="0"/>
          </a:p>
          <a:p>
            <a:r>
              <a:rPr lang="en-US" b="1" dirty="0"/>
              <a:t>* </a:t>
            </a:r>
            <a:r>
              <a:rPr lang="vi-VN" b="1" dirty="0"/>
              <a:t>Mục tiêu</a:t>
            </a:r>
          </a:p>
          <a:p>
            <a:r>
              <a:rPr lang="vi-VN" dirty="0"/>
              <a:t>Ngăn lỗi xuất hiện ngay từ đầu. Tức là giảm khả năng hệ thống tạo ra </a:t>
            </a:r>
            <a:r>
              <a:rPr lang="vi-VN" i="1" dirty="0"/>
              <a:t>fault</a:t>
            </a:r>
            <a:r>
              <a:rPr lang="vi-VN" dirty="0"/>
              <a:t>.</a:t>
            </a:r>
          </a:p>
          <a:p>
            <a:r>
              <a:rPr lang="en-US" b="1" dirty="0"/>
              <a:t>* </a:t>
            </a:r>
            <a:r>
              <a:rPr lang="vi-VN" b="1" dirty="0"/>
              <a:t>Các biện pháp thực tế</a:t>
            </a:r>
          </a:p>
          <a:p>
            <a:pPr>
              <a:buFont typeface="Arial" panose="020B0604020202020204" pitchFamily="34" charset="0"/>
              <a:buChar char="•"/>
            </a:pPr>
            <a:r>
              <a:rPr lang="vi-VN" dirty="0"/>
              <a:t>Áp dụng coding standard nghiêm ngặt</a:t>
            </a:r>
          </a:p>
          <a:p>
            <a:pPr>
              <a:buFont typeface="Arial" panose="020B0604020202020204" pitchFamily="34" charset="0"/>
              <a:buChar char="•"/>
            </a:pPr>
            <a:r>
              <a:rPr lang="vi-VN" dirty="0"/>
              <a:t>Kiểm tra đầu vào (input validation)</a:t>
            </a:r>
          </a:p>
          <a:p>
            <a:pPr>
              <a:buFont typeface="Arial" panose="020B0604020202020204" pitchFamily="34" charset="0"/>
              <a:buChar char="•"/>
            </a:pPr>
            <a:r>
              <a:rPr lang="vi-VN" dirty="0"/>
              <a:t>Đào tạo lập trình viên tốt</a:t>
            </a:r>
          </a:p>
          <a:p>
            <a:pPr>
              <a:buFont typeface="Arial" panose="020B0604020202020204" pitchFamily="34" charset="0"/>
              <a:buChar char="•"/>
            </a:pPr>
            <a:r>
              <a:rPr lang="vi-VN" dirty="0"/>
              <a:t>Thiết kế phần cứng chất lượng</a:t>
            </a:r>
          </a:p>
          <a:p>
            <a:r>
              <a:rPr lang="en-US" b="1" dirty="0"/>
              <a:t>* </a:t>
            </a:r>
            <a:r>
              <a:rPr lang="vi-VN" b="1" dirty="0"/>
              <a:t>Ví dụ trong slide</a:t>
            </a:r>
          </a:p>
          <a:p>
            <a:r>
              <a:rPr lang="vi-VN" dirty="0"/>
              <a:t>“</a:t>
            </a:r>
            <a:r>
              <a:rPr lang="vi-VN" b="1" dirty="0"/>
              <a:t>Don’t hire sloppy programmers</a:t>
            </a:r>
            <a:r>
              <a:rPr lang="vi-VN" dirty="0"/>
              <a:t>”</a:t>
            </a:r>
            <a:br>
              <a:rPr lang="vi-VN" dirty="0"/>
            </a:br>
            <a:r>
              <a:rPr lang="vi-VN" dirty="0"/>
              <a:t>→ tuyển đúng người để giảm nguy cơ lỗi ngay từ đầu.</a:t>
            </a:r>
          </a:p>
          <a:p>
            <a:r>
              <a:rPr lang="en-US" b="1" dirty="0"/>
              <a:t>* </a:t>
            </a:r>
            <a:r>
              <a:rPr lang="vi-VN" b="1" dirty="0"/>
              <a:t>Ý nghĩa</a:t>
            </a:r>
            <a:r>
              <a:rPr lang="en-US" b="1" dirty="0"/>
              <a:t>:</a:t>
            </a:r>
            <a:endParaRPr lang="vi-VN" b="1" dirty="0"/>
          </a:p>
          <a:p>
            <a:r>
              <a:rPr lang="vi-VN" dirty="0"/>
              <a:t>Fault prevention </a:t>
            </a:r>
            <a:r>
              <a:rPr lang="vi-VN" i="1" dirty="0"/>
              <a:t>không thể loại bỏ lỗi 100%</a:t>
            </a:r>
            <a:r>
              <a:rPr lang="vi-VN" dirty="0"/>
              <a:t>, nhưng giảm đáng kể rủi ro.</a:t>
            </a:r>
          </a:p>
          <a:p>
            <a:endParaRPr lang="en-US" b="1" dirty="0"/>
          </a:p>
          <a:p>
            <a:r>
              <a:rPr lang="en-US" b="1" dirty="0"/>
              <a:t>2.</a:t>
            </a:r>
            <a:r>
              <a:rPr lang="vi-VN" b="1" dirty="0"/>
              <a:t> Fault Tolerance – Chịu lỗi</a:t>
            </a:r>
          </a:p>
          <a:p>
            <a:r>
              <a:rPr lang="en-US" b="1" dirty="0"/>
              <a:t>* </a:t>
            </a:r>
            <a:r>
              <a:rPr lang="vi-VN" b="1" dirty="0"/>
              <a:t>Mục tiêu</a:t>
            </a:r>
          </a:p>
          <a:p>
            <a:r>
              <a:rPr lang="vi-VN" dirty="0"/>
              <a:t>Xây dựng hệ thống </a:t>
            </a:r>
            <a:r>
              <a:rPr lang="vi-VN" i="1" dirty="0"/>
              <a:t>vẫn hoạt động đúng</a:t>
            </a:r>
            <a:r>
              <a:rPr lang="vi-VN" dirty="0"/>
              <a:t> ngay cả khi có fault xảy ra.</a:t>
            </a:r>
          </a:p>
          <a:p>
            <a:r>
              <a:rPr lang="vi-VN" dirty="0"/>
              <a:t>→ Hệ thống </a:t>
            </a:r>
            <a:r>
              <a:rPr lang="vi-VN" b="1" dirty="0"/>
              <a:t>mask</a:t>
            </a:r>
            <a:r>
              <a:rPr lang="vi-VN" dirty="0"/>
              <a:t> (che giấu) lỗi, không để lỗi dẫn đến failure.</a:t>
            </a:r>
          </a:p>
          <a:p>
            <a:r>
              <a:rPr lang="en-US" b="1" dirty="0"/>
              <a:t>* </a:t>
            </a:r>
            <a:r>
              <a:rPr lang="vi-VN" b="1" dirty="0"/>
              <a:t>Cách làm phổ biến</a:t>
            </a:r>
          </a:p>
          <a:p>
            <a:pPr>
              <a:buFont typeface="Arial" panose="020B0604020202020204" pitchFamily="34" charset="0"/>
              <a:buChar char="•"/>
            </a:pPr>
            <a:r>
              <a:rPr lang="vi-VN" dirty="0"/>
              <a:t>Replication (primary–backup, quorum)</a:t>
            </a:r>
          </a:p>
          <a:p>
            <a:pPr>
              <a:buFont typeface="Arial" panose="020B0604020202020204" pitchFamily="34" charset="0"/>
              <a:buChar char="•"/>
            </a:pPr>
            <a:r>
              <a:rPr lang="vi-VN" dirty="0"/>
              <a:t>Checkpoint &amp; rollback</a:t>
            </a:r>
          </a:p>
          <a:p>
            <a:pPr>
              <a:buFont typeface="Arial" panose="020B0604020202020204" pitchFamily="34" charset="0"/>
              <a:buChar char="•"/>
            </a:pPr>
            <a:r>
              <a:rPr lang="vi-VN" dirty="0"/>
              <a:t>Redundancy trong phần cứng</a:t>
            </a:r>
          </a:p>
          <a:p>
            <a:pPr>
              <a:buFont typeface="Arial" panose="020B0604020202020204" pitchFamily="34" charset="0"/>
              <a:buChar char="•"/>
            </a:pPr>
            <a:r>
              <a:rPr lang="vi-VN" dirty="0"/>
              <a:t>N-version programming (nhiều phiên bản độc lập)</a:t>
            </a:r>
          </a:p>
          <a:p>
            <a:r>
              <a:rPr lang="en-US" b="1" dirty="0"/>
              <a:t>* </a:t>
            </a:r>
            <a:r>
              <a:rPr lang="vi-VN" b="1" dirty="0"/>
              <a:t>Ví dụ trong slide</a:t>
            </a:r>
          </a:p>
          <a:p>
            <a:r>
              <a:rPr lang="vi-VN" dirty="0"/>
              <a:t>“</a:t>
            </a:r>
            <a:r>
              <a:rPr lang="vi-VN" b="1" dirty="0"/>
              <a:t>Build each component by two independent programmers</a:t>
            </a:r>
            <a:r>
              <a:rPr lang="vi-VN" dirty="0"/>
              <a:t>”</a:t>
            </a:r>
            <a:br>
              <a:rPr lang="vi-VN" dirty="0"/>
            </a:br>
            <a:r>
              <a:rPr lang="vi-VN" dirty="0"/>
              <a:t>→ nếu một người gây lỗi (fault), phiên bản còn lại có thể hoạt động đúng.</a:t>
            </a:r>
          </a:p>
          <a:p>
            <a:r>
              <a:rPr lang="en-US" b="1" dirty="0"/>
              <a:t>* </a:t>
            </a:r>
            <a:r>
              <a:rPr lang="vi-VN" b="1" dirty="0"/>
              <a:t>Ý nghĩa</a:t>
            </a:r>
            <a:r>
              <a:rPr lang="en-US" b="1" dirty="0"/>
              <a:t>:</a:t>
            </a:r>
            <a:endParaRPr lang="vi-VN" b="1" dirty="0"/>
          </a:p>
          <a:p>
            <a:r>
              <a:rPr lang="vi-VN" dirty="0"/>
              <a:t>Fault tolerance là trọng tâm của các hệ thống phân tán hiện đại:</a:t>
            </a:r>
            <a:br>
              <a:rPr lang="vi-VN" dirty="0"/>
            </a:br>
            <a:r>
              <a:rPr lang="vi-VN" dirty="0"/>
              <a:t>Cloud, storage system, distributed DB.</a:t>
            </a:r>
          </a:p>
          <a:p>
            <a:endParaRPr lang="en-US" b="1" dirty="0"/>
          </a:p>
          <a:p>
            <a:r>
              <a:rPr lang="en-US" b="1" dirty="0"/>
              <a:t>3.</a:t>
            </a:r>
            <a:r>
              <a:rPr lang="vi-VN" b="1" dirty="0"/>
              <a:t> Fault Removal – Loại bỏ lỗi</a:t>
            </a:r>
          </a:p>
          <a:p>
            <a:r>
              <a:rPr lang="en-US" b="1" dirty="0"/>
              <a:t>* </a:t>
            </a:r>
            <a:r>
              <a:rPr lang="vi-VN" b="1" dirty="0"/>
              <a:t>Mục tiêu</a:t>
            </a:r>
          </a:p>
          <a:p>
            <a:r>
              <a:rPr lang="vi-VN" dirty="0"/>
              <a:t>Giảm số lượng, mức độ nghiêm trọng hoặc khả năng xuất hiện fault.</a:t>
            </a:r>
          </a:p>
          <a:p>
            <a:r>
              <a:rPr lang="en-US" b="1" dirty="0"/>
              <a:t>* </a:t>
            </a:r>
            <a:r>
              <a:rPr lang="vi-VN" b="1" dirty="0"/>
              <a:t>Thực hiện bằng cách</a:t>
            </a:r>
          </a:p>
          <a:p>
            <a:pPr>
              <a:buFont typeface="Arial" panose="020B0604020202020204" pitchFamily="34" charset="0"/>
              <a:buChar char="•"/>
            </a:pPr>
            <a:r>
              <a:rPr lang="vi-VN" dirty="0"/>
              <a:t>Testing</a:t>
            </a:r>
          </a:p>
          <a:p>
            <a:pPr>
              <a:buFont typeface="Arial" panose="020B0604020202020204" pitchFamily="34" charset="0"/>
              <a:buChar char="•"/>
            </a:pPr>
            <a:r>
              <a:rPr lang="vi-VN" dirty="0"/>
              <a:t>Debugging</a:t>
            </a:r>
          </a:p>
          <a:p>
            <a:pPr>
              <a:buFont typeface="Arial" panose="020B0604020202020204" pitchFamily="34" charset="0"/>
              <a:buChar char="•"/>
            </a:pPr>
            <a:r>
              <a:rPr lang="vi-VN" dirty="0"/>
              <a:t>Verification (model checking)</a:t>
            </a:r>
          </a:p>
          <a:p>
            <a:pPr>
              <a:buFont typeface="Arial" panose="020B0604020202020204" pitchFamily="34" charset="0"/>
              <a:buChar char="•"/>
            </a:pPr>
            <a:r>
              <a:rPr lang="vi-VN" dirty="0"/>
              <a:t>Code review</a:t>
            </a:r>
          </a:p>
          <a:p>
            <a:pPr>
              <a:buFont typeface="Arial" panose="020B0604020202020204" pitchFamily="34" charset="0"/>
              <a:buChar char="•"/>
            </a:pPr>
            <a:r>
              <a:rPr lang="vi-VN" dirty="0"/>
              <a:t>Static analysis</a:t>
            </a:r>
          </a:p>
          <a:p>
            <a:r>
              <a:rPr lang="en-US" b="1" dirty="0"/>
              <a:t>* </a:t>
            </a:r>
            <a:r>
              <a:rPr lang="vi-VN" b="1" dirty="0"/>
              <a:t>Ví dụ trong slide</a:t>
            </a:r>
          </a:p>
          <a:p>
            <a:r>
              <a:rPr lang="vi-VN" dirty="0"/>
              <a:t>“</a:t>
            </a:r>
            <a:r>
              <a:rPr lang="vi-VN" b="1" dirty="0"/>
              <a:t>Get rid of sloppy programmers</a:t>
            </a:r>
            <a:r>
              <a:rPr lang="vi-VN" dirty="0"/>
              <a:t>”</a:t>
            </a:r>
            <a:br>
              <a:rPr lang="vi-VN" dirty="0"/>
            </a:br>
            <a:r>
              <a:rPr lang="vi-VN" dirty="0"/>
              <a:t>→ thay người gây ra nhiều bug, hoặc sửa code lỗi → giảm lỗi đang tồn tại.</a:t>
            </a:r>
          </a:p>
          <a:p>
            <a:r>
              <a:rPr lang="en-US" b="1" dirty="0"/>
              <a:t>* </a:t>
            </a:r>
            <a:r>
              <a:rPr lang="vi-VN" b="1" dirty="0"/>
              <a:t>Ý nghĩa</a:t>
            </a:r>
            <a:r>
              <a:rPr lang="en-US" b="1" dirty="0"/>
              <a:t>:</a:t>
            </a:r>
            <a:endParaRPr lang="vi-VN" b="1" dirty="0"/>
          </a:p>
          <a:p>
            <a:r>
              <a:rPr lang="vi-VN" dirty="0"/>
              <a:t>Fault removal giúp giảm lỗi </a:t>
            </a:r>
            <a:r>
              <a:rPr lang="vi-VN" b="1" dirty="0"/>
              <a:t>đã có</a:t>
            </a:r>
            <a:r>
              <a:rPr lang="vi-VN" dirty="0"/>
              <a:t>, khác với </a:t>
            </a:r>
            <a:r>
              <a:rPr lang="vi-VN" i="1" dirty="0"/>
              <a:t>fault prevention</a:t>
            </a:r>
            <a:r>
              <a:rPr lang="vi-VN" dirty="0"/>
              <a:t> (ngăn ngay từ đầu).</a:t>
            </a:r>
          </a:p>
          <a:p>
            <a:endParaRPr lang="en-US" b="1" dirty="0"/>
          </a:p>
          <a:p>
            <a:r>
              <a:rPr lang="en-US" b="1" dirty="0"/>
              <a:t>4.</a:t>
            </a:r>
            <a:r>
              <a:rPr lang="vi-VN" b="1" dirty="0"/>
              <a:t> Fault Forecasting – Dự báo lỗi</a:t>
            </a:r>
          </a:p>
          <a:p>
            <a:r>
              <a:rPr lang="en-US" b="1" dirty="0"/>
              <a:t>* </a:t>
            </a:r>
            <a:r>
              <a:rPr lang="vi-VN" b="1" dirty="0"/>
              <a:t>Mục tiêu</a:t>
            </a:r>
          </a:p>
          <a:p>
            <a:r>
              <a:rPr lang="vi-VN" dirty="0"/>
              <a:t>Dự đoán lỗi sẽ xảy ra khi nào, tần suất bao nhiêu, và hậu quả thế nào.</a:t>
            </a:r>
          </a:p>
          <a:p>
            <a:r>
              <a:rPr lang="en-US" b="1" dirty="0"/>
              <a:t>* </a:t>
            </a:r>
            <a:r>
              <a:rPr lang="vi-VN" b="1" dirty="0"/>
              <a:t>Công cụ đi kèm</a:t>
            </a:r>
          </a:p>
          <a:p>
            <a:pPr>
              <a:buFont typeface="Arial" panose="020B0604020202020204" pitchFamily="34" charset="0"/>
              <a:buChar char="•"/>
            </a:pPr>
            <a:r>
              <a:rPr lang="vi-VN" dirty="0"/>
              <a:t>Reliability models</a:t>
            </a:r>
          </a:p>
          <a:p>
            <a:pPr>
              <a:buFont typeface="Arial" panose="020B0604020202020204" pitchFamily="34" charset="0"/>
              <a:buChar char="•"/>
            </a:pPr>
            <a:r>
              <a:rPr lang="vi-VN" dirty="0"/>
              <a:t>Failure rate measurement</a:t>
            </a:r>
          </a:p>
          <a:p>
            <a:pPr>
              <a:buFont typeface="Arial" panose="020B0604020202020204" pitchFamily="34" charset="0"/>
              <a:buChar char="•"/>
            </a:pPr>
            <a:r>
              <a:rPr lang="vi-VN" dirty="0"/>
              <a:t>Statistical analysis</a:t>
            </a:r>
          </a:p>
          <a:p>
            <a:pPr>
              <a:buFont typeface="Arial" panose="020B0604020202020204" pitchFamily="34" charset="0"/>
              <a:buChar char="•"/>
            </a:pPr>
            <a:r>
              <a:rPr lang="vi-VN" dirty="0"/>
              <a:t>Predictive maintenance</a:t>
            </a:r>
          </a:p>
          <a:p>
            <a:r>
              <a:rPr lang="en-US" b="1" dirty="0"/>
              <a:t>* </a:t>
            </a:r>
            <a:r>
              <a:rPr lang="vi-VN" b="1" dirty="0"/>
              <a:t>Ví dụ trong slide</a:t>
            </a:r>
          </a:p>
          <a:p>
            <a:r>
              <a:rPr lang="vi-VN" dirty="0"/>
              <a:t>“</a:t>
            </a:r>
            <a:r>
              <a:rPr lang="vi-VN" b="1" dirty="0"/>
              <a:t>Estimate how a recruiter is doing when it comes to hiring sloppy programmers</a:t>
            </a:r>
            <a:r>
              <a:rPr lang="vi-VN" dirty="0"/>
              <a:t>”</a:t>
            </a:r>
            <a:br>
              <a:rPr lang="vi-VN" dirty="0"/>
            </a:br>
            <a:r>
              <a:rPr lang="vi-VN" dirty="0"/>
              <a:t>→ dự đoán xem tương lai hệ thống có nhiều lỗi hay không, dựa vào nguồn nhân lực.</a:t>
            </a:r>
          </a:p>
          <a:p>
            <a:r>
              <a:rPr lang="en-US" b="1" dirty="0"/>
              <a:t>* </a:t>
            </a:r>
            <a:r>
              <a:rPr lang="vi-VN" b="1" dirty="0"/>
              <a:t>Ý nghĩa</a:t>
            </a:r>
            <a:r>
              <a:rPr lang="en-US" b="1" dirty="0"/>
              <a:t>:</a:t>
            </a:r>
            <a:endParaRPr lang="vi-VN" b="1" dirty="0"/>
          </a:p>
          <a:p>
            <a:r>
              <a:rPr lang="vi-VN" dirty="0"/>
              <a:t>Fault forecasting giúp:</a:t>
            </a:r>
          </a:p>
          <a:p>
            <a:pPr>
              <a:buFont typeface="Arial" panose="020B0604020202020204" pitchFamily="34" charset="0"/>
              <a:buChar char="•"/>
            </a:pPr>
            <a:r>
              <a:rPr lang="vi-VN" dirty="0"/>
              <a:t>tính toán MTBF</a:t>
            </a:r>
          </a:p>
          <a:p>
            <a:pPr>
              <a:buFont typeface="Arial" panose="020B0604020202020204" pitchFamily="34" charset="0"/>
              <a:buChar char="•"/>
            </a:pPr>
            <a:r>
              <a:rPr lang="vi-VN" dirty="0"/>
              <a:t>dự đoán downtime</a:t>
            </a:r>
          </a:p>
          <a:p>
            <a:pPr>
              <a:buFont typeface="Arial" panose="020B0604020202020204" pitchFamily="34" charset="0"/>
              <a:buChar char="•"/>
            </a:pPr>
            <a:r>
              <a:rPr lang="vi-VN" dirty="0"/>
              <a:t>chủ động bảo trì (preventive maintenance)</a:t>
            </a:r>
          </a:p>
          <a:p>
            <a:endParaRPr lang="en-US" b="1" dirty="0"/>
          </a:p>
          <a:p>
            <a:r>
              <a:rPr lang="vi-VN" b="1" dirty="0"/>
              <a:t>Tóm tắt dễ nhớ</a:t>
            </a:r>
          </a:p>
          <a:p>
            <a:r>
              <a:rPr lang="vi-VN" dirty="0"/>
              <a:t>Kỹ thuật</a:t>
            </a:r>
            <a:r>
              <a:rPr lang="en-US" dirty="0"/>
              <a:t>		</a:t>
            </a:r>
            <a:r>
              <a:rPr lang="vi-VN" dirty="0"/>
              <a:t>Mục đích chính</a:t>
            </a:r>
            <a:r>
              <a:rPr lang="en-US" dirty="0"/>
              <a:t>	</a:t>
            </a:r>
            <a:r>
              <a:rPr lang="vi-VN" dirty="0"/>
              <a:t>Ví dụ</a:t>
            </a:r>
            <a:endParaRPr lang="en-US" dirty="0"/>
          </a:p>
          <a:p>
            <a:r>
              <a:rPr lang="vi-VN" b="1" dirty="0"/>
              <a:t>Fault prevention</a:t>
            </a:r>
            <a:r>
              <a:rPr lang="en-US" b="1" dirty="0"/>
              <a:t>	</a:t>
            </a:r>
            <a:r>
              <a:rPr lang="vi-VN" dirty="0"/>
              <a:t>Ngăn lỗi xuất hiện</a:t>
            </a:r>
            <a:r>
              <a:rPr lang="en-US" dirty="0"/>
              <a:t>	</a:t>
            </a:r>
            <a:r>
              <a:rPr lang="vi-VN" dirty="0"/>
              <a:t>Training, coding standard</a:t>
            </a:r>
            <a:endParaRPr lang="en-US" dirty="0"/>
          </a:p>
          <a:p>
            <a:r>
              <a:rPr lang="vi-VN" b="1" dirty="0"/>
              <a:t>Fault tolerance</a:t>
            </a:r>
            <a:r>
              <a:rPr lang="en-US" b="1" dirty="0"/>
              <a:t>	</a:t>
            </a:r>
            <a:r>
              <a:rPr lang="vi-VN" dirty="0"/>
              <a:t>Hệ thống vẫn chạy khi có lỗi</a:t>
            </a:r>
            <a:r>
              <a:rPr lang="en-US" dirty="0"/>
              <a:t>	</a:t>
            </a:r>
            <a:r>
              <a:rPr lang="vi-VN" dirty="0"/>
              <a:t>Replication, redundancy</a:t>
            </a:r>
            <a:endParaRPr lang="en-US" dirty="0"/>
          </a:p>
          <a:p>
            <a:r>
              <a:rPr lang="vi-VN" b="1" dirty="0"/>
              <a:t>Fault removal</a:t>
            </a:r>
            <a:r>
              <a:rPr lang="en-US" b="1" dirty="0"/>
              <a:t>		</a:t>
            </a:r>
            <a:r>
              <a:rPr lang="vi-VN" dirty="0"/>
              <a:t>Sửa lỗi đang tồn tại</a:t>
            </a:r>
            <a:r>
              <a:rPr lang="en-US" dirty="0"/>
              <a:t>	</a:t>
            </a:r>
            <a:r>
              <a:rPr lang="vi-VN" dirty="0"/>
              <a:t>Testing, debugging</a:t>
            </a:r>
            <a:endParaRPr lang="en-US" dirty="0"/>
          </a:p>
          <a:p>
            <a:r>
              <a:rPr lang="vi-VN" b="1" dirty="0"/>
              <a:t>Fault forecasting</a:t>
            </a:r>
            <a:r>
              <a:rPr lang="en-US" b="1" dirty="0"/>
              <a:t>	</a:t>
            </a:r>
            <a:r>
              <a:rPr lang="vi-VN" dirty="0"/>
              <a:t>Dự đoán lỗi trong tương lai</a:t>
            </a:r>
            <a:r>
              <a:rPr lang="en-US" dirty="0"/>
              <a:t>	</a:t>
            </a:r>
            <a:r>
              <a:rPr lang="vi-VN" dirty="0"/>
              <a:t>Reliability analysis</a:t>
            </a:r>
            <a:endParaRPr lang="en-US" dirty="0"/>
          </a:p>
          <a:p>
            <a:endParaRPr lang="en-US" b="1" dirty="0"/>
          </a:p>
          <a:p>
            <a:r>
              <a:rPr lang="vi-VN" b="1" dirty="0"/>
              <a:t>Kết luận giảng viên</a:t>
            </a:r>
          </a:p>
          <a:p>
            <a:pPr>
              <a:buFont typeface="Arial" panose="020B0604020202020204" pitchFamily="34" charset="0"/>
              <a:buChar char="•"/>
            </a:pPr>
            <a:r>
              <a:rPr lang="vi-VN" dirty="0"/>
              <a:t>Bốn chiến lược này thường được kết hợp để tạo ra hệ thống phân tán có </a:t>
            </a:r>
            <a:r>
              <a:rPr lang="vi-VN" b="1" dirty="0"/>
              <a:t>tính chịu lỗi cao</a:t>
            </a:r>
            <a:r>
              <a:rPr lang="vi-VN" dirty="0"/>
              <a:t>.</a:t>
            </a:r>
          </a:p>
          <a:p>
            <a:pPr>
              <a:buFont typeface="Arial" panose="020B0604020202020204" pitchFamily="34" charset="0"/>
              <a:buChar char="•"/>
            </a:pPr>
            <a:r>
              <a:rPr lang="vi-VN" dirty="0"/>
              <a:t>Trong thực tế, các cloud provider (AWS, GCP, Azure) đều dùng đa tầng kỹ thuật để đạt độ tin cậy cao (AWS S3: 11 số 9).</a:t>
            </a:r>
          </a:p>
          <a:p>
            <a:pPr>
              <a:buFont typeface="Arial" panose="020B0604020202020204" pitchFamily="34" charset="0"/>
              <a:buChar char="•"/>
            </a:pPr>
            <a:r>
              <a:rPr lang="vi-VN" dirty="0"/>
              <a:t>Đây là nền tảng để hiểu các phần tiếp theo như </a:t>
            </a:r>
            <a:r>
              <a:rPr lang="vi-VN" b="1" dirty="0"/>
              <a:t>redundancy, replication, checkpointing, recovery, Byzantine fault tolerance…</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7</a:t>
            </a:fld>
            <a:endParaRPr lang="en-US"/>
          </a:p>
        </p:txBody>
      </p:sp>
    </p:spTree>
    <p:extLst>
      <p:ext uri="{BB962C8B-B14F-4D97-AF65-F5344CB8AC3E}">
        <p14:creationId xmlns:p14="http://schemas.microsoft.com/office/powerpoint/2010/main" val="3088015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Failure Models (Các mô hình lỗi trong hệ phân tán)</a:t>
            </a:r>
          </a:p>
          <a:p>
            <a:r>
              <a:rPr lang="vi-VN" dirty="0"/>
              <a:t>Trong hệ thống phân tán, nhiều loại lỗi có thể xảy ra và mỗi loại gây ra những hành vi khác nhau của server. Việc phân loại lỗi giúp chúng ta thiết kế cơ chế </a:t>
            </a:r>
            <a:r>
              <a:rPr lang="vi-VN" b="1" dirty="0"/>
              <a:t>chịu lỗi (fault tolerance)</a:t>
            </a:r>
            <a:r>
              <a:rPr lang="vi-VN" dirty="0"/>
              <a:t> phù hợp.</a:t>
            </a:r>
          </a:p>
          <a:p>
            <a:r>
              <a:rPr lang="vi-VN" dirty="0"/>
              <a:t>Slide liệt kê </a:t>
            </a:r>
            <a:r>
              <a:rPr lang="vi-VN" b="1" dirty="0"/>
              <a:t>5 nhóm lỗi chính</a:t>
            </a:r>
            <a:r>
              <a:rPr lang="vi-VN" dirty="0"/>
              <a:t>, từ </a:t>
            </a:r>
            <a:r>
              <a:rPr lang="vi-VN" i="1" dirty="0"/>
              <a:t>nhẹ nhất</a:t>
            </a:r>
            <a:r>
              <a:rPr lang="vi-VN" dirty="0"/>
              <a:t> đến </a:t>
            </a:r>
            <a:r>
              <a:rPr lang="vi-VN" i="1" dirty="0"/>
              <a:t>nghiêm trọng nhất</a:t>
            </a:r>
            <a:r>
              <a:rPr lang="vi-VN" dirty="0"/>
              <a:t>.</a:t>
            </a:r>
          </a:p>
          <a:p>
            <a:endParaRPr lang="en-US" b="1" dirty="0"/>
          </a:p>
          <a:p>
            <a:r>
              <a:rPr lang="en-US" b="1" dirty="0"/>
              <a:t>1.</a:t>
            </a:r>
            <a:r>
              <a:rPr lang="vi-VN" b="1" dirty="0"/>
              <a:t> Crash failure (Lỗi dừng / lỗi sập) – </a:t>
            </a:r>
            <a:r>
              <a:rPr lang="vi-VN" b="1" i="1" dirty="0"/>
              <a:t>mức độ nhẹ nhất</a:t>
            </a:r>
            <a:endParaRPr lang="vi-VN" b="1" dirty="0"/>
          </a:p>
          <a:p>
            <a:r>
              <a:rPr lang="en-US" b="1" dirty="0"/>
              <a:t>* </a:t>
            </a:r>
            <a:r>
              <a:rPr lang="vi-VN" b="1" dirty="0"/>
              <a:t>Hành vi</a:t>
            </a:r>
          </a:p>
          <a:p>
            <a:pPr>
              <a:buFont typeface="Arial" panose="020B0604020202020204" pitchFamily="34" charset="0"/>
              <a:buChar char="•"/>
            </a:pPr>
            <a:r>
              <a:rPr lang="vi-VN" dirty="0"/>
              <a:t>Server hoạt động hoàn toàn đúng </a:t>
            </a:r>
            <a:r>
              <a:rPr lang="vi-VN" b="1" dirty="0"/>
              <a:t>cho đến khi nó dừng hẳn</a:t>
            </a:r>
            <a:r>
              <a:rPr lang="vi-VN" dirty="0"/>
              <a:t>.</a:t>
            </a:r>
          </a:p>
          <a:p>
            <a:pPr>
              <a:buFont typeface="Arial" panose="020B0604020202020204" pitchFamily="34" charset="0"/>
              <a:buChar char="•"/>
            </a:pPr>
            <a:r>
              <a:rPr lang="vi-VN" dirty="0"/>
              <a:t>Sau đó nó không phản hồi nữa.</a:t>
            </a:r>
          </a:p>
          <a:p>
            <a:r>
              <a:rPr lang="en-US" b="1" dirty="0"/>
              <a:t>* </a:t>
            </a:r>
            <a:r>
              <a:rPr lang="vi-VN" b="1" dirty="0"/>
              <a:t>Đặc điểm</a:t>
            </a:r>
          </a:p>
          <a:p>
            <a:pPr>
              <a:buFont typeface="Arial" panose="020B0604020202020204" pitchFamily="34" charset="0"/>
              <a:buChar char="•"/>
            </a:pPr>
            <a:r>
              <a:rPr lang="vi-VN" b="1" dirty="0"/>
              <a:t>Không gửi sai dữ liệu</a:t>
            </a:r>
            <a:r>
              <a:rPr lang="vi-VN" dirty="0"/>
              <a:t>, không gửi dữ liệu rác.</a:t>
            </a:r>
          </a:p>
          <a:p>
            <a:pPr>
              <a:buFont typeface="Arial" panose="020B0604020202020204" pitchFamily="34" charset="0"/>
              <a:buChar char="•"/>
            </a:pPr>
            <a:r>
              <a:rPr lang="vi-VN" dirty="0"/>
              <a:t>Chỉ… “chết một cách sạch sẽ”.</a:t>
            </a:r>
          </a:p>
          <a:p>
            <a:r>
              <a:rPr lang="en-US" b="1" dirty="0"/>
              <a:t>* </a:t>
            </a:r>
            <a:r>
              <a:rPr lang="vi-VN" b="1" dirty="0"/>
              <a:t>Ví dụ</a:t>
            </a:r>
          </a:p>
          <a:p>
            <a:pPr>
              <a:buFont typeface="Arial" panose="020B0604020202020204" pitchFamily="34" charset="0"/>
              <a:buChar char="•"/>
            </a:pPr>
            <a:r>
              <a:rPr lang="vi-VN" dirty="0"/>
              <a:t>Server bị mất điện.</a:t>
            </a:r>
          </a:p>
          <a:p>
            <a:pPr>
              <a:buFont typeface="Arial" panose="020B0604020202020204" pitchFamily="34" charset="0"/>
              <a:buChar char="•"/>
            </a:pPr>
            <a:r>
              <a:rPr lang="vi-VN" dirty="0"/>
              <a:t>Process gặp lỗi và dừng hẳn.</a:t>
            </a:r>
          </a:p>
          <a:p>
            <a:endParaRPr lang="en-US" b="1" dirty="0"/>
          </a:p>
          <a:p>
            <a:r>
              <a:rPr lang="en-US" b="1" dirty="0"/>
              <a:t>2.</a:t>
            </a:r>
            <a:r>
              <a:rPr lang="vi-VN" b="1" dirty="0"/>
              <a:t> Omission failure (Lỗi bỏ sót – mất yêu cầu)</a:t>
            </a:r>
          </a:p>
          <a:p>
            <a:r>
              <a:rPr lang="vi-VN" dirty="0"/>
              <a:t>Server không thực hiện đầy đủ các thao tác nhận/gửi.</a:t>
            </a:r>
          </a:p>
          <a:p>
            <a:r>
              <a:rPr lang="vi-VN" dirty="0"/>
              <a:t>Gồm 2 dạng:</a:t>
            </a:r>
          </a:p>
          <a:p>
            <a:r>
              <a:rPr lang="vi-VN" b="1" dirty="0"/>
              <a:t>a) Receive omission</a:t>
            </a:r>
          </a:p>
          <a:p>
            <a:r>
              <a:rPr lang="vi-VN" dirty="0"/>
              <a:t>Server </a:t>
            </a:r>
            <a:r>
              <a:rPr lang="vi-VN" b="1" dirty="0"/>
              <a:t>không nhận được</a:t>
            </a:r>
            <a:r>
              <a:rPr lang="vi-VN" dirty="0"/>
              <a:t> yêu cầu hay thông điệp.</a:t>
            </a:r>
          </a:p>
          <a:p>
            <a:r>
              <a:rPr lang="vi-VN" dirty="0"/>
              <a:t>→ Ví dụ: gói tin bị rớt do mạng.</a:t>
            </a:r>
          </a:p>
          <a:p>
            <a:r>
              <a:rPr lang="vi-VN" b="1" dirty="0"/>
              <a:t>b) Send omission</a:t>
            </a:r>
          </a:p>
          <a:p>
            <a:r>
              <a:rPr lang="vi-VN" dirty="0"/>
              <a:t>Server </a:t>
            </a:r>
            <a:r>
              <a:rPr lang="vi-VN" b="1" dirty="0"/>
              <a:t>nhận được yêu cầu</a:t>
            </a:r>
            <a:r>
              <a:rPr lang="vi-VN" dirty="0"/>
              <a:t>, nhưng </a:t>
            </a:r>
            <a:r>
              <a:rPr lang="vi-VN" b="1" dirty="0"/>
              <a:t>không gửi</a:t>
            </a:r>
            <a:r>
              <a:rPr lang="vi-VN" dirty="0"/>
              <a:t> phản hồi.</a:t>
            </a:r>
          </a:p>
          <a:p>
            <a:r>
              <a:rPr lang="vi-VN" dirty="0"/>
              <a:t>→ Ví dụ: buffer mạng đầy, message bị drop.</a:t>
            </a:r>
          </a:p>
          <a:p>
            <a:r>
              <a:rPr lang="en-US" b="1" dirty="0"/>
              <a:t>* </a:t>
            </a:r>
            <a:r>
              <a:rPr lang="vi-VN" b="1" dirty="0"/>
              <a:t>Đặc điểm chung</a:t>
            </a:r>
          </a:p>
          <a:p>
            <a:r>
              <a:rPr lang="vi-VN" dirty="0"/>
              <a:t>Server </a:t>
            </a:r>
            <a:r>
              <a:rPr lang="vi-VN" b="1" dirty="0"/>
              <a:t>không sai</a:t>
            </a:r>
            <a:r>
              <a:rPr lang="vi-VN" dirty="0"/>
              <a:t>, chỉ là </a:t>
            </a:r>
            <a:r>
              <a:rPr lang="vi-VN" b="1" dirty="0"/>
              <a:t>thiếu phản hồi</a:t>
            </a:r>
            <a:r>
              <a:rPr lang="vi-VN" dirty="0"/>
              <a:t> ở đâu đó.</a:t>
            </a:r>
          </a:p>
          <a:p>
            <a:endParaRPr lang="en-US" b="1" dirty="0"/>
          </a:p>
          <a:p>
            <a:r>
              <a:rPr lang="en-US" b="1" dirty="0"/>
              <a:t>3.</a:t>
            </a:r>
            <a:r>
              <a:rPr lang="vi-VN" b="1" dirty="0"/>
              <a:t> Timing failure (Lỗi thời gian)</a:t>
            </a:r>
          </a:p>
          <a:p>
            <a:r>
              <a:rPr lang="en-US" b="1" dirty="0"/>
              <a:t>* </a:t>
            </a:r>
            <a:r>
              <a:rPr lang="vi-VN" b="1" dirty="0"/>
              <a:t>Hành vi</a:t>
            </a:r>
          </a:p>
          <a:p>
            <a:pPr>
              <a:buFont typeface="Arial" panose="020B0604020202020204" pitchFamily="34" charset="0"/>
              <a:buChar char="•"/>
            </a:pPr>
            <a:r>
              <a:rPr lang="vi-VN" dirty="0"/>
              <a:t>Server trả lời </a:t>
            </a:r>
            <a:r>
              <a:rPr lang="vi-VN" b="1" dirty="0"/>
              <a:t>quá sớm</a:t>
            </a:r>
            <a:r>
              <a:rPr lang="vi-VN" dirty="0"/>
              <a:t> hoặc </a:t>
            </a:r>
            <a:r>
              <a:rPr lang="vi-VN" b="1" dirty="0"/>
              <a:t>quá muộn</a:t>
            </a:r>
            <a:r>
              <a:rPr lang="vi-VN" dirty="0"/>
              <a:t>, không nằm trong khoảng thời gian quy định.</a:t>
            </a:r>
          </a:p>
          <a:p>
            <a:pPr>
              <a:buFont typeface="Arial" panose="020B0604020202020204" pitchFamily="34" charset="0"/>
              <a:buChar char="•"/>
            </a:pPr>
            <a:r>
              <a:rPr lang="vi-VN" dirty="0"/>
              <a:t>Xảy ra trong </a:t>
            </a:r>
            <a:r>
              <a:rPr lang="vi-VN" b="1" dirty="0"/>
              <a:t>hệ thống thời gian thực (real-time systems)</a:t>
            </a:r>
            <a:r>
              <a:rPr lang="vi-VN" dirty="0"/>
              <a:t>.</a:t>
            </a:r>
          </a:p>
          <a:p>
            <a:r>
              <a:rPr lang="en-US" b="1" dirty="0"/>
              <a:t>* </a:t>
            </a:r>
            <a:r>
              <a:rPr lang="vi-VN" b="1" dirty="0"/>
              <a:t>Ví dụ</a:t>
            </a:r>
          </a:p>
          <a:p>
            <a:pPr>
              <a:buFont typeface="Arial" panose="020B0604020202020204" pitchFamily="34" charset="0"/>
              <a:buChar char="•"/>
            </a:pPr>
            <a:r>
              <a:rPr lang="vi-VN" dirty="0"/>
              <a:t>Deadline kiểm soát robot công nghiệp.</a:t>
            </a:r>
          </a:p>
          <a:p>
            <a:pPr>
              <a:buFont typeface="Arial" panose="020B0604020202020204" pitchFamily="34" charset="0"/>
              <a:buChar char="•"/>
            </a:pPr>
            <a:r>
              <a:rPr lang="vi-VN" dirty="0"/>
              <a:t>Heartbeat không đến đúng hạn → hệ thống nghĩ node đã chết.</a:t>
            </a:r>
          </a:p>
          <a:p>
            <a:endParaRPr lang="en-US" b="1" dirty="0"/>
          </a:p>
          <a:p>
            <a:r>
              <a:rPr lang="en-US" b="1" dirty="0"/>
              <a:t>4.</a:t>
            </a:r>
            <a:r>
              <a:rPr lang="vi-VN" b="1" dirty="0"/>
              <a:t> Response failure (Lỗi phản hồi) – </a:t>
            </a:r>
            <a:r>
              <a:rPr lang="vi-VN" b="1" i="1" dirty="0"/>
              <a:t>nghiêm trọng hơn omission</a:t>
            </a:r>
            <a:endParaRPr lang="vi-VN" b="1" dirty="0"/>
          </a:p>
          <a:p>
            <a:r>
              <a:rPr lang="vi-VN" dirty="0"/>
              <a:t>Server </a:t>
            </a:r>
            <a:r>
              <a:rPr lang="vi-VN" b="1" dirty="0"/>
              <a:t>trả lời sai</a:t>
            </a:r>
            <a:r>
              <a:rPr lang="vi-VN" dirty="0"/>
              <a:t>.</a:t>
            </a:r>
          </a:p>
          <a:p>
            <a:r>
              <a:rPr lang="vi-VN" dirty="0"/>
              <a:t>Gồm 2 loại:</a:t>
            </a:r>
          </a:p>
          <a:p>
            <a:r>
              <a:rPr lang="vi-VN" b="1" dirty="0"/>
              <a:t>a) Value failure</a:t>
            </a:r>
          </a:p>
          <a:p>
            <a:pPr>
              <a:buFont typeface="Arial" panose="020B0604020202020204" pitchFamily="34" charset="0"/>
              <a:buChar char="•"/>
            </a:pPr>
            <a:r>
              <a:rPr lang="vi-VN" dirty="0"/>
              <a:t>Giá trị trả về sai.</a:t>
            </a:r>
          </a:p>
          <a:p>
            <a:pPr>
              <a:buFont typeface="Arial" panose="020B0604020202020204" pitchFamily="34" charset="0"/>
              <a:buChar char="•"/>
            </a:pPr>
            <a:r>
              <a:rPr lang="vi-VN" dirty="0"/>
              <a:t>Ví dụ: tính tổng 2+2=5.</a:t>
            </a:r>
          </a:p>
          <a:p>
            <a:r>
              <a:rPr lang="vi-VN" b="1" dirty="0"/>
              <a:t>b) State-transition failure</a:t>
            </a:r>
          </a:p>
          <a:p>
            <a:pPr>
              <a:buFont typeface="Arial" panose="020B0604020202020204" pitchFamily="34" charset="0"/>
              <a:buChar char="•"/>
            </a:pPr>
            <a:r>
              <a:rPr lang="vi-VN" dirty="0"/>
              <a:t>Server đi sai </a:t>
            </a:r>
            <a:r>
              <a:rPr lang="vi-VN" b="1" dirty="0"/>
              <a:t>trạng thái</a:t>
            </a:r>
            <a:r>
              <a:rPr lang="vi-VN" dirty="0"/>
              <a:t>, sai logic, sai thứ tự vận hành.</a:t>
            </a:r>
          </a:p>
          <a:p>
            <a:pPr>
              <a:buFont typeface="Arial" panose="020B0604020202020204" pitchFamily="34" charset="0"/>
              <a:buChar char="•"/>
            </a:pPr>
            <a:r>
              <a:rPr lang="vi-VN" dirty="0"/>
              <a:t>Ví dụ: ngân hàng </a:t>
            </a:r>
            <a:r>
              <a:rPr lang="vi-VN" i="1" dirty="0"/>
              <a:t>rút tiền trước khi kiểm tra số dư</a:t>
            </a:r>
            <a:r>
              <a:rPr lang="vi-VN" dirty="0"/>
              <a:t>.</a:t>
            </a:r>
          </a:p>
          <a:p>
            <a:r>
              <a:rPr lang="en-US" b="1" dirty="0"/>
              <a:t>* </a:t>
            </a:r>
            <a:r>
              <a:rPr lang="vi-VN" b="1" dirty="0"/>
              <a:t>Đây là lỗi logic, không còn là lỗi mạng hay lỗi thời gian.</a:t>
            </a:r>
          </a:p>
          <a:p>
            <a:endParaRPr lang="en-US" b="1" dirty="0"/>
          </a:p>
          <a:p>
            <a:r>
              <a:rPr lang="en-US" b="1" dirty="0"/>
              <a:t>5.</a:t>
            </a:r>
            <a:r>
              <a:rPr lang="vi-VN" b="1" dirty="0"/>
              <a:t> Arbitrary failure (Byzantine failure) – </a:t>
            </a:r>
            <a:r>
              <a:rPr lang="vi-VN" b="1" i="1" dirty="0"/>
              <a:t>mức độ NẶNG NHẤT</a:t>
            </a:r>
            <a:endParaRPr lang="vi-VN" b="1" dirty="0"/>
          </a:p>
          <a:p>
            <a:r>
              <a:rPr lang="en-US" b="1" dirty="0"/>
              <a:t>* </a:t>
            </a:r>
            <a:r>
              <a:rPr lang="vi-VN" b="1" dirty="0"/>
              <a:t>Hành vi</a:t>
            </a:r>
          </a:p>
          <a:p>
            <a:r>
              <a:rPr lang="vi-VN" dirty="0"/>
              <a:t>Server có thể:</a:t>
            </a:r>
          </a:p>
          <a:p>
            <a:pPr>
              <a:buFont typeface="Arial" panose="020B0604020202020204" pitchFamily="34" charset="0"/>
              <a:buChar char="•"/>
            </a:pPr>
            <a:r>
              <a:rPr lang="vi-VN" dirty="0"/>
              <a:t>Gửi </a:t>
            </a:r>
            <a:r>
              <a:rPr lang="vi-VN" b="1" dirty="0"/>
              <a:t>dữ liệu sai</a:t>
            </a:r>
            <a:endParaRPr lang="vi-VN" dirty="0"/>
          </a:p>
          <a:p>
            <a:pPr>
              <a:buFont typeface="Arial" panose="020B0604020202020204" pitchFamily="34" charset="0"/>
              <a:buChar char="•"/>
            </a:pPr>
            <a:r>
              <a:rPr lang="vi-VN" dirty="0"/>
              <a:t>Gửi </a:t>
            </a:r>
            <a:r>
              <a:rPr lang="vi-VN" b="1" dirty="0"/>
              <a:t>dữ liệu ngẫu nhiên</a:t>
            </a:r>
            <a:endParaRPr lang="vi-VN" dirty="0"/>
          </a:p>
          <a:p>
            <a:pPr>
              <a:buFont typeface="Arial" panose="020B0604020202020204" pitchFamily="34" charset="0"/>
              <a:buChar char="•"/>
            </a:pPr>
            <a:r>
              <a:rPr lang="vi-VN" dirty="0"/>
              <a:t>Gửi đúng với node A nhưng sai với node B</a:t>
            </a:r>
          </a:p>
          <a:p>
            <a:pPr>
              <a:buFont typeface="Arial" panose="020B0604020202020204" pitchFamily="34" charset="0"/>
              <a:buChar char="•"/>
            </a:pPr>
            <a:r>
              <a:rPr lang="vi-VN" dirty="0"/>
              <a:t>Thay đổi hành vi không đoán trước</a:t>
            </a:r>
          </a:p>
          <a:p>
            <a:pPr>
              <a:buFont typeface="Arial" panose="020B0604020202020204" pitchFamily="34" charset="0"/>
              <a:buChar char="•"/>
            </a:pPr>
            <a:r>
              <a:rPr lang="vi-VN" dirty="0"/>
              <a:t>Thậm chí </a:t>
            </a:r>
            <a:r>
              <a:rPr lang="vi-VN" b="1" dirty="0"/>
              <a:t>cố tình phá hoại</a:t>
            </a:r>
            <a:endParaRPr lang="vi-VN" dirty="0"/>
          </a:p>
          <a:p>
            <a:r>
              <a:rPr lang="en-US" b="1" dirty="0"/>
              <a:t>* </a:t>
            </a:r>
            <a:r>
              <a:rPr lang="vi-VN" b="1" dirty="0"/>
              <a:t>Ví dụ</a:t>
            </a:r>
          </a:p>
          <a:p>
            <a:pPr>
              <a:buFont typeface="Arial" panose="020B0604020202020204" pitchFamily="34" charset="0"/>
              <a:buChar char="•"/>
            </a:pPr>
            <a:r>
              <a:rPr lang="vi-VN" dirty="0"/>
              <a:t>Node trong blockchain bị tấn công, gửi dữ liệu giả.</a:t>
            </a:r>
          </a:p>
          <a:p>
            <a:pPr>
              <a:buFont typeface="Arial" panose="020B0604020202020204" pitchFamily="34" charset="0"/>
              <a:buChar char="•"/>
            </a:pPr>
            <a:r>
              <a:rPr lang="vi-VN" dirty="0"/>
              <a:t>Bug trầm trọng sinh ra hành vi không lường trước.</a:t>
            </a:r>
          </a:p>
          <a:p>
            <a:r>
              <a:rPr lang="en-US" b="1" dirty="0"/>
              <a:t>* </a:t>
            </a:r>
            <a:r>
              <a:rPr lang="vi-VN" b="1" dirty="0"/>
              <a:t>Loại lỗi khó xử lý nhất → cần Byzantine fault tolerance.</a:t>
            </a:r>
          </a:p>
          <a:p>
            <a:endParaRPr lang="en-US" b="1" dirty="0"/>
          </a:p>
          <a:p>
            <a:r>
              <a:rPr lang="vi-VN" b="1" dirty="0"/>
              <a:t>Tóm tắt theo bảng slide</a:t>
            </a:r>
          </a:p>
          <a:p>
            <a:r>
              <a:rPr lang="vi-VN" dirty="0"/>
              <a:t>Loại lỗi</a:t>
            </a:r>
            <a:r>
              <a:rPr lang="en-US" dirty="0"/>
              <a:t>		</a:t>
            </a:r>
            <a:r>
              <a:rPr lang="vi-VN" dirty="0"/>
              <a:t>Mô tả</a:t>
            </a:r>
            <a:r>
              <a:rPr lang="en-US" dirty="0"/>
              <a:t>			</a:t>
            </a:r>
            <a:r>
              <a:rPr lang="vi-VN" dirty="0"/>
              <a:t>Mức độ</a:t>
            </a:r>
            <a:endParaRPr lang="en-US" dirty="0"/>
          </a:p>
          <a:p>
            <a:r>
              <a:rPr lang="vi-VN" b="1" dirty="0"/>
              <a:t>Crash failure</a:t>
            </a:r>
            <a:r>
              <a:rPr lang="en-US" b="1" dirty="0"/>
              <a:t>		</a:t>
            </a:r>
            <a:r>
              <a:rPr lang="vi-VN" dirty="0"/>
              <a:t>Server dừng hoàn toàn</a:t>
            </a:r>
            <a:r>
              <a:rPr lang="en-US" dirty="0"/>
              <a:t>		</a:t>
            </a:r>
            <a:r>
              <a:rPr lang="vi-VN" dirty="0"/>
              <a:t>Nhẹ</a:t>
            </a:r>
            <a:endParaRPr lang="en-US" dirty="0"/>
          </a:p>
          <a:p>
            <a:r>
              <a:rPr lang="vi-VN" b="1" dirty="0"/>
              <a:t>Omission failure</a:t>
            </a:r>
            <a:r>
              <a:rPr lang="en-US" b="1" dirty="0"/>
              <a:t>	</a:t>
            </a:r>
            <a:r>
              <a:rPr lang="vi-VN" dirty="0"/>
              <a:t>Bỏ sót gói tin (không nhận / không gửi)</a:t>
            </a:r>
            <a:r>
              <a:rPr lang="en-US" dirty="0"/>
              <a:t>	</a:t>
            </a:r>
            <a:r>
              <a:rPr lang="vi-VN" dirty="0"/>
              <a:t>Trung bình</a:t>
            </a:r>
            <a:endParaRPr lang="en-US" dirty="0"/>
          </a:p>
          <a:p>
            <a:r>
              <a:rPr lang="vi-VN" b="1" dirty="0"/>
              <a:t>Timing failure</a:t>
            </a:r>
            <a:r>
              <a:rPr lang="en-US" b="1" dirty="0"/>
              <a:t>	</a:t>
            </a:r>
            <a:r>
              <a:rPr lang="vi-VN" dirty="0"/>
              <a:t>Trễ hoặc nhanh hơn thời gian quy định</a:t>
            </a:r>
            <a:r>
              <a:rPr lang="en-US" dirty="0"/>
              <a:t>	</a:t>
            </a:r>
            <a:r>
              <a:rPr lang="vi-VN" dirty="0"/>
              <a:t>Trung bình – nặng</a:t>
            </a:r>
            <a:endParaRPr lang="en-US" dirty="0"/>
          </a:p>
          <a:p>
            <a:r>
              <a:rPr lang="vi-VN" b="1" dirty="0"/>
              <a:t>Response failure</a:t>
            </a:r>
            <a:r>
              <a:rPr lang="en-US" b="1" dirty="0"/>
              <a:t>	</a:t>
            </a:r>
            <a:r>
              <a:rPr lang="vi-VN" dirty="0"/>
              <a:t>Trả kết quả sai</a:t>
            </a:r>
            <a:r>
              <a:rPr lang="en-US" dirty="0"/>
              <a:t>			</a:t>
            </a:r>
            <a:r>
              <a:rPr lang="vi-VN" dirty="0"/>
              <a:t>Nặng</a:t>
            </a:r>
            <a:endParaRPr lang="en-US" dirty="0"/>
          </a:p>
          <a:p>
            <a:r>
              <a:rPr lang="vi-VN" b="1" dirty="0"/>
              <a:t>Arbitrary (Byzantine)</a:t>
            </a:r>
            <a:r>
              <a:rPr lang="en-US" b="1" dirty="0"/>
              <a:t>	</a:t>
            </a:r>
            <a:r>
              <a:rPr lang="vi-VN" dirty="0"/>
              <a:t>Trả kết quả ngẫu nhiên, không đoán trước</a:t>
            </a:r>
            <a:r>
              <a:rPr lang="en-US" dirty="0"/>
              <a:t>	</a:t>
            </a:r>
            <a:r>
              <a:rPr lang="vi-VN" dirty="0"/>
              <a:t>NẶNG nhất</a:t>
            </a:r>
          </a:p>
          <a:p>
            <a:endParaRPr lang="en-US" b="1" dirty="0"/>
          </a:p>
          <a:p>
            <a:r>
              <a:rPr lang="en-US" b="1" dirty="0" err="1"/>
              <a:t>Kết</a:t>
            </a:r>
            <a:r>
              <a:rPr lang="en-US" b="1" dirty="0"/>
              <a:t> </a:t>
            </a:r>
            <a:r>
              <a:rPr lang="en-US" b="1" dirty="0" err="1"/>
              <a:t>Luận</a:t>
            </a:r>
            <a:r>
              <a:rPr lang="en-US" b="1" dirty="0"/>
              <a:t>:</a:t>
            </a:r>
            <a:endParaRPr lang="vi-VN" b="1" dirty="0"/>
          </a:p>
          <a:p>
            <a:pPr>
              <a:buFont typeface="Arial" panose="020B0604020202020204" pitchFamily="34" charset="0"/>
              <a:buChar char="•"/>
            </a:pPr>
            <a:r>
              <a:rPr lang="vi-VN" dirty="0"/>
              <a:t>Các hệ thống phân tán hiện đại (cloud, blockchain, storage) phải được thiết kế sao cho </a:t>
            </a:r>
            <a:r>
              <a:rPr lang="vi-VN" b="1" dirty="0"/>
              <a:t>chịu được nhiều loại lỗi khác nhau</a:t>
            </a:r>
            <a:r>
              <a:rPr lang="vi-VN" dirty="0"/>
              <a:t>.</a:t>
            </a:r>
          </a:p>
          <a:p>
            <a:pPr>
              <a:buFont typeface="Arial" panose="020B0604020202020204" pitchFamily="34" charset="0"/>
              <a:buChar char="•"/>
            </a:pPr>
            <a:r>
              <a:rPr lang="vi-VN" dirty="0"/>
              <a:t>Crash, omission là lỗi phổ biến → dễ xử lý bằng replication.</a:t>
            </a:r>
          </a:p>
          <a:p>
            <a:pPr>
              <a:buFont typeface="Arial" panose="020B0604020202020204" pitchFamily="34" charset="0"/>
              <a:buChar char="•"/>
            </a:pPr>
            <a:r>
              <a:rPr lang="vi-VN" dirty="0"/>
              <a:t>Arbitrary/Byzantine cần thuật toán phức tạp (ví dụ PBFT trong blockchain).</a:t>
            </a:r>
          </a:p>
          <a:p>
            <a:pPr>
              <a:buFont typeface="Arial" panose="020B0604020202020204" pitchFamily="34" charset="0"/>
              <a:buChar char="•"/>
            </a:pPr>
            <a:r>
              <a:rPr lang="vi-VN" dirty="0"/>
              <a:t>Hiểu đúng failure model giúp chọn </a:t>
            </a:r>
            <a:r>
              <a:rPr lang="vi-VN" b="1" dirty="0"/>
              <a:t>protocol phù hợp</a:t>
            </a:r>
            <a:r>
              <a:rPr lang="vi-VN" dirty="0"/>
              <a:t> (quorum, Paxos, Raft, PBFT…).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8</a:t>
            </a:fld>
            <a:endParaRPr lang="en-US"/>
          </a:p>
        </p:txBody>
      </p:sp>
    </p:spTree>
    <p:extLst>
      <p:ext uri="{BB962C8B-B14F-4D97-AF65-F5344CB8AC3E}">
        <p14:creationId xmlns:p14="http://schemas.microsoft.com/office/powerpoint/2010/main" val="760400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9</a:t>
            </a:fld>
            <a:endParaRPr lang="en-US"/>
          </a:p>
        </p:txBody>
      </p:sp>
    </p:spTree>
    <p:extLst>
      <p:ext uri="{BB962C8B-B14F-4D97-AF65-F5344CB8AC3E}">
        <p14:creationId xmlns:p14="http://schemas.microsoft.com/office/powerpoint/2010/main" val="3492055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Dependability versus Security</a:t>
            </a:r>
          </a:p>
          <a:p>
            <a:r>
              <a:rPr lang="vi-VN" dirty="0"/>
              <a:t>Trong chương “Tính chịu lỗi (Fault tolerance)”, slide này giúp chúng ta phân biệt </a:t>
            </a:r>
            <a:r>
              <a:rPr lang="vi-VN" b="1" dirty="0"/>
              <a:t>hai khái niệm quan trọng nhưng dễ nhầm lẫn</a:t>
            </a:r>
            <a:r>
              <a:rPr lang="vi-VN" dirty="0"/>
              <a:t>:</a:t>
            </a:r>
            <a:br>
              <a:rPr lang="vi-VN" dirty="0"/>
            </a:br>
            <a:r>
              <a:rPr lang="en-US" dirty="0"/>
              <a:t>=&gt; </a:t>
            </a:r>
            <a:r>
              <a:rPr lang="vi-VN" b="1" dirty="0"/>
              <a:t>Dependability (tính tin cậy / chịu lỗi)</a:t>
            </a:r>
            <a:br>
              <a:rPr lang="vi-VN" dirty="0"/>
            </a:br>
            <a:r>
              <a:rPr lang="en-US" dirty="0"/>
              <a:t>=&gt; </a:t>
            </a:r>
            <a:r>
              <a:rPr lang="vi-VN" b="1" dirty="0"/>
              <a:t>Security (bảo mật)</a:t>
            </a:r>
            <a:endParaRPr lang="vi-VN" dirty="0"/>
          </a:p>
          <a:p>
            <a:r>
              <a:rPr lang="vi-VN" dirty="0"/>
              <a:t>Và cho thấy ranh giới giữa hai khái niệm này </a:t>
            </a:r>
            <a:r>
              <a:rPr lang="vi-VN" b="1" dirty="0"/>
              <a:t>không rõ ràng</a:t>
            </a:r>
            <a:r>
              <a:rPr lang="vi-VN" dirty="0"/>
              <a:t> khi xét đến </a:t>
            </a:r>
            <a:r>
              <a:rPr lang="vi-VN" i="1" dirty="0"/>
              <a:t>arbitrary failures</a:t>
            </a:r>
            <a:r>
              <a:rPr lang="vi-VN" dirty="0"/>
              <a:t> — các lỗi tùy ý.</a:t>
            </a:r>
          </a:p>
          <a:p>
            <a:endParaRPr lang="en-US" b="1" dirty="0"/>
          </a:p>
          <a:p>
            <a:r>
              <a:rPr lang="en-US" b="1" dirty="0"/>
              <a:t>1.</a:t>
            </a:r>
            <a:r>
              <a:rPr lang="vi-VN" b="1" dirty="0"/>
              <a:t> Omission vs Commission — Hai loại lỗi quan sát được</a:t>
            </a:r>
          </a:p>
          <a:p>
            <a:r>
              <a:rPr lang="vi-VN" dirty="0"/>
              <a:t>Slide giải thích rằng thay vì gom tất cả lỗi bất thường vào nhóm “arbitrary failures”, chúng ta nên phân biệt:</a:t>
            </a:r>
          </a:p>
          <a:p>
            <a:r>
              <a:rPr lang="en-US" b="1" dirty="0"/>
              <a:t>*</a:t>
            </a:r>
            <a:r>
              <a:rPr lang="vi-VN" b="1" dirty="0"/>
              <a:t> Omission failure</a:t>
            </a:r>
          </a:p>
          <a:p>
            <a:r>
              <a:rPr lang="vi-VN" dirty="0"/>
              <a:t>Component </a:t>
            </a:r>
            <a:r>
              <a:rPr lang="vi-VN" b="1" dirty="0"/>
              <a:t>KHÔNG thực hiện</a:t>
            </a:r>
            <a:r>
              <a:rPr lang="vi-VN" dirty="0"/>
              <a:t> một hành động mà lẽ ra nó phải làm.</a:t>
            </a:r>
          </a:p>
          <a:p>
            <a:r>
              <a:rPr lang="vi-VN" b="1" dirty="0"/>
              <a:t>Ví dụ</a:t>
            </a:r>
            <a:r>
              <a:rPr lang="vi-VN" dirty="0"/>
              <a:t>:</a:t>
            </a:r>
          </a:p>
          <a:p>
            <a:pPr>
              <a:buFont typeface="Arial" panose="020B0604020202020204" pitchFamily="34" charset="0"/>
              <a:buChar char="•"/>
            </a:pPr>
            <a:r>
              <a:rPr lang="vi-VN" dirty="0"/>
              <a:t>Server không gửi trả lời cho client.</a:t>
            </a:r>
          </a:p>
          <a:p>
            <a:pPr>
              <a:buFont typeface="Arial" panose="020B0604020202020204" pitchFamily="34" charset="0"/>
              <a:buChar char="•"/>
            </a:pPr>
            <a:r>
              <a:rPr lang="vi-VN" dirty="0"/>
              <a:t>Replica không chuyển tiếp thông điệp update.</a:t>
            </a:r>
          </a:p>
          <a:p>
            <a:r>
              <a:rPr lang="vi-VN" dirty="0"/>
              <a:t>Đây có thể là:</a:t>
            </a:r>
          </a:p>
          <a:p>
            <a:pPr>
              <a:buFont typeface="Arial" panose="020B0604020202020204" pitchFamily="34" charset="0"/>
              <a:buChar char="•"/>
            </a:pPr>
            <a:r>
              <a:rPr lang="vi-VN" dirty="0"/>
              <a:t>do mất điện, lỗi mạng → </a:t>
            </a:r>
            <a:r>
              <a:rPr lang="vi-VN" b="1" dirty="0"/>
              <a:t>lỗi vô tình (unintentional)</a:t>
            </a:r>
            <a:endParaRPr lang="vi-VN" dirty="0"/>
          </a:p>
          <a:p>
            <a:pPr>
              <a:buFont typeface="Arial" panose="020B0604020202020204" pitchFamily="34" charset="0"/>
              <a:buChar char="•"/>
            </a:pPr>
            <a:r>
              <a:rPr lang="vi-VN" dirty="0"/>
              <a:t>hoặc do cố tình bỏ qua (malicious) → </a:t>
            </a:r>
            <a:r>
              <a:rPr lang="vi-VN" b="1" dirty="0"/>
              <a:t>lỗi bảo mật</a:t>
            </a:r>
            <a:endParaRPr lang="vi-VN" dirty="0"/>
          </a:p>
          <a:p>
            <a:r>
              <a:rPr lang="en-US" b="1" dirty="0"/>
              <a:t>*</a:t>
            </a:r>
            <a:r>
              <a:rPr lang="vi-VN" b="1" dirty="0"/>
              <a:t> Commission failure</a:t>
            </a:r>
          </a:p>
          <a:p>
            <a:r>
              <a:rPr lang="vi-VN" dirty="0"/>
              <a:t>Component </a:t>
            </a:r>
            <a:r>
              <a:rPr lang="vi-VN" b="1" dirty="0"/>
              <a:t>THỰC HIỆN một hành động sai</a:t>
            </a:r>
            <a:r>
              <a:rPr lang="vi-VN" dirty="0"/>
              <a:t> — một hành động mà nó </a:t>
            </a:r>
            <a:r>
              <a:rPr lang="vi-VN" i="1" dirty="0"/>
              <a:t>không được phép</a:t>
            </a:r>
            <a:r>
              <a:rPr lang="vi-VN" dirty="0"/>
              <a:t> làm.</a:t>
            </a:r>
          </a:p>
          <a:p>
            <a:r>
              <a:rPr lang="vi-VN" b="1" dirty="0"/>
              <a:t>Ví dụ</a:t>
            </a:r>
            <a:r>
              <a:rPr lang="vi-VN" dirty="0"/>
              <a:t>:</a:t>
            </a:r>
          </a:p>
          <a:p>
            <a:pPr>
              <a:buFont typeface="Arial" panose="020B0604020202020204" pitchFamily="34" charset="0"/>
              <a:buChar char="•"/>
            </a:pPr>
            <a:r>
              <a:rPr lang="vi-VN" dirty="0"/>
              <a:t>Trả về dữ liệu sai.</a:t>
            </a:r>
          </a:p>
          <a:p>
            <a:pPr>
              <a:buFont typeface="Arial" panose="020B0604020202020204" pitchFamily="34" charset="0"/>
              <a:buChar char="•"/>
            </a:pPr>
            <a:r>
              <a:rPr lang="vi-VN" dirty="0"/>
              <a:t>Tự ý sửa dữ liệu.</a:t>
            </a:r>
          </a:p>
          <a:p>
            <a:pPr>
              <a:buFont typeface="Arial" panose="020B0604020202020204" pitchFamily="34" charset="0"/>
              <a:buChar char="•"/>
            </a:pPr>
            <a:r>
              <a:rPr lang="vi-VN" dirty="0"/>
              <a:t>Gửi thông điệp giả mạo.</a:t>
            </a:r>
          </a:p>
          <a:p>
            <a:r>
              <a:rPr lang="vi-VN" dirty="0"/>
              <a:t>Đây cũng có thể là:</a:t>
            </a:r>
          </a:p>
          <a:p>
            <a:pPr>
              <a:buFont typeface="Arial" panose="020B0604020202020204" pitchFamily="34" charset="0"/>
              <a:buChar char="•"/>
            </a:pPr>
            <a:r>
              <a:rPr lang="vi-VN" dirty="0"/>
              <a:t>lỗi lập trình → unintentional</a:t>
            </a:r>
          </a:p>
          <a:p>
            <a:pPr>
              <a:buFont typeface="Arial" panose="020B0604020202020204" pitchFamily="34" charset="0"/>
              <a:buChar char="•"/>
            </a:pPr>
            <a:r>
              <a:rPr lang="vi-VN" dirty="0"/>
              <a:t>tấn công giả mạo → deliberate</a:t>
            </a:r>
          </a:p>
          <a:p>
            <a:r>
              <a:rPr lang="en-US" dirty="0"/>
              <a:t>* </a:t>
            </a:r>
            <a:r>
              <a:rPr lang="vi-VN" b="1" dirty="0"/>
              <a:t>Commission failure nguy hiểm hơn omission failure</a:t>
            </a:r>
            <a:r>
              <a:rPr lang="vi-VN" dirty="0"/>
              <a:t>, vì nó làm sai lệch trạng thái hệ thống.</a:t>
            </a:r>
          </a:p>
          <a:p>
            <a:endParaRPr lang="en-US" b="1" dirty="0"/>
          </a:p>
          <a:p>
            <a:r>
              <a:rPr lang="en-US" b="1" dirty="0"/>
              <a:t>2.</a:t>
            </a:r>
            <a:r>
              <a:rPr lang="vi-VN" b="1" dirty="0"/>
              <a:t> Observation — Nhận xét quan trọng</a:t>
            </a:r>
          </a:p>
          <a:p>
            <a:r>
              <a:rPr lang="vi-VN" dirty="0"/>
              <a:t>Phần này là </a:t>
            </a:r>
            <a:r>
              <a:rPr lang="vi-VN" b="1" dirty="0"/>
              <a:t>trọng tâm của slide</a:t>
            </a:r>
            <a:r>
              <a:rPr lang="vi-VN" dirty="0"/>
              <a:t>, giúp phân biệt giữa </a:t>
            </a:r>
            <a:r>
              <a:rPr lang="vi-VN" i="1" dirty="0"/>
              <a:t>dependability</a:t>
            </a:r>
            <a:r>
              <a:rPr lang="vi-VN" dirty="0"/>
              <a:t> và </a:t>
            </a:r>
            <a:r>
              <a:rPr lang="vi-VN" i="1" dirty="0"/>
              <a:t>security</a:t>
            </a:r>
            <a:r>
              <a:rPr lang="vi-VN" dirty="0"/>
              <a:t>.</a:t>
            </a:r>
          </a:p>
          <a:p>
            <a:r>
              <a:rPr lang="en-US" b="1" dirty="0"/>
              <a:t>* </a:t>
            </a:r>
            <a:r>
              <a:rPr lang="vi-VN" b="1" dirty="0"/>
              <a:t>Deliberate failures = Security problems</a:t>
            </a:r>
          </a:p>
          <a:p>
            <a:r>
              <a:rPr lang="vi-VN" dirty="0"/>
              <a:t>Slide nói rằng:</a:t>
            </a:r>
          </a:p>
          <a:p>
            <a:r>
              <a:rPr lang="vi-VN" b="1" dirty="0"/>
              <a:t>Các lỗi có chủ ý (deliberate failures)</a:t>
            </a:r>
            <a:r>
              <a:rPr lang="vi-VN" dirty="0"/>
              <a:t> – dù là omission hay commission – </a:t>
            </a:r>
            <a:r>
              <a:rPr lang="vi-VN" b="1" dirty="0"/>
              <a:t>đều phải được xem là vấn đề bảo mật</a:t>
            </a:r>
            <a:r>
              <a:rPr lang="vi-VN" dirty="0"/>
              <a:t>, không còn chỉ là vấn đề "tính tin cậy" nữa.</a:t>
            </a:r>
          </a:p>
          <a:p>
            <a:r>
              <a:rPr lang="vi-VN" dirty="0"/>
              <a:t>Lý do:</a:t>
            </a:r>
          </a:p>
          <a:p>
            <a:pPr>
              <a:buFont typeface="Arial" panose="020B0604020202020204" pitchFamily="34" charset="0"/>
              <a:buChar char="•"/>
            </a:pPr>
            <a:r>
              <a:rPr lang="vi-VN" dirty="0"/>
              <a:t>Khi component </a:t>
            </a:r>
            <a:r>
              <a:rPr lang="vi-VN" b="1" dirty="0"/>
              <a:t>cố tình</a:t>
            </a:r>
            <a:r>
              <a:rPr lang="vi-VN" dirty="0"/>
              <a:t> không gửi thông điệp → đó là hành vi phá hoại.</a:t>
            </a:r>
          </a:p>
          <a:p>
            <a:pPr>
              <a:buFont typeface="Arial" panose="020B0604020202020204" pitchFamily="34" charset="0"/>
              <a:buChar char="•"/>
            </a:pPr>
            <a:r>
              <a:rPr lang="vi-VN" dirty="0"/>
              <a:t>Khi component </a:t>
            </a:r>
            <a:r>
              <a:rPr lang="vi-VN" b="1" dirty="0"/>
              <a:t>cố tình</a:t>
            </a:r>
            <a:r>
              <a:rPr lang="vi-VN" dirty="0"/>
              <a:t> gửi dữ liệu sai → đó là tấn công.</a:t>
            </a:r>
          </a:p>
          <a:p>
            <a:r>
              <a:rPr lang="vi-VN" dirty="0"/>
              <a:t>Những trường hợp này liên quan đến:</a:t>
            </a:r>
          </a:p>
          <a:p>
            <a:pPr>
              <a:buFont typeface="Arial" panose="020B0604020202020204" pitchFamily="34" charset="0"/>
              <a:buChar char="•"/>
            </a:pPr>
            <a:r>
              <a:rPr lang="vi-VN" dirty="0"/>
              <a:t>hacker</a:t>
            </a:r>
          </a:p>
          <a:p>
            <a:pPr>
              <a:buFont typeface="Arial" panose="020B0604020202020204" pitchFamily="34" charset="0"/>
              <a:buChar char="•"/>
            </a:pPr>
            <a:r>
              <a:rPr lang="vi-VN" dirty="0"/>
              <a:t>insider attack</a:t>
            </a:r>
          </a:p>
          <a:p>
            <a:pPr>
              <a:buFont typeface="Arial" panose="020B0604020202020204" pitchFamily="34" charset="0"/>
              <a:buChar char="•"/>
            </a:pPr>
            <a:r>
              <a:rPr lang="vi-VN" dirty="0"/>
              <a:t>node bị chiếm quyền điều khiển</a:t>
            </a:r>
          </a:p>
          <a:p>
            <a:pPr>
              <a:buFont typeface="Arial" panose="020B0604020202020204" pitchFamily="34" charset="0"/>
              <a:buChar char="•"/>
            </a:pPr>
            <a:r>
              <a:rPr lang="vi-VN" dirty="0"/>
              <a:t>Byzantine behavior</a:t>
            </a:r>
          </a:p>
          <a:p>
            <a:r>
              <a:rPr lang="vi-VN" dirty="0"/>
              <a:t>→ Đây là phạm trù </a:t>
            </a:r>
            <a:r>
              <a:rPr lang="vi-VN" b="1" dirty="0"/>
              <a:t>security</a:t>
            </a:r>
            <a:r>
              <a:rPr lang="vi-VN" dirty="0"/>
              <a:t>, không phải fault tolerance thuần túy.</a:t>
            </a:r>
          </a:p>
          <a:p>
            <a:endParaRPr lang="en-US" b="1" dirty="0"/>
          </a:p>
          <a:p>
            <a:r>
              <a:rPr lang="en-US" b="1" dirty="0"/>
              <a:t>3.</a:t>
            </a:r>
            <a:r>
              <a:rPr lang="vi-VN" b="1" dirty="0"/>
              <a:t> Không thể phân biệt lỗi cố ý và lỗi vô ý</a:t>
            </a:r>
          </a:p>
          <a:p>
            <a:r>
              <a:rPr lang="vi-VN" dirty="0"/>
              <a:t>Đây là vấn đề lớn trong hệ thống phân tán.</a:t>
            </a:r>
          </a:p>
          <a:p>
            <a:r>
              <a:rPr lang="vi-VN" dirty="0"/>
              <a:t>Slide kết luận:</a:t>
            </a:r>
          </a:p>
          <a:p>
            <a:r>
              <a:rPr lang="vi-VN" b="1" dirty="0"/>
              <a:t>Phân biệt deliberate failures với unintentional failures gần như là không thể.</a:t>
            </a:r>
            <a:endParaRPr lang="vi-VN" dirty="0"/>
          </a:p>
          <a:p>
            <a:r>
              <a:rPr lang="en-US" b="1" dirty="0"/>
              <a:t>**</a:t>
            </a:r>
            <a:r>
              <a:rPr lang="vi-VN" b="1" dirty="0"/>
              <a:t> Vì sao?</a:t>
            </a:r>
          </a:p>
          <a:p>
            <a:r>
              <a:rPr lang="vi-VN" dirty="0"/>
              <a:t>Cùng một hành vi mà bạn thấy được từ bên ngoài (observable behavior):</a:t>
            </a:r>
          </a:p>
          <a:p>
            <a:pPr>
              <a:buFont typeface="Arial" panose="020B0604020202020204" pitchFamily="34" charset="0"/>
              <a:buChar char="•"/>
            </a:pPr>
            <a:r>
              <a:rPr lang="vi-VN" dirty="0"/>
              <a:t>server không phản hồi</a:t>
            </a:r>
          </a:p>
          <a:p>
            <a:pPr>
              <a:buFont typeface="Arial" panose="020B0604020202020204" pitchFamily="34" charset="0"/>
              <a:buChar char="•"/>
            </a:pPr>
            <a:r>
              <a:rPr lang="vi-VN" dirty="0"/>
              <a:t>server gửi dữ liệu sai</a:t>
            </a:r>
          </a:p>
          <a:p>
            <a:pPr>
              <a:buFont typeface="Arial" panose="020B0604020202020204" pitchFamily="34" charset="0"/>
              <a:buChar char="•"/>
            </a:pPr>
            <a:r>
              <a:rPr lang="vi-VN" dirty="0"/>
              <a:t>replica không cập nhật</a:t>
            </a:r>
          </a:p>
          <a:p>
            <a:r>
              <a:rPr lang="vi-VN" dirty="0"/>
              <a:t>Nhưng:</a:t>
            </a:r>
          </a:p>
          <a:p>
            <a:pPr>
              <a:buFont typeface="Arial" panose="020B0604020202020204" pitchFamily="34" charset="0"/>
              <a:buChar char="•"/>
            </a:pPr>
            <a:r>
              <a:rPr lang="vi-VN" dirty="0"/>
              <a:t>nó có thể bị mất điện → lỗi vô ý</a:t>
            </a:r>
          </a:p>
          <a:p>
            <a:pPr>
              <a:buFont typeface="Arial" panose="020B0604020202020204" pitchFamily="34" charset="0"/>
              <a:buChar char="•"/>
            </a:pPr>
            <a:r>
              <a:rPr lang="vi-VN" dirty="0"/>
              <a:t>hoặc nó cố tình phá hoại → lỗi cố ý</a:t>
            </a:r>
          </a:p>
          <a:p>
            <a:r>
              <a:rPr lang="en-US" dirty="0"/>
              <a:t>=&gt; </a:t>
            </a:r>
            <a:r>
              <a:rPr lang="vi-VN" b="1" dirty="0"/>
              <a:t>Bạn chỉ quan sát được hiện tượng, không quan sát được động cơ.</a:t>
            </a:r>
            <a:br>
              <a:rPr lang="vi-VN" dirty="0"/>
            </a:br>
            <a:r>
              <a:rPr lang="en-US" dirty="0"/>
              <a:t>=&gt; </a:t>
            </a:r>
            <a:r>
              <a:rPr lang="vi-VN" dirty="0"/>
              <a:t>Do đó, phân biệt “cố ý” hay “vô ý” là bất khả thi.</a:t>
            </a:r>
          </a:p>
          <a:p>
            <a:endParaRPr lang="en-US" b="1" dirty="0"/>
          </a:p>
          <a:p>
            <a:endParaRPr lang="en-US" b="1" dirty="0"/>
          </a:p>
          <a:p>
            <a:r>
              <a:rPr lang="en-US" b="1" dirty="0"/>
              <a:t>** </a:t>
            </a:r>
            <a:r>
              <a:rPr lang="vi-VN" b="1" dirty="0"/>
              <a:t>Ý nghĩa trong hệ thống phân tán</a:t>
            </a:r>
          </a:p>
          <a:p>
            <a:r>
              <a:rPr lang="vi-VN" dirty="0"/>
              <a:t>Khía cạnh</a:t>
            </a:r>
            <a:r>
              <a:rPr lang="en-US" dirty="0"/>
              <a:t>			</a:t>
            </a:r>
            <a:r>
              <a:rPr lang="vi-VN" dirty="0"/>
              <a:t>Xử lý</a:t>
            </a:r>
            <a:endParaRPr lang="en-US" dirty="0"/>
          </a:p>
          <a:p>
            <a:r>
              <a:rPr lang="vi-VN" b="1" dirty="0"/>
              <a:t>Dependability (fault tolerance)</a:t>
            </a:r>
            <a:r>
              <a:rPr lang="en-US" b="1" dirty="0"/>
              <a:t>	</a:t>
            </a:r>
            <a:r>
              <a:rPr lang="vi-VN" dirty="0"/>
              <a:t>xử lý lỗi VÔ Ý (crash, omission, timing…)</a:t>
            </a:r>
            <a:endParaRPr lang="en-US" dirty="0"/>
          </a:p>
          <a:p>
            <a:r>
              <a:rPr lang="vi-VN" b="1" dirty="0"/>
              <a:t>Security</a:t>
            </a:r>
            <a:r>
              <a:rPr lang="en-US" b="1" dirty="0"/>
              <a:t>			</a:t>
            </a:r>
            <a:r>
              <a:rPr lang="vi-VN" dirty="0"/>
              <a:t>xử lý lỗi CỐ Ý (malicious, Byzantine)</a:t>
            </a:r>
          </a:p>
          <a:p>
            <a:r>
              <a:rPr lang="vi-VN" dirty="0"/>
              <a:t>Vì không thể phân biệt hai loại lỗi → hệ thống quan trọng phải thiết kế </a:t>
            </a:r>
            <a:r>
              <a:rPr lang="vi-VN" b="1" dirty="0"/>
              <a:t>cơ chế tolerance cho cả hai loại</a:t>
            </a:r>
            <a:r>
              <a:rPr lang="vi-VN" dirty="0"/>
              <a:t>.</a:t>
            </a:r>
          </a:p>
          <a:p>
            <a:r>
              <a:rPr lang="en-US" dirty="0"/>
              <a:t>* </a:t>
            </a:r>
            <a:r>
              <a:rPr lang="vi-VN" dirty="0"/>
              <a:t>Ví dụ: blockchain, hệ thống tài chính, hệ thống quân sự → dùng </a:t>
            </a:r>
            <a:r>
              <a:rPr lang="vi-VN" b="1" dirty="0"/>
              <a:t>Byzantine Fault Tolerance (BFT)</a:t>
            </a:r>
            <a:r>
              <a:rPr lang="vi-VN" dirty="0"/>
              <a:t> thay vì chỉ crash fault-tolerance.</a:t>
            </a:r>
          </a:p>
          <a:p>
            <a:endParaRPr lang="en-US" b="1" dirty="0"/>
          </a:p>
          <a:p>
            <a:r>
              <a:rPr lang="vi-VN" b="1" dirty="0"/>
              <a:t>Tóm tắt</a:t>
            </a:r>
            <a:r>
              <a:rPr lang="en-US" b="1" dirty="0"/>
              <a:t>:</a:t>
            </a:r>
            <a:endParaRPr lang="vi-VN" b="1" dirty="0"/>
          </a:p>
          <a:p>
            <a:pPr>
              <a:buFont typeface="Arial" panose="020B0604020202020204" pitchFamily="34" charset="0"/>
              <a:buChar char="•"/>
            </a:pPr>
            <a:r>
              <a:rPr lang="vi-VN" b="1" dirty="0"/>
              <a:t>Omission failure</a:t>
            </a:r>
            <a:r>
              <a:rPr lang="vi-VN" dirty="0"/>
              <a:t>: không làm điều cần làm.</a:t>
            </a:r>
          </a:p>
          <a:p>
            <a:pPr>
              <a:buFont typeface="Arial" panose="020B0604020202020204" pitchFamily="34" charset="0"/>
              <a:buChar char="•"/>
            </a:pPr>
            <a:r>
              <a:rPr lang="vi-VN" b="1" dirty="0"/>
              <a:t>Commission failure</a:t>
            </a:r>
            <a:r>
              <a:rPr lang="vi-VN" dirty="0"/>
              <a:t>: làm điều không được phép làm.</a:t>
            </a:r>
          </a:p>
          <a:p>
            <a:pPr>
              <a:buFont typeface="Arial" panose="020B0604020202020204" pitchFamily="34" charset="0"/>
              <a:buChar char="•"/>
            </a:pPr>
            <a:r>
              <a:rPr lang="vi-VN" dirty="0"/>
              <a:t>Nếu các lỗi này </a:t>
            </a:r>
            <a:r>
              <a:rPr lang="vi-VN" b="1" dirty="0"/>
              <a:t>cố ý</a:t>
            </a:r>
            <a:r>
              <a:rPr lang="vi-VN" dirty="0"/>
              <a:t> → đó là vấn đề </a:t>
            </a:r>
            <a:r>
              <a:rPr lang="vi-VN" b="1" dirty="0"/>
              <a:t>security</a:t>
            </a:r>
            <a:r>
              <a:rPr lang="vi-VN" dirty="0"/>
              <a:t>, không chỉ đơn thuần là fault tolerance.</a:t>
            </a:r>
          </a:p>
          <a:p>
            <a:pPr>
              <a:buFont typeface="Arial" panose="020B0604020202020204" pitchFamily="34" charset="0"/>
              <a:buChar char="•"/>
            </a:pPr>
            <a:r>
              <a:rPr lang="vi-VN" b="1" dirty="0"/>
              <a:t>Không thể phân biệt</a:t>
            </a:r>
            <a:r>
              <a:rPr lang="vi-VN" dirty="0"/>
              <a:t> lỗi cố ý hay vô ý chỉ bằng hành vi quan sát được.</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10</a:t>
            </a:fld>
            <a:endParaRPr lang="en-US"/>
          </a:p>
        </p:txBody>
      </p:sp>
    </p:spTree>
    <p:extLst>
      <p:ext uri="{BB962C8B-B14F-4D97-AF65-F5344CB8AC3E}">
        <p14:creationId xmlns:p14="http://schemas.microsoft.com/office/powerpoint/2010/main" val="3356704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Halting failures – Khi một tiến trình “biến mất”</a:t>
            </a:r>
          </a:p>
          <a:p>
            <a:r>
              <a:rPr lang="en-US" b="1" dirty="0"/>
              <a:t>* </a:t>
            </a:r>
            <a:r>
              <a:rPr lang="vi-VN" b="1" dirty="0"/>
              <a:t>Scenario (Kịch bản lỗi)</a:t>
            </a:r>
          </a:p>
          <a:p>
            <a:r>
              <a:rPr lang="vi-VN" dirty="0"/>
              <a:t>Tiến trình </a:t>
            </a:r>
            <a:r>
              <a:rPr lang="vi-VN" b="1" dirty="0"/>
              <a:t>C</a:t>
            </a:r>
            <a:r>
              <a:rPr lang="vi-VN" dirty="0"/>
              <a:t> đột nhiên </a:t>
            </a:r>
            <a:r>
              <a:rPr lang="vi-VN" i="1" dirty="0"/>
              <a:t>không còn nhận được bất kỳ hoạt động nào</a:t>
            </a:r>
            <a:r>
              <a:rPr lang="vi-VN" dirty="0"/>
              <a:t> từ tiến trình </a:t>
            </a:r>
            <a:r>
              <a:rPr lang="vi-VN" b="1" dirty="0"/>
              <a:t>C*</a:t>
            </a:r>
            <a:r>
              <a:rPr lang="vi-VN" dirty="0"/>
              <a:t>.</a:t>
            </a:r>
          </a:p>
          <a:p>
            <a:r>
              <a:rPr lang="vi-VN" dirty="0"/>
              <a:t>→ Liệu C* đã </a:t>
            </a:r>
            <a:r>
              <a:rPr lang="vi-VN" b="1" dirty="0"/>
              <a:t>crash</a:t>
            </a:r>
            <a:r>
              <a:rPr lang="vi-VN" dirty="0"/>
              <a:t> (chết hoàn toàn)?</a:t>
            </a:r>
            <a:br>
              <a:rPr lang="vi-VN" dirty="0"/>
            </a:br>
            <a:r>
              <a:rPr lang="vi-VN" dirty="0"/>
              <a:t>→ Hay bị </a:t>
            </a:r>
            <a:r>
              <a:rPr lang="vi-VN" b="1" dirty="0"/>
              <a:t>omission failure</a:t>
            </a:r>
            <a:r>
              <a:rPr lang="vi-VN" dirty="0"/>
              <a:t> (bỏ sót việc gửi thông điệp)?</a:t>
            </a:r>
            <a:br>
              <a:rPr lang="vi-VN" dirty="0"/>
            </a:br>
            <a:r>
              <a:rPr lang="vi-VN" dirty="0"/>
              <a:t>→ Hay chỉ đơn giản là </a:t>
            </a:r>
            <a:r>
              <a:rPr lang="vi-VN" b="1" dirty="0"/>
              <a:t>timing failure</a:t>
            </a:r>
            <a:r>
              <a:rPr lang="vi-VN" dirty="0"/>
              <a:t> (thông điệp tới trễ hơn dự kiến)?</a:t>
            </a:r>
          </a:p>
          <a:p>
            <a:r>
              <a:rPr lang="en-US" dirty="0"/>
              <a:t>=&gt; </a:t>
            </a:r>
            <a:r>
              <a:rPr lang="vi-VN" b="1" dirty="0"/>
              <a:t>Từ phía C quan sát, rất khó hoặc không thể phân biệt được.</a:t>
            </a:r>
            <a:endParaRPr lang="vi-VN" dirty="0"/>
          </a:p>
          <a:p>
            <a:r>
              <a:rPr lang="vi-VN" dirty="0"/>
              <a:t>Ta gọi hiện tượng “không còn nghe thấy gì nữa” từ C* là </a:t>
            </a:r>
            <a:r>
              <a:rPr lang="vi-VN" b="1" dirty="0"/>
              <a:t>halting failure</a:t>
            </a:r>
            <a:r>
              <a:rPr lang="vi-VN" dirty="0"/>
              <a:t>.</a:t>
            </a:r>
          </a:p>
          <a:p>
            <a:r>
              <a:rPr lang="en-US" b="1" dirty="0"/>
              <a:t>* </a:t>
            </a:r>
            <a:r>
              <a:rPr lang="vi-VN" b="1" dirty="0"/>
              <a:t>Vấn đề cốt lõi: chúng ta đang trong môi trường nào?</a:t>
            </a:r>
          </a:p>
          <a:p>
            <a:r>
              <a:rPr lang="vi-VN" b="1" dirty="0"/>
              <a:t>Nền tảng của khả năng </a:t>
            </a:r>
            <a:r>
              <a:rPr lang="vi-VN" b="1" i="1" dirty="0"/>
              <a:t>phát hiện lỗi</a:t>
            </a:r>
            <a:r>
              <a:rPr lang="vi-VN" b="1" dirty="0"/>
              <a:t> phụ thuộc vào mô hình hệ thống:</a:t>
            </a:r>
          </a:p>
          <a:p>
            <a:pPr>
              <a:buFont typeface="Arial" panose="020B0604020202020204" pitchFamily="34" charset="0"/>
              <a:buChar char="•"/>
            </a:pPr>
            <a:r>
              <a:rPr lang="vi-VN" b="1" dirty="0"/>
              <a:t>Asynchronous system</a:t>
            </a:r>
            <a:r>
              <a:rPr lang="vi-VN" dirty="0"/>
              <a:t> — hệ thống bất đồng bộ</a:t>
            </a:r>
          </a:p>
          <a:p>
            <a:pPr>
              <a:buFont typeface="Arial" panose="020B0604020202020204" pitchFamily="34" charset="0"/>
              <a:buChar char="•"/>
            </a:pPr>
            <a:r>
              <a:rPr lang="vi-VN" b="1" dirty="0"/>
              <a:t>Synchronous system</a:t>
            </a:r>
            <a:r>
              <a:rPr lang="vi-VN" dirty="0"/>
              <a:t> — hệ thống đồng bộ</a:t>
            </a:r>
          </a:p>
          <a:p>
            <a:pPr>
              <a:buFont typeface="Arial" panose="020B0604020202020204" pitchFamily="34" charset="0"/>
              <a:buChar char="•"/>
            </a:pPr>
            <a:r>
              <a:rPr lang="vi-VN" b="1" dirty="0"/>
              <a:t>Partially synchronous system</a:t>
            </a:r>
            <a:r>
              <a:rPr lang="vi-VN" dirty="0"/>
              <a:t> — hệ thống bán đồng bộ (thực tế nhất)</a:t>
            </a:r>
          </a:p>
          <a:p>
            <a:endParaRPr lang="en-US" b="1" dirty="0"/>
          </a:p>
          <a:p>
            <a:r>
              <a:rPr lang="en-US" b="1" dirty="0"/>
              <a:t>1.</a:t>
            </a:r>
            <a:r>
              <a:rPr lang="vi-VN" b="1" dirty="0"/>
              <a:t> Asynchronous system</a:t>
            </a:r>
          </a:p>
          <a:p>
            <a:r>
              <a:rPr lang="en-US" dirty="0"/>
              <a:t>* </a:t>
            </a:r>
            <a:r>
              <a:rPr lang="vi-VN" dirty="0"/>
              <a:t>Không có bất kỳ giả định nào về:</a:t>
            </a:r>
          </a:p>
          <a:p>
            <a:pPr>
              <a:buFont typeface="Arial" panose="020B0604020202020204" pitchFamily="34" charset="0"/>
              <a:buChar char="•"/>
            </a:pPr>
            <a:r>
              <a:rPr lang="vi-VN" dirty="0"/>
              <a:t>tốc độ xử lý</a:t>
            </a:r>
          </a:p>
          <a:p>
            <a:pPr>
              <a:buFont typeface="Arial" panose="020B0604020202020204" pitchFamily="34" charset="0"/>
              <a:buChar char="•"/>
            </a:pPr>
            <a:r>
              <a:rPr lang="vi-VN" dirty="0"/>
              <a:t>thời gian truyền thông điệp</a:t>
            </a:r>
          </a:p>
          <a:p>
            <a:pPr>
              <a:buFont typeface="Arial" panose="020B0604020202020204" pitchFamily="34" charset="0"/>
              <a:buChar char="•"/>
            </a:pPr>
            <a:r>
              <a:rPr lang="vi-VN" dirty="0"/>
              <a:t>độ trễ mạng</a:t>
            </a:r>
          </a:p>
          <a:p>
            <a:r>
              <a:rPr lang="vi-VN" dirty="0"/>
              <a:t>➡ </a:t>
            </a:r>
            <a:r>
              <a:rPr lang="vi-VN" b="1" dirty="0"/>
              <a:t>Không thể phân biệt crash hay chậm</a:t>
            </a:r>
            <a:br>
              <a:rPr lang="vi-VN" dirty="0"/>
            </a:br>
            <a:r>
              <a:rPr lang="vi-VN" dirty="0"/>
              <a:t>Nếu C không nghe thấy C*, thì:</a:t>
            </a:r>
          </a:p>
          <a:p>
            <a:pPr>
              <a:buFont typeface="Arial" panose="020B0604020202020204" pitchFamily="34" charset="0"/>
              <a:buChar char="•"/>
            </a:pPr>
            <a:r>
              <a:rPr lang="vi-VN" dirty="0"/>
              <a:t>C* có thể đã chết…</a:t>
            </a:r>
          </a:p>
          <a:p>
            <a:pPr>
              <a:buFont typeface="Arial" panose="020B0604020202020204" pitchFamily="34" charset="0"/>
              <a:buChar char="•"/>
            </a:pPr>
            <a:r>
              <a:rPr lang="vi-VN" dirty="0"/>
              <a:t>hoặc chỉ đang chạy chậm…</a:t>
            </a:r>
          </a:p>
          <a:p>
            <a:pPr>
              <a:buFont typeface="Arial" panose="020B0604020202020204" pitchFamily="34" charset="0"/>
              <a:buChar char="•"/>
            </a:pPr>
            <a:r>
              <a:rPr lang="vi-VN" dirty="0"/>
              <a:t>hoặc mạng đang trễ…</a:t>
            </a:r>
          </a:p>
          <a:p>
            <a:r>
              <a:rPr lang="vi-VN" dirty="0"/>
              <a:t>Bạn </a:t>
            </a:r>
            <a:r>
              <a:rPr lang="vi-VN" b="1" dirty="0"/>
              <a:t>không thể kết luận</a:t>
            </a:r>
            <a:r>
              <a:rPr lang="vi-VN" dirty="0"/>
              <a:t>.</a:t>
            </a:r>
          </a:p>
          <a:p>
            <a:r>
              <a:rPr lang="en-US" dirty="0"/>
              <a:t>=&gt; </a:t>
            </a:r>
            <a:r>
              <a:rPr lang="vi-VN" b="1" dirty="0"/>
              <a:t>Trong hệ thống bất đồng bộ, </a:t>
            </a:r>
            <a:r>
              <a:rPr lang="vi-VN" b="1" i="1" dirty="0"/>
              <a:t>không thể phát hiện crash failure một cách tin cậy</a:t>
            </a:r>
            <a:r>
              <a:rPr lang="vi-VN" b="1" dirty="0"/>
              <a:t> (theo định lý FLP trong phân tán).</a:t>
            </a:r>
            <a:endParaRPr lang="vi-VN" dirty="0"/>
          </a:p>
          <a:p>
            <a:endParaRPr lang="en-US" b="1" dirty="0"/>
          </a:p>
          <a:p>
            <a:r>
              <a:rPr lang="en-US" b="1" dirty="0"/>
              <a:t>2.</a:t>
            </a:r>
            <a:r>
              <a:rPr lang="vi-VN" b="1" dirty="0"/>
              <a:t> Synchronous system</a:t>
            </a:r>
          </a:p>
          <a:p>
            <a:r>
              <a:rPr lang="en-US" dirty="0"/>
              <a:t>* </a:t>
            </a:r>
            <a:r>
              <a:rPr lang="vi-VN" dirty="0"/>
              <a:t>Ở đây </a:t>
            </a:r>
            <a:r>
              <a:rPr lang="vi-VN" b="1" dirty="0"/>
              <a:t>mọi thứ đều có giới hạn chắc chắn</a:t>
            </a:r>
            <a:r>
              <a:rPr lang="vi-VN" dirty="0"/>
              <a:t>:</a:t>
            </a:r>
          </a:p>
          <a:p>
            <a:pPr>
              <a:buFont typeface="Arial" panose="020B0604020202020204" pitchFamily="34" charset="0"/>
              <a:buChar char="•"/>
            </a:pPr>
            <a:r>
              <a:rPr lang="vi-VN" dirty="0"/>
              <a:t>thời gian thực thi ≤ T₁</a:t>
            </a:r>
          </a:p>
          <a:p>
            <a:pPr>
              <a:buFont typeface="Arial" panose="020B0604020202020204" pitchFamily="34" charset="0"/>
              <a:buChar char="•"/>
            </a:pPr>
            <a:r>
              <a:rPr lang="vi-VN" dirty="0"/>
              <a:t>thời gian truyền thông điệp ≤ T₂</a:t>
            </a:r>
          </a:p>
          <a:p>
            <a:r>
              <a:rPr lang="vi-VN" dirty="0"/>
              <a:t>➡ </a:t>
            </a:r>
            <a:r>
              <a:rPr lang="vi-VN" b="1" dirty="0"/>
              <a:t>Nếu quá thời gian mà không thấy phản hồi → chắc chắn có lỗi.</a:t>
            </a:r>
            <a:endParaRPr lang="vi-VN" dirty="0"/>
          </a:p>
          <a:p>
            <a:r>
              <a:rPr lang="vi-VN" dirty="0"/>
              <a:t>Vì vậy hệ thống đồng bộ </a:t>
            </a:r>
            <a:r>
              <a:rPr lang="vi-VN" b="1" dirty="0"/>
              <a:t>có thể phát hiện</a:t>
            </a:r>
            <a:r>
              <a:rPr lang="vi-VN" dirty="0"/>
              <a:t>:</a:t>
            </a:r>
          </a:p>
          <a:p>
            <a:r>
              <a:rPr lang="vi-VN" dirty="0"/>
              <a:t>Loại lỗi</a:t>
            </a:r>
            <a:r>
              <a:rPr lang="en-US" dirty="0"/>
              <a:t>		</a:t>
            </a:r>
            <a:r>
              <a:rPr lang="vi-VN" dirty="0"/>
              <a:t>Có thể phát hiện?</a:t>
            </a:r>
            <a:r>
              <a:rPr lang="en-US" dirty="0"/>
              <a:t>	</a:t>
            </a:r>
            <a:r>
              <a:rPr lang="vi-VN" dirty="0"/>
              <a:t>Lý do</a:t>
            </a:r>
            <a:endParaRPr lang="en-US" dirty="0"/>
          </a:p>
          <a:p>
            <a:r>
              <a:rPr lang="vi-VN" dirty="0"/>
              <a:t>Crash failure</a:t>
            </a:r>
            <a:r>
              <a:rPr lang="en-US" dirty="0"/>
              <a:t>		</a:t>
            </a:r>
            <a:r>
              <a:rPr lang="vi-VN" dirty="0"/>
              <a:t>Có</a:t>
            </a:r>
            <a:r>
              <a:rPr lang="en-US" dirty="0"/>
              <a:t>		</a:t>
            </a:r>
            <a:r>
              <a:rPr lang="vi-VN" dirty="0"/>
              <a:t>nếu vượt quá timeout thì chắc chắn crash</a:t>
            </a:r>
            <a:endParaRPr lang="en-US" dirty="0"/>
          </a:p>
          <a:p>
            <a:r>
              <a:rPr lang="vi-VN" dirty="0"/>
              <a:t>Omission failure</a:t>
            </a:r>
            <a:r>
              <a:rPr lang="en-US" dirty="0"/>
              <a:t>	</a:t>
            </a:r>
            <a:r>
              <a:rPr lang="vi-VN" dirty="0"/>
              <a:t>Có</a:t>
            </a:r>
            <a:r>
              <a:rPr lang="en-US" dirty="0"/>
              <a:t>		</a:t>
            </a:r>
            <a:r>
              <a:rPr lang="vi-VN" dirty="0"/>
              <a:t>không gửi đúng hạn</a:t>
            </a:r>
            <a:endParaRPr lang="en-US" dirty="0"/>
          </a:p>
          <a:p>
            <a:r>
              <a:rPr lang="vi-VN" dirty="0"/>
              <a:t>Timing failure</a:t>
            </a:r>
            <a:r>
              <a:rPr lang="en-US" dirty="0"/>
              <a:t>		</a:t>
            </a:r>
            <a:r>
              <a:rPr lang="vi-VN" dirty="0"/>
              <a:t>Có</a:t>
            </a:r>
            <a:r>
              <a:rPr lang="en-US" dirty="0"/>
              <a:t>		</a:t>
            </a:r>
            <a:r>
              <a:rPr lang="vi-VN" dirty="0"/>
              <a:t>nhận muộn hơn giới hạn cho phép</a:t>
            </a:r>
          </a:p>
          <a:p>
            <a:r>
              <a:rPr lang="en-US" dirty="0"/>
              <a:t>=&gt; </a:t>
            </a:r>
            <a:r>
              <a:rPr lang="vi-VN" b="1" dirty="0"/>
              <a:t>Mô hình đồng bộ rất lý tưởng nhưng hiếm khi tồn tại hoàn toàn trong thực tế.</a:t>
            </a:r>
            <a:endParaRPr lang="vi-VN" dirty="0"/>
          </a:p>
          <a:p>
            <a:endParaRPr lang="en-US" b="1" dirty="0"/>
          </a:p>
          <a:p>
            <a:r>
              <a:rPr lang="en-US" b="1" dirty="0"/>
              <a:t>3.</a:t>
            </a:r>
            <a:r>
              <a:rPr lang="vi-VN" b="1" dirty="0"/>
              <a:t> Partially synchronous system (phổ biến nhất trong thực tế)</a:t>
            </a:r>
          </a:p>
          <a:p>
            <a:r>
              <a:rPr lang="vi-VN" dirty="0"/>
              <a:t>Đây là mô hình thực tế của Internet và đa số hệ thống phân tán.</a:t>
            </a:r>
          </a:p>
          <a:p>
            <a:r>
              <a:rPr lang="en-US" dirty="0"/>
              <a:t>* </a:t>
            </a:r>
            <a:r>
              <a:rPr lang="vi-VN" dirty="0"/>
              <a:t>Đặc điểm:</a:t>
            </a:r>
          </a:p>
          <a:p>
            <a:pPr>
              <a:buFont typeface="Arial" panose="020B0604020202020204" pitchFamily="34" charset="0"/>
              <a:buChar char="•"/>
            </a:pPr>
            <a:r>
              <a:rPr lang="vi-VN" i="1" dirty="0"/>
              <a:t>Hầu hết thời gian</a:t>
            </a:r>
            <a:r>
              <a:rPr lang="vi-VN" dirty="0"/>
              <a:t> hệ thống có vẻ đồng bộ (latency ổn định).</a:t>
            </a:r>
          </a:p>
          <a:p>
            <a:pPr>
              <a:buFont typeface="Arial" panose="020B0604020202020204" pitchFamily="34" charset="0"/>
              <a:buChar char="•"/>
            </a:pPr>
            <a:r>
              <a:rPr lang="vi-VN" dirty="0"/>
              <a:t>Nhưng </a:t>
            </a:r>
            <a:r>
              <a:rPr lang="vi-VN" i="1" dirty="0"/>
              <a:t>thỉnh thoảng</a:t>
            </a:r>
            <a:r>
              <a:rPr lang="vi-VN" dirty="0"/>
              <a:t> biến thành bất đồng bộ (network jitter, nghẽn…).</a:t>
            </a:r>
          </a:p>
          <a:p>
            <a:pPr>
              <a:buFont typeface="Arial" panose="020B0604020202020204" pitchFamily="34" charset="0"/>
              <a:buChar char="•"/>
            </a:pPr>
            <a:r>
              <a:rPr lang="vi-VN" dirty="0"/>
              <a:t>Không có giới hạn tuyệt đối, chỉ có giới hạn kỳ vọng.</a:t>
            </a:r>
          </a:p>
          <a:p>
            <a:r>
              <a:rPr lang="vi-VN" dirty="0"/>
              <a:t>➡ Chúng ta </a:t>
            </a:r>
            <a:r>
              <a:rPr lang="vi-VN" b="1" dirty="0"/>
              <a:t>thường phát hiện được crash failures khá tin cậy</a:t>
            </a:r>
            <a:r>
              <a:rPr lang="vi-VN" dirty="0"/>
              <a:t>:</a:t>
            </a:r>
          </a:p>
          <a:p>
            <a:pPr>
              <a:buFont typeface="Arial" panose="020B0604020202020204" pitchFamily="34" charset="0"/>
              <a:buChar char="•"/>
            </a:pPr>
            <a:r>
              <a:rPr lang="vi-VN" dirty="0"/>
              <a:t>Nếu timeout quá lâu → có thể coi là crash.</a:t>
            </a:r>
          </a:p>
          <a:p>
            <a:pPr>
              <a:buFont typeface="Arial" panose="020B0604020202020204" pitchFamily="34" charset="0"/>
              <a:buChar char="•"/>
            </a:pPr>
            <a:r>
              <a:rPr lang="vi-VN" dirty="0"/>
              <a:t>Nhưng vẫn có nguy cơ nhầm lẫn (false positive).</a:t>
            </a:r>
          </a:p>
          <a:p>
            <a:r>
              <a:rPr lang="en-US" dirty="0"/>
              <a:t>=&gt; </a:t>
            </a:r>
            <a:r>
              <a:rPr lang="vi-VN" dirty="0"/>
              <a:t>Đây là lý do nhiều hệ thống sử dụng </a:t>
            </a:r>
            <a:r>
              <a:rPr lang="vi-VN" b="1" dirty="0"/>
              <a:t>heartbeats + timeouts</a:t>
            </a:r>
            <a:r>
              <a:rPr lang="vi-VN" dirty="0"/>
              <a:t> để phát hiện crash, ví dụ:</a:t>
            </a:r>
          </a:p>
          <a:p>
            <a:pPr>
              <a:buFont typeface="Arial" panose="020B0604020202020204" pitchFamily="34" charset="0"/>
              <a:buChar char="•"/>
            </a:pPr>
            <a:r>
              <a:rPr lang="vi-VN" dirty="0"/>
              <a:t>Google Chubby</a:t>
            </a:r>
          </a:p>
          <a:p>
            <a:pPr>
              <a:buFont typeface="Arial" panose="020B0604020202020204" pitchFamily="34" charset="0"/>
              <a:buChar char="•"/>
            </a:pPr>
            <a:r>
              <a:rPr lang="vi-VN" dirty="0"/>
              <a:t>Apache ZooKeeper</a:t>
            </a:r>
          </a:p>
          <a:p>
            <a:pPr>
              <a:buFont typeface="Arial" panose="020B0604020202020204" pitchFamily="34" charset="0"/>
              <a:buChar char="•"/>
            </a:pPr>
            <a:r>
              <a:rPr lang="vi-VN" dirty="0"/>
              <a:t>Raft, Paxos</a:t>
            </a:r>
          </a:p>
          <a:p>
            <a:endParaRPr lang="en-US" b="1" dirty="0"/>
          </a:p>
          <a:p>
            <a:r>
              <a:rPr lang="en-US" b="1" dirty="0"/>
              <a:t>** </a:t>
            </a:r>
            <a:r>
              <a:rPr lang="vi-VN" b="1" dirty="0"/>
              <a:t>Ý nghĩa quan trọng cho fault tolerance</a:t>
            </a:r>
          </a:p>
          <a:p>
            <a:r>
              <a:rPr lang="en-US" b="1" dirty="0"/>
              <a:t>* </a:t>
            </a:r>
            <a:r>
              <a:rPr lang="vi-VN" b="1" dirty="0"/>
              <a:t>Trong hệ thống bất đồng bộ:</a:t>
            </a:r>
          </a:p>
          <a:p>
            <a:pPr>
              <a:buFont typeface="Arial" panose="020B0604020202020204" pitchFamily="34" charset="0"/>
              <a:buChar char="•"/>
            </a:pPr>
            <a:r>
              <a:rPr lang="vi-VN" dirty="0"/>
              <a:t>Không thể phân biệt crash, omission, timing</a:t>
            </a:r>
          </a:p>
          <a:p>
            <a:pPr>
              <a:buFont typeface="Arial" panose="020B0604020202020204" pitchFamily="34" charset="0"/>
              <a:buChar char="•"/>
            </a:pPr>
            <a:r>
              <a:rPr lang="vi-VN" dirty="0"/>
              <a:t>Không thể xây dựng bộ phát hiện lỗi hoàn hảo</a:t>
            </a:r>
            <a:br>
              <a:rPr lang="vi-VN" dirty="0"/>
            </a:br>
            <a:r>
              <a:rPr lang="vi-VN" dirty="0"/>
              <a:t>→ phải dùng giải pháp </a:t>
            </a:r>
            <a:r>
              <a:rPr lang="vi-VN" i="1" dirty="0"/>
              <a:t>suspect-based</a:t>
            </a:r>
            <a:r>
              <a:rPr lang="vi-VN" dirty="0"/>
              <a:t>, "nghi ngờ lỗi" thay vì “biết chắc”.</a:t>
            </a:r>
          </a:p>
          <a:p>
            <a:r>
              <a:rPr lang="en-US" b="1" dirty="0"/>
              <a:t>* </a:t>
            </a:r>
            <a:r>
              <a:rPr lang="vi-VN" b="1" dirty="0"/>
              <a:t>Trong hệ thống đồng bộ:</a:t>
            </a:r>
          </a:p>
          <a:p>
            <a:pPr>
              <a:buFont typeface="Arial" panose="020B0604020202020204" pitchFamily="34" charset="0"/>
              <a:buChar char="•"/>
            </a:pPr>
            <a:r>
              <a:rPr lang="vi-VN" dirty="0"/>
              <a:t>Có thể phát hiện lỗi chính xác</a:t>
            </a:r>
          </a:p>
          <a:p>
            <a:pPr>
              <a:buFont typeface="Arial" panose="020B0604020202020204" pitchFamily="34" charset="0"/>
              <a:buChar char="•"/>
            </a:pPr>
            <a:r>
              <a:rPr lang="vi-VN" dirty="0"/>
              <a:t>Dễ xây dựng các giao thức chịu lỗi</a:t>
            </a:r>
          </a:p>
          <a:p>
            <a:r>
              <a:rPr lang="en-US" b="1" dirty="0"/>
              <a:t>* </a:t>
            </a:r>
            <a:r>
              <a:rPr lang="vi-VN" b="1" dirty="0"/>
              <a:t>Trong hệ thống bán đồng bộ (thực tế):</a:t>
            </a:r>
          </a:p>
          <a:p>
            <a:pPr>
              <a:buFont typeface="Arial" panose="020B0604020202020204" pitchFamily="34" charset="0"/>
              <a:buChar char="•"/>
            </a:pPr>
            <a:r>
              <a:rPr lang="vi-VN" dirty="0"/>
              <a:t>Dùng giả định timeout hợp lý</a:t>
            </a:r>
          </a:p>
          <a:p>
            <a:pPr>
              <a:buFont typeface="Arial" panose="020B0604020202020204" pitchFamily="34" charset="0"/>
              <a:buChar char="•"/>
            </a:pPr>
            <a:r>
              <a:rPr lang="vi-VN" dirty="0"/>
              <a:t>Chấp nhận có sai số</a:t>
            </a:r>
          </a:p>
          <a:p>
            <a:pPr>
              <a:buFont typeface="Arial" panose="020B0604020202020204" pitchFamily="34" charset="0"/>
              <a:buChar char="•"/>
            </a:pPr>
            <a:r>
              <a:rPr lang="vi-VN" dirty="0"/>
              <a:t>Nhưng vẫn dùng được để điều khiển quá trình bầu chọn, phục hồi, replication</a:t>
            </a:r>
          </a:p>
          <a:p>
            <a:endParaRPr lang="en-US" b="1" dirty="0"/>
          </a:p>
          <a:p>
            <a:r>
              <a:rPr lang="en-US" b="1" dirty="0"/>
              <a:t>** </a:t>
            </a:r>
            <a:r>
              <a:rPr lang="vi-VN" b="1" dirty="0"/>
              <a:t>Tóm tắt</a:t>
            </a:r>
            <a:r>
              <a:rPr lang="en-US" b="1" dirty="0"/>
              <a:t>:</a:t>
            </a:r>
            <a:endParaRPr lang="vi-VN" b="1" dirty="0"/>
          </a:p>
          <a:p>
            <a:pPr>
              <a:buFont typeface="Arial" panose="020B0604020202020204" pitchFamily="34" charset="0"/>
              <a:buChar char="•"/>
            </a:pPr>
            <a:r>
              <a:rPr lang="vi-VN" b="1" dirty="0"/>
              <a:t>Halting failure</a:t>
            </a:r>
            <a:r>
              <a:rPr lang="vi-VN" dirty="0"/>
              <a:t>: khi một tiến trình hoàn toàn không còn nghe/nhận hoạt động từ tiến trình khác.</a:t>
            </a:r>
          </a:p>
          <a:p>
            <a:pPr>
              <a:buFont typeface="Arial" panose="020B0604020202020204" pitchFamily="34" charset="0"/>
              <a:buChar char="•"/>
            </a:pPr>
            <a:r>
              <a:rPr lang="vi-VN" b="1" dirty="0"/>
              <a:t>Không thể phân biệt crash, omission hay timing failure trong môi trường bất đồng bộ.</a:t>
            </a:r>
            <a:endParaRPr lang="vi-VN" dirty="0"/>
          </a:p>
          <a:p>
            <a:pPr>
              <a:buFont typeface="Arial" panose="020B0604020202020204" pitchFamily="34" charset="0"/>
              <a:buChar char="•"/>
            </a:pPr>
            <a:r>
              <a:rPr lang="vi-VN" b="1" dirty="0"/>
              <a:t>Asynchronous system</a:t>
            </a:r>
            <a:r>
              <a:rPr lang="vi-VN" dirty="0"/>
              <a:t> → không thể phát hiện crash tin cậy.</a:t>
            </a:r>
          </a:p>
          <a:p>
            <a:pPr>
              <a:buFont typeface="Arial" panose="020B0604020202020204" pitchFamily="34" charset="0"/>
              <a:buChar char="•"/>
            </a:pPr>
            <a:r>
              <a:rPr lang="vi-VN" b="1" dirty="0"/>
              <a:t>Synchronous system</a:t>
            </a:r>
            <a:r>
              <a:rPr lang="vi-VN" dirty="0"/>
              <a:t> → phát hiện lỗi chính xác.</a:t>
            </a:r>
          </a:p>
          <a:p>
            <a:pPr>
              <a:buFont typeface="Arial" panose="020B0604020202020204" pitchFamily="34" charset="0"/>
              <a:buChar char="•"/>
            </a:pPr>
            <a:r>
              <a:rPr lang="vi-VN" b="1" dirty="0"/>
              <a:t>Partially synchronous system</a:t>
            </a:r>
            <a:r>
              <a:rPr lang="vi-VN" dirty="0"/>
              <a:t> → thực tế nhất, thường phát hiện crash khá tốt.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11</a:t>
            </a:fld>
            <a:endParaRPr lang="en-US"/>
          </a:p>
        </p:txBody>
      </p:sp>
    </p:spTree>
    <p:extLst>
      <p:ext uri="{BB962C8B-B14F-4D97-AF65-F5344CB8AC3E}">
        <p14:creationId xmlns:p14="http://schemas.microsoft.com/office/powerpoint/2010/main" val="1796060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Halting failures – Các giả định có thể đưa ra</a:t>
            </a:r>
          </a:p>
          <a:p>
            <a:r>
              <a:rPr lang="vi-VN" dirty="0"/>
              <a:t>Slide này tổng hợp </a:t>
            </a:r>
            <a:r>
              <a:rPr lang="vi-VN" i="1" dirty="0"/>
              <a:t>những mô hình lỗi phổ biến</a:t>
            </a:r>
            <a:r>
              <a:rPr lang="vi-VN" dirty="0"/>
              <a:t> mà hệ thống phân tán có thể giả định để thiết kế giao thức chịu lỗi (fault-tolerant protocols).</a:t>
            </a:r>
            <a:br>
              <a:rPr lang="vi-VN" dirty="0"/>
            </a:br>
            <a:r>
              <a:rPr lang="vi-VN" b="1" dirty="0"/>
              <a:t>Mỗi loại đưa ra một mức độ “sức mạnh” khác nhau mà lỗi có thể gây ra.</a:t>
            </a:r>
            <a:endParaRPr lang="vi-VN" dirty="0"/>
          </a:p>
          <a:p>
            <a:r>
              <a:rPr lang="en-US" b="1" dirty="0"/>
              <a:t>1.</a:t>
            </a:r>
            <a:r>
              <a:rPr lang="vi-VN" b="1" dirty="0"/>
              <a:t> Fail-stop</a:t>
            </a:r>
          </a:p>
          <a:p>
            <a:r>
              <a:rPr lang="en-US" dirty="0"/>
              <a:t>* </a:t>
            </a:r>
            <a:r>
              <a:rPr lang="vi-VN" b="1" dirty="0"/>
              <a:t>Định nghĩa</a:t>
            </a:r>
            <a:r>
              <a:rPr lang="vi-VN" dirty="0"/>
              <a:t>:</a:t>
            </a:r>
            <a:br>
              <a:rPr lang="vi-VN" dirty="0"/>
            </a:br>
            <a:r>
              <a:rPr lang="vi-VN" dirty="0"/>
              <a:t>Tiến trình </a:t>
            </a:r>
            <a:r>
              <a:rPr lang="vi-VN" i="1" dirty="0"/>
              <a:t>crash hoàn toàn</a:t>
            </a:r>
            <a:r>
              <a:rPr lang="vi-VN" dirty="0"/>
              <a:t> và </a:t>
            </a:r>
            <a:r>
              <a:rPr lang="vi-VN" b="1" dirty="0"/>
              <a:t>có thể phát hiện một cách chắc chắn</a:t>
            </a:r>
            <a:r>
              <a:rPr lang="vi-VN" dirty="0"/>
              <a:t>.</a:t>
            </a:r>
          </a:p>
          <a:p>
            <a:r>
              <a:rPr lang="en-US" dirty="0"/>
              <a:t>* </a:t>
            </a:r>
            <a:r>
              <a:rPr lang="vi-VN" b="1" dirty="0"/>
              <a:t>Đặc trưng</a:t>
            </a:r>
            <a:r>
              <a:rPr lang="vi-VN" dirty="0"/>
              <a:t>:</a:t>
            </a:r>
          </a:p>
          <a:p>
            <a:pPr>
              <a:buFont typeface="Arial" panose="020B0604020202020204" pitchFamily="34" charset="0"/>
              <a:buChar char="•"/>
            </a:pPr>
            <a:r>
              <a:rPr lang="vi-VN" dirty="0"/>
              <a:t>Tiến trình dừng hẳn.</a:t>
            </a:r>
          </a:p>
          <a:p>
            <a:pPr>
              <a:buFont typeface="Arial" panose="020B0604020202020204" pitchFamily="34" charset="0"/>
              <a:buChar char="•"/>
            </a:pPr>
            <a:r>
              <a:rPr lang="vi-VN" dirty="0"/>
              <a:t>Không gửi thông điệp sai.</a:t>
            </a:r>
          </a:p>
          <a:p>
            <a:pPr>
              <a:buFont typeface="Arial" panose="020B0604020202020204" pitchFamily="34" charset="0"/>
              <a:buChar char="•"/>
            </a:pPr>
            <a:r>
              <a:rPr lang="vi-VN" dirty="0"/>
              <a:t>Các tiến trình khác </a:t>
            </a:r>
            <a:r>
              <a:rPr lang="vi-VN" i="1" dirty="0"/>
              <a:t>luôn biết</a:t>
            </a:r>
            <a:r>
              <a:rPr lang="vi-VN" dirty="0"/>
              <a:t> nó đã crash.</a:t>
            </a:r>
          </a:p>
          <a:p>
            <a:r>
              <a:rPr lang="en-US" dirty="0"/>
              <a:t>=&gt; </a:t>
            </a:r>
            <a:r>
              <a:rPr lang="vi-VN" dirty="0"/>
              <a:t>Đây là </a:t>
            </a:r>
            <a:r>
              <a:rPr lang="vi-VN" b="1" dirty="0"/>
              <a:t>mô hình lỗi “hiền nhất”</a:t>
            </a:r>
            <a:r>
              <a:rPr lang="vi-VN" dirty="0"/>
              <a:t> và dễ xử lý nhất.</a:t>
            </a:r>
            <a:br>
              <a:rPr lang="vi-VN" dirty="0"/>
            </a:br>
            <a:r>
              <a:rPr lang="vi-VN" dirty="0"/>
              <a:t>Ví dụ: CPU bị cháy, tiến trình bị kill → hệ thống cảm nhận được ngay.</a:t>
            </a:r>
          </a:p>
          <a:p>
            <a:r>
              <a:rPr lang="en-US" b="1" dirty="0"/>
              <a:t>2.</a:t>
            </a:r>
            <a:r>
              <a:rPr lang="vi-VN" b="1" dirty="0"/>
              <a:t> Fail-noisy</a:t>
            </a:r>
          </a:p>
          <a:p>
            <a:r>
              <a:rPr lang="en-US" dirty="0"/>
              <a:t>* </a:t>
            </a:r>
            <a:r>
              <a:rPr lang="vi-VN" b="1" dirty="0"/>
              <a:t>Định nghĩa</a:t>
            </a:r>
            <a:r>
              <a:rPr lang="vi-VN" dirty="0"/>
              <a:t>:</a:t>
            </a:r>
            <a:br>
              <a:rPr lang="vi-VN" dirty="0"/>
            </a:br>
            <a:r>
              <a:rPr lang="vi-VN" dirty="0"/>
              <a:t>Lỗi crash vẫn xảy ra, nhưng </a:t>
            </a:r>
            <a:r>
              <a:rPr lang="vi-VN" b="1" dirty="0"/>
              <a:t>ban đầu khó phát hiện</a:t>
            </a:r>
            <a:r>
              <a:rPr lang="vi-VN" dirty="0"/>
              <a:t>, chỉ sau một khoảng thời gian mới chắc chắn biết rằng nó đã crash.</a:t>
            </a:r>
          </a:p>
          <a:p>
            <a:r>
              <a:rPr lang="en-US" dirty="0"/>
              <a:t>* </a:t>
            </a:r>
            <a:r>
              <a:rPr lang="vi-VN" b="1" dirty="0"/>
              <a:t>Đặc trưng</a:t>
            </a:r>
            <a:r>
              <a:rPr lang="vi-VN" dirty="0"/>
              <a:t>:</a:t>
            </a:r>
          </a:p>
          <a:p>
            <a:pPr>
              <a:buFont typeface="Arial" panose="020B0604020202020204" pitchFamily="34" charset="0"/>
              <a:buChar char="•"/>
            </a:pPr>
            <a:r>
              <a:rPr lang="vi-VN" dirty="0"/>
              <a:t>Tiến trình dừng, nhưng tín hiệu để phát hiện crash có thể trễ.</a:t>
            </a:r>
          </a:p>
          <a:p>
            <a:pPr>
              <a:buFont typeface="Arial" panose="020B0604020202020204" pitchFamily="34" charset="0"/>
              <a:buChar char="•"/>
            </a:pPr>
            <a:r>
              <a:rPr lang="vi-VN" dirty="0"/>
              <a:t>Sau một khoảng thời gian, ta có thể biết chắc chắn.</a:t>
            </a:r>
          </a:p>
          <a:p>
            <a:r>
              <a:rPr lang="en-US" dirty="0"/>
              <a:t>=&gt; </a:t>
            </a:r>
            <a:r>
              <a:rPr lang="vi-VN" dirty="0"/>
              <a:t>Tương đương với thực tế nhiều hệ thống dùng </a:t>
            </a:r>
            <a:r>
              <a:rPr lang="vi-VN" b="1" dirty="0"/>
              <a:t>timeout</a:t>
            </a:r>
            <a:r>
              <a:rPr lang="vi-VN" dirty="0"/>
              <a:t>, ban đầu nghi ngờ, sau đó xác nhận.</a:t>
            </a:r>
          </a:p>
          <a:p>
            <a:r>
              <a:rPr lang="en-US" b="1" dirty="0"/>
              <a:t>3.</a:t>
            </a:r>
            <a:r>
              <a:rPr lang="vi-VN" b="1" dirty="0"/>
              <a:t> Fail-silent</a:t>
            </a:r>
          </a:p>
          <a:p>
            <a:r>
              <a:rPr lang="en-US" dirty="0"/>
              <a:t>* </a:t>
            </a:r>
            <a:r>
              <a:rPr lang="vi-VN" b="1" dirty="0"/>
              <a:t>Định nghĩa</a:t>
            </a:r>
            <a:r>
              <a:rPr lang="vi-VN" dirty="0"/>
              <a:t>:</a:t>
            </a:r>
            <a:br>
              <a:rPr lang="vi-VN" dirty="0"/>
            </a:br>
            <a:r>
              <a:rPr lang="vi-VN" dirty="0"/>
              <a:t>Tiến trình </a:t>
            </a:r>
            <a:r>
              <a:rPr lang="vi-VN" b="1" dirty="0"/>
              <a:t>ngừng giao tiếp</a:t>
            </a:r>
            <a:r>
              <a:rPr lang="vi-VN" dirty="0"/>
              <a:t>, nhưng ta </a:t>
            </a:r>
            <a:r>
              <a:rPr lang="vi-VN" b="1" dirty="0"/>
              <a:t>không thể biết nguyên nhân</a:t>
            </a:r>
            <a:r>
              <a:rPr lang="vi-VN" dirty="0"/>
              <a:t>:</a:t>
            </a:r>
          </a:p>
          <a:p>
            <a:pPr>
              <a:buFont typeface="Arial" panose="020B0604020202020204" pitchFamily="34" charset="0"/>
              <a:buChar char="•"/>
            </a:pPr>
            <a:r>
              <a:rPr lang="vi-VN" dirty="0"/>
              <a:t>Crash,</a:t>
            </a:r>
          </a:p>
          <a:p>
            <a:pPr>
              <a:buFont typeface="Arial" panose="020B0604020202020204" pitchFamily="34" charset="0"/>
              <a:buChar char="•"/>
            </a:pPr>
            <a:r>
              <a:rPr lang="vi-VN" dirty="0"/>
              <a:t>Omission (không gửi message),</a:t>
            </a:r>
          </a:p>
          <a:p>
            <a:pPr>
              <a:buFont typeface="Arial" panose="020B0604020202020204" pitchFamily="34" charset="0"/>
              <a:buChar char="•"/>
            </a:pPr>
            <a:r>
              <a:rPr lang="vi-VN" dirty="0"/>
              <a:t>hoặc network delay.</a:t>
            </a:r>
          </a:p>
          <a:p>
            <a:r>
              <a:rPr lang="en-US" dirty="0"/>
              <a:t>* </a:t>
            </a:r>
            <a:r>
              <a:rPr lang="vi-VN" b="1" dirty="0"/>
              <a:t>Đặc trưng</a:t>
            </a:r>
            <a:r>
              <a:rPr lang="vi-VN" dirty="0"/>
              <a:t>:</a:t>
            </a:r>
          </a:p>
          <a:p>
            <a:pPr>
              <a:buFont typeface="Arial" panose="020B0604020202020204" pitchFamily="34" charset="0"/>
              <a:buChar char="•"/>
            </a:pPr>
            <a:r>
              <a:rPr lang="vi-VN" dirty="0"/>
              <a:t>Khó phân biệt: crash hay chỉ chậm.</a:t>
            </a:r>
          </a:p>
          <a:p>
            <a:pPr>
              <a:buFont typeface="Arial" panose="020B0604020202020204" pitchFamily="34" charset="0"/>
              <a:buChar char="•"/>
            </a:pPr>
            <a:r>
              <a:rPr lang="vi-VN" dirty="0"/>
              <a:t>Không có tín hiệu rõ ràng để xác nhận.</a:t>
            </a:r>
          </a:p>
          <a:p>
            <a:r>
              <a:rPr lang="en-US" dirty="0"/>
              <a:t>=&gt; </a:t>
            </a:r>
            <a:r>
              <a:rPr lang="vi-VN" dirty="0"/>
              <a:t>Đây là mô hình lỗi </a:t>
            </a:r>
            <a:r>
              <a:rPr lang="vi-VN" i="1" dirty="0"/>
              <a:t>thực tế nhất</a:t>
            </a:r>
            <a:r>
              <a:rPr lang="vi-VN" dirty="0"/>
              <a:t> trong </a:t>
            </a:r>
            <a:r>
              <a:rPr lang="vi-VN" b="1" dirty="0"/>
              <a:t>hệ thống bất đồng bộ</a:t>
            </a:r>
            <a:r>
              <a:rPr lang="vi-VN" dirty="0"/>
              <a:t> (asynchronous systems).</a:t>
            </a:r>
          </a:p>
          <a:p>
            <a:r>
              <a:rPr lang="vi-VN" b="1" dirty="0"/>
              <a:t>Ví dụ:</a:t>
            </a:r>
            <a:br>
              <a:rPr lang="vi-VN" dirty="0"/>
            </a:br>
            <a:r>
              <a:rPr lang="vi-VN" dirty="0"/>
              <a:t>Node không trả lời → bạn không biết nó chết thật hay chỉ mạng bị delay.</a:t>
            </a:r>
          </a:p>
          <a:p>
            <a:r>
              <a:rPr lang="en-US" b="1" dirty="0"/>
              <a:t>4.</a:t>
            </a:r>
            <a:r>
              <a:rPr lang="vi-VN" b="1" dirty="0"/>
              <a:t> Fail-safe</a:t>
            </a:r>
          </a:p>
          <a:p>
            <a:r>
              <a:rPr lang="en-US" dirty="0"/>
              <a:t>* </a:t>
            </a:r>
            <a:r>
              <a:rPr lang="vi-VN" b="1" dirty="0"/>
              <a:t>Định nghĩa</a:t>
            </a:r>
            <a:r>
              <a:rPr lang="vi-VN" dirty="0"/>
              <a:t>:</a:t>
            </a:r>
            <a:br>
              <a:rPr lang="vi-VN" dirty="0"/>
            </a:br>
            <a:r>
              <a:rPr lang="vi-VN" dirty="0"/>
              <a:t>Tiến trình có thể gây </a:t>
            </a:r>
            <a:r>
              <a:rPr lang="vi-VN" i="1" dirty="0"/>
              <a:t>lỗi tùy ý</a:t>
            </a:r>
            <a:r>
              <a:rPr lang="vi-VN" dirty="0"/>
              <a:t>, nhưng các lỗi này </a:t>
            </a:r>
            <a:r>
              <a:rPr lang="vi-VN" b="1" dirty="0"/>
              <a:t>không gây hại</a:t>
            </a:r>
            <a:r>
              <a:rPr lang="vi-VN" dirty="0"/>
              <a:t> (</a:t>
            </a:r>
            <a:r>
              <a:rPr lang="vi-VN" i="1" dirty="0"/>
              <a:t>benign failures</a:t>
            </a:r>
            <a:r>
              <a:rPr lang="vi-VN" dirty="0"/>
              <a:t>).</a:t>
            </a:r>
          </a:p>
          <a:p>
            <a:r>
              <a:rPr lang="en-US" dirty="0"/>
              <a:t>* </a:t>
            </a:r>
            <a:r>
              <a:rPr lang="vi-VN" b="1" dirty="0"/>
              <a:t>Đặc trưng</a:t>
            </a:r>
            <a:r>
              <a:rPr lang="vi-VN" dirty="0"/>
              <a:t>:</a:t>
            </a:r>
          </a:p>
          <a:p>
            <a:pPr>
              <a:buFont typeface="Arial" panose="020B0604020202020204" pitchFamily="34" charset="0"/>
              <a:buChar char="•"/>
            </a:pPr>
            <a:r>
              <a:rPr lang="vi-VN" dirty="0"/>
              <a:t>Có thể gửi thông điệp sai hoặc bất thường,</a:t>
            </a:r>
          </a:p>
          <a:p>
            <a:pPr>
              <a:buFont typeface="Arial" panose="020B0604020202020204" pitchFamily="34" charset="0"/>
              <a:buChar char="•"/>
            </a:pPr>
            <a:r>
              <a:rPr lang="vi-VN" dirty="0"/>
              <a:t>nhưng </a:t>
            </a:r>
            <a:r>
              <a:rPr lang="vi-VN" b="1" dirty="0"/>
              <a:t>không bao giờ gây ra hành vi nguy hiểm</a:t>
            </a:r>
            <a:r>
              <a:rPr lang="vi-VN" dirty="0"/>
              <a:t>.</a:t>
            </a:r>
          </a:p>
          <a:p>
            <a:r>
              <a:rPr lang="en-US" dirty="0"/>
              <a:t>=&gt; </a:t>
            </a:r>
            <a:r>
              <a:rPr lang="vi-VN" dirty="0"/>
              <a:t>Mô hình này dùng cho các hệ thống “an toàn”, ví dụ thiết bị y tế hoặc hệ thống giao thông, nơi lỗi phải được kiểm soát mức độ tác hại.</a:t>
            </a:r>
          </a:p>
          <a:p>
            <a:r>
              <a:rPr lang="en-US" b="1" dirty="0"/>
              <a:t>5.</a:t>
            </a:r>
            <a:r>
              <a:rPr lang="vi-VN" b="1" dirty="0"/>
              <a:t> Fail-arbitrary (Byzantine failures)</a:t>
            </a:r>
          </a:p>
          <a:p>
            <a:r>
              <a:rPr lang="en-US" dirty="0"/>
              <a:t>* </a:t>
            </a:r>
            <a:r>
              <a:rPr lang="vi-VN" b="1" dirty="0"/>
              <a:t>Định nghĩa</a:t>
            </a:r>
            <a:r>
              <a:rPr lang="vi-VN" dirty="0"/>
              <a:t>:</a:t>
            </a:r>
            <a:br>
              <a:rPr lang="vi-VN" dirty="0"/>
            </a:br>
            <a:r>
              <a:rPr lang="vi-VN" dirty="0"/>
              <a:t>Tiến trình có thể làm </a:t>
            </a:r>
            <a:r>
              <a:rPr lang="vi-VN" b="1" dirty="0"/>
              <a:t>bất cứ điều gì</a:t>
            </a:r>
            <a:r>
              <a:rPr lang="vi-VN" dirty="0"/>
              <a:t>, bao gồm hành vi ác ý (</a:t>
            </a:r>
            <a:r>
              <a:rPr lang="vi-VN" i="1" dirty="0"/>
              <a:t>malicious</a:t>
            </a:r>
            <a:r>
              <a:rPr lang="vi-VN" dirty="0"/>
              <a:t>).</a:t>
            </a:r>
            <a:br>
              <a:rPr lang="vi-VN" dirty="0"/>
            </a:br>
            <a:r>
              <a:rPr lang="vi-VN" dirty="0"/>
              <a:t>Đây là mô hình lỗi </a:t>
            </a:r>
            <a:r>
              <a:rPr lang="vi-VN" b="1" dirty="0"/>
              <a:t>mạnh nhất – nguy hiểm nhất</a:t>
            </a:r>
            <a:r>
              <a:rPr lang="vi-VN" dirty="0"/>
              <a:t>.</a:t>
            </a:r>
          </a:p>
          <a:p>
            <a:r>
              <a:rPr lang="en-US" dirty="0"/>
              <a:t>* </a:t>
            </a:r>
            <a:r>
              <a:rPr lang="vi-VN" b="1" dirty="0"/>
              <a:t>Đặc trưng</a:t>
            </a:r>
            <a:r>
              <a:rPr lang="vi-VN" dirty="0"/>
              <a:t>:</a:t>
            </a:r>
          </a:p>
          <a:p>
            <a:pPr>
              <a:buFont typeface="Arial" panose="020B0604020202020204" pitchFamily="34" charset="0"/>
              <a:buChar char="•"/>
            </a:pPr>
            <a:r>
              <a:rPr lang="vi-VN" dirty="0"/>
              <a:t>Gửi thông điệp sai.</a:t>
            </a:r>
          </a:p>
          <a:p>
            <a:pPr>
              <a:buFont typeface="Arial" panose="020B0604020202020204" pitchFamily="34" charset="0"/>
              <a:buChar char="•"/>
            </a:pPr>
            <a:r>
              <a:rPr lang="vi-VN" dirty="0"/>
              <a:t>Gửi thông điệp khác nhau cho các node khác nhau.</a:t>
            </a:r>
          </a:p>
          <a:p>
            <a:pPr>
              <a:buFont typeface="Arial" panose="020B0604020202020204" pitchFamily="34" charset="0"/>
              <a:buChar char="•"/>
            </a:pPr>
            <a:r>
              <a:rPr lang="vi-VN" dirty="0"/>
              <a:t>Giả vờ hoạt động đúng để đánh lừa hệ thống.</a:t>
            </a:r>
          </a:p>
          <a:p>
            <a:pPr>
              <a:buFont typeface="Arial" panose="020B0604020202020204" pitchFamily="34" charset="0"/>
              <a:buChar char="•"/>
            </a:pPr>
            <a:r>
              <a:rPr lang="vi-VN" dirty="0"/>
              <a:t>Hành vi không đoán trước được.</a:t>
            </a:r>
          </a:p>
          <a:p>
            <a:r>
              <a:rPr lang="en-US" dirty="0"/>
              <a:t>=&gt; </a:t>
            </a:r>
            <a:r>
              <a:rPr lang="vi-VN" dirty="0"/>
              <a:t>Chính là </a:t>
            </a:r>
            <a:r>
              <a:rPr lang="vi-VN" b="1" dirty="0"/>
              <a:t>Byzantine failure</a:t>
            </a:r>
            <a:r>
              <a:rPr lang="vi-VN" dirty="0"/>
              <a:t> — loại lỗi mà blockchain, PBFT… phải xử lý.</a:t>
            </a:r>
          </a:p>
          <a:p>
            <a:r>
              <a:rPr lang="vi-VN" b="1" dirty="0"/>
              <a:t>Ví dụ:</a:t>
            </a:r>
            <a:br>
              <a:rPr lang="vi-VN" dirty="0"/>
            </a:br>
            <a:r>
              <a:rPr lang="vi-VN" dirty="0"/>
              <a:t>Một node bị hacker chiếm quyền và cố ý gửi dữ liệu sai để phá hệ thống.</a:t>
            </a:r>
          </a:p>
          <a:p>
            <a:endParaRPr lang="en-US" b="1" dirty="0"/>
          </a:p>
          <a:p>
            <a:r>
              <a:rPr lang="en-US" b="1" dirty="0"/>
              <a:t>** </a:t>
            </a:r>
            <a:r>
              <a:rPr lang="en-US" b="1" dirty="0" err="1"/>
              <a:t>Tóm</a:t>
            </a:r>
            <a:r>
              <a:rPr lang="en-US" b="1" dirty="0"/>
              <a:t> </a:t>
            </a:r>
            <a:r>
              <a:rPr lang="en-US" b="1" dirty="0" err="1"/>
              <a:t>tắt</a:t>
            </a:r>
            <a:r>
              <a:rPr lang="en-US" b="1" dirty="0"/>
              <a:t>:</a:t>
            </a:r>
            <a:endParaRPr lang="vi-VN" b="1" dirty="0"/>
          </a:p>
          <a:p>
            <a:pPr>
              <a:buFont typeface="Arial" panose="020B0604020202020204" pitchFamily="34" charset="0"/>
              <a:buChar char="•"/>
            </a:pPr>
            <a:r>
              <a:rPr lang="vi-VN" dirty="0"/>
              <a:t>Slide này nói về các </a:t>
            </a:r>
            <a:r>
              <a:rPr lang="vi-VN" b="1" dirty="0"/>
              <a:t>mô hình giả định lỗi</a:t>
            </a:r>
            <a:r>
              <a:rPr lang="vi-VN" dirty="0"/>
              <a:t> khi thiết kế hệ thống phân tán.</a:t>
            </a:r>
          </a:p>
          <a:p>
            <a:pPr>
              <a:buFont typeface="Arial" panose="020B0604020202020204" pitchFamily="34" charset="0"/>
              <a:buChar char="•"/>
            </a:pPr>
            <a:r>
              <a:rPr lang="vi-VN" dirty="0"/>
              <a:t>Càng lên trên, lỗi càng dễ đối phó; càng xuống dưới, lỗi càng mạnh và nguy hiểm.</a:t>
            </a:r>
          </a:p>
          <a:p>
            <a:pPr>
              <a:buFont typeface="Arial" panose="020B0604020202020204" pitchFamily="34" charset="0"/>
              <a:buChar char="•"/>
            </a:pPr>
            <a:r>
              <a:rPr lang="vi-VN" b="1" dirty="0"/>
              <a:t>Fail-arbitrary = Byzantine</a:t>
            </a:r>
            <a:r>
              <a:rPr lang="vi-VN" dirty="0"/>
              <a:t>, khó xử lý nhất, tốn tài nguyên nhất.</a:t>
            </a:r>
          </a:p>
          <a:p>
            <a:pPr>
              <a:buFont typeface="Arial" panose="020B0604020202020204" pitchFamily="34" charset="0"/>
              <a:buChar char="•"/>
            </a:pPr>
            <a:r>
              <a:rPr lang="vi-VN" b="1" dirty="0"/>
              <a:t>Fail-stop</a:t>
            </a:r>
            <a:r>
              <a:rPr lang="vi-VN" dirty="0"/>
              <a:t> là mô hình lỗi được ưu ái nhất vì đơn giản và dễ phát hiện.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12</a:t>
            </a:fld>
            <a:endParaRPr lang="en-US"/>
          </a:p>
        </p:txBody>
      </p:sp>
    </p:spTree>
    <p:extLst>
      <p:ext uri="{BB962C8B-B14F-4D97-AF65-F5344CB8AC3E}">
        <p14:creationId xmlns:p14="http://schemas.microsoft.com/office/powerpoint/2010/main" val="3486045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Redundancy for Failure Masking – Dư thừa để che giấu lỗi</a:t>
            </a:r>
          </a:p>
          <a:p>
            <a:r>
              <a:rPr lang="vi-VN" b="1" dirty="0"/>
              <a:t>Ý tưởng chính:</a:t>
            </a:r>
            <a:br>
              <a:rPr lang="vi-VN" dirty="0"/>
            </a:br>
            <a:r>
              <a:rPr lang="vi-VN" dirty="0"/>
              <a:t>Để hệ thống phân tán </a:t>
            </a:r>
            <a:r>
              <a:rPr lang="vi-VN" i="1" dirty="0"/>
              <a:t>chịu lỗi</a:t>
            </a:r>
            <a:r>
              <a:rPr lang="vi-VN" dirty="0"/>
              <a:t> (fault-tolerant), ta phải bổ sung </a:t>
            </a:r>
            <a:r>
              <a:rPr lang="vi-VN" b="1" dirty="0"/>
              <a:t>dư thừa</a:t>
            </a:r>
            <a:r>
              <a:rPr lang="vi-VN" dirty="0"/>
              <a:t> (redundancy).</a:t>
            </a:r>
            <a:br>
              <a:rPr lang="vi-VN" dirty="0"/>
            </a:br>
            <a:r>
              <a:rPr lang="vi-VN" dirty="0"/>
              <a:t>Khi một thành phần bị lỗi → phần dự phòng sẽ thay thế → </a:t>
            </a:r>
            <a:r>
              <a:rPr lang="vi-VN" b="1" dirty="0"/>
              <a:t>người dùng không nhận ra lỗi đã xảy ra</a:t>
            </a:r>
            <a:r>
              <a:rPr lang="vi-VN" dirty="0"/>
              <a:t> → gọi là </a:t>
            </a:r>
            <a:r>
              <a:rPr lang="vi-VN" i="1" dirty="0"/>
              <a:t>failure masking</a:t>
            </a:r>
            <a:r>
              <a:rPr lang="vi-VN" dirty="0"/>
              <a:t>.</a:t>
            </a:r>
          </a:p>
          <a:p>
            <a:r>
              <a:rPr lang="vi-VN" dirty="0"/>
              <a:t>Slide này liệt kê </a:t>
            </a:r>
            <a:r>
              <a:rPr lang="vi-VN" b="1" dirty="0"/>
              <a:t>3 dạng dư thừa phổ biến</a:t>
            </a:r>
            <a:r>
              <a:rPr lang="vi-VN" dirty="0"/>
              <a:t>.</a:t>
            </a:r>
          </a:p>
          <a:p>
            <a:r>
              <a:rPr lang="en-US" b="1" dirty="0"/>
              <a:t>1.</a:t>
            </a:r>
            <a:r>
              <a:rPr lang="vi-VN" b="1" dirty="0"/>
              <a:t> Information redundancy – Dư thừa thông tin</a:t>
            </a:r>
          </a:p>
          <a:p>
            <a:r>
              <a:rPr lang="en-US" dirty="0"/>
              <a:t>* </a:t>
            </a:r>
            <a:r>
              <a:rPr lang="vi-VN" b="1" dirty="0"/>
              <a:t>Ý nghĩa</a:t>
            </a:r>
            <a:br>
              <a:rPr lang="vi-VN" dirty="0"/>
            </a:br>
            <a:r>
              <a:rPr lang="vi-VN" dirty="0"/>
              <a:t>Ta thêm </a:t>
            </a:r>
            <a:r>
              <a:rPr lang="vi-VN" i="1" dirty="0"/>
              <a:t>bit phụ</a:t>
            </a:r>
            <a:r>
              <a:rPr lang="vi-VN" dirty="0"/>
              <a:t> hoặc </a:t>
            </a:r>
            <a:r>
              <a:rPr lang="vi-VN" i="1" dirty="0"/>
              <a:t>mã sửa lỗi</a:t>
            </a:r>
            <a:r>
              <a:rPr lang="vi-VN" dirty="0"/>
              <a:t> vào dữ liệu → nếu dữ liệu bị sai hỏng (bit flip, nhiễu…) ta có thể </a:t>
            </a:r>
            <a:r>
              <a:rPr lang="vi-VN" b="1" dirty="0"/>
              <a:t>phát hiện và sửa lại</a:t>
            </a:r>
            <a:r>
              <a:rPr lang="vi-VN" dirty="0"/>
              <a:t>.</a:t>
            </a:r>
          </a:p>
          <a:p>
            <a:r>
              <a:rPr lang="en-US" dirty="0"/>
              <a:t>* </a:t>
            </a:r>
            <a:r>
              <a:rPr lang="vi-VN" b="1" dirty="0"/>
              <a:t>Ứng dụng thực tế</a:t>
            </a:r>
            <a:r>
              <a:rPr lang="vi-VN" dirty="0"/>
              <a:t>:</a:t>
            </a:r>
          </a:p>
          <a:p>
            <a:pPr>
              <a:buFont typeface="Arial" panose="020B0604020202020204" pitchFamily="34" charset="0"/>
              <a:buChar char="•"/>
            </a:pPr>
            <a:r>
              <a:rPr lang="vi-VN" dirty="0"/>
              <a:t>Parity bit, checksum, CRC</a:t>
            </a:r>
          </a:p>
          <a:p>
            <a:pPr>
              <a:buFont typeface="Arial" panose="020B0604020202020204" pitchFamily="34" charset="0"/>
              <a:buChar char="•"/>
            </a:pPr>
            <a:r>
              <a:rPr lang="vi-VN" dirty="0"/>
              <a:t>ECC memory (RAM có khả năng sửa lỗi)</a:t>
            </a:r>
          </a:p>
          <a:p>
            <a:pPr>
              <a:buFont typeface="Arial" panose="020B0604020202020204" pitchFamily="34" charset="0"/>
              <a:buChar char="•"/>
            </a:pPr>
            <a:r>
              <a:rPr lang="vi-VN" dirty="0"/>
              <a:t>RAID 5/6 (sử dụng parity để phục hồi dữ liệu khi ổ đĩa hỏng)</a:t>
            </a:r>
          </a:p>
          <a:p>
            <a:r>
              <a:rPr lang="en-US" dirty="0"/>
              <a:t>* </a:t>
            </a:r>
            <a:r>
              <a:rPr lang="vi-VN" b="1" dirty="0"/>
              <a:t>Vì sao cần?</a:t>
            </a:r>
            <a:br>
              <a:rPr lang="vi-VN" dirty="0"/>
            </a:br>
            <a:r>
              <a:rPr lang="vi-VN" dirty="0"/>
              <a:t>Trong môi trường truyền thông và lưu trữ phân tán, lỗi bit (bit errors) xảy ra thường xuyên.</a:t>
            </a:r>
            <a:br>
              <a:rPr lang="vi-VN" dirty="0"/>
            </a:br>
            <a:r>
              <a:rPr lang="vi-VN" dirty="0"/>
              <a:t>Dư thừa thông tin giúp </a:t>
            </a:r>
            <a:r>
              <a:rPr lang="vi-VN" b="1" dirty="0"/>
              <a:t>phát hiện &amp; phục hồi dữ liệu</a:t>
            </a:r>
            <a:r>
              <a:rPr lang="vi-VN" dirty="0"/>
              <a:t> mà không cần gửi lại.</a:t>
            </a:r>
          </a:p>
          <a:p>
            <a:r>
              <a:rPr lang="en-US" dirty="0"/>
              <a:t>=&gt;</a:t>
            </a:r>
            <a:r>
              <a:rPr lang="vi-VN" dirty="0"/>
              <a:t> Đây là loại dư thừa </a:t>
            </a:r>
            <a:r>
              <a:rPr lang="vi-VN" b="1" dirty="0"/>
              <a:t>rẻ</a:t>
            </a:r>
            <a:r>
              <a:rPr lang="vi-VN" dirty="0"/>
              <a:t> nhưng cực kỳ hiệu quả cho dữ liệu.</a:t>
            </a:r>
          </a:p>
          <a:p>
            <a:r>
              <a:rPr lang="en-US" b="1" dirty="0"/>
              <a:t>2.</a:t>
            </a:r>
            <a:r>
              <a:rPr lang="vi-VN" b="1" dirty="0"/>
              <a:t> Time redundancy – Dư thừa thời gian</a:t>
            </a:r>
          </a:p>
          <a:p>
            <a:r>
              <a:rPr lang="en-US" dirty="0"/>
              <a:t>* </a:t>
            </a:r>
            <a:r>
              <a:rPr lang="vi-VN" b="1" dirty="0"/>
              <a:t>Ý nghĩa</a:t>
            </a:r>
            <a:br>
              <a:rPr lang="vi-VN" dirty="0"/>
            </a:br>
            <a:r>
              <a:rPr lang="vi-VN" dirty="0"/>
              <a:t>Hệ thống được thiết kế sao cho </a:t>
            </a:r>
            <a:r>
              <a:rPr lang="vi-VN" b="1" dirty="0"/>
              <a:t>một hành động có thể lặp lại</a:t>
            </a:r>
            <a:r>
              <a:rPr lang="vi-VN" dirty="0"/>
              <a:t> nếu lần đầu bị lỗi.</a:t>
            </a:r>
          </a:p>
          <a:p>
            <a:r>
              <a:rPr lang="vi-VN" dirty="0"/>
              <a:t>Thích hợp cho lỗi:</a:t>
            </a:r>
          </a:p>
          <a:p>
            <a:pPr>
              <a:buFont typeface="Arial" panose="020B0604020202020204" pitchFamily="34" charset="0"/>
              <a:buChar char="•"/>
            </a:pPr>
            <a:r>
              <a:rPr lang="vi-VN" i="1" dirty="0"/>
              <a:t>tạm thời</a:t>
            </a:r>
            <a:r>
              <a:rPr lang="vi-VN" dirty="0"/>
              <a:t> (transient faults)</a:t>
            </a:r>
          </a:p>
          <a:p>
            <a:pPr>
              <a:buFont typeface="Arial" panose="020B0604020202020204" pitchFamily="34" charset="0"/>
              <a:buChar char="•"/>
            </a:pPr>
            <a:r>
              <a:rPr lang="vi-VN" i="1" dirty="0"/>
              <a:t>không liên tục</a:t>
            </a:r>
            <a:r>
              <a:rPr lang="vi-VN" dirty="0"/>
              <a:t> (intermittent faults)</a:t>
            </a:r>
          </a:p>
          <a:p>
            <a:r>
              <a:rPr lang="en-US" dirty="0"/>
              <a:t>* </a:t>
            </a:r>
            <a:r>
              <a:rPr lang="vi-VN" b="1" dirty="0"/>
              <a:t>Ví dụ thực tế</a:t>
            </a:r>
            <a:r>
              <a:rPr lang="vi-VN" dirty="0"/>
              <a:t>:</a:t>
            </a:r>
          </a:p>
          <a:p>
            <a:pPr>
              <a:buFont typeface="Arial" panose="020B0604020202020204" pitchFamily="34" charset="0"/>
              <a:buChar char="•"/>
            </a:pPr>
            <a:r>
              <a:rPr lang="vi-VN" dirty="0"/>
              <a:t>Retry khi gửi gói tin bị mất (TCP tự động retransmit)</a:t>
            </a:r>
          </a:p>
          <a:p>
            <a:pPr>
              <a:buFont typeface="Arial" panose="020B0604020202020204" pitchFamily="34" charset="0"/>
              <a:buChar char="•"/>
            </a:pPr>
            <a:r>
              <a:rPr lang="vi-VN" dirty="0"/>
              <a:t>Chạy lại một tác vụ bị lỗi trong hệ thống distributed job scheduling (MapReduce retry)</a:t>
            </a:r>
          </a:p>
          <a:p>
            <a:pPr>
              <a:buFont typeface="Arial" panose="020B0604020202020204" pitchFamily="34" charset="0"/>
              <a:buChar char="•"/>
            </a:pPr>
            <a:r>
              <a:rPr lang="vi-VN" dirty="0"/>
              <a:t>Kiểm tra lại kết quả tính toán khi nghi ngờ có lỗi phần cứng</a:t>
            </a:r>
          </a:p>
          <a:p>
            <a:pPr marL="171450" indent="-171450">
              <a:buFont typeface="Arial" panose="020B0604020202020204" pitchFamily="34" charset="0"/>
              <a:buChar char="•"/>
            </a:pPr>
            <a:r>
              <a:rPr lang="vi-VN" b="1" dirty="0"/>
              <a:t>Vì sao dùng?</a:t>
            </a:r>
            <a:br>
              <a:rPr lang="vi-VN" dirty="0"/>
            </a:br>
            <a:r>
              <a:rPr lang="vi-VN" dirty="0"/>
              <a:t>Nhiều lỗi trong hệ thống phân tán là tạm thời:</a:t>
            </a:r>
            <a:endParaRPr lang="en-US" dirty="0"/>
          </a:p>
          <a:p>
            <a:pPr marL="0" indent="0">
              <a:buFont typeface="Arial" panose="020B0604020202020204" pitchFamily="34" charset="0"/>
              <a:buNone/>
            </a:pPr>
            <a:r>
              <a:rPr lang="en-US" dirty="0"/>
              <a:t>	+ </a:t>
            </a:r>
            <a:r>
              <a:rPr lang="vi-VN" dirty="0"/>
              <a:t>nhiễu mạng</a:t>
            </a:r>
            <a:endParaRPr lang="en-US" dirty="0"/>
          </a:p>
          <a:p>
            <a:pPr marL="0" indent="0">
              <a:buFont typeface="Arial" panose="020B0604020202020204" pitchFamily="34" charset="0"/>
              <a:buNone/>
            </a:pPr>
            <a:r>
              <a:rPr lang="en-US" dirty="0"/>
              <a:t>    	+ </a:t>
            </a:r>
            <a:r>
              <a:rPr lang="vi-VN" dirty="0"/>
              <a:t> spike điện</a:t>
            </a:r>
            <a:endParaRPr lang="en-US" dirty="0"/>
          </a:p>
          <a:p>
            <a:pPr marL="0" indent="0">
              <a:buFont typeface="Arial" panose="020B0604020202020204" pitchFamily="34" charset="0"/>
              <a:buNone/>
            </a:pPr>
            <a:r>
              <a:rPr lang="en-US" dirty="0"/>
              <a:t>	+ </a:t>
            </a:r>
            <a:r>
              <a:rPr lang="vi-VN" dirty="0"/>
              <a:t>xung đột tài nguyên…</a:t>
            </a:r>
            <a:br>
              <a:rPr lang="vi-VN" dirty="0"/>
            </a:br>
            <a:r>
              <a:rPr lang="vi-VN" dirty="0"/>
              <a:t>Lặp lại thao tác giúp che lỗi mà không cần thêm phần cứng.</a:t>
            </a:r>
          </a:p>
          <a:p>
            <a:r>
              <a:rPr lang="en-US" dirty="0"/>
              <a:t>=&gt;</a:t>
            </a:r>
            <a:r>
              <a:rPr lang="vi-VN" dirty="0"/>
              <a:t> Loại dư thừa này </a:t>
            </a:r>
            <a:r>
              <a:rPr lang="vi-VN" b="1" dirty="0"/>
              <a:t>dùng thời gian để thay thế tài nguyên</a:t>
            </a:r>
            <a:r>
              <a:rPr lang="vi-VN" dirty="0"/>
              <a:t>.</a:t>
            </a:r>
          </a:p>
          <a:p>
            <a:r>
              <a:rPr lang="en-US" b="1" dirty="0"/>
              <a:t>3.</a:t>
            </a:r>
            <a:r>
              <a:rPr lang="vi-VN" b="1" dirty="0"/>
              <a:t> Physical redundancy – Dư thừa vật lý</a:t>
            </a:r>
          </a:p>
          <a:p>
            <a:r>
              <a:rPr lang="en-US" dirty="0"/>
              <a:t>* </a:t>
            </a:r>
            <a:r>
              <a:rPr lang="vi-VN" b="1" dirty="0"/>
              <a:t>Ý nghĩa</a:t>
            </a:r>
            <a:br>
              <a:rPr lang="vi-VN" dirty="0"/>
            </a:br>
            <a:r>
              <a:rPr lang="vi-VN" dirty="0"/>
              <a:t>Thêm </a:t>
            </a:r>
            <a:r>
              <a:rPr lang="vi-VN" b="1" dirty="0"/>
              <a:t>phần cứng, thiết bị, hoặc tiến trình dự phòng</a:t>
            </a:r>
            <a:r>
              <a:rPr lang="vi-VN" dirty="0"/>
              <a:t> để đảm bảo hệ thống vẫn chạy khi một hoặc nhiều thành phần hỏng.</a:t>
            </a:r>
          </a:p>
          <a:p>
            <a:r>
              <a:rPr lang="en-US" dirty="0"/>
              <a:t>* </a:t>
            </a:r>
            <a:r>
              <a:rPr lang="vi-VN" b="1" dirty="0"/>
              <a:t>Ví dụ thực tế</a:t>
            </a:r>
            <a:r>
              <a:rPr lang="vi-VN" dirty="0"/>
              <a:t>:</a:t>
            </a:r>
          </a:p>
          <a:p>
            <a:pPr>
              <a:buFont typeface="Arial" panose="020B0604020202020204" pitchFamily="34" charset="0"/>
              <a:buChar char="•"/>
            </a:pPr>
            <a:r>
              <a:rPr lang="vi-VN" dirty="0"/>
              <a:t>Nhiều server chạy cùng một dịch vụ (load balancing)</a:t>
            </a:r>
          </a:p>
          <a:p>
            <a:pPr>
              <a:buFont typeface="Arial" panose="020B0604020202020204" pitchFamily="34" charset="0"/>
              <a:buChar char="•"/>
            </a:pPr>
            <a:r>
              <a:rPr lang="vi-VN" dirty="0"/>
              <a:t>Primary–backup replication</a:t>
            </a:r>
          </a:p>
          <a:p>
            <a:pPr>
              <a:buFont typeface="Arial" panose="020B0604020202020204" pitchFamily="34" charset="0"/>
              <a:buChar char="•"/>
            </a:pPr>
            <a:r>
              <a:rPr lang="vi-VN" dirty="0"/>
              <a:t>Nhiều node lưu cùng bản sao dữ liệu (replication)</a:t>
            </a:r>
          </a:p>
          <a:p>
            <a:pPr>
              <a:buFont typeface="Arial" panose="020B0604020202020204" pitchFamily="34" charset="0"/>
              <a:buChar char="•"/>
            </a:pPr>
            <a:r>
              <a:rPr lang="vi-VN" dirty="0"/>
              <a:t>Nhiều router chạy song song để tránh nghẽn hoặc hỏng</a:t>
            </a:r>
          </a:p>
          <a:p>
            <a:r>
              <a:rPr lang="en-US" dirty="0"/>
              <a:t>* </a:t>
            </a:r>
            <a:r>
              <a:rPr lang="vi-VN" b="1" dirty="0"/>
              <a:t>Vì sao quan trọng nhất trong hệ thống phân tán?</a:t>
            </a:r>
            <a:br>
              <a:rPr lang="vi-VN" dirty="0"/>
            </a:br>
            <a:r>
              <a:rPr lang="vi-VN" dirty="0"/>
              <a:t>Hệ thống phân tán thường chạy trên </a:t>
            </a:r>
            <a:r>
              <a:rPr lang="vi-VN" b="1" dirty="0"/>
              <a:t>hàng trăm – hàng nghìn node</a:t>
            </a:r>
            <a:r>
              <a:rPr lang="vi-VN" dirty="0"/>
              <a:t>, xác suất hỏng hóc luôn tồn tại.</a:t>
            </a:r>
            <a:br>
              <a:rPr lang="vi-VN" dirty="0"/>
            </a:br>
            <a:r>
              <a:rPr lang="vi-VN" dirty="0"/>
              <a:t>Chỉ có cách </a:t>
            </a:r>
            <a:r>
              <a:rPr lang="vi-VN" b="1" dirty="0"/>
              <a:t>nhân bản</a:t>
            </a:r>
            <a:r>
              <a:rPr lang="vi-VN" dirty="0"/>
              <a:t> thành phần ra để sống sót khi node chết.</a:t>
            </a:r>
          </a:p>
          <a:p>
            <a:r>
              <a:rPr lang="en-US" dirty="0"/>
              <a:t>=&gt;</a:t>
            </a:r>
            <a:r>
              <a:rPr lang="vi-VN" dirty="0"/>
              <a:t> Đây là loại dư thừa </a:t>
            </a:r>
            <a:r>
              <a:rPr lang="vi-VN" b="1" dirty="0"/>
              <a:t>đắt nhất</a:t>
            </a:r>
            <a:r>
              <a:rPr lang="vi-VN" dirty="0"/>
              <a:t>, nhưng cũng </a:t>
            </a:r>
            <a:r>
              <a:rPr lang="vi-VN" b="1" dirty="0"/>
              <a:t>quan trọng nhất</a:t>
            </a:r>
            <a:r>
              <a:rPr lang="vi-VN" dirty="0"/>
              <a:t> trong distributed systems.</a:t>
            </a:r>
          </a:p>
          <a:p>
            <a:endParaRPr lang="en-US" b="1" dirty="0"/>
          </a:p>
          <a:p>
            <a:r>
              <a:rPr lang="en-US" b="1" dirty="0"/>
              <a:t>** </a:t>
            </a:r>
            <a:r>
              <a:rPr lang="en-US" b="1" dirty="0" err="1"/>
              <a:t>Tóm</a:t>
            </a:r>
            <a:r>
              <a:rPr lang="en-US" b="1" dirty="0"/>
              <a:t> </a:t>
            </a:r>
            <a:r>
              <a:rPr lang="en-US" b="1" dirty="0" err="1"/>
              <a:t>tắt</a:t>
            </a:r>
            <a:endParaRPr lang="vi-VN" b="1" dirty="0"/>
          </a:p>
          <a:p>
            <a:r>
              <a:rPr lang="vi-VN" dirty="0"/>
              <a:t>Loại dư thừa</a:t>
            </a:r>
            <a:r>
              <a:rPr lang="en-US" dirty="0"/>
              <a:t>		</a:t>
            </a:r>
            <a:r>
              <a:rPr lang="vi-VN" dirty="0"/>
              <a:t>Ý chính</a:t>
            </a:r>
            <a:r>
              <a:rPr lang="en-US" dirty="0"/>
              <a:t>		</a:t>
            </a:r>
            <a:r>
              <a:rPr lang="vi-VN" dirty="0"/>
              <a:t>Ví dụ</a:t>
            </a:r>
            <a:r>
              <a:rPr lang="en-US" dirty="0"/>
              <a:t>		</a:t>
            </a:r>
            <a:r>
              <a:rPr lang="vi-VN" dirty="0"/>
              <a:t>Mục đích</a:t>
            </a:r>
            <a:endParaRPr lang="en-US" dirty="0"/>
          </a:p>
          <a:p>
            <a:r>
              <a:rPr lang="vi-VN" b="1" dirty="0"/>
              <a:t>Information redundancy</a:t>
            </a:r>
            <a:r>
              <a:rPr lang="en-US" b="1" dirty="0"/>
              <a:t>	</a:t>
            </a:r>
            <a:r>
              <a:rPr lang="vi-VN" dirty="0"/>
              <a:t>Thêm bit/mã để sửa lỗi</a:t>
            </a:r>
            <a:r>
              <a:rPr lang="en-US" dirty="0"/>
              <a:t>	</a:t>
            </a:r>
            <a:r>
              <a:rPr lang="vi-VN" dirty="0"/>
              <a:t>parity, CRC, ECC</a:t>
            </a:r>
            <a:r>
              <a:rPr lang="en-US" dirty="0"/>
              <a:t>	</a:t>
            </a:r>
            <a:r>
              <a:rPr lang="vi-VN" dirty="0"/>
              <a:t>Bảo vệ dữ liệu</a:t>
            </a:r>
            <a:endParaRPr lang="en-US" dirty="0"/>
          </a:p>
          <a:p>
            <a:r>
              <a:rPr lang="vi-VN" b="1" dirty="0"/>
              <a:t>Time redundancy</a:t>
            </a:r>
            <a:r>
              <a:rPr lang="en-US" b="1" dirty="0"/>
              <a:t>	</a:t>
            </a:r>
            <a:r>
              <a:rPr lang="vi-VN" dirty="0"/>
              <a:t>Làm lại khi lỗi tạm thời</a:t>
            </a:r>
            <a:r>
              <a:rPr lang="en-US" dirty="0"/>
              <a:t>	</a:t>
            </a:r>
            <a:r>
              <a:rPr lang="vi-VN" dirty="0"/>
              <a:t>retry, re-execute</a:t>
            </a:r>
            <a:r>
              <a:rPr lang="en-US" dirty="0"/>
              <a:t>	</a:t>
            </a:r>
            <a:r>
              <a:rPr lang="vi-VN" dirty="0"/>
              <a:t>Bù lỗi ngắn hạn</a:t>
            </a:r>
            <a:endParaRPr lang="en-US" dirty="0"/>
          </a:p>
          <a:p>
            <a:r>
              <a:rPr lang="vi-VN" b="1" dirty="0"/>
              <a:t>Physical redundancy</a:t>
            </a:r>
            <a:r>
              <a:rPr lang="en-US" b="1" dirty="0"/>
              <a:t>	</a:t>
            </a:r>
            <a:r>
              <a:rPr lang="vi-VN" dirty="0"/>
              <a:t>Thêm server/thiết bị</a:t>
            </a:r>
            <a:r>
              <a:rPr lang="en-US" dirty="0"/>
              <a:t>	</a:t>
            </a:r>
            <a:r>
              <a:rPr lang="vi-VN" dirty="0"/>
              <a:t>replication, backup</a:t>
            </a:r>
            <a:r>
              <a:rPr lang="en-US" dirty="0"/>
              <a:t>	</a:t>
            </a:r>
            <a:r>
              <a:rPr lang="vi-VN" dirty="0"/>
              <a:t>Chịu lỗi phần cứng, sập node</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13</a:t>
            </a:fld>
            <a:endParaRPr lang="en-US"/>
          </a:p>
        </p:txBody>
      </p:sp>
    </p:spTree>
    <p:extLst>
      <p:ext uri="{BB962C8B-B14F-4D97-AF65-F5344CB8AC3E}">
        <p14:creationId xmlns:p14="http://schemas.microsoft.com/office/powerpoint/2010/main" val="2575279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Process resilience – Khả năng chống lỗi của tiến trình</a:t>
            </a:r>
          </a:p>
          <a:p>
            <a:r>
              <a:rPr lang="vi-VN" b="1" dirty="0"/>
              <a:t>Ý tưởng cơ bản (Basic idea)</a:t>
            </a:r>
          </a:p>
          <a:p>
            <a:r>
              <a:rPr lang="vi-VN" dirty="0"/>
              <a:t>Trong hệ thống phân tán, một tiến trình bất kỳ có thể </a:t>
            </a:r>
            <a:r>
              <a:rPr lang="vi-VN" b="1" dirty="0"/>
              <a:t>hỏng</a:t>
            </a:r>
            <a:r>
              <a:rPr lang="vi-VN" dirty="0"/>
              <a:t> (malfunctioning process).</a:t>
            </a:r>
            <a:br>
              <a:rPr lang="vi-VN" dirty="0"/>
            </a:br>
            <a:r>
              <a:rPr lang="vi-VN" dirty="0"/>
              <a:t>Để đảm bảo hệ thống vẫn hoạt động bình thường dù một tiến trình bị lỗi, ta sử dụng:</a:t>
            </a:r>
          </a:p>
          <a:p>
            <a:r>
              <a:rPr lang="en-US" dirty="0"/>
              <a:t>=&gt;</a:t>
            </a:r>
            <a:r>
              <a:rPr lang="vi-VN" dirty="0"/>
              <a:t> </a:t>
            </a:r>
            <a:r>
              <a:rPr lang="vi-VN" b="1" dirty="0"/>
              <a:t>Process replication</a:t>
            </a:r>
            <a:r>
              <a:rPr lang="vi-VN" dirty="0"/>
              <a:t> – nhân bản tiến trình</a:t>
            </a:r>
            <a:br>
              <a:rPr lang="vi-VN" dirty="0"/>
            </a:br>
            <a:r>
              <a:rPr lang="en-US" dirty="0"/>
              <a:t>=&gt;</a:t>
            </a:r>
            <a:r>
              <a:rPr lang="vi-VN" dirty="0"/>
              <a:t> Gom nhiều bản sao tiến trình vào một </a:t>
            </a:r>
            <a:r>
              <a:rPr lang="vi-VN" b="1" dirty="0"/>
              <a:t>process group</a:t>
            </a:r>
            <a:endParaRPr lang="vi-VN" dirty="0"/>
          </a:p>
          <a:p>
            <a:r>
              <a:rPr lang="vi-VN" dirty="0"/>
              <a:t>Khi một bản sao hỏng → bản sao khác tiếp tục thay thế → hệ thống </a:t>
            </a:r>
            <a:r>
              <a:rPr lang="vi-VN" b="1" dirty="0"/>
              <a:t>không gián đoạn</a:t>
            </a:r>
            <a:r>
              <a:rPr lang="vi-VN" dirty="0"/>
              <a:t>.</a:t>
            </a:r>
          </a:p>
          <a:p>
            <a:endParaRPr lang="en-US" b="1" dirty="0"/>
          </a:p>
          <a:p>
            <a:r>
              <a:rPr lang="en-US" b="1" dirty="0"/>
              <a:t>***</a:t>
            </a:r>
            <a:r>
              <a:rPr lang="vi-VN" b="1" dirty="0"/>
              <a:t>Hai mô hình tổ chức nhóm (process groups)</a:t>
            </a:r>
          </a:p>
          <a:p>
            <a:r>
              <a:rPr lang="vi-VN" dirty="0"/>
              <a:t>Slide phân biệt </a:t>
            </a:r>
            <a:r>
              <a:rPr lang="vi-VN" b="1" dirty="0"/>
              <a:t>2 loại nhóm chịu lỗi</a:t>
            </a:r>
            <a:r>
              <a:rPr lang="vi-VN" dirty="0"/>
              <a:t>:</a:t>
            </a:r>
          </a:p>
          <a:p>
            <a:r>
              <a:rPr lang="en-US" b="1" dirty="0"/>
              <a:t>1.</a:t>
            </a:r>
            <a:r>
              <a:rPr lang="vi-VN" b="1" dirty="0"/>
              <a:t> Flat group – Nhóm phẳng</a:t>
            </a:r>
          </a:p>
          <a:p>
            <a:r>
              <a:rPr lang="en-US" dirty="0"/>
              <a:t>*</a:t>
            </a:r>
            <a:r>
              <a:rPr lang="vi-VN" dirty="0"/>
              <a:t> Đặc điểm:</a:t>
            </a:r>
          </a:p>
          <a:p>
            <a:pPr>
              <a:buFont typeface="Arial" panose="020B0604020202020204" pitchFamily="34" charset="0"/>
              <a:buChar char="•"/>
            </a:pPr>
            <a:r>
              <a:rPr lang="vi-VN" dirty="0"/>
              <a:t>Tất cả các tiến trình trong nhóm </a:t>
            </a:r>
            <a:r>
              <a:rPr lang="vi-VN" b="1" dirty="0"/>
              <a:t>ngang hàng</a:t>
            </a:r>
            <a:r>
              <a:rPr lang="vi-VN" dirty="0"/>
              <a:t>, không có tiến trình lãnh đạo.</a:t>
            </a:r>
          </a:p>
          <a:p>
            <a:pPr>
              <a:buFont typeface="Arial" panose="020B0604020202020204" pitchFamily="34" charset="0"/>
              <a:buChar char="•"/>
            </a:pPr>
            <a:r>
              <a:rPr lang="vi-VN" dirty="0"/>
              <a:t>Mọi tiến trình đều có thể giao tiếp với nhau (fully connected).</a:t>
            </a:r>
          </a:p>
          <a:p>
            <a:pPr>
              <a:buFont typeface="Arial" panose="020B0604020202020204" pitchFamily="34" charset="0"/>
              <a:buChar char="•"/>
            </a:pPr>
            <a:r>
              <a:rPr lang="vi-VN" dirty="0"/>
              <a:t>Quyết định hoặc đồng thuận thường dựa trên </a:t>
            </a:r>
            <a:r>
              <a:rPr lang="vi-VN" b="1" dirty="0"/>
              <a:t>voting</a:t>
            </a:r>
            <a:r>
              <a:rPr lang="vi-VN" dirty="0"/>
              <a:t>, </a:t>
            </a:r>
            <a:r>
              <a:rPr lang="vi-VN" b="1" dirty="0"/>
              <a:t>majority</a:t>
            </a:r>
            <a:r>
              <a:rPr lang="vi-VN" dirty="0"/>
              <a:t>, hoặc </a:t>
            </a:r>
            <a:r>
              <a:rPr lang="vi-VN" b="1" dirty="0"/>
              <a:t>broadcast</a:t>
            </a:r>
            <a:r>
              <a:rPr lang="vi-VN" dirty="0"/>
              <a:t>.</a:t>
            </a:r>
          </a:p>
          <a:p>
            <a:r>
              <a:rPr lang="en-US" dirty="0"/>
              <a:t>*</a:t>
            </a:r>
            <a:r>
              <a:rPr lang="vi-VN" dirty="0"/>
              <a:t> Ưu điểm:</a:t>
            </a:r>
          </a:p>
          <a:p>
            <a:pPr>
              <a:buFont typeface="Arial" panose="020B0604020202020204" pitchFamily="34" charset="0"/>
              <a:buChar char="•"/>
            </a:pPr>
            <a:r>
              <a:rPr lang="vi-VN" dirty="0"/>
              <a:t>Không có điểm lỗi duy nhất (no single point of failure).</a:t>
            </a:r>
          </a:p>
          <a:p>
            <a:pPr>
              <a:buFont typeface="Arial" panose="020B0604020202020204" pitchFamily="34" charset="0"/>
              <a:buChar char="•"/>
            </a:pPr>
            <a:r>
              <a:rPr lang="vi-VN" dirty="0"/>
              <a:t>Phù hợp khi muốn mức chịu lỗi cao.</a:t>
            </a:r>
          </a:p>
          <a:p>
            <a:r>
              <a:rPr lang="en-US" dirty="0"/>
              <a:t>*</a:t>
            </a:r>
            <a:r>
              <a:rPr lang="vi-VN" dirty="0"/>
              <a:t> Nhược điểm:</a:t>
            </a:r>
          </a:p>
          <a:p>
            <a:pPr>
              <a:buFont typeface="Arial" panose="020B0604020202020204" pitchFamily="34" charset="0"/>
              <a:buChar char="•"/>
            </a:pPr>
            <a:r>
              <a:rPr lang="vi-VN" dirty="0"/>
              <a:t>Tốn chi phí giao tiếp (n tiến trình → O(n²) kết nối).</a:t>
            </a:r>
          </a:p>
          <a:p>
            <a:pPr>
              <a:buFont typeface="Arial" panose="020B0604020202020204" pitchFamily="34" charset="0"/>
              <a:buChar char="•"/>
            </a:pPr>
            <a:r>
              <a:rPr lang="vi-VN" dirty="0"/>
              <a:t>Khó điều phối khi nhóm lớn.</a:t>
            </a:r>
          </a:p>
          <a:p>
            <a:r>
              <a:rPr lang="en-US" dirty="0"/>
              <a:t>*</a:t>
            </a:r>
            <a:r>
              <a:rPr lang="vi-VN" dirty="0"/>
              <a:t> Ví dụ:</a:t>
            </a:r>
          </a:p>
          <a:p>
            <a:pPr>
              <a:buFont typeface="Arial" panose="020B0604020202020204" pitchFamily="34" charset="0"/>
              <a:buChar char="•"/>
            </a:pPr>
            <a:r>
              <a:rPr lang="vi-VN" dirty="0"/>
              <a:t>Hệ thống multicast nhóm như ISIS Group</a:t>
            </a:r>
          </a:p>
          <a:p>
            <a:pPr>
              <a:buFont typeface="Arial" panose="020B0604020202020204" pitchFamily="34" charset="0"/>
              <a:buChar char="•"/>
            </a:pPr>
            <a:r>
              <a:rPr lang="vi-VN" dirty="0"/>
              <a:t>BFT systems (Byzantine Fault Tolerance)</a:t>
            </a:r>
          </a:p>
          <a:p>
            <a:r>
              <a:rPr lang="en-US" b="1" dirty="0"/>
              <a:t>2.</a:t>
            </a:r>
            <a:r>
              <a:rPr lang="vi-VN" b="1" dirty="0"/>
              <a:t> Hierarchical group – Nhóm phân cấp</a:t>
            </a:r>
          </a:p>
          <a:p>
            <a:r>
              <a:rPr lang="en-US" dirty="0"/>
              <a:t>*</a:t>
            </a:r>
            <a:r>
              <a:rPr lang="vi-VN" dirty="0"/>
              <a:t> Đặc điểm:</a:t>
            </a:r>
          </a:p>
          <a:p>
            <a:pPr>
              <a:buFont typeface="Arial" panose="020B0604020202020204" pitchFamily="34" charset="0"/>
              <a:buChar char="•"/>
            </a:pPr>
            <a:r>
              <a:rPr lang="vi-VN" dirty="0"/>
              <a:t>Có một tiến trình </a:t>
            </a:r>
            <a:r>
              <a:rPr lang="vi-VN" b="1" dirty="0"/>
              <a:t>coordinator</a:t>
            </a:r>
            <a:r>
              <a:rPr lang="vi-VN" dirty="0"/>
              <a:t> (đóng vai trò primary hoặc leader).</a:t>
            </a:r>
          </a:p>
          <a:p>
            <a:pPr>
              <a:buFont typeface="Arial" panose="020B0604020202020204" pitchFamily="34" charset="0"/>
              <a:buChar char="•"/>
            </a:pPr>
            <a:r>
              <a:rPr lang="vi-VN" dirty="0"/>
              <a:t>Các tiến trình còn lại là </a:t>
            </a:r>
            <a:r>
              <a:rPr lang="vi-VN" b="1" dirty="0"/>
              <a:t>workers</a:t>
            </a:r>
            <a:r>
              <a:rPr lang="vi-VN" dirty="0"/>
              <a:t> (backup hoặc secondary).</a:t>
            </a:r>
          </a:p>
          <a:p>
            <a:pPr>
              <a:buFont typeface="Arial" panose="020B0604020202020204" pitchFamily="34" charset="0"/>
              <a:buChar char="•"/>
            </a:pPr>
            <a:r>
              <a:rPr lang="vi-VN" dirty="0"/>
              <a:t>Worker gửi báo cáo về coordinator; coordinator quyết định và phân phối nhiệm vụ.</a:t>
            </a:r>
          </a:p>
          <a:p>
            <a:r>
              <a:rPr lang="en-US" dirty="0"/>
              <a:t>*</a:t>
            </a:r>
            <a:r>
              <a:rPr lang="vi-VN" dirty="0"/>
              <a:t> Ưu điểm:</a:t>
            </a:r>
          </a:p>
          <a:p>
            <a:pPr>
              <a:buFont typeface="Arial" panose="020B0604020202020204" pitchFamily="34" charset="0"/>
              <a:buChar char="•"/>
            </a:pPr>
            <a:r>
              <a:rPr lang="vi-VN" dirty="0"/>
              <a:t>Giao tiếp đơn giản hơn → hiệu năng cao.</a:t>
            </a:r>
          </a:p>
          <a:p>
            <a:pPr>
              <a:buFont typeface="Arial" panose="020B0604020202020204" pitchFamily="34" charset="0"/>
              <a:buChar char="•"/>
            </a:pPr>
            <a:r>
              <a:rPr lang="vi-VN" dirty="0"/>
              <a:t>Dễ quản lý, dễ thêm/quản lý nodes.</a:t>
            </a:r>
          </a:p>
          <a:p>
            <a:r>
              <a:rPr lang="en-US" dirty="0"/>
              <a:t>*</a:t>
            </a:r>
            <a:r>
              <a:rPr lang="vi-VN" dirty="0"/>
              <a:t> Nhược điểm:</a:t>
            </a:r>
          </a:p>
          <a:p>
            <a:pPr>
              <a:buFont typeface="Arial" panose="020B0604020202020204" pitchFamily="34" charset="0"/>
              <a:buChar char="•"/>
            </a:pPr>
            <a:r>
              <a:rPr lang="vi-VN" b="1" dirty="0"/>
              <a:t>Coordinator là single point of failure</a:t>
            </a:r>
            <a:r>
              <a:rPr lang="vi-VN" dirty="0"/>
              <a:t> → nếu nó chết, hệ thống cần bầu lại leader (leader election).</a:t>
            </a:r>
          </a:p>
          <a:p>
            <a:r>
              <a:rPr lang="en-US" dirty="0"/>
              <a:t>*</a:t>
            </a:r>
            <a:r>
              <a:rPr lang="vi-VN" dirty="0"/>
              <a:t> Ví dụ:</a:t>
            </a:r>
          </a:p>
          <a:p>
            <a:pPr>
              <a:buFont typeface="Arial" panose="020B0604020202020204" pitchFamily="34" charset="0"/>
              <a:buChar char="•"/>
            </a:pPr>
            <a:r>
              <a:rPr lang="vi-VN" dirty="0"/>
              <a:t>Primary–backup replication</a:t>
            </a:r>
          </a:p>
          <a:p>
            <a:pPr>
              <a:buFont typeface="Arial" panose="020B0604020202020204" pitchFamily="34" charset="0"/>
              <a:buChar char="•"/>
            </a:pPr>
            <a:r>
              <a:rPr lang="vi-VN" dirty="0"/>
              <a:t>Google MapReduce (master–workers)</a:t>
            </a:r>
          </a:p>
          <a:p>
            <a:pPr>
              <a:buFont typeface="Arial" panose="020B0604020202020204" pitchFamily="34" charset="0"/>
              <a:buChar char="•"/>
            </a:pPr>
            <a:r>
              <a:rPr lang="vi-VN" dirty="0"/>
              <a:t>HDFS NameNode (master), DataNodes (workers)</a:t>
            </a:r>
          </a:p>
          <a:p>
            <a:endParaRPr lang="en-US" b="1" dirty="0"/>
          </a:p>
          <a:p>
            <a:r>
              <a:rPr lang="en-US" b="1" dirty="0"/>
              <a:t>**</a:t>
            </a:r>
            <a:r>
              <a:rPr lang="vi-VN" b="1" dirty="0"/>
              <a:t> So sánh nhanh</a:t>
            </a:r>
          </a:p>
          <a:p>
            <a:r>
              <a:rPr lang="vi-VN" dirty="0"/>
              <a:t>Tiêu chí</a:t>
            </a:r>
            <a:r>
              <a:rPr lang="en-US" dirty="0"/>
              <a:t>		</a:t>
            </a:r>
            <a:r>
              <a:rPr lang="vi-VN" dirty="0"/>
              <a:t>Flat group</a:t>
            </a:r>
            <a:r>
              <a:rPr lang="en-US" dirty="0"/>
              <a:t>	</a:t>
            </a:r>
            <a:r>
              <a:rPr lang="vi-VN" dirty="0"/>
              <a:t>Hierarchical group</a:t>
            </a:r>
            <a:endParaRPr lang="en-US" dirty="0"/>
          </a:p>
          <a:p>
            <a:r>
              <a:rPr lang="vi-VN" dirty="0"/>
              <a:t>Cấu trúc</a:t>
            </a:r>
            <a:r>
              <a:rPr lang="en-US" dirty="0"/>
              <a:t>		</a:t>
            </a:r>
            <a:r>
              <a:rPr lang="vi-VN" dirty="0"/>
              <a:t>Ngang hang</a:t>
            </a:r>
            <a:r>
              <a:rPr lang="en-US" dirty="0"/>
              <a:t>	</a:t>
            </a:r>
            <a:r>
              <a:rPr lang="vi-VN" dirty="0"/>
              <a:t>Có leader</a:t>
            </a:r>
            <a:endParaRPr lang="en-US" dirty="0"/>
          </a:p>
          <a:p>
            <a:r>
              <a:rPr lang="vi-VN" dirty="0"/>
              <a:t>Điểm lỗi duy nhất</a:t>
            </a:r>
            <a:r>
              <a:rPr lang="en-US" dirty="0"/>
              <a:t>	</a:t>
            </a:r>
            <a:r>
              <a:rPr lang="vi-VN" dirty="0"/>
              <a:t>Không</a:t>
            </a:r>
            <a:r>
              <a:rPr lang="en-US" dirty="0"/>
              <a:t>	</a:t>
            </a:r>
            <a:r>
              <a:rPr lang="vi-VN" dirty="0"/>
              <a:t>Có (leader)</a:t>
            </a:r>
            <a:endParaRPr lang="en-US" dirty="0"/>
          </a:p>
          <a:p>
            <a:r>
              <a:rPr lang="vi-VN" dirty="0"/>
              <a:t>Giao tiếp</a:t>
            </a:r>
            <a:r>
              <a:rPr lang="en-US" dirty="0"/>
              <a:t>		</a:t>
            </a:r>
            <a:r>
              <a:rPr lang="vi-VN" dirty="0"/>
              <a:t>Tất cả – tất cả</a:t>
            </a:r>
            <a:r>
              <a:rPr lang="en-US" dirty="0"/>
              <a:t>	</a:t>
            </a:r>
            <a:r>
              <a:rPr lang="vi-VN" dirty="0"/>
              <a:t>1–n</a:t>
            </a:r>
            <a:endParaRPr lang="en-US" dirty="0"/>
          </a:p>
          <a:p>
            <a:r>
              <a:rPr lang="vi-VN" dirty="0"/>
              <a:t>Độ phức tạp</a:t>
            </a:r>
            <a:r>
              <a:rPr lang="en-US" dirty="0"/>
              <a:t>		</a:t>
            </a:r>
            <a:r>
              <a:rPr lang="vi-VN" dirty="0"/>
              <a:t>Cao</a:t>
            </a:r>
            <a:r>
              <a:rPr lang="en-US" dirty="0"/>
              <a:t>	</a:t>
            </a:r>
            <a:r>
              <a:rPr lang="vi-VN" dirty="0"/>
              <a:t>Thấp</a:t>
            </a:r>
            <a:endParaRPr lang="en-US" dirty="0"/>
          </a:p>
          <a:p>
            <a:r>
              <a:rPr lang="vi-VN" dirty="0"/>
              <a:t>Chịu lỗi</a:t>
            </a:r>
            <a:r>
              <a:rPr lang="en-US" dirty="0"/>
              <a:t>		</a:t>
            </a:r>
            <a:r>
              <a:rPr lang="vi-VN" dirty="0"/>
              <a:t>Rất tốt</a:t>
            </a:r>
            <a:r>
              <a:rPr lang="en-US" dirty="0"/>
              <a:t>	</a:t>
            </a:r>
            <a:r>
              <a:rPr lang="vi-VN" dirty="0"/>
              <a:t>Phụ thuộc cơ chế bầu lại leader</a:t>
            </a:r>
          </a:p>
          <a:p>
            <a:endParaRPr lang="en-US" b="1" dirty="0"/>
          </a:p>
          <a:p>
            <a:r>
              <a:rPr lang="en-US" b="1" dirty="0"/>
              <a:t>***</a:t>
            </a:r>
            <a:r>
              <a:rPr lang="vi-VN" b="1" dirty="0"/>
              <a:t> Tóm tắt</a:t>
            </a:r>
            <a:endParaRPr lang="en-US" b="1" dirty="0"/>
          </a:p>
          <a:p>
            <a:r>
              <a:rPr lang="vi-VN" dirty="0"/>
              <a:t>Muốn tăng khả năng chống lỗi → </a:t>
            </a:r>
            <a:r>
              <a:rPr lang="vi-VN" b="1" dirty="0"/>
              <a:t>replicate tiến trình</a:t>
            </a:r>
            <a:r>
              <a:rPr lang="vi-VN" dirty="0"/>
              <a:t>, gom thành </a:t>
            </a:r>
            <a:r>
              <a:rPr lang="vi-VN" b="1" dirty="0"/>
              <a:t>process group</a:t>
            </a:r>
            <a:r>
              <a:rPr lang="vi-VN" dirty="0"/>
              <a:t>.</a:t>
            </a:r>
          </a:p>
          <a:p>
            <a:pPr>
              <a:buFont typeface="Arial" panose="020B0604020202020204" pitchFamily="34" charset="0"/>
              <a:buChar char="•"/>
            </a:pPr>
            <a:r>
              <a:rPr lang="vi-VN" dirty="0"/>
              <a:t>Có hai kiểu nhóm chính:</a:t>
            </a:r>
          </a:p>
          <a:p>
            <a:pPr marL="742950" lvl="1" indent="-285750">
              <a:buFont typeface="Arial" panose="020B0604020202020204" pitchFamily="34" charset="0"/>
              <a:buChar char="•"/>
            </a:pPr>
            <a:r>
              <a:rPr lang="vi-VN" b="1" dirty="0"/>
              <a:t>Flat group</a:t>
            </a:r>
            <a:r>
              <a:rPr lang="vi-VN" dirty="0"/>
              <a:t> → mọi tiến trình ngang hàng, chịu lỗi tốt, chi phí cao.</a:t>
            </a:r>
          </a:p>
          <a:p>
            <a:pPr marL="742950" lvl="1" indent="-285750">
              <a:buFont typeface="Arial" panose="020B0604020202020204" pitchFamily="34" charset="0"/>
              <a:buChar char="•"/>
            </a:pPr>
            <a:r>
              <a:rPr lang="vi-VN" b="1" dirty="0"/>
              <a:t>Hierarchical group</a:t>
            </a:r>
            <a:r>
              <a:rPr lang="vi-VN" dirty="0"/>
              <a:t> → có leader, quản lý dễ hơn nhưng dễ có điểm lỗi đơn.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14</a:t>
            </a:fld>
            <a:endParaRPr lang="en-US"/>
          </a:p>
        </p:txBody>
      </p:sp>
    </p:spTree>
    <p:extLst>
      <p:ext uri="{BB962C8B-B14F-4D97-AF65-F5344CB8AC3E}">
        <p14:creationId xmlns:p14="http://schemas.microsoft.com/office/powerpoint/2010/main" val="3494413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t>Groups and failure masking – k-fault tolerant group.</a:t>
            </a:r>
          </a:p>
          <a:p>
            <a:endParaRPr lang="en-US" b="1" dirty="0"/>
          </a:p>
          <a:p>
            <a:r>
              <a:rPr lang="en-US" b="1" dirty="0"/>
              <a:t>1. </a:t>
            </a:r>
            <a:r>
              <a:rPr lang="vi-VN" b="1" dirty="0"/>
              <a:t>Khái niệm: k-fault tolerant group</a:t>
            </a:r>
          </a:p>
          <a:p>
            <a:r>
              <a:rPr lang="vi-VN" dirty="0"/>
              <a:t>Một </a:t>
            </a:r>
            <a:r>
              <a:rPr lang="vi-VN" i="1" dirty="0"/>
              <a:t>process group</a:t>
            </a:r>
            <a:r>
              <a:rPr lang="vi-VN" dirty="0"/>
              <a:t> được gọi là </a:t>
            </a:r>
            <a:r>
              <a:rPr lang="vi-VN" b="1" dirty="0"/>
              <a:t>k-fault tolerant</a:t>
            </a:r>
            <a:r>
              <a:rPr lang="vi-VN" dirty="0"/>
              <a:t> khi nhóm đó vẫn đưa ra kết quả đúng </a:t>
            </a:r>
            <a:r>
              <a:rPr lang="vi-VN" b="1" dirty="0"/>
              <a:t>ngay cả khi có tối đa k tiến trình bị lỗi</a:t>
            </a:r>
            <a:r>
              <a:rPr lang="vi-VN" dirty="0"/>
              <a:t>.</a:t>
            </a:r>
          </a:p>
          <a:p>
            <a:pPr>
              <a:buFont typeface="Arial" panose="020B0604020202020204" pitchFamily="34" charset="0"/>
              <a:buChar char="•"/>
            </a:pPr>
            <a:r>
              <a:rPr lang="vi-VN" dirty="0"/>
              <a:t>Đây là </a:t>
            </a:r>
            <a:r>
              <a:rPr lang="vi-VN" b="1" dirty="0"/>
              <a:t>mức độ chịu lỗi</a:t>
            </a:r>
            <a:r>
              <a:rPr lang="vi-VN" dirty="0"/>
              <a:t> (degree of fault tolerance).</a:t>
            </a:r>
          </a:p>
          <a:p>
            <a:pPr>
              <a:buFont typeface="Arial" panose="020B0604020202020204" pitchFamily="34" charset="0"/>
              <a:buChar char="•"/>
            </a:pPr>
            <a:r>
              <a:rPr lang="vi-VN" dirty="0"/>
              <a:t>Nhóm phải đủ lớn để </a:t>
            </a:r>
            <a:r>
              <a:rPr lang="vi-VN" i="1" dirty="0"/>
              <a:t>che giấu lỗi</a:t>
            </a:r>
            <a:r>
              <a:rPr lang="vi-VN" dirty="0"/>
              <a:t> (mask failures) và vẫn đưa ra kết quả chính xác.</a:t>
            </a:r>
          </a:p>
          <a:p>
            <a:r>
              <a:rPr lang="vi-VN" dirty="0"/>
              <a:t>Câu hỏi quan trọng:</a:t>
            </a:r>
          </a:p>
          <a:p>
            <a:r>
              <a:rPr lang="en-US" b="1" dirty="0"/>
              <a:t>*** “</a:t>
            </a:r>
            <a:r>
              <a:rPr lang="vi-VN" b="1" dirty="0"/>
              <a:t>Để chịu được k lỗi, nhóm cần có bao nhiêu thành viên?”</a:t>
            </a:r>
          </a:p>
          <a:p>
            <a:endParaRPr lang="en-US" b="1" dirty="0"/>
          </a:p>
          <a:p>
            <a:r>
              <a:rPr lang="en-US" b="1" dirty="0"/>
              <a:t>2. </a:t>
            </a:r>
            <a:r>
              <a:rPr lang="vi-VN" b="1" dirty="0"/>
              <a:t>Hai trường hợp lỗi – và số lượng tiến trình cần thiết</a:t>
            </a:r>
          </a:p>
          <a:p>
            <a:r>
              <a:rPr lang="en-US" b="1" dirty="0"/>
              <a:t>** </a:t>
            </a:r>
            <a:r>
              <a:rPr lang="vi-VN" b="1" dirty="0"/>
              <a:t>Trường hợp 1: Halting failures</a:t>
            </a:r>
          </a:p>
          <a:p>
            <a:r>
              <a:rPr lang="vi-VN" dirty="0"/>
              <a:t>(bao gồm crash, omission, timing failure)</a:t>
            </a:r>
          </a:p>
          <a:p>
            <a:pPr>
              <a:buFont typeface="Arial" panose="020B0604020202020204" pitchFamily="34" charset="0"/>
              <a:buChar char="•"/>
            </a:pPr>
            <a:r>
              <a:rPr lang="vi-VN" dirty="0"/>
              <a:t>Điểm quan trọng: </a:t>
            </a:r>
            <a:r>
              <a:rPr lang="vi-VN" b="1" dirty="0"/>
              <a:t>không tiến trình nào tạo ra kết quả sai</a:t>
            </a:r>
            <a:r>
              <a:rPr lang="vi-VN" dirty="0"/>
              <a:t>, chúng chỉ dừng hoặc im lặng.</a:t>
            </a:r>
          </a:p>
          <a:p>
            <a:pPr>
              <a:buFont typeface="Arial" panose="020B0604020202020204" pitchFamily="34" charset="0"/>
              <a:buChar char="•"/>
            </a:pPr>
            <a:r>
              <a:rPr lang="vi-VN" dirty="0"/>
              <a:t>Vì không ai trả về giá trị sai → </a:t>
            </a:r>
            <a:r>
              <a:rPr lang="vi-VN" i="1" dirty="0"/>
              <a:t>chỉ cần ít nhất 1 tiến trình còn sống</a:t>
            </a:r>
            <a:r>
              <a:rPr lang="vi-VN" dirty="0"/>
              <a:t>.</a:t>
            </a:r>
          </a:p>
          <a:p>
            <a:r>
              <a:rPr lang="vi-VN" dirty="0"/>
              <a:t>Do đó, để chịu được k lỗi, cần:</a:t>
            </a:r>
            <a:r>
              <a:rPr lang="en-US" dirty="0"/>
              <a:t> </a:t>
            </a:r>
            <a:r>
              <a:rPr lang="vi-VN" b="1" dirty="0"/>
              <a:t>k + 1 tiến trình</a:t>
            </a:r>
          </a:p>
          <a:p>
            <a:r>
              <a:rPr lang="vi-VN" dirty="0"/>
              <a:t>Giải thích:</a:t>
            </a:r>
          </a:p>
          <a:p>
            <a:pPr>
              <a:buFont typeface="Arial" panose="020B0604020202020204" pitchFamily="34" charset="0"/>
              <a:buChar char="•"/>
            </a:pPr>
            <a:r>
              <a:rPr lang="vi-VN" dirty="0"/>
              <a:t>Cho phép k tiến trình chết → còn 1 tiến trình trả kết quả đúng.</a:t>
            </a:r>
          </a:p>
          <a:p>
            <a:pPr>
              <a:buFont typeface="Arial" panose="020B0604020202020204" pitchFamily="34" charset="0"/>
              <a:buChar char="•"/>
            </a:pPr>
            <a:r>
              <a:rPr lang="vi-VN" dirty="0"/>
              <a:t>Không cần bỏ phiếu đa số (majority voting).</a:t>
            </a:r>
          </a:p>
          <a:p>
            <a:pPr>
              <a:buFont typeface="Arial" panose="020B0604020202020204" pitchFamily="34" charset="0"/>
              <a:buChar char="•"/>
            </a:pPr>
            <a:r>
              <a:rPr lang="vi-VN" dirty="0"/>
              <a:t>Kết quả từ bất kỳ tiến trình sống nào đều đúng.</a:t>
            </a:r>
          </a:p>
          <a:p>
            <a:r>
              <a:rPr lang="en-US" b="1" dirty="0"/>
              <a:t>* </a:t>
            </a:r>
            <a:r>
              <a:rPr lang="vi-VN" b="1" dirty="0"/>
              <a:t>Ví dụ:</a:t>
            </a:r>
            <a:br>
              <a:rPr lang="vi-VN" dirty="0"/>
            </a:br>
            <a:r>
              <a:rPr lang="vi-VN" dirty="0"/>
              <a:t>Nếu muốn chịu được 3 lỗi crash → cần 3 + 1 = </a:t>
            </a:r>
            <a:r>
              <a:rPr lang="vi-VN" b="1" dirty="0"/>
              <a:t>4 tiến trình</a:t>
            </a:r>
            <a:r>
              <a:rPr lang="vi-VN" dirty="0"/>
              <a:t>.</a:t>
            </a:r>
          </a:p>
          <a:p>
            <a:r>
              <a:rPr lang="en-US" b="1" dirty="0"/>
              <a:t>** </a:t>
            </a:r>
            <a:r>
              <a:rPr lang="vi-VN" b="1" dirty="0"/>
              <a:t>Trường hợp 2: Arbitrary failures</a:t>
            </a:r>
          </a:p>
          <a:p>
            <a:r>
              <a:rPr lang="vi-VN" dirty="0"/>
              <a:t>(còn gọi là Byzantine failures — có thể trả kết quả sai)</a:t>
            </a:r>
          </a:p>
          <a:p>
            <a:pPr>
              <a:buFont typeface="Arial" panose="020B0604020202020204" pitchFamily="34" charset="0"/>
              <a:buChar char="•"/>
            </a:pPr>
            <a:r>
              <a:rPr lang="vi-VN" dirty="0"/>
              <a:t>Đây là lỗi </a:t>
            </a:r>
            <a:r>
              <a:rPr lang="vi-VN" b="1" dirty="0"/>
              <a:t>nguy hiểm nhất</a:t>
            </a:r>
            <a:r>
              <a:rPr lang="vi-VN" dirty="0"/>
              <a:t> vì tiến trình có thể gửi giá trị sai một cách tuỳ ý.</a:t>
            </a:r>
          </a:p>
          <a:p>
            <a:pPr>
              <a:buFont typeface="Arial" panose="020B0604020202020204" pitchFamily="34" charset="0"/>
              <a:buChar char="•"/>
            </a:pPr>
            <a:r>
              <a:rPr lang="vi-VN" dirty="0"/>
              <a:t>Không thể tin vào một tiến trình đơn lẻ → cần </a:t>
            </a:r>
            <a:r>
              <a:rPr lang="vi-VN" b="1" dirty="0"/>
              <a:t>majority voting</a:t>
            </a:r>
            <a:r>
              <a:rPr lang="vi-VN" dirty="0"/>
              <a:t> để phát hiện giá trị sai.</a:t>
            </a:r>
          </a:p>
          <a:p>
            <a:r>
              <a:rPr lang="vi-VN" dirty="0"/>
              <a:t>Kết quả phân tích kinh điển (Lamport):</a:t>
            </a:r>
            <a:r>
              <a:rPr lang="vi-VN" b="1" dirty="0"/>
              <a:t> Cần 2k + 1 tiến trình để chịu được k arbitrary failures</a:t>
            </a:r>
          </a:p>
          <a:p>
            <a:r>
              <a:rPr lang="vi-VN" dirty="0"/>
              <a:t>Giải thích trực quan:</a:t>
            </a:r>
          </a:p>
          <a:p>
            <a:pPr>
              <a:buFont typeface="Arial" panose="020B0604020202020204" pitchFamily="34" charset="0"/>
              <a:buChar char="•"/>
            </a:pPr>
            <a:r>
              <a:rPr lang="vi-VN" dirty="0"/>
              <a:t>Trong số 2k + 1 tiến trình:</a:t>
            </a:r>
          </a:p>
          <a:p>
            <a:pPr marL="742950" lvl="1" indent="-285750">
              <a:buFont typeface="Arial" panose="020B0604020202020204" pitchFamily="34" charset="0"/>
              <a:buChar char="•"/>
            </a:pPr>
            <a:r>
              <a:rPr lang="vi-VN" dirty="0"/>
              <a:t>Tối đa k có thể trả kết quả sai</a:t>
            </a:r>
          </a:p>
          <a:p>
            <a:pPr marL="742950" lvl="1" indent="-285750">
              <a:buFont typeface="Arial" panose="020B0604020202020204" pitchFamily="34" charset="0"/>
              <a:buChar char="•"/>
            </a:pPr>
            <a:r>
              <a:rPr lang="vi-VN" dirty="0"/>
              <a:t>Ít nhất k + 1 tiến trình đúng vẫn chiếm </a:t>
            </a:r>
            <a:r>
              <a:rPr lang="vi-VN" b="1" dirty="0"/>
              <a:t>đa số</a:t>
            </a:r>
            <a:endParaRPr lang="vi-VN" dirty="0"/>
          </a:p>
          <a:p>
            <a:pPr>
              <a:buFont typeface="Arial" panose="020B0604020202020204" pitchFamily="34" charset="0"/>
              <a:buChar char="•"/>
            </a:pPr>
            <a:r>
              <a:rPr lang="vi-VN" dirty="0"/>
              <a:t>Vì vậy, kết quả đa số sẽ là kết quả đúng.</a:t>
            </a:r>
          </a:p>
          <a:p>
            <a:r>
              <a:rPr lang="en-US" dirty="0"/>
              <a:t>* </a:t>
            </a:r>
            <a:r>
              <a:rPr lang="vi-VN" b="1" dirty="0"/>
              <a:t>Ví dụ:</a:t>
            </a:r>
            <a:br>
              <a:rPr lang="vi-VN" dirty="0"/>
            </a:br>
            <a:r>
              <a:rPr lang="vi-VN" dirty="0"/>
              <a:t>Để chịu 2 Byzantine failures:</a:t>
            </a:r>
            <a:br>
              <a:rPr lang="vi-VN" dirty="0"/>
            </a:br>
            <a:r>
              <a:rPr lang="vi-VN" dirty="0"/>
              <a:t>→ cần 2 × 2 + 1 = </a:t>
            </a:r>
            <a:r>
              <a:rPr lang="vi-VN" b="1" dirty="0"/>
              <a:t>5 tiến trình</a:t>
            </a:r>
            <a:endParaRPr lang="vi-VN" dirty="0"/>
          </a:p>
          <a:p>
            <a:endParaRPr lang="en-US" b="1" dirty="0"/>
          </a:p>
          <a:p>
            <a:r>
              <a:rPr lang="en-US" b="1" dirty="0"/>
              <a:t>3. </a:t>
            </a:r>
            <a:r>
              <a:rPr lang="vi-VN" b="1" dirty="0"/>
              <a:t>Giả định quan trọng (Important assumptions)</a:t>
            </a:r>
          </a:p>
          <a:p>
            <a:r>
              <a:rPr lang="vi-VN" dirty="0"/>
              <a:t>Slide nêu rõ 2 assumption </a:t>
            </a:r>
            <a:r>
              <a:rPr lang="vi-VN" i="1" dirty="0"/>
              <a:t>bắt buộc</a:t>
            </a:r>
            <a:r>
              <a:rPr lang="vi-VN" dirty="0"/>
              <a:t> để việc nhân bản có hiệu lực:</a:t>
            </a:r>
          </a:p>
          <a:p>
            <a:r>
              <a:rPr lang="en-US" b="1" dirty="0"/>
              <a:t>a.</a:t>
            </a:r>
            <a:r>
              <a:rPr lang="vi-VN" b="1" dirty="0"/>
              <a:t> Tất cả thành viên đều giống nhau (identical)</a:t>
            </a:r>
          </a:p>
          <a:p>
            <a:pPr>
              <a:buFont typeface="Arial" panose="020B0604020202020204" pitchFamily="34" charset="0"/>
              <a:buChar char="•"/>
            </a:pPr>
            <a:r>
              <a:rPr lang="vi-VN" dirty="0"/>
              <a:t>Cùng code</a:t>
            </a:r>
          </a:p>
          <a:p>
            <a:pPr>
              <a:buFont typeface="Arial" panose="020B0604020202020204" pitchFamily="34" charset="0"/>
              <a:buChar char="•"/>
            </a:pPr>
            <a:r>
              <a:rPr lang="vi-VN" dirty="0"/>
              <a:t>Cùng dữ liệu khởi tạo</a:t>
            </a:r>
          </a:p>
          <a:p>
            <a:pPr>
              <a:buFont typeface="Arial" panose="020B0604020202020204" pitchFamily="34" charset="0"/>
              <a:buChar char="•"/>
            </a:pPr>
            <a:r>
              <a:rPr lang="vi-VN" dirty="0"/>
              <a:t>Cùng logic</a:t>
            </a:r>
          </a:p>
          <a:p>
            <a:r>
              <a:rPr lang="vi-VN" dirty="0"/>
              <a:t>Nếu không, bạn không thể bỏ phiếu (vì mỗi tiến trình sẽ hoạt động khác nhau → kết quả khác nhau).</a:t>
            </a:r>
          </a:p>
          <a:p>
            <a:r>
              <a:rPr lang="en-US" b="1" dirty="0"/>
              <a:t>b.</a:t>
            </a:r>
            <a:r>
              <a:rPr lang="vi-VN" b="1" dirty="0"/>
              <a:t> Tất cả đều xử lý lệnh theo cùng thứ tự (same order)</a:t>
            </a:r>
          </a:p>
          <a:p>
            <a:pPr>
              <a:buFont typeface="Arial" panose="020B0604020202020204" pitchFamily="34" charset="0"/>
              <a:buChar char="•"/>
            </a:pPr>
            <a:r>
              <a:rPr lang="vi-VN" dirty="0"/>
              <a:t>Đây là mô hình </a:t>
            </a:r>
            <a:r>
              <a:rPr lang="vi-VN" b="1" dirty="0"/>
              <a:t>state machine replication</a:t>
            </a:r>
            <a:r>
              <a:rPr lang="vi-VN" dirty="0"/>
              <a:t>.</a:t>
            </a:r>
          </a:p>
          <a:p>
            <a:pPr>
              <a:buFont typeface="Arial" panose="020B0604020202020204" pitchFamily="34" charset="0"/>
              <a:buChar char="•"/>
            </a:pPr>
            <a:r>
              <a:rPr lang="vi-VN" dirty="0"/>
              <a:t>Nếu thứ tự lệnh khác nhau → kết quả trạng thái khác nhau, có thể bị coi là "arbitrary failure".</a:t>
            </a:r>
          </a:p>
          <a:p>
            <a:endParaRPr lang="en-US" b="1" dirty="0"/>
          </a:p>
          <a:p>
            <a:r>
              <a:rPr lang="en-US" b="1" dirty="0"/>
              <a:t>4. </a:t>
            </a:r>
            <a:r>
              <a:rPr lang="vi-VN" b="1" dirty="0"/>
              <a:t>Kết quả (Result)</a:t>
            </a:r>
          </a:p>
          <a:p>
            <a:r>
              <a:rPr lang="vi-VN" b="1" dirty="0"/>
              <a:t>Với các giả định trên, tất cả tiến trình sẽ luôn đưa ra cùng kết quả.</a:t>
            </a:r>
            <a:endParaRPr lang="vi-VN" dirty="0"/>
          </a:p>
          <a:p>
            <a:r>
              <a:rPr lang="vi-VN" dirty="0"/>
              <a:t>→ Nhờ đó, nhóm có thể "che giấu" lỗi (mask failures):</a:t>
            </a:r>
          </a:p>
          <a:p>
            <a:pPr>
              <a:buFont typeface="Arial" panose="020B0604020202020204" pitchFamily="34" charset="0"/>
              <a:buChar char="•"/>
            </a:pPr>
            <a:r>
              <a:rPr lang="vi-VN" dirty="0"/>
              <a:t>Trong halting failures → chỉ cần 1 tiến trình sống.</a:t>
            </a:r>
          </a:p>
          <a:p>
            <a:pPr>
              <a:buFont typeface="Arial" panose="020B0604020202020204" pitchFamily="34" charset="0"/>
              <a:buChar char="•"/>
            </a:pPr>
            <a:r>
              <a:rPr lang="vi-VN" dirty="0"/>
              <a:t>Trong arbitrary failures → đa số tiến trình sẽ quyết định đúng.</a:t>
            </a:r>
          </a:p>
          <a:p>
            <a:endParaRPr lang="en-US" b="1" dirty="0"/>
          </a:p>
          <a:p>
            <a:r>
              <a:rPr lang="vi-VN" b="1" dirty="0"/>
              <a:t>Tóm tắt</a:t>
            </a:r>
          </a:p>
          <a:p>
            <a:r>
              <a:rPr lang="vi-VN" dirty="0"/>
              <a:t>Loại lỗi</a:t>
            </a:r>
            <a:r>
              <a:rPr lang="en-US" dirty="0"/>
              <a:t>		</a:t>
            </a:r>
            <a:r>
              <a:rPr lang="vi-VN" dirty="0"/>
              <a:t>Ví dụ lỗi</a:t>
            </a:r>
            <a:r>
              <a:rPr lang="en-US" dirty="0"/>
              <a:t>		</a:t>
            </a:r>
            <a:r>
              <a:rPr lang="vi-VN" dirty="0"/>
              <a:t>Số tiến trình cần thiết để chịu được k lỗi</a:t>
            </a:r>
            <a:endParaRPr lang="en-US" dirty="0"/>
          </a:p>
          <a:p>
            <a:r>
              <a:rPr lang="vi-VN" b="1" dirty="0"/>
              <a:t>Halting</a:t>
            </a:r>
            <a:r>
              <a:rPr lang="en-US" b="1" dirty="0"/>
              <a:t>		</a:t>
            </a:r>
            <a:r>
              <a:rPr lang="vi-VN" dirty="0"/>
              <a:t>crash, omission, timeout</a:t>
            </a:r>
            <a:r>
              <a:rPr lang="en-US" dirty="0"/>
              <a:t>	</a:t>
            </a:r>
            <a:r>
              <a:rPr lang="vi-VN" b="1" dirty="0"/>
              <a:t>k + 1</a:t>
            </a:r>
            <a:endParaRPr lang="en-US" b="1" dirty="0"/>
          </a:p>
          <a:p>
            <a:r>
              <a:rPr lang="vi-VN" b="1" dirty="0"/>
              <a:t>Arbitrary (Byzantine)</a:t>
            </a:r>
            <a:r>
              <a:rPr lang="en-US" b="1" dirty="0"/>
              <a:t>	</a:t>
            </a:r>
            <a:r>
              <a:rPr lang="vi-VN" dirty="0"/>
              <a:t>trả giá trị sai, bị tấn công</a:t>
            </a:r>
            <a:r>
              <a:rPr lang="en-US" dirty="0"/>
              <a:t>	</a:t>
            </a:r>
            <a:r>
              <a:rPr lang="vi-VN" b="1" dirty="0"/>
              <a:t>2k + 1</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17</a:t>
            </a:fld>
            <a:endParaRPr lang="en-US"/>
          </a:p>
        </p:txBody>
      </p:sp>
    </p:spTree>
    <p:extLst>
      <p:ext uri="{BB962C8B-B14F-4D97-AF65-F5344CB8AC3E}">
        <p14:creationId xmlns:p14="http://schemas.microsoft.com/office/powerpoint/2010/main" val="3367343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t>Consensus.</a:t>
            </a:r>
          </a:p>
          <a:p>
            <a:endParaRPr lang="en-US" b="1" dirty="0"/>
          </a:p>
          <a:p>
            <a:r>
              <a:rPr lang="en-US" b="1" dirty="0"/>
              <a:t>1. </a:t>
            </a:r>
            <a:r>
              <a:rPr lang="vi-VN" b="1" dirty="0"/>
              <a:t>Bối cảnh của slide: Fault-tolerant process group</a:t>
            </a:r>
          </a:p>
          <a:p>
            <a:r>
              <a:rPr lang="vi-VN" dirty="0"/>
              <a:t>Slide này nằm trong chương nói về:</a:t>
            </a:r>
          </a:p>
          <a:p>
            <a:pPr>
              <a:buFont typeface="Arial" panose="020B0604020202020204" pitchFamily="34" charset="0"/>
              <a:buChar char="•"/>
            </a:pPr>
            <a:r>
              <a:rPr lang="vi-VN" dirty="0"/>
              <a:t>Nhân bản tiến trình (process replication)</a:t>
            </a:r>
          </a:p>
          <a:p>
            <a:pPr>
              <a:buFont typeface="Arial" panose="020B0604020202020204" pitchFamily="34" charset="0"/>
              <a:buChar char="•"/>
            </a:pPr>
            <a:r>
              <a:rPr lang="vi-VN" dirty="0"/>
              <a:t>Tính chịu lỗi (fault tolerance)</a:t>
            </a:r>
          </a:p>
          <a:p>
            <a:pPr>
              <a:buFont typeface="Arial" panose="020B0604020202020204" pitchFamily="34" charset="0"/>
              <a:buChar char="•"/>
            </a:pPr>
            <a:r>
              <a:rPr lang="vi-VN" dirty="0"/>
              <a:t>Xử lý khi có tiến trình bị crash</a:t>
            </a:r>
          </a:p>
          <a:p>
            <a:r>
              <a:rPr lang="vi-VN" dirty="0"/>
              <a:t>Một </a:t>
            </a:r>
            <a:r>
              <a:rPr lang="vi-VN" b="1" dirty="0"/>
              <a:t>process group</a:t>
            </a:r>
            <a:r>
              <a:rPr lang="vi-VN" dirty="0"/>
              <a:t> muốn chịu lỗi cần đảm bảo rằng:</a:t>
            </a:r>
          </a:p>
          <a:p>
            <a:r>
              <a:rPr lang="vi-VN" b="1" dirty="0"/>
              <a:t>Tất cả các tiến trình không lỗi phải thực thi cùng một chuỗi lệnh theo cùng thứ tự.</a:t>
            </a:r>
            <a:endParaRPr lang="vi-VN" dirty="0"/>
          </a:p>
          <a:p>
            <a:r>
              <a:rPr lang="vi-VN" dirty="0"/>
              <a:t>Đó chính là mô hình </a:t>
            </a:r>
            <a:r>
              <a:rPr lang="vi-VN" b="1" dirty="0"/>
              <a:t>State Machine Replication</a:t>
            </a:r>
            <a:r>
              <a:rPr lang="vi-VN" dirty="0"/>
              <a:t> (SMR).</a:t>
            </a:r>
          </a:p>
          <a:p>
            <a:endParaRPr lang="en-US" b="1" dirty="0"/>
          </a:p>
          <a:p>
            <a:r>
              <a:rPr lang="en-US" b="1" dirty="0"/>
              <a:t>2. </a:t>
            </a:r>
            <a:r>
              <a:rPr lang="vi-VN" b="1" dirty="0"/>
              <a:t>Prerequisite – Điều kiện tiên quyết</a:t>
            </a:r>
          </a:p>
          <a:p>
            <a:r>
              <a:rPr lang="vi-VN" b="1" dirty="0"/>
              <a:t>In a fault-tolerant process group, each nonfaulty process executes the same commands, and in the same order, as every other nonfaulty process.</a:t>
            </a:r>
            <a:endParaRPr lang="vi-VN" dirty="0"/>
          </a:p>
          <a:p>
            <a:r>
              <a:rPr lang="vi-VN" dirty="0"/>
              <a:t>Giải thích:</a:t>
            </a:r>
          </a:p>
          <a:p>
            <a:pPr>
              <a:buFont typeface="Arial" panose="020B0604020202020204" pitchFamily="34" charset="0"/>
              <a:buChar char="•"/>
            </a:pPr>
            <a:r>
              <a:rPr lang="vi-VN" dirty="0"/>
              <a:t>Khi hệ thống được nhân bản để chịu lỗi, ta chạy </a:t>
            </a:r>
            <a:r>
              <a:rPr lang="vi-VN" b="1" dirty="0"/>
              <a:t>n</a:t>
            </a:r>
            <a:r>
              <a:rPr lang="vi-VN" dirty="0"/>
              <a:t> bản sao của cùng một tiến trình.</a:t>
            </a:r>
          </a:p>
          <a:p>
            <a:pPr>
              <a:buFont typeface="Arial" panose="020B0604020202020204" pitchFamily="34" charset="0"/>
              <a:buChar char="•"/>
            </a:pPr>
            <a:r>
              <a:rPr lang="vi-VN" dirty="0"/>
              <a:t>Những bản sao này phải xử lý </a:t>
            </a:r>
            <a:r>
              <a:rPr lang="vi-VN" b="1" dirty="0"/>
              <a:t>y hệt nhau</a:t>
            </a:r>
            <a:r>
              <a:rPr lang="vi-VN" dirty="0"/>
              <a:t> để đảm bảo trạng thái đồng nhất.</a:t>
            </a:r>
          </a:p>
          <a:p>
            <a:pPr>
              <a:buFont typeface="Arial" panose="020B0604020202020204" pitchFamily="34" charset="0"/>
              <a:buChar char="•"/>
            </a:pPr>
            <a:r>
              <a:rPr lang="vi-VN" dirty="0"/>
              <a:t>Nếu thứ tự lệnh khác nhau → trạng thái khác nhau → replication vô nghĩa.</a:t>
            </a:r>
          </a:p>
          <a:p>
            <a:r>
              <a:rPr lang="en-US" dirty="0"/>
              <a:t>** </a:t>
            </a:r>
            <a:r>
              <a:rPr lang="vi-VN" dirty="0"/>
              <a:t>Vì vậy, mục tiêu đầu tiên là:</a:t>
            </a:r>
          </a:p>
          <a:p>
            <a:r>
              <a:rPr lang="en-US" dirty="0"/>
              <a:t>-</a:t>
            </a:r>
            <a:r>
              <a:rPr lang="vi-VN" dirty="0"/>
              <a:t> Các tiến trình </a:t>
            </a:r>
            <a:r>
              <a:rPr lang="vi-VN" b="1" dirty="0"/>
              <a:t>không lỗi</a:t>
            </a:r>
            <a:r>
              <a:rPr lang="vi-VN" dirty="0"/>
              <a:t> phải đồng ý với nhau về </a:t>
            </a:r>
            <a:r>
              <a:rPr lang="vi-VN" b="1" dirty="0"/>
              <a:t>lệnh tiếp theo cần chạy</a:t>
            </a:r>
            <a:r>
              <a:rPr lang="vi-VN" dirty="0"/>
              <a:t>.</a:t>
            </a:r>
            <a:br>
              <a:rPr lang="vi-VN" dirty="0"/>
            </a:br>
            <a:r>
              <a:rPr lang="en-US" dirty="0"/>
              <a:t>-</a:t>
            </a:r>
            <a:r>
              <a:rPr lang="vi-VN" dirty="0"/>
              <a:t> Nếu không đạt được điều này → hệ thống trở nên không nhất quán.</a:t>
            </a:r>
          </a:p>
          <a:p>
            <a:endParaRPr lang="en-US" b="1" dirty="0"/>
          </a:p>
          <a:p>
            <a:r>
              <a:rPr lang="en-US" b="1" dirty="0"/>
              <a:t>3. </a:t>
            </a:r>
            <a:r>
              <a:rPr lang="vi-VN" b="1" dirty="0"/>
              <a:t>Reformulation – Diễn giải lại</a:t>
            </a:r>
          </a:p>
          <a:p>
            <a:r>
              <a:rPr lang="vi-VN" b="1" dirty="0"/>
              <a:t>Nonfaulty group members need to reach consensus on which command to execute next.</a:t>
            </a:r>
            <a:endParaRPr lang="vi-VN" dirty="0"/>
          </a:p>
          <a:p>
            <a:r>
              <a:rPr lang="vi-VN" dirty="0"/>
              <a:t>Đây là cách diễn đạt lại vấn đề theo ngôn ngữ của </a:t>
            </a:r>
            <a:r>
              <a:rPr lang="vi-VN" i="1" dirty="0"/>
              <a:t>bài toán đồng thuận</a:t>
            </a:r>
            <a:r>
              <a:rPr lang="vi-VN" dirty="0"/>
              <a:t> (consensus problem):</a:t>
            </a:r>
          </a:p>
          <a:p>
            <a:r>
              <a:rPr lang="en-US" dirty="0"/>
              <a:t>=&gt; </a:t>
            </a:r>
            <a:r>
              <a:rPr lang="vi-VN" b="1" dirty="0"/>
              <a:t>Muốn tất cả tiến trình giống nhau → mọi tiến trình phải </a:t>
            </a:r>
            <a:r>
              <a:rPr lang="vi-VN" b="1" i="1" dirty="0"/>
              <a:t>đồng thuận</a:t>
            </a:r>
            <a:r>
              <a:rPr lang="vi-VN" b="1" dirty="0"/>
              <a:t> (reach consensus) về lệnh kế tiếp.</a:t>
            </a:r>
            <a:endParaRPr lang="vi-VN" dirty="0"/>
          </a:p>
          <a:p>
            <a:r>
              <a:rPr lang="vi-VN" dirty="0"/>
              <a:t>Tức là:</a:t>
            </a:r>
          </a:p>
          <a:p>
            <a:pPr>
              <a:buFont typeface="Arial" panose="020B0604020202020204" pitchFamily="34" charset="0"/>
              <a:buChar char="•"/>
            </a:pPr>
            <a:r>
              <a:rPr lang="vi-VN" dirty="0"/>
              <a:t>Mỗi tiến trình có thể nhận yêu cầu khác nhau từ client.</a:t>
            </a:r>
          </a:p>
          <a:p>
            <a:pPr>
              <a:buFont typeface="Arial" panose="020B0604020202020204" pitchFamily="34" charset="0"/>
              <a:buChar char="•"/>
            </a:pPr>
            <a:r>
              <a:rPr lang="vi-VN" dirty="0"/>
              <a:t>Nhưng để duy trì nhất quán, </a:t>
            </a:r>
            <a:r>
              <a:rPr lang="vi-VN" b="1" dirty="0"/>
              <a:t>chúng phải thống nhất chọn một lệnh</a:t>
            </a:r>
            <a:r>
              <a:rPr lang="vi-VN" dirty="0"/>
              <a:t> để thực thi ở bước tiếp theo.</a:t>
            </a:r>
          </a:p>
          <a:p>
            <a:pPr>
              <a:buFont typeface="Arial" panose="020B0604020202020204" pitchFamily="34" charset="0"/>
              <a:buChar char="•"/>
            </a:pPr>
            <a:r>
              <a:rPr lang="vi-VN" dirty="0"/>
              <a:t>Điều này gọi là </a:t>
            </a:r>
            <a:r>
              <a:rPr lang="vi-VN" b="1" dirty="0"/>
              <a:t>consensus on ordering</a:t>
            </a:r>
            <a:r>
              <a:rPr lang="vi-VN" dirty="0"/>
              <a:t>.</a:t>
            </a:r>
          </a:p>
          <a:p>
            <a:endParaRPr lang="en-US" b="1" dirty="0"/>
          </a:p>
          <a:p>
            <a:r>
              <a:rPr lang="en-US" b="1" dirty="0"/>
              <a:t>4. </a:t>
            </a:r>
            <a:r>
              <a:rPr lang="vi-VN" b="1" dirty="0"/>
              <a:t>Ý nghĩa quan trọng: Consensus = Nền tảng của replication</a:t>
            </a:r>
          </a:p>
          <a:p>
            <a:r>
              <a:rPr lang="vi-VN" dirty="0"/>
              <a:t>Mọi thuật toán chịu lỗi trong distributed systems (ví dụ Paxos, Raft) đều dựa trên consensus.</a:t>
            </a:r>
          </a:p>
          <a:p>
            <a:r>
              <a:rPr lang="vi-VN" b="1" dirty="0"/>
              <a:t>Không có consensus → không thể replication một cách an toàn</a:t>
            </a:r>
            <a:r>
              <a:rPr lang="vi-VN" dirty="0"/>
              <a:t>.</a:t>
            </a:r>
          </a:p>
          <a:p>
            <a:r>
              <a:rPr lang="vi-VN" dirty="0"/>
              <a:t>Vì:</a:t>
            </a:r>
          </a:p>
          <a:p>
            <a:pPr>
              <a:buFont typeface="Arial" panose="020B0604020202020204" pitchFamily="34" charset="0"/>
              <a:buChar char="•"/>
            </a:pPr>
            <a:r>
              <a:rPr lang="vi-VN" dirty="0"/>
              <a:t>Tiến trình A nghĩ lệnh tiếp theo là "update balance +$10"</a:t>
            </a:r>
          </a:p>
          <a:p>
            <a:pPr>
              <a:buFont typeface="Arial" panose="020B0604020202020204" pitchFamily="34" charset="0"/>
              <a:buChar char="•"/>
            </a:pPr>
            <a:r>
              <a:rPr lang="vi-VN" dirty="0"/>
              <a:t>Tiến trình B nghĩ lệnh tiếp theo là "transfer $50"</a:t>
            </a:r>
          </a:p>
          <a:p>
            <a:pPr>
              <a:buFont typeface="Arial" panose="020B0604020202020204" pitchFamily="34" charset="0"/>
              <a:buChar char="•"/>
            </a:pPr>
            <a:r>
              <a:rPr lang="en-US" dirty="0"/>
              <a:t>=&gt;</a:t>
            </a:r>
            <a:r>
              <a:rPr lang="vi-VN" dirty="0"/>
              <a:t> Trạng thái sẽ bị lệch → hệ thống mất nhất quán → crash hoặc sai dữ liệu.</a:t>
            </a:r>
          </a:p>
          <a:p>
            <a:endParaRPr lang="en-US" b="1" dirty="0"/>
          </a:p>
          <a:p>
            <a:r>
              <a:rPr lang="en-US" b="1" dirty="0"/>
              <a:t>5. </a:t>
            </a:r>
            <a:r>
              <a:rPr lang="vi-VN" b="1" dirty="0"/>
              <a:t>Kết luận slide</a:t>
            </a:r>
          </a:p>
          <a:p>
            <a:r>
              <a:rPr lang="vi-VN" dirty="0"/>
              <a:t>Slide này muốn nhấn mạnh:</a:t>
            </a:r>
          </a:p>
          <a:p>
            <a:r>
              <a:rPr lang="vi-VN" b="1" dirty="0"/>
              <a:t>Để xây dựng hệ thống chịu lỗi bằng cách nhân bản tiến trình, ta phải giải bài toán đồng thuận.</a:t>
            </a:r>
            <a:br>
              <a:rPr lang="vi-VN" b="1" dirty="0"/>
            </a:br>
            <a:r>
              <a:rPr lang="vi-VN" b="1" dirty="0"/>
              <a:t>Do đó, consensus là nền tảng của fault tolerance.</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18</a:t>
            </a:fld>
            <a:endParaRPr lang="en-US"/>
          </a:p>
        </p:txBody>
      </p:sp>
    </p:spTree>
    <p:extLst>
      <p:ext uri="{BB962C8B-B14F-4D97-AF65-F5344CB8AC3E}">
        <p14:creationId xmlns:p14="http://schemas.microsoft.com/office/powerpoint/2010/main" val="3629615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Flooding-based consensus</a:t>
            </a:r>
            <a:r>
              <a:rPr lang="vi-VN" dirty="0"/>
              <a:t>.</a:t>
            </a:r>
          </a:p>
          <a:p>
            <a:r>
              <a:rPr lang="en-US" b="1" dirty="0"/>
              <a:t>1. </a:t>
            </a:r>
            <a:r>
              <a:rPr lang="vi-VN" b="1" dirty="0"/>
              <a:t>Mục tiêu của cơ chế Flooding-based Consensus</a:t>
            </a:r>
          </a:p>
          <a:p>
            <a:r>
              <a:rPr lang="vi-VN" dirty="0"/>
              <a:t>Flooding-based consensus là </a:t>
            </a:r>
            <a:r>
              <a:rPr lang="vi-VN" b="1" dirty="0"/>
              <a:t>một thuật toán đồng thuận đơn giản</a:t>
            </a:r>
            <a:r>
              <a:rPr lang="vi-VN" dirty="0"/>
              <a:t> dùng cho nhóm tiến trình (process group) khi ta chỉ phải đối phó với:</a:t>
            </a:r>
          </a:p>
          <a:p>
            <a:pPr>
              <a:buFont typeface="Arial" panose="020B0604020202020204" pitchFamily="34" charset="0"/>
              <a:buChar char="•"/>
            </a:pPr>
            <a:r>
              <a:rPr lang="vi-VN" b="1" dirty="0"/>
              <a:t>Fail-stop failures</a:t>
            </a:r>
            <a:r>
              <a:rPr lang="vi-VN" dirty="0"/>
              <a:t> — tiến trình chỉ crash và </a:t>
            </a:r>
            <a:r>
              <a:rPr lang="vi-VN" i="1" dirty="0"/>
              <a:t>không bao giờ làm sai</a:t>
            </a:r>
            <a:endParaRPr lang="vi-VN" dirty="0"/>
          </a:p>
          <a:p>
            <a:pPr>
              <a:buFont typeface="Arial" panose="020B0604020202020204" pitchFamily="34" charset="0"/>
              <a:buChar char="•"/>
            </a:pPr>
            <a:r>
              <a:rPr lang="vi-VN" b="1" dirty="0"/>
              <a:t>Có bộ phát hiện hỏng chính xác</a:t>
            </a:r>
            <a:r>
              <a:rPr lang="vi-VN" dirty="0"/>
              <a:t> (reliable failure detector)</a:t>
            </a:r>
          </a:p>
          <a:p>
            <a:r>
              <a:rPr lang="en-US" dirty="0"/>
              <a:t>=&gt;</a:t>
            </a:r>
            <a:r>
              <a:rPr lang="vi-VN" dirty="0"/>
              <a:t> Đây là mô hình dễ hơn nhiều so với Paxos / Raft.</a:t>
            </a:r>
          </a:p>
          <a:p>
            <a:r>
              <a:rPr lang="vi-VN" dirty="0"/>
              <a:t>Ý tưởng:</a:t>
            </a:r>
            <a:br>
              <a:rPr lang="vi-VN" dirty="0"/>
            </a:br>
            <a:r>
              <a:rPr lang="vi-VN" b="1" dirty="0"/>
              <a:t>Mỗi tiến trình “flood” (phát tán) danh sách lệnh mình biết cho toàn nhóm qua nhiều vòng lặp (rounds).</a:t>
            </a:r>
            <a:br>
              <a:rPr lang="vi-VN" b="1" dirty="0"/>
            </a:br>
            <a:r>
              <a:rPr lang="vi-VN" b="1" dirty="0"/>
              <a:t>Sau vài vòng, tất cả tiến trình sẽ có cùng danh sách → chọn cùng một lệnh → đạt đồng thuận.</a:t>
            </a:r>
            <a:endParaRPr lang="vi-VN" dirty="0"/>
          </a:p>
          <a:p>
            <a:endParaRPr lang="en-US" b="1" dirty="0"/>
          </a:p>
          <a:p>
            <a:r>
              <a:rPr lang="en-US" b="1" dirty="0"/>
              <a:t>2. </a:t>
            </a:r>
            <a:r>
              <a:rPr lang="vi-VN" b="1" dirty="0"/>
              <a:t>System Model (Mô hình hệ thống)</a:t>
            </a:r>
          </a:p>
          <a:p>
            <a:r>
              <a:rPr lang="vi-VN" dirty="0"/>
              <a:t>Slide mô tả 4 đặc điểm quan trọng:</a:t>
            </a:r>
          </a:p>
          <a:p>
            <a:r>
              <a:rPr lang="en-US" b="1" dirty="0"/>
              <a:t>**</a:t>
            </a:r>
            <a:r>
              <a:rPr lang="vi-VN" b="1" dirty="0"/>
              <a:t> Process group P = {P₁, …, Pₙ}</a:t>
            </a:r>
          </a:p>
          <a:p>
            <a:pPr>
              <a:buFont typeface="Arial" panose="020B0604020202020204" pitchFamily="34" charset="0"/>
              <a:buChar char="•"/>
            </a:pPr>
            <a:r>
              <a:rPr lang="vi-VN" dirty="0"/>
              <a:t>Ta có n tiến trình chạy song song.</a:t>
            </a:r>
          </a:p>
          <a:p>
            <a:pPr>
              <a:buFont typeface="Arial" panose="020B0604020202020204" pitchFamily="34" charset="0"/>
              <a:buChar char="•"/>
            </a:pPr>
            <a:r>
              <a:rPr lang="vi-VN" dirty="0"/>
              <a:t>Tất cả là </a:t>
            </a:r>
            <a:r>
              <a:rPr lang="vi-VN" b="1" dirty="0"/>
              <a:t>replicas</a:t>
            </a:r>
            <a:r>
              <a:rPr lang="vi-VN" dirty="0"/>
              <a:t>: các bản sao thực thi ứng dụng.</a:t>
            </a:r>
          </a:p>
          <a:p>
            <a:r>
              <a:rPr lang="en-US" b="1" dirty="0"/>
              <a:t>**</a:t>
            </a:r>
            <a:r>
              <a:rPr lang="vi-VN" b="1" dirty="0"/>
              <a:t> Fail-stop failure semantics</a:t>
            </a:r>
          </a:p>
          <a:p>
            <a:pPr>
              <a:buFont typeface="Arial" panose="020B0604020202020204" pitchFamily="34" charset="0"/>
              <a:buChar char="•"/>
            </a:pPr>
            <a:r>
              <a:rPr lang="vi-VN" dirty="0"/>
              <a:t>Tiến trình chỉ có 1 loại hỏng: </a:t>
            </a:r>
            <a:r>
              <a:rPr lang="vi-VN" b="1" dirty="0"/>
              <a:t>crash và dừng hẳn</a:t>
            </a:r>
            <a:r>
              <a:rPr lang="vi-VN" dirty="0"/>
              <a:t>.</a:t>
            </a:r>
          </a:p>
          <a:p>
            <a:pPr>
              <a:buFont typeface="Arial" panose="020B0604020202020204" pitchFamily="34" charset="0"/>
              <a:buChar char="•"/>
            </a:pPr>
            <a:r>
              <a:rPr lang="vi-VN" dirty="0"/>
              <a:t>Không tạo ra giá trị sai (không Byzantine, không malicious).</a:t>
            </a:r>
          </a:p>
          <a:p>
            <a:pPr>
              <a:buFont typeface="Arial" panose="020B0604020202020204" pitchFamily="34" charset="0"/>
              <a:buChar char="•"/>
            </a:pPr>
            <a:r>
              <a:rPr lang="vi-VN" dirty="0"/>
              <a:t>Bộ phát hiện lỗi là </a:t>
            </a:r>
            <a:r>
              <a:rPr lang="vi-VN" b="1" dirty="0"/>
              <a:t>đáng tin cậy</a:t>
            </a:r>
            <a:r>
              <a:rPr lang="vi-VN" dirty="0"/>
              <a:t> → mọi crash đều bị phát hiện đúng.</a:t>
            </a:r>
          </a:p>
          <a:p>
            <a:r>
              <a:rPr lang="vi-VN" dirty="0"/>
              <a:t>Điều này giúp thuật toán rất đơn giản vì:</a:t>
            </a:r>
            <a:br>
              <a:rPr lang="vi-VN" dirty="0"/>
            </a:br>
            <a:r>
              <a:rPr lang="en-US" dirty="0"/>
              <a:t>=&gt;</a:t>
            </a:r>
            <a:r>
              <a:rPr lang="vi-VN" dirty="0"/>
              <a:t> Không có "giá trị xấu" xuất hiện trong nhóm</a:t>
            </a:r>
            <a:br>
              <a:rPr lang="vi-VN" dirty="0"/>
            </a:br>
            <a:r>
              <a:rPr lang="en-US" dirty="0"/>
              <a:t>=&gt;</a:t>
            </a:r>
            <a:r>
              <a:rPr lang="vi-VN" dirty="0"/>
              <a:t> Không cần majority vote</a:t>
            </a:r>
            <a:br>
              <a:rPr lang="vi-VN" dirty="0"/>
            </a:br>
            <a:r>
              <a:rPr lang="en-US" dirty="0"/>
              <a:t>=&gt;</a:t>
            </a:r>
            <a:r>
              <a:rPr lang="vi-VN" dirty="0"/>
              <a:t> Không cần phân biệt lệnh đúng – sai</a:t>
            </a:r>
          </a:p>
          <a:p>
            <a:r>
              <a:rPr lang="en-US" b="1" dirty="0"/>
              <a:t>**</a:t>
            </a:r>
            <a:r>
              <a:rPr lang="vi-VN" b="1" dirty="0"/>
              <a:t> Client gửi lệnh đến một tiến trình bất kỳ</a:t>
            </a:r>
          </a:p>
          <a:p>
            <a:pPr>
              <a:buFont typeface="Arial" panose="020B0604020202020204" pitchFamily="34" charset="0"/>
              <a:buChar char="•"/>
            </a:pPr>
            <a:r>
              <a:rPr lang="vi-VN" dirty="0"/>
              <a:t>Client có thể gọi Pᵢ để yêu cầu “chạy lệnh X”.</a:t>
            </a:r>
          </a:p>
          <a:p>
            <a:pPr>
              <a:buFont typeface="Arial" panose="020B0604020202020204" pitchFamily="34" charset="0"/>
              <a:buChar char="•"/>
            </a:pPr>
            <a:r>
              <a:rPr lang="vi-VN" dirty="0"/>
              <a:t>Pᵢ đưa lệnh X vào danh sách đề xuất (proposed commands).</a:t>
            </a:r>
          </a:p>
          <a:p>
            <a:r>
              <a:rPr lang="en-US" b="1" dirty="0"/>
              <a:t>-</a:t>
            </a:r>
            <a:r>
              <a:rPr lang="vi-VN" b="1" dirty="0"/>
              <a:t> Mỗi tiến trình duy trì danh sách lệnh của riêng nó</a:t>
            </a:r>
          </a:p>
          <a:p>
            <a:r>
              <a:rPr lang="en-US" dirty="0"/>
              <a:t>* </a:t>
            </a:r>
            <a:r>
              <a:rPr lang="vi-VN" dirty="0"/>
              <a:t>Ví dụ:</a:t>
            </a:r>
            <a:br>
              <a:rPr lang="vi-VN" dirty="0"/>
            </a:br>
            <a:r>
              <a:rPr lang="vi-VN" dirty="0"/>
              <a:t>P₁ biết: {a, c}, P₂ biết: {b}, P₃ biết: {a, b}</a:t>
            </a:r>
          </a:p>
          <a:p>
            <a:r>
              <a:rPr lang="vi-VN" dirty="0"/>
              <a:t>Mục tiêu:</a:t>
            </a:r>
            <a:br>
              <a:rPr lang="vi-VN" dirty="0"/>
            </a:br>
            <a:r>
              <a:rPr lang="en-US" dirty="0"/>
              <a:t>=&gt;</a:t>
            </a:r>
            <a:r>
              <a:rPr lang="vi-VN" dirty="0"/>
              <a:t> Sau một thời gian, tất cả phải có </a:t>
            </a:r>
            <a:r>
              <a:rPr lang="vi-VN" b="1" dirty="0"/>
              <a:t>cùng tập lệnh</a:t>
            </a:r>
            <a:r>
              <a:rPr lang="vi-VN" dirty="0"/>
              <a:t>.</a:t>
            </a:r>
          </a:p>
          <a:p>
            <a:endParaRPr lang="en-US" b="1" dirty="0"/>
          </a:p>
          <a:p>
            <a:r>
              <a:rPr lang="en-US" b="1" dirty="0"/>
              <a:t>3. </a:t>
            </a:r>
            <a:r>
              <a:rPr lang="vi-VN" b="1" dirty="0"/>
              <a:t>Thuật toán flooding (dựa trên vòng lặp)</a:t>
            </a:r>
          </a:p>
          <a:p>
            <a:r>
              <a:rPr lang="vi-VN" dirty="0"/>
              <a:t>Thuật toán tiến hành theo các </a:t>
            </a:r>
            <a:r>
              <a:rPr lang="vi-VN" b="1" dirty="0"/>
              <a:t>vòng (rounds)</a:t>
            </a:r>
            <a:r>
              <a:rPr lang="vi-VN" dirty="0"/>
              <a:t>.</a:t>
            </a:r>
            <a:br>
              <a:rPr lang="vi-VN" dirty="0"/>
            </a:br>
            <a:r>
              <a:rPr lang="vi-VN" dirty="0"/>
              <a:t>Mỗi tiến trình thực hiện các bước giống nhau.</a:t>
            </a:r>
          </a:p>
          <a:p>
            <a:r>
              <a:rPr lang="en-US" b="1" dirty="0"/>
              <a:t>* </a:t>
            </a:r>
            <a:r>
              <a:rPr lang="vi-VN" b="1" dirty="0"/>
              <a:t>Bước 1 — Multicast danh sách lệnh đang biết trong round r</a:t>
            </a:r>
          </a:p>
          <a:p>
            <a:r>
              <a:rPr lang="vi-VN" dirty="0"/>
              <a:t>“In round r, Pᵢ multicasts its known set of commands Cᵣᵢ to all others”</a:t>
            </a:r>
          </a:p>
          <a:p>
            <a:r>
              <a:rPr lang="vi-VN" dirty="0"/>
              <a:t>Tức là:</a:t>
            </a:r>
          </a:p>
          <a:p>
            <a:pPr>
              <a:buFont typeface="Arial" panose="020B0604020202020204" pitchFamily="34" charset="0"/>
              <a:buChar char="•"/>
            </a:pPr>
            <a:r>
              <a:rPr lang="vi-VN" dirty="0"/>
              <a:t>Pᵢ gửi danh sách lệnh mình biết → cho tất cả tiến trình.</a:t>
            </a:r>
          </a:p>
          <a:p>
            <a:pPr>
              <a:buFont typeface="Arial" panose="020B0604020202020204" pitchFamily="34" charset="0"/>
              <a:buChar char="•"/>
            </a:pPr>
            <a:r>
              <a:rPr lang="vi-VN" dirty="0"/>
              <a:t>Đồng thời nhận danh sách từ các tiến trình khác.</a:t>
            </a:r>
          </a:p>
          <a:p>
            <a:r>
              <a:rPr lang="en-US" dirty="0"/>
              <a:t>=&gt;</a:t>
            </a:r>
            <a:r>
              <a:rPr lang="vi-VN" dirty="0"/>
              <a:t> Đây là hành động “flooding”: phát tán thông tin cho toàn mạng.</a:t>
            </a:r>
          </a:p>
          <a:p>
            <a:r>
              <a:rPr lang="en-US" b="1" dirty="0"/>
              <a:t>* </a:t>
            </a:r>
            <a:r>
              <a:rPr lang="vi-VN" b="1" dirty="0"/>
              <a:t>Bước 2 — Merge (gộp) tất cả lệnh nhận được</a:t>
            </a:r>
          </a:p>
          <a:p>
            <a:r>
              <a:rPr lang="vi-VN" dirty="0"/>
              <a:t>“Each Pᵢ merges all received commands into a new Cᵣ⁺¹ᵢ”</a:t>
            </a:r>
          </a:p>
          <a:p>
            <a:r>
              <a:rPr lang="vi-VN" dirty="0"/>
              <a:t>Ví dụ:</a:t>
            </a:r>
          </a:p>
          <a:p>
            <a:pPr>
              <a:buFont typeface="Arial" panose="020B0604020202020204" pitchFamily="34" charset="0"/>
              <a:buChar char="•"/>
            </a:pPr>
            <a:r>
              <a:rPr lang="vi-VN" dirty="0"/>
              <a:t>P₁ gửi {a, b}</a:t>
            </a:r>
          </a:p>
          <a:p>
            <a:pPr>
              <a:buFont typeface="Arial" panose="020B0604020202020204" pitchFamily="34" charset="0"/>
              <a:buChar char="•"/>
            </a:pPr>
            <a:r>
              <a:rPr lang="vi-VN" dirty="0"/>
              <a:t>P₂ gửi {b, c}</a:t>
            </a:r>
          </a:p>
          <a:p>
            <a:pPr>
              <a:buFont typeface="Arial" panose="020B0604020202020204" pitchFamily="34" charset="0"/>
              <a:buChar char="•"/>
            </a:pPr>
            <a:r>
              <a:rPr lang="vi-VN" dirty="0"/>
              <a:t>P₃ gửi {a}</a:t>
            </a:r>
          </a:p>
          <a:p>
            <a:r>
              <a:rPr lang="vi-VN" dirty="0"/>
              <a:t>Mỗi tiến trình gộp thành: {a, b, c}</a:t>
            </a:r>
          </a:p>
          <a:p>
            <a:r>
              <a:rPr lang="en-US" dirty="0"/>
              <a:t>=&gt;</a:t>
            </a:r>
            <a:r>
              <a:rPr lang="vi-VN" dirty="0"/>
              <a:t> Sau 1–2 round, mọi tiến trình sẽ hội tụ cùng danh sách.</a:t>
            </a:r>
          </a:p>
          <a:p>
            <a:r>
              <a:rPr lang="en-US" b="1" dirty="0"/>
              <a:t>* </a:t>
            </a:r>
            <a:r>
              <a:rPr lang="vi-VN" b="1" dirty="0"/>
              <a:t>Bước 3 — Chọn lệnh tiếp theo</a:t>
            </a:r>
          </a:p>
          <a:p>
            <a:r>
              <a:rPr lang="vi-VN" dirty="0"/>
              <a:t>“cmdᵢ ← select(Cᵣ⁺¹ᵢ) through a globally shared deterministic function”</a:t>
            </a:r>
          </a:p>
          <a:p>
            <a:r>
              <a:rPr lang="vi-VN" dirty="0"/>
              <a:t>Ý tưởng:</a:t>
            </a:r>
          </a:p>
          <a:p>
            <a:pPr>
              <a:buFont typeface="Arial" panose="020B0604020202020204" pitchFamily="34" charset="0"/>
              <a:buChar char="•"/>
            </a:pPr>
            <a:r>
              <a:rPr lang="vi-VN" dirty="0"/>
              <a:t>Khi danh sách ở mọi Pᵢ đã giống nhau, ta phải chọn lệnh tiếp theo để thực thi.</a:t>
            </a:r>
          </a:p>
          <a:p>
            <a:pPr>
              <a:buFont typeface="Arial" panose="020B0604020202020204" pitchFamily="34" charset="0"/>
              <a:buChar char="•"/>
            </a:pPr>
            <a:r>
              <a:rPr lang="vi-VN" dirty="0"/>
              <a:t>Hàm </a:t>
            </a:r>
            <a:r>
              <a:rPr lang="vi-VN" i="1" dirty="0"/>
              <a:t>select()</a:t>
            </a:r>
            <a:r>
              <a:rPr lang="vi-VN" dirty="0"/>
              <a:t> </a:t>
            </a:r>
            <a:r>
              <a:rPr lang="vi-VN" b="1" dirty="0"/>
              <a:t>phải được chia sẻ và quyết định rõ ràng</a:t>
            </a:r>
            <a:r>
              <a:rPr lang="vi-VN" dirty="0"/>
              <a:t>, ví dụ:</a:t>
            </a:r>
          </a:p>
          <a:p>
            <a:pPr marL="742950" lvl="1" indent="-285750">
              <a:buFont typeface="Arial" panose="020B0604020202020204" pitchFamily="34" charset="0"/>
              <a:buChar char="•"/>
            </a:pPr>
            <a:r>
              <a:rPr lang="vi-VN" dirty="0"/>
              <a:t>“chọn lệnh có timestamp nhỏ nhất”</a:t>
            </a:r>
          </a:p>
          <a:p>
            <a:pPr marL="742950" lvl="1" indent="-285750">
              <a:buFont typeface="Arial" panose="020B0604020202020204" pitchFamily="34" charset="0"/>
              <a:buChar char="•"/>
            </a:pPr>
            <a:r>
              <a:rPr lang="vi-VN" dirty="0"/>
              <a:t>“chọn lệnh nhỏ nhất theo thứ tự từ điển”</a:t>
            </a:r>
          </a:p>
          <a:p>
            <a:pPr marL="742950" lvl="1" indent="-285750">
              <a:buFont typeface="Arial" panose="020B0604020202020204" pitchFamily="34" charset="0"/>
              <a:buChar char="•"/>
            </a:pPr>
            <a:r>
              <a:rPr lang="vi-VN" dirty="0"/>
              <a:t>“chọn lệnh theo ID client”</a:t>
            </a:r>
          </a:p>
          <a:p>
            <a:r>
              <a:rPr lang="en-US" dirty="0"/>
              <a:t>=&gt;</a:t>
            </a:r>
            <a:r>
              <a:rPr lang="vi-VN" dirty="0"/>
              <a:t> Vì hàm là </a:t>
            </a:r>
            <a:r>
              <a:rPr lang="vi-VN" b="1" dirty="0"/>
              <a:t>deterministic</a:t>
            </a:r>
            <a:r>
              <a:rPr lang="vi-VN" dirty="0"/>
              <a:t> và giống nhau ở mọi tiến trình</a:t>
            </a:r>
            <a:br>
              <a:rPr lang="vi-VN" dirty="0"/>
            </a:br>
            <a:r>
              <a:rPr lang="en-US" dirty="0"/>
              <a:t>=&gt;</a:t>
            </a:r>
            <a:r>
              <a:rPr lang="vi-VN" dirty="0"/>
              <a:t> Tất cả đều chọn </a:t>
            </a:r>
            <a:r>
              <a:rPr lang="vi-VN" b="1" dirty="0"/>
              <a:t>cùng một lệnh</a:t>
            </a:r>
            <a:br>
              <a:rPr lang="vi-VN" dirty="0"/>
            </a:br>
            <a:r>
              <a:rPr lang="en-US" dirty="0"/>
              <a:t>=&gt;</a:t>
            </a:r>
            <a:r>
              <a:rPr lang="vi-VN" dirty="0"/>
              <a:t> </a:t>
            </a:r>
            <a:r>
              <a:rPr lang="vi-VN" b="1" dirty="0"/>
              <a:t>Đạt đồng thuận (consensus)</a:t>
            </a:r>
            <a:endParaRPr lang="vi-VN" dirty="0"/>
          </a:p>
          <a:p>
            <a:endParaRPr lang="en-US" b="1" dirty="0"/>
          </a:p>
          <a:p>
            <a:r>
              <a:rPr lang="en-US" b="1" dirty="0"/>
              <a:t>*** </a:t>
            </a:r>
            <a:r>
              <a:rPr lang="vi-VN" b="1" dirty="0"/>
              <a:t>Tóm tắt</a:t>
            </a:r>
          </a:p>
          <a:p>
            <a:r>
              <a:rPr lang="vi-VN" dirty="0"/>
              <a:t>Thuật toán hoạt động như sau:</a:t>
            </a:r>
          </a:p>
          <a:p>
            <a:pPr>
              <a:buFont typeface="+mj-lt"/>
              <a:buAutoNum type="arabicPeriod"/>
            </a:pPr>
            <a:r>
              <a:rPr lang="vi-VN" b="1" dirty="0"/>
              <a:t>Mỗi tiến trình phát tán (flood) danh sách lệnh của mình cho toàn bộ nhóm.</a:t>
            </a:r>
            <a:endParaRPr lang="vi-VN" dirty="0"/>
          </a:p>
          <a:p>
            <a:pPr>
              <a:buFont typeface="+mj-lt"/>
              <a:buAutoNum type="arabicPeriod"/>
            </a:pPr>
            <a:r>
              <a:rPr lang="vi-VN" b="1" dirty="0"/>
              <a:t>Sau khi nhận thông tin, tiến trình gộp tất cả vào.</a:t>
            </a:r>
            <a:endParaRPr lang="vi-VN" dirty="0"/>
          </a:p>
          <a:p>
            <a:pPr>
              <a:buFont typeface="+mj-lt"/>
              <a:buAutoNum type="arabicPeriod"/>
            </a:pPr>
            <a:r>
              <a:rPr lang="vi-VN" b="1" dirty="0"/>
              <a:t>Vì fail-stop + reliable detector</a:t>
            </a:r>
            <a:r>
              <a:rPr lang="vi-VN" dirty="0"/>
              <a:t>, những tiến trình còn sống sẽ sớm có danh sách giống nhau.</a:t>
            </a:r>
          </a:p>
          <a:p>
            <a:pPr>
              <a:buFont typeface="+mj-lt"/>
              <a:buAutoNum type="arabicPeriod"/>
            </a:pPr>
            <a:r>
              <a:rPr lang="vi-VN" b="1" dirty="0"/>
              <a:t>Dùng hàm chọn deterministic để lấy ra cùng một lệnh.</a:t>
            </a:r>
            <a:endParaRPr lang="vi-VN" dirty="0"/>
          </a:p>
          <a:p>
            <a:pPr>
              <a:buFont typeface="+mj-lt"/>
              <a:buAutoNum type="arabicPeriod"/>
            </a:pPr>
            <a:r>
              <a:rPr lang="vi-VN" dirty="0"/>
              <a:t>→ Tất cả tiến trình không lỗi sẽ chạy </a:t>
            </a:r>
            <a:r>
              <a:rPr lang="vi-VN" b="1" dirty="0"/>
              <a:t>cùng một lệnh</a:t>
            </a:r>
            <a:r>
              <a:rPr lang="vi-VN" dirty="0"/>
              <a:t> → đạt </a:t>
            </a:r>
            <a:r>
              <a:rPr lang="vi-VN" b="1" dirty="0"/>
              <a:t>consensus</a:t>
            </a:r>
            <a:r>
              <a:rPr lang="vi-VN" dirty="0"/>
              <a:t>.</a:t>
            </a:r>
          </a:p>
          <a:p>
            <a:r>
              <a:rPr lang="en-US" b="1" dirty="0"/>
              <a:t>🟩 </a:t>
            </a:r>
            <a:r>
              <a:rPr lang="vi-VN" b="1" dirty="0"/>
              <a:t>Khi nào dùng công cụ này?</a:t>
            </a:r>
          </a:p>
          <a:p>
            <a:r>
              <a:rPr lang="vi-VN" dirty="0"/>
              <a:t>Flooding-based consensus phù hợp khi:</a:t>
            </a:r>
          </a:p>
          <a:p>
            <a:pPr>
              <a:buFont typeface="Arial" panose="020B0604020202020204" pitchFamily="34" charset="0"/>
              <a:buChar char="•"/>
            </a:pPr>
            <a:r>
              <a:rPr lang="vi-VN" dirty="0"/>
              <a:t>Quorum không cần thiết</a:t>
            </a:r>
          </a:p>
          <a:p>
            <a:pPr>
              <a:buFont typeface="Arial" panose="020B0604020202020204" pitchFamily="34" charset="0"/>
              <a:buChar char="•"/>
            </a:pPr>
            <a:r>
              <a:rPr lang="vi-VN" dirty="0"/>
              <a:t>Mạng nhỏ (vì flooding tạo quá nhiều message)</a:t>
            </a:r>
          </a:p>
          <a:p>
            <a:pPr>
              <a:buFont typeface="Arial" panose="020B0604020202020204" pitchFamily="34" charset="0"/>
              <a:buChar char="•"/>
            </a:pPr>
            <a:r>
              <a:rPr lang="vi-VN" dirty="0"/>
              <a:t>Fail-stop là giả định hợp lý</a:t>
            </a:r>
          </a:p>
          <a:p>
            <a:pPr>
              <a:buFont typeface="Arial" panose="020B0604020202020204" pitchFamily="34" charset="0"/>
              <a:buChar char="•"/>
            </a:pPr>
            <a:r>
              <a:rPr lang="vi-VN" dirty="0"/>
              <a:t>Muốn thuật toán đơn giản (dễ hiểu hơn Paxos / Raft rất nhiều)</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20</a:t>
            </a:fld>
            <a:endParaRPr lang="en-US"/>
          </a:p>
        </p:txBody>
      </p:sp>
    </p:spTree>
    <p:extLst>
      <p:ext uri="{BB962C8B-B14F-4D97-AF65-F5344CB8AC3E}">
        <p14:creationId xmlns:p14="http://schemas.microsoft.com/office/powerpoint/2010/main" val="2144695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Flooding-based consensus: Example</a:t>
            </a:r>
            <a:r>
              <a:rPr lang="vi-VN" dirty="0"/>
              <a:t>.</a:t>
            </a:r>
          </a:p>
          <a:p>
            <a:r>
              <a:rPr lang="en-US" b="1" dirty="0"/>
              <a:t>1. </a:t>
            </a:r>
            <a:r>
              <a:rPr lang="vi-VN" b="1" dirty="0"/>
              <a:t>Bối cảnh của ví dụ</a:t>
            </a:r>
          </a:p>
          <a:p>
            <a:r>
              <a:rPr lang="vi-VN" dirty="0"/>
              <a:t>Ta có 4 tiến trình:</a:t>
            </a:r>
          </a:p>
          <a:p>
            <a:pPr>
              <a:buFont typeface="Arial" panose="020B0604020202020204" pitchFamily="34" charset="0"/>
              <a:buChar char="•"/>
            </a:pPr>
            <a:r>
              <a:rPr lang="vi-VN" b="1" dirty="0"/>
              <a:t>P₁</a:t>
            </a:r>
            <a:endParaRPr lang="vi-VN" dirty="0"/>
          </a:p>
          <a:p>
            <a:pPr>
              <a:buFont typeface="Arial" panose="020B0604020202020204" pitchFamily="34" charset="0"/>
              <a:buChar char="•"/>
            </a:pPr>
            <a:r>
              <a:rPr lang="vi-VN" b="1" dirty="0"/>
              <a:t>P₂</a:t>
            </a:r>
            <a:endParaRPr lang="vi-VN" dirty="0"/>
          </a:p>
          <a:p>
            <a:pPr>
              <a:buFont typeface="Arial" panose="020B0604020202020204" pitchFamily="34" charset="0"/>
              <a:buChar char="•"/>
            </a:pPr>
            <a:r>
              <a:rPr lang="vi-VN" b="1" dirty="0"/>
              <a:t>P₃</a:t>
            </a:r>
            <a:endParaRPr lang="vi-VN" dirty="0"/>
          </a:p>
          <a:p>
            <a:pPr>
              <a:buFont typeface="Arial" panose="020B0604020202020204" pitchFamily="34" charset="0"/>
              <a:buChar char="•"/>
            </a:pPr>
            <a:r>
              <a:rPr lang="vi-VN" b="1" dirty="0"/>
              <a:t>P₄</a:t>
            </a:r>
            <a:endParaRPr lang="vi-VN" dirty="0"/>
          </a:p>
          <a:p>
            <a:r>
              <a:rPr lang="vi-VN" dirty="0"/>
              <a:t>Trong quá trình flooding (phát tán danh sách lệnh), </a:t>
            </a:r>
            <a:r>
              <a:rPr lang="vi-VN" b="1" dirty="0"/>
              <a:t>P₁ bị crash</a:t>
            </a:r>
            <a:r>
              <a:rPr lang="vi-VN" dirty="0"/>
              <a:t> (ngôi sao nổ trên slide).</a:t>
            </a:r>
          </a:p>
          <a:p>
            <a:r>
              <a:rPr lang="en-US" b="1" dirty="0"/>
              <a:t>2. </a:t>
            </a:r>
            <a:r>
              <a:rPr lang="vi-VN" b="1" dirty="0"/>
              <a:t>Cơ chế flooding trong ví dụ</a:t>
            </a:r>
          </a:p>
          <a:p>
            <a:r>
              <a:rPr lang="vi-VN" dirty="0"/>
              <a:t>Ban đầu:</a:t>
            </a:r>
          </a:p>
          <a:p>
            <a:pPr>
              <a:buFont typeface="Arial" panose="020B0604020202020204" pitchFamily="34" charset="0"/>
              <a:buChar char="•"/>
            </a:pPr>
            <a:r>
              <a:rPr lang="vi-VN" dirty="0"/>
              <a:t>Mỗi tiến trình gửi (multicast) danh sách lệnh mình biết cho tất cả tiến trình còn lại.</a:t>
            </a:r>
          </a:p>
          <a:p>
            <a:pPr>
              <a:buFont typeface="Arial" panose="020B0604020202020204" pitchFamily="34" charset="0"/>
              <a:buChar char="•"/>
            </a:pPr>
            <a:r>
              <a:rPr lang="vi-VN" dirty="0"/>
              <a:t>Sau các vòng (rounds), mỗi tiến trình cố gắng thu thập tất cả các đề xuất lệnh.</a:t>
            </a:r>
          </a:p>
          <a:p>
            <a:r>
              <a:rPr lang="vi-VN" dirty="0"/>
              <a:t>Trong hình:</a:t>
            </a:r>
          </a:p>
          <a:p>
            <a:pPr>
              <a:buFont typeface="Arial" panose="020B0604020202020204" pitchFamily="34" charset="0"/>
              <a:buChar char="•"/>
            </a:pPr>
            <a:r>
              <a:rPr lang="vi-VN" dirty="0"/>
              <a:t>Các đường chéo là các thông điệp (commands) được gửi giữa các tiến trình.</a:t>
            </a:r>
          </a:p>
          <a:p>
            <a:pPr>
              <a:buFont typeface="Arial" panose="020B0604020202020204" pitchFamily="34" charset="0"/>
              <a:buChar char="•"/>
            </a:pPr>
            <a:r>
              <a:rPr lang="vi-VN" dirty="0"/>
              <a:t>Tại điểm màu xám ghi “decide”, tiến trình đó </a:t>
            </a:r>
            <a:r>
              <a:rPr lang="vi-VN" b="1" dirty="0"/>
              <a:t>đã có đủ thông tin để đưa ra quyết định</a:t>
            </a:r>
            <a:r>
              <a:rPr lang="vi-VN" dirty="0"/>
              <a:t>.</a:t>
            </a:r>
          </a:p>
          <a:p>
            <a:r>
              <a:rPr lang="en-US" b="1" dirty="0"/>
              <a:t>3. </a:t>
            </a:r>
            <a:r>
              <a:rPr lang="vi-VN" b="1" dirty="0"/>
              <a:t>Tại sao P₂ có thể quyết định?</a:t>
            </a:r>
          </a:p>
          <a:p>
            <a:r>
              <a:rPr lang="en-US" b="1" dirty="0"/>
              <a:t>*</a:t>
            </a:r>
            <a:r>
              <a:rPr lang="vi-VN" b="1" dirty="0"/>
              <a:t> Quan sát 1</a:t>
            </a:r>
          </a:p>
          <a:p>
            <a:r>
              <a:rPr lang="vi-VN" b="1" dirty="0"/>
              <a:t>P₂ nhận được mọi lệnh từ tất cả tiến trình còn sống</a:t>
            </a:r>
            <a:r>
              <a:rPr lang="vi-VN" dirty="0"/>
              <a:t> → nên nó </a:t>
            </a:r>
            <a:r>
              <a:rPr lang="vi-VN" b="1" dirty="0"/>
              <a:t>chắc chắn</a:t>
            </a:r>
            <a:r>
              <a:rPr lang="vi-VN" dirty="0"/>
              <a:t> rằng:</a:t>
            </a:r>
          </a:p>
          <a:p>
            <a:pPr>
              <a:buFont typeface="Arial" panose="020B0604020202020204" pitchFamily="34" charset="0"/>
              <a:buChar char="•"/>
            </a:pPr>
            <a:r>
              <a:rPr lang="vi-VN" dirty="0"/>
              <a:t>Không còn thông tin mới nào khác ở bất kỳ tiến trình nào.</a:t>
            </a:r>
          </a:p>
          <a:p>
            <a:pPr>
              <a:buFont typeface="Arial" panose="020B0604020202020204" pitchFamily="34" charset="0"/>
              <a:buChar char="•"/>
            </a:pPr>
            <a:r>
              <a:rPr lang="vi-VN" dirty="0"/>
              <a:t>Tập lệnh của nó là đầy đủ </a:t>
            </a:r>
            <a:r>
              <a:rPr lang="vi-VN" b="1" dirty="0"/>
              <a:t>(complete)</a:t>
            </a:r>
            <a:r>
              <a:rPr lang="vi-VN" dirty="0"/>
              <a:t>.</a:t>
            </a:r>
          </a:p>
          <a:p>
            <a:r>
              <a:rPr lang="en-US" dirty="0"/>
              <a:t>=&gt;</a:t>
            </a:r>
            <a:r>
              <a:rPr lang="vi-VN" dirty="0"/>
              <a:t> Vì thế </a:t>
            </a:r>
            <a:r>
              <a:rPr lang="vi-VN" b="1" dirty="0"/>
              <a:t>P₂ có thể quyết định lệnh tiếp theo</a:t>
            </a:r>
            <a:r>
              <a:rPr lang="vi-VN" dirty="0"/>
              <a:t>.</a:t>
            </a:r>
          </a:p>
          <a:p>
            <a:r>
              <a:rPr lang="en-US" dirty="0"/>
              <a:t>* </a:t>
            </a:r>
            <a:r>
              <a:rPr lang="vi-VN" dirty="0"/>
              <a:t>P₂ không cần biết P₁ crash khi nào, chỉ cần biết:</a:t>
            </a:r>
            <a:br>
              <a:rPr lang="vi-VN" dirty="0"/>
            </a:br>
            <a:r>
              <a:rPr lang="vi-VN" dirty="0"/>
              <a:t>“Không còn thông tin nào từ các tiến trình khác mà nó chưa nhận.”</a:t>
            </a:r>
          </a:p>
          <a:p>
            <a:r>
              <a:rPr lang="en-US" b="1" dirty="0"/>
              <a:t>4. </a:t>
            </a:r>
            <a:r>
              <a:rPr lang="vi-VN" b="1" dirty="0"/>
              <a:t>Tại sao P₃ và P₄ không thể quyết định?</a:t>
            </a:r>
          </a:p>
          <a:p>
            <a:r>
              <a:rPr lang="en-US" b="1" dirty="0"/>
              <a:t>*</a:t>
            </a:r>
            <a:r>
              <a:rPr lang="vi-VN" b="1" dirty="0"/>
              <a:t> Quan sát 2</a:t>
            </a:r>
          </a:p>
          <a:p>
            <a:r>
              <a:rPr lang="vi-VN" dirty="0"/>
              <a:t>P₃ phát hiện P₁ đã crash, nhưng P₃ </a:t>
            </a:r>
            <a:r>
              <a:rPr lang="vi-VN" b="1" dirty="0"/>
              <a:t>không thể biết</a:t>
            </a:r>
            <a:r>
              <a:rPr lang="vi-VN" dirty="0"/>
              <a:t> một điều quan trọng:</a:t>
            </a:r>
          </a:p>
          <a:p>
            <a:r>
              <a:rPr lang="vi-VN" b="1" dirty="0"/>
              <a:t>Liệu P₂ có nhận được thông tin nào từ P₁ trước khi P₁ crash hay không?</a:t>
            </a:r>
            <a:endParaRPr lang="vi-VN" dirty="0"/>
          </a:p>
          <a:p>
            <a:r>
              <a:rPr lang="vi-VN" dirty="0"/>
              <a:t>Tức là:</a:t>
            </a:r>
          </a:p>
          <a:p>
            <a:pPr>
              <a:buFont typeface="Arial" panose="020B0604020202020204" pitchFamily="34" charset="0"/>
              <a:buChar char="•"/>
            </a:pPr>
            <a:r>
              <a:rPr lang="vi-VN" dirty="0"/>
              <a:t>P₃ biết </a:t>
            </a:r>
            <a:r>
              <a:rPr lang="vi-VN" b="1" dirty="0"/>
              <a:t>mình</a:t>
            </a:r>
            <a:r>
              <a:rPr lang="vi-VN" dirty="0"/>
              <a:t> không nhận gì từ P₁.</a:t>
            </a:r>
          </a:p>
          <a:p>
            <a:pPr>
              <a:buFont typeface="Arial" panose="020B0604020202020204" pitchFamily="34" charset="0"/>
              <a:buChar char="•"/>
            </a:pPr>
            <a:r>
              <a:rPr lang="vi-VN" dirty="0"/>
              <a:t>Nhưng P₃ </a:t>
            </a:r>
            <a:r>
              <a:rPr lang="vi-VN" b="1" dirty="0"/>
              <a:t>không biết</a:t>
            </a:r>
            <a:r>
              <a:rPr lang="vi-VN" dirty="0"/>
              <a:t> P₂ có nhận được gì từ P₁ trước khi nó crash không.</a:t>
            </a:r>
          </a:p>
          <a:p>
            <a:pPr>
              <a:buFont typeface="Arial" panose="020B0604020202020204" pitchFamily="34" charset="0"/>
              <a:buChar char="•"/>
            </a:pPr>
            <a:r>
              <a:rPr lang="vi-VN" dirty="0"/>
              <a:t>Nếu P₂ có thông tin gì đó mà P₃ không biết → </a:t>
            </a:r>
            <a:r>
              <a:rPr lang="vi-VN" b="1" dirty="0"/>
              <a:t>P₃ không thể chắc chắn tập lệnh của mình đầy đủ</a:t>
            </a:r>
            <a:r>
              <a:rPr lang="vi-VN" dirty="0"/>
              <a:t>.</a:t>
            </a:r>
          </a:p>
          <a:p>
            <a:r>
              <a:rPr lang="en-US" dirty="0"/>
              <a:t>=&gt;</a:t>
            </a:r>
            <a:r>
              <a:rPr lang="vi-VN" dirty="0"/>
              <a:t> </a:t>
            </a:r>
            <a:r>
              <a:rPr lang="vi-VN" b="1" dirty="0"/>
              <a:t>Không chắc chắn = không được quyết định</a:t>
            </a:r>
            <a:r>
              <a:rPr lang="vi-VN" dirty="0"/>
              <a:t>.</a:t>
            </a:r>
          </a:p>
          <a:p>
            <a:r>
              <a:rPr lang="vi-VN" dirty="0"/>
              <a:t>Điều này cũng đúng cho </a:t>
            </a:r>
            <a:r>
              <a:rPr lang="vi-VN" b="1" dirty="0"/>
              <a:t>P₄</a:t>
            </a:r>
            <a:r>
              <a:rPr lang="vi-VN" dirty="0"/>
              <a:t>.</a:t>
            </a:r>
          </a:p>
          <a:p>
            <a:r>
              <a:rPr lang="en-US" b="1" dirty="0"/>
              <a:t>5. </a:t>
            </a:r>
            <a:r>
              <a:rPr lang="vi-VN" b="1" dirty="0"/>
              <a:t>Trực giác quan trọng</a:t>
            </a:r>
          </a:p>
          <a:p>
            <a:r>
              <a:rPr lang="vi-VN" dirty="0"/>
              <a:t>Trong hệ thống fail-stop:</a:t>
            </a:r>
          </a:p>
          <a:p>
            <a:pPr>
              <a:buFont typeface="Arial" panose="020B0604020202020204" pitchFamily="34" charset="0"/>
              <a:buChar char="•"/>
            </a:pPr>
            <a:r>
              <a:rPr lang="vi-VN" dirty="0"/>
              <a:t>Một tiến trình </a:t>
            </a:r>
            <a:r>
              <a:rPr lang="vi-VN" b="1" dirty="0"/>
              <a:t>chỉ được quyết định</a:t>
            </a:r>
            <a:r>
              <a:rPr lang="vi-VN" dirty="0"/>
              <a:t> khi nó </a:t>
            </a:r>
            <a:r>
              <a:rPr lang="vi-VN" b="1" dirty="0"/>
              <a:t>chắc chắn</a:t>
            </a:r>
            <a:r>
              <a:rPr lang="vi-VN" dirty="0"/>
              <a:t> rằng:</a:t>
            </a:r>
          </a:p>
          <a:p>
            <a:pPr marL="742950" lvl="1" indent="-285750">
              <a:buFont typeface="Arial" panose="020B0604020202020204" pitchFamily="34" charset="0"/>
              <a:buChar char="•"/>
            </a:pPr>
            <a:r>
              <a:rPr lang="vi-VN" dirty="0"/>
              <a:t>Tất cả thông tin mà bất kỳ tiến trình còn sống nào có → nó cũng đều có.</a:t>
            </a:r>
          </a:p>
          <a:p>
            <a:r>
              <a:rPr lang="vi-VN" dirty="0"/>
              <a:t>Nếu không, quyết định của nó có thể khác với tiến trình khác → vi phạm đồng thuận.</a:t>
            </a:r>
          </a:p>
          <a:p>
            <a:r>
              <a:rPr lang="en-US" b="1" dirty="0"/>
              <a:t>6. </a:t>
            </a:r>
            <a:r>
              <a:rPr lang="vi-VN" b="1" dirty="0"/>
              <a:t>Vì sao P₂ "an toàn" còn P₃, P₄ thì không?</a:t>
            </a:r>
          </a:p>
          <a:p>
            <a:pPr>
              <a:buFont typeface="Arial" panose="020B0604020202020204" pitchFamily="34" charset="0"/>
              <a:buChar char="•"/>
            </a:pPr>
            <a:r>
              <a:rPr lang="vi-VN" dirty="0"/>
              <a:t>P₂ </a:t>
            </a:r>
            <a:r>
              <a:rPr lang="vi-VN" b="1" dirty="0"/>
              <a:t>nhận được thông tin từ tất cả tiến trình còn sống</a:t>
            </a:r>
            <a:r>
              <a:rPr lang="vi-VN" dirty="0"/>
              <a:t> (P₂, P₃, P₄).</a:t>
            </a:r>
          </a:p>
          <a:p>
            <a:pPr>
              <a:buFont typeface="Arial" panose="020B0604020202020204" pitchFamily="34" charset="0"/>
              <a:buChar char="•"/>
            </a:pPr>
            <a:r>
              <a:rPr lang="vi-VN" dirty="0"/>
              <a:t>P₃ và P₄ </a:t>
            </a:r>
            <a:r>
              <a:rPr lang="vi-VN" b="1" dirty="0"/>
              <a:t>nằm dưới P₂ trong sơ đồ thời gian</a:t>
            </a:r>
            <a:r>
              <a:rPr lang="vi-VN" dirty="0"/>
              <a:t>, nên:</a:t>
            </a:r>
          </a:p>
          <a:p>
            <a:pPr marL="742950" lvl="1" indent="-285750">
              <a:buFont typeface="Arial" panose="020B0604020202020204" pitchFamily="34" charset="0"/>
              <a:buChar char="•"/>
            </a:pPr>
            <a:r>
              <a:rPr lang="vi-VN" dirty="0"/>
              <a:t>Chúng không biết P₂ nhận được gì từ P₁ trước khi P₁ crash.</a:t>
            </a:r>
          </a:p>
          <a:p>
            <a:pPr marL="742950" lvl="1" indent="-285750">
              <a:buFont typeface="Arial" panose="020B0604020202020204" pitchFamily="34" charset="0"/>
              <a:buChar char="•"/>
            </a:pPr>
            <a:r>
              <a:rPr lang="vi-VN" dirty="0"/>
              <a:t>Do đó, P₂ có thể có nhiều thông tin hơn P₃/P₄.</a:t>
            </a:r>
          </a:p>
          <a:p>
            <a:r>
              <a:rPr lang="en-US" dirty="0"/>
              <a:t>=&gt;</a:t>
            </a:r>
            <a:r>
              <a:rPr lang="vi-VN" dirty="0"/>
              <a:t> Chỉ </a:t>
            </a:r>
            <a:r>
              <a:rPr lang="vi-VN" b="1" dirty="0"/>
              <a:t>P₂ có thể chắc chắn</a:t>
            </a:r>
            <a:r>
              <a:rPr lang="vi-VN" dirty="0"/>
              <a:t> rằng không tiến trình nào có thông tin mà nó chưa biết.</a:t>
            </a:r>
          </a:p>
          <a:p>
            <a:r>
              <a:rPr lang="en-US" b="1" dirty="0"/>
              <a:t>7. </a:t>
            </a:r>
            <a:r>
              <a:rPr lang="vi-VN" b="1" dirty="0"/>
              <a:t>Kết luận</a:t>
            </a:r>
            <a:r>
              <a:rPr lang="en-US" b="1" dirty="0"/>
              <a:t>:</a:t>
            </a:r>
            <a:endParaRPr lang="vi-VN" b="1" dirty="0"/>
          </a:p>
          <a:p>
            <a:r>
              <a:rPr lang="en-US" b="1" dirty="0"/>
              <a:t>* </a:t>
            </a:r>
            <a:r>
              <a:rPr lang="vi-VN" b="1" dirty="0"/>
              <a:t>P₂ có thể quyết định</a:t>
            </a:r>
          </a:p>
          <a:p>
            <a:r>
              <a:rPr lang="vi-VN" b="1" dirty="0"/>
              <a:t>Vì P₂ thu thập được đầy đủ thông tin từ mọi tiến trình còn sống.</a:t>
            </a:r>
            <a:endParaRPr lang="vi-VN" dirty="0"/>
          </a:p>
          <a:p>
            <a:r>
              <a:rPr lang="en-US" b="1" dirty="0"/>
              <a:t>* </a:t>
            </a:r>
            <a:r>
              <a:rPr lang="vi-VN" b="1" dirty="0"/>
              <a:t>P₃ và P₄ không thể quyết định</a:t>
            </a:r>
          </a:p>
          <a:p>
            <a:r>
              <a:rPr lang="vi-VN" b="1" dirty="0"/>
              <a:t>Vì P₃, P₄ có “uncertainty” (bất định):</a:t>
            </a:r>
            <a:br>
              <a:rPr lang="vi-VN" b="1" dirty="0"/>
            </a:br>
            <a:r>
              <a:rPr lang="vi-VN" b="1" dirty="0"/>
              <a:t>không biết P₂ có thông tin gì thêm từ P₁ trước khi P₁ chết hay không.</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21</a:t>
            </a:fld>
            <a:endParaRPr lang="en-US"/>
          </a:p>
        </p:txBody>
      </p:sp>
    </p:spTree>
    <p:extLst>
      <p:ext uri="{BB962C8B-B14F-4D97-AF65-F5344CB8AC3E}">
        <p14:creationId xmlns:p14="http://schemas.microsoft.com/office/powerpoint/2010/main" val="23696062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“Realistic consensus: Paxos – Assumptions”</a:t>
            </a:r>
            <a:r>
              <a:rPr lang="vi-VN" dirty="0"/>
              <a:t>.</a:t>
            </a:r>
          </a:p>
          <a:p>
            <a:r>
              <a:rPr lang="en-US" b="1" dirty="0"/>
              <a:t>1. </a:t>
            </a:r>
            <a:r>
              <a:rPr lang="vi-VN" b="1" dirty="0"/>
              <a:t>Mục tiêu của slide</a:t>
            </a:r>
          </a:p>
          <a:p>
            <a:r>
              <a:rPr lang="vi-VN" dirty="0"/>
              <a:t>Slide này giới thiệu </a:t>
            </a:r>
            <a:r>
              <a:rPr lang="vi-VN" b="1" dirty="0"/>
              <a:t>những giả định mà Paxos cần</a:t>
            </a:r>
            <a:r>
              <a:rPr lang="vi-VN" dirty="0"/>
              <a:t> để hoạt động đúng.</a:t>
            </a:r>
            <a:br>
              <a:rPr lang="vi-VN" dirty="0"/>
            </a:br>
            <a:r>
              <a:rPr lang="vi-VN" dirty="0"/>
              <a:t>Điểm quan trọng:</a:t>
            </a:r>
            <a:br>
              <a:rPr lang="vi-VN" dirty="0"/>
            </a:br>
            <a:r>
              <a:rPr lang="en-US" dirty="0"/>
              <a:t>=&gt; </a:t>
            </a:r>
            <a:r>
              <a:rPr lang="vi-VN" dirty="0"/>
              <a:t>Các giả định này </a:t>
            </a:r>
            <a:r>
              <a:rPr lang="vi-VN" b="1" dirty="0"/>
              <a:t>yếu</a:t>
            </a:r>
            <a:r>
              <a:rPr lang="vi-VN" dirty="0"/>
              <a:t>, </a:t>
            </a:r>
            <a:r>
              <a:rPr lang="vi-VN" b="1" dirty="0"/>
              <a:t>thực tế</a:t>
            </a:r>
            <a:r>
              <a:rPr lang="vi-VN" dirty="0"/>
              <a:t>, và </a:t>
            </a:r>
            <a:r>
              <a:rPr lang="vi-VN" b="1" dirty="0"/>
              <a:t>đúng với hầu hết hệ thống phân tán thực tế</a:t>
            </a:r>
            <a:r>
              <a:rPr lang="vi-VN" dirty="0"/>
              <a:t>.</a:t>
            </a:r>
          </a:p>
          <a:p>
            <a:r>
              <a:rPr lang="vi-VN" dirty="0"/>
              <a:t>Paxos </a:t>
            </a:r>
            <a:r>
              <a:rPr lang="vi-VN" b="1" dirty="0"/>
              <a:t>không cần đồng bộ mạnh</a:t>
            </a:r>
            <a:r>
              <a:rPr lang="vi-VN" dirty="0"/>
              <a:t>, không cần truyền thông hoàn hảo, và không cần các tiến trình luôn sống.</a:t>
            </a:r>
          </a:p>
          <a:p>
            <a:r>
              <a:rPr lang="en-US" b="1" dirty="0"/>
              <a:t>2. </a:t>
            </a:r>
            <a:r>
              <a:rPr lang="vi-VN" b="1" dirty="0"/>
              <a:t>Giả định 1: Hệ thống </a:t>
            </a:r>
            <a:r>
              <a:rPr lang="vi-VN" b="1" i="1" dirty="0"/>
              <a:t>partially synchronous</a:t>
            </a:r>
            <a:endParaRPr lang="vi-VN" b="1" dirty="0"/>
          </a:p>
          <a:p>
            <a:pPr>
              <a:buFont typeface="Arial" panose="020B0604020202020204" pitchFamily="34" charset="0"/>
              <a:buChar char="•"/>
            </a:pPr>
            <a:r>
              <a:rPr lang="vi-VN" dirty="0"/>
              <a:t>Hệ thống </a:t>
            </a:r>
            <a:r>
              <a:rPr lang="vi-VN" b="1" dirty="0"/>
              <a:t>về lý thuyết có thể bất đồng bộ</a:t>
            </a:r>
            <a:r>
              <a:rPr lang="vi-VN" dirty="0"/>
              <a:t> (asynchronous).</a:t>
            </a:r>
          </a:p>
          <a:p>
            <a:pPr>
              <a:buFont typeface="Arial" panose="020B0604020202020204" pitchFamily="34" charset="0"/>
              <a:buChar char="•"/>
            </a:pPr>
            <a:r>
              <a:rPr lang="vi-VN" dirty="0"/>
              <a:t>Nhưng </a:t>
            </a:r>
            <a:r>
              <a:rPr lang="vi-VN" b="1" dirty="0"/>
              <a:t>trong thực tế</a:t>
            </a:r>
            <a:r>
              <a:rPr lang="vi-VN" dirty="0"/>
              <a:t>, có những giai đoạn mà:</a:t>
            </a:r>
          </a:p>
          <a:p>
            <a:pPr marL="742950" lvl="1" indent="-285750">
              <a:buFont typeface="Arial" panose="020B0604020202020204" pitchFamily="34" charset="0"/>
              <a:buChar char="•"/>
            </a:pPr>
            <a:r>
              <a:rPr lang="vi-VN" dirty="0"/>
              <a:t>tốc độ xử lý có giới hạn,</a:t>
            </a:r>
          </a:p>
          <a:p>
            <a:pPr marL="742950" lvl="1" indent="-285750">
              <a:buFont typeface="Arial" panose="020B0604020202020204" pitchFamily="34" charset="0"/>
              <a:buChar char="•"/>
            </a:pPr>
            <a:r>
              <a:rPr lang="vi-VN" dirty="0"/>
              <a:t>độ trễ mạng có giới hạn.</a:t>
            </a:r>
          </a:p>
          <a:p>
            <a:r>
              <a:rPr lang="en-US" dirty="0"/>
              <a:t>=&gt; </a:t>
            </a:r>
            <a:r>
              <a:rPr lang="vi-VN" dirty="0"/>
              <a:t>Paxos </a:t>
            </a:r>
            <a:r>
              <a:rPr lang="vi-VN" b="1" dirty="0"/>
              <a:t>không cần đồng bộ tuyệt đối</a:t>
            </a:r>
            <a:r>
              <a:rPr lang="vi-VN" dirty="0"/>
              <a:t> (unrealistic), chỉ cần “đôi lúc” hệ thống hoạt động tốt.</a:t>
            </a:r>
          </a:p>
          <a:p>
            <a:r>
              <a:rPr lang="vi-VN" dirty="0"/>
              <a:t>Đây chính là </a:t>
            </a:r>
            <a:r>
              <a:rPr lang="vi-VN" b="1" dirty="0"/>
              <a:t>partial synchrony</a:t>
            </a:r>
            <a:r>
              <a:rPr lang="vi-VN" dirty="0"/>
              <a:t> (khái niệm của Dwork, Lynch, Stockmeyer – mô hình được xem là phù hợp nhất với thực tế).</a:t>
            </a:r>
          </a:p>
          <a:p>
            <a:r>
              <a:rPr lang="en-US" b="1" dirty="0"/>
              <a:t>3. </a:t>
            </a:r>
            <a:r>
              <a:rPr lang="vi-VN" b="1" dirty="0"/>
              <a:t>Giả định 2: Communication may be </a:t>
            </a:r>
            <a:r>
              <a:rPr lang="vi-VN" b="1" i="1" dirty="0"/>
              <a:t>unreliable</a:t>
            </a:r>
            <a:endParaRPr lang="vi-VN" b="1" dirty="0"/>
          </a:p>
          <a:p>
            <a:r>
              <a:rPr lang="vi-VN" dirty="0"/>
              <a:t>Thông điệp có thể:</a:t>
            </a:r>
          </a:p>
          <a:p>
            <a:pPr>
              <a:buFont typeface="Arial" panose="020B0604020202020204" pitchFamily="34" charset="0"/>
              <a:buChar char="•"/>
            </a:pPr>
            <a:r>
              <a:rPr lang="vi-VN" b="1" dirty="0"/>
              <a:t>bị mất</a:t>
            </a:r>
            <a:endParaRPr lang="vi-VN" dirty="0"/>
          </a:p>
          <a:p>
            <a:pPr>
              <a:buFont typeface="Arial" panose="020B0604020202020204" pitchFamily="34" charset="0"/>
              <a:buChar char="•"/>
            </a:pPr>
            <a:r>
              <a:rPr lang="vi-VN" b="1" dirty="0"/>
              <a:t>bị trùng lặp</a:t>
            </a:r>
            <a:endParaRPr lang="vi-VN" dirty="0"/>
          </a:p>
          <a:p>
            <a:pPr>
              <a:buFont typeface="Arial" panose="020B0604020202020204" pitchFamily="34" charset="0"/>
              <a:buChar char="•"/>
            </a:pPr>
            <a:r>
              <a:rPr lang="vi-VN" b="1" dirty="0"/>
              <a:t>đến trễ</a:t>
            </a:r>
            <a:endParaRPr lang="vi-VN" dirty="0"/>
          </a:p>
          <a:p>
            <a:pPr>
              <a:buFont typeface="Arial" panose="020B0604020202020204" pitchFamily="34" charset="0"/>
              <a:buChar char="•"/>
            </a:pPr>
            <a:r>
              <a:rPr lang="vi-VN" b="1" dirty="0"/>
              <a:t>đến không theo thứ tự</a:t>
            </a:r>
            <a:endParaRPr lang="vi-VN" dirty="0"/>
          </a:p>
          <a:p>
            <a:r>
              <a:rPr lang="en-US" dirty="0"/>
              <a:t>=&gt; </a:t>
            </a:r>
            <a:r>
              <a:rPr lang="vi-VN" dirty="0"/>
              <a:t>Paxos phải chịu được các loại lỗi truyền thông phổ biến trong mạng thực.</a:t>
            </a:r>
          </a:p>
          <a:p>
            <a:r>
              <a:rPr lang="vi-VN" dirty="0"/>
              <a:t>Paxos </a:t>
            </a:r>
            <a:r>
              <a:rPr lang="vi-VN" b="1" dirty="0"/>
              <a:t>không yêu cầu kênh truyền tin cậy</a:t>
            </a:r>
            <a:r>
              <a:rPr lang="vi-VN" dirty="0"/>
              <a:t>.</a:t>
            </a:r>
          </a:p>
          <a:p>
            <a:r>
              <a:rPr lang="en-US" b="1" dirty="0"/>
              <a:t>4. </a:t>
            </a:r>
            <a:r>
              <a:rPr lang="vi-VN" b="1" dirty="0"/>
              <a:t>Giả định 3: Corrupted messages </a:t>
            </a:r>
            <a:r>
              <a:rPr lang="vi-VN" b="1" i="1" dirty="0"/>
              <a:t>can be detected</a:t>
            </a:r>
            <a:endParaRPr lang="vi-VN" b="1" dirty="0"/>
          </a:p>
          <a:p>
            <a:pPr>
              <a:buFont typeface="Arial" panose="020B0604020202020204" pitchFamily="34" charset="0"/>
              <a:buChar char="•"/>
            </a:pPr>
            <a:r>
              <a:rPr lang="vi-VN" dirty="0"/>
              <a:t>Nếu thông điệp bị hỏng (bit flip), hệ thống có thể </a:t>
            </a:r>
            <a:r>
              <a:rPr lang="vi-VN" b="1" dirty="0"/>
              <a:t>phát hiện</a:t>
            </a:r>
            <a:r>
              <a:rPr lang="vi-VN" dirty="0"/>
              <a:t> và </a:t>
            </a:r>
            <a:r>
              <a:rPr lang="vi-VN" b="1" dirty="0"/>
              <a:t>bỏ qua</a:t>
            </a:r>
            <a:r>
              <a:rPr lang="vi-VN" dirty="0"/>
              <a:t>.</a:t>
            </a:r>
          </a:p>
          <a:p>
            <a:pPr>
              <a:buFont typeface="Arial" panose="020B0604020202020204" pitchFamily="34" charset="0"/>
              <a:buChar char="•"/>
            </a:pPr>
            <a:r>
              <a:rPr lang="vi-VN" dirty="0"/>
              <a:t>Điều này khớp với thực tế vì các hệ thống dùng </a:t>
            </a:r>
            <a:r>
              <a:rPr lang="vi-VN" b="1" dirty="0"/>
              <a:t>checksum</a:t>
            </a:r>
            <a:r>
              <a:rPr lang="vi-VN" dirty="0"/>
              <a:t>, </a:t>
            </a:r>
            <a:r>
              <a:rPr lang="vi-VN" b="1" dirty="0"/>
              <a:t>MAC</a:t>
            </a:r>
            <a:r>
              <a:rPr lang="vi-VN" dirty="0"/>
              <a:t>, </a:t>
            </a:r>
            <a:r>
              <a:rPr lang="vi-VN" b="1" dirty="0"/>
              <a:t>CRC</a:t>
            </a:r>
            <a:r>
              <a:rPr lang="vi-VN" dirty="0"/>
              <a:t>…</a:t>
            </a:r>
          </a:p>
          <a:p>
            <a:r>
              <a:rPr lang="en-US" dirty="0"/>
              <a:t>=&gt; </a:t>
            </a:r>
            <a:r>
              <a:rPr lang="vi-VN" dirty="0"/>
              <a:t>Paxos không xử lý thông điệp bị sửa đổi bởi kẻ tấn công (đó là vấn đề bảo mật), chỉ cần phát hiện bit lỗi.</a:t>
            </a:r>
          </a:p>
          <a:p>
            <a:r>
              <a:rPr lang="en-US" b="1" dirty="0"/>
              <a:t>5. </a:t>
            </a:r>
            <a:r>
              <a:rPr lang="vi-VN" b="1" dirty="0"/>
              <a:t>Giả định 4: Operations are </a:t>
            </a:r>
            <a:r>
              <a:rPr lang="vi-VN" b="1" i="1" dirty="0"/>
              <a:t>deterministic</a:t>
            </a:r>
            <a:endParaRPr lang="vi-VN" b="1" dirty="0"/>
          </a:p>
          <a:p>
            <a:pPr>
              <a:buFont typeface="Arial" panose="020B0604020202020204" pitchFamily="34" charset="0"/>
              <a:buChar char="•"/>
            </a:pPr>
            <a:r>
              <a:rPr lang="vi-VN" dirty="0"/>
              <a:t>Khi một tiến trình thực hiện lệnh, </a:t>
            </a:r>
            <a:r>
              <a:rPr lang="vi-VN" b="1" dirty="0"/>
              <a:t>kết quả luôn giống nhau</a:t>
            </a:r>
            <a:r>
              <a:rPr lang="vi-VN" dirty="0"/>
              <a:t> nếu đầu vào giống nhau.</a:t>
            </a:r>
          </a:p>
          <a:p>
            <a:pPr>
              <a:buFont typeface="Arial" panose="020B0604020202020204" pitchFamily="34" charset="0"/>
              <a:buChar char="•"/>
            </a:pPr>
            <a:r>
              <a:rPr lang="vi-VN" dirty="0"/>
              <a:t>Không có ngẫu nhiên hoặc non-determinism trong xử lý lệnh.</a:t>
            </a:r>
          </a:p>
          <a:p>
            <a:r>
              <a:rPr lang="en-US" dirty="0"/>
              <a:t>=&gt; </a:t>
            </a:r>
            <a:r>
              <a:rPr lang="vi-VN" dirty="0"/>
              <a:t>Điều này đảm bảo rằng:</a:t>
            </a:r>
            <a:br>
              <a:rPr lang="vi-VN" dirty="0"/>
            </a:br>
            <a:r>
              <a:rPr lang="vi-VN" b="1" dirty="0"/>
              <a:t>nếu tất cả bản sao (replicas) áp dụng cùng một chuỗi lệnh theo cùng thứ tự → chúng giữ cùng trạng thái.</a:t>
            </a:r>
            <a:endParaRPr lang="vi-VN" dirty="0"/>
          </a:p>
          <a:p>
            <a:r>
              <a:rPr lang="vi-VN" dirty="0"/>
              <a:t>Đây là yêu cầu cốt lõi của </a:t>
            </a:r>
            <a:r>
              <a:rPr lang="vi-VN" i="1" dirty="0"/>
              <a:t>state machine replication</a:t>
            </a:r>
            <a:r>
              <a:rPr lang="vi-VN" dirty="0"/>
              <a:t>.</a:t>
            </a:r>
          </a:p>
          <a:p>
            <a:r>
              <a:rPr lang="en-US" b="1" dirty="0"/>
              <a:t>6. </a:t>
            </a:r>
            <a:r>
              <a:rPr lang="vi-VN" b="1" dirty="0"/>
              <a:t>Giả định 5: Processes may exhibit </a:t>
            </a:r>
            <a:r>
              <a:rPr lang="vi-VN" b="1" i="1" dirty="0"/>
              <a:t>crash failures</a:t>
            </a:r>
            <a:r>
              <a:rPr lang="vi-VN" b="1" dirty="0"/>
              <a:t>, NOT </a:t>
            </a:r>
            <a:r>
              <a:rPr lang="vi-VN" b="1" i="1" dirty="0"/>
              <a:t>arbitrary failures</a:t>
            </a:r>
            <a:endParaRPr lang="vi-VN" b="1" dirty="0"/>
          </a:p>
          <a:p>
            <a:pPr>
              <a:buFont typeface="Arial" panose="020B0604020202020204" pitchFamily="34" charset="0"/>
              <a:buChar char="•"/>
            </a:pPr>
            <a:r>
              <a:rPr lang="vi-VN" dirty="0"/>
              <a:t>Paxos chỉ chịu lỗi </a:t>
            </a:r>
            <a:r>
              <a:rPr lang="vi-VN" b="1" dirty="0"/>
              <a:t>crash-stop</a:t>
            </a:r>
            <a:r>
              <a:rPr lang="vi-VN" dirty="0"/>
              <a:t>, tức là tiến trình có thể:</a:t>
            </a:r>
          </a:p>
          <a:p>
            <a:pPr marL="742950" lvl="1" indent="-285750">
              <a:buFont typeface="Arial" panose="020B0604020202020204" pitchFamily="34" charset="0"/>
              <a:buChar char="•"/>
            </a:pPr>
            <a:r>
              <a:rPr lang="vi-VN" dirty="0"/>
              <a:t>chạy bình thường rồi đột nhiên </a:t>
            </a:r>
            <a:r>
              <a:rPr lang="vi-VN" b="1" dirty="0"/>
              <a:t>chết</a:t>
            </a:r>
            <a:r>
              <a:rPr lang="vi-VN" dirty="0"/>
              <a:t>,</a:t>
            </a:r>
          </a:p>
          <a:p>
            <a:pPr marL="742950" lvl="1" indent="-285750">
              <a:buFont typeface="Arial" panose="020B0604020202020204" pitchFamily="34" charset="0"/>
              <a:buChar char="•"/>
            </a:pPr>
            <a:r>
              <a:rPr lang="vi-VN" dirty="0"/>
              <a:t>và khi chết thì </a:t>
            </a:r>
            <a:r>
              <a:rPr lang="vi-VN" b="1" dirty="0"/>
              <a:t>không làm điều gì sai</a:t>
            </a:r>
            <a:r>
              <a:rPr lang="vi-VN" dirty="0"/>
              <a:t>.</a:t>
            </a:r>
          </a:p>
          <a:p>
            <a:r>
              <a:rPr lang="en-US" dirty="0"/>
              <a:t>* </a:t>
            </a:r>
            <a:r>
              <a:rPr lang="vi-VN" dirty="0"/>
              <a:t>Paxos </a:t>
            </a:r>
            <a:r>
              <a:rPr lang="vi-VN" b="1" dirty="0"/>
              <a:t>không chịu được Byzantine failures</a:t>
            </a:r>
            <a:r>
              <a:rPr lang="vi-VN" dirty="0"/>
              <a:t> (tiến trình cố ý gửi thông tin sai, bị hack, bị sửa mã, v.v.).</a:t>
            </a:r>
          </a:p>
          <a:p>
            <a:r>
              <a:rPr lang="en-US" dirty="0"/>
              <a:t>=&gt;</a:t>
            </a:r>
            <a:r>
              <a:rPr lang="vi-VN" dirty="0"/>
              <a:t> Vì vậy Paxos không dành cho môi trường độc hại (ví dụ blockchain), mà dành cho các hệ thống server nội bộ (datacenter).</a:t>
            </a:r>
          </a:p>
          <a:p>
            <a:r>
              <a:rPr lang="en-US" b="1" dirty="0"/>
              <a:t>7. </a:t>
            </a:r>
            <a:r>
              <a:rPr lang="vi-VN" b="1" dirty="0"/>
              <a:t>Giả định 6: Processes do NOT collude</a:t>
            </a:r>
          </a:p>
          <a:p>
            <a:pPr>
              <a:buFont typeface="Arial" panose="020B0604020202020204" pitchFamily="34" charset="0"/>
              <a:buChar char="•"/>
            </a:pPr>
            <a:r>
              <a:rPr lang="vi-VN" dirty="0"/>
              <a:t>Không có 2 hay nhiều tiến trình </a:t>
            </a:r>
            <a:r>
              <a:rPr lang="vi-VN" b="1" dirty="0"/>
              <a:t>cố ý</a:t>
            </a:r>
            <a:r>
              <a:rPr lang="vi-VN" dirty="0"/>
              <a:t> phối hợp để phá vỡ giao thức.</a:t>
            </a:r>
          </a:p>
          <a:p>
            <a:pPr>
              <a:buFont typeface="Arial" panose="020B0604020202020204" pitchFamily="34" charset="0"/>
              <a:buChar char="•"/>
            </a:pPr>
            <a:r>
              <a:rPr lang="vi-VN" dirty="0"/>
              <a:t>Không có tiến trình độc hại, không bị tấn công, không có hành vi gian lận.</a:t>
            </a:r>
          </a:p>
          <a:p>
            <a:r>
              <a:rPr lang="en-US" dirty="0"/>
              <a:t>=&gt; </a:t>
            </a:r>
            <a:r>
              <a:rPr lang="vi-VN" dirty="0"/>
              <a:t>Với giả định này, Paxos có thể giải quyết đồng thuận trong môi trường không cần Byzantine fault tolerance.</a:t>
            </a:r>
          </a:p>
          <a:p>
            <a:r>
              <a:rPr lang="en-US" b="1" dirty="0"/>
              <a:t>8. </a:t>
            </a:r>
            <a:r>
              <a:rPr lang="vi-VN" b="1" dirty="0"/>
              <a:t>Ý nghĩa của phần “Understanding Paxos”</a:t>
            </a:r>
          </a:p>
          <a:p>
            <a:r>
              <a:rPr lang="vi-VN" dirty="0"/>
              <a:t>Nội dung:</a:t>
            </a:r>
          </a:p>
          <a:p>
            <a:r>
              <a:rPr lang="vi-VN" dirty="0"/>
              <a:t>We will build up Paxos from scratch to understand where many consensus algorithms actually come from.</a:t>
            </a:r>
          </a:p>
          <a:p>
            <a:r>
              <a:rPr lang="vi-VN" dirty="0"/>
              <a:t>Tức là:</a:t>
            </a:r>
          </a:p>
          <a:p>
            <a:pPr>
              <a:buFont typeface="Arial" panose="020B0604020202020204" pitchFamily="34" charset="0"/>
              <a:buChar char="•"/>
            </a:pPr>
            <a:r>
              <a:rPr lang="vi-VN" dirty="0"/>
              <a:t>Ta sẽ xây Paxos từ các khái niệm cơ bản nhất,</a:t>
            </a:r>
          </a:p>
          <a:p>
            <a:pPr>
              <a:buFont typeface="Arial" panose="020B0604020202020204" pitchFamily="34" charset="0"/>
              <a:buChar char="•"/>
            </a:pPr>
            <a:r>
              <a:rPr lang="vi-VN" dirty="0"/>
              <a:t>để thấy rõ </a:t>
            </a:r>
            <a:r>
              <a:rPr lang="vi-VN" i="1" dirty="0"/>
              <a:t>vì sao</a:t>
            </a:r>
            <a:r>
              <a:rPr lang="vi-VN" dirty="0"/>
              <a:t> Paxos có cấu trúc như hiện tại,</a:t>
            </a:r>
          </a:p>
          <a:p>
            <a:pPr>
              <a:buFont typeface="Arial" panose="020B0604020202020204" pitchFamily="34" charset="0"/>
              <a:buChar char="•"/>
            </a:pPr>
            <a:r>
              <a:rPr lang="vi-VN" dirty="0"/>
              <a:t>và tại sao nhiều thuật toán đồng thuận khác (Raft, Zab, Multi-Paxos, Viewstamped Replication…) đều có gốc Paxos.</a:t>
            </a:r>
          </a:p>
          <a:p>
            <a:endParaRPr lang="en-US" b="1" dirty="0"/>
          </a:p>
          <a:p>
            <a:r>
              <a:rPr lang="en-US" b="1" dirty="0"/>
              <a:t>9. </a:t>
            </a:r>
            <a:r>
              <a:rPr lang="vi-VN" b="1" dirty="0"/>
              <a:t>Tóm tắt</a:t>
            </a:r>
            <a:endParaRPr lang="en-US" b="1" dirty="0"/>
          </a:p>
          <a:p>
            <a:r>
              <a:rPr lang="vi-VN" dirty="0"/>
              <a:t>Giả định</a:t>
            </a:r>
            <a:r>
              <a:rPr lang="en-US" dirty="0"/>
              <a:t>		</a:t>
            </a:r>
            <a:r>
              <a:rPr lang="vi-VN" dirty="0"/>
              <a:t>Ý nghĩa</a:t>
            </a:r>
            <a:endParaRPr lang="en-US" dirty="0"/>
          </a:p>
          <a:p>
            <a:r>
              <a:rPr lang="vi-VN" dirty="0"/>
              <a:t>Partial synchrony</a:t>
            </a:r>
            <a:r>
              <a:rPr lang="en-US" dirty="0"/>
              <a:t>	</a:t>
            </a:r>
            <a:r>
              <a:rPr lang="vi-VN" dirty="0"/>
              <a:t>Hệ thống đôi lúc ổn định đủ để đồng thuận</a:t>
            </a:r>
            <a:endParaRPr lang="en-US" dirty="0"/>
          </a:p>
          <a:p>
            <a:r>
              <a:rPr lang="vi-VN" dirty="0"/>
              <a:t>Unreliable communication</a:t>
            </a:r>
            <a:r>
              <a:rPr lang="en-US" dirty="0"/>
              <a:t>	</a:t>
            </a:r>
            <a:r>
              <a:rPr lang="vi-VN" dirty="0"/>
              <a:t>Mất/gửi lại/trễ/trộn thứ tự message đều OK</a:t>
            </a:r>
            <a:endParaRPr lang="en-US" dirty="0"/>
          </a:p>
          <a:p>
            <a:r>
              <a:rPr lang="vi-VN" dirty="0"/>
              <a:t>Detect corrupted messages</a:t>
            </a:r>
            <a:r>
              <a:rPr lang="en-US" dirty="0"/>
              <a:t>	</a:t>
            </a:r>
            <a:r>
              <a:rPr lang="vi-VN" dirty="0"/>
              <a:t>Message hỏng thì bỏ, không cần sửa</a:t>
            </a:r>
            <a:endParaRPr lang="en-US" dirty="0"/>
          </a:p>
          <a:p>
            <a:r>
              <a:rPr lang="vi-VN" dirty="0"/>
              <a:t>Deterministic operations</a:t>
            </a:r>
            <a:r>
              <a:rPr lang="en-US" dirty="0"/>
              <a:t>	</a:t>
            </a:r>
            <a:r>
              <a:rPr lang="vi-VN" dirty="0"/>
              <a:t>Mọi replica chạy cùng lệnh → cùng trạng thái</a:t>
            </a:r>
            <a:endParaRPr lang="en-US" dirty="0"/>
          </a:p>
          <a:p>
            <a:r>
              <a:rPr lang="vi-VN" dirty="0"/>
              <a:t>Crash failures only</a:t>
            </a:r>
            <a:r>
              <a:rPr lang="en-US" dirty="0"/>
              <a:t>	</a:t>
            </a:r>
            <a:r>
              <a:rPr lang="vi-VN" dirty="0"/>
              <a:t>Không chịu Byzantine</a:t>
            </a:r>
            <a:endParaRPr lang="en-US" dirty="0"/>
          </a:p>
          <a:p>
            <a:r>
              <a:rPr lang="vi-VN" dirty="0"/>
              <a:t>No collusion</a:t>
            </a:r>
            <a:r>
              <a:rPr lang="en-US" dirty="0"/>
              <a:t>		</a:t>
            </a:r>
            <a:r>
              <a:rPr lang="vi-VN" dirty="0"/>
              <a:t>Không có hành vi độc hại</a:t>
            </a:r>
          </a:p>
          <a:p>
            <a:r>
              <a:rPr lang="en-US" dirty="0"/>
              <a:t>=&gt; </a:t>
            </a:r>
            <a:r>
              <a:rPr lang="vi-VN" dirty="0"/>
              <a:t>Đây là lý do Paxos </a:t>
            </a:r>
            <a:r>
              <a:rPr lang="vi-VN" b="1" dirty="0"/>
              <a:t>thực tế</a:t>
            </a:r>
            <a:r>
              <a:rPr lang="vi-VN" dirty="0"/>
              <a:t>, </a:t>
            </a:r>
            <a:r>
              <a:rPr lang="vi-VN" b="1" dirty="0"/>
              <a:t>mạnh mẽ</a:t>
            </a:r>
            <a:r>
              <a:rPr lang="vi-VN" dirty="0"/>
              <a:t>, </a:t>
            </a:r>
            <a:r>
              <a:rPr lang="vi-VN" b="1" dirty="0"/>
              <a:t>dễ triển khai trong datacenter</a:t>
            </a:r>
            <a:r>
              <a:rPr lang="vi-VN" dirty="0"/>
              <a:t>, và được dùng trong Google Chubby, Spanner, Megastore, Kafka controllers, Microsoft Azure, VMware vSphere, Oracle RAC…</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22</a:t>
            </a:fld>
            <a:endParaRPr lang="en-US"/>
          </a:p>
        </p:txBody>
      </p:sp>
    </p:spTree>
    <p:extLst>
      <p:ext uri="{BB962C8B-B14F-4D97-AF65-F5344CB8AC3E}">
        <p14:creationId xmlns:p14="http://schemas.microsoft.com/office/powerpoint/2010/main" val="2925655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“Paxos essentials – Starting point”</a:t>
            </a:r>
            <a:r>
              <a:rPr lang="vi-VN" dirty="0"/>
              <a:t>.</a:t>
            </a:r>
          </a:p>
          <a:p>
            <a:r>
              <a:rPr lang="en-US" b="1" dirty="0"/>
              <a:t>1. </a:t>
            </a:r>
            <a:r>
              <a:rPr lang="vi-VN" b="1" dirty="0"/>
              <a:t>Mục tiêu của slide</a:t>
            </a:r>
          </a:p>
          <a:p>
            <a:r>
              <a:rPr lang="vi-VN" dirty="0"/>
              <a:t>Slide này mô tả </a:t>
            </a:r>
            <a:r>
              <a:rPr lang="vi-VN" b="1" dirty="0"/>
              <a:t>điểm khởi đầu trực giác</a:t>
            </a:r>
            <a:r>
              <a:rPr lang="vi-VN" dirty="0"/>
              <a:t> để xây dựng Paxos, bắt đầu từ một mô hình rất đơn giản (primary–backup), rồi phát triển thành cơ chế đồng thuận mạnh mẽ hơn.</a:t>
            </a:r>
          </a:p>
          <a:p>
            <a:r>
              <a:rPr lang="vi-VN" dirty="0"/>
              <a:t>Ý tưởng:</a:t>
            </a:r>
            <a:br>
              <a:rPr lang="vi-VN" dirty="0"/>
            </a:br>
            <a:r>
              <a:rPr lang="en-US" dirty="0"/>
              <a:t>=&gt; </a:t>
            </a:r>
            <a:r>
              <a:rPr lang="vi-VN" dirty="0"/>
              <a:t>Bắt đầu từ hệ thống </a:t>
            </a:r>
            <a:r>
              <a:rPr lang="vi-VN" i="1" dirty="0"/>
              <a:t>primary-backup replication</a:t>
            </a:r>
            <a:br>
              <a:rPr lang="vi-VN" dirty="0"/>
            </a:br>
            <a:r>
              <a:rPr lang="en-US" dirty="0"/>
              <a:t>=&gt; </a:t>
            </a:r>
            <a:r>
              <a:rPr lang="vi-VN" dirty="0"/>
              <a:t>Nhận ra các vấn đề của mô hình này</a:t>
            </a:r>
            <a:br>
              <a:rPr lang="vi-VN" dirty="0"/>
            </a:br>
            <a:r>
              <a:rPr lang="en-US" dirty="0"/>
              <a:t>=&gt; </a:t>
            </a:r>
            <a:r>
              <a:rPr lang="vi-VN" dirty="0"/>
              <a:t>Dẫn dắt sinh viên đến nhu cầu phải có </a:t>
            </a:r>
            <a:r>
              <a:rPr lang="vi-VN" b="1" dirty="0"/>
              <a:t>Paxos</a:t>
            </a:r>
            <a:r>
              <a:rPr lang="vi-VN" dirty="0"/>
              <a:t> – một giao thức đồng thuận đúng trong môi trường có lỗi.</a:t>
            </a:r>
          </a:p>
          <a:p>
            <a:endParaRPr lang="en-US" b="1" dirty="0"/>
          </a:p>
          <a:p>
            <a:r>
              <a:rPr lang="en-US" b="1" dirty="0"/>
              <a:t>2. </a:t>
            </a:r>
            <a:r>
              <a:rPr lang="vi-VN" b="1" dirty="0"/>
              <a:t>Giải thích từng ý trong slide</a:t>
            </a:r>
          </a:p>
          <a:p>
            <a:r>
              <a:rPr lang="en-US" b="1" dirty="0"/>
              <a:t>a. </a:t>
            </a:r>
            <a:r>
              <a:rPr lang="vi-VN" b="1" dirty="0"/>
              <a:t>Client-server configuration với một primary server</a:t>
            </a:r>
          </a:p>
          <a:p>
            <a:r>
              <a:rPr lang="vi-VN" dirty="0"/>
              <a:t>Hệ thống bắt đầu với:</a:t>
            </a:r>
          </a:p>
          <a:p>
            <a:pPr>
              <a:buFont typeface="Arial" panose="020B0604020202020204" pitchFamily="34" charset="0"/>
              <a:buChar char="•"/>
            </a:pPr>
            <a:r>
              <a:rPr lang="vi-VN" dirty="0"/>
              <a:t>Một client gửi yêu cầu (commands).</a:t>
            </a:r>
          </a:p>
          <a:p>
            <a:pPr>
              <a:buFont typeface="Arial" panose="020B0604020202020204" pitchFamily="34" charset="0"/>
              <a:buChar char="•"/>
            </a:pPr>
            <a:r>
              <a:rPr lang="vi-VN" dirty="0"/>
              <a:t>Một server duy nhất xử lý mọi yêu cầu.</a:t>
            </a:r>
          </a:p>
          <a:p>
            <a:r>
              <a:rPr lang="vi-VN" dirty="0"/>
              <a:t>Đây là mô hình đơn giản nhất.</a:t>
            </a:r>
          </a:p>
          <a:p>
            <a:r>
              <a:rPr lang="vi-VN" b="1" dirty="0"/>
              <a:t>Nhưng vấn đề</a:t>
            </a:r>
            <a:r>
              <a:rPr lang="vi-VN" dirty="0"/>
              <a:t>:</a:t>
            </a:r>
            <a:br>
              <a:rPr lang="vi-VN" dirty="0"/>
            </a:br>
            <a:r>
              <a:rPr lang="en-US" dirty="0"/>
              <a:t>- </a:t>
            </a:r>
            <a:r>
              <a:rPr lang="vi-VN" dirty="0"/>
              <a:t>Nếu server chết → hệ thống dừng hoàn toàn.</a:t>
            </a:r>
          </a:p>
          <a:p>
            <a:r>
              <a:rPr lang="en-US" b="1" dirty="0"/>
              <a:t>b. </a:t>
            </a:r>
            <a:r>
              <a:rPr lang="vi-VN" b="1" dirty="0"/>
              <a:t>Thêm một backup server để tăng độ tin cậy</a:t>
            </a:r>
          </a:p>
          <a:p>
            <a:r>
              <a:rPr lang="vi-VN" dirty="0"/>
              <a:t>Để hệ thống không dừng khi primary chết → thêm một bản sao (backup):</a:t>
            </a:r>
          </a:p>
          <a:p>
            <a:pPr>
              <a:buFont typeface="Arial" panose="020B0604020202020204" pitchFamily="34" charset="0"/>
              <a:buChar char="•"/>
            </a:pPr>
            <a:r>
              <a:rPr lang="vi-VN" dirty="0"/>
              <a:t>Primary: xử lý yêu cầu, ra quyết định.</a:t>
            </a:r>
          </a:p>
          <a:p>
            <a:pPr>
              <a:buFont typeface="Arial" panose="020B0604020202020204" pitchFamily="34" charset="0"/>
              <a:buChar char="•"/>
            </a:pPr>
            <a:r>
              <a:rPr lang="vi-VN" dirty="0"/>
              <a:t>Backup: chỉ ghi log hoặc đồng bộ trạng thái để có thể tiếp quản khi primary chết.</a:t>
            </a:r>
          </a:p>
          <a:p>
            <a:r>
              <a:rPr lang="vi-VN" dirty="0"/>
              <a:t>Đây là </a:t>
            </a:r>
            <a:r>
              <a:rPr lang="vi-VN" b="1" dirty="0"/>
              <a:t>primary-backup replication</a:t>
            </a:r>
            <a:r>
              <a:rPr lang="vi-VN" dirty="0"/>
              <a:t> (hay còn gọi là </a:t>
            </a:r>
            <a:r>
              <a:rPr lang="vi-VN" i="1" dirty="0"/>
              <a:t>hot standby</a:t>
            </a:r>
            <a:r>
              <a:rPr lang="vi-VN" dirty="0"/>
              <a:t>).</a:t>
            </a:r>
          </a:p>
          <a:p>
            <a:r>
              <a:rPr lang="vi-VN" b="1" dirty="0"/>
              <a:t>Nhưng vấn đề</a:t>
            </a:r>
            <a:r>
              <a:rPr lang="vi-VN" dirty="0"/>
              <a:t>:</a:t>
            </a:r>
          </a:p>
          <a:p>
            <a:pPr>
              <a:buFont typeface="Arial" panose="020B0604020202020204" pitchFamily="34" charset="0"/>
              <a:buChar char="•"/>
            </a:pPr>
            <a:r>
              <a:rPr lang="vi-VN" dirty="0"/>
              <a:t>Nếu primary chết, backup cần biết </a:t>
            </a:r>
            <a:r>
              <a:rPr lang="vi-VN" i="1" dirty="0"/>
              <a:t>chính xác trạng thái và thứ tự lệnh</a:t>
            </a:r>
            <a:r>
              <a:rPr lang="vi-VN" dirty="0"/>
              <a:t>.</a:t>
            </a:r>
          </a:p>
          <a:p>
            <a:pPr>
              <a:buFont typeface="Arial" panose="020B0604020202020204" pitchFamily="34" charset="0"/>
              <a:buChar char="•"/>
            </a:pPr>
            <a:r>
              <a:rPr lang="vi-VN" dirty="0"/>
              <a:t>Làm thế nào để đảm bảo </a:t>
            </a:r>
            <a:r>
              <a:rPr lang="vi-VN" b="1" dirty="0"/>
              <a:t>hai server thực thi cùng thứ tự lệnh</a:t>
            </a:r>
            <a:r>
              <a:rPr lang="vi-VN" dirty="0"/>
              <a:t>?</a:t>
            </a:r>
          </a:p>
          <a:p>
            <a:r>
              <a:rPr lang="en-US" b="1" dirty="0"/>
              <a:t>c. </a:t>
            </a:r>
            <a:r>
              <a:rPr lang="vi-VN" b="1" dirty="0"/>
              <a:t>Primary gán </a:t>
            </a:r>
            <a:r>
              <a:rPr lang="vi-VN" b="1" i="1" dirty="0"/>
              <a:t>unique sequence numbers</a:t>
            </a:r>
            <a:r>
              <a:rPr lang="vi-VN" b="1" dirty="0"/>
              <a:t> cho tất cả commands</a:t>
            </a:r>
          </a:p>
          <a:p>
            <a:r>
              <a:rPr lang="vi-VN" dirty="0"/>
              <a:t>Để đảm bảo </a:t>
            </a:r>
            <a:r>
              <a:rPr lang="vi-VN" i="1" dirty="0"/>
              <a:t>tính nhất quán</a:t>
            </a:r>
            <a:r>
              <a:rPr lang="vi-VN" dirty="0"/>
              <a:t> giữa primary và backup:</a:t>
            </a:r>
          </a:p>
          <a:p>
            <a:pPr>
              <a:buFont typeface="Arial" panose="020B0604020202020204" pitchFamily="34" charset="0"/>
              <a:buChar char="•"/>
            </a:pPr>
            <a:r>
              <a:rPr lang="vi-VN" dirty="0"/>
              <a:t>Mỗi command được gán </a:t>
            </a:r>
            <a:r>
              <a:rPr lang="vi-VN" b="1" dirty="0"/>
              <a:t>một số thứ tự duy nhất (sequence number)</a:t>
            </a:r>
            <a:r>
              <a:rPr lang="vi-VN" dirty="0"/>
              <a:t>.</a:t>
            </a:r>
          </a:p>
          <a:p>
            <a:pPr>
              <a:buFont typeface="Arial" panose="020B0604020202020204" pitchFamily="34" charset="0"/>
              <a:buChar char="•"/>
            </a:pPr>
            <a:r>
              <a:rPr lang="vi-VN" dirty="0"/>
              <a:t>Cả primary và backup đều xử lý các command theo đúng thứ tự đó.</a:t>
            </a:r>
          </a:p>
          <a:p>
            <a:r>
              <a:rPr lang="vi-VN" dirty="0"/>
              <a:t>Trong Paxos, entity giữ vai trò gán số thứ tự được gọi là:</a:t>
            </a:r>
          </a:p>
          <a:p>
            <a:r>
              <a:rPr lang="en-US" dirty="0"/>
              <a:t>=&gt; </a:t>
            </a:r>
            <a:r>
              <a:rPr lang="vi-VN" b="1" dirty="0"/>
              <a:t>Leader</a:t>
            </a:r>
            <a:endParaRPr lang="vi-VN" dirty="0"/>
          </a:p>
          <a:p>
            <a:r>
              <a:rPr lang="vi-VN" b="1" dirty="0"/>
              <a:t>Ý nghĩa</a:t>
            </a:r>
            <a:r>
              <a:rPr lang="vi-VN" dirty="0"/>
              <a:t>:</a:t>
            </a:r>
            <a:br>
              <a:rPr lang="vi-VN" dirty="0"/>
            </a:br>
            <a:r>
              <a:rPr lang="vi-VN" dirty="0"/>
              <a:t>Một hệ thống replicated muốn nhất quán → phải có </a:t>
            </a:r>
            <a:r>
              <a:rPr lang="vi-VN" b="1" dirty="0"/>
              <a:t>thứ tự toàn cục</a:t>
            </a:r>
            <a:r>
              <a:rPr lang="vi-VN" dirty="0"/>
              <a:t> (total order).</a:t>
            </a:r>
            <a:br>
              <a:rPr lang="vi-VN" dirty="0"/>
            </a:br>
            <a:r>
              <a:rPr lang="vi-VN" dirty="0"/>
              <a:t>Sequence numbers là cách đơn giản nhất để đạt được.</a:t>
            </a:r>
          </a:p>
          <a:p>
            <a:r>
              <a:rPr lang="en-US" b="1" dirty="0"/>
              <a:t>d. </a:t>
            </a:r>
            <a:r>
              <a:rPr lang="vi-VN" b="1" dirty="0"/>
              <a:t>Chỉ xét đến control messages</a:t>
            </a:r>
          </a:p>
          <a:p>
            <a:r>
              <a:rPr lang="vi-VN" dirty="0"/>
              <a:t>Assume that actual commands can always be restored → chúng ta chỉ xem xét </a:t>
            </a:r>
            <a:r>
              <a:rPr lang="vi-VN" b="1" dirty="0"/>
              <a:t>control messages</a:t>
            </a:r>
            <a:r>
              <a:rPr lang="vi-VN" dirty="0"/>
              <a:t>.</a:t>
            </a:r>
          </a:p>
          <a:p>
            <a:r>
              <a:rPr lang="vi-VN" dirty="0"/>
              <a:t>Điều này có nghĩa:</a:t>
            </a:r>
          </a:p>
          <a:p>
            <a:pPr>
              <a:buFont typeface="Arial" panose="020B0604020202020204" pitchFamily="34" charset="0"/>
              <a:buChar char="•"/>
            </a:pPr>
            <a:r>
              <a:rPr lang="vi-VN" dirty="0"/>
              <a:t>Dữ liệu thực (các lệnh từ client) có thể được gửi lại hoặc lấy lại từ nơi khác.</a:t>
            </a:r>
          </a:p>
          <a:p>
            <a:pPr>
              <a:buFont typeface="Arial" panose="020B0604020202020204" pitchFamily="34" charset="0"/>
              <a:buChar char="•"/>
            </a:pPr>
            <a:r>
              <a:rPr lang="vi-VN" dirty="0"/>
              <a:t>Điều khó hơn (và Paxos tập trung giải quyết) là:</a:t>
            </a:r>
          </a:p>
          <a:p>
            <a:pPr>
              <a:buFont typeface="Arial" panose="020B0604020202020204" pitchFamily="34" charset="0"/>
              <a:buNone/>
            </a:pPr>
            <a:r>
              <a:rPr lang="en-US" dirty="0"/>
              <a:t>-</a:t>
            </a:r>
            <a:r>
              <a:rPr lang="vi-VN" dirty="0"/>
              <a:t> thống nhất về </a:t>
            </a:r>
            <a:r>
              <a:rPr lang="vi-VN" b="1" dirty="0"/>
              <a:t>thứ tự</a:t>
            </a:r>
            <a:r>
              <a:rPr lang="vi-VN" dirty="0"/>
              <a:t>,</a:t>
            </a:r>
            <a:br>
              <a:rPr lang="vi-VN" dirty="0"/>
            </a:br>
            <a:r>
              <a:rPr lang="en-US" dirty="0"/>
              <a:t>-</a:t>
            </a:r>
            <a:r>
              <a:rPr lang="vi-VN" dirty="0"/>
              <a:t> thống nhất về </a:t>
            </a:r>
            <a:r>
              <a:rPr lang="vi-VN" b="1" dirty="0"/>
              <a:t>giá trị</a:t>
            </a:r>
            <a:r>
              <a:rPr lang="vi-VN" dirty="0"/>
              <a:t>,</a:t>
            </a:r>
            <a:br>
              <a:rPr lang="vi-VN" dirty="0"/>
            </a:br>
            <a:r>
              <a:rPr lang="en-US" dirty="0"/>
              <a:t>-</a:t>
            </a:r>
            <a:r>
              <a:rPr lang="vi-VN" dirty="0"/>
              <a:t> và đảm bảo rằng tất cả bản sao đều thực thi giống nhau.</a:t>
            </a:r>
          </a:p>
          <a:p>
            <a:r>
              <a:rPr lang="vi-VN" dirty="0"/>
              <a:t>Vì vậy trong mô hình ban đầu → chỉ tập trung vào logic “điều khiển” (control flow), không phải dữ liệu.</a:t>
            </a:r>
          </a:p>
          <a:p>
            <a:endParaRPr lang="en-US" b="1" dirty="0"/>
          </a:p>
          <a:p>
            <a:r>
              <a:rPr lang="en-US" b="1" dirty="0"/>
              <a:t>3. </a:t>
            </a:r>
            <a:r>
              <a:rPr lang="vi-VN" b="1" dirty="0"/>
              <a:t>Ý nghĩa của slide (định hướng đến Paxos)</a:t>
            </a:r>
          </a:p>
          <a:p>
            <a:r>
              <a:rPr lang="vi-VN" dirty="0"/>
              <a:t>Slide này dẫn dắt sinh viên tới việc nhận ra rằng:</a:t>
            </a:r>
          </a:p>
          <a:p>
            <a:pPr>
              <a:buFont typeface="Arial" panose="020B0604020202020204" pitchFamily="34" charset="0"/>
              <a:buChar char="•"/>
            </a:pPr>
            <a:r>
              <a:rPr lang="vi-VN" dirty="0"/>
              <a:t>Hệ thống primary-backup đơn giản </a:t>
            </a:r>
            <a:r>
              <a:rPr lang="vi-VN" b="1" dirty="0"/>
              <a:t>không đủ</a:t>
            </a:r>
            <a:r>
              <a:rPr lang="vi-VN" dirty="0"/>
              <a:t> khi primary chết, hoặc khi có nhiều server.</a:t>
            </a:r>
          </a:p>
          <a:p>
            <a:pPr>
              <a:buFont typeface="Arial" panose="020B0604020202020204" pitchFamily="34" charset="0"/>
              <a:buChar char="•"/>
            </a:pPr>
            <a:r>
              <a:rPr lang="vi-VN" dirty="0"/>
              <a:t>Chúng ta cần một cơ chế:</a:t>
            </a:r>
          </a:p>
          <a:p>
            <a:pPr marL="742950" lvl="1" indent="-285750">
              <a:buFont typeface="Arial" panose="020B0604020202020204" pitchFamily="34" charset="0"/>
              <a:buChar char="•"/>
            </a:pPr>
            <a:r>
              <a:rPr lang="vi-VN" dirty="0"/>
              <a:t>Chọn leader một cách an toàn,</a:t>
            </a:r>
          </a:p>
          <a:p>
            <a:pPr marL="742950" lvl="1" indent="-285750">
              <a:buFont typeface="Arial" panose="020B0604020202020204" pitchFamily="34" charset="0"/>
              <a:buChar char="•"/>
            </a:pPr>
            <a:r>
              <a:rPr lang="vi-VN" dirty="0"/>
              <a:t>Đảm bảo mọi server </a:t>
            </a:r>
            <a:r>
              <a:rPr lang="vi-VN" i="1" dirty="0"/>
              <a:t>đều đồng ý</a:t>
            </a:r>
            <a:r>
              <a:rPr lang="vi-VN" dirty="0"/>
              <a:t> về sequence numbers,</a:t>
            </a:r>
          </a:p>
          <a:p>
            <a:pPr marL="742950" lvl="1" indent="-285750">
              <a:buFont typeface="Arial" panose="020B0604020202020204" pitchFamily="34" charset="0"/>
              <a:buChar char="•"/>
            </a:pPr>
            <a:r>
              <a:rPr lang="vi-VN" dirty="0"/>
              <a:t>Chịu lỗi crash,</a:t>
            </a:r>
          </a:p>
          <a:p>
            <a:pPr marL="742950" lvl="1" indent="-285750">
              <a:buFont typeface="Arial" panose="020B0604020202020204" pitchFamily="34" charset="0"/>
              <a:buChar char="•"/>
            </a:pPr>
            <a:r>
              <a:rPr lang="vi-VN" dirty="0"/>
              <a:t>An toàn trong hệ thống phân tán không tin cậy.</a:t>
            </a:r>
          </a:p>
          <a:p>
            <a:r>
              <a:rPr lang="en-US" dirty="0"/>
              <a:t>=&gt; </a:t>
            </a:r>
            <a:r>
              <a:rPr lang="vi-VN" dirty="0"/>
              <a:t>Đó chính là </a:t>
            </a:r>
            <a:r>
              <a:rPr lang="vi-VN" b="1" dirty="0"/>
              <a:t>Paxos</a:t>
            </a:r>
            <a:r>
              <a:rPr lang="vi-VN" dirty="0"/>
              <a:t> – giải quyết bài toán:</a:t>
            </a:r>
            <a:br>
              <a:rPr lang="vi-VN" dirty="0"/>
            </a:br>
            <a:r>
              <a:rPr lang="vi-VN" b="1" dirty="0"/>
              <a:t>Làm thế nào để tất cả các server đồng thuận về một giá trị (hoặc thứ tự các giá trị) dù có lỗi?</a:t>
            </a:r>
            <a:endParaRPr lang="vi-VN" dirty="0"/>
          </a:p>
          <a:p>
            <a:endParaRPr lang="en-US" b="1" dirty="0"/>
          </a:p>
          <a:p>
            <a:r>
              <a:rPr lang="en-US" b="1" dirty="0"/>
              <a:t>4. </a:t>
            </a:r>
            <a:r>
              <a:rPr lang="vi-VN" b="1" dirty="0"/>
              <a:t>Tóm tắt cho sinh viên</a:t>
            </a:r>
          </a:p>
          <a:p>
            <a:r>
              <a:rPr lang="vi-VN" dirty="0"/>
              <a:t>Nội dung</a:t>
            </a:r>
            <a:r>
              <a:rPr lang="en-US" dirty="0"/>
              <a:t>			</a:t>
            </a:r>
            <a:r>
              <a:rPr lang="vi-VN" dirty="0"/>
              <a:t>Ý nghĩa</a:t>
            </a:r>
            <a:endParaRPr lang="en-US" dirty="0"/>
          </a:p>
          <a:p>
            <a:r>
              <a:rPr lang="vi-VN" dirty="0"/>
              <a:t>Một primary</a:t>
            </a:r>
            <a:r>
              <a:rPr lang="en-US" dirty="0"/>
              <a:t>			</a:t>
            </a:r>
            <a:r>
              <a:rPr lang="vi-VN" dirty="0"/>
              <a:t>Xử lý lệnh ban đầu</a:t>
            </a:r>
            <a:endParaRPr lang="en-US" dirty="0"/>
          </a:p>
          <a:p>
            <a:r>
              <a:rPr lang="vi-VN" dirty="0"/>
              <a:t>Thêm backup</a:t>
            </a:r>
            <a:r>
              <a:rPr lang="en-US" dirty="0"/>
              <a:t>			</a:t>
            </a:r>
            <a:r>
              <a:rPr lang="vi-VN" dirty="0"/>
              <a:t>Chịu lỗi tốt hơn</a:t>
            </a:r>
            <a:endParaRPr lang="en-US" dirty="0"/>
          </a:p>
          <a:p>
            <a:r>
              <a:rPr lang="vi-VN" dirty="0"/>
              <a:t>Primary gán sequence numbers</a:t>
            </a:r>
            <a:r>
              <a:rPr lang="en-US" dirty="0"/>
              <a:t>	</a:t>
            </a:r>
            <a:r>
              <a:rPr lang="vi-VN" dirty="0"/>
              <a:t>Đảm bảo thứ tự giống nhau giữa các bản sao</a:t>
            </a:r>
            <a:endParaRPr lang="en-US" dirty="0"/>
          </a:p>
          <a:p>
            <a:r>
              <a:rPr lang="vi-VN" dirty="0"/>
              <a:t>Chỉ xem xét control messages</a:t>
            </a:r>
            <a:r>
              <a:rPr lang="en-US" dirty="0"/>
              <a:t>	</a:t>
            </a:r>
            <a:r>
              <a:rPr lang="vi-VN" dirty="0"/>
              <a:t>Tập trung vào logic đồng thuận, không phải payload data</a:t>
            </a:r>
          </a:p>
          <a:p>
            <a:r>
              <a:rPr lang="vi-VN" dirty="0"/>
              <a:t>Slide này đặt nền móng cho việc xây dựng Paxos:</a:t>
            </a:r>
            <a:br>
              <a:rPr lang="vi-VN" dirty="0"/>
            </a:br>
            <a:r>
              <a:rPr lang="en-US" dirty="0"/>
              <a:t>=&gt; </a:t>
            </a:r>
            <a:r>
              <a:rPr lang="vi-VN" b="1" dirty="0"/>
              <a:t>Paxos = giải quyết vấn đề nhất quán khi primary có thể chết.</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23</a:t>
            </a:fld>
            <a:endParaRPr lang="en-US"/>
          </a:p>
        </p:txBody>
      </p:sp>
    </p:spTree>
    <p:extLst>
      <p:ext uri="{BB962C8B-B14F-4D97-AF65-F5344CB8AC3E}">
        <p14:creationId xmlns:p14="http://schemas.microsoft.com/office/powerpoint/2010/main" val="4117744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“Handling lost messages – Some Paxos terminology”</a:t>
            </a:r>
            <a:r>
              <a:rPr lang="vi-VN" dirty="0"/>
              <a:t>.</a:t>
            </a:r>
          </a:p>
          <a:p>
            <a:r>
              <a:rPr lang="en-US" b="1" dirty="0"/>
              <a:t>1. </a:t>
            </a:r>
            <a:r>
              <a:rPr lang="vi-VN" b="1" dirty="0"/>
              <a:t>Mục tiêu của slide</a:t>
            </a:r>
          </a:p>
          <a:p>
            <a:r>
              <a:rPr lang="vi-VN" dirty="0"/>
              <a:t>Slide này giới thiệu các </a:t>
            </a:r>
            <a:r>
              <a:rPr lang="vi-VN" b="1" dirty="0"/>
              <a:t>loại thông điệp cơ bản</a:t>
            </a:r>
            <a:r>
              <a:rPr lang="vi-VN" dirty="0"/>
              <a:t> trong Paxos và cách Paxos xử lý </a:t>
            </a:r>
            <a:r>
              <a:rPr lang="vi-VN" b="1" dirty="0"/>
              <a:t>mất thông điệp</a:t>
            </a:r>
            <a:r>
              <a:rPr lang="vi-VN" dirty="0"/>
              <a:t> trong quá trình đồng thuận.</a:t>
            </a:r>
          </a:p>
          <a:p>
            <a:r>
              <a:rPr lang="vi-VN" dirty="0"/>
              <a:t>Paxos luôn hướng đến:</a:t>
            </a:r>
            <a:br>
              <a:rPr lang="vi-VN" dirty="0"/>
            </a:br>
            <a:r>
              <a:rPr lang="en-US" dirty="0"/>
              <a:t>=&gt; </a:t>
            </a:r>
            <a:r>
              <a:rPr lang="vi-VN" dirty="0"/>
              <a:t>đảm bảo </a:t>
            </a:r>
            <a:r>
              <a:rPr lang="vi-VN" i="1" dirty="0"/>
              <a:t>tính đúng đắn</a:t>
            </a:r>
            <a:r>
              <a:rPr lang="vi-VN" dirty="0"/>
              <a:t> ngay cả khi </a:t>
            </a:r>
            <a:r>
              <a:rPr lang="vi-VN" i="1" dirty="0"/>
              <a:t>mạng mất gói, trễ hoặc lặp</a:t>
            </a:r>
            <a:r>
              <a:rPr lang="vi-VN" dirty="0"/>
              <a:t>,</a:t>
            </a:r>
            <a:br>
              <a:rPr lang="vi-VN" dirty="0"/>
            </a:br>
            <a:r>
              <a:rPr lang="en-US" dirty="0"/>
              <a:t>=&gt; </a:t>
            </a:r>
            <a:r>
              <a:rPr lang="vi-VN" dirty="0"/>
              <a:t>không bao giờ gán </a:t>
            </a:r>
            <a:r>
              <a:rPr lang="vi-VN" b="1" dirty="0"/>
              <a:t>một timestamp khác</a:t>
            </a:r>
            <a:r>
              <a:rPr lang="vi-VN" dirty="0"/>
              <a:t> cho cùng một command.</a:t>
            </a:r>
          </a:p>
          <a:p>
            <a:endParaRPr lang="en-US" b="1" dirty="0"/>
          </a:p>
          <a:p>
            <a:r>
              <a:rPr lang="en-US" b="1" dirty="0"/>
              <a:t>2. </a:t>
            </a:r>
            <a:r>
              <a:rPr lang="vi-VN" b="1" dirty="0"/>
              <a:t>Giải thích chi tiết từng bullet</a:t>
            </a:r>
          </a:p>
          <a:p>
            <a:r>
              <a:rPr lang="en-US" b="1" dirty="0"/>
              <a:t>a. </a:t>
            </a:r>
            <a:r>
              <a:rPr lang="vi-VN" b="1" dirty="0"/>
              <a:t>Leader gửi thông điệp ACCEPT(o, t)</a:t>
            </a:r>
          </a:p>
          <a:p>
            <a:r>
              <a:rPr lang="vi-VN" dirty="0"/>
              <a:t>Khi leader quyết định </a:t>
            </a:r>
            <a:r>
              <a:rPr lang="vi-VN" i="1" dirty="0"/>
              <a:t>gán timestamp t</a:t>
            </a:r>
            <a:r>
              <a:rPr lang="vi-VN" dirty="0"/>
              <a:t> cho một lệnh (command) </a:t>
            </a:r>
            <a:r>
              <a:rPr lang="vi-VN" b="1" dirty="0"/>
              <a:t>o</a:t>
            </a:r>
            <a:r>
              <a:rPr lang="vi-VN" dirty="0"/>
              <a:t>, nó gửi một thông điệp:</a:t>
            </a:r>
          </a:p>
          <a:p>
            <a:pPr rtl="0"/>
            <a:r>
              <a:rPr lang="vi-VN" dirty="0"/>
              <a:t>ACCEPT(o, t) </a:t>
            </a:r>
          </a:p>
          <a:p>
            <a:r>
              <a:rPr lang="vi-VN" dirty="0"/>
              <a:t>đến tất cả các backup.</a:t>
            </a:r>
          </a:p>
          <a:p>
            <a:r>
              <a:rPr lang="vi-VN" dirty="0"/>
              <a:t>Nghĩa là:</a:t>
            </a:r>
          </a:p>
          <a:p>
            <a:pPr>
              <a:buFont typeface="Arial" panose="020B0604020202020204" pitchFamily="34" charset="0"/>
              <a:buChar char="•"/>
            </a:pPr>
            <a:r>
              <a:rPr lang="vi-VN" dirty="0"/>
              <a:t>“Đây là command </a:t>
            </a:r>
            <a:r>
              <a:rPr lang="vi-VN" b="1" dirty="0"/>
              <a:t>o</a:t>
            </a:r>
            <a:r>
              <a:rPr lang="vi-VN" dirty="0"/>
              <a:t>, timestamp là </a:t>
            </a:r>
            <a:r>
              <a:rPr lang="vi-VN" b="1" dirty="0"/>
              <a:t>t</a:t>
            </a:r>
            <a:r>
              <a:rPr lang="vi-VN" dirty="0"/>
              <a:t>. Hãy chấp nhận nó!”</a:t>
            </a:r>
          </a:p>
          <a:p>
            <a:pPr>
              <a:buFont typeface="Arial" panose="020B0604020202020204" pitchFamily="34" charset="0"/>
              <a:buChar char="•"/>
            </a:pPr>
            <a:r>
              <a:rPr lang="vi-VN" dirty="0"/>
              <a:t>Đây là bước yêu cầu backup ghi nhận đề xuất giá trị và thứ tự.</a:t>
            </a:r>
          </a:p>
          <a:p>
            <a:r>
              <a:rPr lang="vi-VN" b="1" dirty="0"/>
              <a:t>Vai trò:</a:t>
            </a:r>
            <a:br>
              <a:rPr lang="vi-VN" dirty="0"/>
            </a:br>
            <a:r>
              <a:rPr lang="en-US" dirty="0"/>
              <a:t>=&gt; </a:t>
            </a:r>
            <a:r>
              <a:rPr lang="vi-VN" dirty="0"/>
              <a:t>ACCEPT = yêu cầu backup </a:t>
            </a:r>
            <a:r>
              <a:rPr lang="vi-VN" i="1" dirty="0"/>
              <a:t>commit</a:t>
            </a:r>
            <a:r>
              <a:rPr lang="vi-VN" dirty="0"/>
              <a:t> giá trị và timestamp do leader chọn.</a:t>
            </a:r>
          </a:p>
          <a:p>
            <a:r>
              <a:rPr lang="en-US" b="1" dirty="0"/>
              <a:t>b. </a:t>
            </a:r>
            <a:r>
              <a:rPr lang="vi-VN" b="1" dirty="0"/>
              <a:t>Backup trả lời bằng thông điệp LEARN(o, t)</a:t>
            </a:r>
          </a:p>
          <a:p>
            <a:r>
              <a:rPr lang="vi-VN" dirty="0"/>
              <a:t>Nếu backup </a:t>
            </a:r>
            <a:r>
              <a:rPr lang="vi-VN" b="1" dirty="0"/>
              <a:t>chấp nhận</a:t>
            </a:r>
            <a:r>
              <a:rPr lang="vi-VN" dirty="0"/>
              <a:t> ACCEPT(o, t), nó gửi lại cho leader:</a:t>
            </a:r>
          </a:p>
          <a:p>
            <a:pPr rtl="0"/>
            <a:r>
              <a:rPr lang="vi-VN" dirty="0"/>
              <a:t>LEARN(o, t) </a:t>
            </a:r>
          </a:p>
          <a:p>
            <a:r>
              <a:rPr lang="vi-VN" dirty="0"/>
              <a:t>Ý nghĩa:</a:t>
            </a:r>
          </a:p>
          <a:p>
            <a:pPr>
              <a:buFont typeface="Arial" panose="020B0604020202020204" pitchFamily="34" charset="0"/>
              <a:buChar char="•"/>
            </a:pPr>
            <a:r>
              <a:rPr lang="vi-VN" dirty="0"/>
              <a:t>Backup xác nhận nó đã </a:t>
            </a:r>
            <a:r>
              <a:rPr lang="vi-VN" i="1" dirty="0"/>
              <a:t>học</a:t>
            </a:r>
            <a:r>
              <a:rPr lang="vi-VN" dirty="0"/>
              <a:t> (learned) và lưu timestamp t cho lệnh o.</a:t>
            </a:r>
          </a:p>
          <a:p>
            <a:pPr>
              <a:buFont typeface="Arial" panose="020B0604020202020204" pitchFamily="34" charset="0"/>
              <a:buChar char="•"/>
            </a:pPr>
            <a:r>
              <a:rPr lang="vi-VN" dirty="0"/>
              <a:t>Khi leader nhận đủ </a:t>
            </a:r>
            <a:r>
              <a:rPr lang="vi-VN" i="1" dirty="0"/>
              <a:t>đa số</a:t>
            </a:r>
            <a:r>
              <a:rPr lang="vi-VN" dirty="0"/>
              <a:t> LEARN → lệnh o được xem là “đã được quyết định”.</a:t>
            </a:r>
          </a:p>
          <a:p>
            <a:r>
              <a:rPr lang="vi-VN" b="1" dirty="0"/>
              <a:t>Vai trò:</a:t>
            </a:r>
            <a:br>
              <a:rPr lang="vi-VN" dirty="0"/>
            </a:br>
            <a:r>
              <a:rPr lang="en-US" dirty="0"/>
              <a:t>=&gt; </a:t>
            </a:r>
            <a:r>
              <a:rPr lang="vi-VN" dirty="0"/>
              <a:t>LEARN = thông điệp xác nhận cho leader biết backup đã ghi nhận thành công.</a:t>
            </a:r>
          </a:p>
          <a:p>
            <a:r>
              <a:rPr lang="en-US" b="1" dirty="0"/>
              <a:t>c. </a:t>
            </a:r>
            <a:r>
              <a:rPr lang="vi-VN" b="1" dirty="0"/>
              <a:t>Leader phát hiện thông điệp bị mất → retransmit</a:t>
            </a:r>
          </a:p>
          <a:p>
            <a:r>
              <a:rPr lang="vi-VN" dirty="0"/>
              <a:t>Nếu leader không nhận LEARN từ một backup, nó không biết backup đó đã ghi nhận hay chưa.</a:t>
            </a:r>
          </a:p>
          <a:p>
            <a:r>
              <a:rPr lang="vi-VN" dirty="0"/>
              <a:t>Nguyên nhân có thể là:</a:t>
            </a:r>
          </a:p>
          <a:p>
            <a:pPr>
              <a:buFont typeface="Arial" panose="020B0604020202020204" pitchFamily="34" charset="0"/>
              <a:buChar char="•"/>
            </a:pPr>
            <a:r>
              <a:rPr lang="vi-VN" dirty="0"/>
              <a:t>LEARN bị mất trên đường,</a:t>
            </a:r>
          </a:p>
          <a:p>
            <a:pPr>
              <a:buFont typeface="Arial" panose="020B0604020202020204" pitchFamily="34" charset="0"/>
              <a:buChar char="•"/>
            </a:pPr>
            <a:r>
              <a:rPr lang="vi-VN" dirty="0"/>
              <a:t>ACCEPT bị mất trên đường,</a:t>
            </a:r>
          </a:p>
          <a:p>
            <a:pPr>
              <a:buFont typeface="Arial" panose="020B0604020202020204" pitchFamily="34" charset="0"/>
              <a:buChar char="•"/>
            </a:pPr>
            <a:r>
              <a:rPr lang="vi-VN" dirty="0"/>
              <a:t>Backup bị chậm hoặc tạm thời không phản hồi.</a:t>
            </a:r>
          </a:p>
          <a:p>
            <a:r>
              <a:rPr lang="vi-VN" b="1" dirty="0"/>
              <a:t>Cách Paxos xử lý:</a:t>
            </a:r>
            <a:br>
              <a:rPr lang="vi-VN" dirty="0"/>
            </a:br>
            <a:r>
              <a:rPr lang="en-US" dirty="0"/>
              <a:t>- </a:t>
            </a:r>
            <a:r>
              <a:rPr lang="vi-VN" dirty="0"/>
              <a:t>Leader </a:t>
            </a:r>
            <a:r>
              <a:rPr lang="vi-VN" b="1" dirty="0"/>
              <a:t>không đổi timestamp</a:t>
            </a:r>
            <a:r>
              <a:rPr lang="vi-VN" dirty="0"/>
              <a:t>,</a:t>
            </a:r>
            <a:br>
              <a:rPr lang="vi-VN" dirty="0"/>
            </a:br>
            <a:r>
              <a:rPr lang="en-US" dirty="0"/>
              <a:t>- </a:t>
            </a:r>
            <a:r>
              <a:rPr lang="vi-VN" dirty="0"/>
              <a:t>mà gửi lại chính thông điệp:</a:t>
            </a:r>
          </a:p>
          <a:p>
            <a:pPr rtl="0"/>
            <a:r>
              <a:rPr lang="vi-VN" dirty="0"/>
              <a:t>ACCEPT(o, t) </a:t>
            </a:r>
          </a:p>
          <a:p>
            <a:r>
              <a:rPr lang="vi-VN" dirty="0"/>
              <a:t>với </a:t>
            </a:r>
            <a:r>
              <a:rPr lang="vi-VN" b="1" dirty="0"/>
              <a:t>exact timestamp t ban đầu</a:t>
            </a:r>
            <a:r>
              <a:rPr lang="vi-VN" dirty="0"/>
              <a:t>.</a:t>
            </a:r>
          </a:p>
          <a:p>
            <a:r>
              <a:rPr lang="vi-VN" b="1" dirty="0"/>
              <a:t>Tại sao quan trọng?</a:t>
            </a:r>
            <a:endParaRPr lang="vi-VN" dirty="0"/>
          </a:p>
          <a:p>
            <a:r>
              <a:rPr lang="vi-VN" dirty="0"/>
              <a:t>Vì thay đổi timestamp sẽ:</a:t>
            </a:r>
          </a:p>
          <a:p>
            <a:r>
              <a:rPr lang="en-US" dirty="0"/>
              <a:t>- </a:t>
            </a:r>
            <a:r>
              <a:rPr lang="vi-VN" dirty="0"/>
              <a:t>phá tính nhất quán</a:t>
            </a:r>
            <a:br>
              <a:rPr lang="vi-VN" dirty="0"/>
            </a:br>
            <a:r>
              <a:rPr lang="en-US" dirty="0"/>
              <a:t>- </a:t>
            </a:r>
            <a:r>
              <a:rPr lang="vi-VN" dirty="0"/>
              <a:t>gây ra thứ tự khác nhau giữa các replica</a:t>
            </a:r>
          </a:p>
          <a:p>
            <a:r>
              <a:rPr lang="en-US" dirty="0"/>
              <a:t>=&gt;</a:t>
            </a:r>
            <a:r>
              <a:rPr lang="vi-VN" dirty="0"/>
              <a:t> Paxos đảm bảo </a:t>
            </a:r>
            <a:r>
              <a:rPr lang="vi-VN" b="1" dirty="0"/>
              <a:t>một lệnh chỉ có duy nhất một timestamp</a:t>
            </a:r>
            <a:r>
              <a:rPr lang="vi-VN" dirty="0"/>
              <a:t>, dù xảy ra lỗi mạng.</a:t>
            </a:r>
          </a:p>
          <a:p>
            <a:endParaRPr lang="en-US" b="1" dirty="0"/>
          </a:p>
          <a:p>
            <a:r>
              <a:rPr lang="en-US" b="1" dirty="0"/>
              <a:t>3. </a:t>
            </a:r>
            <a:r>
              <a:rPr lang="vi-VN" b="1" dirty="0"/>
              <a:t>Ý nghĩa tổng thể của slide</a:t>
            </a:r>
          </a:p>
          <a:p>
            <a:r>
              <a:rPr lang="vi-VN" dirty="0"/>
              <a:t>Slide này nhấn mạnh ba điểm quan trọng:</a:t>
            </a:r>
          </a:p>
          <a:p>
            <a:r>
              <a:rPr lang="en-US" b="1" dirty="0"/>
              <a:t>a. </a:t>
            </a:r>
            <a:r>
              <a:rPr lang="vi-VN" b="1" dirty="0"/>
              <a:t>Paxos chịu lỗi mất message mà không phá vỡ tính nhất quán</a:t>
            </a:r>
          </a:p>
          <a:p>
            <a:r>
              <a:rPr lang="vi-VN" dirty="0"/>
              <a:t>Paxos được thiết kế để hoạt động đúng ngay cả khi:</a:t>
            </a:r>
          </a:p>
          <a:p>
            <a:pPr>
              <a:buFont typeface="Arial" panose="020B0604020202020204" pitchFamily="34" charset="0"/>
              <a:buChar char="•"/>
            </a:pPr>
            <a:r>
              <a:rPr lang="vi-VN" dirty="0"/>
              <a:t>Message mất,</a:t>
            </a:r>
          </a:p>
          <a:p>
            <a:pPr>
              <a:buFont typeface="Arial" panose="020B0604020202020204" pitchFamily="34" charset="0"/>
              <a:buChar char="•"/>
            </a:pPr>
            <a:r>
              <a:rPr lang="vi-VN" dirty="0"/>
              <a:t>Message tới trễ,</a:t>
            </a:r>
          </a:p>
          <a:p>
            <a:pPr>
              <a:buFont typeface="Arial" panose="020B0604020202020204" pitchFamily="34" charset="0"/>
              <a:buChar char="•"/>
            </a:pPr>
            <a:r>
              <a:rPr lang="vi-VN" dirty="0"/>
              <a:t>Message bị lặp.</a:t>
            </a:r>
          </a:p>
          <a:p>
            <a:r>
              <a:rPr lang="en-US" b="1" dirty="0"/>
              <a:t>b. </a:t>
            </a:r>
            <a:r>
              <a:rPr lang="vi-VN" b="1" dirty="0"/>
              <a:t>Tính an toàn (safety) được đảm bảo nhờ </a:t>
            </a:r>
            <a:r>
              <a:rPr lang="vi-VN" b="1" i="1" dirty="0"/>
              <a:t>timestamp cố định</a:t>
            </a:r>
            <a:endParaRPr lang="vi-VN" b="1" dirty="0"/>
          </a:p>
          <a:p>
            <a:r>
              <a:rPr lang="vi-VN" dirty="0"/>
              <a:t>Một command khi đã được leader gán timestamp, timestamp đó </a:t>
            </a:r>
            <a:r>
              <a:rPr lang="vi-VN" b="1" dirty="0"/>
              <a:t>không bao giờ thay đổi</a:t>
            </a:r>
            <a:r>
              <a:rPr lang="vi-VN" dirty="0"/>
              <a:t>.</a:t>
            </a:r>
          </a:p>
          <a:p>
            <a:r>
              <a:rPr lang="en-US" b="1" dirty="0"/>
              <a:t>c. </a:t>
            </a:r>
            <a:r>
              <a:rPr lang="vi-VN" b="1" dirty="0"/>
              <a:t>Leader có cơ chế tự phục hồi</a:t>
            </a:r>
          </a:p>
          <a:p>
            <a:r>
              <a:rPr lang="vi-VN" dirty="0"/>
              <a:t>Nó </a:t>
            </a:r>
            <a:r>
              <a:rPr lang="vi-VN" i="1" dirty="0"/>
              <a:t>tự động phát hiện</a:t>
            </a:r>
            <a:r>
              <a:rPr lang="vi-VN" dirty="0"/>
              <a:t> lệnh nào chưa được learned và </a:t>
            </a:r>
            <a:r>
              <a:rPr lang="vi-VN" i="1" dirty="0"/>
              <a:t>tự động gửi lại</a:t>
            </a:r>
            <a:r>
              <a:rPr lang="vi-VN" dirty="0"/>
              <a:t> mà không vi phạm protocol.</a:t>
            </a:r>
          </a:p>
          <a:p>
            <a:r>
              <a:rPr lang="vi-VN" dirty="0"/>
              <a:t>Không cần reset hoặc restart – Paxos tự chữa.</a:t>
            </a:r>
          </a:p>
          <a:p>
            <a:endParaRPr lang="en-US" dirty="0"/>
          </a:p>
          <a:p>
            <a:r>
              <a:rPr lang="en-US" dirty="0"/>
              <a:t>=&gt; </a:t>
            </a:r>
            <a:r>
              <a:rPr lang="vi-VN" dirty="0"/>
              <a:t>Paxos không bao giờ thay đổi giá trị hoặc timestamp sau khi đã chọn.</a:t>
            </a:r>
            <a:br>
              <a:rPr lang="vi-VN" dirty="0"/>
            </a:br>
            <a:r>
              <a:rPr lang="en-US" dirty="0"/>
              <a:t>=&gt; </a:t>
            </a:r>
            <a:r>
              <a:rPr lang="vi-VN" dirty="0"/>
              <a:t>Đây là lý do Paxos bền vững dù mạng rất “xấu”.</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25</a:t>
            </a:fld>
            <a:endParaRPr lang="en-US"/>
          </a:p>
        </p:txBody>
      </p:sp>
    </p:spTree>
    <p:extLst>
      <p:ext uri="{BB962C8B-B14F-4D97-AF65-F5344CB8AC3E}">
        <p14:creationId xmlns:p14="http://schemas.microsoft.com/office/powerpoint/2010/main" val="28475054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Ý NGHĨA CHUNG CỦA SLIDE</a:t>
            </a:r>
          </a:p>
          <a:p>
            <a:r>
              <a:rPr lang="vi-VN" dirty="0"/>
              <a:t>Slide này trình bày </a:t>
            </a:r>
            <a:r>
              <a:rPr lang="vi-VN" b="1" dirty="0"/>
              <a:t>quy tắc nền tảng (fundamental rule)</a:t>
            </a:r>
            <a:r>
              <a:rPr lang="vi-VN" dirty="0"/>
              <a:t> đảm bảo tính </a:t>
            </a:r>
            <a:r>
              <a:rPr lang="vi-VN" i="1" dirty="0"/>
              <a:t>an toàn</a:t>
            </a:r>
            <a:r>
              <a:rPr lang="vi-VN" dirty="0"/>
              <a:t> (safety) của Paxos:</a:t>
            </a:r>
            <a:br>
              <a:rPr lang="vi-VN" dirty="0"/>
            </a:br>
            <a:r>
              <a:rPr lang="en-US" dirty="0"/>
              <a:t>=&gt; </a:t>
            </a:r>
            <a:r>
              <a:rPr lang="vi-VN" b="1" dirty="0"/>
              <a:t>Không server nào được phép thực thi (execute) một lệnh trước khi biết chắc tất cả non-faulty servers đã học (learned) cùng một giá trị.</a:t>
            </a:r>
            <a:endParaRPr lang="vi-VN" dirty="0"/>
          </a:p>
          <a:p>
            <a:r>
              <a:rPr lang="vi-VN" dirty="0"/>
              <a:t>Đây là điều bắt buộc để mọi replica thực thi </a:t>
            </a:r>
            <a:r>
              <a:rPr lang="vi-VN" b="1" dirty="0"/>
              <a:t>đúng thứ tự, giống nhau 100%</a:t>
            </a:r>
            <a:r>
              <a:rPr lang="vi-VN" dirty="0"/>
              <a:t>, từ đó giữ tính nhất quán mạnh giữa các bản sao.</a:t>
            </a:r>
          </a:p>
          <a:p>
            <a:r>
              <a:rPr lang="en-US" b="1" dirty="0"/>
              <a:t>*** </a:t>
            </a:r>
            <a:r>
              <a:rPr lang="vi-VN" b="1" dirty="0"/>
              <a:t>General rule (Quy tắc chung)</a:t>
            </a:r>
          </a:p>
          <a:p>
            <a:r>
              <a:rPr lang="vi-VN" b="1" dirty="0"/>
              <a:t>Trong Paxos, một server S không được phép thực thi operation o cho đến khi nó nhận được LEARN(o) từ </a:t>
            </a:r>
            <a:r>
              <a:rPr lang="vi-VN" b="1" i="1" dirty="0"/>
              <a:t>tất cả các server không lỗi khác</a:t>
            </a:r>
            <a:r>
              <a:rPr lang="vi-VN" b="1" dirty="0"/>
              <a:t>.</a:t>
            </a:r>
            <a:endParaRPr lang="vi-VN" dirty="0"/>
          </a:p>
          <a:p>
            <a:r>
              <a:rPr lang="vi-VN" dirty="0"/>
              <a:t>Giải thích:</a:t>
            </a:r>
          </a:p>
          <a:p>
            <a:pPr>
              <a:buFont typeface="Arial" panose="020B0604020202020204" pitchFamily="34" charset="0"/>
              <a:buChar char="•"/>
            </a:pPr>
            <a:r>
              <a:rPr lang="vi-VN" dirty="0"/>
              <a:t>LEARN(o) = thông điệp xác nhận rằng server đã </a:t>
            </a:r>
            <a:r>
              <a:rPr lang="vi-VN" i="1" dirty="0"/>
              <a:t>học</a:t>
            </a:r>
            <a:r>
              <a:rPr lang="vi-VN" dirty="0"/>
              <a:t> (accepted &amp; committed) operation o.</a:t>
            </a:r>
          </a:p>
          <a:p>
            <a:pPr>
              <a:buFont typeface="Arial" panose="020B0604020202020204" pitchFamily="34" charset="0"/>
              <a:buChar char="•"/>
            </a:pPr>
            <a:r>
              <a:rPr lang="vi-VN" dirty="0"/>
              <a:t>Một server chỉ được execute lệnh o </a:t>
            </a:r>
            <a:r>
              <a:rPr lang="vi-VN" b="1" dirty="0"/>
              <a:t>khi nó biết chắc</a:t>
            </a:r>
            <a:r>
              <a:rPr lang="vi-VN" dirty="0"/>
              <a:t> toàn bộ non-faulty server </a:t>
            </a:r>
            <a:r>
              <a:rPr lang="vi-VN" i="1" dirty="0"/>
              <a:t>đồng ý</a:t>
            </a:r>
            <a:r>
              <a:rPr lang="vi-VN" dirty="0"/>
              <a:t> với cùng operation đó.</a:t>
            </a:r>
          </a:p>
          <a:p>
            <a:pPr>
              <a:buFont typeface="Arial" panose="020B0604020202020204" pitchFamily="34" charset="0"/>
              <a:buChar char="•"/>
            </a:pPr>
            <a:r>
              <a:rPr lang="vi-VN" dirty="0"/>
              <a:t>Nếu nó execute quá sớm, hệ thống sẽ mất </a:t>
            </a:r>
            <a:r>
              <a:rPr lang="vi-VN" i="1" dirty="0"/>
              <a:t>consistency</a:t>
            </a:r>
            <a:r>
              <a:rPr lang="vi-VN" dirty="0"/>
              <a:t> vì các replica có thể thực thi </a:t>
            </a:r>
            <a:r>
              <a:rPr lang="vi-VN" b="1" dirty="0"/>
              <a:t>khác nhau</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31</a:t>
            </a:fld>
            <a:endParaRPr lang="en-US"/>
          </a:p>
        </p:txBody>
      </p:sp>
    </p:spTree>
    <p:extLst>
      <p:ext uri="{BB962C8B-B14F-4D97-AF65-F5344CB8AC3E}">
        <p14:creationId xmlns:p14="http://schemas.microsoft.com/office/powerpoint/2010/main" val="2900932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t>Failure detection</a:t>
            </a:r>
          </a:p>
          <a:p>
            <a:endParaRPr lang="en-US" b="1" dirty="0"/>
          </a:p>
          <a:p>
            <a:r>
              <a:rPr lang="en-US" b="1" dirty="0"/>
              <a:t>1. </a:t>
            </a:r>
            <a:r>
              <a:rPr lang="vi-VN" b="1" dirty="0"/>
              <a:t>Ý nghĩa tổng quan của slide</a:t>
            </a:r>
          </a:p>
          <a:p>
            <a:r>
              <a:rPr lang="vi-VN" dirty="0"/>
              <a:t>Slide này minh họa một thực tế quan trọng trong Paxos và hệ phân tán:</a:t>
            </a:r>
          </a:p>
          <a:p>
            <a:r>
              <a:rPr lang="en-US" dirty="0"/>
              <a:t>=&gt; </a:t>
            </a:r>
            <a:r>
              <a:rPr lang="vi-VN" b="1" dirty="0"/>
              <a:t>Không thể phát hiện lỗi hoàn toàn chính xác.</a:t>
            </a:r>
            <a:endParaRPr lang="vi-VN" dirty="0"/>
          </a:p>
          <a:p>
            <a:r>
              <a:rPr lang="vi-VN" dirty="0"/>
              <a:t>Giải pháp: </a:t>
            </a:r>
            <a:r>
              <a:rPr lang="vi-VN" b="1" dirty="0"/>
              <a:t>dùng timeout để nghi ngờ lỗi</a:t>
            </a:r>
            <a:r>
              <a:rPr lang="vi-VN" dirty="0"/>
              <a:t>, nhưng phải chấp nhận rằng lỗi phát hiện có thể là </a:t>
            </a:r>
            <a:r>
              <a:rPr lang="vi-VN" b="1" dirty="0"/>
              <a:t>false failure</a:t>
            </a:r>
            <a:r>
              <a:rPr lang="vi-VN" dirty="0"/>
              <a:t> (báo động sai).</a:t>
            </a:r>
          </a:p>
          <a:p>
            <a:r>
              <a:rPr lang="vi-VN" dirty="0"/>
              <a:t>Hình vẽ phía dưới mô tả một tình huống trong đó timeout khiến hệ thống nghĩ rằng leader bị lỗi — nhưng thực tế leader vẫn còn sống.</a:t>
            </a:r>
          </a:p>
          <a:p>
            <a:endParaRPr lang="en-US" b="1" dirty="0"/>
          </a:p>
          <a:p>
            <a:r>
              <a:rPr lang="en-US" b="1" dirty="0"/>
              <a:t>2. </a:t>
            </a:r>
            <a:r>
              <a:rPr lang="vi-VN" b="1" dirty="0"/>
              <a:t>Giải thích chi tiết hình minh họa</a:t>
            </a:r>
          </a:p>
          <a:p>
            <a:r>
              <a:rPr lang="vi-VN" b="1" dirty="0"/>
              <a:t>Các thực thể trong hình</a:t>
            </a:r>
          </a:p>
          <a:p>
            <a:pPr>
              <a:buFont typeface="Arial" panose="020B0604020202020204" pitchFamily="34" charset="0"/>
              <a:buChar char="•"/>
            </a:pPr>
            <a:r>
              <a:rPr lang="vi-VN" b="1" dirty="0"/>
              <a:t>C1, C2</a:t>
            </a:r>
            <a:r>
              <a:rPr lang="vi-VN" dirty="0"/>
              <a:t>: client gửi các operation o¹ và o².</a:t>
            </a:r>
          </a:p>
          <a:p>
            <a:pPr>
              <a:buFont typeface="Arial" panose="020B0604020202020204" pitchFamily="34" charset="0"/>
              <a:buChar char="•"/>
            </a:pPr>
            <a:r>
              <a:rPr lang="vi-VN" b="1" dirty="0"/>
              <a:t>S1 (leader ban đầu)</a:t>
            </a:r>
            <a:r>
              <a:rPr lang="vi-VN" dirty="0"/>
              <a:t> và </a:t>
            </a:r>
            <a:r>
              <a:rPr lang="vi-VN" b="1" dirty="0"/>
              <a:t>S2 (backup)</a:t>
            </a:r>
            <a:r>
              <a:rPr lang="vi-VN" dirty="0"/>
              <a:t>: hai server chạy Paxos.</a:t>
            </a:r>
          </a:p>
          <a:p>
            <a:pPr>
              <a:buFont typeface="Arial" panose="020B0604020202020204" pitchFamily="34" charset="0"/>
              <a:buChar char="•"/>
            </a:pPr>
            <a:r>
              <a:rPr lang="vi-VN" dirty="0"/>
              <a:t>Các message gồm:</a:t>
            </a:r>
          </a:p>
          <a:p>
            <a:pPr marL="742950" lvl="1" indent="-285750">
              <a:buFont typeface="Arial" panose="020B0604020202020204" pitchFamily="34" charset="0"/>
              <a:buChar char="•"/>
            </a:pPr>
            <a:r>
              <a:rPr lang="vi-VN" dirty="0"/>
              <a:t>Acc(o¹,1) — Accept message: leader gán timestamp 1 cho operation o¹.</a:t>
            </a:r>
          </a:p>
          <a:p>
            <a:pPr marL="742950" lvl="1" indent="-285750">
              <a:buFont typeface="Arial" panose="020B0604020202020204" pitchFamily="34" charset="0"/>
              <a:buChar char="•"/>
            </a:pPr>
            <a:r>
              <a:rPr lang="vi-VN" dirty="0"/>
              <a:t>Alive, o¹ — backup phản hồi là đã nhận và học được o¹.</a:t>
            </a:r>
          </a:p>
          <a:p>
            <a:pPr marL="742950" lvl="1" indent="-285750">
              <a:buFont typeface="Arial" panose="020B0604020202020204" pitchFamily="34" charset="0"/>
              <a:buChar char="•"/>
            </a:pPr>
            <a:r>
              <a:rPr lang="vi-VN" dirty="0"/>
              <a:t>Acc(o²,1) — Accept message về o².</a:t>
            </a:r>
          </a:p>
          <a:p>
            <a:pPr>
              <a:buFont typeface="Arial" panose="020B0604020202020204" pitchFamily="34" charset="0"/>
              <a:buChar char="•"/>
            </a:pPr>
            <a:r>
              <a:rPr lang="vi-VN" dirty="0"/>
              <a:t>Dòng thời gian có sự </a:t>
            </a:r>
            <a:r>
              <a:rPr lang="vi-VN" b="1" dirty="0"/>
              <a:t>trễ mạng</a:t>
            </a:r>
            <a:r>
              <a:rPr lang="vi-VN" dirty="0"/>
              <a:t>, gây ra hiểu nhầm về lỗi.</a:t>
            </a:r>
          </a:p>
          <a:p>
            <a:endParaRPr lang="en-US" b="1" dirty="0"/>
          </a:p>
          <a:p>
            <a:r>
              <a:rPr lang="en-US" b="1" dirty="0"/>
              <a:t>3. </a:t>
            </a:r>
            <a:r>
              <a:rPr lang="vi-VN" b="1" dirty="0"/>
              <a:t>Phân tích diễn biến trong hình</a:t>
            </a:r>
          </a:p>
          <a:p>
            <a:r>
              <a:rPr lang="vi-VN" b="1" dirty="0"/>
              <a:t>Bước 1: Client C1 gửi operation o¹ đến leader S1</a:t>
            </a:r>
          </a:p>
          <a:p>
            <a:pPr>
              <a:buFont typeface="Arial" panose="020B0604020202020204" pitchFamily="34" charset="0"/>
              <a:buChar char="•"/>
            </a:pPr>
            <a:r>
              <a:rPr lang="vi-VN" dirty="0"/>
              <a:t>S1 xử lý yêu cầu, gán timestamp </a:t>
            </a:r>
            <a:r>
              <a:rPr lang="vi-VN" b="1" dirty="0"/>
              <a:t>1</a:t>
            </a:r>
            <a:r>
              <a:rPr lang="vi-VN" dirty="0"/>
              <a:t>.</a:t>
            </a:r>
          </a:p>
          <a:p>
            <a:pPr>
              <a:buFont typeface="Arial" panose="020B0604020202020204" pitchFamily="34" charset="0"/>
              <a:buChar char="•"/>
            </a:pPr>
            <a:r>
              <a:rPr lang="vi-VN" dirty="0"/>
              <a:t>S1 gửi message </a:t>
            </a:r>
            <a:r>
              <a:rPr lang="vi-VN" b="1" dirty="0"/>
              <a:t>Accept(o¹,1)</a:t>
            </a:r>
            <a:r>
              <a:rPr lang="vi-VN" dirty="0"/>
              <a:t> đến S2.</a:t>
            </a:r>
          </a:p>
          <a:p>
            <a:r>
              <a:rPr lang="en-US" dirty="0"/>
              <a:t>* </a:t>
            </a:r>
            <a:r>
              <a:rPr lang="vi-VN" i="1" dirty="0"/>
              <a:t>Mọi thứ đều hoạt động bình thường.</a:t>
            </a:r>
            <a:endParaRPr lang="vi-VN" dirty="0"/>
          </a:p>
          <a:p>
            <a:r>
              <a:rPr lang="vi-VN" b="1" dirty="0"/>
              <a:t>Bước 2: S2 gửi phản hồi "Alive, o¹"</a:t>
            </a:r>
          </a:p>
          <a:p>
            <a:pPr>
              <a:buFont typeface="Arial" panose="020B0604020202020204" pitchFamily="34" charset="0"/>
              <a:buChar char="•"/>
            </a:pPr>
            <a:r>
              <a:rPr lang="vi-VN" dirty="0"/>
              <a:t>S2 nhận được Accept(o¹,1)</a:t>
            </a:r>
          </a:p>
          <a:p>
            <a:pPr>
              <a:buFont typeface="Arial" panose="020B0604020202020204" pitchFamily="34" charset="0"/>
              <a:buChar char="•"/>
            </a:pPr>
            <a:r>
              <a:rPr lang="vi-VN" dirty="0"/>
              <a:t>Nó gửi message </a:t>
            </a:r>
            <a:r>
              <a:rPr lang="vi-VN" b="1" dirty="0"/>
              <a:t>Alive, o¹</a:t>
            </a:r>
            <a:r>
              <a:rPr lang="vi-VN" dirty="0"/>
              <a:t> trở lại leader (S1)</a:t>
            </a:r>
          </a:p>
          <a:p>
            <a:r>
              <a:rPr lang="en-US" dirty="0"/>
              <a:t>* </a:t>
            </a:r>
            <a:r>
              <a:rPr lang="vi-VN" dirty="0"/>
              <a:t>Đây là bước giúp leader biết S2 vẫn hoạt động và đã học o¹.</a:t>
            </a:r>
          </a:p>
          <a:p>
            <a:r>
              <a:rPr lang="vi-VN" b="1" dirty="0"/>
              <a:t>Bước 3: Mất mát hoặc chậm trễ thông điệp (Timeout xuất hiện)</a:t>
            </a:r>
          </a:p>
          <a:p>
            <a:r>
              <a:rPr lang="vi-VN" dirty="0"/>
              <a:t>Notice ở hình:</a:t>
            </a:r>
          </a:p>
          <a:p>
            <a:pPr>
              <a:buFont typeface="Arial" panose="020B0604020202020204" pitchFamily="34" charset="0"/>
              <a:buChar char="•"/>
            </a:pPr>
            <a:r>
              <a:rPr lang="vi-VN" dirty="0"/>
              <a:t>Thông điệp từ S2 về S1 có thể </a:t>
            </a:r>
            <a:r>
              <a:rPr lang="vi-VN" b="1" dirty="0"/>
              <a:t>bị mất hoặc đến rất muộn</a:t>
            </a:r>
            <a:r>
              <a:rPr lang="vi-VN" dirty="0"/>
              <a:t>.</a:t>
            </a:r>
          </a:p>
          <a:p>
            <a:pPr>
              <a:buFont typeface="Arial" panose="020B0604020202020204" pitchFamily="34" charset="0"/>
              <a:buChar char="•"/>
            </a:pPr>
            <a:r>
              <a:rPr lang="vi-VN" dirty="0"/>
              <a:t>Vì vậy S1 </a:t>
            </a:r>
            <a:r>
              <a:rPr lang="vi-VN" b="1" dirty="0"/>
              <a:t>không nhận được phản hồi đúng hạn</a:t>
            </a:r>
            <a:r>
              <a:rPr lang="vi-VN" dirty="0"/>
              <a:t>.</a:t>
            </a:r>
          </a:p>
          <a:p>
            <a:r>
              <a:rPr lang="en-US" dirty="0"/>
              <a:t>=&gt; </a:t>
            </a:r>
            <a:r>
              <a:rPr lang="vi-VN" b="1" dirty="0"/>
              <a:t>S1 nghi ngờ S2 bị lỗi</a:t>
            </a:r>
            <a:r>
              <a:rPr lang="vi-VN" dirty="0"/>
              <a:t> (FALSE FAILURE).</a:t>
            </a:r>
          </a:p>
          <a:p>
            <a:r>
              <a:rPr lang="vi-VN" dirty="0"/>
              <a:t>Trong thực tế:</a:t>
            </a:r>
          </a:p>
          <a:p>
            <a:pPr>
              <a:buFont typeface="Arial" panose="020B0604020202020204" pitchFamily="34" charset="0"/>
              <a:buChar char="•"/>
            </a:pPr>
            <a:r>
              <a:rPr lang="vi-VN" dirty="0"/>
              <a:t>Có thể S2 hoàn toàn khỏe mạnh.</a:t>
            </a:r>
          </a:p>
          <a:p>
            <a:pPr>
              <a:buFont typeface="Arial" panose="020B0604020202020204" pitchFamily="34" charset="0"/>
              <a:buChar char="•"/>
            </a:pPr>
            <a:r>
              <a:rPr lang="vi-VN" dirty="0"/>
              <a:t>Nhưng vì chậm trễ mạng, S1 kết luận sai (false suspicion).</a:t>
            </a:r>
          </a:p>
          <a:p>
            <a:r>
              <a:rPr lang="vi-VN" b="1" dirty="0"/>
              <a:t>Bước 4: S2 lại tiếp tục hoạt động</a:t>
            </a:r>
          </a:p>
          <a:p>
            <a:r>
              <a:rPr lang="vi-VN" dirty="0"/>
              <a:t>Client C2 gửi o² → S2 xử lý → gửi Accept(o²,1)</a:t>
            </a:r>
          </a:p>
          <a:p>
            <a:r>
              <a:rPr lang="en-US" dirty="0"/>
              <a:t>-</a:t>
            </a:r>
            <a:r>
              <a:rPr lang="vi-VN" dirty="0"/>
              <a:t> S2 vẫn hoạt động bình thường.</a:t>
            </a:r>
            <a:br>
              <a:rPr lang="vi-VN" dirty="0"/>
            </a:br>
            <a:r>
              <a:rPr lang="en-US" dirty="0"/>
              <a:t>-</a:t>
            </a:r>
            <a:r>
              <a:rPr lang="vi-VN" dirty="0"/>
              <a:t> Chỉ có S1 </a:t>
            </a:r>
            <a:r>
              <a:rPr lang="vi-VN" i="1" dirty="0"/>
              <a:t>nghi ngờ</a:t>
            </a:r>
            <a:r>
              <a:rPr lang="vi-VN" dirty="0"/>
              <a:t> S2 bị lỗi.</a:t>
            </a:r>
          </a:p>
          <a:p>
            <a:r>
              <a:rPr lang="en-US" dirty="0"/>
              <a:t>=&gt; </a:t>
            </a:r>
            <a:r>
              <a:rPr lang="vi-VN" dirty="0"/>
              <a:t>Đây là minh chứng cho nhận định:</a:t>
            </a:r>
          </a:p>
          <a:p>
            <a:r>
              <a:rPr lang="en-US" b="1" dirty="0"/>
              <a:t>*</a:t>
            </a:r>
            <a:r>
              <a:rPr lang="vi-VN" b="1" dirty="0"/>
              <a:t> </a:t>
            </a:r>
            <a:r>
              <a:rPr lang="vi-VN" b="1" i="1" dirty="0"/>
              <a:t>"Detected failure may be false."</a:t>
            </a:r>
            <a:endParaRPr lang="vi-VN" b="1" dirty="0"/>
          </a:p>
          <a:p>
            <a:endParaRPr lang="en-US" b="1" dirty="0"/>
          </a:p>
          <a:p>
            <a:r>
              <a:rPr lang="en-US" b="1" dirty="0"/>
              <a:t>4. </a:t>
            </a:r>
            <a:r>
              <a:rPr lang="vi-VN" b="1" dirty="0"/>
              <a:t>Ý nghĩa hệ thống phân tán rút ra từ hình</a:t>
            </a:r>
          </a:p>
          <a:p>
            <a:r>
              <a:rPr lang="en-US" b="1" dirty="0"/>
              <a:t>a</a:t>
            </a:r>
            <a:r>
              <a:rPr lang="vi-VN" b="1" dirty="0"/>
              <a:t>. Timeout không đáng tin</a:t>
            </a:r>
          </a:p>
          <a:p>
            <a:r>
              <a:rPr lang="vi-VN" dirty="0"/>
              <a:t>Timeout chỉ giúp </a:t>
            </a:r>
            <a:r>
              <a:rPr lang="vi-VN" b="1" dirty="0"/>
              <a:t>nghi ngờ lỗi</a:t>
            </a:r>
            <a:r>
              <a:rPr lang="vi-VN" dirty="0"/>
              <a:t>, không thể chắc chắn 100%.</a:t>
            </a:r>
          </a:p>
          <a:p>
            <a:r>
              <a:rPr lang="en-US" b="1" dirty="0"/>
              <a:t>b</a:t>
            </a:r>
            <a:r>
              <a:rPr lang="vi-VN" b="1" dirty="0"/>
              <a:t>. Không thể phân biệt:</a:t>
            </a:r>
          </a:p>
          <a:p>
            <a:pPr>
              <a:buFont typeface="Arial" panose="020B0604020202020204" pitchFamily="34" charset="0"/>
              <a:buChar char="•"/>
            </a:pPr>
            <a:r>
              <a:rPr lang="vi-VN" dirty="0"/>
              <a:t>Node bị crash thật</a:t>
            </a:r>
          </a:p>
          <a:p>
            <a:pPr>
              <a:buFont typeface="Arial" panose="020B0604020202020204" pitchFamily="34" charset="0"/>
              <a:buChar char="•"/>
            </a:pPr>
            <a:r>
              <a:rPr lang="vi-VN" dirty="0"/>
              <a:t>Hay chỉ bị delay</a:t>
            </a:r>
          </a:p>
          <a:p>
            <a:r>
              <a:rPr lang="vi-VN" dirty="0"/>
              <a:t>Tất cả các thuật toán như Paxos, Raft… đều dựa trên giả định:</a:t>
            </a:r>
          </a:p>
          <a:p>
            <a:r>
              <a:rPr lang="en-US" dirty="0"/>
              <a:t>=&gt; </a:t>
            </a:r>
            <a:r>
              <a:rPr lang="vi-VN" b="1" dirty="0"/>
              <a:t>Failure detectors không hoàn hảo.</a:t>
            </a:r>
            <a:endParaRPr lang="vi-VN" dirty="0"/>
          </a:p>
          <a:p>
            <a:r>
              <a:rPr lang="en-US" b="1" dirty="0"/>
              <a:t>c</a:t>
            </a:r>
            <a:r>
              <a:rPr lang="vi-VN" b="1" dirty="0"/>
              <a:t>. Paxos vẫn hoạt động dù failure detection sai</a:t>
            </a:r>
          </a:p>
          <a:p>
            <a:r>
              <a:rPr lang="vi-VN" dirty="0"/>
              <a:t>Paxos </a:t>
            </a:r>
            <a:r>
              <a:rPr lang="vi-VN" b="1" dirty="0"/>
              <a:t>không yêu cầu</a:t>
            </a:r>
            <a:r>
              <a:rPr lang="vi-VN" dirty="0"/>
              <a:t> xác định chính xác server đã chết.</a:t>
            </a:r>
          </a:p>
          <a:p>
            <a:r>
              <a:rPr lang="vi-VN" dirty="0"/>
              <a:t>Chỉ cần:</a:t>
            </a:r>
          </a:p>
          <a:p>
            <a:pPr>
              <a:buFont typeface="Arial" panose="020B0604020202020204" pitchFamily="34" charset="0"/>
              <a:buChar char="•"/>
            </a:pPr>
            <a:r>
              <a:rPr lang="vi-VN" dirty="0"/>
              <a:t>Cuối cùng, mọi server đồng ý về 1 leader</a:t>
            </a:r>
          </a:p>
          <a:p>
            <a:pPr>
              <a:buFont typeface="Arial" panose="020B0604020202020204" pitchFamily="34" charset="0"/>
              <a:buChar char="•"/>
            </a:pPr>
            <a:r>
              <a:rPr lang="vi-VN" dirty="0"/>
              <a:t>Các message đến đủ nhanh để tiến trình hội tụ</a:t>
            </a:r>
          </a:p>
          <a:p>
            <a:endParaRPr lang="en-US" b="1" dirty="0"/>
          </a:p>
          <a:p>
            <a:r>
              <a:rPr lang="en-US" b="1" dirty="0"/>
              <a:t>5. </a:t>
            </a:r>
            <a:r>
              <a:rPr lang="vi-VN" b="1" dirty="0"/>
              <a:t>Tóm tắ</a:t>
            </a:r>
            <a:r>
              <a:rPr lang="en-US" b="1" dirty="0"/>
              <a:t>t</a:t>
            </a:r>
            <a:endParaRPr lang="vi-VN" b="1" dirty="0"/>
          </a:p>
          <a:p>
            <a:r>
              <a:rPr lang="vi-VN" dirty="0"/>
              <a:t>Nội dung</a:t>
            </a:r>
            <a:r>
              <a:rPr lang="en-US" dirty="0"/>
              <a:t>			</a:t>
            </a:r>
            <a:r>
              <a:rPr lang="vi-VN" dirty="0"/>
              <a:t>Giải thích</a:t>
            </a:r>
            <a:endParaRPr lang="en-US" dirty="0"/>
          </a:p>
          <a:p>
            <a:r>
              <a:rPr lang="vi-VN" dirty="0"/>
              <a:t>Reliable failure detection là bất khả thi</a:t>
            </a:r>
            <a:r>
              <a:rPr lang="en-US" dirty="0"/>
              <a:t>	</a:t>
            </a:r>
            <a:r>
              <a:rPr lang="vi-VN" dirty="0"/>
              <a:t>Vì không thể phân biệt crash và delay</a:t>
            </a:r>
            <a:endParaRPr lang="en-US" dirty="0"/>
          </a:p>
          <a:p>
            <a:r>
              <a:rPr lang="vi-VN" dirty="0"/>
              <a:t>Giải phápDùng timeout để nghi ngờ lỗi</a:t>
            </a:r>
            <a:r>
              <a:rPr lang="en-US" dirty="0"/>
              <a:t>	</a:t>
            </a:r>
            <a:r>
              <a:rPr lang="vi-VN" dirty="0"/>
              <a:t>Rủi roTimeout → phát hiện sai (false failure)</a:t>
            </a:r>
            <a:endParaRPr lang="en-US" dirty="0"/>
          </a:p>
          <a:p>
            <a:r>
              <a:rPr lang="vi-VN" dirty="0"/>
              <a:t>Ví dụ trong hình</a:t>
            </a:r>
            <a:r>
              <a:rPr lang="en-US" dirty="0"/>
              <a:t>		</a:t>
            </a:r>
            <a:r>
              <a:rPr lang="vi-VN" dirty="0"/>
              <a:t>Leader S1 nghĩ S2 chết do timeout, nhưng S2 vẫn đang hoạt động bình thường</a:t>
            </a:r>
            <a:endParaRPr lang="en-US" dirty="0"/>
          </a:p>
          <a:p>
            <a:r>
              <a:rPr lang="vi-VN" dirty="0"/>
              <a:t>Kết luận</a:t>
            </a:r>
            <a:r>
              <a:rPr lang="en-US" dirty="0"/>
              <a:t>			</a:t>
            </a:r>
            <a:r>
              <a:rPr lang="vi-VN" dirty="0"/>
              <a:t>Paxos phải thiết kế sao cho an toàn dù failure detection sai</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33</a:t>
            </a:fld>
            <a:endParaRPr lang="en-US"/>
          </a:p>
        </p:txBody>
      </p:sp>
    </p:spTree>
    <p:extLst>
      <p:ext uri="{BB962C8B-B14F-4D97-AF65-F5344CB8AC3E}">
        <p14:creationId xmlns:p14="http://schemas.microsoft.com/office/powerpoint/2010/main" val="1556288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t>“Required number of servers” trong Paxos.</a:t>
            </a:r>
          </a:p>
          <a:p>
            <a:r>
              <a:rPr lang="en-US" b="1" dirty="0"/>
              <a:t>1. </a:t>
            </a:r>
            <a:r>
              <a:rPr lang="vi-VN" b="1" dirty="0"/>
              <a:t>Ý nghĩa tổng quan của slide</a:t>
            </a:r>
          </a:p>
          <a:p>
            <a:r>
              <a:rPr lang="vi-VN" dirty="0"/>
              <a:t>Slide này trả lời câu hỏi quan trọng:</a:t>
            </a:r>
          </a:p>
          <a:p>
            <a:r>
              <a:rPr lang="vi-VN" b="1" dirty="0"/>
              <a:t>Paxos cần tối thiểu bao nhiêu server để hoạt động an toàn?</a:t>
            </a:r>
            <a:endParaRPr lang="vi-VN" dirty="0"/>
          </a:p>
          <a:p>
            <a:r>
              <a:rPr lang="en-US" dirty="0"/>
              <a:t>=&gt; </a:t>
            </a:r>
            <a:r>
              <a:rPr lang="vi-VN" b="1" dirty="0"/>
              <a:t>Câu trả lời: Ít nhất 3 servers.</a:t>
            </a:r>
            <a:endParaRPr lang="vi-VN" dirty="0"/>
          </a:p>
          <a:p>
            <a:r>
              <a:rPr lang="vi-VN" dirty="0"/>
              <a:t>Lý do: Paxos cần </a:t>
            </a:r>
            <a:r>
              <a:rPr lang="vi-VN" b="1" dirty="0"/>
              <a:t>đa số (majority)</a:t>
            </a:r>
            <a:r>
              <a:rPr lang="vi-VN" dirty="0"/>
              <a:t> để đảm bảo </a:t>
            </a:r>
            <a:r>
              <a:rPr lang="vi-VN" i="1" dirty="0"/>
              <a:t>quyết định là duy nhất (safety)</a:t>
            </a:r>
            <a:r>
              <a:rPr lang="vi-VN" dirty="0"/>
              <a:t> ngay cả khi một server bị crash.</a:t>
            </a:r>
          </a:p>
          <a:p>
            <a:endParaRPr lang="en-US" b="1" dirty="0"/>
          </a:p>
          <a:p>
            <a:r>
              <a:rPr lang="en-US" b="1" dirty="0"/>
              <a:t>2. </a:t>
            </a:r>
            <a:r>
              <a:rPr lang="vi-VN" b="1" dirty="0"/>
              <a:t>Tại sao cần ít nhất 3 servers?</a:t>
            </a:r>
          </a:p>
          <a:p>
            <a:r>
              <a:rPr lang="vi-VN" dirty="0"/>
              <a:t>Giả sử chỉ có </a:t>
            </a:r>
            <a:r>
              <a:rPr lang="vi-VN" b="1" dirty="0"/>
              <a:t>2 server</a:t>
            </a:r>
            <a:r>
              <a:rPr lang="vi-VN" dirty="0"/>
              <a:t>:</a:t>
            </a:r>
          </a:p>
          <a:p>
            <a:pPr>
              <a:buFont typeface="Arial" panose="020B0604020202020204" pitchFamily="34" charset="0"/>
              <a:buChar char="•"/>
            </a:pPr>
            <a:r>
              <a:rPr lang="vi-VN" dirty="0"/>
              <a:t>Nếu 1 server bị crash → chỉ còn 1 server còn sống.</a:t>
            </a:r>
          </a:p>
          <a:p>
            <a:pPr>
              <a:buFont typeface="Arial" panose="020B0604020202020204" pitchFamily="34" charset="0"/>
              <a:buChar char="•"/>
            </a:pPr>
            <a:r>
              <a:rPr lang="vi-VN" dirty="0"/>
              <a:t>Server còn lại </a:t>
            </a:r>
            <a:r>
              <a:rPr lang="vi-VN" b="1" dirty="0"/>
              <a:t>không thể biết</a:t>
            </a:r>
            <a:r>
              <a:rPr lang="vi-VN" dirty="0"/>
              <a:t> rằng server kia:</a:t>
            </a:r>
          </a:p>
          <a:p>
            <a:pPr marL="742950" lvl="1" indent="-285750">
              <a:buFont typeface="Arial" panose="020B0604020202020204" pitchFamily="34" charset="0"/>
              <a:buChar char="•"/>
            </a:pPr>
            <a:r>
              <a:rPr lang="vi-VN" dirty="0"/>
              <a:t>chết thật hay chỉ bị chậm,</a:t>
            </a:r>
          </a:p>
          <a:p>
            <a:pPr marL="742950" lvl="1" indent="-285750">
              <a:buFont typeface="Arial" panose="020B0604020202020204" pitchFamily="34" charset="0"/>
              <a:buChar char="•"/>
            </a:pPr>
            <a:r>
              <a:rPr lang="vi-VN" dirty="0"/>
              <a:t>có nhận được operation hay không.</a:t>
            </a:r>
          </a:p>
          <a:p>
            <a:r>
              <a:rPr lang="vi-VN" dirty="0"/>
              <a:t>Vì vậy server còn lại </a:t>
            </a:r>
            <a:r>
              <a:rPr lang="vi-VN" b="1" dirty="0"/>
              <a:t>không thể đảm bảo quyết định đúng</a:t>
            </a:r>
            <a:r>
              <a:rPr lang="vi-VN" dirty="0"/>
              <a:t>.</a:t>
            </a:r>
          </a:p>
          <a:p>
            <a:r>
              <a:rPr lang="en-US" dirty="0"/>
              <a:t>=&gt;</a:t>
            </a:r>
            <a:r>
              <a:rPr lang="vi-VN" dirty="0"/>
              <a:t> </a:t>
            </a:r>
            <a:r>
              <a:rPr lang="vi-VN" b="1" dirty="0"/>
              <a:t>Không thể đạt consensus an toàn với chỉ 2 server</a:t>
            </a:r>
            <a:br>
              <a:rPr lang="vi-VN" dirty="0"/>
            </a:br>
            <a:r>
              <a:rPr lang="vi-VN" dirty="0"/>
              <a:t>(với crash failures, không tính Byzantine).</a:t>
            </a:r>
          </a:p>
          <a:p>
            <a:endParaRPr lang="en-US" b="1" dirty="0"/>
          </a:p>
          <a:p>
            <a:r>
              <a:rPr lang="en-US" b="1" dirty="0"/>
              <a:t>3. </a:t>
            </a:r>
            <a:r>
              <a:rPr lang="vi-VN" b="1" dirty="0"/>
              <a:t>Khi có 3 server</a:t>
            </a:r>
          </a:p>
          <a:p>
            <a:r>
              <a:rPr lang="vi-VN" dirty="0"/>
              <a:t>Với </a:t>
            </a:r>
            <a:r>
              <a:rPr lang="vi-VN" b="1" dirty="0"/>
              <a:t>3 server</a:t>
            </a:r>
            <a:r>
              <a:rPr lang="vi-VN" dirty="0"/>
              <a:t>, đa số (majority) = 2 server.</a:t>
            </a:r>
          </a:p>
          <a:p>
            <a:r>
              <a:rPr lang="vi-VN" dirty="0"/>
              <a:t>Điều này có nghĩa là:</a:t>
            </a:r>
          </a:p>
          <a:p>
            <a:pPr>
              <a:buFont typeface="Arial" panose="020B0604020202020204" pitchFamily="34" charset="0"/>
              <a:buChar char="•"/>
            </a:pPr>
            <a:r>
              <a:rPr lang="vi-VN" dirty="0"/>
              <a:t>Nếu </a:t>
            </a:r>
            <a:r>
              <a:rPr lang="vi-VN" b="1" dirty="0"/>
              <a:t>1 server bị crash</a:t>
            </a:r>
            <a:r>
              <a:rPr lang="vi-VN" dirty="0"/>
              <a:t>, vẫn còn </a:t>
            </a:r>
            <a:r>
              <a:rPr lang="vi-VN" b="1" dirty="0"/>
              <a:t>2 server sống</a:t>
            </a:r>
            <a:r>
              <a:rPr lang="vi-VN" dirty="0"/>
              <a:t>, đủ tạo majority.</a:t>
            </a:r>
          </a:p>
          <a:p>
            <a:pPr>
              <a:buFont typeface="Arial" panose="020B0604020202020204" pitchFamily="34" charset="0"/>
              <a:buChar char="•"/>
            </a:pPr>
            <a:r>
              <a:rPr lang="vi-VN" dirty="0"/>
              <a:t>Một quyết định chỉ được thực thi nếu </a:t>
            </a:r>
            <a:r>
              <a:rPr lang="vi-VN" b="1" dirty="0"/>
              <a:t>ít nhất 2 server</a:t>
            </a:r>
            <a:r>
              <a:rPr lang="vi-VN" dirty="0"/>
              <a:t> cùng đồng ý.</a:t>
            </a:r>
          </a:p>
          <a:p>
            <a:r>
              <a:rPr lang="en-US" dirty="0"/>
              <a:t>=&gt; </a:t>
            </a:r>
            <a:r>
              <a:rPr lang="vi-VN" b="1" dirty="0"/>
              <a:t>Hệ thống vẫn an toàn dù 1 server bị lỗi.</a:t>
            </a:r>
            <a:endParaRPr lang="vi-VN" dirty="0"/>
          </a:p>
          <a:p>
            <a:endParaRPr lang="en-US" b="1" dirty="0"/>
          </a:p>
          <a:p>
            <a:r>
              <a:rPr lang="en-US" b="1" dirty="0"/>
              <a:t>4. </a:t>
            </a:r>
            <a:r>
              <a:rPr lang="vi-VN" b="1" dirty="0"/>
              <a:t>Adapted fundamental rule (luật cơ bản điều chỉnh)</a:t>
            </a:r>
          </a:p>
          <a:p>
            <a:r>
              <a:rPr lang="vi-VN" dirty="0"/>
              <a:t>Slide ghi:</a:t>
            </a:r>
          </a:p>
          <a:p>
            <a:r>
              <a:rPr lang="vi-VN" i="1" dirty="0"/>
              <a:t>“A server S cannot execute an operation o until it has received at least one (other) LEARN(o) message, so that it knows that a majority of servers will execute o.”</a:t>
            </a:r>
            <a:endParaRPr lang="vi-VN" dirty="0"/>
          </a:p>
          <a:p>
            <a:r>
              <a:rPr lang="vi-VN" dirty="0"/>
              <a:t>Giải thích:</a:t>
            </a:r>
          </a:p>
          <a:p>
            <a:pPr>
              <a:buFont typeface="Arial" panose="020B0604020202020204" pitchFamily="34" charset="0"/>
              <a:buChar char="•"/>
            </a:pPr>
            <a:r>
              <a:rPr lang="vi-VN" dirty="0"/>
              <a:t>Trong hệ có 3 server, để execute một operation o, mỗi server phải:</a:t>
            </a:r>
          </a:p>
          <a:p>
            <a:pPr marL="742950" lvl="1" indent="-285750">
              <a:buFont typeface="Arial" panose="020B0604020202020204" pitchFamily="34" charset="0"/>
              <a:buChar char="•"/>
            </a:pPr>
            <a:r>
              <a:rPr lang="vi-VN" dirty="0"/>
              <a:t>Nhận được LEARN(o) từ </a:t>
            </a:r>
            <a:r>
              <a:rPr lang="vi-VN" b="1" dirty="0"/>
              <a:t>ít nhất 1 server khác</a:t>
            </a:r>
            <a:br>
              <a:rPr lang="vi-VN" dirty="0"/>
            </a:br>
            <a:r>
              <a:rPr lang="vi-VN" dirty="0"/>
              <a:t>(vì chính nó + 1 server khác = 2 server = majority)</a:t>
            </a:r>
          </a:p>
          <a:p>
            <a:pPr>
              <a:buFont typeface="Arial" panose="020B0604020202020204" pitchFamily="34" charset="0"/>
              <a:buChar char="•"/>
            </a:pPr>
            <a:r>
              <a:rPr lang="vi-VN" dirty="0"/>
              <a:t>Khi đã có majority đồng ý:</a:t>
            </a:r>
          </a:p>
          <a:p>
            <a:pPr marL="742950" lvl="1" indent="-285750">
              <a:buFont typeface="Arial" panose="020B0604020202020204" pitchFamily="34" charset="0"/>
              <a:buChar char="•"/>
            </a:pPr>
            <a:r>
              <a:rPr lang="vi-VN" dirty="0"/>
              <a:t>Operation o sẽ </a:t>
            </a:r>
            <a:r>
              <a:rPr lang="vi-VN" b="1" dirty="0"/>
              <a:t>được đảm bảo thực thi</a:t>
            </a:r>
            <a:r>
              <a:rPr lang="vi-VN" dirty="0"/>
              <a:t> trong hệ thống.</a:t>
            </a:r>
          </a:p>
          <a:p>
            <a:pPr marL="742950" lvl="1" indent="-285750">
              <a:buFont typeface="Arial" panose="020B0604020202020204" pitchFamily="34" charset="0"/>
              <a:buChar char="•"/>
            </a:pPr>
            <a:r>
              <a:rPr lang="vi-VN" dirty="0"/>
              <a:t>Không có operation nào khác có thể thắng thế o.</a:t>
            </a:r>
          </a:p>
          <a:p>
            <a:r>
              <a:rPr lang="en-US" dirty="0"/>
              <a:t>=&gt;</a:t>
            </a:r>
            <a:r>
              <a:rPr lang="vi-VN" dirty="0"/>
              <a:t> Điều này đảm bảo </a:t>
            </a:r>
            <a:r>
              <a:rPr lang="vi-VN" b="1" dirty="0"/>
              <a:t>safety</a:t>
            </a:r>
            <a:r>
              <a:rPr lang="vi-VN" dirty="0"/>
              <a:t> (tính đúng đắn).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35</a:t>
            </a:fld>
            <a:endParaRPr lang="en-US"/>
          </a:p>
        </p:txBody>
      </p:sp>
    </p:spTree>
    <p:extLst>
      <p:ext uri="{BB962C8B-B14F-4D97-AF65-F5344CB8AC3E}">
        <p14:creationId xmlns:p14="http://schemas.microsoft.com/office/powerpoint/2010/main" val="2599815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t>“Required number of servers – Assumptions before taking the next steps”.</a:t>
            </a:r>
          </a:p>
          <a:p>
            <a:endParaRPr lang="en-US" b="1" dirty="0"/>
          </a:p>
          <a:p>
            <a:r>
              <a:rPr lang="en-US" b="1" dirty="0"/>
              <a:t>1. </a:t>
            </a:r>
            <a:r>
              <a:rPr lang="vi-VN" b="1" dirty="0"/>
              <a:t>Mục tiêu của slide</a:t>
            </a:r>
          </a:p>
          <a:p>
            <a:r>
              <a:rPr lang="vi-VN" dirty="0"/>
              <a:t>Slide này giải thích các </a:t>
            </a:r>
            <a:r>
              <a:rPr lang="vi-VN" b="1" dirty="0"/>
              <a:t>giả định quan trọng (critical assumptions)</a:t>
            </a:r>
            <a:r>
              <a:rPr lang="vi-VN" dirty="0"/>
              <a:t> trước khi tiếp tục trình bày Paxos.</a:t>
            </a:r>
            <a:br>
              <a:rPr lang="vi-VN" dirty="0"/>
            </a:br>
            <a:r>
              <a:rPr lang="vi-VN" dirty="0"/>
              <a:t>Những giả định này giúp đơn giản hóa hệ thống để dễ hiểu hơn, nhưng đồng thời cũng phản ánh các yêu cầu thực tế của Paxos.</a:t>
            </a:r>
          </a:p>
          <a:p>
            <a:endParaRPr lang="en-US" b="1" dirty="0"/>
          </a:p>
          <a:p>
            <a:r>
              <a:rPr lang="en-US" b="1" dirty="0"/>
              <a:t>2. </a:t>
            </a:r>
            <a:r>
              <a:rPr lang="vi-VN" b="1" dirty="0"/>
              <a:t>Giải thích từng giả định trong slide</a:t>
            </a:r>
          </a:p>
          <a:p>
            <a:r>
              <a:rPr lang="en-US" b="1" dirty="0"/>
              <a:t>a) “</a:t>
            </a:r>
            <a:r>
              <a:rPr lang="vi-VN" b="1" dirty="0"/>
              <a:t>Initially, S₁ is the leader.”</a:t>
            </a:r>
          </a:p>
          <a:p>
            <a:pPr>
              <a:buFont typeface="Arial" panose="020B0604020202020204" pitchFamily="34" charset="0"/>
              <a:buChar char="•"/>
            </a:pPr>
            <a:r>
              <a:rPr lang="vi-VN" dirty="0"/>
              <a:t>Paxos cần một tiến trình leader (người đề xuất lệnh).</a:t>
            </a:r>
          </a:p>
          <a:p>
            <a:pPr>
              <a:buFont typeface="Arial" panose="020B0604020202020204" pitchFamily="34" charset="0"/>
              <a:buChar char="•"/>
            </a:pPr>
            <a:r>
              <a:rPr lang="vi-VN" dirty="0"/>
              <a:t>Ban đầu, để đơn giản → </a:t>
            </a:r>
            <a:r>
              <a:rPr lang="vi-VN" b="1" dirty="0"/>
              <a:t>S₁ được chọn làm leader</a:t>
            </a:r>
            <a:r>
              <a:rPr lang="vi-VN" dirty="0"/>
              <a:t>.</a:t>
            </a:r>
          </a:p>
          <a:p>
            <a:pPr>
              <a:buFont typeface="Arial" panose="020B0604020202020204" pitchFamily="34" charset="0"/>
              <a:buChar char="•"/>
            </a:pPr>
            <a:r>
              <a:rPr lang="vi-VN" dirty="0"/>
              <a:t>Client gửi yêu cầu đến S₁.</a:t>
            </a:r>
          </a:p>
          <a:p>
            <a:pPr>
              <a:buFont typeface="Arial" panose="020B0604020202020204" pitchFamily="34" charset="0"/>
              <a:buChar char="•"/>
            </a:pPr>
            <a:r>
              <a:rPr lang="vi-VN" dirty="0"/>
              <a:t>S₁ gán timestamp và broadcast ACCEPT messages.</a:t>
            </a:r>
          </a:p>
          <a:p>
            <a:r>
              <a:rPr lang="en-US" dirty="0"/>
              <a:t>=&gt;</a:t>
            </a:r>
            <a:r>
              <a:rPr lang="vi-VN" dirty="0"/>
              <a:t> Giả định này giúp mô tả thuật toán mà không cần nói ngay về bầu cử leader.</a:t>
            </a:r>
          </a:p>
          <a:p>
            <a:r>
              <a:rPr lang="en-US" b="1" dirty="0"/>
              <a:t>b) “</a:t>
            </a:r>
            <a:r>
              <a:rPr lang="vi-VN" b="1" dirty="0"/>
              <a:t>A server can reliably detect it has missed a message, and recover from that miss.”</a:t>
            </a:r>
          </a:p>
          <a:p>
            <a:r>
              <a:rPr lang="vi-VN" dirty="0"/>
              <a:t>Điều này nghĩa là:</a:t>
            </a:r>
          </a:p>
          <a:p>
            <a:pPr>
              <a:buFont typeface="Arial" panose="020B0604020202020204" pitchFamily="34" charset="0"/>
              <a:buChar char="•"/>
            </a:pPr>
            <a:r>
              <a:rPr lang="vi-VN" dirty="0"/>
              <a:t>Nếu S₂ hoặc S₃ bỏ lỡ một ACCEPT hoặc LEARN,</a:t>
            </a:r>
          </a:p>
          <a:p>
            <a:pPr>
              <a:buFont typeface="Arial" panose="020B0604020202020204" pitchFamily="34" charset="0"/>
              <a:buChar char="•"/>
            </a:pPr>
            <a:r>
              <a:rPr lang="vi-VN" dirty="0"/>
              <a:t>Chúng </a:t>
            </a:r>
            <a:r>
              <a:rPr lang="vi-VN" b="1" dirty="0"/>
              <a:t>biết rằng mình bị thiếu thông tin</a:t>
            </a:r>
            <a:r>
              <a:rPr lang="vi-VN" dirty="0"/>
              <a:t> (ví dụ nhờ sequence number),</a:t>
            </a:r>
          </a:p>
          <a:p>
            <a:pPr>
              <a:buFont typeface="Arial" panose="020B0604020202020204" pitchFamily="34" charset="0"/>
              <a:buChar char="•"/>
            </a:pPr>
            <a:r>
              <a:rPr lang="vi-VN" dirty="0"/>
              <a:t>Và chúng có thể </a:t>
            </a:r>
            <a:r>
              <a:rPr lang="vi-VN" b="1" dirty="0"/>
              <a:t>yêu cầu gửi lại</a:t>
            </a:r>
            <a:r>
              <a:rPr lang="vi-VN" dirty="0"/>
              <a:t> hoặc </a:t>
            </a:r>
            <a:r>
              <a:rPr lang="vi-VN" b="1" dirty="0"/>
              <a:t>đồng bộ lại danh sách command</a:t>
            </a:r>
            <a:r>
              <a:rPr lang="vi-VN" dirty="0"/>
              <a:t>.</a:t>
            </a:r>
          </a:p>
          <a:p>
            <a:r>
              <a:rPr lang="en-US" dirty="0"/>
              <a:t>=&gt;</a:t>
            </a:r>
            <a:r>
              <a:rPr lang="vi-VN" dirty="0"/>
              <a:t> Đây là cơ chế </a:t>
            </a:r>
            <a:r>
              <a:rPr lang="vi-VN" i="1" dirty="0"/>
              <a:t>self-repair</a:t>
            </a:r>
            <a:r>
              <a:rPr lang="vi-VN" dirty="0"/>
              <a:t> quan trọng, giúp backup server không bị “tụt lại phía sau”.</a:t>
            </a:r>
          </a:p>
          <a:p>
            <a:endParaRPr lang="en-US" b="1" dirty="0"/>
          </a:p>
          <a:p>
            <a:r>
              <a:rPr lang="en-US" b="1" dirty="0"/>
              <a:t>c) “</a:t>
            </a:r>
            <a:r>
              <a:rPr lang="vi-VN" b="1" dirty="0"/>
              <a:t>When a new leader needs to be elected, the remaining servers follow a strictly deterministic algorithm.”</a:t>
            </a:r>
          </a:p>
          <a:p>
            <a:r>
              <a:rPr lang="vi-VN" dirty="0"/>
              <a:t>Ý nghĩa:</a:t>
            </a:r>
          </a:p>
          <a:p>
            <a:pPr>
              <a:buFont typeface="Arial" panose="020B0604020202020204" pitchFamily="34" charset="0"/>
              <a:buChar char="•"/>
            </a:pPr>
            <a:r>
              <a:rPr lang="vi-VN" dirty="0"/>
              <a:t>Nếu leader S₁ crash → phải bầu leader mới.</a:t>
            </a:r>
          </a:p>
          <a:p>
            <a:pPr>
              <a:buFont typeface="Arial" panose="020B0604020202020204" pitchFamily="34" charset="0"/>
              <a:buChar char="•"/>
            </a:pPr>
            <a:r>
              <a:rPr lang="vi-VN" dirty="0"/>
              <a:t>Việc bầu phải theo </a:t>
            </a:r>
            <a:r>
              <a:rPr lang="vi-VN" b="1" dirty="0"/>
              <a:t>thuật toán hoàn toàn deterministic</a:t>
            </a:r>
            <a:br>
              <a:rPr lang="vi-VN" dirty="0"/>
            </a:br>
            <a:r>
              <a:rPr lang="vi-VN" dirty="0"/>
              <a:t>(để tránh trường hợp nhiều node tự cho mình là leader).</a:t>
            </a:r>
          </a:p>
          <a:p>
            <a:endParaRPr lang="en-US" b="1" dirty="0"/>
          </a:p>
          <a:p>
            <a:r>
              <a:rPr lang="en-US" b="1" dirty="0"/>
              <a:t>d) “</a:t>
            </a:r>
            <a:r>
              <a:rPr lang="vi-VN" b="1" dirty="0"/>
              <a:t>A client cannot be asked to help the servers.”</a:t>
            </a:r>
          </a:p>
          <a:p>
            <a:r>
              <a:rPr lang="vi-VN" dirty="0"/>
              <a:t>Paxos yêu cầu:</a:t>
            </a:r>
          </a:p>
          <a:p>
            <a:pPr>
              <a:buFont typeface="Arial" panose="020B0604020202020204" pitchFamily="34" charset="0"/>
              <a:buChar char="•"/>
            </a:pPr>
            <a:r>
              <a:rPr lang="vi-VN" dirty="0"/>
              <a:t>Client </a:t>
            </a:r>
            <a:r>
              <a:rPr lang="vi-VN" b="1" dirty="0"/>
              <a:t>không tham gia giải quyết lỗi</a:t>
            </a:r>
            <a:r>
              <a:rPr lang="vi-VN" dirty="0"/>
              <a:t>.</a:t>
            </a:r>
          </a:p>
          <a:p>
            <a:pPr>
              <a:buFont typeface="Arial" panose="020B0604020202020204" pitchFamily="34" charset="0"/>
              <a:buChar char="•"/>
            </a:pPr>
            <a:r>
              <a:rPr lang="vi-VN" dirty="0"/>
              <a:t>Client chỉ gửi yêu cầu, chờ đáp ứng.</a:t>
            </a:r>
          </a:p>
          <a:p>
            <a:pPr>
              <a:buFont typeface="Arial" panose="020B0604020202020204" pitchFamily="34" charset="0"/>
              <a:buChar char="•"/>
            </a:pPr>
            <a:r>
              <a:rPr lang="vi-VN" dirty="0"/>
              <a:t>Không dựa vào client để sửa inconsistency.</a:t>
            </a:r>
          </a:p>
          <a:p>
            <a:r>
              <a:rPr lang="en-US" dirty="0"/>
              <a:t>=&gt; </a:t>
            </a:r>
            <a:r>
              <a:rPr lang="vi-VN" dirty="0"/>
              <a:t>Điều này phù hợp với mô hình hệ phân tán thực tế:</a:t>
            </a:r>
          </a:p>
          <a:p>
            <a:r>
              <a:rPr lang="vi-VN" dirty="0"/>
              <a:t>Client có thể rời mạng, đóng máy, đổi mạng, chạy code lỗi,...</a:t>
            </a:r>
          </a:p>
          <a:p>
            <a:endParaRPr lang="en-US" b="1" dirty="0"/>
          </a:p>
          <a:p>
            <a:r>
              <a:rPr lang="en-US" b="1" dirty="0"/>
              <a:t>3. </a:t>
            </a:r>
            <a:r>
              <a:rPr lang="vi-VN" b="1" dirty="0"/>
              <a:t>Observation (nhận xét quan trọng)</a:t>
            </a:r>
          </a:p>
          <a:p>
            <a:r>
              <a:rPr lang="vi-VN" b="1" dirty="0"/>
              <a:t>Nếu S₂ hoặc S₃ crash, Paxos vẫn chạy đúng.</a:t>
            </a:r>
            <a:br>
              <a:rPr lang="vi-VN" dirty="0"/>
            </a:br>
            <a:r>
              <a:rPr lang="vi-VN" dirty="0"/>
              <a:t>Tất cả nonfaulty servers vẫn thực hiện operation theo cùng thứ tự.</a:t>
            </a:r>
          </a:p>
          <a:p>
            <a:r>
              <a:rPr lang="vi-VN" dirty="0"/>
              <a:t>Giải thích:</a:t>
            </a:r>
          </a:p>
          <a:p>
            <a:pPr>
              <a:buFont typeface="Arial" panose="020B0604020202020204" pitchFamily="34" charset="0"/>
              <a:buChar char="•"/>
            </a:pPr>
            <a:r>
              <a:rPr lang="vi-VN" dirty="0"/>
              <a:t>Hệ Paxos có 3 server (S₁, S₂, S₃).</a:t>
            </a:r>
          </a:p>
          <a:p>
            <a:pPr>
              <a:buFont typeface="Arial" panose="020B0604020202020204" pitchFamily="34" charset="0"/>
              <a:buChar char="•"/>
            </a:pPr>
            <a:r>
              <a:rPr lang="vi-VN" dirty="0"/>
              <a:t>Majority = 2.</a:t>
            </a:r>
          </a:p>
          <a:p>
            <a:pPr>
              <a:buFont typeface="Arial" panose="020B0604020202020204" pitchFamily="34" charset="0"/>
              <a:buChar char="•"/>
            </a:pPr>
            <a:r>
              <a:rPr lang="vi-VN" dirty="0"/>
              <a:t>Nếu 1 server chết:</a:t>
            </a:r>
          </a:p>
          <a:p>
            <a:pPr marL="742950" lvl="1" indent="-285750">
              <a:buFont typeface="Arial" panose="020B0604020202020204" pitchFamily="34" charset="0"/>
              <a:buChar char="•"/>
            </a:pPr>
            <a:r>
              <a:rPr lang="vi-VN" dirty="0"/>
              <a:t>vẫn còn 2 server sống,</a:t>
            </a:r>
          </a:p>
          <a:p>
            <a:pPr marL="742950" lvl="1" indent="-285750">
              <a:buFont typeface="Arial" panose="020B0604020202020204" pitchFamily="34" charset="0"/>
              <a:buChar char="•"/>
            </a:pPr>
            <a:r>
              <a:rPr lang="vi-VN" dirty="0"/>
              <a:t>vẫn đủ majority để đồng thuận,</a:t>
            </a:r>
          </a:p>
          <a:p>
            <a:pPr marL="742950" lvl="1" indent="-285750">
              <a:buFont typeface="Arial" panose="020B0604020202020204" pitchFamily="34" charset="0"/>
              <a:buChar char="•"/>
            </a:pPr>
            <a:r>
              <a:rPr lang="vi-VN" dirty="0"/>
              <a:t>thứ tự command vẫn được duy trì giống nhau.</a:t>
            </a:r>
          </a:p>
          <a:p>
            <a:r>
              <a:rPr lang="en-US" dirty="0"/>
              <a:t>=&gt;</a:t>
            </a:r>
            <a:r>
              <a:rPr lang="vi-VN" dirty="0"/>
              <a:t> Paxos </a:t>
            </a:r>
            <a:r>
              <a:rPr lang="vi-VN" b="1" dirty="0"/>
              <a:t>chịu được 1 crash failure</a:t>
            </a:r>
            <a:r>
              <a:rPr lang="vi-VN" dirty="0"/>
              <a:t> với 3 server.</a:t>
            </a:r>
          </a:p>
          <a:p>
            <a:endParaRPr lang="en-US" b="1" dirty="0"/>
          </a:p>
          <a:p>
            <a:r>
              <a:rPr lang="en-US" b="1" dirty="0"/>
              <a:t>4. </a:t>
            </a:r>
            <a:r>
              <a:rPr lang="vi-VN" b="1" dirty="0"/>
              <a:t>Kết luận</a:t>
            </a:r>
          </a:p>
          <a:p>
            <a:r>
              <a:rPr lang="vi-VN" dirty="0"/>
              <a:t>Slide này xác lập các điều kiện cần có trước khi mở rộng Paxos:</a:t>
            </a:r>
          </a:p>
          <a:p>
            <a:r>
              <a:rPr lang="en-US" b="1" dirty="0"/>
              <a:t>*** </a:t>
            </a:r>
            <a:r>
              <a:rPr lang="vi-VN" b="1" dirty="0"/>
              <a:t>Những điểm chính:</a:t>
            </a:r>
          </a:p>
          <a:p>
            <a:pPr>
              <a:buFont typeface="Arial" panose="020B0604020202020204" pitchFamily="34" charset="0"/>
              <a:buChar char="•"/>
            </a:pPr>
            <a:r>
              <a:rPr lang="vi-VN" dirty="0"/>
              <a:t>Có leader S₁ ban đầu.</a:t>
            </a:r>
          </a:p>
          <a:p>
            <a:pPr>
              <a:buFont typeface="Arial" panose="020B0604020202020204" pitchFamily="34" charset="0"/>
              <a:buChar char="•"/>
            </a:pPr>
            <a:r>
              <a:rPr lang="vi-VN" dirty="0"/>
              <a:t>Có thể phát hiện message bị mất.</a:t>
            </a:r>
          </a:p>
          <a:p>
            <a:pPr>
              <a:buFont typeface="Arial" panose="020B0604020202020204" pitchFamily="34" charset="0"/>
              <a:buChar char="•"/>
            </a:pPr>
            <a:r>
              <a:rPr lang="vi-VN" dirty="0"/>
              <a:t>Leader election phải deterministic.</a:t>
            </a:r>
          </a:p>
          <a:p>
            <a:pPr>
              <a:buFont typeface="Arial" panose="020B0604020202020204" pitchFamily="34" charset="0"/>
              <a:buChar char="•"/>
            </a:pPr>
            <a:r>
              <a:rPr lang="vi-VN" dirty="0"/>
              <a:t>Client không tham gia đồng thuận.</a:t>
            </a:r>
          </a:p>
          <a:p>
            <a:pPr>
              <a:buFont typeface="Arial" panose="020B0604020202020204" pitchFamily="34" charset="0"/>
              <a:buChar char="•"/>
            </a:pPr>
            <a:r>
              <a:rPr lang="vi-VN" dirty="0"/>
              <a:t>Paxos vẫn chạy đúng nếu một backup chết.</a:t>
            </a:r>
          </a:p>
          <a:p>
            <a:r>
              <a:rPr lang="en-US" b="1" dirty="0"/>
              <a:t>*** </a:t>
            </a:r>
            <a:r>
              <a:rPr lang="vi-VN" b="1" dirty="0"/>
              <a:t>Lý do slide này quan trọng:</a:t>
            </a:r>
          </a:p>
          <a:p>
            <a:r>
              <a:rPr lang="vi-VN" dirty="0"/>
              <a:t>Nó tạo nền tảng để:</a:t>
            </a:r>
          </a:p>
          <a:p>
            <a:pPr>
              <a:buFont typeface="Arial" panose="020B0604020202020204" pitchFamily="34" charset="0"/>
              <a:buChar char="•"/>
            </a:pPr>
            <a:r>
              <a:rPr lang="vi-VN" dirty="0"/>
              <a:t>xây dựng Paxos đầy đủ,</a:t>
            </a:r>
          </a:p>
          <a:p>
            <a:pPr>
              <a:buFont typeface="Arial" panose="020B0604020202020204" pitchFamily="34" charset="0"/>
              <a:buChar char="•"/>
            </a:pPr>
            <a:r>
              <a:rPr lang="vi-VN" dirty="0"/>
              <a:t>phân tích trường hợp leader chết,</a:t>
            </a:r>
          </a:p>
          <a:p>
            <a:pPr>
              <a:buFont typeface="Arial" panose="020B0604020202020204" pitchFamily="34" charset="0"/>
              <a:buChar char="•"/>
            </a:pPr>
            <a:r>
              <a:rPr lang="vi-VN" dirty="0"/>
              <a:t>mở rộng sang Multi-Paxos, Raft, hoặc Viewstamped Replication.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37</a:t>
            </a:fld>
            <a:endParaRPr lang="en-US"/>
          </a:p>
        </p:txBody>
      </p:sp>
    </p:spTree>
    <p:extLst>
      <p:ext uri="{BB962C8B-B14F-4D97-AF65-F5344CB8AC3E}">
        <p14:creationId xmlns:p14="http://schemas.microsoft.com/office/powerpoint/2010/main" val="34098420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“Leader crashes after executing o¹”</a:t>
            </a:r>
            <a:r>
              <a:rPr lang="vi-VN" dirty="0"/>
              <a:t>.</a:t>
            </a:r>
            <a:br>
              <a:rPr lang="vi-VN" dirty="0"/>
            </a:br>
            <a:r>
              <a:rPr lang="vi-VN" dirty="0"/>
              <a:t>Slide này mô tả cách Paxos </a:t>
            </a:r>
            <a:r>
              <a:rPr lang="vi-VN" b="1" dirty="0"/>
              <a:t>tự phục hồi (self-repair)</a:t>
            </a:r>
            <a:r>
              <a:rPr lang="vi-VN" dirty="0"/>
              <a:t> khi leader bị crash ngay sau khi xử lý lệnh đầu tiên.</a:t>
            </a:r>
          </a:p>
          <a:p>
            <a:endParaRPr lang="en-US" b="1" dirty="0"/>
          </a:p>
          <a:p>
            <a:r>
              <a:rPr lang="en-US" b="1" dirty="0"/>
              <a:t>*** </a:t>
            </a:r>
            <a:r>
              <a:rPr lang="vi-VN" b="1" dirty="0"/>
              <a:t>Bối cảnh chung của slide</a:t>
            </a:r>
          </a:p>
          <a:p>
            <a:pPr>
              <a:buFont typeface="Arial" panose="020B0604020202020204" pitchFamily="34" charset="0"/>
              <a:buChar char="•"/>
            </a:pPr>
            <a:r>
              <a:rPr lang="vi-VN" dirty="0"/>
              <a:t>Ta có 3 server: </a:t>
            </a:r>
            <a:r>
              <a:rPr lang="vi-VN" b="1" dirty="0"/>
              <a:t>S₁ (leader ban đầu), S₂, S₃</a:t>
            </a:r>
            <a:r>
              <a:rPr lang="vi-VN" dirty="0"/>
              <a:t>.</a:t>
            </a:r>
          </a:p>
          <a:p>
            <a:pPr>
              <a:buFont typeface="Arial" panose="020B0604020202020204" pitchFamily="34" charset="0"/>
              <a:buChar char="•"/>
            </a:pPr>
            <a:r>
              <a:rPr lang="vi-VN" dirty="0"/>
              <a:t>Lệnh đầu tiên là </a:t>
            </a:r>
            <a:r>
              <a:rPr lang="vi-VN" b="1" dirty="0"/>
              <a:t>o¹</a:t>
            </a:r>
            <a:r>
              <a:rPr lang="vi-VN" dirty="0"/>
              <a:t> với timestamp </a:t>
            </a:r>
            <a:r>
              <a:rPr lang="vi-VN" b="1" dirty="0"/>
              <a:t>1</a:t>
            </a:r>
            <a:r>
              <a:rPr lang="vi-VN" dirty="0"/>
              <a:t> → được gửi bằng ACCEPT(o¹,1).</a:t>
            </a:r>
          </a:p>
          <a:p>
            <a:pPr>
              <a:buFont typeface="Arial" panose="020B0604020202020204" pitchFamily="34" charset="0"/>
              <a:buChar char="•"/>
            </a:pPr>
            <a:r>
              <a:rPr lang="vi-VN" dirty="0"/>
              <a:t>Sau khi gửi/nhận lệnh o¹, </a:t>
            </a:r>
            <a:r>
              <a:rPr lang="vi-VN" b="1" dirty="0"/>
              <a:t>S₁ bị crash</a:t>
            </a:r>
            <a:r>
              <a:rPr lang="vi-VN" dirty="0"/>
              <a:t>.</a:t>
            </a:r>
          </a:p>
          <a:p>
            <a:r>
              <a:rPr lang="vi-VN" dirty="0"/>
              <a:t>Lúc này, các server có thể có tình trạng </a:t>
            </a:r>
            <a:r>
              <a:rPr lang="vi-VN" b="1" dirty="0"/>
              <a:t>không đồng bộ</a:t>
            </a:r>
            <a:r>
              <a:rPr lang="vi-VN" dirty="0"/>
              <a:t>:</a:t>
            </a:r>
          </a:p>
          <a:p>
            <a:pPr>
              <a:buFont typeface="Arial" panose="020B0604020202020204" pitchFamily="34" charset="0"/>
              <a:buChar char="•"/>
            </a:pPr>
            <a:r>
              <a:rPr lang="vi-VN" dirty="0"/>
              <a:t>S₂ có thể đã nhận ACCEPT(o¹,1).</a:t>
            </a:r>
          </a:p>
          <a:p>
            <a:pPr>
              <a:buFont typeface="Arial" panose="020B0604020202020204" pitchFamily="34" charset="0"/>
              <a:buChar char="•"/>
            </a:pPr>
            <a:r>
              <a:rPr lang="vi-VN" dirty="0"/>
              <a:t>S₃ có thể </a:t>
            </a:r>
            <a:r>
              <a:rPr lang="vi-VN" b="1" dirty="0"/>
              <a:t>không nhận được</a:t>
            </a:r>
            <a:r>
              <a:rPr lang="vi-VN" dirty="0"/>
              <a:t> gì từ S₁.</a:t>
            </a:r>
          </a:p>
          <a:p>
            <a:pPr>
              <a:buFont typeface="Arial" panose="020B0604020202020204" pitchFamily="34" charset="0"/>
              <a:buChar char="•"/>
            </a:pPr>
            <a:r>
              <a:rPr lang="vi-VN" dirty="0"/>
              <a:t>Nhưng S₂ sẽ phát hiện S₁ crash và trở thành </a:t>
            </a:r>
            <a:r>
              <a:rPr lang="vi-VN" b="1" dirty="0"/>
              <a:t>leader mới</a:t>
            </a:r>
            <a:r>
              <a:rPr lang="vi-VN" dirty="0"/>
              <a:t>.</a:t>
            </a:r>
          </a:p>
          <a:p>
            <a:endParaRPr lang="en-US" dirty="0"/>
          </a:p>
          <a:p>
            <a:r>
              <a:rPr lang="en-US" dirty="0"/>
              <a:t>*** </a:t>
            </a:r>
            <a:r>
              <a:rPr lang="vi-VN" dirty="0"/>
              <a:t>Slide mô tả </a:t>
            </a:r>
            <a:r>
              <a:rPr lang="vi-VN" b="1" dirty="0"/>
              <a:t>hai tình huống</a:t>
            </a:r>
            <a:r>
              <a:rPr lang="vi-VN" dirty="0"/>
              <a:t>:</a:t>
            </a:r>
          </a:p>
          <a:p>
            <a:pPr>
              <a:buFont typeface="+mj-lt"/>
              <a:buAutoNum type="arabicPeriod"/>
            </a:pPr>
            <a:r>
              <a:rPr lang="vi-VN" b="1" dirty="0"/>
              <a:t>S₃ không biết gì về o¹</a:t>
            </a:r>
            <a:r>
              <a:rPr lang="vi-VN" dirty="0"/>
              <a:t>.</a:t>
            </a:r>
          </a:p>
          <a:p>
            <a:pPr>
              <a:buFont typeface="+mj-lt"/>
              <a:buAutoNum type="arabicPeriod"/>
            </a:pPr>
            <a:r>
              <a:rPr lang="vi-VN" b="1" dirty="0"/>
              <a:t>S₂ cũng bị mất ACCEPT(o¹,1)</a:t>
            </a:r>
            <a:r>
              <a:rPr lang="vi-VN" dirty="0"/>
              <a:t>.</a:t>
            </a:r>
          </a:p>
          <a:p>
            <a:r>
              <a:rPr lang="vi-VN" dirty="0"/>
              <a:t>Paxos phải đảm bảo cả S₂ và S₃ đều </a:t>
            </a:r>
            <a:r>
              <a:rPr lang="vi-VN" b="1" dirty="0"/>
              <a:t>bắt kịp trạng thái đúng</a:t>
            </a:r>
            <a:r>
              <a:rPr lang="vi-VN" dirty="0"/>
              <a:t>.</a:t>
            </a:r>
          </a:p>
          <a:p>
            <a:endParaRPr lang="en-US" b="1" dirty="0"/>
          </a:p>
          <a:p>
            <a:r>
              <a:rPr lang="en-US" b="1" dirty="0"/>
              <a:t>1. </a:t>
            </a:r>
            <a:r>
              <a:rPr lang="vi-VN" b="1" dirty="0"/>
              <a:t>Tình huống 1 — S₃ hoàn toàn không nhận được bất kỳ thông điệp nào từ S₁</a:t>
            </a:r>
          </a:p>
          <a:p>
            <a:r>
              <a:rPr lang="en-US" b="1" dirty="0"/>
              <a:t>**</a:t>
            </a:r>
            <a:r>
              <a:rPr lang="vi-VN" b="1" dirty="0"/>
              <a:t> Sự kiện xảy ra</a:t>
            </a:r>
          </a:p>
          <a:p>
            <a:pPr>
              <a:buFont typeface="Arial" panose="020B0604020202020204" pitchFamily="34" charset="0"/>
              <a:buChar char="•"/>
            </a:pPr>
            <a:r>
              <a:rPr lang="vi-VN" b="1" dirty="0"/>
              <a:t>S₂</a:t>
            </a:r>
            <a:r>
              <a:rPr lang="vi-VN" dirty="0"/>
              <a:t> đã nhận ACCEPT(o¹,1).</a:t>
            </a:r>
          </a:p>
          <a:p>
            <a:pPr>
              <a:buFont typeface="Arial" panose="020B0604020202020204" pitchFamily="34" charset="0"/>
              <a:buChar char="•"/>
            </a:pPr>
            <a:r>
              <a:rPr lang="vi-VN" dirty="0"/>
              <a:t>Sau khi S₁ crash, </a:t>
            </a:r>
            <a:r>
              <a:rPr lang="vi-VN" b="1" dirty="0"/>
              <a:t>S₂ phát hiện lỗi</a:t>
            </a:r>
            <a:r>
              <a:rPr lang="vi-VN" dirty="0"/>
              <a:t> và trở thành leader mới.</a:t>
            </a:r>
          </a:p>
          <a:p>
            <a:pPr>
              <a:buFont typeface="Arial" panose="020B0604020202020204" pitchFamily="34" charset="0"/>
              <a:buChar char="•"/>
            </a:pPr>
            <a:r>
              <a:rPr lang="vi-VN" b="1" dirty="0"/>
              <a:t>S₃</a:t>
            </a:r>
            <a:r>
              <a:rPr lang="vi-VN" dirty="0"/>
              <a:t> </a:t>
            </a:r>
            <a:r>
              <a:rPr lang="vi-VN" i="1" dirty="0"/>
              <a:t>chưa nhận được message nào</a:t>
            </a:r>
            <a:r>
              <a:rPr lang="vi-VN" dirty="0"/>
              <a:t> từ S₁.</a:t>
            </a:r>
          </a:p>
          <a:p>
            <a:r>
              <a:rPr lang="en-US" b="1" dirty="0"/>
              <a:t>**</a:t>
            </a:r>
            <a:r>
              <a:rPr lang="vi-VN" b="1" dirty="0"/>
              <a:t> Điều gì xảy ra tiếp theo?</a:t>
            </a:r>
          </a:p>
          <a:p>
            <a:r>
              <a:rPr lang="en-US" b="1" dirty="0"/>
              <a:t>- </a:t>
            </a:r>
            <a:r>
              <a:rPr lang="vi-VN" b="1" dirty="0"/>
              <a:t>S₂ gửi ACCEPT(o²,2) cho nhóm</a:t>
            </a:r>
          </a:p>
          <a:p>
            <a:r>
              <a:rPr lang="vi-VN" dirty="0"/>
              <a:t>S₂ là leader mới và gán lệnh tiếp theo o² timestamp 2.</a:t>
            </a:r>
          </a:p>
          <a:p>
            <a:r>
              <a:rPr lang="en-US" b="1" dirty="0"/>
              <a:t>- </a:t>
            </a:r>
            <a:r>
              <a:rPr lang="vi-VN" b="1" dirty="0"/>
              <a:t>S₃ nhìn thấy timestamp 2 nhưng chưa từng thấy timestamp 1</a:t>
            </a:r>
          </a:p>
          <a:p>
            <a:r>
              <a:rPr lang="vi-VN" dirty="0"/>
              <a:t>Điều này khiến S₃ phát hiện ra:</a:t>
            </a:r>
          </a:p>
          <a:p>
            <a:r>
              <a:rPr lang="vi-VN" dirty="0"/>
              <a:t>“Mình bị thiếu o¹!”</a:t>
            </a:r>
          </a:p>
          <a:p>
            <a:r>
              <a:rPr lang="vi-VN" dirty="0"/>
              <a:t>Vì:</a:t>
            </a:r>
          </a:p>
          <a:p>
            <a:pPr>
              <a:buFont typeface="Arial" panose="020B0604020202020204" pitchFamily="34" charset="0"/>
              <a:buChar char="•"/>
            </a:pPr>
            <a:r>
              <a:rPr lang="vi-VN" dirty="0"/>
              <a:t>S₃ biết thứ tự timestamp phải là 1 → 2 → 3 → …</a:t>
            </a:r>
          </a:p>
          <a:p>
            <a:pPr>
              <a:buFont typeface="Arial" panose="020B0604020202020204" pitchFamily="34" charset="0"/>
              <a:buChar char="•"/>
            </a:pPr>
            <a:r>
              <a:rPr lang="vi-VN" dirty="0"/>
              <a:t>Khi nó thấy timestamp 2 đến từ leader mới, nó suy ra rằng:</a:t>
            </a:r>
            <a:br>
              <a:rPr lang="vi-VN" dirty="0"/>
            </a:br>
            <a:r>
              <a:rPr lang="en-US" dirty="0"/>
              <a:t>=&gt;</a:t>
            </a:r>
            <a:r>
              <a:rPr lang="vi-VN" dirty="0"/>
              <a:t> </a:t>
            </a:r>
            <a:r>
              <a:rPr lang="vi-VN" b="1" dirty="0"/>
              <a:t>Nó bị mất ACCEPT(o¹,1)</a:t>
            </a:r>
            <a:r>
              <a:rPr lang="vi-VN" dirty="0"/>
              <a:t>.</a:t>
            </a:r>
          </a:p>
          <a:p>
            <a:r>
              <a:rPr lang="en-US" b="1" dirty="0"/>
              <a:t>- </a:t>
            </a:r>
            <a:r>
              <a:rPr lang="vi-VN" b="1" dirty="0"/>
              <a:t>S₃ báo cho S₂ rằng nó bị thiếu o¹</a:t>
            </a:r>
          </a:p>
          <a:p>
            <a:r>
              <a:rPr lang="vi-VN" dirty="0"/>
              <a:t>S₂ sẽ phải </a:t>
            </a:r>
            <a:r>
              <a:rPr lang="vi-VN" b="1" dirty="0"/>
              <a:t>giúp S₃ catch up</a:t>
            </a:r>
            <a:r>
              <a:rPr lang="vi-VN" dirty="0"/>
              <a:t>.</a:t>
            </a:r>
          </a:p>
          <a:p>
            <a:r>
              <a:rPr lang="en-US" b="1" dirty="0"/>
              <a:t>- </a:t>
            </a:r>
            <a:r>
              <a:rPr lang="vi-VN" b="1" dirty="0"/>
              <a:t>S₂ gửi lại ACCEPT(o¹,1)</a:t>
            </a:r>
          </a:p>
          <a:p>
            <a:r>
              <a:rPr lang="vi-VN" dirty="0"/>
              <a:t>Như vậy:</a:t>
            </a:r>
          </a:p>
          <a:p>
            <a:pPr>
              <a:buFont typeface="Arial" panose="020B0604020202020204" pitchFamily="34" charset="0"/>
              <a:buChar char="•"/>
            </a:pPr>
            <a:r>
              <a:rPr lang="vi-VN" dirty="0"/>
              <a:t>S₃ nhận o¹,</a:t>
            </a:r>
          </a:p>
          <a:p>
            <a:pPr>
              <a:buFont typeface="Arial" panose="020B0604020202020204" pitchFamily="34" charset="0"/>
              <a:buChar char="•"/>
            </a:pPr>
            <a:r>
              <a:rPr lang="vi-VN" dirty="0"/>
              <a:t>bắt kịp tiến độ,</a:t>
            </a:r>
          </a:p>
          <a:p>
            <a:pPr>
              <a:buFont typeface="Arial" panose="020B0604020202020204" pitchFamily="34" charset="0"/>
              <a:buChar char="•"/>
            </a:pPr>
            <a:r>
              <a:rPr lang="vi-VN" dirty="0"/>
              <a:t>và tất cả server lại đồng bộ.</a:t>
            </a:r>
          </a:p>
          <a:p>
            <a:endParaRPr lang="en-US" b="1" dirty="0"/>
          </a:p>
          <a:p>
            <a:r>
              <a:rPr lang="en-US" b="1" dirty="0"/>
              <a:t>2. </a:t>
            </a:r>
            <a:r>
              <a:rPr lang="vi-VN" b="1" dirty="0"/>
              <a:t>Tình huống 2 – S₂ bị mất ACCEPT(o¹,1)</a:t>
            </a:r>
          </a:p>
          <a:p>
            <a:r>
              <a:rPr lang="vi-VN" dirty="0"/>
              <a:t>Trong trường hợp này:</a:t>
            </a:r>
          </a:p>
          <a:p>
            <a:pPr>
              <a:buFont typeface="Arial" panose="020B0604020202020204" pitchFamily="34" charset="0"/>
              <a:buChar char="•"/>
            </a:pPr>
            <a:r>
              <a:rPr lang="vi-VN" dirty="0"/>
              <a:t>Cả S₂ và S₃ đều không biết rõ về trạng thái o¹.</a:t>
            </a:r>
          </a:p>
          <a:p>
            <a:pPr>
              <a:buFont typeface="Arial" panose="020B0604020202020204" pitchFamily="34" charset="0"/>
              <a:buChar char="•"/>
            </a:pPr>
            <a:r>
              <a:rPr lang="vi-VN" dirty="0"/>
              <a:t>Nhưng S₂ lại trở thành leader mới.</a:t>
            </a:r>
          </a:p>
          <a:p>
            <a:r>
              <a:rPr lang="vi-VN" b="1" dirty="0"/>
              <a:t>Chuyện gì xảy ra?</a:t>
            </a:r>
          </a:p>
          <a:p>
            <a:r>
              <a:rPr lang="en-US" b="1" dirty="0"/>
              <a:t>- </a:t>
            </a:r>
            <a:r>
              <a:rPr lang="vi-VN" b="1" dirty="0"/>
              <a:t>S₂ biết S₁ đã crash</a:t>
            </a:r>
          </a:p>
          <a:p>
            <a:r>
              <a:rPr lang="vi-VN" dirty="0"/>
              <a:t>Dù S₂ không nhận được ACCEPT(o¹,1), nhưng timeout đủ lâu → S₂ vẫn trở thành leader mới.</a:t>
            </a:r>
          </a:p>
          <a:p>
            <a:r>
              <a:rPr lang="vi-VN" b="1" dirty="0"/>
              <a:t>Hai khả năng xảy đến sau đó:</a:t>
            </a:r>
          </a:p>
          <a:p>
            <a:r>
              <a:rPr lang="en-US" b="1" dirty="0"/>
              <a:t>-</a:t>
            </a:r>
            <a:r>
              <a:rPr lang="vi-VN" b="1" dirty="0"/>
              <a:t> TH1: S₂ gửi ACCEPT(o¹,1)</a:t>
            </a:r>
          </a:p>
          <a:p>
            <a:r>
              <a:rPr lang="vi-VN" dirty="0"/>
              <a:t>S₂ thử re-propose lại lệnh o¹ với timestamp đúng (1).</a:t>
            </a:r>
          </a:p>
          <a:p>
            <a:r>
              <a:rPr lang="vi-VN" dirty="0"/>
              <a:t>Lúc này:</a:t>
            </a:r>
          </a:p>
          <a:p>
            <a:pPr>
              <a:buFont typeface="Arial" panose="020B0604020202020204" pitchFamily="34" charset="0"/>
              <a:buChar char="•"/>
            </a:pPr>
            <a:r>
              <a:rPr lang="vi-VN" b="1" dirty="0"/>
              <a:t>S₃ có thể đã nhận được ACCEPT(o¹,1)</a:t>
            </a:r>
            <a:r>
              <a:rPr lang="vi-VN" dirty="0"/>
              <a:t> trước đó từ S₁.</a:t>
            </a:r>
          </a:p>
          <a:p>
            <a:pPr>
              <a:buFont typeface="Arial" panose="020B0604020202020204" pitchFamily="34" charset="0"/>
              <a:buChar char="•"/>
            </a:pPr>
            <a:r>
              <a:rPr lang="vi-VN" dirty="0"/>
              <a:t>S₃ nhận được lại ACCEPT(o¹,1) và:</a:t>
            </a:r>
          </a:p>
          <a:p>
            <a:r>
              <a:rPr lang="en-US" b="1" dirty="0"/>
              <a:t>- </a:t>
            </a:r>
            <a:r>
              <a:rPr lang="vi-VN" b="1" dirty="0"/>
              <a:t>S₃ gửi lại LEARN(o¹)</a:t>
            </a:r>
          </a:p>
          <a:p>
            <a:r>
              <a:rPr lang="en-US" dirty="0"/>
              <a:t>=&gt;</a:t>
            </a:r>
            <a:r>
              <a:rPr lang="vi-VN" dirty="0"/>
              <a:t> Điều này giúp S₂ biết rằng</a:t>
            </a:r>
          </a:p>
          <a:p>
            <a:r>
              <a:rPr lang="vi-VN" dirty="0"/>
              <a:t>“À, S₃ đã học o¹ rồi”</a:t>
            </a:r>
            <a:br>
              <a:rPr lang="vi-VN" dirty="0"/>
            </a:br>
            <a:r>
              <a:rPr lang="vi-VN" dirty="0"/>
              <a:t>và S₂ cập nhật trạng thái.</a:t>
            </a:r>
          </a:p>
          <a:p>
            <a:r>
              <a:rPr lang="en-US" b="1" dirty="0"/>
              <a:t>=&gt;</a:t>
            </a:r>
            <a:r>
              <a:rPr lang="vi-VN" b="1" dirty="0"/>
              <a:t> TH2: S₂ gửi ACCEPT(o²,2)</a:t>
            </a:r>
          </a:p>
          <a:p>
            <a:r>
              <a:rPr lang="vi-VN" dirty="0"/>
              <a:t>Giống như TH1 trước, S₃ nhìn thấy timestamp 2 và suy ra:</a:t>
            </a:r>
          </a:p>
          <a:p>
            <a:r>
              <a:rPr lang="vi-VN" dirty="0"/>
              <a:t>“S₂ đang bị thiếu ACCEPT(o¹,1)!”</a:t>
            </a:r>
          </a:p>
          <a:p>
            <a:r>
              <a:rPr lang="vi-VN" dirty="0"/>
              <a:t>Vì vậy S₃:</a:t>
            </a:r>
          </a:p>
          <a:p>
            <a:r>
              <a:rPr lang="en-US" b="1" dirty="0"/>
              <a:t>- </a:t>
            </a:r>
            <a:r>
              <a:rPr lang="vi-VN" b="1" dirty="0"/>
              <a:t>gửi message cho S₂ rằng:</a:t>
            </a:r>
          </a:p>
          <a:p>
            <a:r>
              <a:rPr lang="vi-VN" dirty="0"/>
              <a:t>“S₂ đang bỏ lỡ o¹”.</a:t>
            </a:r>
          </a:p>
          <a:p>
            <a:r>
              <a:rPr lang="en-US" b="1" dirty="0"/>
              <a:t>- </a:t>
            </a:r>
            <a:r>
              <a:rPr lang="vi-VN" b="1" dirty="0"/>
              <a:t>S₃ gửi lại ACCEPT(o¹,1) cho S₂</a:t>
            </a:r>
          </a:p>
          <a:p>
            <a:r>
              <a:rPr lang="en-US" dirty="0"/>
              <a:t>=&gt;</a:t>
            </a:r>
            <a:r>
              <a:rPr lang="vi-VN" dirty="0"/>
              <a:t> S₂ cập nhật lại log </a:t>
            </a:r>
            <a:r>
              <a:rPr lang="en-US" dirty="0"/>
              <a:t>=&gt;</a:t>
            </a:r>
            <a:r>
              <a:rPr lang="vi-VN" dirty="0"/>
              <a:t> cả hai đồng bộ.</a:t>
            </a:r>
          </a:p>
          <a:p>
            <a:endParaRPr lang="en-US" b="1" dirty="0"/>
          </a:p>
          <a:p>
            <a:r>
              <a:rPr lang="vi-VN" b="1" dirty="0"/>
              <a:t>Ý nghĩa quan trọng của slide</a:t>
            </a:r>
          </a:p>
          <a:p>
            <a:r>
              <a:rPr lang="en-US" b="1" dirty="0"/>
              <a:t>-</a:t>
            </a:r>
            <a:r>
              <a:rPr lang="vi-VN" b="1" dirty="0"/>
              <a:t> Paxos có khả năng </a:t>
            </a:r>
            <a:r>
              <a:rPr lang="vi-VN" b="1" i="1" dirty="0"/>
              <a:t>tự chữa lỗi</a:t>
            </a:r>
            <a:r>
              <a:rPr lang="vi-VN" b="1" dirty="0"/>
              <a:t> giữa các replica</a:t>
            </a:r>
          </a:p>
          <a:p>
            <a:r>
              <a:rPr lang="vi-VN" dirty="0"/>
              <a:t>Không cần client can thiệp.</a:t>
            </a:r>
          </a:p>
          <a:p>
            <a:r>
              <a:rPr lang="en-US" b="1" dirty="0"/>
              <a:t>-</a:t>
            </a:r>
            <a:r>
              <a:rPr lang="vi-VN" b="1" dirty="0"/>
              <a:t> Các replica dùng sequence/timestamp để </a:t>
            </a:r>
            <a:r>
              <a:rPr lang="vi-VN" b="1" i="1" dirty="0"/>
              <a:t>phát hiện thiếu dữ liệu</a:t>
            </a:r>
            <a:endParaRPr lang="vi-VN" b="1" dirty="0"/>
          </a:p>
          <a:p>
            <a:r>
              <a:rPr lang="vi-VN" dirty="0"/>
              <a:t>Không cần đồng hồ đồng bộ.</a:t>
            </a:r>
          </a:p>
          <a:p>
            <a:r>
              <a:rPr lang="en-US" b="1" dirty="0"/>
              <a:t>-</a:t>
            </a:r>
            <a:r>
              <a:rPr lang="vi-VN" b="1" dirty="0"/>
              <a:t> Paxos đảm bảo rằng:</a:t>
            </a:r>
          </a:p>
          <a:p>
            <a:r>
              <a:rPr lang="vi-VN" dirty="0"/>
              <a:t>Mọi server không lỗi cuối cùng sẽ có cùng log theo cùng thứ tự.</a:t>
            </a:r>
          </a:p>
          <a:p>
            <a:r>
              <a:rPr lang="vi-VN" dirty="0"/>
              <a:t>Dù leader có crash ngay lúc hoạt động → Paxos vẫn giữ </a:t>
            </a:r>
            <a:r>
              <a:rPr lang="vi-VN" b="1" dirty="0"/>
              <a:t>consistency</a:t>
            </a:r>
            <a:r>
              <a:rPr lang="vi-VN" dirty="0"/>
              <a:t>.</a:t>
            </a:r>
          </a:p>
          <a:p>
            <a:endParaRPr lang="en-US" b="1" dirty="0"/>
          </a:p>
          <a:p>
            <a:r>
              <a:rPr lang="vi-VN" b="1" dirty="0"/>
              <a:t>Tóm tắt</a:t>
            </a:r>
            <a:r>
              <a:rPr lang="en-US" b="1" dirty="0"/>
              <a:t>:</a:t>
            </a:r>
            <a:endParaRPr lang="vi-VN" b="1" dirty="0"/>
          </a:p>
          <a:p>
            <a:r>
              <a:rPr lang="vi-VN" dirty="0"/>
              <a:t>Dù leader crash ngay sau khi thực hiện lệnh đầu tiên, Paxos vẫn tự động đồng bộ lại các server bằng cách để các replica giàu thông tin hơn “kéo” các replica thiếu thông tin lên trạng thái nhất quán.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40</a:t>
            </a:fld>
            <a:endParaRPr lang="en-US"/>
          </a:p>
        </p:txBody>
      </p:sp>
    </p:spTree>
    <p:extLst>
      <p:ext uri="{BB962C8B-B14F-4D97-AF65-F5344CB8AC3E}">
        <p14:creationId xmlns:p14="http://schemas.microsoft.com/office/powerpoint/2010/main" val="707685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t>Leader crashes after sending ACCEPT(o¹,1)</a:t>
            </a:r>
          </a:p>
          <a:p>
            <a:r>
              <a:rPr lang="vi-VN" dirty="0"/>
              <a:t>Slide này mô tả tình huống Paxos phải tự phục hồi khi leader </a:t>
            </a:r>
            <a:r>
              <a:rPr lang="vi-VN" b="1" dirty="0"/>
              <a:t>S₁</a:t>
            </a:r>
            <a:r>
              <a:rPr lang="vi-VN" dirty="0"/>
              <a:t> bị crash ngay sau khi gửi thông điệp:</a:t>
            </a:r>
          </a:p>
          <a:p>
            <a:r>
              <a:rPr lang="vi-VN" b="1" dirty="0"/>
              <a:t>ACCEPT(o¹,1)</a:t>
            </a:r>
            <a:r>
              <a:rPr lang="vi-VN" dirty="0"/>
              <a:t> – lệnh </a:t>
            </a:r>
            <a:r>
              <a:rPr lang="vi-VN" i="1" dirty="0"/>
              <a:t>o¹</a:t>
            </a:r>
            <a:r>
              <a:rPr lang="vi-VN" dirty="0"/>
              <a:t> với timestamp </a:t>
            </a:r>
            <a:r>
              <a:rPr lang="vi-VN" i="1" dirty="0"/>
              <a:t>1</a:t>
            </a:r>
            <a:r>
              <a:rPr lang="vi-VN" dirty="0"/>
              <a:t>.</a:t>
            </a:r>
          </a:p>
          <a:p>
            <a:r>
              <a:rPr lang="vi-VN" dirty="0"/>
              <a:t>Vấn đề là:</a:t>
            </a:r>
            <a:br>
              <a:rPr lang="vi-VN" dirty="0"/>
            </a:br>
            <a:r>
              <a:rPr lang="vi-VN" dirty="0"/>
              <a:t>Không phải mọi replica (</a:t>
            </a:r>
            <a:r>
              <a:rPr lang="vi-VN" b="1" dirty="0"/>
              <a:t>S₂</a:t>
            </a:r>
            <a:r>
              <a:rPr lang="vi-VN" dirty="0"/>
              <a:t>, </a:t>
            </a:r>
            <a:r>
              <a:rPr lang="vi-VN" b="1" dirty="0"/>
              <a:t>S₃</a:t>
            </a:r>
            <a:r>
              <a:rPr lang="vi-VN" dirty="0"/>
              <a:t>) đều nhận được thông điệp ACCEPT(o¹,1).</a:t>
            </a:r>
            <a:br>
              <a:rPr lang="vi-VN" dirty="0"/>
            </a:br>
            <a:r>
              <a:rPr lang="vi-VN" dirty="0"/>
              <a:t>→ Thành ra hệ thống bị </a:t>
            </a:r>
            <a:r>
              <a:rPr lang="vi-VN" b="1" dirty="0"/>
              <a:t>không đồng bộ</a:t>
            </a:r>
            <a:r>
              <a:rPr lang="vi-VN" dirty="0"/>
              <a:t>.</a:t>
            </a:r>
          </a:p>
          <a:p>
            <a:r>
              <a:rPr lang="vi-VN" dirty="0"/>
              <a:t>Paxos giải quyết vấn đề này như thế nào?</a:t>
            </a:r>
          </a:p>
          <a:p>
            <a:endParaRPr lang="en-US" b="1" dirty="0"/>
          </a:p>
          <a:p>
            <a:r>
              <a:rPr lang="en-US" b="1" dirty="0"/>
              <a:t>1. </a:t>
            </a:r>
            <a:r>
              <a:rPr lang="vi-VN" b="1" dirty="0"/>
              <a:t>S₃ hoàn toàn không biết gì về hoạt động của S₁</a:t>
            </a:r>
          </a:p>
          <a:p>
            <a:r>
              <a:rPr lang="vi-VN" dirty="0"/>
              <a:t>Ý nghĩa câu:</a:t>
            </a:r>
          </a:p>
          <a:p>
            <a:r>
              <a:rPr lang="vi-VN" dirty="0"/>
              <a:t>“S₃ is completely ignorant of any activity by S₁”</a:t>
            </a:r>
          </a:p>
          <a:p>
            <a:r>
              <a:rPr lang="vi-VN" dirty="0"/>
              <a:t>Tức là:</a:t>
            </a:r>
          </a:p>
          <a:p>
            <a:pPr>
              <a:buFont typeface="Arial" panose="020B0604020202020204" pitchFamily="34" charset="0"/>
              <a:buChar char="•"/>
            </a:pPr>
            <a:r>
              <a:rPr lang="vi-VN" dirty="0"/>
              <a:t>S₃ </a:t>
            </a:r>
            <a:r>
              <a:rPr lang="vi-VN" b="1" dirty="0"/>
              <a:t>không nhận được ACCEPT(o¹,1)</a:t>
            </a:r>
            <a:r>
              <a:rPr lang="vi-VN" dirty="0"/>
              <a:t> từ S₁.</a:t>
            </a:r>
          </a:p>
          <a:p>
            <a:pPr>
              <a:buFont typeface="Arial" panose="020B0604020202020204" pitchFamily="34" charset="0"/>
              <a:buChar char="•"/>
            </a:pPr>
            <a:r>
              <a:rPr lang="vi-VN" dirty="0"/>
              <a:t>S₃ không biết rằng có lệnh o¹ đã từng được gửi.</a:t>
            </a:r>
          </a:p>
          <a:p>
            <a:r>
              <a:rPr lang="vi-VN" b="1" dirty="0"/>
              <a:t>Điều gì xảy ra khi S₂ (leader mới) gửi ACCEPT(o²,2)?</a:t>
            </a:r>
          </a:p>
          <a:p>
            <a:r>
              <a:rPr lang="vi-VN" dirty="0"/>
              <a:t>Ngay khi S₂ (leader mới) gửi:</a:t>
            </a:r>
          </a:p>
          <a:p>
            <a:r>
              <a:rPr lang="vi-VN" dirty="0"/>
              <a:t>ACCEPT(o²,2)</a:t>
            </a:r>
          </a:p>
          <a:p>
            <a:r>
              <a:rPr lang="vi-VN" dirty="0"/>
              <a:t>S₃ sẽ nhận được timestamp </a:t>
            </a:r>
            <a:r>
              <a:rPr lang="vi-VN" b="1" dirty="0"/>
              <a:t>2</a:t>
            </a:r>
            <a:r>
              <a:rPr lang="vi-VN" dirty="0"/>
              <a:t>, trong khi nó chưa bao giờ thấy timestamp </a:t>
            </a:r>
            <a:r>
              <a:rPr lang="vi-VN" b="1" dirty="0"/>
              <a:t>1</a:t>
            </a:r>
            <a:r>
              <a:rPr lang="vi-VN" dirty="0"/>
              <a:t>.</a:t>
            </a:r>
          </a:p>
          <a:p>
            <a:r>
              <a:rPr lang="en-US" b="1" dirty="0"/>
              <a:t>=&gt;</a:t>
            </a:r>
            <a:r>
              <a:rPr lang="vi-VN" b="1" dirty="0"/>
              <a:t> Lúc này S₃ phát hiện rằng:</a:t>
            </a:r>
          </a:p>
          <a:p>
            <a:r>
              <a:rPr lang="vi-VN" dirty="0"/>
              <a:t>Nó đã </a:t>
            </a:r>
            <a:r>
              <a:rPr lang="vi-VN" i="1" dirty="0"/>
              <a:t>bỏ lỡ</a:t>
            </a:r>
            <a:r>
              <a:rPr lang="vi-VN" dirty="0"/>
              <a:t> operation o¹.</a:t>
            </a:r>
          </a:p>
          <a:p>
            <a:r>
              <a:rPr lang="vi-VN" dirty="0"/>
              <a:t>Do đó S₃ có thể yêu cầu S₂ gửi lại ACCEPT(o¹,1) để nó </a:t>
            </a:r>
            <a:r>
              <a:rPr lang="vi-VN" b="1" dirty="0"/>
              <a:t>bắt kịp log</a:t>
            </a:r>
            <a:r>
              <a:rPr lang="vi-VN" dirty="0"/>
              <a:t>.</a:t>
            </a:r>
          </a:p>
          <a:p>
            <a:r>
              <a:rPr lang="en-US" dirty="0"/>
              <a:t>* </a:t>
            </a:r>
            <a:r>
              <a:rPr lang="vi-VN" b="1" dirty="0"/>
              <a:t>Kết luận phần này:</a:t>
            </a:r>
            <a:br>
              <a:rPr lang="vi-VN" dirty="0"/>
            </a:br>
            <a:r>
              <a:rPr lang="vi-VN" dirty="0"/>
              <a:t>S₃ không biết gì về hoạt động của S₁, nhưng nhờ timestamp, nó </a:t>
            </a:r>
            <a:r>
              <a:rPr lang="vi-VN" b="1" dirty="0"/>
              <a:t>nhận ra sự thiếu hụt</a:t>
            </a:r>
            <a:r>
              <a:rPr lang="vi-VN" dirty="0"/>
              <a:t> và tự động yêu cầu S₂ giúp đồng bộ lại.</a:t>
            </a:r>
          </a:p>
          <a:p>
            <a:endParaRPr lang="en-US" b="1" dirty="0"/>
          </a:p>
          <a:p>
            <a:r>
              <a:rPr lang="en-US" b="1" dirty="0"/>
              <a:t>2. </a:t>
            </a:r>
            <a:r>
              <a:rPr lang="vi-VN" b="1" dirty="0"/>
              <a:t>S₂ bị mất ACCEPT(o¹,1)</a:t>
            </a:r>
          </a:p>
          <a:p>
            <a:r>
              <a:rPr lang="vi-VN" dirty="0"/>
              <a:t>Ý nghĩa câu:</a:t>
            </a:r>
          </a:p>
          <a:p>
            <a:r>
              <a:rPr lang="vi-VN" dirty="0"/>
              <a:t>“S₂ had missed ACCEPT(o¹,1)”</a:t>
            </a:r>
          </a:p>
          <a:p>
            <a:r>
              <a:rPr lang="vi-VN" dirty="0"/>
              <a:t>Tức là:</a:t>
            </a:r>
          </a:p>
          <a:p>
            <a:pPr>
              <a:buFont typeface="Arial" panose="020B0604020202020204" pitchFamily="34" charset="0"/>
              <a:buChar char="•"/>
            </a:pPr>
            <a:r>
              <a:rPr lang="vi-VN" dirty="0"/>
              <a:t>S₂ </a:t>
            </a:r>
            <a:r>
              <a:rPr lang="vi-VN" i="1" dirty="0"/>
              <a:t>cũng không nhận được ACCEPT(o¹,1)</a:t>
            </a:r>
            <a:r>
              <a:rPr lang="vi-VN" dirty="0"/>
              <a:t>.</a:t>
            </a:r>
          </a:p>
          <a:p>
            <a:pPr>
              <a:buFont typeface="Arial" panose="020B0604020202020204" pitchFamily="34" charset="0"/>
              <a:buChar char="•"/>
            </a:pPr>
            <a:r>
              <a:rPr lang="vi-VN" dirty="0"/>
              <a:t>Nhưng sau khi S₁ crash, S₂ trở thành leader.</a:t>
            </a:r>
          </a:p>
          <a:p>
            <a:r>
              <a:rPr lang="vi-VN" b="1" dirty="0"/>
              <a:t>Điều gì xảy ra?</a:t>
            </a:r>
          </a:p>
          <a:p>
            <a:r>
              <a:rPr lang="vi-VN" dirty="0"/>
              <a:t>Ngay khi S₂ gửi đề xuất mới:</a:t>
            </a:r>
          </a:p>
          <a:p>
            <a:r>
              <a:rPr lang="vi-VN" dirty="0"/>
              <a:t>ACCEPT(oᵏ, t)</a:t>
            </a:r>
          </a:p>
          <a:p>
            <a:r>
              <a:rPr lang="vi-VN" dirty="0"/>
              <a:t>nó sẽ sử dụng một timestamp </a:t>
            </a:r>
            <a:r>
              <a:rPr lang="vi-VN" b="1" dirty="0"/>
              <a:t>stale</a:t>
            </a:r>
            <a:r>
              <a:rPr lang="vi-VN" dirty="0"/>
              <a:t> (không cập nhật đúng).</a:t>
            </a:r>
            <a:br>
              <a:rPr lang="vi-VN" dirty="0"/>
            </a:br>
            <a:r>
              <a:rPr lang="vi-VN" dirty="0"/>
              <a:t>Do timestamp không đúng, S₃ sẽ phát hiện ra ngay:</a:t>
            </a:r>
          </a:p>
          <a:p>
            <a:pPr>
              <a:buFont typeface="Arial" panose="020B0604020202020204" pitchFamily="34" charset="0"/>
              <a:buChar char="•"/>
            </a:pPr>
            <a:r>
              <a:rPr lang="vi-VN" dirty="0"/>
              <a:t>“S₂ không biết về o¹”</a:t>
            </a:r>
          </a:p>
          <a:p>
            <a:pPr>
              <a:buFont typeface="Arial" panose="020B0604020202020204" pitchFamily="34" charset="0"/>
              <a:buChar char="•"/>
            </a:pPr>
            <a:r>
              <a:rPr lang="vi-VN" dirty="0"/>
              <a:t>“S₂ đang dùng timestamp sai”</a:t>
            </a:r>
          </a:p>
          <a:p>
            <a:r>
              <a:rPr lang="en-US" dirty="0"/>
              <a:t>=&gt;</a:t>
            </a:r>
            <a:r>
              <a:rPr lang="vi-VN" dirty="0"/>
              <a:t> S₃ sẽ gửi lại thông điệp liên quan đến o¹ để </a:t>
            </a:r>
            <a:r>
              <a:rPr lang="vi-VN" b="1" dirty="0"/>
              <a:t>giúp S₂ catch up</a:t>
            </a:r>
            <a:r>
              <a:rPr lang="vi-VN" dirty="0"/>
              <a:t>.</a:t>
            </a:r>
          </a:p>
          <a:p>
            <a:r>
              <a:rPr lang="en-US" b="1" dirty="0"/>
              <a:t>*</a:t>
            </a:r>
            <a:r>
              <a:rPr lang="vi-VN" b="1" dirty="0"/>
              <a:t>Kết luận phần này:</a:t>
            </a:r>
            <a:br>
              <a:rPr lang="vi-VN" dirty="0"/>
            </a:br>
            <a:r>
              <a:rPr lang="vi-VN" dirty="0"/>
              <a:t>S₂ tự động được các replica khác nhắc nhở để đồng bộ log khi trở thành leader mới.</a:t>
            </a:r>
          </a:p>
          <a:p>
            <a:endParaRPr lang="en-US" b="1" dirty="0"/>
          </a:p>
          <a:p>
            <a:r>
              <a:rPr lang="en-US" b="1" dirty="0"/>
              <a:t>3. </a:t>
            </a:r>
            <a:r>
              <a:rPr lang="vi-VN" b="1" dirty="0"/>
              <a:t>Observation (Nhận xét quan trọng)</a:t>
            </a:r>
          </a:p>
          <a:p>
            <a:r>
              <a:rPr lang="vi-VN" b="1" dirty="0"/>
              <a:t>Paxos (với ba server) luôn hoạt động đúng khi một server crash, bất kể crash xảy ra lúc nào.</a:t>
            </a:r>
            <a:endParaRPr lang="vi-VN" dirty="0"/>
          </a:p>
          <a:p>
            <a:r>
              <a:rPr lang="vi-VN" dirty="0"/>
              <a:t>Tức là:</a:t>
            </a:r>
          </a:p>
          <a:p>
            <a:pPr>
              <a:buFont typeface="Arial" panose="020B0604020202020204" pitchFamily="34" charset="0"/>
              <a:buChar char="•"/>
            </a:pPr>
            <a:r>
              <a:rPr lang="vi-VN" dirty="0"/>
              <a:t>Leader có thể crash </a:t>
            </a:r>
            <a:r>
              <a:rPr lang="vi-VN" b="1" dirty="0"/>
              <a:t>trước khi gửi ACCEPT</a:t>
            </a:r>
            <a:r>
              <a:rPr lang="vi-VN" dirty="0"/>
              <a:t>,</a:t>
            </a:r>
          </a:p>
          <a:p>
            <a:pPr>
              <a:buFont typeface="Arial" panose="020B0604020202020204" pitchFamily="34" charset="0"/>
              <a:buChar char="•"/>
            </a:pPr>
            <a:r>
              <a:rPr lang="vi-VN" dirty="0"/>
              <a:t>Hoặc crash </a:t>
            </a:r>
            <a:r>
              <a:rPr lang="vi-VN" b="1" dirty="0"/>
              <a:t>ngay sau khi gửi ACCEPT(o¹,1)</a:t>
            </a:r>
            <a:r>
              <a:rPr lang="vi-VN" dirty="0"/>
              <a:t>,</a:t>
            </a:r>
          </a:p>
          <a:p>
            <a:pPr>
              <a:buFont typeface="Arial" panose="020B0604020202020204" pitchFamily="34" charset="0"/>
              <a:buChar char="•"/>
            </a:pPr>
            <a:r>
              <a:rPr lang="vi-VN" dirty="0"/>
              <a:t>Hoặc crash sau khi gửi ACCEPT của một lệnh khác.</a:t>
            </a:r>
          </a:p>
          <a:p>
            <a:r>
              <a:rPr lang="en-US" dirty="0"/>
              <a:t>=&gt;</a:t>
            </a:r>
            <a:r>
              <a:rPr lang="vi-VN" dirty="0"/>
              <a:t> Paxos vẫn </a:t>
            </a:r>
            <a:r>
              <a:rPr lang="vi-VN" b="1" dirty="0"/>
              <a:t>đồng bộ được log</a:t>
            </a:r>
            <a:r>
              <a:rPr lang="vi-VN" dirty="0"/>
              <a:t> giữa các replica còn sống.</a:t>
            </a:r>
          </a:p>
          <a:p>
            <a:r>
              <a:rPr lang="vi-VN" b="1" dirty="0"/>
              <a:t>Vì sao Paxos an toàn?</a:t>
            </a:r>
          </a:p>
          <a:p>
            <a:r>
              <a:rPr lang="vi-VN" dirty="0"/>
              <a:t>Nhờ 2 cơ chế:</a:t>
            </a:r>
          </a:p>
          <a:p>
            <a:r>
              <a:rPr lang="en-US" b="1" dirty="0"/>
              <a:t>-</a:t>
            </a:r>
            <a:r>
              <a:rPr lang="vi-VN" b="1" dirty="0"/>
              <a:t> Timestamp tăng dần</a:t>
            </a:r>
          </a:p>
          <a:p>
            <a:r>
              <a:rPr lang="vi-VN" dirty="0"/>
              <a:t>Replica chỉ cần nhìn vào timestamp là biết mình bị thiếu lệnh nào.</a:t>
            </a:r>
          </a:p>
          <a:p>
            <a:r>
              <a:rPr lang="en-US" b="1" dirty="0"/>
              <a:t>-</a:t>
            </a:r>
            <a:r>
              <a:rPr lang="vi-VN" b="1" dirty="0"/>
              <a:t> Các replica hỗ trợ nhau phục hồi</a:t>
            </a:r>
          </a:p>
          <a:p>
            <a:r>
              <a:rPr lang="vi-VN" dirty="0"/>
              <a:t>Replica giàu thông tin sẽ </a:t>
            </a:r>
            <a:r>
              <a:rPr lang="vi-VN" b="1" dirty="0"/>
              <a:t>kéo replica thiếu thông tin lên</a:t>
            </a:r>
            <a:r>
              <a:rPr lang="vi-VN" dirty="0"/>
              <a:t> bằng cách gửi lại ACCEPT hoặc LEARN.</a:t>
            </a:r>
          </a:p>
          <a:p>
            <a:r>
              <a:rPr lang="en-US" dirty="0"/>
              <a:t>=&gt; </a:t>
            </a:r>
            <a:r>
              <a:rPr lang="vi-VN" dirty="0"/>
              <a:t>Đây chính là lý do Paxos là một thuật toán </a:t>
            </a:r>
            <a:r>
              <a:rPr lang="vi-VN" b="1" dirty="0"/>
              <a:t>ổn định và phục hồi mạnh mẽ</a:t>
            </a:r>
            <a:r>
              <a:rPr lang="vi-VN" dirty="0"/>
              <a:t> trong hệ thống phân tán thực tế.</a:t>
            </a:r>
          </a:p>
          <a:p>
            <a:endParaRPr lang="en-US" b="1" dirty="0"/>
          </a:p>
          <a:p>
            <a:r>
              <a:rPr lang="vi-VN" b="1" dirty="0"/>
              <a:t>Tóm tắt:</a:t>
            </a:r>
          </a:p>
          <a:p>
            <a:r>
              <a:rPr lang="en-US" b="1" dirty="0"/>
              <a:t>1. </a:t>
            </a:r>
            <a:r>
              <a:rPr lang="vi-VN" b="1" dirty="0"/>
              <a:t>Nếu S₃ không nhận ACCEPT(o¹,1), nó sẽ phát hiện thiếu lệnh khi S₂ gửi ACCEPT(o²,2).</a:t>
            </a:r>
          </a:p>
          <a:p>
            <a:r>
              <a:rPr lang="en-US" b="1" dirty="0"/>
              <a:t>2. </a:t>
            </a:r>
            <a:r>
              <a:rPr lang="vi-VN" b="1" dirty="0"/>
              <a:t>Nếu S₂ không nhận ACCEPT(o¹,1), S₃ sẽ phát hiện timestamp sai và gửi lại thông tin để giúp S₂ catch up.</a:t>
            </a:r>
          </a:p>
          <a:p>
            <a:r>
              <a:rPr lang="en-US" b="1"/>
              <a:t>3</a:t>
            </a:r>
            <a:r>
              <a:rPr lang="en-US" b="1" dirty="0"/>
              <a:t>. </a:t>
            </a:r>
            <a:r>
              <a:rPr lang="vi-VN" b="1" dirty="0"/>
              <a:t>Paxos đảm bảo an toàn khi một server crash, bất kể thời điểm crash.</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42</a:t>
            </a:fld>
            <a:endParaRPr lang="en-US"/>
          </a:p>
        </p:txBody>
      </p:sp>
    </p:spTree>
    <p:extLst>
      <p:ext uri="{BB962C8B-B14F-4D97-AF65-F5344CB8AC3E}">
        <p14:creationId xmlns:p14="http://schemas.microsoft.com/office/powerpoint/2010/main" val="715215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một trong những vấn đề khó nhất trong hệ thống phân tán</a:t>
            </a:r>
            <a:r>
              <a:rPr lang="vi-VN" dirty="0"/>
              <a:t>: đạt được </a:t>
            </a:r>
            <a:r>
              <a:rPr lang="vi-VN" i="1" dirty="0"/>
              <a:t>consensus</a:t>
            </a:r>
            <a:r>
              <a:rPr lang="vi-VN" dirty="0"/>
              <a:t> khi các tiến trình có thể gặp </a:t>
            </a:r>
            <a:r>
              <a:rPr lang="vi-VN" b="1" dirty="0"/>
              <a:t>arbitrary failures</a:t>
            </a:r>
            <a:r>
              <a:rPr lang="vi-VN" dirty="0"/>
              <a:t> (còn gọi là Byzantine failures).</a:t>
            </a:r>
          </a:p>
          <a:p>
            <a:r>
              <a:rPr lang="vi-VN" dirty="0"/>
              <a:t>Đây là kịch bản mà một tiến trình </a:t>
            </a:r>
            <a:r>
              <a:rPr lang="vi-VN" b="1" dirty="0"/>
              <a:t>có thể hành xử tùy ý</a:t>
            </a:r>
            <a:r>
              <a:rPr lang="vi-VN" dirty="0"/>
              <a:t>, bao gồm:</a:t>
            </a:r>
          </a:p>
          <a:p>
            <a:pPr>
              <a:buFont typeface="Arial" panose="020B0604020202020204" pitchFamily="34" charset="0"/>
              <a:buChar char="•"/>
            </a:pPr>
            <a:r>
              <a:rPr lang="vi-VN" dirty="0"/>
              <a:t>Gửi thông điệp sai</a:t>
            </a:r>
          </a:p>
          <a:p>
            <a:pPr>
              <a:buFont typeface="Arial" panose="020B0604020202020204" pitchFamily="34" charset="0"/>
              <a:buChar char="•"/>
            </a:pPr>
            <a:r>
              <a:rPr lang="vi-VN" dirty="0"/>
              <a:t>Gửi thông điệp khác nhau cho các tiến trình khác nhau</a:t>
            </a:r>
          </a:p>
          <a:p>
            <a:pPr>
              <a:buFont typeface="Arial" panose="020B0604020202020204" pitchFamily="34" charset="0"/>
              <a:buChar char="•"/>
            </a:pPr>
            <a:r>
              <a:rPr lang="vi-VN" dirty="0"/>
              <a:t>Thay đổi nội dung thông điệp</a:t>
            </a:r>
          </a:p>
          <a:p>
            <a:pPr>
              <a:buFont typeface="Arial" panose="020B0604020202020204" pitchFamily="34" charset="0"/>
              <a:buChar char="•"/>
            </a:pPr>
            <a:r>
              <a:rPr lang="vi-VN" dirty="0"/>
              <a:t>Giả vờ chuyển tiếp nhưng thực ra làm sai</a:t>
            </a:r>
          </a:p>
          <a:p>
            <a:endParaRPr lang="en-US" b="1" dirty="0"/>
          </a:p>
          <a:p>
            <a:r>
              <a:rPr lang="en-US" b="1" dirty="0"/>
              <a:t>** </a:t>
            </a:r>
            <a:r>
              <a:rPr lang="vi-VN" b="1" dirty="0"/>
              <a:t>Essence (Ý nghĩa chính)</a:t>
            </a:r>
          </a:p>
          <a:p>
            <a:r>
              <a:rPr lang="vi-VN" i="1" dirty="0"/>
              <a:t>Communication is inconsistent</a:t>
            </a:r>
            <a:r>
              <a:rPr lang="vi-VN" dirty="0"/>
              <a:t>: giao tiếp giữa các tiến trình không còn đồng nhất, không còn đáng tin.</a:t>
            </a:r>
          </a:p>
          <a:p>
            <a:r>
              <a:rPr lang="vi-VN" dirty="0"/>
              <a:t>Có hai dạng hành vi nguy hiểm:</a:t>
            </a:r>
          </a:p>
          <a:p>
            <a:r>
              <a:rPr lang="vi-VN" b="1" dirty="0"/>
              <a:t>(a) Improper forwarding – chuyển tiếp sai</a:t>
            </a:r>
          </a:p>
          <a:p>
            <a:r>
              <a:rPr lang="vi-VN" dirty="0"/>
              <a:t>P1 gửi thông điệp “a” cho P2 và P3.</a:t>
            </a:r>
            <a:br>
              <a:rPr lang="vi-VN" dirty="0"/>
            </a:br>
            <a:r>
              <a:rPr lang="vi-VN" dirty="0"/>
              <a:t>Nhưng P2 khi chuyển tiếp cho P3 lại gửi “b”, không phải “a”.</a:t>
            </a:r>
          </a:p>
          <a:p>
            <a:r>
              <a:rPr lang="en-US" dirty="0"/>
              <a:t>=&gt;</a:t>
            </a:r>
            <a:r>
              <a:rPr lang="vi-VN" dirty="0"/>
              <a:t> Thông tin bị </a:t>
            </a:r>
            <a:r>
              <a:rPr lang="vi-VN" b="1" dirty="0"/>
              <a:t>bóp méo</a:t>
            </a:r>
            <a:r>
              <a:rPr lang="vi-VN" dirty="0"/>
              <a:t> trên đường đi.</a:t>
            </a:r>
          </a:p>
          <a:p>
            <a:r>
              <a:rPr lang="vi-VN" b="1" dirty="0"/>
              <a:t>(b) Telling different things – nói hai lời</a:t>
            </a:r>
          </a:p>
          <a:p>
            <a:r>
              <a:rPr lang="vi-VN" dirty="0"/>
              <a:t>P1 gửi “a” cho P3</a:t>
            </a:r>
            <a:br>
              <a:rPr lang="vi-VN" dirty="0"/>
            </a:br>
            <a:r>
              <a:rPr lang="vi-VN" dirty="0"/>
              <a:t>nhưng lại gửi </a:t>
            </a:r>
            <a:r>
              <a:rPr lang="vi-VN" b="1" dirty="0"/>
              <a:t>một thông điệp hoàn toàn khác “b”</a:t>
            </a:r>
            <a:r>
              <a:rPr lang="vi-VN" dirty="0"/>
              <a:t> cho P2.</a:t>
            </a:r>
          </a:p>
          <a:p>
            <a:r>
              <a:rPr lang="en-US" dirty="0"/>
              <a:t>=&gt;</a:t>
            </a:r>
            <a:r>
              <a:rPr lang="vi-VN" dirty="0"/>
              <a:t> Đây là hành vi cực kỳ nguy hiểm vì nó phá vỡ hoàn toàn sự đồng thuận.</a:t>
            </a:r>
          </a:p>
          <a:p>
            <a:endParaRPr lang="en-US" b="1" dirty="0"/>
          </a:p>
          <a:p>
            <a:r>
              <a:rPr lang="en-US" b="1" dirty="0"/>
              <a:t>** </a:t>
            </a:r>
            <a:r>
              <a:rPr lang="en-US" b="1" dirty="0" err="1"/>
              <a:t>Giải</a:t>
            </a:r>
            <a:r>
              <a:rPr lang="en-US" b="1" dirty="0"/>
              <a:t> </a:t>
            </a:r>
            <a:r>
              <a:rPr lang="en-US" b="1" dirty="0" err="1"/>
              <a:t>thích</a:t>
            </a:r>
            <a:r>
              <a:rPr lang="vi-VN" b="1" dirty="0"/>
              <a:t> hai hình minh họa</a:t>
            </a:r>
          </a:p>
          <a:p>
            <a:r>
              <a:rPr lang="vi-VN" b="1" dirty="0"/>
              <a:t>Hình (a): Improper forwarding (chuyển tiếp sai thông điệp)</a:t>
            </a:r>
          </a:p>
          <a:p>
            <a:pPr rtl="0"/>
            <a:r>
              <a:rPr lang="vi-VN" dirty="0"/>
              <a:t>P1 → P2 : a P1 → P3 : a P2 → P3 : b (P2 cố ý gửi sai) </a:t>
            </a:r>
          </a:p>
          <a:p>
            <a:r>
              <a:rPr lang="vi-VN" dirty="0"/>
              <a:t>Điểm cần lưu ý:</a:t>
            </a:r>
          </a:p>
          <a:p>
            <a:pPr>
              <a:buFont typeface="Arial" panose="020B0604020202020204" pitchFamily="34" charset="0"/>
              <a:buChar char="•"/>
            </a:pPr>
            <a:r>
              <a:rPr lang="vi-VN" dirty="0"/>
              <a:t>P1 hoạt động đúng</a:t>
            </a:r>
          </a:p>
          <a:p>
            <a:pPr>
              <a:buFont typeface="Arial" panose="020B0604020202020204" pitchFamily="34" charset="0"/>
              <a:buChar char="•"/>
            </a:pPr>
            <a:r>
              <a:rPr lang="vi-VN" dirty="0"/>
              <a:t>Nhưng P2 hành xử sai → P3 nhận thông điệp “b” từ P2</a:t>
            </a:r>
          </a:p>
          <a:p>
            <a:pPr>
              <a:buFont typeface="Arial" panose="020B0604020202020204" pitchFamily="34" charset="0"/>
              <a:buChar char="•"/>
            </a:pPr>
            <a:r>
              <a:rPr lang="vi-VN" dirty="0"/>
              <a:t>P3 không thể biết “b” là giả mạo hay thực sự</a:t>
            </a:r>
          </a:p>
          <a:p>
            <a:r>
              <a:rPr lang="en-US" dirty="0"/>
              <a:t>=&gt;</a:t>
            </a:r>
            <a:r>
              <a:rPr lang="vi-VN" dirty="0"/>
              <a:t> </a:t>
            </a:r>
            <a:r>
              <a:rPr lang="vi-VN" b="1" dirty="0"/>
              <a:t>P3 không thể kết luận thông điệp đúng là gì.</a:t>
            </a:r>
            <a:endParaRPr lang="vi-VN" dirty="0"/>
          </a:p>
          <a:p>
            <a:r>
              <a:rPr lang="vi-VN" b="1" dirty="0"/>
              <a:t>Hình (b): P1 nói hai lời (Byzantine behavior)</a:t>
            </a:r>
          </a:p>
          <a:p>
            <a:pPr rtl="0"/>
            <a:r>
              <a:rPr lang="vi-VN" dirty="0"/>
              <a:t>P1 → P3 : a P1 → P2 : b P2 → P3 : b </a:t>
            </a:r>
          </a:p>
          <a:p>
            <a:r>
              <a:rPr lang="vi-VN" dirty="0"/>
              <a:t>Ở đây:</a:t>
            </a:r>
          </a:p>
          <a:p>
            <a:pPr>
              <a:buFont typeface="Arial" panose="020B0604020202020204" pitchFamily="34" charset="0"/>
              <a:buChar char="•"/>
            </a:pPr>
            <a:r>
              <a:rPr lang="vi-VN" dirty="0"/>
              <a:t>P1 gửi </a:t>
            </a:r>
            <a:r>
              <a:rPr lang="vi-VN" b="1" dirty="0"/>
              <a:t>hai nội dung khác nhau</a:t>
            </a:r>
            <a:r>
              <a:rPr lang="vi-VN" dirty="0"/>
              <a:t> (a và b)</a:t>
            </a:r>
          </a:p>
          <a:p>
            <a:pPr>
              <a:buFont typeface="Arial" panose="020B0604020202020204" pitchFamily="34" charset="0"/>
              <a:buChar char="•"/>
            </a:pPr>
            <a:r>
              <a:rPr lang="vi-VN" dirty="0"/>
              <a:t>P2 chỉ chuyển tiếp đúng thông điệp nó nhận từ P1</a:t>
            </a:r>
          </a:p>
          <a:p>
            <a:pPr>
              <a:buFont typeface="Arial" panose="020B0604020202020204" pitchFamily="34" charset="0"/>
              <a:buChar char="•"/>
            </a:pPr>
            <a:r>
              <a:rPr lang="vi-VN" dirty="0"/>
              <a:t>P3 thấy:</a:t>
            </a:r>
          </a:p>
          <a:p>
            <a:pPr marL="742950" lvl="1" indent="-285750">
              <a:buFont typeface="Arial" panose="020B0604020202020204" pitchFamily="34" charset="0"/>
              <a:buChar char="•"/>
            </a:pPr>
            <a:r>
              <a:rPr lang="vi-VN" dirty="0"/>
              <a:t>Từ P1 gửi đến: “a”</a:t>
            </a:r>
          </a:p>
          <a:p>
            <a:pPr marL="742950" lvl="1" indent="-285750">
              <a:buFont typeface="Arial" panose="020B0604020202020204" pitchFamily="34" charset="0"/>
              <a:buChar char="•"/>
            </a:pPr>
            <a:r>
              <a:rPr lang="vi-VN" dirty="0"/>
              <a:t>Từ P2 gửi đến: “b”</a:t>
            </a:r>
          </a:p>
          <a:p>
            <a:r>
              <a:rPr lang="vi-VN" dirty="0"/>
              <a:t>P3 hoàn toàn không thể biết:</a:t>
            </a:r>
          </a:p>
          <a:p>
            <a:pPr>
              <a:buFont typeface="Arial" panose="020B0604020202020204" pitchFamily="34" charset="0"/>
              <a:buChar char="•"/>
            </a:pPr>
            <a:r>
              <a:rPr lang="vi-VN" dirty="0"/>
              <a:t>P1 nói thật với ai?</a:t>
            </a:r>
          </a:p>
          <a:p>
            <a:pPr>
              <a:buFont typeface="Arial" panose="020B0604020202020204" pitchFamily="34" charset="0"/>
              <a:buChar char="•"/>
            </a:pPr>
            <a:r>
              <a:rPr lang="vi-VN" dirty="0"/>
              <a:t>P2 hay P1 bị lỗi?</a:t>
            </a:r>
          </a:p>
          <a:p>
            <a:r>
              <a:rPr lang="en-US" dirty="0"/>
              <a:t>=&gt;</a:t>
            </a:r>
            <a:r>
              <a:rPr lang="vi-VN" dirty="0"/>
              <a:t> Hệ thống </a:t>
            </a:r>
            <a:r>
              <a:rPr lang="vi-VN" b="1" dirty="0"/>
              <a:t>không thể đạt đồng thuận</a:t>
            </a:r>
            <a:r>
              <a:rPr lang="vi-VN" dirty="0"/>
              <a:t> nếu không có cơ chế Byzantine fault tolerance.</a:t>
            </a:r>
          </a:p>
          <a:p>
            <a:endParaRPr lang="en-US" b="1" dirty="0"/>
          </a:p>
          <a:p>
            <a:r>
              <a:rPr lang="en-US" b="1" dirty="0"/>
              <a:t>** </a:t>
            </a:r>
            <a:r>
              <a:rPr lang="vi-VN" b="1" dirty="0"/>
              <a:t>Tại sao slide này quan trọng?</a:t>
            </a:r>
          </a:p>
          <a:p>
            <a:r>
              <a:rPr lang="vi-VN" dirty="0"/>
              <a:t>Vì nó chỉ ra vấn đề cốt lõi:</a:t>
            </a:r>
          </a:p>
          <a:p>
            <a:r>
              <a:rPr lang="vi-VN" b="1" dirty="0"/>
              <a:t>Arbitrary (Byzantine) failures làm cho thông tin trở nên không nhất quán, khiến tiến trình không thể phân biệt đúng – sai.</a:t>
            </a:r>
            <a:endParaRPr lang="vi-VN" dirty="0"/>
          </a:p>
          <a:p>
            <a:r>
              <a:rPr lang="vi-VN" dirty="0"/>
              <a:t>Đây là lý do cần:</a:t>
            </a:r>
          </a:p>
          <a:p>
            <a:pPr>
              <a:buFont typeface="Arial" panose="020B0604020202020204" pitchFamily="34" charset="0"/>
              <a:buChar char="•"/>
            </a:pPr>
            <a:r>
              <a:rPr lang="vi-VN" dirty="0"/>
              <a:t>Thuật toán Byzantine Generals</a:t>
            </a:r>
          </a:p>
          <a:p>
            <a:pPr>
              <a:buFont typeface="Arial" panose="020B0604020202020204" pitchFamily="34" charset="0"/>
              <a:buChar char="•"/>
            </a:pPr>
            <a:r>
              <a:rPr lang="vi-VN" dirty="0"/>
              <a:t>Các mô hình như PBFT (Practical Byzantine Fault Tolerance)</a:t>
            </a:r>
          </a:p>
          <a:p>
            <a:pPr>
              <a:buFont typeface="Arial" panose="020B0604020202020204" pitchFamily="34" charset="0"/>
              <a:buChar char="•"/>
            </a:pPr>
            <a:r>
              <a:rPr lang="vi-VN" dirty="0"/>
              <a:t>Blockchain / consensus của cryptocurrencies</a:t>
            </a:r>
          </a:p>
          <a:p>
            <a:endParaRPr lang="en-US" b="1" dirty="0"/>
          </a:p>
          <a:p>
            <a:r>
              <a:rPr lang="en-US" b="1" dirty="0"/>
              <a:t>** </a:t>
            </a:r>
            <a:r>
              <a:rPr lang="vi-VN" b="1" dirty="0"/>
              <a:t>Tóm tắt</a:t>
            </a:r>
            <a:r>
              <a:rPr lang="en-US" b="1" dirty="0"/>
              <a:t>:</a:t>
            </a:r>
            <a:endParaRPr lang="vi-VN" b="1" dirty="0"/>
          </a:p>
          <a:p>
            <a:pPr>
              <a:buFont typeface="+mj-lt"/>
              <a:buAutoNum type="arabicPeriod"/>
            </a:pPr>
            <a:r>
              <a:rPr lang="vi-VN" b="1" dirty="0"/>
              <a:t>Arbitrary failures = Byzantine failures</a:t>
            </a:r>
            <a:br>
              <a:rPr lang="vi-VN" dirty="0"/>
            </a:br>
            <a:r>
              <a:rPr lang="vi-VN" dirty="0"/>
              <a:t>Tiến trình có thể hành xử tùy ý, không tuân theo quy tắc.</a:t>
            </a:r>
          </a:p>
          <a:p>
            <a:pPr>
              <a:buFont typeface="+mj-lt"/>
              <a:buAutoNum type="arabicPeriod"/>
            </a:pPr>
            <a:r>
              <a:rPr lang="vi-VN" b="1" dirty="0"/>
              <a:t>Communication becomes inconsistent</a:t>
            </a:r>
            <a:endParaRPr lang="vi-VN" dirty="0"/>
          </a:p>
          <a:p>
            <a:pPr marL="742950" lvl="1" indent="-285750">
              <a:buFont typeface="+mj-lt"/>
              <a:buAutoNum type="arabicPeriod"/>
            </a:pPr>
            <a:r>
              <a:rPr lang="vi-VN" dirty="0"/>
              <a:t>Lỗi trong chuyển tiếp</a:t>
            </a:r>
          </a:p>
          <a:p>
            <a:pPr marL="742950" lvl="1" indent="-285750">
              <a:buFont typeface="+mj-lt"/>
              <a:buAutoNum type="arabicPeriod"/>
            </a:pPr>
            <a:r>
              <a:rPr lang="vi-VN" dirty="0"/>
              <a:t>Lỗi gửi dữ liệu khác nhau cho các tiến trình</a:t>
            </a:r>
          </a:p>
          <a:p>
            <a:pPr>
              <a:buFont typeface="+mj-lt"/>
              <a:buAutoNum type="arabicPeriod"/>
            </a:pPr>
            <a:r>
              <a:rPr lang="vi-VN" b="1" dirty="0"/>
              <a:t>Hai ví dụ trong hình</a:t>
            </a:r>
            <a:endParaRPr lang="vi-VN" dirty="0"/>
          </a:p>
          <a:p>
            <a:pPr marL="742950" lvl="1" indent="-285750">
              <a:buFont typeface="+mj-lt"/>
              <a:buAutoNum type="arabicPeriod"/>
            </a:pPr>
            <a:r>
              <a:rPr lang="vi-VN" dirty="0"/>
              <a:t>(a) sai khi chuyển tiếp</a:t>
            </a:r>
          </a:p>
          <a:p>
            <a:pPr marL="742950" lvl="1" indent="-285750">
              <a:buFont typeface="+mj-lt"/>
              <a:buAutoNum type="arabicPeriod"/>
            </a:pPr>
            <a:r>
              <a:rPr lang="vi-VN" dirty="0"/>
              <a:t>(b) nói hai lời — nguy hiểm nhất</a:t>
            </a:r>
          </a:p>
          <a:p>
            <a:pPr>
              <a:buFont typeface="+mj-lt"/>
              <a:buAutoNum type="arabicPeriod"/>
            </a:pPr>
            <a:r>
              <a:rPr lang="vi-VN" b="1" dirty="0"/>
              <a:t>Kết luận</a:t>
            </a:r>
            <a:endParaRPr lang="vi-VN" dirty="0"/>
          </a:p>
          <a:p>
            <a:pPr marL="742950" lvl="1" indent="-285750">
              <a:buFont typeface="+mj-lt"/>
              <a:buAutoNum type="arabicPeriod"/>
            </a:pPr>
            <a:r>
              <a:rPr lang="vi-VN" dirty="0"/>
              <a:t>Không thể đạt consensus nếu có Byzantine failures mà không có cơ chế đặc biệt.</a:t>
            </a:r>
          </a:p>
          <a:p>
            <a:pPr marL="742950" lvl="1" indent="-285750">
              <a:buFont typeface="+mj-lt"/>
              <a:buAutoNum type="arabicPeriod"/>
            </a:pPr>
            <a:r>
              <a:rPr lang="vi-VN" dirty="0"/>
              <a:t>Đây là nền tảng của các thuật toán Byzantine Fault Tolerance.</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46</a:t>
            </a:fld>
            <a:endParaRPr lang="en-US"/>
          </a:p>
        </p:txBody>
      </p:sp>
    </p:spTree>
    <p:extLst>
      <p:ext uri="{BB962C8B-B14F-4D97-AF65-F5344CB8AC3E}">
        <p14:creationId xmlns:p14="http://schemas.microsoft.com/office/powerpoint/2010/main" val="373566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dirty="0">
                <a:solidFill>
                  <a:srgbClr val="0F1115"/>
                </a:solidFill>
                <a:effectLst/>
                <a:latin typeface="quote-cjk-patch"/>
              </a:rPr>
              <a:t>1. Mô hình Hệ thống (System Model)</a:t>
            </a:r>
          </a:p>
          <a:p>
            <a:pPr algn="l"/>
            <a:r>
              <a:rPr lang="vi-VN" b="0" i="0" dirty="0">
                <a:solidFill>
                  <a:srgbClr val="0F1115"/>
                </a:solidFill>
                <a:effectLst/>
                <a:latin typeface="quote-cjk-patch"/>
              </a:rPr>
              <a:t>Slide mô tả một nhóm các tiến trình gồm:</a:t>
            </a:r>
          </a:p>
          <a:p>
            <a:pPr algn="l">
              <a:buFont typeface="Arial" panose="020B0604020202020204" pitchFamily="34" charset="0"/>
              <a:buChar char="•"/>
            </a:pPr>
            <a:r>
              <a:rPr lang="vi-VN" b="0" i="0" dirty="0">
                <a:solidFill>
                  <a:srgbClr val="0F1115"/>
                </a:solidFill>
                <a:effectLst/>
                <a:latin typeface="quote-cjk-patch"/>
              </a:rPr>
              <a:t>Một tiến trình </a:t>
            </a:r>
            <a:r>
              <a:rPr lang="vi-VN" b="1" i="0" dirty="0">
                <a:solidFill>
                  <a:srgbClr val="0F1115"/>
                </a:solidFill>
                <a:effectLst/>
                <a:latin typeface="quote-cjk-patch"/>
              </a:rPr>
              <a:t>Primary (P)</a:t>
            </a:r>
            <a:r>
              <a:rPr lang="vi-VN" b="0" i="0" dirty="0">
                <a:solidFill>
                  <a:srgbClr val="0F1115"/>
                </a:solidFill>
                <a:effectLst/>
                <a:latin typeface="quote-cjk-patch"/>
              </a:rPr>
              <a:t>: đóng vai trò chủ chốt, nhận giá trị từ client.</a:t>
            </a:r>
          </a:p>
          <a:p>
            <a:pPr algn="l">
              <a:buFont typeface="Arial" panose="020B0604020202020204" pitchFamily="34" charset="0"/>
              <a:buChar char="•"/>
            </a:pPr>
            <a:r>
              <a:rPr lang="vi-VN" b="1" i="0" dirty="0">
                <a:solidFill>
                  <a:srgbClr val="0F1115"/>
                </a:solidFill>
                <a:effectLst/>
                <a:latin typeface="quote-cjk-patch"/>
              </a:rPr>
              <a:t>n-1 tiến trình Backup (B1, B2, ..., Bn-1)</a:t>
            </a:r>
            <a:r>
              <a:rPr lang="vi-VN" b="0" i="0" dirty="0">
                <a:solidFill>
                  <a:srgbClr val="0F1115"/>
                </a:solidFill>
                <a:effectLst/>
                <a:latin typeface="quote-cjk-patch"/>
              </a:rPr>
              <a:t>: dự phòng, sao chép dữ liệu từ Primary.</a:t>
            </a:r>
          </a:p>
          <a:p>
            <a:pPr algn="l"/>
            <a:r>
              <a:rPr lang="vi-VN" b="1" i="0" dirty="0">
                <a:solidFill>
                  <a:srgbClr val="0F1115"/>
                </a:solidFill>
                <a:effectLst/>
                <a:latin typeface="quote-cjk-patch"/>
              </a:rPr>
              <a:t>Các giả định quan trọng:</a:t>
            </a:r>
            <a:endParaRPr lang="vi-VN" b="0" i="0" dirty="0">
              <a:solidFill>
                <a:srgbClr val="0F1115"/>
              </a:solidFill>
              <a:effectLst/>
              <a:latin typeface="quote-cjk-patch"/>
            </a:endParaRPr>
          </a:p>
          <a:p>
            <a:pPr algn="l">
              <a:buFont typeface="Arial" panose="020B0604020202020204" pitchFamily="34" charset="0"/>
              <a:buChar char="•"/>
            </a:pPr>
            <a:r>
              <a:rPr lang="vi-VN" b="1" i="0" dirty="0">
                <a:solidFill>
                  <a:srgbClr val="0F1115"/>
                </a:solidFill>
                <a:effectLst/>
                <a:latin typeface="quote-cjk-patch"/>
              </a:rPr>
              <a:t>Client gửi giá trị v ∈ {T, F} đến Primary</a:t>
            </a:r>
            <a:r>
              <a:rPr lang="vi-VN" b="0" i="0" dirty="0">
                <a:solidFill>
                  <a:srgbClr val="0F1115"/>
                </a:solidFill>
                <a:effectLst/>
                <a:latin typeface="quote-cjk-patch"/>
              </a:rPr>
              <a:t>: Giá trị này có thể là "True" hoặc "False".</a:t>
            </a:r>
          </a:p>
          <a:p>
            <a:pPr algn="l">
              <a:buFont typeface="Arial" panose="020B0604020202020204" pitchFamily="34" charset="0"/>
              <a:buChar char="•"/>
            </a:pPr>
            <a:r>
              <a:rPr lang="vi-VN" b="1" i="0" dirty="0">
                <a:solidFill>
                  <a:srgbClr val="0F1115"/>
                </a:solidFill>
                <a:effectLst/>
                <a:latin typeface="quote-cjk-patch"/>
              </a:rPr>
              <a:t>Tin nhắn có thể bị mất, nhưng có thể phát hiện được</a:t>
            </a:r>
            <a:r>
              <a:rPr lang="vi-VN" b="0" i="0" dirty="0">
                <a:solidFill>
                  <a:srgbClr val="0F1115"/>
                </a:solidFill>
                <a:effectLst/>
                <a:latin typeface="quote-cjk-patch"/>
              </a:rPr>
              <a:t>: Hệ thống có cơ chế phát hiện mất tin nhắn (ví dụ: dùng bộ định thời timeout).</a:t>
            </a:r>
          </a:p>
          <a:p>
            <a:pPr algn="l">
              <a:buFont typeface="Arial" panose="020B0604020202020204" pitchFamily="34" charset="0"/>
              <a:buChar char="•"/>
            </a:pPr>
            <a:r>
              <a:rPr lang="vi-VN" b="1" i="0" dirty="0">
                <a:solidFill>
                  <a:srgbClr val="0F1115"/>
                </a:solidFill>
                <a:effectLst/>
                <a:latin typeface="quote-cjk-patch"/>
              </a:rPr>
              <a:t>Tin nhắn không thể bị sửa đổi mà không bị phát hiện</a:t>
            </a:r>
            <a:r>
              <a:rPr lang="vi-VN" b="0" i="0" dirty="0">
                <a:solidFill>
                  <a:srgbClr val="0F1115"/>
                </a:solidFill>
                <a:effectLst/>
                <a:latin typeface="quote-cjk-patch"/>
              </a:rPr>
              <a:t>: Nếu tin nhắn bị thay đổi, bên nhận sẽ phát hiện và bỏ qua (ví dụ: dùng mã xác thực MAC hoặc chữ ký số).</a:t>
            </a:r>
          </a:p>
          <a:p>
            <a:pPr algn="l">
              <a:buFont typeface="Arial" panose="020B0604020202020204" pitchFamily="34" charset="0"/>
              <a:buChar char="•"/>
            </a:pPr>
            <a:r>
              <a:rPr lang="vi-VN" b="1" i="0" dirty="0">
                <a:solidFill>
                  <a:srgbClr val="0F1115"/>
                </a:solidFill>
                <a:effectLst/>
                <a:latin typeface="quote-cjk-patch"/>
              </a:rPr>
              <a:t>Bên nhận có thể xác định đáng tin cậy người gửi</a:t>
            </a:r>
            <a:r>
              <a:rPr lang="vi-VN" b="0" i="0" dirty="0">
                <a:solidFill>
                  <a:srgbClr val="0F1115"/>
                </a:solidFill>
                <a:effectLst/>
                <a:latin typeface="quote-cjk-patch"/>
              </a:rPr>
              <a:t>: Đảm bảo rằng tin nhắn nhận được thực sự từ Primary hoặc Backup, không phải kẻ mạo danh.</a:t>
            </a:r>
          </a:p>
          <a:p>
            <a:pPr algn="l"/>
            <a:r>
              <a:rPr lang="en-US" b="0" i="0" dirty="0">
                <a:solidFill>
                  <a:srgbClr val="0F1115"/>
                </a:solidFill>
                <a:effectLst/>
                <a:latin typeface="quote-cjk-patch"/>
              </a:rPr>
              <a:t>=&gt; </a:t>
            </a:r>
            <a:r>
              <a:rPr lang="vi-VN" b="0" i="0" dirty="0">
                <a:solidFill>
                  <a:srgbClr val="0F1115"/>
                </a:solidFill>
                <a:effectLst/>
                <a:latin typeface="quote-cjk-patch"/>
              </a:rPr>
              <a:t>Những giả định này giúp đơn giản hóa bài toán, tập trung vào </a:t>
            </a:r>
            <a:r>
              <a:rPr lang="vi-VN" b="1" i="0" dirty="0">
                <a:solidFill>
                  <a:srgbClr val="0F1115"/>
                </a:solidFill>
                <a:effectLst/>
                <a:latin typeface="quote-cjk-patch"/>
              </a:rPr>
              <a:t>lỗi hành vi (arbitrary failures)</a:t>
            </a:r>
            <a:r>
              <a:rPr lang="vi-VN" b="0" i="0" dirty="0">
                <a:solidFill>
                  <a:srgbClr val="0F1115"/>
                </a:solidFill>
                <a:effectLst/>
                <a:latin typeface="quote-cjk-patch"/>
              </a:rPr>
              <a:t> thay vì lỗi mạng hay bảo mật.</a:t>
            </a:r>
          </a:p>
          <a:p>
            <a:pPr algn="l"/>
            <a:endParaRPr lang="en-US" b="1" dirty="0">
              <a:solidFill>
                <a:srgbClr val="0F1115"/>
              </a:solidFill>
              <a:effectLst/>
              <a:latin typeface="quote-cjk-patch"/>
            </a:endParaRPr>
          </a:p>
          <a:p>
            <a:pPr algn="l"/>
            <a:r>
              <a:rPr lang="vi-VN" b="1" dirty="0">
                <a:solidFill>
                  <a:srgbClr val="0F1115"/>
                </a:solidFill>
                <a:effectLst/>
                <a:latin typeface="quote-cjk-patch"/>
              </a:rPr>
              <a:t>2. Các Yêu cầu của Thỏa thuận Byzantine (Byzantine Agreement)</a:t>
            </a:r>
          </a:p>
          <a:p>
            <a:pPr algn="l"/>
            <a:r>
              <a:rPr lang="vi-VN" b="0" i="0" dirty="0">
                <a:solidFill>
                  <a:srgbClr val="0F1115"/>
                </a:solidFill>
                <a:effectLst/>
                <a:latin typeface="quote-cjk-patch"/>
              </a:rPr>
              <a:t>Để hệ thống đạt được </a:t>
            </a:r>
            <a:r>
              <a:rPr lang="vi-VN" b="1" i="0" dirty="0">
                <a:solidFill>
                  <a:srgbClr val="0F1115"/>
                </a:solidFill>
                <a:effectLst/>
                <a:latin typeface="quote-cjk-patch"/>
              </a:rPr>
              <a:t>đồng thuận</a:t>
            </a:r>
            <a:r>
              <a:rPr lang="vi-VN" b="0" i="0" dirty="0">
                <a:solidFill>
                  <a:srgbClr val="0F1115"/>
                </a:solidFill>
                <a:effectLst/>
                <a:latin typeface="quote-cjk-patch"/>
              </a:rPr>
              <a:t> dù có tới </a:t>
            </a:r>
            <a:r>
              <a:rPr lang="vi-VN" b="1" i="0" dirty="0">
                <a:solidFill>
                  <a:srgbClr val="0F1115"/>
                </a:solidFill>
                <a:effectLst/>
                <a:latin typeface="quote-cjk-patch"/>
              </a:rPr>
              <a:t>k tiến trình bị lỗi tùy ý</a:t>
            </a:r>
            <a:r>
              <a:rPr lang="vi-VN" b="0" i="0" dirty="0">
                <a:solidFill>
                  <a:srgbClr val="0F1115"/>
                </a:solidFill>
                <a:effectLst/>
                <a:latin typeface="quote-cjk-patch"/>
              </a:rPr>
              <a:t>, hai yêu cầu sau phải được thỏa mãn:</a:t>
            </a:r>
          </a:p>
          <a:p>
            <a:pPr algn="l">
              <a:buFont typeface="Arial" panose="020B0604020202020204" pitchFamily="34" charset="0"/>
              <a:buChar char="•"/>
            </a:pPr>
            <a:r>
              <a:rPr lang="vi-VN" b="1" i="0" dirty="0">
                <a:solidFill>
                  <a:srgbClr val="0F1115"/>
                </a:solidFill>
                <a:effectLst/>
                <a:latin typeface="quote-cjk-patch"/>
              </a:rPr>
              <a:t>BA1</a:t>
            </a:r>
            <a:r>
              <a:rPr lang="vi-VN" b="0" i="0" dirty="0">
                <a:solidFill>
                  <a:srgbClr val="0F1115"/>
                </a:solidFill>
                <a:effectLst/>
                <a:latin typeface="quote-cjk-patch"/>
              </a:rPr>
              <a:t>: Mọi tiến trình Backup </a:t>
            </a:r>
            <a:r>
              <a:rPr lang="vi-VN" b="1" i="0" dirty="0">
                <a:solidFill>
                  <a:srgbClr val="0F1115"/>
                </a:solidFill>
                <a:effectLst/>
                <a:latin typeface="quote-cjk-patch"/>
              </a:rPr>
              <a:t>không bị lỗi</a:t>
            </a:r>
            <a:r>
              <a:rPr lang="vi-VN" b="0" i="0" dirty="0">
                <a:solidFill>
                  <a:srgbClr val="0F1115"/>
                </a:solidFill>
                <a:effectLst/>
                <a:latin typeface="quote-cjk-patch"/>
              </a:rPr>
              <a:t> phải lưu trữ </a:t>
            </a:r>
            <a:r>
              <a:rPr lang="vi-VN" b="1" i="0" dirty="0">
                <a:solidFill>
                  <a:srgbClr val="0F1115"/>
                </a:solidFill>
                <a:effectLst/>
                <a:latin typeface="quote-cjk-patch"/>
              </a:rPr>
              <a:t>cùng một giá trị</a:t>
            </a:r>
            <a:r>
              <a:rPr lang="vi-VN" b="0" i="0" dirty="0">
                <a:solidFill>
                  <a:srgbClr val="0F1115"/>
                </a:solidFill>
                <a:effectLst/>
                <a:latin typeface="quote-cjk-patch"/>
              </a:rPr>
              <a:t>.</a:t>
            </a:r>
          </a:p>
          <a:p>
            <a:pPr algn="l">
              <a:buFont typeface="Arial" panose="020B0604020202020204" pitchFamily="34" charset="0"/>
              <a:buChar char="•"/>
            </a:pPr>
            <a:r>
              <a:rPr lang="vi-VN" b="1" i="0" dirty="0">
                <a:solidFill>
                  <a:srgbClr val="0F1115"/>
                </a:solidFill>
                <a:effectLst/>
                <a:latin typeface="quote-cjk-patch"/>
              </a:rPr>
              <a:t>BA2</a:t>
            </a:r>
            <a:r>
              <a:rPr lang="vi-VN" b="0" i="0" dirty="0">
                <a:solidFill>
                  <a:srgbClr val="0F1115"/>
                </a:solidFill>
                <a:effectLst/>
                <a:latin typeface="quote-cjk-patch"/>
              </a:rPr>
              <a:t>: Nếu Primary </a:t>
            </a:r>
            <a:r>
              <a:rPr lang="vi-VN" b="1" i="0" dirty="0">
                <a:solidFill>
                  <a:srgbClr val="0F1115"/>
                </a:solidFill>
                <a:effectLst/>
                <a:latin typeface="quote-cjk-patch"/>
              </a:rPr>
              <a:t>không bị lỗi</a:t>
            </a:r>
            <a:r>
              <a:rPr lang="vi-VN" b="0" i="0" dirty="0">
                <a:solidFill>
                  <a:srgbClr val="0F1115"/>
                </a:solidFill>
                <a:effectLst/>
                <a:latin typeface="quote-cjk-patch"/>
              </a:rPr>
              <a:t>, mọi tiến trình Backup không bị lỗi phải lưu trữ </a:t>
            </a:r>
            <a:r>
              <a:rPr lang="vi-VN" b="1" i="0" dirty="0">
                <a:solidFill>
                  <a:srgbClr val="0F1115"/>
                </a:solidFill>
                <a:effectLst/>
                <a:latin typeface="quote-cjk-patch"/>
              </a:rPr>
              <a:t>chính xác giá trị mà Primary đã gửi</a:t>
            </a:r>
            <a:r>
              <a:rPr lang="vi-VN" b="0" i="0" dirty="0">
                <a:solidFill>
                  <a:srgbClr val="0F1115"/>
                </a:solidFill>
                <a:effectLst/>
                <a:latin typeface="quote-cjk-patch"/>
              </a:rPr>
              <a:t>.</a:t>
            </a:r>
          </a:p>
          <a:p>
            <a:pPr algn="l"/>
            <a:endParaRPr lang="en-US" b="1" dirty="0">
              <a:solidFill>
                <a:srgbClr val="0F1115"/>
              </a:solidFill>
              <a:effectLst/>
              <a:latin typeface="quote-cjk-patch"/>
            </a:endParaRPr>
          </a:p>
          <a:p>
            <a:pPr algn="l"/>
            <a:r>
              <a:rPr lang="vi-VN" b="1" dirty="0">
                <a:solidFill>
                  <a:srgbClr val="0F1115"/>
                </a:solidFill>
                <a:effectLst/>
                <a:latin typeface="quote-cjk-patch"/>
              </a:rPr>
              <a:t>3. Nhận xét (Observation)</a:t>
            </a:r>
          </a:p>
          <a:p>
            <a:pPr algn="l">
              <a:buFont typeface="Arial" panose="020B0604020202020204" pitchFamily="34" charset="0"/>
              <a:buChar char="•"/>
            </a:pPr>
            <a:r>
              <a:rPr lang="vi-VN" b="1" i="0" dirty="0">
                <a:solidFill>
                  <a:srgbClr val="0F1115"/>
                </a:solidFill>
                <a:effectLst/>
                <a:latin typeface="quote-cjk-patch"/>
              </a:rPr>
              <a:t>Nếu Primary bị lỗi</a:t>
            </a:r>
            <a:r>
              <a:rPr lang="vi-VN" b="0" i="0" dirty="0">
                <a:solidFill>
                  <a:srgbClr val="0F1115"/>
                </a:solidFill>
                <a:effectLst/>
                <a:latin typeface="quote-cjk-patch"/>
              </a:rPr>
              <a:t>: BA1 chỉ yêu cầu các Backup </a:t>
            </a:r>
            <a:r>
              <a:rPr lang="vi-VN" b="1" i="0" dirty="0">
                <a:solidFill>
                  <a:srgbClr val="0F1115"/>
                </a:solidFill>
                <a:effectLst/>
                <a:latin typeface="quote-cjk-patch"/>
              </a:rPr>
              <a:t>lưu cùng một giá trị</a:t>
            </a:r>
            <a:r>
              <a:rPr lang="vi-VN" b="0" i="0" dirty="0">
                <a:solidFill>
                  <a:srgbClr val="0F1115"/>
                </a:solidFill>
                <a:effectLst/>
                <a:latin typeface="quote-cjk-patch"/>
              </a:rPr>
              <a:t>, nhưng giá trị đó </a:t>
            </a:r>
            <a:r>
              <a:rPr lang="vi-VN" b="1" i="0" dirty="0">
                <a:solidFill>
                  <a:srgbClr val="0F1115"/>
                </a:solidFill>
                <a:effectLst/>
                <a:latin typeface="quote-cjk-patch"/>
              </a:rPr>
              <a:t>có thể sai</a:t>
            </a:r>
            <a:r>
              <a:rPr lang="vi-VN" b="0" i="0" dirty="0">
                <a:solidFill>
                  <a:srgbClr val="0F1115"/>
                </a:solidFill>
                <a:effectLst/>
                <a:latin typeface="quote-cjk-patch"/>
              </a:rPr>
              <a:t> so với giá trị ban đầu client gửi. Điều này chấp nhận được vì Primary bị lỗi có thể đã gửi giá trị sai.</a:t>
            </a:r>
          </a:p>
          <a:p>
            <a:pPr algn="l">
              <a:buFont typeface="Arial" panose="020B0604020202020204" pitchFamily="34" charset="0"/>
              <a:buChar char="•"/>
            </a:pPr>
            <a:r>
              <a:rPr lang="vi-VN" b="1" i="0" dirty="0">
                <a:solidFill>
                  <a:srgbClr val="0F1115"/>
                </a:solidFill>
                <a:effectLst/>
                <a:latin typeface="quote-cjk-patch"/>
              </a:rPr>
              <a:t>Nếu Primary không bị lỗi</a:t>
            </a:r>
            <a:r>
              <a:rPr lang="vi-VN" b="0" i="0" dirty="0">
                <a:solidFill>
                  <a:srgbClr val="0F1115"/>
                </a:solidFill>
                <a:effectLst/>
                <a:latin typeface="quote-cjk-patch"/>
              </a:rPr>
              <a:t>: Khi BA2 được thỏa mãn (các Backup lưu đúng giá trị Primary gửi), thì BA1 </a:t>
            </a:r>
            <a:r>
              <a:rPr lang="vi-VN" b="1" i="0" dirty="0">
                <a:solidFill>
                  <a:srgbClr val="0F1115"/>
                </a:solidFill>
                <a:effectLst/>
                <a:latin typeface="quote-cjk-patch"/>
              </a:rPr>
              <a:t>tự động được thỏa mãn</a:t>
            </a:r>
            <a:r>
              <a:rPr lang="vi-VN" b="0" i="0" dirty="0">
                <a:solidFill>
                  <a:srgbClr val="0F1115"/>
                </a:solidFill>
                <a:effectLst/>
                <a:latin typeface="quote-cjk-patch"/>
              </a:rPr>
              <a:t> (vì tất cả Backup đều lưu cùng một giá trị đúng).</a:t>
            </a:r>
          </a:p>
          <a:p>
            <a:pPr algn="l"/>
            <a:endParaRPr lang="en-US" b="1" dirty="0">
              <a:solidFill>
                <a:srgbClr val="0F1115"/>
              </a:solidFill>
              <a:effectLst/>
              <a:latin typeface="quote-cjk-patch"/>
            </a:endParaRPr>
          </a:p>
          <a:p>
            <a:pPr algn="l"/>
            <a:r>
              <a:rPr lang="en-US" b="1" dirty="0">
                <a:solidFill>
                  <a:srgbClr val="0F1115"/>
                </a:solidFill>
                <a:effectLst/>
                <a:latin typeface="quote-cjk-patch"/>
              </a:rPr>
              <a:t>***</a:t>
            </a:r>
            <a:r>
              <a:rPr lang="vi-VN" b="1" dirty="0">
                <a:solidFill>
                  <a:srgbClr val="0F1115"/>
                </a:solidFill>
                <a:effectLst/>
                <a:latin typeface="quote-cjk-patch"/>
              </a:rPr>
              <a:t>Kết luận</a:t>
            </a:r>
          </a:p>
          <a:p>
            <a:pPr algn="l"/>
            <a:r>
              <a:rPr lang="vi-VN" b="0" i="0" dirty="0">
                <a:solidFill>
                  <a:srgbClr val="0F1115"/>
                </a:solidFill>
                <a:effectLst/>
                <a:latin typeface="quote-cjk-patch"/>
              </a:rPr>
              <a:t>Slide này nhấn mạnh:</a:t>
            </a:r>
          </a:p>
          <a:p>
            <a:pPr algn="l">
              <a:buFont typeface="+mj-lt"/>
              <a:buAutoNum type="arabicPeriod"/>
            </a:pPr>
            <a:r>
              <a:rPr lang="vi-VN" b="1" i="0" dirty="0">
                <a:solidFill>
                  <a:srgbClr val="0F1115"/>
                </a:solidFill>
                <a:effectLst/>
                <a:latin typeface="quote-cjk-patch"/>
              </a:rPr>
              <a:t>Mô hình hệ thống</a:t>
            </a:r>
            <a:r>
              <a:rPr lang="vi-VN" b="0" i="0" dirty="0">
                <a:solidFill>
                  <a:srgbClr val="0F1115"/>
                </a:solidFill>
                <a:effectLst/>
                <a:latin typeface="quote-cjk-patch"/>
              </a:rPr>
              <a:t> với Primary/Backup và các giả định về truyền thông.</a:t>
            </a:r>
          </a:p>
          <a:p>
            <a:pPr algn="l">
              <a:buFont typeface="+mj-lt"/>
              <a:buAutoNum type="arabicPeriod"/>
            </a:pPr>
            <a:r>
              <a:rPr lang="vi-VN" b="1" i="0" dirty="0">
                <a:solidFill>
                  <a:srgbClr val="0F1115"/>
                </a:solidFill>
                <a:effectLst/>
                <a:latin typeface="quote-cjk-patch"/>
              </a:rPr>
              <a:t>Hai yêu cầu cốt lõi (BA1, BA2)</a:t>
            </a:r>
            <a:r>
              <a:rPr lang="vi-VN" b="0" i="0" dirty="0">
                <a:solidFill>
                  <a:srgbClr val="0F1115"/>
                </a:solidFill>
                <a:effectLst/>
                <a:latin typeface="quote-cjk-patch"/>
              </a:rPr>
              <a:t> để đạt đồng thuận Byzantine.</a:t>
            </a:r>
          </a:p>
          <a:p>
            <a:pPr algn="l">
              <a:buFont typeface="+mj-lt"/>
              <a:buAutoNum type="arabicPeriod"/>
            </a:pPr>
            <a:r>
              <a:rPr lang="vi-VN" b="1" i="0" dirty="0">
                <a:solidFill>
                  <a:srgbClr val="0F1115"/>
                </a:solidFill>
                <a:effectLst/>
                <a:latin typeface="quote-cjk-patch"/>
              </a:rPr>
              <a:t>Mối quan hệ giữa BA1 và BA2</a:t>
            </a:r>
            <a:r>
              <a:rPr lang="vi-VN" b="0" i="0" dirty="0">
                <a:solidFill>
                  <a:srgbClr val="0F1115"/>
                </a:solidFill>
                <a:effectLst/>
                <a:latin typeface="quote-cjk-patch"/>
              </a:rPr>
              <a:t>, đặc biệt khi Primary không lỗi.</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47</a:t>
            </a:fld>
            <a:endParaRPr lang="en-US"/>
          </a:p>
        </p:txBody>
      </p:sp>
    </p:spTree>
    <p:extLst>
      <p:ext uri="{BB962C8B-B14F-4D97-AF65-F5344CB8AC3E}">
        <p14:creationId xmlns:p14="http://schemas.microsoft.com/office/powerpoint/2010/main" val="34400397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0F1115"/>
                </a:solidFill>
                <a:effectLst/>
                <a:latin typeface="quote-cjk-patch"/>
              </a:rPr>
              <a:t>tại sao </a:t>
            </a:r>
            <a:r>
              <a:rPr lang="vi-VN" b="1" i="0" dirty="0">
                <a:solidFill>
                  <a:srgbClr val="0F1115"/>
                </a:solidFill>
                <a:effectLst/>
                <a:latin typeface="quote-cjk-patch"/>
              </a:rPr>
              <a:t>3k tiến trình là không đủ</a:t>
            </a:r>
            <a:r>
              <a:rPr lang="vi-VN" b="0" i="0" dirty="0">
                <a:solidFill>
                  <a:srgbClr val="0F1115"/>
                </a:solidFill>
                <a:effectLst/>
                <a:latin typeface="quote-cjk-patch"/>
              </a:rPr>
              <a:t> để đạt được đồng thuận trong hệ thống có lỗi tùy ý (arbitrary failures).</a:t>
            </a:r>
          </a:p>
          <a:p>
            <a:pPr algn="l"/>
            <a:r>
              <a:rPr lang="vi-VN" b="1" dirty="0">
                <a:solidFill>
                  <a:srgbClr val="0F1115"/>
                </a:solidFill>
                <a:effectLst/>
                <a:latin typeface="quote-cjk-patch"/>
              </a:rPr>
              <a:t>Tổng quan</a:t>
            </a:r>
          </a:p>
          <a:p>
            <a:pPr algn="l"/>
            <a:r>
              <a:rPr lang="vi-VN" b="0" i="0" dirty="0">
                <a:solidFill>
                  <a:srgbClr val="0F1115"/>
                </a:solidFill>
                <a:effectLst/>
                <a:latin typeface="quote-cjk-patch"/>
              </a:rPr>
              <a:t>Slide minh họa </a:t>
            </a:r>
            <a:r>
              <a:rPr lang="vi-VN" b="1" i="0" dirty="0">
                <a:solidFill>
                  <a:srgbClr val="0F1115"/>
                </a:solidFill>
                <a:effectLst/>
                <a:latin typeface="quote-cjk-patch"/>
              </a:rPr>
              <a:t>hai kịch bản</a:t>
            </a:r>
            <a:r>
              <a:rPr lang="vi-VN" b="0" i="0" dirty="0">
                <a:solidFill>
                  <a:srgbClr val="0F1115"/>
                </a:solidFill>
                <a:effectLst/>
                <a:latin typeface="quote-cjk-patch"/>
              </a:rPr>
              <a:t> trong hệ thống có </a:t>
            </a:r>
            <a:r>
              <a:rPr lang="vi-VN" b="1" i="0" dirty="0">
                <a:solidFill>
                  <a:srgbClr val="0F1115"/>
                </a:solidFill>
                <a:effectLst/>
                <a:latin typeface="quote-cjk-patch"/>
              </a:rPr>
              <a:t>3 tiến trình</a:t>
            </a:r>
            <a:r>
              <a:rPr lang="vi-VN" b="0" i="0" dirty="0">
                <a:solidFill>
                  <a:srgbClr val="0F1115"/>
                </a:solidFill>
                <a:effectLst/>
                <a:latin typeface="quote-cjk-patch"/>
              </a:rPr>
              <a:t> (P, B1, B2), tương ứng với k=1 (n=3k=3). Trong cả hai kịch bản, hệ thống </a:t>
            </a:r>
            <a:r>
              <a:rPr lang="vi-VN" b="1" i="0" dirty="0">
                <a:solidFill>
                  <a:srgbClr val="0F1115"/>
                </a:solidFill>
                <a:effectLst/>
                <a:latin typeface="quote-cjk-patch"/>
              </a:rPr>
              <a:t>không thể đạt được đồng thuận</a:t>
            </a:r>
            <a:r>
              <a:rPr lang="vi-VN" b="0" i="0" dirty="0">
                <a:solidFill>
                  <a:srgbClr val="0F1115"/>
                </a:solidFill>
                <a:effectLst/>
                <a:latin typeface="quote-cjk-patch"/>
              </a:rPr>
              <a:t> do không đủ số lượng tiến trình để xử lý lỗi.</a:t>
            </a:r>
          </a:p>
          <a:p>
            <a:pPr algn="l"/>
            <a:r>
              <a:rPr lang="vi-VN" b="1" dirty="0">
                <a:solidFill>
                  <a:srgbClr val="0F1115"/>
                </a:solidFill>
                <a:effectLst/>
                <a:latin typeface="quote-cjk-patch"/>
              </a:rPr>
              <a:t>Kịch bản 1: Primary (P) bị lỗi</a:t>
            </a:r>
          </a:p>
          <a:p>
            <a:pPr algn="l">
              <a:buFont typeface="Arial" panose="020B0604020202020204" pitchFamily="34" charset="0"/>
              <a:buChar char="•"/>
            </a:pPr>
            <a:r>
              <a:rPr lang="vi-VN" b="1" i="0" dirty="0">
                <a:solidFill>
                  <a:srgbClr val="0F1115"/>
                </a:solidFill>
                <a:effectLst/>
                <a:latin typeface="quote-cjk-patch"/>
              </a:rPr>
              <a:t>Vòng 1</a:t>
            </a:r>
            <a:r>
              <a:rPr lang="vi-VN" b="0" i="0" dirty="0">
                <a:solidFill>
                  <a:srgbClr val="0F1115"/>
                </a:solidFill>
                <a:effectLst/>
                <a:latin typeface="quote-cjk-patch"/>
              </a:rPr>
              <a:t>: Primary P (bị lỗi) gửi giá trị </a:t>
            </a:r>
            <a:r>
              <a:rPr lang="vi-VN" b="1" i="0" dirty="0">
                <a:solidFill>
                  <a:srgbClr val="0F1115"/>
                </a:solidFill>
                <a:effectLst/>
                <a:latin typeface="quote-cjk-patch"/>
              </a:rPr>
              <a:t>T</a:t>
            </a:r>
            <a:r>
              <a:rPr lang="vi-VN" b="0" i="0" dirty="0">
                <a:solidFill>
                  <a:srgbClr val="0F1115"/>
                </a:solidFill>
                <a:effectLst/>
                <a:latin typeface="quote-cjk-patch"/>
              </a:rPr>
              <a:t> cho B1 và </a:t>
            </a:r>
            <a:r>
              <a:rPr lang="vi-VN" b="1" i="0" dirty="0">
                <a:solidFill>
                  <a:srgbClr val="0F1115"/>
                </a:solidFill>
                <a:effectLst/>
                <a:latin typeface="quote-cjk-patch"/>
              </a:rPr>
              <a:t>F</a:t>
            </a:r>
            <a:r>
              <a:rPr lang="vi-VN" b="0" i="0" dirty="0">
                <a:solidFill>
                  <a:srgbClr val="0F1115"/>
                </a:solidFill>
                <a:effectLst/>
                <a:latin typeface="quote-cjk-patch"/>
              </a:rPr>
              <a:t> cho B2.</a:t>
            </a:r>
          </a:p>
          <a:p>
            <a:pPr algn="l">
              <a:buFont typeface="Arial" panose="020B0604020202020204" pitchFamily="34" charset="0"/>
              <a:buChar char="•"/>
            </a:pPr>
            <a:r>
              <a:rPr lang="vi-VN" b="1" i="0" dirty="0">
                <a:solidFill>
                  <a:srgbClr val="0F1115"/>
                </a:solidFill>
                <a:effectLst/>
                <a:latin typeface="quote-cjk-patch"/>
              </a:rPr>
              <a:t>Vòng 2</a:t>
            </a:r>
            <a:r>
              <a:rPr lang="vi-VN" b="0" i="0" dirty="0">
                <a:solidFill>
                  <a:srgbClr val="0F1115"/>
                </a:solidFill>
                <a:effectLst/>
                <a:latin typeface="quote-cjk-patch"/>
              </a:rPr>
              <a:t>:</a:t>
            </a:r>
          </a:p>
          <a:p>
            <a:pPr marL="742950" lvl="1" indent="-285750" algn="l">
              <a:buFont typeface="Arial" panose="020B0604020202020204" pitchFamily="34" charset="0"/>
              <a:buChar char="•"/>
            </a:pPr>
            <a:r>
              <a:rPr lang="vi-VN" b="0" i="0" dirty="0">
                <a:solidFill>
                  <a:srgbClr val="0F1115"/>
                </a:solidFill>
                <a:effectLst/>
                <a:latin typeface="quote-cjk-patch"/>
              </a:rPr>
              <a:t>B1 (không lỗi) gửi giá trị T nhận được cho B2.</a:t>
            </a:r>
          </a:p>
          <a:p>
            <a:pPr marL="742950" lvl="1" indent="-285750" algn="l">
              <a:buFont typeface="Arial" panose="020B0604020202020204" pitchFamily="34" charset="0"/>
              <a:buChar char="•"/>
            </a:pPr>
            <a:r>
              <a:rPr lang="vi-VN" b="0" i="0" dirty="0">
                <a:solidFill>
                  <a:srgbClr val="0F1115"/>
                </a:solidFill>
                <a:effectLst/>
                <a:latin typeface="quote-cjk-patch"/>
              </a:rPr>
              <a:t>B2 (không lỗi) gửi giá trị F nhận được cho B1.</a:t>
            </a:r>
          </a:p>
          <a:p>
            <a:pPr algn="l">
              <a:buFont typeface="Arial" panose="020B0604020202020204" pitchFamily="34" charset="0"/>
              <a:buChar char="•"/>
            </a:pPr>
            <a:r>
              <a:rPr lang="vi-VN" b="1" i="0" dirty="0">
                <a:solidFill>
                  <a:srgbClr val="0F1115"/>
                </a:solidFill>
                <a:effectLst/>
                <a:latin typeface="quote-cjk-patch"/>
              </a:rPr>
              <a:t>Kết quả</a:t>
            </a:r>
            <a:r>
              <a:rPr lang="vi-VN" b="0" i="0" dirty="0">
                <a:solidFill>
                  <a:srgbClr val="0F1115"/>
                </a:solidFill>
                <a:effectLst/>
                <a:latin typeface="quote-cjk-patch"/>
              </a:rPr>
              <a:t>:</a:t>
            </a:r>
          </a:p>
          <a:p>
            <a:pPr marL="742950" lvl="1" indent="-285750" algn="l">
              <a:buFont typeface="Arial" panose="020B0604020202020204" pitchFamily="34" charset="0"/>
              <a:buChar char="•"/>
            </a:pPr>
            <a:r>
              <a:rPr lang="vi-VN" b="0" i="0" dirty="0">
                <a:solidFill>
                  <a:srgbClr val="0F1115"/>
                </a:solidFill>
                <a:effectLst/>
                <a:latin typeface="quote-cjk-patch"/>
              </a:rPr>
              <a:t>B1 nhận được {T từ P, F từ B2} → Tập giá trị {T, F}.</a:t>
            </a:r>
          </a:p>
          <a:p>
            <a:pPr marL="742950" lvl="1" indent="-285750" algn="l">
              <a:buFont typeface="Arial" panose="020B0604020202020204" pitchFamily="34" charset="0"/>
              <a:buChar char="•"/>
            </a:pPr>
            <a:r>
              <a:rPr lang="vi-VN" b="0" i="0" dirty="0">
                <a:solidFill>
                  <a:srgbClr val="0F1115"/>
                </a:solidFill>
                <a:effectLst/>
                <a:latin typeface="quote-cjk-patch"/>
              </a:rPr>
              <a:t>B2 nhận được {F từ P, T từ B1} → Tập giá trị {T, F}.</a:t>
            </a:r>
          </a:p>
          <a:p>
            <a:pPr algn="l">
              <a:buFont typeface="Arial" panose="020B0604020202020204" pitchFamily="34" charset="0"/>
              <a:buChar char="•"/>
            </a:pPr>
            <a:r>
              <a:rPr lang="vi-VN" b="1" i="0" dirty="0">
                <a:solidFill>
                  <a:srgbClr val="0F1115"/>
                </a:solidFill>
                <a:effectLst/>
                <a:latin typeface="quote-cjk-patch"/>
              </a:rPr>
              <a:t>Kết luận</a:t>
            </a:r>
            <a:r>
              <a:rPr lang="vi-VN" b="0" i="0" dirty="0">
                <a:solidFill>
                  <a:srgbClr val="0F1115"/>
                </a:solidFill>
                <a:effectLst/>
                <a:latin typeface="quote-cjk-patch"/>
              </a:rPr>
              <a:t>: Cả B1 và B2 đều nhận được </a:t>
            </a:r>
            <a:r>
              <a:rPr lang="vi-VN" b="1" i="0" dirty="0">
                <a:solidFill>
                  <a:srgbClr val="0F1115"/>
                </a:solidFill>
                <a:effectLst/>
                <a:latin typeface="quote-cjk-patch"/>
              </a:rPr>
              <a:t>hai giá trị mâu thuẫn</a:t>
            </a:r>
            <a:r>
              <a:rPr lang="vi-VN" b="0" i="0" dirty="0">
                <a:solidFill>
                  <a:srgbClr val="0F1115"/>
                </a:solidFill>
                <a:effectLst/>
                <a:latin typeface="quote-cjk-patch"/>
              </a:rPr>
              <a:t> và </a:t>
            </a:r>
            <a:r>
              <a:rPr lang="vi-VN" b="1" i="0" dirty="0">
                <a:solidFill>
                  <a:srgbClr val="0F1115"/>
                </a:solidFill>
                <a:effectLst/>
                <a:latin typeface="quote-cjk-patch"/>
              </a:rPr>
              <a:t>không thể xác định được giá trị nào là đúng</a:t>
            </a:r>
            <a:r>
              <a:rPr lang="vi-VN" b="0" i="0" dirty="0">
                <a:solidFill>
                  <a:srgbClr val="0F1115"/>
                </a:solidFill>
                <a:effectLst/>
                <a:latin typeface="quote-cjk-patch"/>
              </a:rPr>
              <a:t>. Do đó, </a:t>
            </a:r>
            <a:r>
              <a:rPr lang="vi-VN" b="1" i="0" dirty="0">
                <a:solidFill>
                  <a:srgbClr val="0F1115"/>
                </a:solidFill>
                <a:effectLst/>
                <a:latin typeface="quote-cjk-patch"/>
              </a:rPr>
              <a:t>đồng thuận thất bại</a:t>
            </a:r>
            <a:r>
              <a:rPr lang="vi-VN" b="0" i="0" dirty="0">
                <a:solidFill>
                  <a:srgbClr val="0F1115"/>
                </a:solidFill>
                <a:effectLst/>
                <a:latin typeface="quote-cjk-patch"/>
              </a:rPr>
              <a:t>.</a:t>
            </a:r>
          </a:p>
          <a:p>
            <a:pPr algn="l"/>
            <a:r>
              <a:rPr lang="vi-VN" b="1" dirty="0">
                <a:solidFill>
                  <a:srgbClr val="0F1115"/>
                </a:solidFill>
                <a:effectLst/>
                <a:latin typeface="quote-cjk-patch"/>
              </a:rPr>
              <a:t>Kịch bản 2: Backup (B1) bị lỗi</a:t>
            </a:r>
          </a:p>
          <a:p>
            <a:pPr algn="l">
              <a:buFont typeface="Arial" panose="020B0604020202020204" pitchFamily="34" charset="0"/>
              <a:buChar char="•"/>
            </a:pPr>
            <a:r>
              <a:rPr lang="vi-VN" b="1" i="0" dirty="0">
                <a:solidFill>
                  <a:srgbClr val="0F1115"/>
                </a:solidFill>
                <a:effectLst/>
                <a:latin typeface="quote-cjk-patch"/>
              </a:rPr>
              <a:t>Vòng 1</a:t>
            </a:r>
            <a:r>
              <a:rPr lang="vi-VN" b="0" i="0" dirty="0">
                <a:solidFill>
                  <a:srgbClr val="0F1115"/>
                </a:solidFill>
                <a:effectLst/>
                <a:latin typeface="quote-cjk-patch"/>
              </a:rPr>
              <a:t>: Primary P (không lỗi) gửi giá trị </a:t>
            </a:r>
            <a:r>
              <a:rPr lang="vi-VN" b="1" i="0" dirty="0">
                <a:solidFill>
                  <a:srgbClr val="0F1115"/>
                </a:solidFill>
                <a:effectLst/>
                <a:latin typeface="quote-cjk-patch"/>
              </a:rPr>
              <a:t>T</a:t>
            </a:r>
            <a:r>
              <a:rPr lang="vi-VN" b="0" i="0" dirty="0">
                <a:solidFill>
                  <a:srgbClr val="0F1115"/>
                </a:solidFill>
                <a:effectLst/>
                <a:latin typeface="quote-cjk-patch"/>
              </a:rPr>
              <a:t> cho cả B1 và B2.</a:t>
            </a:r>
          </a:p>
          <a:p>
            <a:pPr algn="l">
              <a:buFont typeface="Arial" panose="020B0604020202020204" pitchFamily="34" charset="0"/>
              <a:buChar char="•"/>
            </a:pPr>
            <a:r>
              <a:rPr lang="vi-VN" b="1" i="0" dirty="0">
                <a:solidFill>
                  <a:srgbClr val="0F1115"/>
                </a:solidFill>
                <a:effectLst/>
                <a:latin typeface="quote-cjk-patch"/>
              </a:rPr>
              <a:t>Vòng 2</a:t>
            </a:r>
            <a:r>
              <a:rPr lang="vi-VN" b="0" i="0" dirty="0">
                <a:solidFill>
                  <a:srgbClr val="0F1115"/>
                </a:solidFill>
                <a:effectLst/>
                <a:latin typeface="quote-cjk-patch"/>
              </a:rPr>
              <a:t>:</a:t>
            </a:r>
          </a:p>
          <a:p>
            <a:pPr marL="742950" lvl="1" indent="-285750" algn="l">
              <a:buFont typeface="Arial" panose="020B0604020202020204" pitchFamily="34" charset="0"/>
              <a:buChar char="•"/>
            </a:pPr>
            <a:r>
              <a:rPr lang="vi-VN" b="0" i="0" dirty="0">
                <a:solidFill>
                  <a:srgbClr val="0F1115"/>
                </a:solidFill>
                <a:effectLst/>
                <a:latin typeface="quote-cjk-patch"/>
              </a:rPr>
              <a:t>B1 (bị lỗi) cố ý gửi </a:t>
            </a:r>
            <a:r>
              <a:rPr lang="vi-VN" b="1" i="0" dirty="0">
                <a:solidFill>
                  <a:srgbClr val="0F1115"/>
                </a:solidFill>
                <a:effectLst/>
                <a:latin typeface="quote-cjk-patch"/>
              </a:rPr>
              <a:t>F</a:t>
            </a:r>
            <a:r>
              <a:rPr lang="vi-VN" b="0" i="0" dirty="0">
                <a:solidFill>
                  <a:srgbClr val="0F1115"/>
                </a:solidFill>
                <a:effectLst/>
                <a:latin typeface="quote-cjk-patch"/>
              </a:rPr>
              <a:t> (thay vì T) cho B2.</a:t>
            </a:r>
          </a:p>
          <a:p>
            <a:pPr marL="742950" lvl="1" indent="-285750" algn="l">
              <a:buFont typeface="Arial" panose="020B0604020202020204" pitchFamily="34" charset="0"/>
              <a:buChar char="•"/>
            </a:pPr>
            <a:r>
              <a:rPr lang="vi-VN" b="0" i="0" dirty="0">
                <a:solidFill>
                  <a:srgbClr val="0F1115"/>
                </a:solidFill>
                <a:effectLst/>
                <a:latin typeface="quote-cjk-patch"/>
              </a:rPr>
              <a:t>B2 (không lỗi) gửi T cho B1.</a:t>
            </a:r>
          </a:p>
          <a:p>
            <a:pPr algn="l">
              <a:buFont typeface="Arial" panose="020B0604020202020204" pitchFamily="34" charset="0"/>
              <a:buChar char="•"/>
            </a:pPr>
            <a:r>
              <a:rPr lang="vi-VN" b="1" i="0" dirty="0">
                <a:solidFill>
                  <a:srgbClr val="0F1115"/>
                </a:solidFill>
                <a:effectLst/>
                <a:latin typeface="quote-cjk-patch"/>
              </a:rPr>
              <a:t>Kết quả</a:t>
            </a:r>
            <a:r>
              <a:rPr lang="vi-VN" b="0" i="0" dirty="0">
                <a:solidFill>
                  <a:srgbClr val="0F1115"/>
                </a:solidFill>
                <a:effectLst/>
                <a:latin typeface="quote-cjk-patch"/>
              </a:rPr>
              <a:t>:</a:t>
            </a:r>
          </a:p>
          <a:p>
            <a:pPr marL="742950" lvl="1" indent="-285750" algn="l">
              <a:buFont typeface="Arial" panose="020B0604020202020204" pitchFamily="34" charset="0"/>
              <a:buChar char="•"/>
            </a:pPr>
            <a:r>
              <a:rPr lang="vi-VN" b="0" i="0" dirty="0">
                <a:solidFill>
                  <a:srgbClr val="0F1115"/>
                </a:solidFill>
                <a:effectLst/>
                <a:latin typeface="quote-cjk-patch"/>
              </a:rPr>
              <a:t>B2 nhận được {T từ P, F từ B1} → Tập giá trị {T, F}.</a:t>
            </a:r>
          </a:p>
          <a:p>
            <a:pPr marL="742950" lvl="1" indent="-285750" algn="l">
              <a:buFont typeface="Arial" panose="020B0604020202020204" pitchFamily="34" charset="0"/>
              <a:buChar char="•"/>
            </a:pPr>
            <a:r>
              <a:rPr lang="vi-VN" b="0" i="0" dirty="0">
                <a:solidFill>
                  <a:srgbClr val="0F1115"/>
                </a:solidFill>
                <a:effectLst/>
                <a:latin typeface="quote-cjk-patch"/>
              </a:rPr>
              <a:t>B1 (bị lỗi) không quan trọng.</a:t>
            </a:r>
          </a:p>
          <a:p>
            <a:pPr algn="l">
              <a:buFont typeface="Arial" panose="020B0604020202020204" pitchFamily="34" charset="0"/>
              <a:buChar char="•"/>
            </a:pPr>
            <a:r>
              <a:rPr lang="vi-VN" b="1" i="0" dirty="0">
                <a:solidFill>
                  <a:srgbClr val="0F1115"/>
                </a:solidFill>
                <a:effectLst/>
                <a:latin typeface="quote-cjk-patch"/>
              </a:rPr>
              <a:t>Kết luận</a:t>
            </a:r>
            <a:r>
              <a:rPr lang="vi-VN" b="0" i="0" dirty="0">
                <a:solidFill>
                  <a:srgbClr val="0F1115"/>
                </a:solidFill>
                <a:effectLst/>
                <a:latin typeface="quote-cjk-patch"/>
              </a:rPr>
              <a:t>: B2 không thể phân biệt được Primary P có thực sự gửi T hay không, vì nó nhận được cả T và F. Do đó, </a:t>
            </a:r>
            <a:r>
              <a:rPr lang="vi-VN" b="1" i="0" dirty="0">
                <a:solidFill>
                  <a:srgbClr val="0F1115"/>
                </a:solidFill>
                <a:effectLst/>
                <a:latin typeface="quote-cjk-patch"/>
              </a:rPr>
              <a:t>không thể đảm bảo BA2</a:t>
            </a:r>
            <a:r>
              <a:rPr lang="vi-VN" b="0" i="0" dirty="0">
                <a:solidFill>
                  <a:srgbClr val="0F1115"/>
                </a:solidFill>
                <a:effectLst/>
                <a:latin typeface="quote-cjk-patch"/>
              </a:rPr>
              <a:t> (nếu Primary không lỗi, mọi Backup phải lưu đúng giá trị Primary gửi).</a:t>
            </a:r>
          </a:p>
          <a:p>
            <a:pPr algn="l"/>
            <a:r>
              <a:rPr lang="vi-VN" b="1" dirty="0">
                <a:solidFill>
                  <a:srgbClr val="0F1115"/>
                </a:solidFill>
                <a:effectLst/>
                <a:latin typeface="quote-cjk-patch"/>
              </a:rPr>
              <a:t>Tại sao 3k không đủ?</a:t>
            </a:r>
          </a:p>
          <a:p>
            <a:pPr algn="l">
              <a:buFont typeface="Arial" panose="020B0604020202020204" pitchFamily="34" charset="0"/>
              <a:buChar char="•"/>
            </a:pPr>
            <a:r>
              <a:rPr lang="vi-VN" b="0" i="0" dirty="0">
                <a:solidFill>
                  <a:srgbClr val="0F1115"/>
                </a:solidFill>
                <a:effectLst/>
                <a:latin typeface="quote-cjk-patch"/>
              </a:rPr>
              <a:t>Với </a:t>
            </a:r>
            <a:r>
              <a:rPr lang="vi-VN" b="1" i="0" dirty="0">
                <a:solidFill>
                  <a:srgbClr val="0F1115"/>
                </a:solidFill>
                <a:effectLst/>
                <a:latin typeface="quote-cjk-patch"/>
              </a:rPr>
              <a:t>k=1</a:t>
            </a:r>
            <a:r>
              <a:rPr lang="vi-VN" b="0" i="0" dirty="0">
                <a:solidFill>
                  <a:srgbClr val="0F1115"/>
                </a:solidFill>
                <a:effectLst/>
                <a:latin typeface="quote-cjk-patch"/>
              </a:rPr>
              <a:t>, hệ thống có </a:t>
            </a:r>
            <a:r>
              <a:rPr lang="vi-VN" b="1" i="0" dirty="0">
                <a:solidFill>
                  <a:srgbClr val="0F1115"/>
                </a:solidFill>
                <a:effectLst/>
                <a:latin typeface="quote-cjk-patch"/>
              </a:rPr>
              <a:t>3 tiến trình</a:t>
            </a:r>
            <a:r>
              <a:rPr lang="vi-VN" b="0" i="0" dirty="0">
                <a:solidFill>
                  <a:srgbClr val="0F1115"/>
                </a:solidFill>
                <a:effectLst/>
                <a:latin typeface="quote-cjk-patch"/>
              </a:rPr>
              <a:t>.</a:t>
            </a:r>
          </a:p>
          <a:p>
            <a:pPr algn="l">
              <a:buFont typeface="Arial" panose="020B0604020202020204" pitchFamily="34" charset="0"/>
              <a:buChar char="•"/>
            </a:pPr>
            <a:r>
              <a:rPr lang="vi-VN" b="0" i="0" dirty="0">
                <a:solidFill>
                  <a:srgbClr val="0F1115"/>
                </a:solidFill>
                <a:effectLst/>
                <a:latin typeface="quote-cjk-patch"/>
              </a:rPr>
              <a:t>Chỉ cần </a:t>
            </a:r>
            <a:r>
              <a:rPr lang="vi-VN" b="1" i="0" dirty="0">
                <a:solidFill>
                  <a:srgbClr val="0F1115"/>
                </a:solidFill>
                <a:effectLst/>
                <a:latin typeface="quote-cjk-patch"/>
              </a:rPr>
              <a:t>một tiến trình lỗi</a:t>
            </a:r>
            <a:r>
              <a:rPr lang="vi-VN" b="0" i="0" dirty="0">
                <a:solidFill>
                  <a:srgbClr val="0F1115"/>
                </a:solidFill>
                <a:effectLst/>
                <a:latin typeface="quote-cjk-patch"/>
              </a:rPr>
              <a:t> (Primary hoặc Backup), các tiến trình không lỗi còn lại sẽ nhận được </a:t>
            </a:r>
            <a:r>
              <a:rPr lang="vi-VN" b="1" i="0" dirty="0">
                <a:solidFill>
                  <a:srgbClr val="0F1115"/>
                </a:solidFill>
                <a:effectLst/>
                <a:latin typeface="quote-cjk-patch"/>
              </a:rPr>
              <a:t>các tập giá trị mâu thuẫn</a:t>
            </a:r>
            <a:r>
              <a:rPr lang="vi-VN" b="0" i="0" dirty="0">
                <a:solidFill>
                  <a:srgbClr val="0F1115"/>
                </a:solidFill>
                <a:effectLst/>
                <a:latin typeface="quote-cjk-patch"/>
              </a:rPr>
              <a:t> {T, F}.</a:t>
            </a:r>
          </a:p>
          <a:p>
            <a:pPr algn="l">
              <a:buFont typeface="Arial" panose="020B0604020202020204" pitchFamily="34" charset="0"/>
              <a:buChar char="•"/>
            </a:pPr>
            <a:r>
              <a:rPr lang="vi-VN" b="0" i="0" dirty="0">
                <a:solidFill>
                  <a:srgbClr val="0F1115"/>
                </a:solidFill>
                <a:effectLst/>
                <a:latin typeface="quote-cjk-patch"/>
              </a:rPr>
              <a:t>Các tiến trình không lỗi </a:t>
            </a:r>
            <a:r>
              <a:rPr lang="vi-VN" b="1" i="0" dirty="0">
                <a:solidFill>
                  <a:srgbClr val="0F1115"/>
                </a:solidFill>
                <a:effectLst/>
                <a:latin typeface="quote-cjk-patch"/>
              </a:rPr>
              <a:t>không thể đạt đa số</a:t>
            </a:r>
            <a:r>
              <a:rPr lang="vi-VN" b="0" i="0" dirty="0">
                <a:solidFill>
                  <a:srgbClr val="0F1115"/>
                </a:solidFill>
                <a:effectLst/>
                <a:latin typeface="quote-cjk-patch"/>
              </a:rPr>
              <a:t> (vì chỉ có 2 tiến trình không lỗi, không đủ để biểu quyết khi có xung đột).</a:t>
            </a:r>
          </a:p>
          <a:p>
            <a:pPr algn="l">
              <a:buFont typeface="Arial" panose="020B0604020202020204" pitchFamily="34" charset="0"/>
              <a:buChar char="•"/>
            </a:pPr>
            <a:r>
              <a:rPr lang="vi-VN" b="0" i="0" dirty="0">
                <a:solidFill>
                  <a:srgbClr val="0F1115"/>
                </a:solidFill>
                <a:effectLst/>
                <a:latin typeface="quote-cjk-patch"/>
              </a:rPr>
              <a:t>Do đó, </a:t>
            </a:r>
            <a:r>
              <a:rPr lang="vi-VN" b="1" i="0" dirty="0">
                <a:solidFill>
                  <a:srgbClr val="0F1115"/>
                </a:solidFill>
                <a:effectLst/>
                <a:latin typeface="quote-cjk-patch"/>
              </a:rPr>
              <a:t>BA1</a:t>
            </a:r>
            <a:r>
              <a:rPr lang="vi-VN" b="0" i="0" dirty="0">
                <a:solidFill>
                  <a:srgbClr val="0F1115"/>
                </a:solidFill>
                <a:effectLst/>
                <a:latin typeface="quote-cjk-patch"/>
              </a:rPr>
              <a:t> (mọi Backup không lỗi lưu cùng giá trị) và </a:t>
            </a:r>
            <a:r>
              <a:rPr lang="vi-VN" b="1" i="0" dirty="0">
                <a:solidFill>
                  <a:srgbClr val="0F1115"/>
                </a:solidFill>
                <a:effectLst/>
                <a:latin typeface="quote-cjk-patch"/>
              </a:rPr>
              <a:t>BA2</a:t>
            </a:r>
            <a:r>
              <a:rPr lang="vi-VN" b="0" i="0" dirty="0">
                <a:solidFill>
                  <a:srgbClr val="0F1115"/>
                </a:solidFill>
                <a:effectLst/>
                <a:latin typeface="quote-cjk-patch"/>
              </a:rPr>
              <a:t> (Backup lưu đúng giá trị nếu Primary không lỗi) đều </a:t>
            </a:r>
            <a:r>
              <a:rPr lang="vi-VN" b="1" i="0" dirty="0">
                <a:solidFill>
                  <a:srgbClr val="0F1115"/>
                </a:solidFill>
                <a:effectLst/>
                <a:latin typeface="quote-cjk-patch"/>
              </a:rPr>
              <a:t>không thể đảm bảo</a:t>
            </a:r>
            <a:r>
              <a:rPr lang="vi-VN" b="0" i="0" dirty="0">
                <a:solidFill>
                  <a:srgbClr val="0F1115"/>
                </a:solidFill>
                <a:effectLst/>
                <a:latin typeface="quote-cjk-patch"/>
              </a:rPr>
              <a:t>.</a:t>
            </a:r>
          </a:p>
          <a:p>
            <a:pPr algn="l"/>
            <a:r>
              <a:rPr lang="vi-VN" b="1" dirty="0">
                <a:solidFill>
                  <a:srgbClr val="0F1115"/>
                </a:solidFill>
                <a:effectLst/>
                <a:latin typeface="quote-cjk-patch"/>
              </a:rPr>
              <a:t>Kết luận</a:t>
            </a:r>
          </a:p>
          <a:p>
            <a:pPr algn="l"/>
            <a:r>
              <a:rPr lang="vi-VN" b="0" i="0" dirty="0">
                <a:solidFill>
                  <a:srgbClr val="0F1115"/>
                </a:solidFill>
                <a:effectLst/>
                <a:latin typeface="quote-cjk-patch"/>
              </a:rPr>
              <a:t>Slide minh họa rõ ràng tại sao </a:t>
            </a:r>
            <a:r>
              <a:rPr lang="vi-VN" b="1" i="0" dirty="0">
                <a:solidFill>
                  <a:srgbClr val="0F1115"/>
                </a:solidFill>
                <a:effectLst/>
                <a:latin typeface="quote-cjk-patch"/>
              </a:rPr>
              <a:t>3k tiến trình là không đủ</a:t>
            </a:r>
            <a:r>
              <a:rPr lang="vi-VN" b="0" i="0" dirty="0">
                <a:solidFill>
                  <a:srgbClr val="0F1115"/>
                </a:solidFill>
                <a:effectLst/>
                <a:latin typeface="quote-cjk-patch"/>
              </a:rPr>
              <a:t>. Để chịu được </a:t>
            </a:r>
            <a:r>
              <a:rPr lang="vi-VN" b="1" i="0" dirty="0">
                <a:solidFill>
                  <a:srgbClr val="0F1115"/>
                </a:solidFill>
                <a:effectLst/>
                <a:latin typeface="quote-cjk-patch"/>
              </a:rPr>
              <a:t>k lỗi tùy ý</a:t>
            </a:r>
            <a:r>
              <a:rPr lang="vi-VN" b="0" i="0" dirty="0">
                <a:solidFill>
                  <a:srgbClr val="0F1115"/>
                </a:solidFill>
                <a:effectLst/>
                <a:latin typeface="quote-cjk-patch"/>
              </a:rPr>
              <a:t>, hệ thống cần </a:t>
            </a:r>
            <a:r>
              <a:rPr lang="vi-VN" b="1" i="0" dirty="0">
                <a:solidFill>
                  <a:srgbClr val="0F1115"/>
                </a:solidFill>
                <a:effectLst/>
                <a:latin typeface="quote-cjk-patch"/>
              </a:rPr>
              <a:t>ít nhất 3k+1 tiến trình</a:t>
            </a:r>
            <a:r>
              <a:rPr lang="vi-VN" b="0" i="0" dirty="0">
                <a:solidFill>
                  <a:srgbClr val="0F1115"/>
                </a:solidFill>
                <a:effectLst/>
                <a:latin typeface="quote-cjk-patch"/>
              </a:rPr>
              <a:t> nhằm đảm bảo rằng:</a:t>
            </a:r>
          </a:p>
          <a:p>
            <a:pPr algn="l">
              <a:buFont typeface="Arial" panose="020B0604020202020204" pitchFamily="34" charset="0"/>
              <a:buChar char="•"/>
            </a:pPr>
            <a:r>
              <a:rPr lang="vi-VN" b="0" i="0" dirty="0">
                <a:solidFill>
                  <a:srgbClr val="0F1115"/>
                </a:solidFill>
                <a:effectLst/>
                <a:latin typeface="quote-cjk-patch"/>
              </a:rPr>
              <a:t>Số tiến trình không lỗi (</a:t>
            </a:r>
            <a:r>
              <a:rPr lang="vi-VN" b="1" i="0" dirty="0">
                <a:solidFill>
                  <a:srgbClr val="0F1115"/>
                </a:solidFill>
                <a:effectLst/>
                <a:latin typeface="quote-cjk-patch"/>
              </a:rPr>
              <a:t>2k+1</a:t>
            </a:r>
            <a:r>
              <a:rPr lang="vi-VN" b="0" i="0" dirty="0">
                <a:solidFill>
                  <a:srgbClr val="0F1115"/>
                </a:solidFill>
                <a:effectLst/>
                <a:latin typeface="quote-cjk-patch"/>
              </a:rPr>
              <a:t>) luôn chiếm đa số.</a:t>
            </a:r>
          </a:p>
          <a:p>
            <a:pPr algn="l">
              <a:buFont typeface="Arial" panose="020B0604020202020204" pitchFamily="34" charset="0"/>
              <a:buChar char="•"/>
            </a:pPr>
            <a:r>
              <a:rPr lang="vi-VN" b="0" i="0" dirty="0">
                <a:solidFill>
                  <a:srgbClr val="0F1115"/>
                </a:solidFill>
                <a:effectLst/>
                <a:latin typeface="quote-cjk-patch"/>
              </a:rPr>
              <a:t>Các tiến trình không lỗi có thể </a:t>
            </a:r>
            <a:r>
              <a:rPr lang="vi-VN" b="1" i="0" dirty="0">
                <a:solidFill>
                  <a:srgbClr val="0F1115"/>
                </a:solidFill>
                <a:effectLst/>
                <a:latin typeface="quote-cjk-patch"/>
              </a:rPr>
              <a:t>đạt đồng thuận thông qua biểu quyết đa số</a:t>
            </a:r>
            <a:r>
              <a:rPr lang="vi-VN" b="0" i="0" dirty="0">
                <a:solidFill>
                  <a:srgbClr val="0F1115"/>
                </a:solidFill>
                <a:effectLst/>
                <a:latin typeface="quote-cjk-patch"/>
              </a:rPr>
              <a:t> sau hai vòng giao tiếp.</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48</a:t>
            </a:fld>
            <a:endParaRPr lang="en-US"/>
          </a:p>
        </p:txBody>
      </p:sp>
    </p:spTree>
    <p:extLst>
      <p:ext uri="{BB962C8B-B14F-4D97-AF65-F5344CB8AC3E}">
        <p14:creationId xmlns:p14="http://schemas.microsoft.com/office/powerpoint/2010/main" val="12293226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“Why having 3k + 1 processes is enough”</a:t>
            </a:r>
            <a:r>
              <a:rPr lang="vi-VN" dirty="0"/>
              <a:t> — một trong những slide quan trọng nhất khi nói về </a:t>
            </a:r>
            <a:r>
              <a:rPr lang="vi-VN" b="1" dirty="0"/>
              <a:t>Byzantine Fault Tolerance (BFT)</a:t>
            </a:r>
            <a:r>
              <a:rPr lang="vi-VN" dirty="0"/>
              <a:t>.</a:t>
            </a:r>
          </a:p>
          <a:p>
            <a:endParaRPr lang="en-US" b="1" dirty="0"/>
          </a:p>
          <a:p>
            <a:r>
              <a:rPr lang="en-US" b="1" dirty="0"/>
              <a:t>1. </a:t>
            </a:r>
            <a:r>
              <a:rPr lang="vi-VN" b="1" dirty="0"/>
              <a:t>Mục tiêu của slide</a:t>
            </a:r>
          </a:p>
          <a:p>
            <a:r>
              <a:rPr lang="vi-VN" dirty="0"/>
              <a:t>Slide này muốn trả lời câu hỏi:</a:t>
            </a:r>
          </a:p>
          <a:p>
            <a:r>
              <a:rPr lang="vi-VN" b="1" dirty="0"/>
              <a:t>Tại sao để chịu được k Byzantine nodes (lỗi tùy ý), hệ thống cần ít nhất 3k + 1 tiến trình?</a:t>
            </a:r>
            <a:endParaRPr lang="vi-VN" dirty="0"/>
          </a:p>
          <a:p>
            <a:r>
              <a:rPr lang="vi-VN" dirty="0"/>
              <a:t>Hay:</a:t>
            </a:r>
          </a:p>
          <a:p>
            <a:pPr>
              <a:buFont typeface="Arial" panose="020B0604020202020204" pitchFamily="34" charset="0"/>
              <a:buChar char="•"/>
            </a:pPr>
            <a:r>
              <a:rPr lang="vi-VN" dirty="0"/>
              <a:t>Nếu </a:t>
            </a:r>
            <a:r>
              <a:rPr lang="vi-VN" b="1" dirty="0"/>
              <a:t>k = 1</a:t>
            </a:r>
            <a:r>
              <a:rPr lang="vi-VN" dirty="0"/>
              <a:t> tiến trình bị Byzantine → cần </a:t>
            </a:r>
            <a:r>
              <a:rPr lang="vi-VN" b="1" dirty="0"/>
              <a:t>3·1 + 1 = 4 tiến trình</a:t>
            </a:r>
            <a:r>
              <a:rPr lang="vi-VN" dirty="0"/>
              <a:t> để đạt đồng thuận.</a:t>
            </a:r>
          </a:p>
          <a:p>
            <a:r>
              <a:rPr lang="vi-VN" dirty="0"/>
              <a:t>Slide minh họa trường hợp </a:t>
            </a:r>
            <a:r>
              <a:rPr lang="vi-VN" b="1" dirty="0"/>
              <a:t>k = 1</a:t>
            </a:r>
            <a:r>
              <a:rPr lang="vi-VN" dirty="0"/>
              <a:t>, nghĩa là</a:t>
            </a:r>
            <a:br>
              <a:rPr lang="vi-VN" dirty="0"/>
            </a:br>
            <a:r>
              <a:rPr lang="en-US" dirty="0"/>
              <a:t>=&gt;</a:t>
            </a:r>
            <a:r>
              <a:rPr lang="vi-VN" dirty="0"/>
              <a:t> hệ thống có 4 tiến trình: </a:t>
            </a:r>
            <a:r>
              <a:rPr lang="vi-VN" b="1" dirty="0"/>
              <a:t>P, B1, B2, B3</a:t>
            </a:r>
            <a:br>
              <a:rPr lang="vi-VN" dirty="0"/>
            </a:br>
            <a:r>
              <a:rPr lang="en-US" dirty="0"/>
              <a:t>=&gt;</a:t>
            </a:r>
            <a:r>
              <a:rPr lang="vi-VN" dirty="0"/>
              <a:t> trong đó </a:t>
            </a:r>
            <a:r>
              <a:rPr lang="vi-VN" b="1" dirty="0"/>
              <a:t>1 tiến trình bị Byzantine</a:t>
            </a:r>
            <a:r>
              <a:rPr lang="vi-VN" dirty="0"/>
              <a:t> (tô màu xám).</a:t>
            </a:r>
          </a:p>
          <a:p>
            <a:endParaRPr lang="en-US" b="1" dirty="0"/>
          </a:p>
          <a:p>
            <a:r>
              <a:rPr lang="en-US" b="1" dirty="0"/>
              <a:t>2. </a:t>
            </a:r>
            <a:r>
              <a:rPr lang="vi-VN" b="1" dirty="0"/>
              <a:t>Ý tưởng cốt lõi</a:t>
            </a:r>
          </a:p>
          <a:p>
            <a:r>
              <a:rPr lang="vi-VN" dirty="0"/>
              <a:t>Để đạt được consensus dưới arbitrary failures, mỗi tiến trình cần:</a:t>
            </a:r>
          </a:p>
          <a:p>
            <a:r>
              <a:rPr lang="en-US" b="1" dirty="0"/>
              <a:t>-</a:t>
            </a:r>
            <a:r>
              <a:rPr lang="vi-VN" b="1" dirty="0"/>
              <a:t> Thu thập thông tin từ tất cả các tiến trình khác</a:t>
            </a:r>
          </a:p>
          <a:p>
            <a:r>
              <a:rPr lang="vi-VN" dirty="0"/>
              <a:t>và</a:t>
            </a:r>
          </a:p>
          <a:p>
            <a:r>
              <a:rPr lang="en-US" b="1" dirty="0"/>
              <a:t>-</a:t>
            </a:r>
            <a:r>
              <a:rPr lang="vi-VN" b="1" dirty="0"/>
              <a:t> So sánh chéo (“cross-check”) các thông điệp</a:t>
            </a:r>
          </a:p>
          <a:p>
            <a:r>
              <a:rPr lang="vi-VN" dirty="0"/>
              <a:t>để phát hiện sự không đồng nhất mà node Byzantine tạo ra.</a:t>
            </a:r>
          </a:p>
          <a:p>
            <a:r>
              <a:rPr lang="vi-VN" dirty="0"/>
              <a:t>Muốn làm được điều này, số node </a:t>
            </a:r>
            <a:r>
              <a:rPr lang="vi-VN" b="1" dirty="0"/>
              <a:t>trung thực</a:t>
            </a:r>
            <a:r>
              <a:rPr lang="vi-VN" dirty="0"/>
              <a:t> phải </a:t>
            </a:r>
            <a:r>
              <a:rPr lang="vi-VN" b="1" dirty="0"/>
              <a:t>áp đảo</a:t>
            </a:r>
            <a:r>
              <a:rPr lang="vi-VN" dirty="0"/>
              <a:t> số node Byzantine.</a:t>
            </a:r>
          </a:p>
          <a:p>
            <a:r>
              <a:rPr lang="vi-VN" dirty="0"/>
              <a:t>Tức là:</a:t>
            </a:r>
          </a:p>
          <a:p>
            <a:pPr>
              <a:buFont typeface="Arial" panose="020B0604020202020204" pitchFamily="34" charset="0"/>
              <a:buChar char="•"/>
            </a:pPr>
            <a:r>
              <a:rPr lang="vi-VN" dirty="0"/>
              <a:t>Số node đúng </a:t>
            </a:r>
            <a:r>
              <a:rPr lang="vi-VN" b="1" dirty="0"/>
              <a:t>&gt;</a:t>
            </a:r>
            <a:r>
              <a:rPr lang="vi-VN" dirty="0"/>
              <a:t> số node lỗi </a:t>
            </a:r>
            <a:r>
              <a:rPr lang="en-US" dirty="0"/>
              <a:t>🤝</a:t>
            </a:r>
          </a:p>
          <a:p>
            <a:pPr>
              <a:buFont typeface="Arial" panose="020B0604020202020204" pitchFamily="34" charset="0"/>
              <a:buChar char="•"/>
            </a:pPr>
            <a:r>
              <a:rPr lang="vi-VN" dirty="0"/>
              <a:t>Nếu không: node lỗi có thể gây rối và khiến các node đúng không phân biệt nổi điều gì là đúng.</a:t>
            </a:r>
          </a:p>
          <a:p>
            <a:endParaRPr lang="en-US" b="1" dirty="0"/>
          </a:p>
          <a:p>
            <a:r>
              <a:rPr lang="en-US" b="1" dirty="0"/>
              <a:t>3. </a:t>
            </a:r>
            <a:r>
              <a:rPr lang="vi-VN" b="1" dirty="0"/>
              <a:t>Điều kiện đủ cho Byzantine consensus</a:t>
            </a:r>
          </a:p>
          <a:p>
            <a:r>
              <a:rPr lang="vi-VN" dirty="0"/>
              <a:t>Muốn phát hiện và loại bỏ sự bất nhất, ta cần:</a:t>
            </a:r>
          </a:p>
          <a:p>
            <a:r>
              <a:rPr lang="vi-VN" b="1" dirty="0"/>
              <a:t>2k + 1 thông điệp giống nhau từ node đúng</a:t>
            </a:r>
            <a:br>
              <a:rPr lang="vi-VN" dirty="0"/>
            </a:br>
            <a:r>
              <a:rPr lang="vi-VN" dirty="0"/>
              <a:t>để “đánh bại” tối đa </a:t>
            </a:r>
            <a:r>
              <a:rPr lang="vi-VN" b="1" dirty="0"/>
              <a:t>k thông điệp sai từ node Byzantine</a:t>
            </a:r>
            <a:r>
              <a:rPr lang="vi-VN" dirty="0"/>
              <a:t>.</a:t>
            </a:r>
          </a:p>
          <a:p>
            <a:r>
              <a:rPr lang="vi-VN" dirty="0"/>
              <a:t>Vì hệ thống có tổng</a:t>
            </a:r>
            <a:br>
              <a:rPr lang="vi-VN" dirty="0"/>
            </a:br>
            <a:r>
              <a:rPr lang="en-US" dirty="0"/>
              <a:t>-</a:t>
            </a:r>
            <a:r>
              <a:rPr lang="vi-VN" dirty="0"/>
              <a:t> </a:t>
            </a:r>
            <a:r>
              <a:rPr lang="vi-VN" b="1" dirty="0"/>
              <a:t>3k + 1 node</a:t>
            </a:r>
            <a:br>
              <a:rPr lang="vi-VN" dirty="0"/>
            </a:br>
            <a:r>
              <a:rPr lang="en-US" dirty="0"/>
              <a:t>-</a:t>
            </a:r>
            <a:r>
              <a:rPr lang="vi-VN" dirty="0"/>
              <a:t> số node đúng = </a:t>
            </a:r>
            <a:r>
              <a:rPr lang="vi-VN" b="1" dirty="0"/>
              <a:t>3k + 1 − k = 2k + 1</a:t>
            </a:r>
            <a:endParaRPr lang="vi-VN" dirty="0"/>
          </a:p>
          <a:p>
            <a:r>
              <a:rPr lang="en-US" dirty="0"/>
              <a:t>=&gt;</a:t>
            </a:r>
            <a:r>
              <a:rPr lang="vi-VN" dirty="0"/>
              <a:t> đủ để đánh bại k node sai.</a:t>
            </a:r>
          </a:p>
          <a:p>
            <a:endParaRPr lang="en-US" b="1" dirty="0"/>
          </a:p>
          <a:p>
            <a:r>
              <a:rPr lang="en-US" b="1" dirty="0"/>
              <a:t>4. </a:t>
            </a:r>
            <a:r>
              <a:rPr lang="vi-VN" b="1" dirty="0"/>
              <a:t>Giải thích hình minh họa trong slide</a:t>
            </a:r>
          </a:p>
          <a:p>
            <a:r>
              <a:rPr lang="vi-VN" b="1" dirty="0"/>
              <a:t>(1) Hình trái — P bị lỗi Byzantine</a:t>
            </a:r>
          </a:p>
          <a:p>
            <a:r>
              <a:rPr lang="vi-VN" dirty="0"/>
              <a:t>P là Byzantine → gửi:</a:t>
            </a:r>
          </a:p>
          <a:p>
            <a:pPr>
              <a:buFont typeface="Arial" panose="020B0604020202020204" pitchFamily="34" charset="0"/>
              <a:buChar char="•"/>
            </a:pPr>
            <a:r>
              <a:rPr lang="vi-VN" b="1" dirty="0"/>
              <a:t>T</a:t>
            </a:r>
            <a:r>
              <a:rPr lang="vi-VN" dirty="0"/>
              <a:t> cho B1</a:t>
            </a:r>
          </a:p>
          <a:p>
            <a:pPr>
              <a:buFont typeface="Arial" panose="020B0604020202020204" pitchFamily="34" charset="0"/>
              <a:buChar char="•"/>
            </a:pPr>
            <a:r>
              <a:rPr lang="vi-VN" b="1" dirty="0"/>
              <a:t>F</a:t>
            </a:r>
            <a:r>
              <a:rPr lang="vi-VN" dirty="0"/>
              <a:t> cho B2</a:t>
            </a:r>
          </a:p>
          <a:p>
            <a:pPr>
              <a:buFont typeface="Arial" panose="020B0604020202020204" pitchFamily="34" charset="0"/>
              <a:buChar char="•"/>
            </a:pPr>
            <a:r>
              <a:rPr lang="vi-VN" b="1" dirty="0"/>
              <a:t>T</a:t>
            </a:r>
            <a:r>
              <a:rPr lang="vi-VN" dirty="0"/>
              <a:t> cho B3</a:t>
            </a:r>
          </a:p>
          <a:p>
            <a:r>
              <a:rPr lang="vi-VN" dirty="0"/>
              <a:t>→ B1, B2, B3 sẽ trao đổi lại thông điệp với nhau (vòng thứ hai).</a:t>
            </a:r>
          </a:p>
          <a:p>
            <a:r>
              <a:rPr lang="vi-VN" dirty="0"/>
              <a:t>Kết quả:</a:t>
            </a:r>
          </a:p>
          <a:p>
            <a:r>
              <a:rPr lang="vi-VN" b="1" dirty="0"/>
              <a:t>B1 nhận được:</a:t>
            </a:r>
          </a:p>
          <a:p>
            <a:pPr>
              <a:buFont typeface="Arial" panose="020B0604020202020204" pitchFamily="34" charset="0"/>
              <a:buChar char="•"/>
            </a:pPr>
            <a:r>
              <a:rPr lang="vi-VN" dirty="0"/>
              <a:t>từ P: T</a:t>
            </a:r>
          </a:p>
          <a:p>
            <a:pPr>
              <a:buFont typeface="Arial" panose="020B0604020202020204" pitchFamily="34" charset="0"/>
              <a:buChar char="•"/>
            </a:pPr>
            <a:r>
              <a:rPr lang="vi-VN" dirty="0"/>
              <a:t>từ B2: T (vì B2 forwarding T từ B1)</a:t>
            </a:r>
          </a:p>
          <a:p>
            <a:pPr>
              <a:buFont typeface="Arial" panose="020B0604020202020204" pitchFamily="34" charset="0"/>
              <a:buChar char="•"/>
            </a:pPr>
            <a:r>
              <a:rPr lang="vi-VN" dirty="0"/>
              <a:t>từ B3: F (B3 forwarding F từ B2)</a:t>
            </a:r>
            <a:br>
              <a:rPr lang="vi-VN" dirty="0"/>
            </a:br>
            <a:r>
              <a:rPr lang="vi-VN" dirty="0"/>
              <a:t>→ tập thông tin là: </a:t>
            </a:r>
            <a:r>
              <a:rPr lang="vi-VN" b="1" dirty="0"/>
              <a:t>{T, {T, F}}</a:t>
            </a:r>
            <a:endParaRPr lang="vi-VN" dirty="0"/>
          </a:p>
          <a:p>
            <a:r>
              <a:rPr lang="vi-VN" b="1" dirty="0"/>
              <a:t>B2 nhận được:</a:t>
            </a:r>
          </a:p>
          <a:p>
            <a:pPr>
              <a:buFont typeface="Arial" panose="020B0604020202020204" pitchFamily="34" charset="0"/>
              <a:buChar char="•"/>
            </a:pPr>
            <a:r>
              <a:rPr lang="vi-VN" dirty="0"/>
              <a:t>từ P: F</a:t>
            </a:r>
          </a:p>
          <a:p>
            <a:pPr>
              <a:buFont typeface="Arial" panose="020B0604020202020204" pitchFamily="34" charset="0"/>
              <a:buChar char="•"/>
            </a:pPr>
            <a:r>
              <a:rPr lang="vi-VN" dirty="0"/>
              <a:t>từ B1: T</a:t>
            </a:r>
          </a:p>
          <a:p>
            <a:pPr>
              <a:buFont typeface="Arial" panose="020B0604020202020204" pitchFamily="34" charset="0"/>
              <a:buChar char="•"/>
            </a:pPr>
            <a:r>
              <a:rPr lang="vi-VN" dirty="0"/>
              <a:t>từ B3: T</a:t>
            </a:r>
            <a:br>
              <a:rPr lang="vi-VN" dirty="0"/>
            </a:br>
            <a:r>
              <a:rPr lang="vi-VN" dirty="0"/>
              <a:t>→ tập thông tin: </a:t>
            </a:r>
            <a:r>
              <a:rPr lang="vi-VN" b="1" dirty="0"/>
              <a:t>{F, {T, T}}</a:t>
            </a:r>
            <a:endParaRPr lang="vi-VN" dirty="0"/>
          </a:p>
          <a:p>
            <a:r>
              <a:rPr lang="vi-VN" b="1" dirty="0"/>
              <a:t>B3 nhận được:</a:t>
            </a:r>
          </a:p>
          <a:p>
            <a:pPr>
              <a:buFont typeface="Arial" panose="020B0604020202020204" pitchFamily="34" charset="0"/>
              <a:buChar char="•"/>
            </a:pPr>
            <a:r>
              <a:rPr lang="vi-VN" dirty="0"/>
              <a:t>từ P: T</a:t>
            </a:r>
          </a:p>
          <a:p>
            <a:pPr>
              <a:buFont typeface="Arial" panose="020B0604020202020204" pitchFamily="34" charset="0"/>
              <a:buChar char="•"/>
            </a:pPr>
            <a:r>
              <a:rPr lang="vi-VN" dirty="0"/>
              <a:t>từ B1: T</a:t>
            </a:r>
          </a:p>
          <a:p>
            <a:pPr>
              <a:buFont typeface="Arial" panose="020B0604020202020204" pitchFamily="34" charset="0"/>
              <a:buChar char="•"/>
            </a:pPr>
            <a:r>
              <a:rPr lang="vi-VN" dirty="0"/>
              <a:t>từ B2: F</a:t>
            </a:r>
            <a:br>
              <a:rPr lang="vi-VN" dirty="0"/>
            </a:br>
            <a:r>
              <a:rPr lang="vi-VN" dirty="0"/>
              <a:t>→ tập thông tin: </a:t>
            </a:r>
            <a:r>
              <a:rPr lang="vi-VN" b="1" dirty="0"/>
              <a:t>{T, {T, F}}</a:t>
            </a:r>
            <a:endParaRPr lang="vi-VN" dirty="0"/>
          </a:p>
          <a:p>
            <a:r>
              <a:rPr lang="en-US" dirty="0"/>
              <a:t>=&gt; </a:t>
            </a:r>
            <a:r>
              <a:rPr lang="vi-VN" b="1" dirty="0"/>
              <a:t>Mặc dù P gửi thông tin không nhất quán, các node B1–B2–B3 vẫn có đủ thông tin để kết luận rằng P sai.</a:t>
            </a:r>
            <a:endParaRPr lang="vi-VN" dirty="0"/>
          </a:p>
          <a:p>
            <a:r>
              <a:rPr lang="en-US" dirty="0"/>
              <a:t>=&gt;</a:t>
            </a:r>
            <a:r>
              <a:rPr lang="vi-VN" dirty="0"/>
              <a:t> Byzantine bị “vạch mặt”.</a:t>
            </a:r>
          </a:p>
          <a:p>
            <a:r>
              <a:rPr lang="vi-VN" b="1" dirty="0"/>
              <a:t>(2) Hình phải — B2 bị lỗi Byzantine</a:t>
            </a:r>
          </a:p>
          <a:p>
            <a:r>
              <a:rPr lang="vi-VN" dirty="0"/>
              <a:t>Lúc này </a:t>
            </a:r>
            <a:r>
              <a:rPr lang="vi-VN" b="1" dirty="0"/>
              <a:t>B2</a:t>
            </a:r>
            <a:r>
              <a:rPr lang="vi-VN" dirty="0"/>
              <a:t> gửi thông tin khác nhau cho:</a:t>
            </a:r>
          </a:p>
          <a:p>
            <a:pPr>
              <a:buFont typeface="Arial" panose="020B0604020202020204" pitchFamily="34" charset="0"/>
              <a:buChar char="•"/>
            </a:pPr>
            <a:r>
              <a:rPr lang="vi-VN" dirty="0"/>
              <a:t>P</a:t>
            </a:r>
          </a:p>
          <a:p>
            <a:pPr>
              <a:buFont typeface="Arial" panose="020B0604020202020204" pitchFamily="34" charset="0"/>
              <a:buChar char="•"/>
            </a:pPr>
            <a:r>
              <a:rPr lang="vi-VN" dirty="0"/>
              <a:t>B1</a:t>
            </a:r>
          </a:p>
          <a:p>
            <a:pPr>
              <a:buFont typeface="Arial" panose="020B0604020202020204" pitchFamily="34" charset="0"/>
              <a:buChar char="•"/>
            </a:pPr>
            <a:r>
              <a:rPr lang="vi-VN" dirty="0"/>
              <a:t>B3</a:t>
            </a:r>
          </a:p>
          <a:p>
            <a:r>
              <a:rPr lang="vi-VN" dirty="0"/>
              <a:t>P, B1, B3 sẽ so sánh thông tin qua 2 vòng:</a:t>
            </a:r>
          </a:p>
          <a:p>
            <a:pPr>
              <a:buFont typeface="Arial" panose="020B0604020202020204" pitchFamily="34" charset="0"/>
              <a:buChar char="•"/>
            </a:pPr>
            <a:r>
              <a:rPr lang="vi-VN" dirty="0"/>
              <a:t>Nhận thông điệp đầu</a:t>
            </a:r>
          </a:p>
          <a:p>
            <a:pPr>
              <a:buFont typeface="Arial" panose="020B0604020202020204" pitchFamily="34" charset="0"/>
              <a:buChar char="•"/>
            </a:pPr>
            <a:r>
              <a:rPr lang="vi-VN" dirty="0"/>
              <a:t>Cross-check thông điệp</a:t>
            </a:r>
          </a:p>
          <a:p>
            <a:r>
              <a:rPr lang="vi-VN" dirty="0"/>
              <a:t>Kết quả cuối cùng:</a:t>
            </a:r>
          </a:p>
          <a:p>
            <a:r>
              <a:rPr lang="vi-VN" dirty="0"/>
              <a:t>B1, B3, P đều thấy rằng </a:t>
            </a:r>
            <a:r>
              <a:rPr lang="vi-VN" b="1" dirty="0"/>
              <a:t>chỉ B2 tạo ra bất nhất</a:t>
            </a:r>
            <a:r>
              <a:rPr lang="vi-VN" dirty="0"/>
              <a:t> → B2 bị cô lập.</a:t>
            </a:r>
          </a:p>
          <a:p>
            <a:endParaRPr lang="en-US" b="1" dirty="0"/>
          </a:p>
          <a:p>
            <a:r>
              <a:rPr lang="en-US" b="1" dirty="0"/>
              <a:t>5. </a:t>
            </a:r>
            <a:r>
              <a:rPr lang="vi-VN" b="1" dirty="0"/>
              <a:t>Kết luận từ hai hình</a:t>
            </a:r>
          </a:p>
          <a:p>
            <a:r>
              <a:rPr lang="vi-VN" dirty="0"/>
              <a:t>Dù </a:t>
            </a:r>
            <a:r>
              <a:rPr lang="vi-VN" b="1" dirty="0"/>
              <a:t>P</a:t>
            </a:r>
            <a:r>
              <a:rPr lang="vi-VN" dirty="0"/>
              <a:t> (leader) lỗi hay </a:t>
            </a:r>
            <a:r>
              <a:rPr lang="vi-VN" b="1" dirty="0"/>
              <a:t>một backup B2</a:t>
            </a:r>
            <a:r>
              <a:rPr lang="vi-VN" dirty="0"/>
              <a:t> lỗi:</a:t>
            </a:r>
          </a:p>
          <a:p>
            <a:r>
              <a:rPr lang="vi-VN" dirty="0"/>
              <a:t>→ Các tiến trình trung thực vẫn có:</a:t>
            </a:r>
          </a:p>
          <a:p>
            <a:pPr>
              <a:buFont typeface="Arial" panose="020B0604020202020204" pitchFamily="34" charset="0"/>
              <a:buChar char="•"/>
            </a:pPr>
            <a:r>
              <a:rPr lang="vi-VN" b="1" dirty="0"/>
              <a:t>2 nguồn đúng và 1 nguồn sai</a:t>
            </a:r>
            <a:endParaRPr lang="vi-VN" dirty="0"/>
          </a:p>
          <a:p>
            <a:pPr>
              <a:buFont typeface="Arial" panose="020B0604020202020204" pitchFamily="34" charset="0"/>
              <a:buChar char="•"/>
            </a:pPr>
            <a:r>
              <a:rPr lang="vi-VN" dirty="0"/>
              <a:t>Tổng nguồn = 3 = 3k</a:t>
            </a:r>
          </a:p>
          <a:p>
            <a:pPr>
              <a:buFont typeface="Arial" panose="020B0604020202020204" pitchFamily="34" charset="0"/>
              <a:buChar char="•"/>
            </a:pPr>
            <a:r>
              <a:rPr lang="vi-VN" dirty="0"/>
              <a:t>Số đúng = 2 &gt; 1 = số sai</a:t>
            </a:r>
          </a:p>
          <a:p>
            <a:r>
              <a:rPr lang="en-US" dirty="0"/>
              <a:t>=&gt;</a:t>
            </a:r>
            <a:r>
              <a:rPr lang="vi-VN" dirty="0"/>
              <a:t> </a:t>
            </a:r>
            <a:r>
              <a:rPr lang="vi-VN" b="1" dirty="0"/>
              <a:t>Đủ để áp đảo Byzantine và đạt được consensus.</a:t>
            </a:r>
            <a:endParaRPr lang="vi-VN" dirty="0"/>
          </a:p>
          <a:p>
            <a:endParaRPr lang="en-US" b="1" dirty="0"/>
          </a:p>
          <a:p>
            <a:r>
              <a:rPr lang="en-US" b="1" dirty="0"/>
              <a:t>6. </a:t>
            </a:r>
            <a:r>
              <a:rPr lang="vi-VN" b="1" dirty="0"/>
              <a:t>Kết luận của slide</a:t>
            </a:r>
          </a:p>
          <a:p>
            <a:r>
              <a:rPr lang="vi-VN" dirty="0"/>
              <a:t>Để chịu được </a:t>
            </a:r>
            <a:r>
              <a:rPr lang="vi-VN" b="1" dirty="0"/>
              <a:t>k Byzantine failures</a:t>
            </a:r>
            <a:r>
              <a:rPr lang="vi-VN" dirty="0"/>
              <a:t>, hệ thống cần:</a:t>
            </a:r>
          </a:p>
          <a:p>
            <a:r>
              <a:rPr lang="vi-VN" b="1" dirty="0"/>
              <a:t>3k + 1 tiến trình (node)</a:t>
            </a:r>
            <a:br>
              <a:rPr lang="vi-VN" dirty="0"/>
            </a:br>
            <a:r>
              <a:rPr lang="vi-VN" b="1" dirty="0"/>
              <a:t>2k + 1 node đúng để bầu chọn / xác nhận / biểu quyết</a:t>
            </a:r>
            <a:endParaRPr lang="vi-VN" dirty="0"/>
          </a:p>
          <a:p>
            <a:r>
              <a:rPr lang="vi-VN" dirty="0"/>
              <a:t>Đây chính là nguyên lý nền tảng của:</a:t>
            </a:r>
          </a:p>
          <a:p>
            <a:pPr>
              <a:buFont typeface="Arial" panose="020B0604020202020204" pitchFamily="34" charset="0"/>
              <a:buChar char="•"/>
            </a:pPr>
            <a:r>
              <a:rPr lang="vi-VN" dirty="0"/>
              <a:t>Byzantine Generals Problem</a:t>
            </a:r>
          </a:p>
          <a:p>
            <a:pPr>
              <a:buFont typeface="Arial" panose="020B0604020202020204" pitchFamily="34" charset="0"/>
              <a:buChar char="•"/>
            </a:pPr>
            <a:r>
              <a:rPr lang="vi-VN" dirty="0"/>
              <a:t>PBFT (Practical Byzantine Fault Tolerance)</a:t>
            </a:r>
          </a:p>
          <a:p>
            <a:pPr>
              <a:buFont typeface="Arial" panose="020B0604020202020204" pitchFamily="34" charset="0"/>
              <a:buChar char="•"/>
            </a:pPr>
            <a:r>
              <a:rPr lang="vi-VN" dirty="0"/>
              <a:t>Blockchain protocols (như Tendermint, Cosmos, HotStuff, Libra)</a:t>
            </a:r>
          </a:p>
          <a:p>
            <a:endParaRPr lang="en-US" b="1" dirty="0"/>
          </a:p>
          <a:p>
            <a:r>
              <a:rPr lang="vi-VN" b="1" dirty="0"/>
              <a:t>TÓM TẮT</a:t>
            </a:r>
            <a:r>
              <a:rPr lang="en-US" b="1" dirty="0"/>
              <a:t>:</a:t>
            </a:r>
            <a:endParaRPr lang="vi-VN" b="1" dirty="0"/>
          </a:p>
          <a:p>
            <a:pPr>
              <a:buFont typeface="Arial" panose="020B0604020202020204" pitchFamily="34" charset="0"/>
              <a:buChar char="•"/>
            </a:pPr>
            <a:r>
              <a:rPr lang="vi-VN" dirty="0"/>
              <a:t>Byzantine process có thể gửi thông tin khác nhau cho mỗi tiến trình.</a:t>
            </a:r>
          </a:p>
          <a:p>
            <a:pPr>
              <a:buFont typeface="Arial" panose="020B0604020202020204" pitchFamily="34" charset="0"/>
              <a:buChar char="•"/>
            </a:pPr>
            <a:r>
              <a:rPr lang="vi-VN" dirty="0"/>
              <a:t>Để phát hiện sự sai khác, các node phải gửi lại thông tin cho nhau.</a:t>
            </a:r>
          </a:p>
          <a:p>
            <a:pPr>
              <a:buFont typeface="Arial" panose="020B0604020202020204" pitchFamily="34" charset="0"/>
              <a:buChar char="•"/>
            </a:pPr>
            <a:r>
              <a:rPr lang="vi-VN" dirty="0"/>
              <a:t>Khi có 4 node (3k+1), nếu 1 node Byzantine → còn 3 node đúng.</a:t>
            </a:r>
          </a:p>
          <a:p>
            <a:pPr>
              <a:buFont typeface="Arial" panose="020B0604020202020204" pitchFamily="34" charset="0"/>
              <a:buChar char="•"/>
            </a:pPr>
            <a:r>
              <a:rPr lang="vi-VN" dirty="0"/>
              <a:t>3 node đúng luôn áp đảo 1 node Byzantine.</a:t>
            </a:r>
          </a:p>
          <a:p>
            <a:pPr>
              <a:buFont typeface="Arial" panose="020B0604020202020204" pitchFamily="34" charset="0"/>
              <a:buChar char="•"/>
            </a:pPr>
            <a:r>
              <a:rPr lang="vi-VN" dirty="0"/>
              <a:t>Vì vậy </a:t>
            </a:r>
            <a:r>
              <a:rPr lang="vi-VN" b="1" dirty="0"/>
              <a:t>3k+1 là số lượng tối thiểu để đạt consensus dưới arbitrary failures</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49</a:t>
            </a:fld>
            <a:endParaRPr lang="en-US"/>
          </a:p>
        </p:txBody>
      </p:sp>
    </p:spTree>
    <p:extLst>
      <p:ext uri="{BB962C8B-B14F-4D97-AF65-F5344CB8AC3E}">
        <p14:creationId xmlns:p14="http://schemas.microsoft.com/office/powerpoint/2010/main" val="38494152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“Realizing fault tolerance”</a:t>
            </a:r>
            <a:r>
              <a:rPr lang="vi-VN" dirty="0"/>
              <a:t>.</a:t>
            </a:r>
          </a:p>
          <a:p>
            <a:endParaRPr lang="en-US" b="1" dirty="0"/>
          </a:p>
          <a:p>
            <a:r>
              <a:rPr lang="en-US" b="1" dirty="0"/>
              <a:t>1. </a:t>
            </a:r>
            <a:r>
              <a:rPr lang="vi-VN" b="1" dirty="0"/>
              <a:t>Mục tiêu của slide</a:t>
            </a:r>
          </a:p>
          <a:p>
            <a:r>
              <a:rPr lang="vi-VN" dirty="0"/>
              <a:t>Slide này mở đầu cho một phần rất quan trọng:</a:t>
            </a:r>
            <a:br>
              <a:rPr lang="vi-VN" dirty="0"/>
            </a:br>
            <a:r>
              <a:rPr lang="vi-VN" b="1" dirty="0"/>
              <a:t>giới hạn của việc xây dựng hệ thống chịu lỗi (fault-tolerant systems)</a:t>
            </a:r>
            <a:r>
              <a:rPr lang="vi-VN" dirty="0"/>
              <a:t>.</a:t>
            </a:r>
          </a:p>
          <a:p>
            <a:r>
              <a:rPr lang="vi-VN" dirty="0"/>
              <a:t>Ở các slide trước, bạn đã học cách thiết kế:</a:t>
            </a:r>
          </a:p>
          <a:p>
            <a:pPr>
              <a:buFont typeface="Arial" panose="020B0604020202020204" pitchFamily="34" charset="0"/>
              <a:buChar char="•"/>
            </a:pPr>
            <a:r>
              <a:rPr lang="vi-VN" dirty="0"/>
              <a:t>replication</a:t>
            </a:r>
          </a:p>
          <a:p>
            <a:pPr>
              <a:buFont typeface="Arial" panose="020B0604020202020204" pitchFamily="34" charset="0"/>
              <a:buChar char="•"/>
            </a:pPr>
            <a:r>
              <a:rPr lang="vi-VN" dirty="0"/>
              <a:t>leader election</a:t>
            </a:r>
          </a:p>
          <a:p>
            <a:pPr>
              <a:buFont typeface="Arial" panose="020B0604020202020204" pitchFamily="34" charset="0"/>
              <a:buChar char="•"/>
            </a:pPr>
            <a:r>
              <a:rPr lang="vi-VN" dirty="0"/>
              <a:t>consensus (Paxos, flooding, k-fault tolerant groups)</a:t>
            </a:r>
          </a:p>
          <a:p>
            <a:r>
              <a:rPr lang="vi-VN" dirty="0"/>
              <a:t>Nhưng câu hỏi quan trọng hơn là:</a:t>
            </a:r>
          </a:p>
          <a:p>
            <a:r>
              <a:rPr lang="vi-VN" b="1" dirty="0"/>
              <a:t>Liệu mọi hệ thống đều có thể thiết kế để chịu lỗi hay không?</a:t>
            </a:r>
            <a:br>
              <a:rPr lang="vi-VN" b="1" dirty="0"/>
            </a:br>
            <a:r>
              <a:rPr lang="vi-VN" b="1" dirty="0"/>
              <a:t>Nếu có giới hạn, những giới hạn đó là gì?</a:t>
            </a:r>
            <a:endParaRPr lang="vi-VN" dirty="0"/>
          </a:p>
          <a:p>
            <a:endParaRPr lang="en-US" b="1" dirty="0"/>
          </a:p>
          <a:p>
            <a:r>
              <a:rPr lang="en-US" b="1" dirty="0"/>
              <a:t>2. </a:t>
            </a:r>
            <a:r>
              <a:rPr lang="vi-VN" b="1" dirty="0"/>
              <a:t>Observation – Nhận xét chính của slide</a:t>
            </a:r>
          </a:p>
          <a:p>
            <a:r>
              <a:rPr lang="vi-VN" b="1" dirty="0"/>
              <a:t>Các tiến trình trong nhóm chịu lỗi (fault-tolerant process group) phải liên tục trao đổi thông tin để giữ tính nhất quán.</a:t>
            </a:r>
            <a:endParaRPr lang="vi-VN" dirty="0"/>
          </a:p>
          <a:p>
            <a:r>
              <a:rPr lang="vi-VN" dirty="0"/>
              <a:t>Điều này có một số hệ quả quan trọng:</a:t>
            </a:r>
          </a:p>
          <a:p>
            <a:r>
              <a:rPr lang="en-US" b="1" dirty="0"/>
              <a:t>-</a:t>
            </a:r>
            <a:r>
              <a:rPr lang="vi-VN" b="1" dirty="0"/>
              <a:t> Hệ thống bị "tightly coupled"</a:t>
            </a:r>
          </a:p>
          <a:p>
            <a:r>
              <a:rPr lang="vi-VN" dirty="0"/>
              <a:t>Tức là các node phải:</a:t>
            </a:r>
          </a:p>
          <a:p>
            <a:pPr>
              <a:buFont typeface="Arial" panose="020B0604020202020204" pitchFamily="34" charset="0"/>
              <a:buChar char="•"/>
            </a:pPr>
            <a:r>
              <a:rPr lang="vi-VN" dirty="0"/>
              <a:t>liên tục giao tiếp</a:t>
            </a:r>
          </a:p>
          <a:p>
            <a:pPr>
              <a:buFont typeface="Arial" panose="020B0604020202020204" pitchFamily="34" charset="0"/>
              <a:buChar char="•"/>
            </a:pPr>
            <a:r>
              <a:rPr lang="vi-VN" dirty="0"/>
              <a:t>phát hiện lỗi</a:t>
            </a:r>
          </a:p>
          <a:p>
            <a:pPr>
              <a:buFont typeface="Arial" panose="020B0604020202020204" pitchFamily="34" charset="0"/>
              <a:buChar char="•"/>
            </a:pPr>
            <a:r>
              <a:rPr lang="vi-VN" dirty="0"/>
              <a:t>đồng bộ trạng thái</a:t>
            </a:r>
          </a:p>
          <a:p>
            <a:pPr>
              <a:buFont typeface="Arial" panose="020B0604020202020204" pitchFamily="34" charset="0"/>
              <a:buChar char="•"/>
            </a:pPr>
            <a:r>
              <a:rPr lang="vi-VN" dirty="0"/>
              <a:t>đồng thuận trước khi thực thi</a:t>
            </a:r>
          </a:p>
          <a:p>
            <a:pPr>
              <a:buFont typeface="Arial" panose="020B0604020202020204" pitchFamily="34" charset="0"/>
              <a:buChar char="•"/>
            </a:pPr>
            <a:r>
              <a:rPr lang="vi-VN" dirty="0"/>
              <a:t>cross-check các thông điệp</a:t>
            </a:r>
          </a:p>
          <a:p>
            <a:r>
              <a:rPr lang="vi-VN" dirty="0"/>
              <a:t>Khi số lượng node tăng, chi phí giao tiếp tăng theo cấp số nhân ⇒ </a:t>
            </a:r>
            <a:r>
              <a:rPr lang="vi-VN" b="1" dirty="0"/>
              <a:t>giảm hiệu năng</a:t>
            </a:r>
            <a:r>
              <a:rPr lang="vi-VN" dirty="0"/>
              <a:t>.</a:t>
            </a:r>
          </a:p>
          <a:p>
            <a:r>
              <a:rPr lang="en-US" b="1" dirty="0"/>
              <a:t>-</a:t>
            </a:r>
            <a:r>
              <a:rPr lang="vi-VN" b="1" dirty="0"/>
              <a:t> Có những tình huống mà chịu lỗi là </a:t>
            </a:r>
            <a:r>
              <a:rPr lang="vi-VN" b="1" i="1" dirty="0"/>
              <a:t>bất khả thi</a:t>
            </a:r>
            <a:endParaRPr lang="vi-VN" b="1" dirty="0"/>
          </a:p>
          <a:p>
            <a:r>
              <a:rPr lang="vi-VN" dirty="0"/>
              <a:t>Ví dụ:</a:t>
            </a:r>
          </a:p>
          <a:p>
            <a:pPr>
              <a:buFont typeface="Arial" panose="020B0604020202020204" pitchFamily="34" charset="0"/>
              <a:buChar char="•"/>
            </a:pPr>
            <a:r>
              <a:rPr lang="vi-VN" dirty="0"/>
              <a:t>mạng quá chậm (asynchronous system hoàn toàn)</a:t>
            </a:r>
          </a:p>
          <a:p>
            <a:pPr>
              <a:buFont typeface="Arial" panose="020B0604020202020204" pitchFamily="34" charset="0"/>
              <a:buChar char="•"/>
            </a:pPr>
            <a:r>
              <a:rPr lang="vi-VN" dirty="0"/>
              <a:t>message delay không thể đoán</a:t>
            </a:r>
          </a:p>
          <a:p>
            <a:pPr>
              <a:buFont typeface="Arial" panose="020B0604020202020204" pitchFamily="34" charset="0"/>
              <a:buChar char="•"/>
            </a:pPr>
            <a:r>
              <a:rPr lang="vi-VN" dirty="0"/>
              <a:t>lỗi Byzantine nhưng nhóm nhỏ</a:t>
            </a:r>
          </a:p>
          <a:p>
            <a:pPr>
              <a:buFont typeface="Arial" panose="020B0604020202020204" pitchFamily="34" charset="0"/>
              <a:buChar char="•"/>
            </a:pPr>
            <a:r>
              <a:rPr lang="vi-VN" dirty="0"/>
              <a:t>phân hoạch mạng (network partitioning)</a:t>
            </a:r>
          </a:p>
          <a:p>
            <a:r>
              <a:rPr lang="vi-VN" i="1" dirty="0"/>
              <a:t>Đây chính là nền tảng cho các định lý quan trọng như:</a:t>
            </a:r>
          </a:p>
          <a:p>
            <a:pPr>
              <a:buFont typeface="Arial" panose="020B0604020202020204" pitchFamily="34" charset="0"/>
              <a:buChar char="•"/>
            </a:pPr>
            <a:r>
              <a:rPr lang="vi-VN" b="1" i="1" dirty="0"/>
              <a:t>FLP Impossibility</a:t>
            </a:r>
            <a:endParaRPr lang="vi-VN" i="1" dirty="0"/>
          </a:p>
          <a:p>
            <a:pPr>
              <a:buFont typeface="Arial" panose="020B0604020202020204" pitchFamily="34" charset="0"/>
              <a:buChar char="•"/>
            </a:pPr>
            <a:r>
              <a:rPr lang="vi-VN" b="1" i="1" dirty="0"/>
              <a:t>CAP Theorem</a:t>
            </a:r>
            <a:endParaRPr lang="vi-VN" i="1" dirty="0"/>
          </a:p>
          <a:p>
            <a:pPr>
              <a:buFont typeface="Arial" panose="020B0604020202020204" pitchFamily="34" charset="0"/>
              <a:buChar char="•"/>
            </a:pPr>
            <a:r>
              <a:rPr lang="vi-VN" b="1" i="1" dirty="0"/>
              <a:t>Blocking vs Non-blocking consensus</a:t>
            </a:r>
            <a:endParaRPr lang="vi-VN" i="1" dirty="0"/>
          </a:p>
          <a:p>
            <a:endParaRPr lang="en-US" b="1" dirty="0"/>
          </a:p>
          <a:p>
            <a:r>
              <a:rPr lang="en-US" b="1" dirty="0"/>
              <a:t>3. </a:t>
            </a:r>
            <a:r>
              <a:rPr lang="vi-VN" b="1" dirty="0"/>
              <a:t>Question – Những câu hỏi mà slide đặt ra</a:t>
            </a:r>
          </a:p>
          <a:p>
            <a:r>
              <a:rPr lang="vi-VN" dirty="0"/>
              <a:t>Slide đưa ra hai câu hỏi mở nhằm dẫn vào các slide tiếp theo:</a:t>
            </a:r>
          </a:p>
          <a:p>
            <a:r>
              <a:rPr lang="en-US" b="1" dirty="0"/>
              <a:t>(1) </a:t>
            </a:r>
            <a:r>
              <a:rPr lang="vi-VN" b="1" dirty="0"/>
              <a:t>What is needed to enable reaching consensus?</a:t>
            </a:r>
          </a:p>
          <a:p>
            <a:r>
              <a:rPr lang="vi-VN" dirty="0"/>
              <a:t>Tức là:</a:t>
            </a:r>
          </a:p>
          <a:p>
            <a:r>
              <a:rPr lang="vi-VN" b="1" dirty="0"/>
              <a:t>Muốn có consensus, hệ thống cần thỏa những điều kiện nào?</a:t>
            </a:r>
            <a:endParaRPr lang="vi-VN" dirty="0"/>
          </a:p>
          <a:p>
            <a:r>
              <a:rPr lang="vi-VN" dirty="0"/>
              <a:t>Câu hỏi này dẫn đến việc nghiên cứu:</a:t>
            </a:r>
          </a:p>
          <a:p>
            <a:pPr>
              <a:buFont typeface="Arial" panose="020B0604020202020204" pitchFamily="34" charset="0"/>
              <a:buChar char="•"/>
            </a:pPr>
            <a:r>
              <a:rPr lang="vi-VN" dirty="0"/>
              <a:t>các giả định về thời gian (timing assumptions)</a:t>
            </a:r>
          </a:p>
          <a:p>
            <a:pPr>
              <a:buFont typeface="Arial" panose="020B0604020202020204" pitchFamily="34" charset="0"/>
              <a:buChar char="•"/>
            </a:pPr>
            <a:r>
              <a:rPr lang="vi-VN" dirty="0"/>
              <a:t>mô hình hệ thống (sync, async, partial sync)</a:t>
            </a:r>
          </a:p>
          <a:p>
            <a:pPr>
              <a:buFont typeface="Arial" panose="020B0604020202020204" pitchFamily="34" charset="0"/>
              <a:buChar char="•"/>
            </a:pPr>
            <a:r>
              <a:rPr lang="vi-VN" dirty="0"/>
              <a:t>loại failure (crash, omission, Byzantine)</a:t>
            </a:r>
          </a:p>
          <a:p>
            <a:pPr>
              <a:buFont typeface="Arial" panose="020B0604020202020204" pitchFamily="34" charset="0"/>
              <a:buChar char="•"/>
            </a:pPr>
            <a:r>
              <a:rPr lang="vi-VN" dirty="0"/>
              <a:t>số lượng tiến trình tối thiểu (3k+1 rule)</a:t>
            </a:r>
          </a:p>
          <a:p>
            <a:pPr>
              <a:buFont typeface="Arial" panose="020B0604020202020204" pitchFamily="34" charset="0"/>
              <a:buChar char="•"/>
            </a:pPr>
            <a:r>
              <a:rPr lang="vi-VN" dirty="0"/>
              <a:t>cơ chế thông điệp (loss, duplicate, reorder)</a:t>
            </a:r>
          </a:p>
          <a:p>
            <a:r>
              <a:rPr lang="vi-VN" dirty="0"/>
              <a:t>➡ Chính các điều kiện này quyết định xem </a:t>
            </a:r>
            <a:r>
              <a:rPr lang="vi-VN" b="1" dirty="0"/>
              <a:t>consensus có thể đạt được hay không</a:t>
            </a:r>
            <a:r>
              <a:rPr lang="vi-VN" dirty="0"/>
              <a:t>.</a:t>
            </a:r>
          </a:p>
          <a:p>
            <a:r>
              <a:rPr lang="en-US" b="1" dirty="0"/>
              <a:t>(2) </a:t>
            </a:r>
            <a:r>
              <a:rPr lang="vi-VN" b="1" dirty="0"/>
              <a:t>What happens when groups are partitioned?</a:t>
            </a:r>
          </a:p>
          <a:p>
            <a:r>
              <a:rPr lang="vi-VN" dirty="0"/>
              <a:t>Đây là câu hỏi dẫn trực tiếp đến:</a:t>
            </a:r>
          </a:p>
          <a:p>
            <a:pPr>
              <a:buFont typeface="Arial" panose="020B0604020202020204" pitchFamily="34" charset="0"/>
              <a:buChar char="•"/>
            </a:pPr>
            <a:r>
              <a:rPr lang="vi-VN" b="1" dirty="0"/>
              <a:t>network partition</a:t>
            </a:r>
            <a:endParaRPr lang="vi-VN" dirty="0"/>
          </a:p>
          <a:p>
            <a:pPr>
              <a:buFont typeface="Arial" panose="020B0604020202020204" pitchFamily="34" charset="0"/>
              <a:buChar char="•"/>
            </a:pPr>
            <a:r>
              <a:rPr lang="vi-VN" b="1" dirty="0"/>
              <a:t>CAP theorem</a:t>
            </a:r>
            <a:endParaRPr lang="vi-VN" dirty="0"/>
          </a:p>
          <a:p>
            <a:r>
              <a:rPr lang="vi-VN" dirty="0"/>
              <a:t>Trong phân hoạch mạng, nhóm tiến trình bị chia thành 2 hay nhiều nhóm, ví dụ:</a:t>
            </a:r>
          </a:p>
          <a:p>
            <a:pPr>
              <a:buFont typeface="Arial" panose="020B0604020202020204" pitchFamily="34" charset="0"/>
              <a:buChar char="•"/>
            </a:pPr>
            <a:r>
              <a:rPr lang="vi-VN" dirty="0"/>
              <a:t>Những node bên trái không còn thấy node bên phải.</a:t>
            </a:r>
          </a:p>
          <a:p>
            <a:pPr>
              <a:buFont typeface="Arial" panose="020B0604020202020204" pitchFamily="34" charset="0"/>
              <a:buChar char="•"/>
            </a:pPr>
            <a:r>
              <a:rPr lang="vi-VN" dirty="0"/>
              <a:t>Không thể biết group nào còn sống, group nào chết.</a:t>
            </a:r>
          </a:p>
          <a:p>
            <a:r>
              <a:rPr lang="vi-VN" dirty="0"/>
              <a:t>Khi đó:</a:t>
            </a:r>
          </a:p>
          <a:p>
            <a:r>
              <a:rPr lang="vi-VN" b="1" dirty="0"/>
              <a:t>Nếu không thể giao tiếp, thì không thể đồng thuận.</a:t>
            </a:r>
            <a:br>
              <a:rPr lang="vi-VN" b="1" dirty="0"/>
            </a:br>
            <a:r>
              <a:rPr lang="vi-VN" b="1" dirty="0"/>
              <a:t>Nếu không thể đồng thuận, thì không thể đảm bảo tính chịu lỗi.</a:t>
            </a:r>
            <a:endParaRPr lang="vi-VN" dirty="0"/>
          </a:p>
          <a:p>
            <a:r>
              <a:rPr lang="vi-VN" dirty="0"/>
              <a:t>Đây chính là "nút thắt" mà các hệ thống phân tán hiện đại đều phải đối mặt.</a:t>
            </a:r>
          </a:p>
          <a:p>
            <a:endParaRPr lang="en-US" b="1" dirty="0"/>
          </a:p>
          <a:p>
            <a:r>
              <a:rPr lang="en-US" b="1" dirty="0"/>
              <a:t>4. </a:t>
            </a:r>
            <a:r>
              <a:rPr lang="vi-VN" b="1" dirty="0"/>
              <a:t>Ý nghĩa lớn nhất của slide</a:t>
            </a:r>
          </a:p>
          <a:p>
            <a:r>
              <a:rPr lang="vi-VN" dirty="0"/>
              <a:t>Slide này muốn nhấn mạnh rằng:</a:t>
            </a:r>
          </a:p>
          <a:p>
            <a:r>
              <a:rPr lang="en-US" b="1" dirty="0"/>
              <a:t>=&gt;</a:t>
            </a:r>
            <a:r>
              <a:rPr lang="vi-VN" b="1" dirty="0"/>
              <a:t> Fault tolerance không phải lúc nào cũng khả thi</a:t>
            </a:r>
          </a:p>
          <a:p>
            <a:r>
              <a:rPr lang="vi-VN" dirty="0"/>
              <a:t>và</a:t>
            </a:r>
          </a:p>
          <a:p>
            <a:r>
              <a:rPr lang="en-US" b="1" dirty="0"/>
              <a:t>=&gt;</a:t>
            </a:r>
            <a:r>
              <a:rPr lang="vi-VN" b="1" dirty="0"/>
              <a:t> Để đạt được fault tolerance, cần những điều kiện chặt chẽ về mô hình hệ thống và loại lỗi.</a:t>
            </a:r>
          </a:p>
          <a:p>
            <a:r>
              <a:rPr lang="vi-VN" dirty="0"/>
              <a:t>Nếu thiếu một trong các điều kiện đó, hệ thống:</a:t>
            </a:r>
          </a:p>
          <a:p>
            <a:pPr>
              <a:buFont typeface="Arial" panose="020B0604020202020204" pitchFamily="34" charset="0"/>
              <a:buChar char="•"/>
            </a:pPr>
            <a:r>
              <a:rPr lang="vi-VN" dirty="0"/>
              <a:t>không thể đồng thuận</a:t>
            </a:r>
          </a:p>
          <a:p>
            <a:pPr>
              <a:buFont typeface="Arial" panose="020B0604020202020204" pitchFamily="34" charset="0"/>
              <a:buChar char="•"/>
            </a:pPr>
            <a:r>
              <a:rPr lang="vi-VN" dirty="0"/>
              <a:t>không thể phục hồi lỗi</a:t>
            </a:r>
          </a:p>
          <a:p>
            <a:pPr>
              <a:buFont typeface="Arial" panose="020B0604020202020204" pitchFamily="34" charset="0"/>
              <a:buChar char="•"/>
            </a:pPr>
            <a:r>
              <a:rPr lang="vi-VN" dirty="0"/>
              <a:t>không thể duy trì tính nhất quán</a:t>
            </a:r>
          </a:p>
          <a:p>
            <a:pPr>
              <a:buFont typeface="Arial" panose="020B0604020202020204" pitchFamily="34" charset="0"/>
              <a:buChar char="•"/>
            </a:pPr>
            <a:r>
              <a:rPr lang="vi-VN" dirty="0"/>
              <a:t>hoặc chi phí vận hành trở nên quá cao</a:t>
            </a:r>
          </a:p>
          <a:p>
            <a:endParaRPr lang="en-US" b="1" dirty="0"/>
          </a:p>
          <a:p>
            <a:r>
              <a:rPr lang="en-US" b="1" dirty="0"/>
              <a:t>5. </a:t>
            </a:r>
            <a:r>
              <a:rPr lang="vi-VN" b="1" dirty="0"/>
              <a:t>Tóm tắt slide (dành cho lớp học)</a:t>
            </a:r>
          </a:p>
          <a:p>
            <a:pPr>
              <a:buFont typeface="Arial" panose="020B0604020202020204" pitchFamily="34" charset="0"/>
              <a:buChar char="•"/>
            </a:pPr>
            <a:r>
              <a:rPr lang="vi-VN" dirty="0"/>
              <a:t>Các tiến trình trong một hệ thống chịu lỗi phải liên tục phối hợp với nhau → hiệu năng giảm.</a:t>
            </a:r>
          </a:p>
          <a:p>
            <a:pPr>
              <a:buFont typeface="Arial" panose="020B0604020202020204" pitchFamily="34" charset="0"/>
              <a:buChar char="•"/>
            </a:pPr>
            <a:r>
              <a:rPr lang="vi-VN" dirty="0"/>
              <a:t>Trong một số mô hình, việc chịu lỗi trở nên </a:t>
            </a:r>
            <a:r>
              <a:rPr lang="vi-VN" b="1" dirty="0"/>
              <a:t>bất khả thi</a:t>
            </a:r>
            <a:r>
              <a:rPr lang="vi-VN" dirty="0"/>
              <a:t>.</a:t>
            </a:r>
          </a:p>
          <a:p>
            <a:pPr>
              <a:buFont typeface="Arial" panose="020B0604020202020204" pitchFamily="34" charset="0"/>
              <a:buChar char="•"/>
            </a:pPr>
            <a:r>
              <a:rPr lang="vi-VN" dirty="0"/>
              <a:t>Cần đặt ra hai câu hỏi lớn:</a:t>
            </a:r>
          </a:p>
          <a:p>
            <a:pPr marL="742950" lvl="1" indent="-285750">
              <a:buFont typeface="Arial" panose="020B0604020202020204" pitchFamily="34" charset="0"/>
              <a:buChar char="•"/>
            </a:pPr>
            <a:r>
              <a:rPr lang="vi-VN" dirty="0"/>
              <a:t>Cần điều kiện gì để đạt consensus?</a:t>
            </a:r>
          </a:p>
          <a:p>
            <a:pPr marL="742950" lvl="1" indent="-285750">
              <a:buFont typeface="Arial" panose="020B0604020202020204" pitchFamily="34" charset="0"/>
              <a:buChar char="•"/>
            </a:pPr>
            <a:r>
              <a:rPr lang="vi-VN" dirty="0"/>
              <a:t>Điều gì xảy ra khi mạng bị phân hoạch?</a:t>
            </a:r>
          </a:p>
          <a:p>
            <a:r>
              <a:rPr lang="vi-VN" dirty="0"/>
              <a:t>➡ Các câu hỏi này dẫn đến </a:t>
            </a:r>
            <a:r>
              <a:rPr lang="vi-VN" b="1" dirty="0"/>
              <a:t>FLP impossibility</a:t>
            </a:r>
            <a:r>
              <a:rPr lang="vi-VN" dirty="0"/>
              <a:t> và </a:t>
            </a:r>
            <a:r>
              <a:rPr lang="vi-VN" b="1" dirty="0"/>
              <a:t>CAP theorem</a:t>
            </a:r>
            <a:r>
              <a:rPr lang="vi-VN" dirty="0"/>
              <a:t>, hai kết quả trung tâm trong hệ thống phân tán.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50</a:t>
            </a:fld>
            <a:endParaRPr lang="en-US"/>
          </a:p>
        </p:txBody>
      </p:sp>
    </p:spTree>
    <p:extLst>
      <p:ext uri="{BB962C8B-B14F-4D97-AF65-F5344CB8AC3E}">
        <p14:creationId xmlns:p14="http://schemas.microsoft.com/office/powerpoint/2010/main" val="19750114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“Distributed consensus: when can it be reached”</a:t>
            </a:r>
            <a:r>
              <a:rPr lang="vi-VN" dirty="0"/>
              <a:t>.</a:t>
            </a:r>
          </a:p>
          <a:p>
            <a:endParaRPr lang="en-US" b="1" dirty="0"/>
          </a:p>
          <a:p>
            <a:r>
              <a:rPr lang="en-US" b="1" dirty="0"/>
              <a:t>1. </a:t>
            </a:r>
            <a:r>
              <a:rPr lang="vi-VN" b="1" dirty="0"/>
              <a:t>Mục tiêu của slide</a:t>
            </a:r>
          </a:p>
          <a:p>
            <a:r>
              <a:rPr lang="vi-VN" dirty="0"/>
              <a:t>Slide này trả lời câu hỏi rất quan trọng:</a:t>
            </a:r>
          </a:p>
          <a:p>
            <a:r>
              <a:rPr lang="vi-VN" b="1" dirty="0"/>
              <a:t>Khi nào thì một hệ thống phân tán có thể đạt được consensus?</a:t>
            </a:r>
            <a:endParaRPr lang="vi-VN" dirty="0"/>
          </a:p>
          <a:p>
            <a:r>
              <a:rPr lang="vi-VN" dirty="0"/>
              <a:t>Kết luận quan trọng của slide là:</a:t>
            </a:r>
          </a:p>
          <a:p>
            <a:r>
              <a:rPr lang="vi-VN" b="1" dirty="0"/>
              <a:t>Chỉ một số mô hình hệ thống nhất định mới cho phép đạt consensus — nhiều mô hình còn lại là bất khả thi (impossible).</a:t>
            </a:r>
            <a:endParaRPr lang="vi-VN" dirty="0"/>
          </a:p>
          <a:p>
            <a:r>
              <a:rPr lang="vi-VN" dirty="0"/>
              <a:t>Slide đánh giá khả năng đạt consensus dựa trên ba yếu tố:</a:t>
            </a:r>
          </a:p>
          <a:p>
            <a:pPr>
              <a:buFont typeface="+mj-lt"/>
              <a:buAutoNum type="arabicPeriod"/>
            </a:pPr>
            <a:r>
              <a:rPr lang="vi-VN" b="1" dirty="0"/>
              <a:t>Hành vi tiến trình (Process behavior)</a:t>
            </a:r>
            <a:r>
              <a:rPr lang="vi-VN" dirty="0"/>
              <a:t> – synchronous hay asynchronous</a:t>
            </a:r>
          </a:p>
          <a:p>
            <a:pPr>
              <a:buFont typeface="+mj-lt"/>
              <a:buAutoNum type="arabicPeriod"/>
            </a:pPr>
            <a:r>
              <a:rPr lang="vi-VN" b="1" dirty="0"/>
              <a:t>Truyền thông (Message transmission)</a:t>
            </a:r>
            <a:r>
              <a:rPr lang="vi-VN" dirty="0"/>
              <a:t> – unicast hay multicast</a:t>
            </a:r>
          </a:p>
          <a:p>
            <a:pPr>
              <a:buFont typeface="+mj-lt"/>
              <a:buAutoNum type="arabicPeriod"/>
            </a:pPr>
            <a:r>
              <a:rPr lang="vi-VN" b="1" dirty="0"/>
              <a:t>Thứ tự thông điệp (Message ordering)</a:t>
            </a:r>
            <a:r>
              <a:rPr lang="vi-VN" dirty="0"/>
              <a:t> – ordered hay unordered</a:t>
            </a:r>
          </a:p>
          <a:p>
            <a:pPr>
              <a:buFont typeface="+mj-lt"/>
              <a:buAutoNum type="arabicPeriod"/>
            </a:pPr>
            <a:r>
              <a:rPr lang="vi-VN" b="1" dirty="0"/>
              <a:t>Độ trễ mạng (Communication delay)</a:t>
            </a:r>
            <a:r>
              <a:rPr lang="vi-VN" dirty="0"/>
              <a:t> – bounded hay unbounded</a:t>
            </a:r>
          </a:p>
          <a:p>
            <a:r>
              <a:rPr lang="vi-VN" dirty="0"/>
              <a:t>Các ô được đánh dấu </a:t>
            </a:r>
            <a:r>
              <a:rPr lang="vi-VN" b="1" dirty="0"/>
              <a:t>X</a:t>
            </a:r>
            <a:r>
              <a:rPr lang="vi-VN" dirty="0"/>
              <a:t> chính là </a:t>
            </a:r>
            <a:r>
              <a:rPr lang="vi-VN" b="1" dirty="0"/>
              <a:t>những mô hình cho phép đạt consensus</a:t>
            </a:r>
            <a:r>
              <a:rPr lang="vi-VN" dirty="0"/>
              <a:t>.</a:t>
            </a:r>
          </a:p>
          <a:p>
            <a:endParaRPr lang="en-US" b="1" dirty="0"/>
          </a:p>
          <a:p>
            <a:r>
              <a:rPr lang="en-US" b="1" dirty="0"/>
              <a:t>2. </a:t>
            </a:r>
            <a:r>
              <a:rPr lang="vi-VN" b="1" dirty="0"/>
              <a:t>Giải thích bảng trong slide</a:t>
            </a:r>
          </a:p>
          <a:p>
            <a:r>
              <a:rPr lang="vi-VN" b="1" dirty="0"/>
              <a:t>Trục 1: Process behavior</a:t>
            </a:r>
          </a:p>
          <a:p>
            <a:r>
              <a:rPr lang="en-US" b="1" dirty="0"/>
              <a:t>-</a:t>
            </a:r>
            <a:r>
              <a:rPr lang="vi-VN" b="1" dirty="0"/>
              <a:t> </a:t>
            </a:r>
            <a:r>
              <a:rPr lang="vi-VN" b="1" i="1" dirty="0"/>
              <a:t>Synchronous system</a:t>
            </a:r>
            <a:endParaRPr lang="vi-VN" b="1" dirty="0"/>
          </a:p>
          <a:p>
            <a:pPr>
              <a:buFont typeface="Arial" panose="020B0604020202020204" pitchFamily="34" charset="0"/>
              <a:buChar char="•"/>
            </a:pPr>
            <a:r>
              <a:rPr lang="vi-VN" dirty="0"/>
              <a:t>Có giới hạn (known bound) cho thời gian xử lý.</a:t>
            </a:r>
          </a:p>
          <a:p>
            <a:pPr>
              <a:buFont typeface="Arial" panose="020B0604020202020204" pitchFamily="34" charset="0"/>
              <a:buChar char="•"/>
            </a:pPr>
            <a:r>
              <a:rPr lang="vi-VN" dirty="0"/>
              <a:t>Có giới hạn cho thời gian truyền thông.</a:t>
            </a:r>
          </a:p>
          <a:p>
            <a:pPr>
              <a:buFont typeface="Arial" panose="020B0604020202020204" pitchFamily="34" charset="0"/>
              <a:buChar char="•"/>
            </a:pPr>
            <a:r>
              <a:rPr lang="vi-VN" dirty="0"/>
              <a:t>Dễ kiểm soát — dễ đạt consensus.</a:t>
            </a:r>
          </a:p>
          <a:p>
            <a:r>
              <a:rPr lang="en-US" b="1" dirty="0"/>
              <a:t>-</a:t>
            </a:r>
            <a:r>
              <a:rPr lang="vi-VN" b="1" dirty="0"/>
              <a:t> </a:t>
            </a:r>
            <a:r>
              <a:rPr lang="vi-VN" b="1" i="1" dirty="0"/>
              <a:t>Asynchronous system</a:t>
            </a:r>
            <a:endParaRPr lang="vi-VN" b="1" dirty="0"/>
          </a:p>
          <a:p>
            <a:pPr>
              <a:buFont typeface="Arial" panose="020B0604020202020204" pitchFamily="34" charset="0"/>
              <a:buChar char="•"/>
            </a:pPr>
            <a:r>
              <a:rPr lang="vi-VN" dirty="0"/>
              <a:t>Không có giới hạn thời gian xử lý.</a:t>
            </a:r>
          </a:p>
          <a:p>
            <a:pPr>
              <a:buFont typeface="Arial" panose="020B0604020202020204" pitchFamily="34" charset="0"/>
              <a:buChar char="•"/>
            </a:pPr>
            <a:r>
              <a:rPr lang="vi-VN" dirty="0"/>
              <a:t>Không có giới hạn thời gian truyền thông.</a:t>
            </a:r>
          </a:p>
          <a:p>
            <a:pPr>
              <a:buFont typeface="Arial" panose="020B0604020202020204" pitchFamily="34" charset="0"/>
              <a:buChar char="•"/>
            </a:pPr>
            <a:r>
              <a:rPr lang="vi-VN" dirty="0"/>
              <a:t>Khó phát hiện lỗi.</a:t>
            </a:r>
          </a:p>
          <a:p>
            <a:pPr>
              <a:buFont typeface="Arial" panose="020B0604020202020204" pitchFamily="34" charset="0"/>
              <a:buChar char="•"/>
            </a:pPr>
            <a:r>
              <a:rPr lang="vi-VN" dirty="0"/>
              <a:t>Đây chính là mô hình mà </a:t>
            </a:r>
            <a:r>
              <a:rPr lang="vi-VN" b="1" dirty="0"/>
              <a:t>FLP impossibility</a:t>
            </a:r>
            <a:r>
              <a:rPr lang="vi-VN" dirty="0"/>
              <a:t> nói rằng </a:t>
            </a:r>
            <a:r>
              <a:rPr lang="vi-VN" i="1" dirty="0"/>
              <a:t>không thể đảm bảo consensus khi có crash failure</a:t>
            </a:r>
            <a:r>
              <a:rPr lang="vi-VN" dirty="0"/>
              <a:t>.</a:t>
            </a:r>
          </a:p>
          <a:p>
            <a:r>
              <a:rPr lang="vi-VN" b="1" dirty="0"/>
              <a:t>Trục 2: Message transmission</a:t>
            </a:r>
          </a:p>
          <a:p>
            <a:r>
              <a:rPr lang="en-US" b="1" dirty="0"/>
              <a:t>-</a:t>
            </a:r>
            <a:r>
              <a:rPr lang="vi-VN" b="1" dirty="0"/>
              <a:t> </a:t>
            </a:r>
            <a:r>
              <a:rPr lang="vi-VN" b="1" i="1" dirty="0"/>
              <a:t>Unicast</a:t>
            </a:r>
            <a:r>
              <a:rPr lang="vi-VN" b="1" dirty="0"/>
              <a:t>: gửi 1-1</a:t>
            </a:r>
          </a:p>
          <a:p>
            <a:r>
              <a:rPr lang="en-US" b="1" dirty="0"/>
              <a:t>-</a:t>
            </a:r>
            <a:r>
              <a:rPr lang="vi-VN" b="1" dirty="0"/>
              <a:t> </a:t>
            </a:r>
            <a:r>
              <a:rPr lang="vi-VN" b="1" i="1" dirty="0"/>
              <a:t>Multicast</a:t>
            </a:r>
            <a:r>
              <a:rPr lang="vi-VN" b="1" dirty="0"/>
              <a:t>: gửi 1-n</a:t>
            </a:r>
          </a:p>
          <a:p>
            <a:r>
              <a:rPr lang="vi-VN" dirty="0"/>
              <a:t>Cả hai đều có thể sử dụng để đạt consensus — tuy nhiên multicast thường giúp đồng bộ nhanh hơn.</a:t>
            </a:r>
          </a:p>
          <a:p>
            <a:r>
              <a:rPr lang="vi-VN" b="1" dirty="0"/>
              <a:t>Trục 3: Message ordering</a:t>
            </a:r>
          </a:p>
          <a:p>
            <a:r>
              <a:rPr lang="en-US" b="1" dirty="0"/>
              <a:t>-</a:t>
            </a:r>
            <a:r>
              <a:rPr lang="vi-VN" b="1" dirty="0"/>
              <a:t> </a:t>
            </a:r>
            <a:r>
              <a:rPr lang="vi-VN" b="1" i="1" dirty="0"/>
              <a:t>Ordered messages</a:t>
            </a:r>
            <a:r>
              <a:rPr lang="vi-VN" b="1" dirty="0"/>
              <a:t>:</a:t>
            </a:r>
          </a:p>
          <a:p>
            <a:r>
              <a:rPr lang="vi-VN" dirty="0"/>
              <a:t>Hệ thống đảm bảo các node nhận thông điệp theo cùng thứ tự.</a:t>
            </a:r>
            <a:br>
              <a:rPr lang="vi-VN" dirty="0"/>
            </a:br>
            <a:r>
              <a:rPr lang="vi-VN" dirty="0"/>
              <a:t>→ Dễ đạt consensus hơn.</a:t>
            </a:r>
          </a:p>
          <a:p>
            <a:r>
              <a:rPr lang="en-US" b="1" dirty="0"/>
              <a:t>-</a:t>
            </a:r>
            <a:r>
              <a:rPr lang="vi-VN" b="1" dirty="0"/>
              <a:t> </a:t>
            </a:r>
            <a:r>
              <a:rPr lang="vi-VN" b="1" i="1" dirty="0"/>
              <a:t>Unordered messages</a:t>
            </a:r>
            <a:r>
              <a:rPr lang="vi-VN" b="1" dirty="0"/>
              <a:t>:</a:t>
            </a:r>
          </a:p>
          <a:p>
            <a:r>
              <a:rPr lang="vi-VN" dirty="0"/>
              <a:t>Mỗi node có thể nhận thông điệp theo thứ tự khác nhau.</a:t>
            </a:r>
            <a:br>
              <a:rPr lang="vi-VN" dirty="0"/>
            </a:br>
            <a:r>
              <a:rPr lang="vi-VN" dirty="0"/>
              <a:t>→ Phải dùng thêm thuật toán đánh số/versioning để đồng bộ.</a:t>
            </a:r>
          </a:p>
          <a:p>
            <a:r>
              <a:rPr lang="vi-VN" b="1" dirty="0"/>
              <a:t>Trục 4: Communication delay</a:t>
            </a:r>
          </a:p>
          <a:p>
            <a:r>
              <a:rPr lang="en-US" b="1" dirty="0"/>
              <a:t>-</a:t>
            </a:r>
            <a:r>
              <a:rPr lang="vi-VN" b="1" dirty="0"/>
              <a:t> </a:t>
            </a:r>
            <a:r>
              <a:rPr lang="vi-VN" b="1" i="1" dirty="0"/>
              <a:t>Bounded delay</a:t>
            </a:r>
            <a:r>
              <a:rPr lang="vi-VN" b="1" dirty="0"/>
              <a:t>:</a:t>
            </a:r>
          </a:p>
          <a:p>
            <a:r>
              <a:rPr lang="vi-VN" dirty="0"/>
              <a:t>Luôn biết thông điệp sẽ tới trong bao lâu → dễ kiểm soát lỗi → </a:t>
            </a:r>
            <a:r>
              <a:rPr lang="vi-VN" b="1" dirty="0"/>
              <a:t>consensus khả thi</a:t>
            </a:r>
            <a:r>
              <a:rPr lang="vi-VN" dirty="0"/>
              <a:t>.</a:t>
            </a:r>
          </a:p>
          <a:p>
            <a:r>
              <a:rPr lang="en-US" b="1" dirty="0"/>
              <a:t>-</a:t>
            </a:r>
            <a:r>
              <a:rPr lang="vi-VN" b="1" dirty="0"/>
              <a:t> </a:t>
            </a:r>
            <a:r>
              <a:rPr lang="vi-VN" b="1" i="1" dirty="0"/>
              <a:t>Unbounded delay</a:t>
            </a:r>
            <a:r>
              <a:rPr lang="vi-VN" b="1" dirty="0"/>
              <a:t>:</a:t>
            </a:r>
          </a:p>
          <a:p>
            <a:r>
              <a:rPr lang="vi-VN" dirty="0"/>
              <a:t>Không thể phân biệt:</a:t>
            </a:r>
          </a:p>
          <a:p>
            <a:pPr>
              <a:buFont typeface="Arial" panose="020B0604020202020204" pitchFamily="34" charset="0"/>
              <a:buChar char="•"/>
            </a:pPr>
            <a:r>
              <a:rPr lang="vi-VN" dirty="0"/>
              <a:t>tiến trình chậm</a:t>
            </a:r>
          </a:p>
          <a:p>
            <a:pPr>
              <a:buFont typeface="Arial" panose="020B0604020202020204" pitchFamily="34" charset="0"/>
              <a:buChar char="•"/>
            </a:pPr>
            <a:r>
              <a:rPr lang="vi-VN" dirty="0"/>
              <a:t>tiến trình bị lỗi</a:t>
            </a:r>
          </a:p>
          <a:p>
            <a:pPr>
              <a:buFont typeface="Arial" panose="020B0604020202020204" pitchFamily="34" charset="0"/>
              <a:buChar char="•"/>
            </a:pPr>
            <a:r>
              <a:rPr lang="vi-VN" dirty="0"/>
              <a:t>mạng bị nghẽn</a:t>
            </a:r>
          </a:p>
          <a:p>
            <a:r>
              <a:rPr lang="vi-VN" dirty="0"/>
              <a:t>→ Đây chính là </a:t>
            </a:r>
            <a:r>
              <a:rPr lang="vi-VN" b="1" dirty="0"/>
              <a:t>nguyên nhân khiến consensus có thể impossible</a:t>
            </a:r>
            <a:r>
              <a:rPr lang="vi-VN" dirty="0"/>
              <a:t>.</a:t>
            </a:r>
          </a:p>
          <a:p>
            <a:endParaRPr lang="en-US" b="1" dirty="0"/>
          </a:p>
          <a:p>
            <a:r>
              <a:rPr lang="en-US" b="1" dirty="0"/>
              <a:t>3. </a:t>
            </a:r>
            <a:r>
              <a:rPr lang="vi-VN" b="1" dirty="0"/>
              <a:t>Ý nghĩa của dấu X</a:t>
            </a:r>
          </a:p>
          <a:p>
            <a:r>
              <a:rPr lang="vi-VN" dirty="0"/>
              <a:t>Ô có </a:t>
            </a:r>
            <a:r>
              <a:rPr lang="vi-VN" b="1" dirty="0"/>
              <a:t>X</a:t>
            </a:r>
            <a:r>
              <a:rPr lang="vi-VN" dirty="0"/>
              <a:t> nghĩa là:</a:t>
            </a:r>
          </a:p>
          <a:p>
            <a:r>
              <a:rPr lang="vi-VN" b="1" dirty="0"/>
              <a:t>Trong mô hình đó, consensus có thể đạt được (về mặt lý thuyết).</a:t>
            </a:r>
            <a:endParaRPr lang="vi-VN" dirty="0"/>
          </a:p>
          <a:p>
            <a:r>
              <a:rPr lang="vi-VN" dirty="0"/>
              <a:t>Khi hệ thống:</a:t>
            </a:r>
          </a:p>
          <a:p>
            <a:pPr>
              <a:buFont typeface="Arial" panose="020B0604020202020204" pitchFamily="34" charset="0"/>
              <a:buChar char="•"/>
            </a:pPr>
            <a:r>
              <a:rPr lang="vi-VN" dirty="0"/>
              <a:t>Synchronous (đồng bộ),</a:t>
            </a:r>
          </a:p>
          <a:p>
            <a:pPr>
              <a:buFont typeface="Arial" panose="020B0604020202020204" pitchFamily="34" charset="0"/>
              <a:buChar char="•"/>
            </a:pPr>
            <a:r>
              <a:rPr lang="vi-VN" dirty="0"/>
              <a:t>Dù message ordering ordered hay unordered,</a:t>
            </a:r>
          </a:p>
          <a:p>
            <a:pPr>
              <a:buFont typeface="Arial" panose="020B0604020202020204" pitchFamily="34" charset="0"/>
              <a:buChar char="•"/>
            </a:pPr>
            <a:r>
              <a:rPr lang="vi-VN" dirty="0"/>
              <a:t>dù delay bounded hay unbounded,</a:t>
            </a:r>
            <a:br>
              <a:rPr lang="vi-VN" dirty="0"/>
            </a:br>
            <a:r>
              <a:rPr lang="vi-VN" dirty="0"/>
              <a:t>→ vẫn có thể đạt consensus bằng thuật toán phù hợp.</a:t>
            </a:r>
          </a:p>
          <a:p>
            <a:r>
              <a:rPr lang="vi-VN" dirty="0"/>
              <a:t>Ngược lại,</a:t>
            </a:r>
          </a:p>
          <a:p>
            <a:pPr>
              <a:buFont typeface="Arial" panose="020B0604020202020204" pitchFamily="34" charset="0"/>
              <a:buChar char="•"/>
            </a:pPr>
            <a:r>
              <a:rPr lang="vi-VN" b="1" dirty="0"/>
              <a:t>Asynchronous + Unbounded delay + unordered messages</a:t>
            </a:r>
            <a:br>
              <a:rPr lang="vi-VN" dirty="0"/>
            </a:br>
            <a:r>
              <a:rPr lang="vi-VN" dirty="0"/>
              <a:t>→ Không có X, vì </a:t>
            </a:r>
            <a:r>
              <a:rPr lang="vi-VN" b="1" dirty="0"/>
              <a:t>consensus là bất khả thi (FLP Impossibility)</a:t>
            </a:r>
            <a:r>
              <a:rPr lang="vi-VN" dirty="0"/>
              <a:t>.</a:t>
            </a:r>
          </a:p>
          <a:p>
            <a:endParaRPr lang="en-US" b="1" dirty="0"/>
          </a:p>
          <a:p>
            <a:r>
              <a:rPr lang="en-US" b="1" dirty="0"/>
              <a:t>4. </a:t>
            </a:r>
            <a:r>
              <a:rPr lang="vi-VN" b="1" i="1" dirty="0"/>
              <a:t>Formal requirements for consensus</a:t>
            </a:r>
            <a:endParaRPr lang="vi-VN" b="1" dirty="0"/>
          </a:p>
          <a:p>
            <a:r>
              <a:rPr lang="vi-VN" dirty="0"/>
              <a:t>Ba yêu cầu bắt buộc của một thuật toán consensus:</a:t>
            </a:r>
          </a:p>
          <a:p>
            <a:r>
              <a:rPr lang="en-US" b="1" dirty="0"/>
              <a:t>- </a:t>
            </a:r>
            <a:r>
              <a:rPr lang="vi-VN" b="1" dirty="0"/>
              <a:t>1. Agreement</a:t>
            </a:r>
          </a:p>
          <a:p>
            <a:r>
              <a:rPr lang="vi-VN" dirty="0"/>
              <a:t>Tất cả tiến trình không bị lỗi phải tạo ra cùng một output.</a:t>
            </a:r>
          </a:p>
          <a:p>
            <a:r>
              <a:rPr lang="en-US" b="1" dirty="0"/>
              <a:t>-</a:t>
            </a:r>
            <a:r>
              <a:rPr lang="vi-VN" b="1" dirty="0"/>
              <a:t> 2. Validity</a:t>
            </a:r>
          </a:p>
          <a:p>
            <a:r>
              <a:rPr lang="vi-VN" dirty="0"/>
              <a:t>Kết quả phải dựa trên một giá trị input hợp lệ (được một tiến trình đề xuất).</a:t>
            </a:r>
          </a:p>
          <a:p>
            <a:r>
              <a:rPr lang="en-US" b="1" dirty="0"/>
              <a:t>-</a:t>
            </a:r>
            <a:r>
              <a:rPr lang="vi-VN" b="1" dirty="0"/>
              <a:t> 3. Termination</a:t>
            </a:r>
          </a:p>
          <a:p>
            <a:r>
              <a:rPr lang="vi-VN" dirty="0"/>
              <a:t>Mọi tiến trình không bị lỗi cuối cùng phải đưa ra output.</a:t>
            </a:r>
          </a:p>
          <a:p>
            <a:r>
              <a:rPr lang="en-US" dirty="0"/>
              <a:t>=&gt;</a:t>
            </a:r>
            <a:r>
              <a:rPr lang="vi-VN" dirty="0"/>
              <a:t> Nếu một mô hình hệ thống không thể đảm bảo ba điều này → </a:t>
            </a:r>
            <a:r>
              <a:rPr lang="vi-VN" b="1" dirty="0"/>
              <a:t>consensus không thể đạt được</a:t>
            </a:r>
            <a:r>
              <a:rPr lang="vi-VN" dirty="0"/>
              <a:t>.</a:t>
            </a:r>
          </a:p>
          <a:p>
            <a:endParaRPr lang="en-US" b="1" dirty="0"/>
          </a:p>
          <a:p>
            <a:r>
              <a:rPr lang="en-US" b="1" dirty="0"/>
              <a:t>5. </a:t>
            </a:r>
            <a:r>
              <a:rPr lang="vi-VN" b="1" dirty="0"/>
              <a:t>Tóm tắt (dành cho sinh viên)</a:t>
            </a:r>
          </a:p>
          <a:p>
            <a:pPr>
              <a:buFont typeface="Arial" panose="020B0604020202020204" pitchFamily="34" charset="0"/>
              <a:buChar char="•"/>
            </a:pPr>
            <a:r>
              <a:rPr lang="vi-VN" dirty="0"/>
              <a:t>Consensus chỉ khả thi trong </a:t>
            </a:r>
            <a:r>
              <a:rPr lang="vi-VN" b="1" dirty="0"/>
              <a:t>một số mô hình hệ thống</a:t>
            </a:r>
            <a:r>
              <a:rPr lang="vi-VN" dirty="0"/>
              <a:t>.</a:t>
            </a:r>
          </a:p>
          <a:p>
            <a:pPr>
              <a:buFont typeface="Arial" panose="020B0604020202020204" pitchFamily="34" charset="0"/>
              <a:buChar char="•"/>
            </a:pPr>
            <a:r>
              <a:rPr lang="vi-VN" dirty="0"/>
              <a:t>Trong mô hình </a:t>
            </a:r>
            <a:r>
              <a:rPr lang="vi-VN" b="1" dirty="0"/>
              <a:t>asynchronous + unbounded delay</a:t>
            </a:r>
            <a:r>
              <a:rPr lang="vi-VN" dirty="0"/>
              <a:t>, consensus là </a:t>
            </a:r>
            <a:r>
              <a:rPr lang="vi-VN" b="1" dirty="0"/>
              <a:t>bất khả thi</a:t>
            </a:r>
            <a:r>
              <a:rPr lang="vi-VN" dirty="0"/>
              <a:t> khi có crash failure (định lý FLP).</a:t>
            </a:r>
          </a:p>
          <a:p>
            <a:pPr>
              <a:buFont typeface="Arial" panose="020B0604020202020204" pitchFamily="34" charset="0"/>
              <a:buChar char="•"/>
            </a:pPr>
            <a:r>
              <a:rPr lang="vi-VN" dirty="0"/>
              <a:t>Để có consensus, phải thỏa 3 điều kiện: </a:t>
            </a:r>
            <a:r>
              <a:rPr lang="vi-VN" b="1" dirty="0"/>
              <a:t>agreement, validity, termination</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51</a:t>
            </a:fld>
            <a:endParaRPr lang="en-US"/>
          </a:p>
        </p:txBody>
      </p:sp>
    </p:spTree>
    <p:extLst>
      <p:ext uri="{BB962C8B-B14F-4D97-AF65-F5344CB8AC3E}">
        <p14:creationId xmlns:p14="http://schemas.microsoft.com/office/powerpoint/2010/main" val="1067631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“Consistency, availability, and partitioning – CAP theorem”</a:t>
            </a:r>
            <a:r>
              <a:rPr lang="vi-VN" dirty="0"/>
              <a:t>.</a:t>
            </a:r>
          </a:p>
          <a:p>
            <a:r>
              <a:rPr lang="en-US" b="1" dirty="0"/>
              <a:t>1. </a:t>
            </a:r>
            <a:r>
              <a:rPr lang="vi-VN" b="1" dirty="0"/>
              <a:t>Ý nghĩa tổng quan của slide</a:t>
            </a:r>
          </a:p>
          <a:p>
            <a:r>
              <a:rPr lang="vi-VN" dirty="0"/>
              <a:t>Slide này giới thiệu </a:t>
            </a:r>
            <a:r>
              <a:rPr lang="vi-VN" b="1" dirty="0"/>
              <a:t>Định lý CAP</a:t>
            </a:r>
            <a:r>
              <a:rPr lang="vi-VN" dirty="0"/>
              <a:t>, một trong những nguyên lý quan trọng nhất trong hệ thống phân tán.</a:t>
            </a:r>
            <a:br>
              <a:rPr lang="vi-VN" dirty="0"/>
            </a:br>
            <a:r>
              <a:rPr lang="vi-VN" dirty="0"/>
              <a:t>CAP nói rằng:</a:t>
            </a:r>
          </a:p>
          <a:p>
            <a:r>
              <a:rPr lang="vi-VN" b="1" dirty="0"/>
              <a:t>Một hệ thống phân tán không thể đồng thời đảm bảo cả Consistency, Availability và Partition tolerance.</a:t>
            </a:r>
            <a:br>
              <a:rPr lang="vi-VN" b="1" dirty="0"/>
            </a:br>
            <a:r>
              <a:rPr lang="vi-VN" b="1" dirty="0"/>
              <a:t>Chỉ có thể đạt được </a:t>
            </a:r>
            <a:r>
              <a:rPr lang="vi-VN" b="1" i="1" dirty="0"/>
              <a:t>tối đa 2 trong 3</a:t>
            </a:r>
            <a:r>
              <a:rPr lang="vi-VN" b="1" dirty="0"/>
              <a:t> thuộc tính.</a:t>
            </a:r>
            <a:endParaRPr lang="vi-VN" dirty="0"/>
          </a:p>
          <a:p>
            <a:endParaRPr lang="en-US" b="1" dirty="0"/>
          </a:p>
          <a:p>
            <a:r>
              <a:rPr lang="en-US" b="1" dirty="0"/>
              <a:t>2. </a:t>
            </a:r>
            <a:r>
              <a:rPr lang="vi-VN" b="1" dirty="0"/>
              <a:t>Ba thuộc tính trong CAP theorem</a:t>
            </a:r>
          </a:p>
          <a:p>
            <a:r>
              <a:rPr lang="vi-VN" b="1" dirty="0"/>
              <a:t>C – Consistency (Nhất quán mạnh)</a:t>
            </a:r>
          </a:p>
          <a:p>
            <a:r>
              <a:rPr lang="vi-VN" dirty="0"/>
              <a:t>Khi dữ liệu được chia sẻ/nhân bản trên nhiều node, </a:t>
            </a:r>
            <a:r>
              <a:rPr lang="vi-VN" i="1" dirty="0"/>
              <a:t>tất cả các node phải luôn thấy cùng một giá trị tại cùng một thời điểm</a:t>
            </a:r>
            <a:r>
              <a:rPr lang="vi-VN" dirty="0"/>
              <a:t>.</a:t>
            </a:r>
          </a:p>
          <a:p>
            <a:r>
              <a:rPr lang="vi-VN" dirty="0"/>
              <a:t>Ví dụ:</a:t>
            </a:r>
          </a:p>
          <a:p>
            <a:pPr>
              <a:buFont typeface="Arial" panose="020B0604020202020204" pitchFamily="34" charset="0"/>
              <a:buChar char="•"/>
            </a:pPr>
            <a:r>
              <a:rPr lang="vi-VN" dirty="0"/>
              <a:t>Bạn ghi x = 10 vào node A</a:t>
            </a:r>
          </a:p>
          <a:p>
            <a:pPr>
              <a:buFont typeface="Arial" panose="020B0604020202020204" pitchFamily="34" charset="0"/>
              <a:buChar char="•"/>
            </a:pPr>
            <a:r>
              <a:rPr lang="vi-VN" dirty="0"/>
              <a:t>Nếu ngay lập tức đọc từ node B, bạn phải thấy giá trị </a:t>
            </a:r>
            <a:r>
              <a:rPr lang="vi-VN" b="1" dirty="0"/>
              <a:t>10</a:t>
            </a:r>
            <a:br>
              <a:rPr lang="vi-VN" dirty="0"/>
            </a:br>
            <a:r>
              <a:rPr lang="en-US" dirty="0"/>
              <a:t>=&gt;</a:t>
            </a:r>
            <a:r>
              <a:rPr lang="vi-VN" dirty="0"/>
              <a:t> Không được thấy giá cũ.</a:t>
            </a:r>
          </a:p>
          <a:p>
            <a:r>
              <a:rPr lang="vi-VN" b="1" dirty="0"/>
              <a:t>Ý nghĩa</a:t>
            </a:r>
            <a:r>
              <a:rPr lang="vi-VN" dirty="0"/>
              <a:t>: hệ thống hoạt động như một </a:t>
            </a:r>
            <a:r>
              <a:rPr lang="vi-VN" b="1" dirty="0"/>
              <a:t>bản sao duy nhất</a:t>
            </a:r>
            <a:r>
              <a:rPr lang="vi-VN" dirty="0"/>
              <a:t> (single up-to-date copy).</a:t>
            </a:r>
          </a:p>
          <a:p>
            <a:r>
              <a:rPr lang="vi-VN" b="1" dirty="0"/>
              <a:t>A – Availability (Sẵn sàng)</a:t>
            </a:r>
          </a:p>
          <a:p>
            <a:r>
              <a:rPr lang="vi-VN" dirty="0"/>
              <a:t>Hệ thống </a:t>
            </a:r>
            <a:r>
              <a:rPr lang="vi-VN" b="1" dirty="0"/>
              <a:t>luôn trả lời</a:t>
            </a:r>
            <a:r>
              <a:rPr lang="vi-VN" dirty="0"/>
              <a:t> mọi yêu cầu đọc/ghi.</a:t>
            </a:r>
          </a:p>
          <a:p>
            <a:pPr>
              <a:buFont typeface="Arial" panose="020B0604020202020204" pitchFamily="34" charset="0"/>
              <a:buChar char="•"/>
            </a:pPr>
            <a:r>
              <a:rPr lang="vi-VN" dirty="0"/>
              <a:t>Không được từ chối yêu cầu</a:t>
            </a:r>
          </a:p>
          <a:p>
            <a:pPr>
              <a:buFont typeface="Arial" panose="020B0604020202020204" pitchFamily="34" charset="0"/>
              <a:buChar char="•"/>
            </a:pPr>
            <a:r>
              <a:rPr lang="vi-VN" dirty="0"/>
              <a:t>Không được chờ vô hạn</a:t>
            </a:r>
          </a:p>
          <a:p>
            <a:pPr>
              <a:buFont typeface="Arial" panose="020B0604020202020204" pitchFamily="34" charset="0"/>
              <a:buChar char="•"/>
            </a:pPr>
            <a:r>
              <a:rPr lang="vi-VN" dirty="0"/>
              <a:t>Dù có lỗi một vài node, hệ thống vẫn phục vụ yêu cầu</a:t>
            </a:r>
          </a:p>
          <a:p>
            <a:r>
              <a:rPr lang="vi-VN" b="1" dirty="0"/>
              <a:t>Ý nghĩa</a:t>
            </a:r>
            <a:r>
              <a:rPr lang="vi-VN" dirty="0"/>
              <a:t>: luôn có response – không bị “treo”.</a:t>
            </a:r>
          </a:p>
          <a:p>
            <a:r>
              <a:rPr lang="vi-VN" b="1" dirty="0"/>
              <a:t>P – Partition tolerance (Chịu lỗi phân hoạch mạng)</a:t>
            </a:r>
          </a:p>
          <a:p>
            <a:r>
              <a:rPr lang="vi-VN" dirty="0"/>
              <a:t>Hệ thống vẫn tiếp tục hoạt động ngay cả khi mạng bị chia cắt thành nhiều phần (network partition).</a:t>
            </a:r>
          </a:p>
          <a:p>
            <a:r>
              <a:rPr lang="vi-VN" dirty="0"/>
              <a:t>Ví dụ:</a:t>
            </a:r>
          </a:p>
          <a:p>
            <a:pPr rtl="0"/>
            <a:r>
              <a:rPr lang="vi-VN" dirty="0"/>
              <a:t>Node A ----X---- Node B </a:t>
            </a:r>
          </a:p>
          <a:p>
            <a:r>
              <a:rPr lang="vi-VN" dirty="0"/>
              <a:t>Liên kết bị đứt → các tiến trình không thể trao đổi thông điệp.</a:t>
            </a:r>
          </a:p>
          <a:p>
            <a:r>
              <a:rPr lang="vi-VN" b="1" dirty="0"/>
              <a:t>Partition tolerance</a:t>
            </a:r>
            <a:r>
              <a:rPr lang="vi-VN" dirty="0"/>
              <a:t> yêu cầu hệ thống:</a:t>
            </a:r>
          </a:p>
          <a:p>
            <a:pPr>
              <a:buFont typeface="Arial" panose="020B0604020202020204" pitchFamily="34" charset="0"/>
              <a:buChar char="•"/>
            </a:pPr>
            <a:r>
              <a:rPr lang="vi-VN" dirty="0"/>
              <a:t>vẫn xử lý yêu cầu</a:t>
            </a:r>
          </a:p>
          <a:p>
            <a:pPr>
              <a:buFont typeface="Arial" panose="020B0604020202020204" pitchFamily="34" charset="0"/>
              <a:buChar char="•"/>
            </a:pPr>
            <a:r>
              <a:rPr lang="vi-VN" dirty="0"/>
              <a:t>vẫn hoạt động dù không thể liên lạc đầy đủ</a:t>
            </a:r>
          </a:p>
          <a:p>
            <a:endParaRPr lang="en-US" b="1" dirty="0"/>
          </a:p>
          <a:p>
            <a:r>
              <a:rPr lang="en-US" b="1" dirty="0"/>
              <a:t>3. </a:t>
            </a:r>
            <a:r>
              <a:rPr lang="vi-VN" b="1" dirty="0"/>
              <a:t>Tại sao không thể có cả C, A và P?</a:t>
            </a:r>
          </a:p>
          <a:p>
            <a:r>
              <a:rPr lang="vi-VN" dirty="0"/>
              <a:t>Nếu mạng bị phân hoạch (P), các node không thể đồng bộ dữ liệu ngay lập tức.</a:t>
            </a:r>
          </a:p>
          <a:p>
            <a:r>
              <a:rPr lang="vi-VN" dirty="0"/>
              <a:t>Khi đó hệ thống phải chọn:</a:t>
            </a:r>
          </a:p>
          <a:p>
            <a:r>
              <a:rPr lang="en-US" b="1" dirty="0"/>
              <a:t>=&gt; </a:t>
            </a:r>
            <a:r>
              <a:rPr lang="vi-VN" b="1" dirty="0"/>
              <a:t>Chọn Consistency (C)</a:t>
            </a:r>
          </a:p>
          <a:p>
            <a:r>
              <a:rPr lang="en-US" dirty="0"/>
              <a:t>-</a:t>
            </a:r>
            <a:r>
              <a:rPr lang="vi-VN" dirty="0"/>
              <a:t> Phải từ chối yêu cầu ở một partition để chờ đồng bộ</a:t>
            </a:r>
            <a:br>
              <a:rPr lang="vi-VN" dirty="0"/>
            </a:br>
            <a:r>
              <a:rPr lang="en-US" dirty="0"/>
              <a:t>-</a:t>
            </a:r>
            <a:r>
              <a:rPr lang="vi-VN" dirty="0"/>
              <a:t> </a:t>
            </a:r>
            <a:r>
              <a:rPr lang="vi-VN" b="1" dirty="0"/>
              <a:t>Không đạt Availability (A)</a:t>
            </a:r>
            <a:endParaRPr lang="vi-VN" dirty="0"/>
          </a:p>
          <a:p>
            <a:r>
              <a:rPr lang="en-US" b="1" dirty="0"/>
              <a:t>=&gt; </a:t>
            </a:r>
            <a:r>
              <a:rPr lang="vi-VN" b="1" dirty="0"/>
              <a:t>Chọn Availability (A)</a:t>
            </a:r>
          </a:p>
          <a:p>
            <a:r>
              <a:rPr lang="en-US" dirty="0"/>
              <a:t>-</a:t>
            </a:r>
            <a:r>
              <a:rPr lang="vi-VN" dirty="0"/>
              <a:t> Vẫn trả lời yêu cầu tại từng partition</a:t>
            </a:r>
            <a:br>
              <a:rPr lang="vi-VN" dirty="0"/>
            </a:br>
            <a:r>
              <a:rPr lang="en-US" dirty="0"/>
              <a:t>-</a:t>
            </a:r>
            <a:r>
              <a:rPr lang="vi-VN" dirty="0"/>
              <a:t> Nhưng dữ liệu sẽ bị khác nhau</a:t>
            </a:r>
            <a:br>
              <a:rPr lang="vi-VN" dirty="0"/>
            </a:br>
            <a:r>
              <a:rPr lang="en-US" dirty="0"/>
              <a:t>-</a:t>
            </a:r>
            <a:r>
              <a:rPr lang="vi-VN" dirty="0"/>
              <a:t> </a:t>
            </a:r>
            <a:r>
              <a:rPr lang="vi-VN" b="1" dirty="0"/>
              <a:t>Không đạt Consistency (C)</a:t>
            </a:r>
            <a:endParaRPr lang="vi-VN" dirty="0"/>
          </a:p>
          <a:p>
            <a:r>
              <a:rPr lang="vi-VN" dirty="0"/>
              <a:t>Vì vậy:</a:t>
            </a:r>
          </a:p>
          <a:p>
            <a:r>
              <a:rPr lang="vi-VN" b="1" dirty="0"/>
              <a:t>Khi P xảy ra, hệ thống CHỈ có thể chọn C hoặc A, không thể chọn cả hai.</a:t>
            </a:r>
            <a:endParaRPr lang="vi-VN" dirty="0"/>
          </a:p>
          <a:p>
            <a:endParaRPr lang="en-US" b="1" dirty="0"/>
          </a:p>
          <a:p>
            <a:r>
              <a:rPr lang="en-US" b="1" dirty="0"/>
              <a:t>4. </a:t>
            </a:r>
            <a:r>
              <a:rPr lang="vi-VN" b="1" dirty="0"/>
              <a:t>Kết luận</a:t>
            </a:r>
            <a:r>
              <a:rPr lang="en-US" b="1" dirty="0"/>
              <a:t>:</a:t>
            </a:r>
            <a:endParaRPr lang="vi-VN" b="1" dirty="0"/>
          </a:p>
          <a:p>
            <a:r>
              <a:rPr lang="vi-VN" b="1" dirty="0"/>
              <a:t>Trong mạng có lỗi truyền thông, không thể xây dựng một shared memory atomically consistent mà luôn trả lời mọi yêu cầu.</a:t>
            </a:r>
            <a:endParaRPr lang="vi-VN" dirty="0"/>
          </a:p>
          <a:p>
            <a:r>
              <a:rPr lang="vi-VN" dirty="0"/>
              <a:t>Nghĩa là:</a:t>
            </a:r>
          </a:p>
          <a:p>
            <a:pPr>
              <a:buFont typeface="Arial" panose="020B0604020202020204" pitchFamily="34" charset="0"/>
              <a:buChar char="•"/>
            </a:pPr>
            <a:r>
              <a:rPr lang="vi-VN" dirty="0"/>
              <a:t>Nếu bạn muốn shared memory </a:t>
            </a:r>
            <a:r>
              <a:rPr lang="vi-VN" i="1" dirty="0"/>
              <a:t>nhất quán mạnh</a:t>
            </a:r>
            <a:r>
              <a:rPr lang="vi-VN" dirty="0"/>
              <a:t>, bạn phải chấp nhận </a:t>
            </a:r>
            <a:r>
              <a:rPr lang="vi-VN" b="1" dirty="0"/>
              <a:t>không sẵn sàng</a:t>
            </a:r>
            <a:r>
              <a:rPr lang="vi-VN" dirty="0"/>
              <a:t> ở một số tình huống (ví dụ như mạng phân tách).</a:t>
            </a:r>
          </a:p>
          <a:p>
            <a:pPr>
              <a:buFont typeface="Arial" panose="020B0604020202020204" pitchFamily="34" charset="0"/>
              <a:buChar char="•"/>
            </a:pPr>
            <a:r>
              <a:rPr lang="vi-VN" dirty="0"/>
              <a:t>Nếu bạn muốn hệ thống </a:t>
            </a:r>
            <a:r>
              <a:rPr lang="vi-VN" b="1" dirty="0"/>
              <a:t>luôn trả lời</a:t>
            </a:r>
            <a:r>
              <a:rPr lang="vi-VN" dirty="0"/>
              <a:t>, bạn phải chấp nhận </a:t>
            </a:r>
            <a:r>
              <a:rPr lang="vi-VN" b="1" dirty="0"/>
              <a:t>dữ liệu tạm thời không nhất quán</a:t>
            </a:r>
            <a:r>
              <a:rPr lang="vi-VN" dirty="0"/>
              <a:t>.</a:t>
            </a:r>
          </a:p>
          <a:p>
            <a:endParaRPr lang="en-US" b="1" dirty="0"/>
          </a:p>
          <a:p>
            <a:r>
              <a:rPr lang="en-US" b="1" dirty="0"/>
              <a:t>5. </a:t>
            </a:r>
            <a:r>
              <a:rPr lang="vi-VN" b="1" dirty="0"/>
              <a:t>Minh họa thực tế</a:t>
            </a:r>
            <a:r>
              <a:rPr lang="en-US" b="1" dirty="0"/>
              <a:t>:</a:t>
            </a:r>
            <a:endParaRPr lang="vi-VN" b="1" dirty="0"/>
          </a:p>
          <a:p>
            <a:r>
              <a:rPr lang="vi-VN" b="1" dirty="0"/>
              <a:t>Hệ thống CP (ưu tiên Consistency + Partition tolerance)</a:t>
            </a:r>
          </a:p>
          <a:p>
            <a:r>
              <a:rPr lang="vi-VN" dirty="0"/>
              <a:t>Ví dụ:</a:t>
            </a:r>
          </a:p>
          <a:p>
            <a:pPr>
              <a:buFont typeface="Arial" panose="020B0604020202020204" pitchFamily="34" charset="0"/>
              <a:buChar char="•"/>
            </a:pPr>
            <a:r>
              <a:rPr lang="vi-VN" dirty="0"/>
              <a:t>Google Spanner</a:t>
            </a:r>
          </a:p>
          <a:p>
            <a:pPr>
              <a:buFont typeface="Arial" panose="020B0604020202020204" pitchFamily="34" charset="0"/>
              <a:buChar char="•"/>
            </a:pPr>
            <a:r>
              <a:rPr lang="vi-VN" dirty="0"/>
              <a:t>HBase</a:t>
            </a:r>
          </a:p>
          <a:p>
            <a:pPr>
              <a:buFont typeface="Arial" panose="020B0604020202020204" pitchFamily="34" charset="0"/>
              <a:buChar char="•"/>
            </a:pPr>
            <a:r>
              <a:rPr lang="vi-VN" dirty="0"/>
              <a:t>Zookeeper</a:t>
            </a:r>
          </a:p>
          <a:p>
            <a:r>
              <a:rPr lang="en-US" dirty="0"/>
              <a:t>=&gt;</a:t>
            </a:r>
            <a:r>
              <a:rPr lang="vi-VN" dirty="0"/>
              <a:t> </a:t>
            </a:r>
            <a:r>
              <a:rPr lang="vi-VN" b="1" dirty="0"/>
              <a:t>Có thể từ chối request</a:t>
            </a:r>
            <a:r>
              <a:rPr lang="vi-VN" dirty="0"/>
              <a:t> khi mất kết nối để giữ dữ liệu nhất quán.</a:t>
            </a:r>
          </a:p>
          <a:p>
            <a:r>
              <a:rPr lang="vi-VN" b="1" dirty="0"/>
              <a:t>Hệ thống AP (ưu tiên Availability + Partition tolerance)</a:t>
            </a:r>
          </a:p>
          <a:p>
            <a:r>
              <a:rPr lang="vi-VN" dirty="0"/>
              <a:t>Ví dụ:</a:t>
            </a:r>
          </a:p>
          <a:p>
            <a:pPr>
              <a:buFont typeface="Arial" panose="020B0604020202020204" pitchFamily="34" charset="0"/>
              <a:buChar char="•"/>
            </a:pPr>
            <a:r>
              <a:rPr lang="vi-VN" dirty="0"/>
              <a:t>Cassandra</a:t>
            </a:r>
          </a:p>
          <a:p>
            <a:pPr>
              <a:buFont typeface="Arial" panose="020B0604020202020204" pitchFamily="34" charset="0"/>
              <a:buChar char="•"/>
            </a:pPr>
            <a:r>
              <a:rPr lang="vi-VN" dirty="0"/>
              <a:t>DynamoDB</a:t>
            </a:r>
          </a:p>
          <a:p>
            <a:r>
              <a:rPr lang="en-US" dirty="0"/>
              <a:t>=&gt;</a:t>
            </a:r>
            <a:r>
              <a:rPr lang="vi-VN" dirty="0"/>
              <a:t> Luôn trả lời nhưng dữ liệu có thể không đồng bộ (eventual consistency).</a:t>
            </a:r>
          </a:p>
          <a:p>
            <a:r>
              <a:rPr lang="vi-VN" b="1" dirty="0"/>
              <a:t>Không hệ thống nào chọn CA</a:t>
            </a:r>
          </a:p>
          <a:p>
            <a:r>
              <a:rPr lang="vi-VN" dirty="0"/>
              <a:t>Vì trong thực tế, partition là </a:t>
            </a:r>
            <a:r>
              <a:rPr lang="vi-VN" i="1" dirty="0"/>
              <a:t>không thể tránh</a:t>
            </a:r>
            <a:r>
              <a:rPr lang="vi-VN" dirty="0"/>
              <a:t>, đặc biệt trong hệ thống phân tán rộng.</a:t>
            </a:r>
          </a:p>
          <a:p>
            <a:endParaRPr lang="en-US" b="1" dirty="0"/>
          </a:p>
          <a:p>
            <a:r>
              <a:rPr lang="en-US" b="1" dirty="0"/>
              <a:t>6. </a:t>
            </a:r>
            <a:r>
              <a:rPr lang="vi-VN" b="1" dirty="0"/>
              <a:t>Tóm tắt</a:t>
            </a:r>
            <a:r>
              <a:rPr lang="en-US" b="1" dirty="0"/>
              <a:t>:</a:t>
            </a:r>
            <a:endParaRPr lang="vi-VN" b="1" dirty="0"/>
          </a:p>
          <a:p>
            <a:pPr>
              <a:buFont typeface="Arial" panose="020B0604020202020204" pitchFamily="34" charset="0"/>
              <a:buChar char="•"/>
            </a:pPr>
            <a:r>
              <a:rPr lang="vi-VN" dirty="0"/>
              <a:t>CAP theorem áp dụng cho mọi hệ thống phân tán có shared data.</a:t>
            </a:r>
          </a:p>
          <a:p>
            <a:pPr>
              <a:buFont typeface="Arial" panose="020B0604020202020204" pitchFamily="34" charset="0"/>
              <a:buChar char="•"/>
            </a:pPr>
            <a:r>
              <a:rPr lang="vi-VN" dirty="0"/>
              <a:t>Partition tolerance là bắt buộc trong thực tế.</a:t>
            </a:r>
          </a:p>
          <a:p>
            <a:pPr>
              <a:buFont typeface="Arial" panose="020B0604020202020204" pitchFamily="34" charset="0"/>
              <a:buChar char="•"/>
            </a:pPr>
            <a:r>
              <a:rPr lang="vi-VN" dirty="0"/>
              <a:t>Khi P xảy ra, chỉ có thể chọn giữa C hoặc A.</a:t>
            </a:r>
          </a:p>
          <a:p>
            <a:pPr>
              <a:buFont typeface="Arial" panose="020B0604020202020204" pitchFamily="34" charset="0"/>
              <a:buChar char="•"/>
            </a:pPr>
            <a:r>
              <a:rPr lang="vi-VN" dirty="0"/>
              <a:t>Do đó không thể xây dựng một shared memory </a:t>
            </a:r>
            <a:r>
              <a:rPr lang="vi-VN" i="1" dirty="0"/>
              <a:t>vừa atomic, vừa luôn sẵn sàng</a:t>
            </a:r>
            <a:r>
              <a:rPr lang="vi-VN" dirty="0"/>
              <a:t> trong môi trường có lỗi mạng.</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52</a:t>
            </a:fld>
            <a:endParaRPr lang="en-US"/>
          </a:p>
        </p:txBody>
      </p:sp>
    </p:spTree>
    <p:extLst>
      <p:ext uri="{BB962C8B-B14F-4D97-AF65-F5344CB8AC3E}">
        <p14:creationId xmlns:p14="http://schemas.microsoft.com/office/powerpoint/2010/main" val="30950053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“CAP theorem intuition”</a:t>
            </a:r>
            <a:r>
              <a:rPr lang="vi-VN" dirty="0"/>
              <a:t>.</a:t>
            </a:r>
          </a:p>
          <a:p>
            <a:r>
              <a:rPr lang="en-US" b="1" dirty="0"/>
              <a:t>1. </a:t>
            </a:r>
            <a:r>
              <a:rPr lang="vi-VN" b="1" dirty="0"/>
              <a:t>Mục tiêu của slide</a:t>
            </a:r>
          </a:p>
          <a:p>
            <a:r>
              <a:rPr lang="vi-VN" dirty="0"/>
              <a:t>Slide này không đi vào định nghĩa CAP nữa mà giúp sinh viên </a:t>
            </a:r>
            <a:r>
              <a:rPr lang="vi-VN" b="1" dirty="0"/>
              <a:t>trực giác hóa CAP theorem</a:t>
            </a:r>
            <a:r>
              <a:rPr lang="vi-VN" dirty="0"/>
              <a:t> qua một ví dụ thật đơn giản:</a:t>
            </a:r>
          </a:p>
          <a:p>
            <a:r>
              <a:rPr lang="vi-VN" b="1" dirty="0"/>
              <a:t>Hai tiến trình P và Q tương tác với nhau nhưng đột nhiên không thể liên lạc.</a:t>
            </a:r>
            <a:endParaRPr lang="vi-VN" dirty="0"/>
          </a:p>
          <a:p>
            <a:r>
              <a:rPr lang="vi-VN" dirty="0"/>
              <a:t>Đây chính là </a:t>
            </a:r>
            <a:r>
              <a:rPr lang="vi-VN" b="1" dirty="0"/>
              <a:t>network partition</a:t>
            </a:r>
            <a:r>
              <a:rPr lang="vi-VN" dirty="0"/>
              <a:t> trong dạng nhỏ nhất.</a:t>
            </a:r>
          </a:p>
          <a:p>
            <a:endParaRPr lang="en-US" b="1" dirty="0"/>
          </a:p>
          <a:p>
            <a:r>
              <a:rPr lang="en-US" b="1" dirty="0"/>
              <a:t>2. </a:t>
            </a:r>
            <a:r>
              <a:rPr lang="vi-VN" b="1" dirty="0"/>
              <a:t>Tình huống đơn giản: Hai tiến trình P và Q</a:t>
            </a:r>
          </a:p>
          <a:p>
            <a:r>
              <a:rPr lang="vi-VN" dirty="0"/>
              <a:t>Giả sử P và Q đang phối hợp cập nhật dữ liệu chung.</a:t>
            </a:r>
            <a:br>
              <a:rPr lang="vi-VN" dirty="0"/>
            </a:br>
            <a:r>
              <a:rPr lang="vi-VN" dirty="0"/>
              <a:t>Đột nhiên, </a:t>
            </a:r>
            <a:r>
              <a:rPr lang="vi-VN" b="1" dirty="0"/>
              <a:t>P và Q bị mất kết nối – không thể giao tiếp</a:t>
            </a:r>
            <a:r>
              <a:rPr lang="vi-VN" dirty="0"/>
              <a:t>.</a:t>
            </a:r>
          </a:p>
          <a:p>
            <a:r>
              <a:rPr lang="vi-VN" dirty="0"/>
              <a:t>Chúng ta xem có những lựa chọn nào:</a:t>
            </a:r>
          </a:p>
          <a:p>
            <a:endParaRPr lang="en-US" b="1" dirty="0"/>
          </a:p>
          <a:p>
            <a:r>
              <a:rPr lang="en-US" b="1" dirty="0"/>
              <a:t>3. </a:t>
            </a:r>
            <a:r>
              <a:rPr lang="vi-VN" b="1" dirty="0"/>
              <a:t>Trường hợp 1: Cho cả P và Q tiếp tục hoạt động</a:t>
            </a:r>
          </a:p>
          <a:p>
            <a:r>
              <a:rPr lang="vi-VN" dirty="0"/>
              <a:t>Nếu P và Q không liên lạc được nhưng vẫn chạy tiếp:</a:t>
            </a:r>
          </a:p>
          <a:p>
            <a:pPr>
              <a:buFont typeface="Arial" panose="020B0604020202020204" pitchFamily="34" charset="0"/>
              <a:buChar char="•"/>
            </a:pPr>
            <a:r>
              <a:rPr lang="vi-VN" dirty="0"/>
              <a:t>Mỗi bên sẽ xử lý yêu cầu theo trạng thái cục bộ của nó.</a:t>
            </a:r>
          </a:p>
          <a:p>
            <a:pPr>
              <a:buFont typeface="Arial" panose="020B0604020202020204" pitchFamily="34" charset="0"/>
              <a:buChar char="•"/>
            </a:pPr>
            <a:r>
              <a:rPr lang="vi-VN" dirty="0"/>
              <a:t>Vì không đồng bộ được, </a:t>
            </a:r>
            <a:r>
              <a:rPr lang="vi-VN" b="1" dirty="0"/>
              <a:t>dữ liệu sẽ bị lệch nhau</a:t>
            </a:r>
            <a:r>
              <a:rPr lang="vi-VN" dirty="0"/>
              <a:t>.</a:t>
            </a:r>
          </a:p>
          <a:p>
            <a:r>
              <a:rPr lang="en-US" dirty="0"/>
              <a:t>=&gt; </a:t>
            </a:r>
            <a:r>
              <a:rPr lang="vi-VN" b="1" dirty="0"/>
              <a:t>Kết quả: mất Consistency (C)</a:t>
            </a:r>
            <a:br>
              <a:rPr lang="vi-VN" dirty="0"/>
            </a:br>
            <a:r>
              <a:rPr lang="vi-VN" dirty="0"/>
              <a:t>Chúng ta vẫn có Availability (A), hệ thống không bị treo,</a:t>
            </a:r>
            <a:br>
              <a:rPr lang="vi-VN" dirty="0"/>
            </a:br>
            <a:r>
              <a:rPr lang="vi-VN" dirty="0"/>
              <a:t>và Partition tolerance (P) đang diễn ra (vì cho phép mỗi bên chạy tiếp).</a:t>
            </a:r>
          </a:p>
          <a:p>
            <a:r>
              <a:rPr lang="vi-VN" dirty="0"/>
              <a:t>Đây tương ứng với hệ </a:t>
            </a:r>
            <a:r>
              <a:rPr lang="vi-VN" b="1" dirty="0"/>
              <a:t>AP</a:t>
            </a:r>
            <a:r>
              <a:rPr lang="vi-VN" dirty="0"/>
              <a:t> (ví dụ: Cassandra, DynamoDB).</a:t>
            </a:r>
          </a:p>
          <a:p>
            <a:endParaRPr lang="en-US" b="1" dirty="0"/>
          </a:p>
          <a:p>
            <a:r>
              <a:rPr lang="en-US" b="1" dirty="0"/>
              <a:t>4. </a:t>
            </a:r>
            <a:r>
              <a:rPr lang="vi-VN" b="1" dirty="0"/>
              <a:t>Trường hợp 2: Cho chỉ một bên tiếp tục hoạt động</a:t>
            </a:r>
          </a:p>
          <a:p>
            <a:r>
              <a:rPr lang="vi-VN" dirty="0"/>
              <a:t>P chạy tiếp, Q phải dừng — hoặc ngược lại.</a:t>
            </a:r>
          </a:p>
          <a:p>
            <a:r>
              <a:rPr lang="vi-VN" dirty="0"/>
              <a:t>Trong trường hợp này:</a:t>
            </a:r>
          </a:p>
          <a:p>
            <a:pPr>
              <a:buFont typeface="Arial" panose="020B0604020202020204" pitchFamily="34" charset="0"/>
              <a:buChar char="•"/>
            </a:pPr>
            <a:r>
              <a:rPr lang="vi-VN" dirty="0"/>
              <a:t>Consistency được giữ: chỉ một bên xử lý → không có xung đột.</a:t>
            </a:r>
          </a:p>
          <a:p>
            <a:pPr>
              <a:buFont typeface="Arial" panose="020B0604020202020204" pitchFamily="34" charset="0"/>
              <a:buChar char="•"/>
            </a:pPr>
            <a:r>
              <a:rPr lang="vi-VN" dirty="0"/>
              <a:t>Nhưng bên bị dừng </a:t>
            </a:r>
            <a:r>
              <a:rPr lang="vi-VN" b="1" dirty="0"/>
              <a:t>không thể trả lời client</a:t>
            </a:r>
            <a:r>
              <a:rPr lang="vi-VN" dirty="0"/>
              <a:t>.</a:t>
            </a:r>
          </a:p>
          <a:p>
            <a:r>
              <a:rPr lang="en-US" dirty="0"/>
              <a:t>=&gt; </a:t>
            </a:r>
            <a:r>
              <a:rPr lang="vi-VN" b="1" dirty="0"/>
              <a:t>Kết quả: mất Availability (A)</a:t>
            </a:r>
            <a:br>
              <a:rPr lang="vi-VN" dirty="0"/>
            </a:br>
            <a:r>
              <a:rPr lang="vi-VN" dirty="0"/>
              <a:t>Hệ thống chọn Consistency (C) và Partition tolerance (P).</a:t>
            </a:r>
          </a:p>
          <a:p>
            <a:r>
              <a:rPr lang="vi-VN" dirty="0"/>
              <a:t>Đây tương ứng với hệ </a:t>
            </a:r>
            <a:r>
              <a:rPr lang="vi-VN" b="1" dirty="0"/>
              <a:t>CP</a:t>
            </a:r>
            <a:r>
              <a:rPr lang="vi-VN" dirty="0"/>
              <a:t> (ví dụ: HBase, Zookeeper).</a:t>
            </a:r>
          </a:p>
          <a:p>
            <a:endParaRPr lang="en-US" b="1" dirty="0"/>
          </a:p>
          <a:p>
            <a:r>
              <a:rPr lang="en-US" b="1" dirty="0"/>
              <a:t>5. </a:t>
            </a:r>
            <a:r>
              <a:rPr lang="vi-VN" b="1" dirty="0"/>
              <a:t>Trường hợp 3: Không chấp nhận partition (tức là P và Q </a:t>
            </a:r>
            <a:r>
              <a:rPr lang="vi-VN" b="1" i="1" dirty="0"/>
              <a:t>bắt buộc</a:t>
            </a:r>
            <a:r>
              <a:rPr lang="vi-VN" b="1" dirty="0"/>
              <a:t> phải tiếp tục giao tiếp)</a:t>
            </a:r>
          </a:p>
          <a:p>
            <a:r>
              <a:rPr lang="vi-VN" dirty="0"/>
              <a:t>Ý của dòng:</a:t>
            </a:r>
          </a:p>
          <a:p>
            <a:r>
              <a:rPr lang="vi-VN" b="1" dirty="0"/>
              <a:t>P and Q have to be assumed to continue communication ⇒ no partitioning allowed.</a:t>
            </a:r>
            <a:endParaRPr lang="vi-VN" dirty="0"/>
          </a:p>
          <a:p>
            <a:r>
              <a:rPr lang="vi-VN" dirty="0"/>
              <a:t>Nghĩa là:</a:t>
            </a:r>
          </a:p>
          <a:p>
            <a:pPr>
              <a:buFont typeface="Arial" panose="020B0604020202020204" pitchFamily="34" charset="0"/>
              <a:buChar char="•"/>
            </a:pPr>
            <a:r>
              <a:rPr lang="vi-VN" dirty="0"/>
              <a:t>Hệ thống chỉ đúng nếu P và Q luôn liên lạc được.</a:t>
            </a:r>
          </a:p>
          <a:p>
            <a:pPr>
              <a:buFont typeface="Arial" panose="020B0604020202020204" pitchFamily="34" charset="0"/>
              <a:buChar char="•"/>
            </a:pPr>
            <a:r>
              <a:rPr lang="vi-VN" dirty="0"/>
              <a:t>Nếu một partition xảy ra, hệ thống xem như </a:t>
            </a:r>
            <a:r>
              <a:rPr lang="vi-VN" i="1" dirty="0"/>
              <a:t>không thể vận hành đúng</a:t>
            </a:r>
            <a:r>
              <a:rPr lang="vi-VN" dirty="0"/>
              <a:t>.</a:t>
            </a:r>
          </a:p>
          <a:p>
            <a:r>
              <a:rPr lang="en-US" dirty="0"/>
              <a:t>=&gt; </a:t>
            </a:r>
            <a:r>
              <a:rPr lang="vi-VN" dirty="0"/>
              <a:t>Kiểu hệ thống này </a:t>
            </a:r>
            <a:r>
              <a:rPr lang="vi-VN" b="1" dirty="0"/>
              <a:t>không thực tế</a:t>
            </a:r>
            <a:r>
              <a:rPr lang="vi-VN" dirty="0"/>
              <a:t> trong distributed systems,</a:t>
            </a:r>
            <a:br>
              <a:rPr lang="vi-VN" dirty="0"/>
            </a:br>
            <a:r>
              <a:rPr lang="vi-VN" dirty="0"/>
              <a:t>vì partition là không thể tránh.</a:t>
            </a:r>
          </a:p>
          <a:p>
            <a:endParaRPr lang="en-US" b="1" dirty="0"/>
          </a:p>
          <a:p>
            <a:r>
              <a:rPr lang="en-US" b="1" dirty="0"/>
              <a:t>6. </a:t>
            </a:r>
            <a:r>
              <a:rPr lang="vi-VN" b="1" dirty="0"/>
              <a:t>Liên hệ với CAP theorem</a:t>
            </a:r>
          </a:p>
          <a:p>
            <a:r>
              <a:rPr lang="vi-VN" dirty="0"/>
              <a:t>Khi P và Q bị partition:</a:t>
            </a:r>
          </a:p>
          <a:p>
            <a:pPr>
              <a:buFont typeface="Arial" panose="020B0604020202020204" pitchFamily="34" charset="0"/>
              <a:buChar char="•"/>
            </a:pPr>
            <a:r>
              <a:rPr lang="vi-VN" dirty="0"/>
              <a:t>Nếu cho cả hai chạy → </a:t>
            </a:r>
            <a:r>
              <a:rPr lang="vi-VN" b="1" dirty="0"/>
              <a:t>không Consistency</a:t>
            </a:r>
            <a:endParaRPr lang="vi-VN" dirty="0"/>
          </a:p>
          <a:p>
            <a:pPr>
              <a:buFont typeface="Arial" panose="020B0604020202020204" pitchFamily="34" charset="0"/>
              <a:buChar char="•"/>
            </a:pPr>
            <a:r>
              <a:rPr lang="vi-VN" dirty="0"/>
              <a:t>Nếu bắt một bên dừng → </a:t>
            </a:r>
            <a:r>
              <a:rPr lang="vi-VN" b="1" dirty="0"/>
              <a:t>không Availability</a:t>
            </a:r>
            <a:endParaRPr lang="vi-VN" dirty="0"/>
          </a:p>
          <a:p>
            <a:pPr>
              <a:buFont typeface="Arial" panose="020B0604020202020204" pitchFamily="34" charset="0"/>
              <a:buChar char="•"/>
            </a:pPr>
            <a:r>
              <a:rPr lang="vi-VN" dirty="0"/>
              <a:t>Không thể vừa </a:t>
            </a:r>
            <a:r>
              <a:rPr lang="vi-VN" b="1" dirty="0"/>
              <a:t>Consistent</a:t>
            </a:r>
            <a:r>
              <a:rPr lang="vi-VN" dirty="0"/>
              <a:t> vừa </a:t>
            </a:r>
            <a:r>
              <a:rPr lang="vi-VN" b="1" dirty="0"/>
              <a:t>Available</a:t>
            </a:r>
            <a:r>
              <a:rPr lang="vi-VN" dirty="0"/>
              <a:t> khi Partition xảy ra</a:t>
            </a:r>
          </a:p>
          <a:p>
            <a:r>
              <a:rPr lang="vi-VN" dirty="0"/>
              <a:t>Đây chính là:</a:t>
            </a:r>
          </a:p>
          <a:p>
            <a:r>
              <a:rPr lang="vi-VN" b="1" dirty="0"/>
              <a:t>CAP theorem = không thể có C và A cùng lúc khi P xảy ra.</a:t>
            </a:r>
            <a:endParaRPr lang="vi-VN" dirty="0"/>
          </a:p>
          <a:p>
            <a:endParaRPr lang="en-US" b="1" dirty="0"/>
          </a:p>
          <a:p>
            <a:r>
              <a:rPr lang="en-US" b="1" dirty="0"/>
              <a:t>7. </a:t>
            </a:r>
            <a:r>
              <a:rPr lang="vi-VN" b="1" dirty="0"/>
              <a:t>Câu hỏi trọng tâm của slide</a:t>
            </a:r>
          </a:p>
          <a:p>
            <a:r>
              <a:rPr lang="vi-VN" b="1" dirty="0"/>
              <a:t>What are the practical ramifications of the CAP theorem?</a:t>
            </a:r>
            <a:br>
              <a:rPr lang="vi-VN" dirty="0"/>
            </a:br>
            <a:r>
              <a:rPr lang="en-US" dirty="0"/>
              <a:t>=&gt;</a:t>
            </a:r>
            <a:r>
              <a:rPr lang="vi-VN" dirty="0"/>
              <a:t> "Vậy CAP ảnh hưởng gì trong thực tế?"</a:t>
            </a:r>
          </a:p>
          <a:p>
            <a:r>
              <a:rPr lang="vi-VN" dirty="0"/>
              <a:t>Ý đồ của slide:</a:t>
            </a:r>
            <a:br>
              <a:rPr lang="vi-VN" dirty="0"/>
            </a:br>
            <a:r>
              <a:rPr lang="vi-VN" dirty="0"/>
              <a:t>Sau khi hiểu trực giác, sinh viên phải tự đặt câu hỏi:</a:t>
            </a:r>
          </a:p>
          <a:p>
            <a:pPr>
              <a:buFont typeface="Arial" panose="020B0604020202020204" pitchFamily="34" charset="0"/>
              <a:buChar char="•"/>
            </a:pPr>
            <a:r>
              <a:rPr lang="vi-VN" dirty="0"/>
              <a:t>Vậy hệ thống phân tán phải chọn chiến lược nào?</a:t>
            </a:r>
          </a:p>
          <a:p>
            <a:pPr>
              <a:buFont typeface="Arial" panose="020B0604020202020204" pitchFamily="34" charset="0"/>
              <a:buChar char="•"/>
            </a:pPr>
            <a:r>
              <a:rPr lang="vi-VN" dirty="0"/>
              <a:t>Khi xây dựng database, ta ưu tiên C hay A?</a:t>
            </a:r>
          </a:p>
          <a:p>
            <a:pPr>
              <a:buFont typeface="Arial" panose="020B0604020202020204" pitchFamily="34" charset="0"/>
              <a:buChar char="•"/>
            </a:pPr>
            <a:r>
              <a:rPr lang="vi-VN" dirty="0"/>
              <a:t>Applicaton nào cần mạnh về C?</a:t>
            </a:r>
          </a:p>
          <a:p>
            <a:pPr>
              <a:buFont typeface="Arial" panose="020B0604020202020204" pitchFamily="34" charset="0"/>
              <a:buChar char="•"/>
            </a:pPr>
            <a:r>
              <a:rPr lang="vi-VN" dirty="0"/>
              <a:t>Ứng dụng nào cần mạnh về A?</a:t>
            </a:r>
          </a:p>
          <a:p>
            <a:pPr>
              <a:buFont typeface="Arial" panose="020B0604020202020204" pitchFamily="34" charset="0"/>
              <a:buChar char="•"/>
            </a:pPr>
            <a:r>
              <a:rPr lang="vi-VN" dirty="0"/>
              <a:t>Partition tolerance có thể bỏ được không? (Câu trả lời: Không!)</a:t>
            </a:r>
          </a:p>
          <a:p>
            <a:endParaRPr lang="en-US" b="1" dirty="0"/>
          </a:p>
          <a:p>
            <a:r>
              <a:rPr lang="en-US" b="1" dirty="0"/>
              <a:t>8. </a:t>
            </a:r>
            <a:r>
              <a:rPr lang="vi-VN" b="1" dirty="0"/>
              <a:t>Tóm tắt slide (để giảng nhanh trên lớp)</a:t>
            </a:r>
          </a:p>
          <a:p>
            <a:pPr>
              <a:buFont typeface="Arial" panose="020B0604020202020204" pitchFamily="34" charset="0"/>
              <a:buChar char="•"/>
            </a:pPr>
            <a:r>
              <a:rPr lang="vi-VN" dirty="0"/>
              <a:t>P và Q mất liên lạc → partition.</a:t>
            </a:r>
          </a:p>
          <a:p>
            <a:pPr>
              <a:buFont typeface="Arial" panose="020B0604020202020204" pitchFamily="34" charset="0"/>
              <a:buChar char="•"/>
            </a:pPr>
            <a:r>
              <a:rPr lang="vi-VN" dirty="0"/>
              <a:t>Cho cả hai tiếp tục → mất Consistency.</a:t>
            </a:r>
          </a:p>
          <a:p>
            <a:pPr>
              <a:buFont typeface="Arial" panose="020B0604020202020204" pitchFamily="34" charset="0"/>
              <a:buChar char="•"/>
            </a:pPr>
            <a:r>
              <a:rPr lang="vi-VN" dirty="0"/>
              <a:t>Cho một bên chạy → mất Availability.</a:t>
            </a:r>
          </a:p>
          <a:p>
            <a:pPr>
              <a:buFont typeface="Arial" panose="020B0604020202020204" pitchFamily="34" charset="0"/>
              <a:buChar char="•"/>
            </a:pPr>
            <a:r>
              <a:rPr lang="vi-VN" dirty="0"/>
              <a:t>Bắt buộc hai bên phải luôn liên lạc → không thực tế.</a:t>
            </a:r>
          </a:p>
          <a:p>
            <a:pPr>
              <a:buFont typeface="Arial" panose="020B0604020202020204" pitchFamily="34" charset="0"/>
              <a:buChar char="•"/>
            </a:pPr>
            <a:r>
              <a:rPr lang="vi-VN" dirty="0"/>
              <a:t>Đây chính là trực giác của CAP theorem.</a:t>
            </a:r>
          </a:p>
          <a:p>
            <a:r>
              <a:rPr lang="vi-VN" b="1" dirty="0"/>
              <a:t>Không thể có C + A khi partition xảy ra.</a:t>
            </a:r>
            <a:br>
              <a:rPr lang="vi-VN" b="1" dirty="0"/>
            </a:br>
            <a:r>
              <a:rPr lang="vi-VN" b="1" dirty="0"/>
              <a:t>Chỉ có thể chọn CP hoặc AP.</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54</a:t>
            </a:fld>
            <a:endParaRPr lang="en-US"/>
          </a:p>
        </p:txBody>
      </p:sp>
    </p:spTree>
    <p:extLst>
      <p:ext uri="{BB962C8B-B14F-4D97-AF65-F5344CB8AC3E}">
        <p14:creationId xmlns:p14="http://schemas.microsoft.com/office/powerpoint/2010/main" val="13526944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“Failure detection”</a:t>
            </a:r>
            <a:r>
              <a:rPr lang="vi-VN" dirty="0"/>
              <a:t>.</a:t>
            </a:r>
          </a:p>
          <a:p>
            <a:r>
              <a:rPr lang="en-US" b="1" dirty="0"/>
              <a:t>1. </a:t>
            </a:r>
            <a:r>
              <a:rPr lang="vi-VN" b="1" dirty="0"/>
              <a:t>Chủ đề của slide</a:t>
            </a:r>
          </a:p>
          <a:p>
            <a:r>
              <a:rPr lang="vi-VN" dirty="0"/>
              <a:t>Slide này đặt câu hỏi cốt lõi của hệ thống phân tán:</a:t>
            </a:r>
          </a:p>
          <a:p>
            <a:r>
              <a:rPr lang="vi-VN" b="1" dirty="0"/>
              <a:t>Làm sao để phát hiện một tiến trình thật sự bị crash?</a:t>
            </a:r>
            <a:endParaRPr lang="vi-VN" dirty="0"/>
          </a:p>
          <a:p>
            <a:r>
              <a:rPr lang="vi-VN" dirty="0"/>
              <a:t>Đây là một vấn đề căn bản vì hầu hết các giao thức fault tolerance (như Paxos, Raft, replication…) đều phụ thuộc vào việc biết ai còn sống và ai đã chết.</a:t>
            </a:r>
          </a:p>
          <a:p>
            <a:endParaRPr lang="en-US" b="1" dirty="0"/>
          </a:p>
          <a:p>
            <a:r>
              <a:rPr lang="en-US" b="1" dirty="0"/>
              <a:t>2. </a:t>
            </a:r>
            <a:r>
              <a:rPr lang="vi-VN" b="1" dirty="0"/>
              <a:t>Vấn đề (Issue)</a:t>
            </a:r>
          </a:p>
          <a:p>
            <a:r>
              <a:rPr lang="vi-VN" b="1" dirty="0"/>
              <a:t>How can we reliably detect that a process has actually crashed?</a:t>
            </a:r>
            <a:endParaRPr lang="vi-VN" dirty="0"/>
          </a:p>
          <a:p>
            <a:r>
              <a:rPr lang="vi-VN" dirty="0"/>
              <a:t>Từ khóa quan trọng: </a:t>
            </a:r>
            <a:r>
              <a:rPr lang="vi-VN" b="1" dirty="0"/>
              <a:t>reliably</a:t>
            </a:r>
            <a:br>
              <a:rPr lang="vi-VN" dirty="0"/>
            </a:br>
            <a:r>
              <a:rPr lang="en-US" dirty="0"/>
              <a:t>=&gt;</a:t>
            </a:r>
            <a:r>
              <a:rPr lang="vi-VN" dirty="0"/>
              <a:t> tức là: </a:t>
            </a:r>
            <a:r>
              <a:rPr lang="vi-VN" i="1" dirty="0"/>
              <a:t>không nhầm lẫn</a:t>
            </a:r>
            <a:r>
              <a:rPr lang="vi-VN" dirty="0"/>
              <a:t>, không có false alarm.</a:t>
            </a:r>
          </a:p>
          <a:p>
            <a:r>
              <a:rPr lang="vi-VN" dirty="0"/>
              <a:t>Trong hệ phân tán, đây là mục tiêu </a:t>
            </a:r>
            <a:r>
              <a:rPr lang="vi-VN" b="1" dirty="0"/>
              <a:t>gần như bất khả thi</a:t>
            </a:r>
            <a:r>
              <a:rPr lang="vi-VN" dirty="0"/>
              <a:t> vì ta không thể phân biệt:</a:t>
            </a:r>
          </a:p>
          <a:p>
            <a:pPr>
              <a:buFont typeface="Arial" panose="020B0604020202020204" pitchFamily="34" charset="0"/>
              <a:buChar char="•"/>
            </a:pPr>
            <a:r>
              <a:rPr lang="vi-VN" dirty="0"/>
              <a:t>Q bị crash thật</a:t>
            </a:r>
            <a:br>
              <a:rPr lang="vi-VN" dirty="0"/>
            </a:br>
            <a:r>
              <a:rPr lang="vi-VN" dirty="0"/>
              <a:t>VS</a:t>
            </a:r>
          </a:p>
          <a:p>
            <a:pPr>
              <a:buFont typeface="Arial" panose="020B0604020202020204" pitchFamily="34" charset="0"/>
              <a:buChar char="•"/>
            </a:pPr>
            <a:r>
              <a:rPr lang="vi-VN" dirty="0"/>
              <a:t>Q chỉ bị chậm, tắc nghẽn mạng, hoặc mất gói tin</a:t>
            </a:r>
          </a:p>
          <a:p>
            <a:r>
              <a:rPr lang="vi-VN" dirty="0"/>
              <a:t>Đây là lý do các giao thức consensus trở nên khó khăn.</a:t>
            </a:r>
          </a:p>
          <a:p>
            <a:endParaRPr lang="en-US" b="1" dirty="0"/>
          </a:p>
          <a:p>
            <a:r>
              <a:rPr lang="en-US" b="1" dirty="0"/>
              <a:t>3. </a:t>
            </a:r>
            <a:r>
              <a:rPr lang="vi-VN" b="1" dirty="0"/>
              <a:t>Mô hình tổng quát của failure detection</a:t>
            </a:r>
          </a:p>
          <a:p>
            <a:r>
              <a:rPr lang="vi-VN" dirty="0"/>
              <a:t>Slide mô tả cách các hệ thống phân tán thường phát hiện lỗi:</a:t>
            </a:r>
          </a:p>
          <a:p>
            <a:r>
              <a:rPr lang="en-US" b="1" dirty="0"/>
              <a:t>-</a:t>
            </a:r>
            <a:r>
              <a:rPr lang="vi-VN" b="1" dirty="0"/>
              <a:t> Mỗi tiến trình có một failure detector</a:t>
            </a:r>
          </a:p>
          <a:p>
            <a:r>
              <a:rPr lang="vi-VN" dirty="0"/>
              <a:t>Một module theo dõi trạng thái của các tiến trình khác.</a:t>
            </a:r>
          </a:p>
          <a:p>
            <a:r>
              <a:rPr lang="en-US" b="1" dirty="0"/>
              <a:t>-</a:t>
            </a:r>
            <a:r>
              <a:rPr lang="vi-VN" b="1" dirty="0"/>
              <a:t> Tiến trình P probe tiến trình Q</a:t>
            </a:r>
          </a:p>
          <a:p>
            <a:r>
              <a:rPr lang="vi-VN" dirty="0"/>
              <a:t>P gửi một thông điệp “ping”, “are you alive?”, “heartbeat”, …</a:t>
            </a:r>
          </a:p>
          <a:p>
            <a:r>
              <a:rPr lang="en-US" b="1" dirty="0"/>
              <a:t>-</a:t>
            </a:r>
            <a:r>
              <a:rPr lang="vi-VN" b="1" dirty="0"/>
              <a:t> Nếu Q phản hồi</a:t>
            </a:r>
          </a:p>
          <a:p>
            <a:r>
              <a:rPr lang="en-US" dirty="0"/>
              <a:t>=&gt;</a:t>
            </a:r>
            <a:r>
              <a:rPr lang="vi-VN" dirty="0"/>
              <a:t> P kết luận: </a:t>
            </a:r>
            <a:r>
              <a:rPr lang="vi-VN" b="1" dirty="0"/>
              <a:t>Q còn sống</a:t>
            </a:r>
            <a:endParaRPr lang="vi-VN" dirty="0"/>
          </a:p>
          <a:p>
            <a:r>
              <a:rPr lang="en-US" b="1" dirty="0"/>
              <a:t>-</a:t>
            </a:r>
            <a:r>
              <a:rPr lang="vi-VN" b="1" dirty="0"/>
              <a:t> Nếu Q KHÔNG phản hồi trong t đơn vị thời gian</a:t>
            </a:r>
          </a:p>
          <a:p>
            <a:r>
              <a:rPr lang="en-US" dirty="0"/>
              <a:t>=&gt;</a:t>
            </a:r>
            <a:r>
              <a:rPr lang="vi-VN" dirty="0"/>
              <a:t> P </a:t>
            </a:r>
            <a:r>
              <a:rPr lang="vi-VN" b="1" dirty="0"/>
              <a:t>nghi ngờ</a:t>
            </a:r>
            <a:r>
              <a:rPr lang="vi-VN" dirty="0"/>
              <a:t> Q đã crash</a:t>
            </a:r>
          </a:p>
          <a:p>
            <a:r>
              <a:rPr lang="vi-VN" dirty="0"/>
              <a:t>Từ khóa: </a:t>
            </a:r>
            <a:r>
              <a:rPr lang="vi-VN" b="1" dirty="0"/>
              <a:t>suspected</a:t>
            </a:r>
            <a:br>
              <a:rPr lang="vi-VN" dirty="0"/>
            </a:br>
            <a:r>
              <a:rPr lang="vi-VN" dirty="0"/>
              <a:t>=&gt; không chắc chắn, chỉ là nghi ngờ.</a:t>
            </a:r>
          </a:p>
          <a:p>
            <a:r>
              <a:rPr lang="en-US" dirty="0"/>
              <a:t>***</a:t>
            </a:r>
            <a:r>
              <a:rPr lang="vi-VN" dirty="0"/>
              <a:t> Vấn đề lớn: timeout chỉ phản ánh </a:t>
            </a:r>
            <a:r>
              <a:rPr lang="vi-VN" i="1" dirty="0"/>
              <a:t>trễ mạng</a:t>
            </a:r>
            <a:r>
              <a:rPr lang="vi-VN" dirty="0"/>
              <a:t>, không phản ánh </a:t>
            </a:r>
            <a:r>
              <a:rPr lang="vi-VN" i="1" dirty="0"/>
              <a:t>crash thật</a:t>
            </a:r>
            <a:r>
              <a:rPr lang="vi-VN" dirty="0"/>
              <a:t>.</a:t>
            </a:r>
          </a:p>
          <a:p>
            <a:endParaRPr lang="en-US" b="1" dirty="0"/>
          </a:p>
          <a:p>
            <a:r>
              <a:rPr lang="en-US" b="1" dirty="0"/>
              <a:t>4. </a:t>
            </a:r>
            <a:r>
              <a:rPr lang="vi-VN" b="1" dirty="0"/>
              <a:t>Quan sát quan trọng về </a:t>
            </a:r>
            <a:r>
              <a:rPr lang="vi-VN" b="1" i="1" dirty="0"/>
              <a:t>hệ thống đồng bộ (synchronous system)</a:t>
            </a:r>
            <a:endParaRPr lang="vi-VN" b="1" dirty="0"/>
          </a:p>
          <a:p>
            <a:r>
              <a:rPr lang="vi-VN" dirty="0"/>
              <a:t>Mạng đồng bộ = có </a:t>
            </a:r>
            <a:r>
              <a:rPr lang="vi-VN" b="1" dirty="0"/>
              <a:t>giới hạn thời gian</a:t>
            </a:r>
            <a:r>
              <a:rPr lang="vi-VN" dirty="0"/>
              <a:t> cho:</a:t>
            </a:r>
          </a:p>
          <a:p>
            <a:pPr>
              <a:buFont typeface="Arial" panose="020B0604020202020204" pitchFamily="34" charset="0"/>
              <a:buChar char="•"/>
            </a:pPr>
            <a:r>
              <a:rPr lang="vi-VN" dirty="0"/>
              <a:t>độ trễ truyền thông</a:t>
            </a:r>
          </a:p>
          <a:p>
            <a:pPr>
              <a:buFont typeface="Arial" panose="020B0604020202020204" pitchFamily="34" charset="0"/>
              <a:buChar char="•"/>
            </a:pPr>
            <a:r>
              <a:rPr lang="vi-VN" dirty="0"/>
              <a:t>tốc độ xử lý</a:t>
            </a:r>
          </a:p>
          <a:p>
            <a:pPr>
              <a:buFont typeface="Arial" panose="020B0604020202020204" pitchFamily="34" charset="0"/>
              <a:buChar char="•"/>
            </a:pPr>
            <a:r>
              <a:rPr lang="vi-VN" dirty="0"/>
              <a:t>thời gian phản hồi</a:t>
            </a:r>
          </a:p>
          <a:p>
            <a:r>
              <a:rPr lang="vi-VN" dirty="0"/>
              <a:t>Trong môi trường này:</a:t>
            </a:r>
          </a:p>
          <a:p>
            <a:r>
              <a:rPr lang="vi-VN" b="1" dirty="0"/>
              <a:t>a suspected crash ≡ a known crash</a:t>
            </a:r>
            <a:br>
              <a:rPr lang="vi-VN" dirty="0"/>
            </a:br>
            <a:r>
              <a:rPr lang="en-US" dirty="0"/>
              <a:t>=&gt;</a:t>
            </a:r>
            <a:r>
              <a:rPr lang="vi-VN" dirty="0"/>
              <a:t> khi timeout xảy ra thì ta </a:t>
            </a:r>
            <a:r>
              <a:rPr lang="vi-VN" i="1" dirty="0"/>
              <a:t>biết chắc</a:t>
            </a:r>
            <a:r>
              <a:rPr lang="vi-VN" dirty="0"/>
              <a:t> Q đã crash.</a:t>
            </a:r>
          </a:p>
          <a:p>
            <a:r>
              <a:rPr lang="en-US" dirty="0"/>
              <a:t>* </a:t>
            </a:r>
            <a:r>
              <a:rPr lang="vi-VN" dirty="0"/>
              <a:t>Vì sao?</a:t>
            </a:r>
            <a:br>
              <a:rPr lang="vi-VN" dirty="0"/>
            </a:br>
            <a:r>
              <a:rPr lang="vi-VN" dirty="0"/>
              <a:t>Vì trong hệ synchronous, nếu Q còn sống thì nó BẮT BUỘC phải phản hồi trong thời gian giới hạn.</a:t>
            </a:r>
            <a:br>
              <a:rPr lang="vi-VN" dirty="0"/>
            </a:br>
            <a:r>
              <a:rPr lang="vi-VN" dirty="0"/>
              <a:t>Nếu không phản hồi → chắc chắn đã crash.</a:t>
            </a:r>
          </a:p>
          <a:p>
            <a:endParaRPr lang="en-US" b="1" dirty="0"/>
          </a:p>
          <a:p>
            <a:r>
              <a:rPr lang="en-US" b="1" dirty="0"/>
              <a:t>5. </a:t>
            </a:r>
            <a:r>
              <a:rPr lang="vi-VN" b="1" dirty="0"/>
              <a:t>Ý nghĩa khi giảng</a:t>
            </a:r>
          </a:p>
          <a:p>
            <a:pPr>
              <a:buFont typeface="Arial" panose="020B0604020202020204" pitchFamily="34" charset="0"/>
              <a:buChar char="•"/>
            </a:pPr>
            <a:r>
              <a:rPr lang="vi-VN" dirty="0"/>
              <a:t>Trong </a:t>
            </a:r>
            <a:r>
              <a:rPr lang="vi-VN" b="1" dirty="0"/>
              <a:t>synchronous system</a:t>
            </a:r>
            <a:r>
              <a:rPr lang="vi-VN" dirty="0"/>
              <a:t>, failure detection là hoàn hảo</a:t>
            </a:r>
            <a:br>
              <a:rPr lang="vi-VN" dirty="0"/>
            </a:br>
            <a:r>
              <a:rPr lang="en-US" dirty="0"/>
              <a:t>=&gt;</a:t>
            </a:r>
            <a:r>
              <a:rPr lang="vi-VN" dirty="0"/>
              <a:t> crash detection = chính xác 100%</a:t>
            </a:r>
            <a:br>
              <a:rPr lang="vi-VN" dirty="0"/>
            </a:br>
            <a:r>
              <a:rPr lang="en-US" dirty="0"/>
              <a:t>=&gt;</a:t>
            </a:r>
            <a:r>
              <a:rPr lang="vi-VN" dirty="0"/>
              <a:t> không có false positive / false negative</a:t>
            </a:r>
            <a:br>
              <a:rPr lang="vi-VN" dirty="0"/>
            </a:br>
            <a:r>
              <a:rPr lang="en-US" dirty="0"/>
              <a:t>=&gt;</a:t>
            </a:r>
            <a:r>
              <a:rPr lang="vi-VN" dirty="0"/>
              <a:t> nhưng synchronous system rất hiếm trong thực tế</a:t>
            </a:r>
            <a:br>
              <a:rPr lang="vi-VN" dirty="0"/>
            </a:br>
            <a:r>
              <a:rPr lang="vi-VN" dirty="0"/>
              <a:t>(mạng Internet, cloud, wifi… đều là asynchronous hoặc partial synchronous)</a:t>
            </a:r>
          </a:p>
          <a:p>
            <a:pPr>
              <a:buFont typeface="Arial" panose="020B0604020202020204" pitchFamily="34" charset="0"/>
              <a:buChar char="•"/>
            </a:pPr>
            <a:r>
              <a:rPr lang="vi-VN" dirty="0"/>
              <a:t>Trong </a:t>
            </a:r>
            <a:r>
              <a:rPr lang="vi-VN" b="1" dirty="0"/>
              <a:t>asynchronous system</a:t>
            </a:r>
            <a:r>
              <a:rPr lang="vi-VN" dirty="0"/>
              <a:t>, failure detection </a:t>
            </a:r>
            <a:r>
              <a:rPr lang="vi-VN" b="1" dirty="0"/>
              <a:t>không thể đáng tin hoàn toàn</a:t>
            </a:r>
            <a:br>
              <a:rPr lang="vi-VN" dirty="0"/>
            </a:br>
            <a:r>
              <a:rPr lang="en-US" dirty="0"/>
              <a:t>=&gt;</a:t>
            </a:r>
            <a:r>
              <a:rPr lang="vi-VN" dirty="0"/>
              <a:t> có thể nghi ngờ sai</a:t>
            </a:r>
            <a:br>
              <a:rPr lang="vi-VN" dirty="0"/>
            </a:br>
            <a:r>
              <a:rPr lang="en-US" dirty="0"/>
              <a:t>=&gt;</a:t>
            </a:r>
            <a:r>
              <a:rPr lang="vi-VN" dirty="0"/>
              <a:t> đây là nguyên nhân gây ra FLP impossibility (không thể đạt consensus hoàn hảo trong hệ async + crash)</a:t>
            </a:r>
          </a:p>
          <a:p>
            <a:endParaRPr lang="en-US" b="1" dirty="0"/>
          </a:p>
          <a:p>
            <a:r>
              <a:rPr lang="en-US" b="1" dirty="0"/>
              <a:t>6. </a:t>
            </a:r>
            <a:r>
              <a:rPr lang="vi-VN" b="1" dirty="0"/>
              <a:t>Tóm tắt để giảng nhanh trên lớp</a:t>
            </a:r>
          </a:p>
          <a:p>
            <a:pPr>
              <a:buFont typeface="Arial" panose="020B0604020202020204" pitchFamily="34" charset="0"/>
              <a:buChar char="•"/>
            </a:pPr>
            <a:r>
              <a:rPr lang="vi-VN" dirty="0"/>
              <a:t>Một tiến trình P kiểm tra tiến trình Q bằng cách gửi probe.</a:t>
            </a:r>
          </a:p>
          <a:p>
            <a:pPr>
              <a:buFont typeface="Arial" panose="020B0604020202020204" pitchFamily="34" charset="0"/>
              <a:buChar char="•"/>
            </a:pPr>
            <a:r>
              <a:rPr lang="vi-VN" dirty="0"/>
              <a:t>Nếu Q phản hồi → alive.</a:t>
            </a:r>
          </a:p>
          <a:p>
            <a:pPr>
              <a:buFont typeface="Arial" panose="020B0604020202020204" pitchFamily="34" charset="0"/>
              <a:buChar char="•"/>
            </a:pPr>
            <a:r>
              <a:rPr lang="vi-VN" dirty="0"/>
              <a:t>Nếu Q không phản hồi sau t → suspected crashed.</a:t>
            </a:r>
          </a:p>
          <a:p>
            <a:pPr>
              <a:buFont typeface="Arial" panose="020B0604020202020204" pitchFamily="34" charset="0"/>
              <a:buChar char="•"/>
            </a:pPr>
            <a:r>
              <a:rPr lang="vi-VN" dirty="0"/>
              <a:t>Trong hệ synchronous, suspected = crashed.</a:t>
            </a:r>
          </a:p>
          <a:p>
            <a:pPr>
              <a:buFont typeface="Arial" panose="020B0604020202020204" pitchFamily="34" charset="0"/>
              <a:buChar char="•"/>
            </a:pPr>
            <a:r>
              <a:rPr lang="vi-VN" dirty="0"/>
              <a:t>Trong hệ asynchronous, suspected crash có thể </a:t>
            </a:r>
            <a:r>
              <a:rPr lang="vi-VN" b="1" dirty="0"/>
              <a:t>nhầm lẫn</a:t>
            </a:r>
            <a:r>
              <a:rPr lang="vi-VN" dirty="0"/>
              <a:t> (false failure detection).</a:t>
            </a:r>
          </a:p>
          <a:p>
            <a:r>
              <a:rPr lang="en-US" dirty="0"/>
              <a:t>=&gt; </a:t>
            </a:r>
            <a:r>
              <a:rPr lang="vi-VN" dirty="0"/>
              <a:t>Do đó, </a:t>
            </a:r>
            <a:r>
              <a:rPr lang="vi-VN" b="1" dirty="0"/>
              <a:t>reliable failure detection là bất khả thi trong hệ async</a:t>
            </a:r>
            <a:r>
              <a:rPr lang="vi-VN" dirty="0"/>
              <a:t>, và đây là lý do các thuật toán consensus cần mô hình failure detector đặc biệt.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55</a:t>
            </a:fld>
            <a:endParaRPr lang="en-US"/>
          </a:p>
        </p:txBody>
      </p:sp>
    </p:spTree>
    <p:extLst>
      <p:ext uri="{BB962C8B-B14F-4D97-AF65-F5344CB8AC3E}">
        <p14:creationId xmlns:p14="http://schemas.microsoft.com/office/powerpoint/2010/main" val="2933365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“Practical failure detection”</a:t>
            </a:r>
            <a:r>
              <a:rPr lang="vi-VN" dirty="0"/>
              <a:t>.</a:t>
            </a:r>
          </a:p>
          <a:p>
            <a:endParaRPr lang="en-US" b="1" dirty="0"/>
          </a:p>
          <a:p>
            <a:r>
              <a:rPr lang="en-US" b="1" dirty="0"/>
              <a:t>1. </a:t>
            </a:r>
            <a:r>
              <a:rPr lang="vi-VN" b="1" dirty="0"/>
              <a:t>Chủ đề của slide</a:t>
            </a:r>
          </a:p>
          <a:p>
            <a:r>
              <a:rPr lang="vi-VN" dirty="0"/>
              <a:t>Slide này nói về cách </a:t>
            </a:r>
            <a:r>
              <a:rPr lang="vi-VN" b="1" dirty="0"/>
              <a:t>các hệ thống thực tế (practical systems)</a:t>
            </a:r>
            <a:r>
              <a:rPr lang="vi-VN" dirty="0"/>
              <a:t> phát hiện tiến trình bị lỗi, dựa trên:</a:t>
            </a:r>
          </a:p>
          <a:p>
            <a:pPr>
              <a:buFont typeface="Arial" panose="020B0604020202020204" pitchFamily="34" charset="0"/>
              <a:buChar char="•"/>
            </a:pPr>
            <a:r>
              <a:rPr lang="vi-VN" b="1" dirty="0"/>
              <a:t>Heartbeat</a:t>
            </a:r>
            <a:r>
              <a:rPr lang="vi-VN" dirty="0"/>
              <a:t> (</a:t>
            </a:r>
            <a:r>
              <a:rPr lang="en-US" dirty="0" err="1"/>
              <a:t>nhịp</a:t>
            </a:r>
            <a:r>
              <a:rPr lang="en-US" dirty="0"/>
              <a:t> </a:t>
            </a:r>
            <a:r>
              <a:rPr lang="en-US" dirty="0" err="1"/>
              <a:t>đồng</a:t>
            </a:r>
            <a:r>
              <a:rPr lang="en-US" dirty="0"/>
              <a:t> </a:t>
            </a:r>
            <a:r>
              <a:rPr lang="en-US" dirty="0" err="1"/>
              <a:t>bộ</a:t>
            </a:r>
            <a:r>
              <a:rPr lang="vi-VN" dirty="0"/>
              <a:t>)</a:t>
            </a:r>
          </a:p>
          <a:p>
            <a:pPr>
              <a:buFont typeface="Arial" panose="020B0604020202020204" pitchFamily="34" charset="0"/>
              <a:buChar char="•"/>
            </a:pPr>
            <a:r>
              <a:rPr lang="vi-VN" b="1" dirty="0"/>
              <a:t>Timeout</a:t>
            </a:r>
            <a:r>
              <a:rPr lang="vi-VN" dirty="0"/>
              <a:t> (thời gian chờ)</a:t>
            </a:r>
          </a:p>
          <a:p>
            <a:pPr>
              <a:buFont typeface="Arial" panose="020B0604020202020204" pitchFamily="34" charset="0"/>
              <a:buChar char="•"/>
            </a:pPr>
            <a:r>
              <a:rPr lang="vi-VN" b="1" dirty="0"/>
              <a:t>Cơ chế điều chỉnh timeout một cách thích nghi</a:t>
            </a:r>
            <a:endParaRPr lang="vi-VN" dirty="0"/>
          </a:p>
          <a:p>
            <a:r>
              <a:rPr lang="vi-VN" dirty="0"/>
              <a:t>Cách này KHÔNG perfect, nhưng là tiêu chuẩn trong hệ thống phân tán thực tế (Zookeeper, Cassandra, Kubernetes, Raft, Paxos implementations…).</a:t>
            </a:r>
          </a:p>
          <a:p>
            <a:endParaRPr lang="en-US" b="1" dirty="0"/>
          </a:p>
          <a:p>
            <a:r>
              <a:rPr lang="en-US" b="1" dirty="0"/>
              <a:t>2. </a:t>
            </a:r>
            <a:r>
              <a:rPr lang="vi-VN" b="1" dirty="0"/>
              <a:t>Cơ chế hoạt động (Implementation)</a:t>
            </a:r>
          </a:p>
          <a:p>
            <a:r>
              <a:rPr lang="en-US" b="1" dirty="0"/>
              <a:t>-</a:t>
            </a:r>
            <a:r>
              <a:rPr lang="vi-VN" b="1" dirty="0"/>
              <a:t> Nếu P không nhận heartbeat từ Q trong thời gian t → P nghi ngờ Q đã chết</a:t>
            </a:r>
          </a:p>
          <a:p>
            <a:pPr>
              <a:buFont typeface="Arial" panose="020B0604020202020204" pitchFamily="34" charset="0"/>
              <a:buChar char="•"/>
            </a:pPr>
            <a:r>
              <a:rPr lang="vi-VN" dirty="0"/>
              <a:t>Q định kỳ gửi heartbeat để báo “tôi còn sống”.</a:t>
            </a:r>
          </a:p>
          <a:p>
            <a:pPr>
              <a:buFont typeface="Arial" panose="020B0604020202020204" pitchFamily="34" charset="0"/>
              <a:buChar char="•"/>
            </a:pPr>
            <a:r>
              <a:rPr lang="vi-VN" dirty="0"/>
              <a:t>Nếu </a:t>
            </a:r>
            <a:r>
              <a:rPr lang="vi-VN" i="1" dirty="0"/>
              <a:t>đến hạn</a:t>
            </a:r>
            <a:r>
              <a:rPr lang="vi-VN" dirty="0"/>
              <a:t> mà P không thấy heartbeat</a:t>
            </a:r>
            <a:br>
              <a:rPr lang="vi-VN" dirty="0"/>
            </a:br>
            <a:r>
              <a:rPr lang="en-US" dirty="0"/>
              <a:t>=&gt;</a:t>
            </a:r>
            <a:r>
              <a:rPr lang="vi-VN" dirty="0"/>
              <a:t> </a:t>
            </a:r>
            <a:r>
              <a:rPr lang="vi-VN" b="1" dirty="0"/>
              <a:t>P suspects Q</a:t>
            </a:r>
            <a:r>
              <a:rPr lang="vi-VN" dirty="0"/>
              <a:t> (P nghi ngờ Q chết).</a:t>
            </a:r>
          </a:p>
          <a:p>
            <a:r>
              <a:rPr lang="vi-VN" dirty="0"/>
              <a:t>Điểm quan trọng:</a:t>
            </a:r>
            <a:br>
              <a:rPr lang="vi-VN" dirty="0"/>
            </a:br>
            <a:r>
              <a:rPr lang="en-US" dirty="0"/>
              <a:t>=&gt; </a:t>
            </a:r>
            <a:r>
              <a:rPr lang="vi-VN" dirty="0"/>
              <a:t>Đây </a:t>
            </a:r>
            <a:r>
              <a:rPr lang="vi-VN" b="1" dirty="0"/>
              <a:t>chỉ là nghi ngờ</a:t>
            </a:r>
            <a:r>
              <a:rPr lang="vi-VN" dirty="0"/>
              <a:t>, không phải chứng minh chính xác là Q đã crash.</a:t>
            </a:r>
          </a:p>
          <a:p>
            <a:endParaRPr lang="en-US" b="1" dirty="0"/>
          </a:p>
          <a:p>
            <a:r>
              <a:rPr lang="en-US" b="1" dirty="0"/>
              <a:t>3. </a:t>
            </a:r>
            <a:r>
              <a:rPr lang="vi-VN" b="1" dirty="0"/>
              <a:t>Nếu Q sau đó gửi được message đến P</a:t>
            </a:r>
          </a:p>
          <a:p>
            <a:r>
              <a:rPr lang="vi-VN" dirty="0"/>
              <a:t>Điều này chứng tỏ Q thực tế </a:t>
            </a:r>
            <a:r>
              <a:rPr lang="vi-VN" b="1" dirty="0"/>
              <a:t>không chết</a:t>
            </a:r>
            <a:r>
              <a:rPr lang="vi-VN" dirty="0"/>
              <a:t>, chỉ là:</a:t>
            </a:r>
          </a:p>
          <a:p>
            <a:pPr>
              <a:buFont typeface="Arial" panose="020B0604020202020204" pitchFamily="34" charset="0"/>
              <a:buChar char="•"/>
            </a:pPr>
            <a:r>
              <a:rPr lang="vi-VN" dirty="0"/>
              <a:t>chậm,</a:t>
            </a:r>
          </a:p>
          <a:p>
            <a:pPr>
              <a:buFont typeface="Arial" panose="020B0604020202020204" pitchFamily="34" charset="0"/>
              <a:buChar char="•"/>
            </a:pPr>
            <a:r>
              <a:rPr lang="vi-VN" dirty="0"/>
              <a:t>tắc nghẽn mạng,</a:t>
            </a:r>
          </a:p>
          <a:p>
            <a:pPr>
              <a:buFont typeface="Arial" panose="020B0604020202020204" pitchFamily="34" charset="0"/>
              <a:buChar char="•"/>
            </a:pPr>
            <a:r>
              <a:rPr lang="vi-VN" dirty="0"/>
              <a:t>mất gói tin,</a:t>
            </a:r>
          </a:p>
          <a:p>
            <a:pPr>
              <a:buFont typeface="Arial" panose="020B0604020202020204" pitchFamily="34" charset="0"/>
              <a:buChar char="•"/>
            </a:pPr>
            <a:r>
              <a:rPr lang="vi-VN" dirty="0"/>
              <a:t>hệ thống bị tải nặng, …</a:t>
            </a:r>
          </a:p>
          <a:p>
            <a:r>
              <a:rPr lang="vi-VN" dirty="0"/>
              <a:t>Khi đó:</a:t>
            </a:r>
          </a:p>
          <a:p>
            <a:r>
              <a:rPr lang="en-US" b="1" dirty="0"/>
              <a:t>-</a:t>
            </a:r>
            <a:r>
              <a:rPr lang="vi-VN" b="1" dirty="0"/>
              <a:t> P sẽ “gỡ bỏ nghi ngờ” Q</a:t>
            </a:r>
          </a:p>
          <a:p>
            <a:r>
              <a:rPr lang="vi-VN" dirty="0"/>
              <a:t>P stops suspecting Q.</a:t>
            </a:r>
          </a:p>
          <a:p>
            <a:r>
              <a:rPr lang="en-US" b="1" dirty="0"/>
              <a:t>-</a:t>
            </a:r>
            <a:r>
              <a:rPr lang="vi-VN" b="1" dirty="0"/>
              <a:t> P tăng giá trị timeout t</a:t>
            </a:r>
          </a:p>
          <a:p>
            <a:r>
              <a:rPr lang="vi-VN" dirty="0"/>
              <a:t>P nhận ra timeout trước đó </a:t>
            </a:r>
            <a:r>
              <a:rPr lang="vi-VN" b="1" dirty="0"/>
              <a:t>quá ngắn</a:t>
            </a:r>
            <a:r>
              <a:rPr lang="vi-VN" dirty="0"/>
              <a:t>, nên gây ra false suspicion.</a:t>
            </a:r>
          </a:p>
          <a:p>
            <a:r>
              <a:rPr lang="en-US" dirty="0"/>
              <a:t>=&gt;</a:t>
            </a:r>
            <a:r>
              <a:rPr lang="vi-VN" dirty="0"/>
              <a:t> Vì vậy P tăng t để phù hợp hơn với điều kiện mạng hiện tại.</a:t>
            </a:r>
            <a:br>
              <a:rPr lang="vi-VN" dirty="0"/>
            </a:br>
            <a:r>
              <a:rPr lang="en-US" dirty="0"/>
              <a:t>=&gt;</a:t>
            </a:r>
            <a:r>
              <a:rPr lang="vi-VN" dirty="0"/>
              <a:t> Điều này gọi là </a:t>
            </a:r>
            <a:r>
              <a:rPr lang="vi-VN" b="1" dirty="0"/>
              <a:t>adaptive timeout</a:t>
            </a:r>
            <a:r>
              <a:rPr lang="vi-VN" dirty="0"/>
              <a:t>.</a:t>
            </a:r>
          </a:p>
          <a:p>
            <a:r>
              <a:rPr lang="en-US" dirty="0"/>
              <a:t>** </a:t>
            </a:r>
            <a:r>
              <a:rPr lang="vi-VN" dirty="0"/>
              <a:t>Trong thực tế, timeout thường tăng theo kiểu exponential backoff.</a:t>
            </a:r>
          </a:p>
          <a:p>
            <a:endParaRPr lang="en-US" b="1" dirty="0"/>
          </a:p>
          <a:p>
            <a:r>
              <a:rPr lang="en-US" b="1" dirty="0"/>
              <a:t>4. </a:t>
            </a:r>
            <a:r>
              <a:rPr lang="vi-VN" b="1" dirty="0"/>
              <a:t>Lưu ý cực kỳ quan trọng</a:t>
            </a:r>
          </a:p>
          <a:p>
            <a:r>
              <a:rPr lang="vi-VN" b="1" dirty="0"/>
              <a:t>Nếu Q thật sự crash thì P sẽ tiếp tục nghi ngờ Q.</a:t>
            </a:r>
            <a:endParaRPr lang="vi-VN" dirty="0"/>
          </a:p>
          <a:p>
            <a:r>
              <a:rPr lang="vi-VN" dirty="0"/>
              <a:t>Vì khi Q đã chết:</a:t>
            </a:r>
          </a:p>
          <a:p>
            <a:pPr>
              <a:buFont typeface="Arial" panose="020B0604020202020204" pitchFamily="34" charset="0"/>
              <a:buChar char="•"/>
            </a:pPr>
            <a:r>
              <a:rPr lang="vi-VN" dirty="0"/>
              <a:t>không còn heartbeat,</a:t>
            </a:r>
          </a:p>
          <a:p>
            <a:pPr>
              <a:buFont typeface="Arial" panose="020B0604020202020204" pitchFamily="34" charset="0"/>
              <a:buChar char="•"/>
            </a:pPr>
            <a:r>
              <a:rPr lang="vi-VN" dirty="0"/>
              <a:t>không còn message nào từ Q để “gỡ nghi ngờ”.</a:t>
            </a:r>
          </a:p>
          <a:p>
            <a:r>
              <a:rPr lang="vi-VN" dirty="0"/>
              <a:t>Nên P sẽ mãi ở trạng thái </a:t>
            </a:r>
            <a:r>
              <a:rPr lang="vi-VN" i="1" dirty="0"/>
              <a:t>suspecting Q</a:t>
            </a:r>
            <a:r>
              <a:rPr lang="vi-VN" dirty="0"/>
              <a:t>,</a:t>
            </a:r>
            <a:br>
              <a:rPr lang="vi-VN" dirty="0"/>
            </a:br>
            <a:r>
              <a:rPr lang="en-US" dirty="0"/>
              <a:t>=&gt;</a:t>
            </a:r>
            <a:r>
              <a:rPr lang="vi-VN" dirty="0"/>
              <a:t> đây là hành vi đúng mong đợi.</a:t>
            </a:r>
          </a:p>
          <a:p>
            <a:endParaRPr lang="en-US" b="1" dirty="0"/>
          </a:p>
          <a:p>
            <a:r>
              <a:rPr lang="en-US" b="1" i="1" dirty="0"/>
              <a:t>5. </a:t>
            </a:r>
            <a:r>
              <a:rPr lang="vi-VN" b="1" i="1" dirty="0"/>
              <a:t>Ý nghĩa thực tế</a:t>
            </a:r>
          </a:p>
          <a:p>
            <a:r>
              <a:rPr lang="vi-VN" i="1" dirty="0"/>
              <a:t>Hệ thống phân tán thực tế không thể trông chờ failure detector hoàn hảo.</a:t>
            </a:r>
            <a:br>
              <a:rPr lang="vi-VN" i="1" dirty="0"/>
            </a:br>
            <a:r>
              <a:rPr lang="vi-VN" i="1" dirty="0"/>
              <a:t>Nên cơ chế "heartbeat + timeout" là:</a:t>
            </a:r>
          </a:p>
          <a:p>
            <a:pPr>
              <a:buFont typeface="Arial" panose="020B0604020202020204" pitchFamily="34" charset="0"/>
              <a:buChar char="•"/>
            </a:pPr>
            <a:r>
              <a:rPr lang="vi-VN" b="1" i="1" dirty="0"/>
              <a:t>Không chính xác tuyệt đối</a:t>
            </a:r>
            <a:r>
              <a:rPr lang="vi-VN" i="1" dirty="0"/>
              <a:t>, có thể false positive</a:t>
            </a:r>
          </a:p>
          <a:p>
            <a:pPr>
              <a:buFont typeface="Arial" panose="020B0604020202020204" pitchFamily="34" charset="0"/>
              <a:buChar char="•"/>
            </a:pPr>
            <a:r>
              <a:rPr lang="vi-VN" b="1" i="1" dirty="0"/>
              <a:t>Nhưng đơn giản, phổ biến và hiệu quả</a:t>
            </a:r>
            <a:endParaRPr lang="vi-VN" i="1" dirty="0"/>
          </a:p>
          <a:p>
            <a:pPr>
              <a:buFont typeface="Arial" panose="020B0604020202020204" pitchFamily="34" charset="0"/>
              <a:buChar char="•"/>
            </a:pPr>
            <a:r>
              <a:rPr lang="vi-VN" b="1" i="1" dirty="0"/>
              <a:t>Đủ dùng cho hầu hết các hệ thống lớn</a:t>
            </a:r>
            <a:r>
              <a:rPr lang="vi-VN" i="1" dirty="0"/>
              <a:t> như:</a:t>
            </a:r>
          </a:p>
          <a:p>
            <a:pPr marL="742950" lvl="1" indent="-285750">
              <a:buFont typeface="Arial" panose="020B0604020202020204" pitchFamily="34" charset="0"/>
              <a:buChar char="•"/>
            </a:pPr>
            <a:r>
              <a:rPr lang="vi-VN" i="1" dirty="0"/>
              <a:t>Google Chubby</a:t>
            </a:r>
          </a:p>
          <a:p>
            <a:pPr marL="742950" lvl="1" indent="-285750">
              <a:buFont typeface="Arial" panose="020B0604020202020204" pitchFamily="34" charset="0"/>
              <a:buChar char="•"/>
            </a:pPr>
            <a:r>
              <a:rPr lang="vi-VN" i="1" dirty="0"/>
              <a:t>Apache Zookeeper</a:t>
            </a:r>
          </a:p>
          <a:p>
            <a:pPr marL="742950" lvl="1" indent="-285750">
              <a:buFont typeface="Arial" panose="020B0604020202020204" pitchFamily="34" charset="0"/>
              <a:buChar char="•"/>
            </a:pPr>
            <a:r>
              <a:rPr lang="vi-VN" i="1" dirty="0"/>
              <a:t>Cassandra Gossip</a:t>
            </a:r>
          </a:p>
          <a:p>
            <a:pPr marL="742950" lvl="1" indent="-285750">
              <a:buFont typeface="Arial" panose="020B0604020202020204" pitchFamily="34" charset="0"/>
              <a:buChar char="•"/>
            </a:pPr>
            <a:r>
              <a:rPr lang="vi-VN" i="1" dirty="0"/>
              <a:t>Kubernetes node liveness</a:t>
            </a:r>
          </a:p>
          <a:p>
            <a:pPr marL="742950" lvl="1" indent="-285750">
              <a:buFont typeface="Arial" panose="020B0604020202020204" pitchFamily="34" charset="0"/>
              <a:buChar char="•"/>
            </a:pPr>
            <a:r>
              <a:rPr lang="vi-VN" i="1" dirty="0"/>
              <a:t>Raft leader election</a:t>
            </a:r>
          </a:p>
          <a:p>
            <a:endParaRPr lang="en-US" b="1" dirty="0"/>
          </a:p>
          <a:p>
            <a:r>
              <a:rPr lang="en-US" b="1" dirty="0"/>
              <a:t>6. </a:t>
            </a:r>
            <a:r>
              <a:rPr lang="vi-VN" b="1" dirty="0"/>
              <a:t>Tóm tắt slide để giảng nhanh trên lớp</a:t>
            </a:r>
          </a:p>
          <a:p>
            <a:pPr>
              <a:buFont typeface="Arial" panose="020B0604020202020204" pitchFamily="34" charset="0"/>
              <a:buChar char="•"/>
            </a:pPr>
            <a:r>
              <a:rPr lang="vi-VN" dirty="0"/>
              <a:t>P đợi heartbeat từ Q trong thời gian t.</a:t>
            </a:r>
          </a:p>
          <a:p>
            <a:pPr>
              <a:buFont typeface="Arial" panose="020B0604020202020204" pitchFamily="34" charset="0"/>
              <a:buChar char="•"/>
            </a:pPr>
            <a:r>
              <a:rPr lang="vi-VN" dirty="0"/>
              <a:t>Không nhận được → P nghi ngờ Q chết.</a:t>
            </a:r>
          </a:p>
          <a:p>
            <a:pPr>
              <a:buFont typeface="Arial" panose="020B0604020202020204" pitchFamily="34" charset="0"/>
              <a:buChar char="•"/>
            </a:pPr>
            <a:r>
              <a:rPr lang="vi-VN" dirty="0"/>
              <a:t>Nếu sau đó Q gửi message → Q chưa chết:</a:t>
            </a:r>
          </a:p>
          <a:p>
            <a:pPr marL="742950" lvl="1" indent="-285750">
              <a:buFont typeface="Arial" panose="020B0604020202020204" pitchFamily="34" charset="0"/>
              <a:buChar char="•"/>
            </a:pPr>
            <a:r>
              <a:rPr lang="vi-VN" dirty="0"/>
              <a:t>P bỏ nghi ngờ.</a:t>
            </a:r>
          </a:p>
          <a:p>
            <a:pPr marL="742950" lvl="1" indent="-285750">
              <a:buFont typeface="Arial" panose="020B0604020202020204" pitchFamily="34" charset="0"/>
              <a:buChar char="•"/>
            </a:pPr>
            <a:r>
              <a:rPr lang="vi-VN" dirty="0"/>
              <a:t>P tăng timeout vì đã đoán sai.</a:t>
            </a:r>
          </a:p>
          <a:p>
            <a:pPr>
              <a:buFont typeface="Arial" panose="020B0604020202020204" pitchFamily="34" charset="0"/>
              <a:buChar char="•"/>
            </a:pPr>
            <a:r>
              <a:rPr lang="vi-VN" dirty="0"/>
              <a:t>Nếu Q thật sự chết → P sẽ mãi nghi ngờ Q.</a:t>
            </a:r>
          </a:p>
          <a:p>
            <a:endParaRPr lang="en-US" dirty="0"/>
          </a:p>
          <a:p>
            <a:r>
              <a:rPr lang="vi-VN" dirty="0"/>
              <a:t>Bài học quan trọng:</a:t>
            </a:r>
          </a:p>
          <a:p>
            <a:r>
              <a:rPr lang="vi-VN" b="1" dirty="0"/>
              <a:t>Failure detection trong thực tế không hoàn hảo — nó dựa trên timeout và có thể nhầm lẫn.</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56</a:t>
            </a:fld>
            <a:endParaRPr lang="en-US"/>
          </a:p>
        </p:txBody>
      </p:sp>
    </p:spTree>
    <p:extLst>
      <p:ext uri="{BB962C8B-B14F-4D97-AF65-F5344CB8AC3E}">
        <p14:creationId xmlns:p14="http://schemas.microsoft.com/office/powerpoint/2010/main" val="13631844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“Reliable remote procedure calls”</a:t>
            </a:r>
            <a:r>
              <a:rPr lang="vi-VN" dirty="0"/>
              <a:t>.</a:t>
            </a:r>
          </a:p>
          <a:p>
            <a:r>
              <a:rPr lang="vi-VN" b="1" dirty="0"/>
              <a:t>Reliable remote procedure calls (RPC) – Làm sao gọi hàm từ xa một cách đáng tin cậy?</a:t>
            </a:r>
          </a:p>
          <a:p>
            <a:r>
              <a:rPr lang="vi-VN" dirty="0"/>
              <a:t>RPC là cơ chế cho phép chương trình client gọi hàm trên server </a:t>
            </a:r>
            <a:r>
              <a:rPr lang="vi-VN" i="1" dirty="0"/>
              <a:t>như thể</a:t>
            </a:r>
            <a:r>
              <a:rPr lang="vi-VN" dirty="0"/>
              <a:t> gọi hàm cục bộ. Tuy nhiên, trong hệ thống phân tán luôn tồn tại lỗi → rất khó đảm bảo RPC chạy “đúng như hàm bình thường”.</a:t>
            </a:r>
          </a:p>
          <a:p>
            <a:r>
              <a:rPr lang="vi-VN" dirty="0"/>
              <a:t>Slide này liệt kê các vấn đề có thể xảy ra.</a:t>
            </a:r>
          </a:p>
          <a:p>
            <a:endParaRPr lang="en-US" b="1" dirty="0"/>
          </a:p>
          <a:p>
            <a:r>
              <a:rPr lang="en-US" b="1" dirty="0"/>
              <a:t>1. </a:t>
            </a:r>
            <a:r>
              <a:rPr lang="vi-VN" b="1" dirty="0"/>
              <a:t>What can go wrong? — Những lỗi có thể xảy ra trong RPC</a:t>
            </a:r>
          </a:p>
          <a:p>
            <a:r>
              <a:rPr lang="vi-VN" b="1" dirty="0"/>
              <a:t>(1) Client không tìm thấy server</a:t>
            </a:r>
          </a:p>
          <a:p>
            <a:pPr>
              <a:buFont typeface="Arial" panose="020B0604020202020204" pitchFamily="34" charset="0"/>
              <a:buChar char="•"/>
            </a:pPr>
            <a:r>
              <a:rPr lang="vi-VN" dirty="0"/>
              <a:t>Client muốn gọi RPC nhưng không biết server ở đâu (ví dụ DNS lỗi, server không đăng ký dịch vụ).</a:t>
            </a:r>
          </a:p>
          <a:p>
            <a:pPr>
              <a:buFont typeface="Arial" panose="020B0604020202020204" pitchFamily="34" charset="0"/>
              <a:buChar char="•"/>
            </a:pPr>
            <a:r>
              <a:rPr lang="vi-VN" dirty="0"/>
              <a:t>Đây là lỗi “lookup failure”.</a:t>
            </a:r>
          </a:p>
          <a:p>
            <a:r>
              <a:rPr lang="en-US" dirty="0"/>
              <a:t>* </a:t>
            </a:r>
            <a:r>
              <a:rPr lang="vi-VN" i="1" dirty="0"/>
              <a:t>Dễ xử lý</a:t>
            </a:r>
            <a:r>
              <a:rPr lang="vi-VN" dirty="0"/>
              <a:t>: Báo lỗi ngay cho client.</a:t>
            </a:r>
            <a:br>
              <a:rPr lang="vi-VN" dirty="0"/>
            </a:br>
            <a:r>
              <a:rPr lang="vi-VN" dirty="0"/>
              <a:t>Không thể tiếp tục RPC khi không tìm ra server.</a:t>
            </a:r>
          </a:p>
          <a:p>
            <a:r>
              <a:rPr lang="vi-VN" b="1" dirty="0"/>
              <a:t>(2) Request message bị mất trên đường từ client → server</a:t>
            </a:r>
          </a:p>
          <a:p>
            <a:pPr>
              <a:buFont typeface="Arial" panose="020B0604020202020204" pitchFamily="34" charset="0"/>
              <a:buChar char="•"/>
            </a:pPr>
            <a:r>
              <a:rPr lang="vi-VN" dirty="0"/>
              <a:t>Client gửi request nhưng gói tin bị rơi, bị timeout hoặc bị drop bởi network.</a:t>
            </a:r>
          </a:p>
          <a:p>
            <a:pPr>
              <a:buFont typeface="Arial" panose="020B0604020202020204" pitchFamily="34" charset="0"/>
              <a:buChar char="•"/>
            </a:pPr>
            <a:r>
              <a:rPr lang="vi-VN" dirty="0"/>
              <a:t>Server không hề biết đã có yêu cầu từ client.</a:t>
            </a:r>
          </a:p>
          <a:p>
            <a:r>
              <a:rPr lang="en-US" dirty="0"/>
              <a:t>* </a:t>
            </a:r>
            <a:r>
              <a:rPr lang="vi-VN" i="1" dirty="0"/>
              <a:t>Giải pháp đơn giản</a:t>
            </a:r>
            <a:r>
              <a:rPr lang="vi-VN" dirty="0"/>
              <a:t>: </a:t>
            </a:r>
            <a:r>
              <a:rPr lang="vi-VN" b="1" dirty="0"/>
              <a:t>Gửi lại request</a:t>
            </a:r>
            <a:r>
              <a:rPr lang="vi-VN" dirty="0"/>
              <a:t>.</a:t>
            </a:r>
          </a:p>
          <a:p>
            <a:r>
              <a:rPr lang="en-US" dirty="0"/>
              <a:t>=&gt; </a:t>
            </a:r>
            <a:r>
              <a:rPr lang="vi-VN" dirty="0"/>
              <a:t>Nhưng điều này dẫn đến vấn đề:</a:t>
            </a:r>
            <a:br>
              <a:rPr lang="vi-VN" dirty="0"/>
            </a:br>
            <a:r>
              <a:rPr lang="vi-VN" dirty="0"/>
              <a:t>Nếu server </a:t>
            </a:r>
            <a:r>
              <a:rPr lang="vi-VN" i="1" dirty="0"/>
              <a:t>đã nhận nhưng trả lời bị mất</a:t>
            </a:r>
            <a:r>
              <a:rPr lang="vi-VN" dirty="0"/>
              <a:t>, client gửi lại → server có thể thực hiện </a:t>
            </a:r>
            <a:r>
              <a:rPr lang="vi-VN" i="1" dirty="0"/>
              <a:t>lại</a:t>
            </a:r>
            <a:r>
              <a:rPr lang="vi-VN" dirty="0"/>
              <a:t> yêu cầu → gây ra lỗi </a:t>
            </a:r>
            <a:r>
              <a:rPr lang="vi-VN" i="1" dirty="0"/>
              <a:t>duplicate execution</a:t>
            </a:r>
            <a:r>
              <a:rPr lang="vi-VN" dirty="0"/>
              <a:t>.</a:t>
            </a:r>
          </a:p>
          <a:p>
            <a:r>
              <a:rPr lang="vi-VN" dirty="0"/>
              <a:t>(</a:t>
            </a:r>
            <a:r>
              <a:rPr lang="vi-VN" i="1" dirty="0"/>
              <a:t>Đây là cơ sở của at-most-once / at-least-once semantics học ở phần sau.</a:t>
            </a:r>
            <a:r>
              <a:rPr lang="vi-VN" dirty="0"/>
              <a:t>)</a:t>
            </a:r>
          </a:p>
          <a:p>
            <a:r>
              <a:rPr lang="vi-VN" b="1" dirty="0"/>
              <a:t>(3) Server crash sau khi nhận request</a:t>
            </a:r>
          </a:p>
          <a:p>
            <a:pPr>
              <a:buFont typeface="Arial" panose="020B0604020202020204" pitchFamily="34" charset="0"/>
              <a:buChar char="•"/>
            </a:pPr>
            <a:r>
              <a:rPr lang="vi-VN" dirty="0"/>
              <a:t>Server nhận request nhưng chết trước khi trả lời.</a:t>
            </a:r>
          </a:p>
          <a:p>
            <a:pPr>
              <a:buFont typeface="Arial" panose="020B0604020202020204" pitchFamily="34" charset="0"/>
              <a:buChar char="•"/>
            </a:pPr>
            <a:r>
              <a:rPr lang="vi-VN" dirty="0"/>
              <a:t>Client không biết server đã:</a:t>
            </a:r>
          </a:p>
          <a:p>
            <a:pPr marL="742950" lvl="1" indent="-285750">
              <a:buFont typeface="Arial" panose="020B0604020202020204" pitchFamily="34" charset="0"/>
              <a:buChar char="•"/>
            </a:pPr>
            <a:r>
              <a:rPr lang="vi-VN" dirty="0"/>
              <a:t>chưa xử lý,</a:t>
            </a:r>
          </a:p>
          <a:p>
            <a:pPr marL="742950" lvl="1" indent="-285750">
              <a:buFont typeface="Arial" panose="020B0604020202020204" pitchFamily="34" charset="0"/>
              <a:buChar char="•"/>
            </a:pPr>
            <a:r>
              <a:rPr lang="vi-VN" dirty="0"/>
              <a:t>đã xử lý một phần,</a:t>
            </a:r>
          </a:p>
          <a:p>
            <a:pPr marL="742950" lvl="1" indent="-285750">
              <a:buFont typeface="Arial" panose="020B0604020202020204" pitchFamily="34" charset="0"/>
              <a:buChar char="•"/>
            </a:pPr>
            <a:r>
              <a:rPr lang="vi-VN" dirty="0"/>
              <a:t>hay đã hoàn tất xử lý nhưng chưa gửi reply.</a:t>
            </a:r>
          </a:p>
          <a:p>
            <a:r>
              <a:rPr lang="en-US" dirty="0"/>
              <a:t>* </a:t>
            </a:r>
            <a:r>
              <a:rPr lang="vi-VN" dirty="0"/>
              <a:t>Đây là </a:t>
            </a:r>
            <a:r>
              <a:rPr lang="vi-VN" b="1" dirty="0"/>
              <a:t>lỗi phức tạp nhất trong RPC</a:t>
            </a:r>
            <a:r>
              <a:rPr lang="vi-VN" dirty="0"/>
              <a:t>, vì client không biết request đã được thực thi hay chưa.</a:t>
            </a:r>
          </a:p>
          <a:p>
            <a:r>
              <a:rPr lang="vi-VN" b="1" dirty="0"/>
              <a:t>(4) Reply từ server → client bị mất</a:t>
            </a:r>
          </a:p>
          <a:p>
            <a:pPr>
              <a:buFont typeface="Arial" panose="020B0604020202020204" pitchFamily="34" charset="0"/>
              <a:buChar char="•"/>
            </a:pPr>
            <a:r>
              <a:rPr lang="vi-VN" dirty="0"/>
              <a:t>Server thực thi xong, gửi reply nhưng reply bị mất.</a:t>
            </a:r>
          </a:p>
          <a:p>
            <a:pPr>
              <a:buFont typeface="Arial" panose="020B0604020202020204" pitchFamily="34" charset="0"/>
              <a:buChar char="•"/>
            </a:pPr>
            <a:r>
              <a:rPr lang="vi-VN" dirty="0"/>
              <a:t>Client thấy timeout → tưởng server chưa xử lý → gửi lại request.</a:t>
            </a:r>
          </a:p>
          <a:p>
            <a:r>
              <a:rPr lang="en-US" dirty="0"/>
              <a:t>* </a:t>
            </a:r>
            <a:r>
              <a:rPr lang="vi-VN" dirty="0"/>
              <a:t>Nếu server xử lý lại → gây ra thực thi nhiều lần (duplicate effect).</a:t>
            </a:r>
            <a:br>
              <a:rPr lang="vi-VN" dirty="0"/>
            </a:br>
            <a:r>
              <a:rPr lang="en-US" dirty="0"/>
              <a:t>=&gt;</a:t>
            </a:r>
            <a:r>
              <a:rPr lang="vi-VN" dirty="0"/>
              <a:t> Cần cơ chế tránh double execution.</a:t>
            </a:r>
          </a:p>
          <a:p>
            <a:r>
              <a:rPr lang="vi-VN" b="1" dirty="0"/>
              <a:t>(5) Client crash sau khi gửi request</a:t>
            </a:r>
          </a:p>
          <a:p>
            <a:pPr>
              <a:buFont typeface="Arial" panose="020B0604020202020204" pitchFamily="34" charset="0"/>
              <a:buChar char="•"/>
            </a:pPr>
            <a:r>
              <a:rPr lang="vi-VN" dirty="0"/>
              <a:t>Client gửi yêu cầu, nhưng sau đó client chết trước khi nhận kết quả.</a:t>
            </a:r>
          </a:p>
          <a:p>
            <a:pPr>
              <a:buFont typeface="Arial" panose="020B0604020202020204" pitchFamily="34" charset="0"/>
              <a:buChar char="•"/>
            </a:pPr>
            <a:r>
              <a:rPr lang="vi-VN" dirty="0"/>
              <a:t>Server có thể:</a:t>
            </a:r>
          </a:p>
          <a:p>
            <a:pPr marL="742950" lvl="1" indent="-285750">
              <a:buFont typeface="Arial" panose="020B0604020202020204" pitchFamily="34" charset="0"/>
              <a:buChar char="•"/>
            </a:pPr>
            <a:r>
              <a:rPr lang="vi-VN" dirty="0"/>
              <a:t>đã xử lý,</a:t>
            </a:r>
          </a:p>
          <a:p>
            <a:pPr marL="742950" lvl="1" indent="-285750">
              <a:buFont typeface="Arial" panose="020B0604020202020204" pitchFamily="34" charset="0"/>
              <a:buChar char="•"/>
            </a:pPr>
            <a:r>
              <a:rPr lang="vi-VN" dirty="0"/>
              <a:t>hoặc đang xử lý,</a:t>
            </a:r>
          </a:p>
          <a:p>
            <a:pPr marL="742950" lvl="1" indent="-285750">
              <a:buFont typeface="Arial" panose="020B0604020202020204" pitchFamily="34" charset="0"/>
              <a:buChar char="•"/>
            </a:pPr>
            <a:r>
              <a:rPr lang="vi-VN" dirty="0"/>
              <a:t>hoặc sắp xử lý request.</a:t>
            </a:r>
          </a:p>
          <a:p>
            <a:r>
              <a:rPr lang="en-US" dirty="0"/>
              <a:t>* </a:t>
            </a:r>
            <a:r>
              <a:rPr lang="vi-VN" dirty="0"/>
              <a:t>Đây là vấn đề liên quan tới </a:t>
            </a:r>
            <a:r>
              <a:rPr lang="vi-VN" b="1" dirty="0"/>
              <a:t>orphan RPCs</a:t>
            </a:r>
            <a:r>
              <a:rPr lang="vi-VN" dirty="0"/>
              <a:t> – lời gọi mồ côi.</a:t>
            </a:r>
            <a:br>
              <a:rPr lang="vi-VN" dirty="0"/>
            </a:br>
            <a:r>
              <a:rPr lang="vi-VN" dirty="0"/>
              <a:t>Hệ thống phải có cơ chế quản lý orphan.</a:t>
            </a:r>
          </a:p>
          <a:p>
            <a:endParaRPr lang="en-US" b="1" dirty="0"/>
          </a:p>
          <a:p>
            <a:r>
              <a:rPr lang="en-US" b="1" dirty="0"/>
              <a:t>2. </a:t>
            </a:r>
            <a:r>
              <a:rPr lang="vi-VN" b="1" dirty="0"/>
              <a:t>Two “easy” solutions — Hai trường hợp dễ xử lý</a:t>
            </a:r>
          </a:p>
          <a:p>
            <a:r>
              <a:rPr lang="vi-VN" dirty="0"/>
              <a:t>Slide nói rằng không phải lỗi nào cũng khó. Hai lỗi đầu tiên có thể xử lý đơn giản:</a:t>
            </a:r>
          </a:p>
          <a:p>
            <a:r>
              <a:rPr lang="en-US" b="1" dirty="0"/>
              <a:t>-</a:t>
            </a:r>
            <a:r>
              <a:rPr lang="vi-VN" b="1" dirty="0"/>
              <a:t> Trường hợp 1: Không tìm thấy server</a:t>
            </a:r>
          </a:p>
          <a:p>
            <a:r>
              <a:rPr lang="en-US" dirty="0"/>
              <a:t>=&gt;</a:t>
            </a:r>
            <a:r>
              <a:rPr lang="vi-VN" dirty="0"/>
              <a:t> Báo lỗi ngay cho client.</a:t>
            </a:r>
          </a:p>
          <a:p>
            <a:r>
              <a:rPr lang="vi-VN" dirty="0"/>
              <a:t>Không thể làm gì thêm vì không có server để gửi request.</a:t>
            </a:r>
          </a:p>
          <a:p>
            <a:r>
              <a:rPr lang="en-US" b="1" dirty="0"/>
              <a:t>- </a:t>
            </a:r>
            <a:r>
              <a:rPr lang="vi-VN" b="1" dirty="0"/>
              <a:t>Trường hợp 2: Request bị mất</a:t>
            </a:r>
          </a:p>
          <a:p>
            <a:r>
              <a:rPr lang="en-US" dirty="0"/>
              <a:t>=&gt;</a:t>
            </a:r>
            <a:r>
              <a:rPr lang="vi-VN" dirty="0"/>
              <a:t> </a:t>
            </a:r>
            <a:r>
              <a:rPr lang="vi-VN" b="1" dirty="0"/>
              <a:t>Gửi lại request</a:t>
            </a:r>
            <a:r>
              <a:rPr lang="vi-VN" dirty="0"/>
              <a:t>.</a:t>
            </a:r>
          </a:p>
          <a:p>
            <a:r>
              <a:rPr lang="vi-VN" dirty="0"/>
              <a:t>Đây là cách làm chuẩn (UDP, RPC cũ, các hệ thống message-based đều làm vậy).</a:t>
            </a:r>
          </a:p>
          <a:p>
            <a:r>
              <a:rPr lang="en-US" dirty="0"/>
              <a:t>=&gt; </a:t>
            </a:r>
            <a:r>
              <a:rPr lang="vi-VN" dirty="0"/>
              <a:t>Tuy nhiên, việc gửi lại request dẫn đến bài toán lớn hơn:</a:t>
            </a:r>
            <a:br>
              <a:rPr lang="vi-VN" dirty="0"/>
            </a:br>
            <a:r>
              <a:rPr lang="vi-VN" b="1" dirty="0"/>
              <a:t>Làm sao để server không thực thi request hai lần?</a:t>
            </a:r>
            <a:br>
              <a:rPr lang="vi-VN" dirty="0"/>
            </a:br>
            <a:r>
              <a:rPr lang="en-US" dirty="0"/>
              <a:t>=&gt;</a:t>
            </a:r>
            <a:r>
              <a:rPr lang="vi-VN" dirty="0"/>
              <a:t> Điều này dẫn tới khái niệm:</a:t>
            </a:r>
          </a:p>
          <a:p>
            <a:pPr>
              <a:buFont typeface="Arial" panose="020B0604020202020204" pitchFamily="34" charset="0"/>
              <a:buChar char="•"/>
            </a:pPr>
            <a:r>
              <a:rPr lang="vi-VN" i="1" dirty="0"/>
              <a:t>At-least-once RPC</a:t>
            </a:r>
            <a:endParaRPr lang="vi-VN" dirty="0"/>
          </a:p>
          <a:p>
            <a:pPr>
              <a:buFont typeface="Arial" panose="020B0604020202020204" pitchFamily="34" charset="0"/>
              <a:buChar char="•"/>
            </a:pPr>
            <a:r>
              <a:rPr lang="vi-VN" i="1" dirty="0"/>
              <a:t>At-most-once RPC</a:t>
            </a:r>
            <a:endParaRPr lang="vi-VN" dirty="0"/>
          </a:p>
          <a:p>
            <a:pPr>
              <a:buFont typeface="Arial" panose="020B0604020202020204" pitchFamily="34" charset="0"/>
              <a:buChar char="•"/>
            </a:pPr>
            <a:r>
              <a:rPr lang="vi-VN" i="1" dirty="0"/>
              <a:t>Exactly-once RPC</a:t>
            </a:r>
            <a:r>
              <a:rPr lang="vi-VN" dirty="0"/>
              <a:t> (trên lý thuyết, trong thực tế không đạt được 100%)</a:t>
            </a:r>
          </a:p>
          <a:p>
            <a:endParaRPr lang="en-US" b="1" dirty="0"/>
          </a:p>
          <a:p>
            <a:r>
              <a:rPr lang="vi-VN" b="1" dirty="0"/>
              <a:t>Tóm tắt để giảng nhanh trên lớp</a:t>
            </a:r>
          </a:p>
          <a:p>
            <a:pPr>
              <a:buFont typeface="Arial" panose="020B0604020202020204" pitchFamily="34" charset="0"/>
              <a:buChar char="•"/>
            </a:pPr>
            <a:r>
              <a:rPr lang="vi-VN" dirty="0"/>
              <a:t>RPC trông đơn giản nhưng rất dễ gặp lỗi trong hệ thống phân tán.</a:t>
            </a:r>
          </a:p>
          <a:p>
            <a:pPr>
              <a:buFont typeface="Arial" panose="020B0604020202020204" pitchFamily="34" charset="0"/>
              <a:buChar char="•"/>
            </a:pPr>
            <a:r>
              <a:rPr lang="vi-VN" dirty="0"/>
              <a:t>Có 5 loại lỗi cơ bản: không tìm được server, mất request, server crash, mất reply, client crash.</a:t>
            </a:r>
          </a:p>
          <a:p>
            <a:pPr>
              <a:buFont typeface="Arial" panose="020B0604020202020204" pitchFamily="34" charset="0"/>
              <a:buChar char="•"/>
            </a:pPr>
            <a:r>
              <a:rPr lang="vi-VN" dirty="0"/>
              <a:t>Hai lỗi đầu dễ giải quyết (báo lỗi hoặc gửi lại).</a:t>
            </a:r>
          </a:p>
          <a:p>
            <a:pPr>
              <a:buFont typeface="Arial" panose="020B0604020202020204" pitchFamily="34" charset="0"/>
              <a:buChar char="•"/>
            </a:pPr>
            <a:r>
              <a:rPr lang="vi-VN" dirty="0"/>
              <a:t>Ba lỗi còn lại là nguồn gốc của bài toán phức tạp: </a:t>
            </a:r>
            <a:r>
              <a:rPr lang="vi-VN" b="1" dirty="0"/>
              <a:t>đảm bảo đúng semantics của RPC</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58</a:t>
            </a:fld>
            <a:endParaRPr lang="en-US"/>
          </a:p>
        </p:txBody>
      </p:sp>
    </p:spTree>
    <p:extLst>
      <p:ext uri="{BB962C8B-B14F-4D97-AF65-F5344CB8AC3E}">
        <p14:creationId xmlns:p14="http://schemas.microsoft.com/office/powerpoint/2010/main" val="22165603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“Reliable RPC: server crash”</a:t>
            </a:r>
            <a:r>
              <a:rPr lang="vi-VN" dirty="0"/>
              <a:t>.</a:t>
            </a:r>
          </a:p>
          <a:p>
            <a:r>
              <a:rPr lang="vi-VN" b="1" dirty="0"/>
              <a:t>Reliable RPC: Server crash – RPC đáng tin cậy khi server có thể bị crash</a:t>
            </a:r>
          </a:p>
          <a:p>
            <a:r>
              <a:rPr lang="vi-VN" dirty="0"/>
              <a:t>Slide này mô tả </a:t>
            </a:r>
            <a:r>
              <a:rPr lang="vi-VN" b="1" dirty="0"/>
              <a:t>3 tình huống</a:t>
            </a:r>
            <a:r>
              <a:rPr lang="vi-VN" dirty="0"/>
              <a:t> có thể xảy ra khi client gửi một yêu cầu RPC (REQ) đến server.</a:t>
            </a:r>
          </a:p>
          <a:p>
            <a:r>
              <a:rPr lang="en-US" b="1" dirty="0"/>
              <a:t>(</a:t>
            </a:r>
            <a:r>
              <a:rPr lang="vi-VN" b="1" dirty="0"/>
              <a:t>a) Normal case — Server hoạt động bình thường</a:t>
            </a:r>
          </a:p>
          <a:p>
            <a:pPr rtl="0"/>
            <a:r>
              <a:rPr lang="vi-VN" dirty="0"/>
              <a:t>Client → REQ → Server ← REP ← </a:t>
            </a:r>
          </a:p>
          <a:p>
            <a:r>
              <a:rPr lang="vi-VN" dirty="0"/>
              <a:t>Quy trình:</a:t>
            </a:r>
          </a:p>
          <a:p>
            <a:pPr>
              <a:buFont typeface="+mj-lt"/>
              <a:buAutoNum type="arabicPeriod"/>
            </a:pPr>
            <a:r>
              <a:rPr lang="vi-VN" dirty="0"/>
              <a:t>Server </a:t>
            </a:r>
            <a:r>
              <a:rPr lang="vi-VN" b="1" dirty="0"/>
              <a:t>nhận request</a:t>
            </a:r>
            <a:r>
              <a:rPr lang="vi-VN" dirty="0"/>
              <a:t>.</a:t>
            </a:r>
          </a:p>
          <a:p>
            <a:pPr>
              <a:buFont typeface="+mj-lt"/>
              <a:buAutoNum type="arabicPeriod"/>
            </a:pPr>
            <a:r>
              <a:rPr lang="vi-VN" dirty="0"/>
              <a:t>Server </a:t>
            </a:r>
            <a:r>
              <a:rPr lang="vi-VN" b="1" dirty="0"/>
              <a:t>thực thi hàm</a:t>
            </a:r>
            <a:r>
              <a:rPr lang="vi-VN" dirty="0"/>
              <a:t> (execute).</a:t>
            </a:r>
          </a:p>
          <a:p>
            <a:pPr>
              <a:buFont typeface="+mj-lt"/>
              <a:buAutoNum type="arabicPeriod"/>
            </a:pPr>
            <a:r>
              <a:rPr lang="vi-VN" dirty="0"/>
              <a:t>Server </a:t>
            </a:r>
            <a:r>
              <a:rPr lang="vi-VN" b="1" dirty="0"/>
              <a:t>trả kết quả</a:t>
            </a:r>
            <a:r>
              <a:rPr lang="vi-VN" dirty="0"/>
              <a:t> cho client (reply).</a:t>
            </a:r>
          </a:p>
          <a:p>
            <a:r>
              <a:rPr lang="en-US" dirty="0"/>
              <a:t>=&gt; </a:t>
            </a:r>
            <a:r>
              <a:rPr lang="vi-VN" dirty="0"/>
              <a:t>Đây là trường hợp lý tưởng, không lỗi, RPC hoạt động giống như gọi hàm bình thường.</a:t>
            </a:r>
          </a:p>
          <a:p>
            <a:endParaRPr lang="en-US" b="1" dirty="0"/>
          </a:p>
          <a:p>
            <a:r>
              <a:rPr lang="en-US" b="1" dirty="0"/>
              <a:t>(</a:t>
            </a:r>
            <a:r>
              <a:rPr lang="vi-VN" b="1" dirty="0"/>
              <a:t>b) Server crashes AFTER executing the operation (but BEFORE replying)</a:t>
            </a:r>
          </a:p>
          <a:p>
            <a:pPr rtl="0"/>
            <a:r>
              <a:rPr lang="vi-VN" dirty="0"/>
              <a:t>Client → REQ → Server ← No REP (vì server crash sau khi execute) </a:t>
            </a:r>
          </a:p>
          <a:p>
            <a:r>
              <a:rPr lang="vi-VN" dirty="0"/>
              <a:t>Diễn giải:</a:t>
            </a:r>
          </a:p>
          <a:p>
            <a:pPr>
              <a:buFont typeface="Arial" panose="020B0604020202020204" pitchFamily="34" charset="0"/>
              <a:buChar char="•"/>
            </a:pPr>
            <a:r>
              <a:rPr lang="vi-VN" dirty="0"/>
              <a:t>Server </a:t>
            </a:r>
            <a:r>
              <a:rPr lang="vi-VN" b="1" dirty="0"/>
              <a:t>đã nhận request</a:t>
            </a:r>
            <a:r>
              <a:rPr lang="vi-VN" dirty="0"/>
              <a:t> </a:t>
            </a:r>
          </a:p>
          <a:p>
            <a:pPr>
              <a:buFont typeface="Arial" panose="020B0604020202020204" pitchFamily="34" charset="0"/>
              <a:buChar char="•"/>
            </a:pPr>
            <a:r>
              <a:rPr lang="vi-VN" dirty="0"/>
              <a:t>Server </a:t>
            </a:r>
            <a:r>
              <a:rPr lang="vi-VN" b="1" dirty="0"/>
              <a:t>đã thực thi</a:t>
            </a:r>
            <a:r>
              <a:rPr lang="vi-VN" dirty="0"/>
              <a:t> yêu cầu</a:t>
            </a:r>
          </a:p>
          <a:p>
            <a:pPr>
              <a:buFont typeface="Arial" panose="020B0604020202020204" pitchFamily="34" charset="0"/>
              <a:buChar char="•"/>
            </a:pPr>
            <a:r>
              <a:rPr lang="vi-VN" dirty="0"/>
              <a:t>Server </a:t>
            </a:r>
            <a:r>
              <a:rPr lang="vi-VN" b="1" dirty="0"/>
              <a:t>chưa gửi reply</a:t>
            </a:r>
            <a:r>
              <a:rPr lang="vi-VN" dirty="0"/>
              <a:t> và sau đó </a:t>
            </a:r>
            <a:r>
              <a:rPr lang="vi-VN" b="1" dirty="0"/>
              <a:t>crash</a:t>
            </a:r>
            <a:r>
              <a:rPr lang="vi-VN" dirty="0"/>
              <a:t> </a:t>
            </a:r>
            <a:endParaRPr lang="en-US" dirty="0"/>
          </a:p>
          <a:p>
            <a:r>
              <a:rPr lang="vi-VN" dirty="0"/>
              <a:t>Client </a:t>
            </a:r>
            <a:r>
              <a:rPr lang="vi-VN" b="1" dirty="0"/>
              <a:t>không biết</a:t>
            </a:r>
            <a:r>
              <a:rPr lang="vi-VN" dirty="0"/>
              <a:t>:</a:t>
            </a:r>
          </a:p>
          <a:p>
            <a:pPr>
              <a:buFont typeface="Arial" panose="020B0604020202020204" pitchFamily="34" charset="0"/>
              <a:buChar char="•"/>
            </a:pPr>
            <a:r>
              <a:rPr lang="vi-VN" dirty="0"/>
              <a:t>Server đã xử lý xong?</a:t>
            </a:r>
          </a:p>
          <a:p>
            <a:pPr>
              <a:buFont typeface="Arial" panose="020B0604020202020204" pitchFamily="34" charset="0"/>
              <a:buChar char="•"/>
            </a:pPr>
            <a:r>
              <a:rPr lang="vi-VN" dirty="0"/>
              <a:t>Hay server chết trước khi làm gì?</a:t>
            </a:r>
          </a:p>
          <a:p>
            <a:r>
              <a:rPr lang="vi-VN" dirty="0"/>
              <a:t>Nếu client quyết định </a:t>
            </a:r>
            <a:r>
              <a:rPr lang="vi-VN" b="1" dirty="0"/>
              <a:t>gửi lại request</a:t>
            </a:r>
            <a:r>
              <a:rPr lang="vi-VN" dirty="0"/>
              <a:t>, server khi hồi phục có thể:</a:t>
            </a:r>
          </a:p>
          <a:p>
            <a:pPr>
              <a:buFont typeface="Arial" panose="020B0604020202020204" pitchFamily="34" charset="0"/>
              <a:buChar char="•"/>
            </a:pPr>
            <a:r>
              <a:rPr lang="vi-VN" b="1" dirty="0"/>
              <a:t>chạy lại operation → gây ra duplicated execution</a:t>
            </a:r>
            <a:r>
              <a:rPr lang="vi-VN" dirty="0"/>
              <a:t>, không mong muốn (đặc biệt với giao dịch tiền, cập nhật trạng thái…).</a:t>
            </a:r>
          </a:p>
          <a:p>
            <a:endParaRPr lang="en-US" b="1" dirty="0"/>
          </a:p>
          <a:p>
            <a:r>
              <a:rPr lang="vi-VN" b="1" dirty="0"/>
              <a:t>c) Server crashes BEFORE executing</a:t>
            </a:r>
          </a:p>
          <a:p>
            <a:pPr rtl="0"/>
            <a:r>
              <a:rPr lang="vi-VN" dirty="0"/>
              <a:t>Client → REQ → Server (crash ngay khi nhận) ← No REP </a:t>
            </a:r>
          </a:p>
          <a:p>
            <a:r>
              <a:rPr lang="vi-VN" dirty="0"/>
              <a:t>Tình huống:</a:t>
            </a:r>
          </a:p>
          <a:p>
            <a:pPr>
              <a:buFont typeface="Arial" panose="020B0604020202020204" pitchFamily="34" charset="0"/>
              <a:buChar char="•"/>
            </a:pPr>
            <a:r>
              <a:rPr lang="vi-VN" dirty="0"/>
              <a:t>Server đã </a:t>
            </a:r>
            <a:r>
              <a:rPr lang="vi-VN" b="1" dirty="0"/>
              <a:t>nhận request</a:t>
            </a:r>
            <a:r>
              <a:rPr lang="vi-VN" dirty="0"/>
              <a:t>, nhưng crash </a:t>
            </a:r>
            <a:r>
              <a:rPr lang="vi-VN" b="1" dirty="0"/>
              <a:t>trước khi thực thi</a:t>
            </a:r>
            <a:r>
              <a:rPr lang="vi-VN" dirty="0"/>
              <a:t>.</a:t>
            </a:r>
          </a:p>
          <a:p>
            <a:pPr>
              <a:buFont typeface="Arial" panose="020B0604020202020204" pitchFamily="34" charset="0"/>
              <a:buChar char="•"/>
            </a:pPr>
            <a:r>
              <a:rPr lang="vi-VN" dirty="0"/>
              <a:t>Không có kết quả nào được xử lý.</a:t>
            </a:r>
          </a:p>
          <a:p>
            <a:r>
              <a:rPr lang="vi-VN" dirty="0"/>
              <a:t>Client cũng </a:t>
            </a:r>
            <a:r>
              <a:rPr lang="vi-VN" b="1" dirty="0"/>
              <a:t>không biết</a:t>
            </a:r>
            <a:r>
              <a:rPr lang="vi-VN" dirty="0"/>
              <a:t> server đã xử lý hay chưa.</a:t>
            </a:r>
          </a:p>
          <a:p>
            <a:r>
              <a:rPr lang="en-US" dirty="0"/>
              <a:t>=&gt;</a:t>
            </a:r>
            <a:r>
              <a:rPr lang="vi-VN" dirty="0"/>
              <a:t> Nếu client gửi lại request thì </a:t>
            </a:r>
            <a:r>
              <a:rPr lang="vi-VN" b="1" dirty="0"/>
              <a:t>không sao</a:t>
            </a:r>
            <a:r>
              <a:rPr lang="vi-VN" dirty="0"/>
              <a:t> (vì server thực ra chưa xử lý gì).</a:t>
            </a:r>
            <a:br>
              <a:rPr lang="vi-VN" dirty="0"/>
            </a:br>
            <a:r>
              <a:rPr lang="en-US" dirty="0"/>
              <a:t>=&gt;</a:t>
            </a:r>
            <a:r>
              <a:rPr lang="vi-VN" dirty="0"/>
              <a:t> Nhưng client </a:t>
            </a:r>
            <a:r>
              <a:rPr lang="vi-VN" i="1" dirty="0"/>
              <a:t>không thể phân biệt được</a:t>
            </a:r>
            <a:r>
              <a:rPr lang="vi-VN" dirty="0"/>
              <a:t> giữa (b) và (c).</a:t>
            </a:r>
          </a:p>
          <a:p>
            <a:endParaRPr lang="en-US" b="1" dirty="0"/>
          </a:p>
          <a:p>
            <a:r>
              <a:rPr lang="vi-VN" b="1" dirty="0"/>
              <a:t>Vấn đề lớn ("Problem")</a:t>
            </a:r>
          </a:p>
          <a:p>
            <a:r>
              <a:rPr lang="vi-VN" dirty="0"/>
              <a:t>Client </a:t>
            </a:r>
            <a:r>
              <a:rPr lang="vi-VN" b="1" dirty="0"/>
              <a:t>không thể biết</a:t>
            </a:r>
            <a:r>
              <a:rPr lang="vi-VN" dirty="0"/>
              <a:t> liệu trường hợp đang xảy ra là:</a:t>
            </a:r>
          </a:p>
          <a:p>
            <a:pPr>
              <a:buFont typeface="Arial" panose="020B0604020202020204" pitchFamily="34" charset="0"/>
              <a:buChar char="•"/>
            </a:pPr>
            <a:r>
              <a:rPr lang="vi-VN" dirty="0"/>
              <a:t>(b) server đã thực thi nhưng chưa gửi reply</a:t>
            </a:r>
            <a:br>
              <a:rPr lang="vi-VN" dirty="0"/>
            </a:br>
            <a:r>
              <a:rPr lang="vi-VN" b="1" dirty="0"/>
              <a:t>hay</a:t>
            </a:r>
            <a:endParaRPr lang="vi-VN" dirty="0"/>
          </a:p>
          <a:p>
            <a:pPr>
              <a:buFont typeface="Arial" panose="020B0604020202020204" pitchFamily="34" charset="0"/>
              <a:buChar char="•"/>
            </a:pPr>
            <a:r>
              <a:rPr lang="vi-VN" dirty="0"/>
              <a:t>(c) server chưa thực thi gì và crash ngay?</a:t>
            </a:r>
          </a:p>
          <a:p>
            <a:r>
              <a:rPr lang="vi-VN" dirty="0"/>
              <a:t>Do đó, cần xác định </a:t>
            </a:r>
            <a:r>
              <a:rPr lang="vi-VN" b="1" dirty="0"/>
              <a:t>RPC semantics</a:t>
            </a:r>
            <a:r>
              <a:rPr lang="vi-VN" dirty="0"/>
              <a:t> – quy tắc hệ thống sẽ làm gì khi gặp lỗi.</a:t>
            </a:r>
          </a:p>
          <a:p>
            <a:endParaRPr lang="en-US" b="1" dirty="0"/>
          </a:p>
          <a:p>
            <a:r>
              <a:rPr lang="vi-VN" b="1" dirty="0"/>
              <a:t>Hai hướng tiếp cận chuẩn cho RPC semantics</a:t>
            </a:r>
          </a:p>
          <a:p>
            <a:r>
              <a:rPr lang="vi-VN" b="1" dirty="0"/>
              <a:t>1. At-least-once semantics</a:t>
            </a:r>
          </a:p>
          <a:p>
            <a:r>
              <a:rPr lang="vi-VN" dirty="0"/>
              <a:t>“Server đảm bảo sẽ thực thi operation </a:t>
            </a:r>
            <a:r>
              <a:rPr lang="vi-VN" i="1" dirty="0"/>
              <a:t>ít nhất một lần</a:t>
            </a:r>
            <a:r>
              <a:rPr lang="vi-VN" dirty="0"/>
              <a:t>.”</a:t>
            </a:r>
          </a:p>
          <a:p>
            <a:pPr>
              <a:buFont typeface="Arial" panose="020B0604020202020204" pitchFamily="34" charset="0"/>
              <a:buChar char="•"/>
            </a:pPr>
            <a:r>
              <a:rPr lang="vi-VN" dirty="0"/>
              <a:t>Client sẽ </a:t>
            </a:r>
            <a:r>
              <a:rPr lang="vi-VN" b="1" dirty="0"/>
              <a:t>gửi lại request</a:t>
            </a:r>
            <a:r>
              <a:rPr lang="vi-VN" dirty="0"/>
              <a:t> khi timeout.</a:t>
            </a:r>
          </a:p>
          <a:p>
            <a:pPr>
              <a:buFont typeface="Arial" panose="020B0604020202020204" pitchFamily="34" charset="0"/>
              <a:buChar char="•"/>
            </a:pPr>
            <a:r>
              <a:rPr lang="vi-VN" dirty="0"/>
              <a:t>Server có thể </a:t>
            </a:r>
            <a:r>
              <a:rPr lang="vi-VN" b="1" dirty="0"/>
              <a:t>thực thi lại</a:t>
            </a:r>
            <a:r>
              <a:rPr lang="vi-VN" dirty="0"/>
              <a:t> → có thể xảy ra </a:t>
            </a:r>
            <a:r>
              <a:rPr lang="vi-VN" b="1" dirty="0"/>
              <a:t>trùng lặp</a:t>
            </a:r>
            <a:r>
              <a:rPr lang="vi-VN" dirty="0"/>
              <a:t> (duplicate effects).</a:t>
            </a:r>
          </a:p>
          <a:p>
            <a:pPr>
              <a:buFont typeface="Arial" panose="020B0604020202020204" pitchFamily="34" charset="0"/>
              <a:buChar char="•"/>
            </a:pPr>
            <a:r>
              <a:rPr lang="vi-VN" dirty="0"/>
              <a:t>Hợp với:</a:t>
            </a:r>
          </a:p>
          <a:p>
            <a:pPr marL="742950" lvl="1" indent="-285750">
              <a:buFont typeface="Arial" panose="020B0604020202020204" pitchFamily="34" charset="0"/>
              <a:buChar char="•"/>
            </a:pPr>
            <a:r>
              <a:rPr lang="vi-VN" dirty="0"/>
              <a:t>hàm </a:t>
            </a:r>
            <a:r>
              <a:rPr lang="vi-VN" i="1" dirty="0"/>
              <a:t>idempotent</a:t>
            </a:r>
            <a:r>
              <a:rPr lang="vi-VN" dirty="0"/>
              <a:t> (thực thi nhiều lần vẫn như một lần)</a:t>
            </a:r>
          </a:p>
          <a:p>
            <a:pPr marL="742950" lvl="1" indent="-285750">
              <a:buFont typeface="Arial" panose="020B0604020202020204" pitchFamily="34" charset="0"/>
              <a:buChar char="•"/>
            </a:pPr>
            <a:r>
              <a:rPr lang="vi-VN" dirty="0"/>
              <a:t>ví dụ: read, getStatus(), kiểm tra tồn tại,...</a:t>
            </a:r>
          </a:p>
          <a:p>
            <a:r>
              <a:rPr lang="en-US" dirty="0"/>
              <a:t>* </a:t>
            </a:r>
            <a:r>
              <a:rPr lang="vi-VN" dirty="0"/>
              <a:t>Không hợp khi operation có tác dụng phụ (side effects) như:</a:t>
            </a:r>
          </a:p>
          <a:p>
            <a:pPr lvl="1">
              <a:buFont typeface="Arial" panose="020B0604020202020204" pitchFamily="34" charset="0"/>
              <a:buChar char="•"/>
            </a:pPr>
            <a:r>
              <a:rPr lang="vi-VN" dirty="0"/>
              <a:t>chuyển tiền,</a:t>
            </a:r>
          </a:p>
          <a:p>
            <a:pPr lvl="1">
              <a:buFont typeface="Arial" panose="020B0604020202020204" pitchFamily="34" charset="0"/>
              <a:buChar char="•"/>
            </a:pPr>
            <a:r>
              <a:rPr lang="vi-VN" dirty="0"/>
              <a:t>tạo bản ghi mới,</a:t>
            </a:r>
          </a:p>
          <a:p>
            <a:pPr lvl="1">
              <a:buFont typeface="Arial" panose="020B0604020202020204" pitchFamily="34" charset="0"/>
              <a:buChar char="•"/>
            </a:pPr>
            <a:r>
              <a:rPr lang="vi-VN" dirty="0"/>
              <a:t>tăng biến đếm.</a:t>
            </a:r>
          </a:p>
          <a:p>
            <a:r>
              <a:rPr lang="vi-VN" b="1" dirty="0"/>
              <a:t>2. At-most-once semantics</a:t>
            </a:r>
          </a:p>
          <a:p>
            <a:r>
              <a:rPr lang="vi-VN" dirty="0"/>
              <a:t>“Server đảm bảo thực thi operation </a:t>
            </a:r>
            <a:r>
              <a:rPr lang="vi-VN" i="1" dirty="0"/>
              <a:t>nhiều nhất một lần</a:t>
            </a:r>
            <a:r>
              <a:rPr lang="vi-VN" dirty="0"/>
              <a:t>.”</a:t>
            </a:r>
          </a:p>
          <a:p>
            <a:pPr>
              <a:buFont typeface="Arial" panose="020B0604020202020204" pitchFamily="34" charset="0"/>
              <a:buChar char="•"/>
            </a:pPr>
            <a:r>
              <a:rPr lang="vi-VN" dirty="0"/>
              <a:t>Dùng </a:t>
            </a:r>
            <a:r>
              <a:rPr lang="vi-VN" b="1" dirty="0"/>
              <a:t>request ID</a:t>
            </a:r>
            <a:r>
              <a:rPr lang="vi-VN" dirty="0"/>
              <a:t> hoặc </a:t>
            </a:r>
            <a:r>
              <a:rPr lang="vi-VN" b="1" dirty="0"/>
              <a:t>duplicate filtering</a:t>
            </a:r>
            <a:r>
              <a:rPr lang="vi-VN" dirty="0"/>
              <a:t> để không chạy lại operation.</a:t>
            </a:r>
          </a:p>
          <a:p>
            <a:pPr>
              <a:buFont typeface="Arial" panose="020B0604020202020204" pitchFamily="34" charset="0"/>
              <a:buChar char="•"/>
            </a:pPr>
            <a:r>
              <a:rPr lang="vi-VN" dirty="0"/>
              <a:t>Nếu server đã chạy nhưng crash trước khi trả lời → client không biết kết quả.</a:t>
            </a:r>
          </a:p>
          <a:p>
            <a:pPr>
              <a:buFont typeface="Arial" panose="020B0604020202020204" pitchFamily="34" charset="0"/>
              <a:buChar char="•"/>
            </a:pPr>
            <a:r>
              <a:rPr lang="vi-VN" dirty="0"/>
              <a:t>Client có thể nhận thông báo lỗi, nhưng </a:t>
            </a:r>
            <a:r>
              <a:rPr lang="vi-VN" b="1" dirty="0"/>
              <a:t>server không bao giờ thực thi lại operation</a:t>
            </a:r>
            <a:r>
              <a:rPr lang="vi-VN" dirty="0"/>
              <a:t>.</a:t>
            </a:r>
          </a:p>
          <a:p>
            <a:r>
              <a:rPr lang="en-US" dirty="0"/>
              <a:t>=&gt; </a:t>
            </a:r>
            <a:r>
              <a:rPr lang="vi-VN" dirty="0"/>
              <a:t>Đây là semantics mạnh hơn và được sử dụng trong nhiều hệ thống RPC hiện đại (Java RMI, gRPC, etc.)</a:t>
            </a:r>
          </a:p>
          <a:p>
            <a:endParaRPr lang="en-US" b="1" dirty="0"/>
          </a:p>
          <a:p>
            <a:r>
              <a:rPr lang="en-US" b="1" dirty="0"/>
              <a:t>* </a:t>
            </a:r>
            <a:r>
              <a:rPr lang="vi-VN" b="1" dirty="0"/>
              <a:t>Tóm tắt</a:t>
            </a:r>
            <a:r>
              <a:rPr lang="en-US" b="1" dirty="0"/>
              <a:t>:</a:t>
            </a:r>
            <a:endParaRPr lang="vi-VN" b="1" dirty="0"/>
          </a:p>
          <a:p>
            <a:pPr>
              <a:buFont typeface="Arial" panose="020B0604020202020204" pitchFamily="34" charset="0"/>
              <a:buChar char="•"/>
            </a:pPr>
            <a:r>
              <a:rPr lang="vi-VN" dirty="0"/>
              <a:t>Có 3 trường hợp khi server crash:</a:t>
            </a:r>
          </a:p>
          <a:p>
            <a:pPr marL="742950" lvl="1" indent="-285750">
              <a:buFont typeface="Arial" panose="020B0604020202020204" pitchFamily="34" charset="0"/>
              <a:buChar char="•"/>
            </a:pPr>
            <a:r>
              <a:rPr lang="vi-VN" dirty="0"/>
              <a:t>(a) thực thi và trả reply → bình thường.</a:t>
            </a:r>
          </a:p>
          <a:p>
            <a:pPr marL="742950" lvl="1" indent="-285750">
              <a:buFont typeface="Arial" panose="020B0604020202020204" pitchFamily="34" charset="0"/>
              <a:buChar char="•"/>
            </a:pPr>
            <a:r>
              <a:rPr lang="vi-VN" dirty="0"/>
              <a:t>(b) thực thi xong nhưng crash trước khi trả reply.</a:t>
            </a:r>
          </a:p>
          <a:p>
            <a:pPr marL="742950" lvl="1" indent="-285750">
              <a:buFont typeface="Arial" panose="020B0604020202020204" pitchFamily="34" charset="0"/>
              <a:buChar char="•"/>
            </a:pPr>
            <a:r>
              <a:rPr lang="vi-VN" dirty="0"/>
              <a:t>(c) crash ngay khi nhận request trước khi thực thi.</a:t>
            </a:r>
          </a:p>
          <a:p>
            <a:pPr>
              <a:buFont typeface="Arial" panose="020B0604020202020204" pitchFamily="34" charset="0"/>
              <a:buChar char="•"/>
            </a:pPr>
            <a:r>
              <a:rPr lang="vi-VN" dirty="0"/>
              <a:t>Client </a:t>
            </a:r>
            <a:r>
              <a:rPr lang="vi-VN" b="1" dirty="0"/>
              <a:t>không thể phân biệt (b) và (c)</a:t>
            </a:r>
            <a:r>
              <a:rPr lang="vi-VN" dirty="0"/>
              <a:t>.</a:t>
            </a:r>
          </a:p>
          <a:p>
            <a:pPr>
              <a:buFont typeface="Arial" panose="020B0604020202020204" pitchFamily="34" charset="0"/>
              <a:buChar char="•"/>
            </a:pPr>
            <a:r>
              <a:rPr lang="vi-VN" dirty="0"/>
              <a:t>Để xử lý, RPC hỗ trợ hai semantics:</a:t>
            </a:r>
          </a:p>
          <a:p>
            <a:pPr marL="742950" lvl="1" indent="-285750">
              <a:buFont typeface="Arial" panose="020B0604020202020204" pitchFamily="34" charset="0"/>
              <a:buChar char="•"/>
            </a:pPr>
            <a:r>
              <a:rPr lang="vi-VN" b="1" dirty="0"/>
              <a:t>At-least-once</a:t>
            </a:r>
            <a:r>
              <a:rPr lang="vi-VN" dirty="0"/>
              <a:t> → có thể thực thi trùng lặp.</a:t>
            </a:r>
          </a:p>
          <a:p>
            <a:pPr marL="742950" lvl="1" indent="-285750">
              <a:buFont typeface="Arial" panose="020B0604020202020204" pitchFamily="34" charset="0"/>
              <a:buChar char="•"/>
            </a:pPr>
            <a:r>
              <a:rPr lang="vi-VN" b="1" dirty="0"/>
              <a:t>At-most-once</a:t>
            </a:r>
            <a:r>
              <a:rPr lang="vi-VN" dirty="0"/>
              <a:t> → không bao giờ thực thi trùng lặp, nhưng client có thể không biết kết quả.</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59</a:t>
            </a:fld>
            <a:endParaRPr lang="en-US"/>
          </a:p>
        </p:txBody>
      </p:sp>
    </p:spTree>
    <p:extLst>
      <p:ext uri="{BB962C8B-B14F-4D97-AF65-F5344CB8AC3E}">
        <p14:creationId xmlns:p14="http://schemas.microsoft.com/office/powerpoint/2010/main" val="24733086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“Why fully transparent server recovery is impossible”</a:t>
            </a:r>
            <a:r>
              <a:rPr lang="vi-VN" dirty="0"/>
              <a:t>.</a:t>
            </a:r>
          </a:p>
          <a:p>
            <a:endParaRPr lang="en-US" b="1" dirty="0"/>
          </a:p>
          <a:p>
            <a:r>
              <a:rPr lang="vi-VN" b="1" dirty="0"/>
              <a:t>Tại sao không thể có server recovery hoàn toàn trong suốt (fully transparent recovery)?</a:t>
            </a:r>
          </a:p>
          <a:p>
            <a:r>
              <a:rPr lang="vi-VN" dirty="0"/>
              <a:t>Slide này giải thích </a:t>
            </a:r>
            <a:r>
              <a:rPr lang="vi-VN" b="1" dirty="0"/>
              <a:t>tại sao không có cách nào</a:t>
            </a:r>
            <a:r>
              <a:rPr lang="vi-VN" dirty="0"/>
              <a:t> để client biết chính xác server đã làm gì trước khi server crash → dẫn đến kết luận:</a:t>
            </a:r>
            <a:br>
              <a:rPr lang="vi-VN" dirty="0"/>
            </a:br>
            <a:r>
              <a:rPr lang="en-US" dirty="0"/>
              <a:t>=&gt; </a:t>
            </a:r>
            <a:r>
              <a:rPr lang="vi-VN" i="1" dirty="0"/>
              <a:t>Không thể xây dựng một cơ chế phục hồi (recovery) mà client hoàn toàn không nhận thấy sự cố.</a:t>
            </a:r>
            <a:endParaRPr lang="vi-VN" dirty="0"/>
          </a:p>
          <a:p>
            <a:endParaRPr lang="en-US" b="1" dirty="0"/>
          </a:p>
          <a:p>
            <a:r>
              <a:rPr lang="vi-VN" b="1" dirty="0"/>
              <a:t>Ba loại sự kiện tại server</a:t>
            </a:r>
          </a:p>
          <a:p>
            <a:r>
              <a:rPr lang="vi-VN" dirty="0"/>
              <a:t>Giả sử server được yêu cầu </a:t>
            </a:r>
            <a:r>
              <a:rPr lang="vi-VN" b="1" dirty="0"/>
              <a:t>update một tài liệu</a:t>
            </a:r>
            <a:r>
              <a:rPr lang="vi-VN" dirty="0"/>
              <a:t>. Ở server có 3 sự kiện quan trọng:</a:t>
            </a:r>
          </a:p>
          <a:p>
            <a:r>
              <a:rPr lang="en-US" b="1" dirty="0"/>
              <a:t>a. </a:t>
            </a:r>
            <a:r>
              <a:rPr lang="vi-VN" b="1" dirty="0"/>
              <a:t>M — send completion message</a:t>
            </a:r>
          </a:p>
          <a:p>
            <a:r>
              <a:rPr lang="vi-VN" dirty="0"/>
              <a:t>Server gửi “hoàn thành” (completion) cho client.</a:t>
            </a:r>
          </a:p>
          <a:p>
            <a:r>
              <a:rPr lang="en-US" b="1" dirty="0"/>
              <a:t>b. </a:t>
            </a:r>
            <a:r>
              <a:rPr lang="vi-VN" b="1" dirty="0"/>
              <a:t>P — complete processing</a:t>
            </a:r>
          </a:p>
          <a:p>
            <a:r>
              <a:rPr lang="vi-VN" dirty="0"/>
              <a:t>Server hoàn tất việc xử lý / cập nhật tài liệu.</a:t>
            </a:r>
          </a:p>
          <a:p>
            <a:r>
              <a:rPr lang="en-US" b="1" dirty="0"/>
              <a:t>c. </a:t>
            </a:r>
            <a:r>
              <a:rPr lang="vi-VN" b="1" dirty="0"/>
              <a:t>C — crash</a:t>
            </a:r>
          </a:p>
          <a:p>
            <a:r>
              <a:rPr lang="vi-VN" dirty="0"/>
              <a:t>Server bị crash.</a:t>
            </a:r>
          </a:p>
          <a:p>
            <a:endParaRPr lang="en-US" b="1" dirty="0"/>
          </a:p>
          <a:p>
            <a:r>
              <a:rPr lang="vi-VN" b="1" dirty="0"/>
              <a:t>Vấn đề cốt lõi</a:t>
            </a:r>
          </a:p>
          <a:p>
            <a:r>
              <a:rPr lang="vi-VN" dirty="0"/>
              <a:t>Ba sự kiện này có thể xảy ra theo </a:t>
            </a:r>
            <a:r>
              <a:rPr lang="vi-VN" b="1" dirty="0"/>
              <a:t>nhiều thứ tự khác nhau</a:t>
            </a:r>
            <a:r>
              <a:rPr lang="vi-VN" dirty="0"/>
              <a:t>, và client KHÔNG BAO GIỜ biết được thứ tự thật sự đã xảy ra.</a:t>
            </a:r>
          </a:p>
          <a:p>
            <a:r>
              <a:rPr lang="en-US" dirty="0"/>
              <a:t>*</a:t>
            </a:r>
            <a:r>
              <a:rPr lang="vi-VN" dirty="0"/>
              <a:t> Do đó:</a:t>
            </a:r>
            <a:br>
              <a:rPr lang="vi-VN" dirty="0"/>
            </a:br>
            <a:r>
              <a:rPr lang="vi-VN" dirty="0"/>
              <a:t>Không thể nói chắc liệu update đã được thực hiện hay chưa.</a:t>
            </a:r>
          </a:p>
          <a:p>
            <a:endParaRPr lang="en-US" b="1" dirty="0"/>
          </a:p>
          <a:p>
            <a:r>
              <a:rPr lang="vi-VN" b="1" dirty="0"/>
              <a:t>Sáu thứ tự xảy ra có thể (Six possible orderings)</a:t>
            </a:r>
          </a:p>
          <a:p>
            <a:r>
              <a:rPr lang="vi-VN" dirty="0"/>
              <a:t>Slide liệt kê 6 trường hợp có thể xảy ra.</a:t>
            </a:r>
          </a:p>
          <a:p>
            <a:r>
              <a:rPr lang="vi-VN" dirty="0"/>
              <a:t>Ký hiệu (→ X → Y) nghĩa là thứ tự thực sự xảy ra là: X → Y.</a:t>
            </a:r>
            <a:br>
              <a:rPr lang="vi-VN" dirty="0"/>
            </a:br>
            <a:r>
              <a:rPr lang="vi-VN" dirty="0"/>
              <a:t>Hành động nằm </a:t>
            </a:r>
            <a:r>
              <a:rPr lang="vi-VN" b="1" dirty="0"/>
              <a:t>trong ngoặc ()</a:t>
            </a:r>
            <a:r>
              <a:rPr lang="vi-VN" dirty="0"/>
              <a:t> là </a:t>
            </a:r>
            <a:r>
              <a:rPr lang="vi-VN" i="1" dirty="0"/>
              <a:t>không xảy ra</a:t>
            </a:r>
            <a:r>
              <a:rPr lang="vi-VN" dirty="0"/>
              <a:t>.</a:t>
            </a:r>
          </a:p>
          <a:p>
            <a:endParaRPr lang="en-US" b="1" dirty="0"/>
          </a:p>
          <a:p>
            <a:r>
              <a:rPr lang="vi-VN" b="1" dirty="0"/>
              <a:t>1. M → P → C</a:t>
            </a:r>
          </a:p>
          <a:p>
            <a:r>
              <a:rPr lang="vi-VN" b="1" dirty="0"/>
              <a:t>Crash xảy ra sau khi gửi thông báo hoàn thành</a:t>
            </a:r>
            <a:r>
              <a:rPr lang="vi-VN" dirty="0"/>
              <a:t>.</a:t>
            </a:r>
          </a:p>
          <a:p>
            <a:pPr>
              <a:buFont typeface="Arial" panose="020B0604020202020204" pitchFamily="34" charset="0"/>
              <a:buChar char="•"/>
            </a:pPr>
            <a:r>
              <a:rPr lang="vi-VN" dirty="0"/>
              <a:t>Client nhận reply nên </a:t>
            </a:r>
            <a:r>
              <a:rPr lang="vi-VN" b="1" dirty="0"/>
              <a:t>tin rằng cập nhật đã thành công</a:t>
            </a:r>
            <a:r>
              <a:rPr lang="vi-VN" dirty="0"/>
              <a:t>.</a:t>
            </a:r>
          </a:p>
          <a:p>
            <a:pPr>
              <a:buFont typeface="Arial" panose="020B0604020202020204" pitchFamily="34" charset="0"/>
              <a:buChar char="•"/>
            </a:pPr>
            <a:r>
              <a:rPr lang="vi-VN" dirty="0"/>
              <a:t>Nhưng thực tế server </a:t>
            </a:r>
            <a:r>
              <a:rPr lang="vi-VN" b="1" dirty="0"/>
              <a:t>crash ngay sau khi xử lý</a:t>
            </a:r>
            <a:r>
              <a:rPr lang="vi-VN" dirty="0"/>
              <a:t> → có thể update chưa được ghi xuống ổn định.</a:t>
            </a:r>
          </a:p>
          <a:p>
            <a:r>
              <a:rPr lang="vi-VN" b="1" dirty="0"/>
              <a:t>Không thể phân biệt với trường hợp update đã xong hoàn toàn</a:t>
            </a:r>
            <a:r>
              <a:rPr lang="vi-VN" dirty="0"/>
              <a:t>.</a:t>
            </a:r>
          </a:p>
          <a:p>
            <a:endParaRPr lang="en-US" b="1" dirty="0"/>
          </a:p>
          <a:p>
            <a:r>
              <a:rPr lang="vi-VN" b="1" dirty="0"/>
              <a:t>2. M → C → P</a:t>
            </a:r>
          </a:p>
          <a:p>
            <a:r>
              <a:rPr lang="vi-VN" b="1" dirty="0"/>
              <a:t>Server gửi “hoàn thành”, rồi crash trước khi thực thi cập nhật</a:t>
            </a:r>
            <a:r>
              <a:rPr lang="vi-VN" dirty="0"/>
              <a:t>.</a:t>
            </a:r>
          </a:p>
          <a:p>
            <a:pPr>
              <a:buFont typeface="Arial" panose="020B0604020202020204" pitchFamily="34" charset="0"/>
              <a:buChar char="•"/>
            </a:pPr>
            <a:r>
              <a:rPr lang="vi-VN" dirty="0"/>
              <a:t>Client tin rằng operation đã hoàn tất.</a:t>
            </a:r>
          </a:p>
          <a:p>
            <a:pPr>
              <a:buFont typeface="Arial" panose="020B0604020202020204" pitchFamily="34" charset="0"/>
              <a:buChar char="•"/>
            </a:pPr>
            <a:r>
              <a:rPr lang="vi-VN" dirty="0"/>
              <a:t>Thực tế server </a:t>
            </a:r>
            <a:r>
              <a:rPr lang="vi-VN" b="1" dirty="0"/>
              <a:t>chưa cập nhật gì</a:t>
            </a:r>
            <a:r>
              <a:rPr lang="vi-VN" dirty="0"/>
              <a:t>.</a:t>
            </a:r>
          </a:p>
          <a:p>
            <a:r>
              <a:rPr lang="en-US" dirty="0"/>
              <a:t>*</a:t>
            </a:r>
            <a:r>
              <a:rPr lang="vi-VN" dirty="0"/>
              <a:t> Đây là lỗi nặng:</a:t>
            </a:r>
            <a:br>
              <a:rPr lang="vi-VN" dirty="0"/>
            </a:br>
            <a:r>
              <a:rPr lang="vi-VN" b="1" dirty="0"/>
              <a:t>Client nghĩ OK nhưng dữ liệu chưa được cập nhật.</a:t>
            </a:r>
            <a:endParaRPr lang="vi-VN" dirty="0"/>
          </a:p>
          <a:p>
            <a:endParaRPr lang="en-US" b="1" dirty="0"/>
          </a:p>
          <a:p>
            <a:r>
              <a:rPr lang="vi-VN" b="1" dirty="0"/>
              <a:t>3. P → M → C</a:t>
            </a:r>
          </a:p>
          <a:p>
            <a:r>
              <a:rPr lang="vi-VN" b="1" dirty="0"/>
              <a:t>Hoàn tất update → gửi hoàn thành → crash</a:t>
            </a:r>
            <a:endParaRPr lang="vi-VN" dirty="0"/>
          </a:p>
          <a:p>
            <a:pPr>
              <a:buFont typeface="Arial" panose="020B0604020202020204" pitchFamily="34" charset="0"/>
              <a:buChar char="•"/>
            </a:pPr>
            <a:r>
              <a:rPr lang="vi-VN" dirty="0"/>
              <a:t>Đây là trường hợp lý tưởng (update đã được commit).</a:t>
            </a:r>
          </a:p>
          <a:p>
            <a:pPr>
              <a:buFont typeface="Arial" panose="020B0604020202020204" pitchFamily="34" charset="0"/>
              <a:buChar char="•"/>
            </a:pPr>
            <a:r>
              <a:rPr lang="vi-VN" dirty="0"/>
              <a:t>Nhưng client vẫn không phân biệt được với các trường hợp khác.</a:t>
            </a:r>
          </a:p>
          <a:p>
            <a:endParaRPr lang="en-US" b="1" dirty="0"/>
          </a:p>
          <a:p>
            <a:r>
              <a:rPr lang="vi-VN" b="1" dirty="0"/>
              <a:t>4. P → C → (M)</a:t>
            </a:r>
          </a:p>
          <a:p>
            <a:r>
              <a:rPr lang="vi-VN" b="1" dirty="0"/>
              <a:t>Hoàn tất update nhưng crash trước khi gửi phản hồi</a:t>
            </a:r>
            <a:endParaRPr lang="vi-VN" dirty="0"/>
          </a:p>
          <a:p>
            <a:pPr>
              <a:buFont typeface="Arial" panose="020B0604020202020204" pitchFamily="34" charset="0"/>
              <a:buChar char="•"/>
            </a:pPr>
            <a:r>
              <a:rPr lang="vi-VN" dirty="0"/>
              <a:t>Cập nhật đã hoàn tất.</a:t>
            </a:r>
          </a:p>
          <a:p>
            <a:pPr>
              <a:buFont typeface="Arial" panose="020B0604020202020204" pitchFamily="34" charset="0"/>
              <a:buChar char="•"/>
            </a:pPr>
            <a:r>
              <a:rPr lang="vi-VN" dirty="0"/>
              <a:t>Nhưng client thấy timeout → nghĩ có thể chưa làm gì → có thể gửi lại request.</a:t>
            </a:r>
          </a:p>
          <a:p>
            <a:r>
              <a:rPr lang="en-US" dirty="0"/>
              <a:t>*</a:t>
            </a:r>
            <a:r>
              <a:rPr lang="vi-VN" dirty="0"/>
              <a:t> Điều này gây </a:t>
            </a:r>
            <a:r>
              <a:rPr lang="vi-VN" b="1" dirty="0"/>
              <a:t>duplicate updates</a:t>
            </a:r>
            <a:r>
              <a:rPr lang="vi-VN" dirty="0"/>
              <a:t> nếu operation không idempotent.</a:t>
            </a:r>
          </a:p>
          <a:p>
            <a:endParaRPr lang="en-US" b="1" dirty="0"/>
          </a:p>
          <a:p>
            <a:r>
              <a:rPr lang="vi-VN" b="1" dirty="0"/>
              <a:t>5. C → (→P→M)</a:t>
            </a:r>
          </a:p>
          <a:p>
            <a:r>
              <a:rPr lang="vi-VN" b="1" dirty="0"/>
              <a:t>Server crash trước khi làm bất kỳ điều gì</a:t>
            </a:r>
            <a:endParaRPr lang="vi-VN" dirty="0"/>
          </a:p>
          <a:p>
            <a:pPr>
              <a:buFont typeface="Arial" panose="020B0604020202020204" pitchFamily="34" charset="0"/>
              <a:buChar char="•"/>
            </a:pPr>
            <a:r>
              <a:rPr lang="vi-VN" dirty="0"/>
              <a:t>Server không xử lý gì.</a:t>
            </a:r>
          </a:p>
          <a:p>
            <a:pPr>
              <a:buFont typeface="Arial" panose="020B0604020202020204" pitchFamily="34" charset="0"/>
              <a:buChar char="•"/>
            </a:pPr>
            <a:r>
              <a:rPr lang="vi-VN" dirty="0"/>
              <a:t>Client thấy timeout và có thể gửi lại → an toàn.</a:t>
            </a:r>
          </a:p>
          <a:p>
            <a:endParaRPr lang="en-US" b="1" dirty="0"/>
          </a:p>
          <a:p>
            <a:r>
              <a:rPr lang="vi-VN" b="1" dirty="0"/>
              <a:t>6. C → (→M→P)</a:t>
            </a:r>
          </a:p>
          <a:p>
            <a:r>
              <a:rPr lang="vi-VN" b="1" dirty="0"/>
              <a:t>Cũng là crash trước khi làm gì</a:t>
            </a:r>
            <a:r>
              <a:rPr lang="vi-VN" dirty="0"/>
              <a:t> — giống trường hợp 5.</a:t>
            </a:r>
          </a:p>
          <a:p>
            <a:endParaRPr lang="en-US" b="1" dirty="0"/>
          </a:p>
          <a:p>
            <a:r>
              <a:rPr lang="vi-VN" b="1" dirty="0"/>
              <a:t>Điểm quan trọng: client KHÔNG BAO GIỜ biết thực sự xảy ra điều gì</a:t>
            </a:r>
          </a:p>
          <a:p>
            <a:r>
              <a:rPr lang="vi-VN" dirty="0"/>
              <a:t>Client chỉ biết một điều:</a:t>
            </a:r>
            <a:br>
              <a:rPr lang="vi-VN" dirty="0"/>
            </a:br>
            <a:r>
              <a:rPr lang="en-US" dirty="0"/>
              <a:t>* </a:t>
            </a:r>
            <a:r>
              <a:rPr lang="vi-VN" dirty="0"/>
              <a:t>Không nhận được phản hồi.</a:t>
            </a:r>
          </a:p>
          <a:p>
            <a:r>
              <a:rPr lang="vi-VN" dirty="0"/>
              <a:t>Nhưng không thể suy ra:</a:t>
            </a:r>
          </a:p>
          <a:p>
            <a:pPr>
              <a:buFont typeface="Arial" panose="020B0604020202020204" pitchFamily="34" charset="0"/>
              <a:buChar char="•"/>
            </a:pPr>
            <a:r>
              <a:rPr lang="vi-VN" dirty="0"/>
              <a:t>Server đã cập nhật xong?</a:t>
            </a:r>
          </a:p>
          <a:p>
            <a:pPr>
              <a:buFont typeface="Arial" panose="020B0604020202020204" pitchFamily="34" charset="0"/>
              <a:buChar char="•"/>
            </a:pPr>
            <a:r>
              <a:rPr lang="vi-VN" dirty="0"/>
              <a:t>Server cập nhật một phần?</a:t>
            </a:r>
          </a:p>
          <a:p>
            <a:pPr>
              <a:buFont typeface="Arial" panose="020B0604020202020204" pitchFamily="34" charset="0"/>
              <a:buChar char="•"/>
            </a:pPr>
            <a:r>
              <a:rPr lang="vi-VN" dirty="0"/>
              <a:t>Server chưa làm gì?</a:t>
            </a:r>
          </a:p>
          <a:p>
            <a:pPr>
              <a:buFont typeface="Arial" panose="020B0604020202020204" pitchFamily="34" charset="0"/>
              <a:buChar char="•"/>
            </a:pPr>
            <a:r>
              <a:rPr lang="vi-VN" dirty="0"/>
              <a:t>Server gửi reply nhưng bị mất?</a:t>
            </a:r>
          </a:p>
          <a:p>
            <a:pPr>
              <a:buFont typeface="Arial" panose="020B0604020202020204" pitchFamily="34" charset="0"/>
              <a:buChar char="•"/>
            </a:pPr>
            <a:r>
              <a:rPr lang="vi-VN" dirty="0"/>
              <a:t>Crash xảy ra tại thời điểm nào?</a:t>
            </a:r>
          </a:p>
          <a:p>
            <a:endParaRPr lang="en-US" b="1" dirty="0"/>
          </a:p>
          <a:p>
            <a:r>
              <a:rPr lang="vi-VN" b="1" dirty="0"/>
              <a:t>Kết luận: Why fully transparent recovery is impossible</a:t>
            </a:r>
          </a:p>
          <a:p>
            <a:r>
              <a:rPr lang="vi-VN" b="1" dirty="0"/>
              <a:t>Không thể thực hiện server recovery theo cách mà client hoàn toàn trong suốt (không nhận ra crash).</a:t>
            </a:r>
            <a:endParaRPr lang="vi-VN" dirty="0"/>
          </a:p>
          <a:p>
            <a:r>
              <a:rPr lang="vi-VN" dirty="0"/>
              <a:t>Lý do:</a:t>
            </a:r>
          </a:p>
          <a:p>
            <a:pPr>
              <a:buFont typeface="Arial" panose="020B0604020202020204" pitchFamily="34" charset="0"/>
              <a:buChar char="•"/>
            </a:pPr>
            <a:r>
              <a:rPr lang="vi-VN" dirty="0"/>
              <a:t>Không thể phân biệt các thứ tự M, P, C.</a:t>
            </a:r>
          </a:p>
          <a:p>
            <a:pPr>
              <a:buFont typeface="Arial" panose="020B0604020202020204" pitchFamily="34" charset="0"/>
              <a:buChar char="•"/>
            </a:pPr>
            <a:r>
              <a:rPr lang="vi-VN" dirty="0"/>
              <a:t>Không thể đảm bảo recover xong client vẫn có thể biết “cập nhật đã được thực thi hay chưa”.</a:t>
            </a:r>
          </a:p>
          <a:p>
            <a:r>
              <a:rPr lang="en-US" dirty="0"/>
              <a:t>=&gt;</a:t>
            </a:r>
            <a:r>
              <a:rPr lang="vi-VN" dirty="0"/>
              <a:t> Đây là lý do tại sao trong distributed systems:</a:t>
            </a:r>
          </a:p>
          <a:p>
            <a:r>
              <a:rPr lang="en-US" b="1" dirty="0"/>
              <a:t>-</a:t>
            </a:r>
            <a:r>
              <a:rPr lang="vi-VN" b="1" dirty="0"/>
              <a:t> Phải dùng RPC semantics như at-most-once hoặc at-least-once</a:t>
            </a:r>
          </a:p>
          <a:p>
            <a:r>
              <a:rPr lang="en-US" b="1" dirty="0"/>
              <a:t>-</a:t>
            </a:r>
            <a:r>
              <a:rPr lang="vi-VN" b="1" dirty="0"/>
              <a:t> Phải dùng logging/transactions/2PC để đảm bảo atomicity</a:t>
            </a:r>
          </a:p>
          <a:p>
            <a:r>
              <a:rPr lang="en-US" b="1" dirty="0"/>
              <a:t>-</a:t>
            </a:r>
            <a:r>
              <a:rPr lang="vi-VN" b="1" dirty="0"/>
              <a:t> Không thể chỉ “khởi động lại server và hy vọng tất cả sẽ OK”</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60</a:t>
            </a:fld>
            <a:endParaRPr lang="en-US"/>
          </a:p>
        </p:txBody>
      </p:sp>
    </p:spTree>
    <p:extLst>
      <p:ext uri="{BB962C8B-B14F-4D97-AF65-F5344CB8AC3E}">
        <p14:creationId xmlns:p14="http://schemas.microsoft.com/office/powerpoint/2010/main" val="34267139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“Reliable RPC: lost reply messages”</a:t>
            </a:r>
            <a:r>
              <a:rPr lang="vi-VN" dirty="0"/>
              <a:t>.</a:t>
            </a:r>
          </a:p>
          <a:p>
            <a:r>
              <a:rPr lang="vi-VN" b="1" dirty="0"/>
              <a:t>Reliable RPC: Lost Reply Messages</a:t>
            </a:r>
          </a:p>
          <a:p>
            <a:r>
              <a:rPr lang="en-US" b="1" dirty="0"/>
              <a:t>* </a:t>
            </a:r>
            <a:r>
              <a:rPr lang="vi-VN" b="1" dirty="0"/>
              <a:t>Vấn đề thật sự (The real issue)</a:t>
            </a:r>
          </a:p>
          <a:p>
            <a:r>
              <a:rPr lang="vi-VN" dirty="0"/>
              <a:t>Khi client gửi một request RPC đến server, nó </a:t>
            </a:r>
            <a:r>
              <a:rPr lang="vi-VN" b="1" dirty="0"/>
              <a:t>chỉ biết một điều</a:t>
            </a:r>
            <a:r>
              <a:rPr lang="vi-VN" dirty="0"/>
              <a:t>:</a:t>
            </a:r>
          </a:p>
          <a:p>
            <a:r>
              <a:rPr lang="en-US" dirty="0"/>
              <a:t>=&gt; </a:t>
            </a:r>
            <a:r>
              <a:rPr lang="vi-VN" b="1" dirty="0"/>
              <a:t>Nó không nhận được trả lời (reply).</a:t>
            </a:r>
            <a:endParaRPr lang="vi-VN" dirty="0"/>
          </a:p>
          <a:p>
            <a:r>
              <a:rPr lang="vi-VN" dirty="0"/>
              <a:t>Nhưng lý do vì sao thì client </a:t>
            </a:r>
            <a:r>
              <a:rPr lang="vi-VN" b="1" dirty="0"/>
              <a:t>không thể biết chắc</a:t>
            </a:r>
            <a:r>
              <a:rPr lang="vi-VN" dirty="0"/>
              <a:t>:</a:t>
            </a:r>
          </a:p>
          <a:p>
            <a:r>
              <a:rPr lang="en-US" b="1" dirty="0"/>
              <a:t>1.</a:t>
            </a:r>
            <a:r>
              <a:rPr lang="vi-VN" b="1" dirty="0"/>
              <a:t> Lost request</a:t>
            </a:r>
          </a:p>
          <a:p>
            <a:pPr>
              <a:buFont typeface="Arial" panose="020B0604020202020204" pitchFamily="34" charset="0"/>
              <a:buChar char="•"/>
            </a:pPr>
            <a:r>
              <a:rPr lang="vi-VN" dirty="0"/>
              <a:t>Request không bao giờ tới server.</a:t>
            </a:r>
          </a:p>
          <a:p>
            <a:pPr>
              <a:buFont typeface="Arial" panose="020B0604020202020204" pitchFamily="34" charset="0"/>
              <a:buChar char="•"/>
            </a:pPr>
            <a:r>
              <a:rPr lang="vi-VN" dirty="0"/>
              <a:t>Server không biết có request nên không trả lời.</a:t>
            </a:r>
          </a:p>
          <a:p>
            <a:r>
              <a:rPr lang="en-US" b="1" dirty="0"/>
              <a:t>2.</a:t>
            </a:r>
            <a:r>
              <a:rPr lang="vi-VN" b="1" dirty="0"/>
              <a:t> Crashed server</a:t>
            </a:r>
          </a:p>
          <a:p>
            <a:pPr>
              <a:buFont typeface="Arial" panose="020B0604020202020204" pitchFamily="34" charset="0"/>
              <a:buChar char="•"/>
            </a:pPr>
            <a:r>
              <a:rPr lang="vi-VN" dirty="0"/>
              <a:t>Server nhận request, có thể đã xử lý, nhưng crash trước khi trả lời.</a:t>
            </a:r>
          </a:p>
          <a:p>
            <a:r>
              <a:rPr lang="en-US" b="1" dirty="0"/>
              <a:t>3.</a:t>
            </a:r>
            <a:r>
              <a:rPr lang="vi-VN" b="1" dirty="0"/>
              <a:t> Lost response</a:t>
            </a:r>
          </a:p>
          <a:p>
            <a:pPr>
              <a:buFont typeface="Arial" panose="020B0604020202020204" pitchFamily="34" charset="0"/>
              <a:buChar char="•"/>
            </a:pPr>
            <a:r>
              <a:rPr lang="vi-VN" dirty="0"/>
              <a:t>Server xử lý xong → gửi reply → reply bị mất trên đường truyền.</a:t>
            </a:r>
          </a:p>
          <a:p>
            <a:r>
              <a:rPr lang="en-US" dirty="0"/>
              <a:t>*</a:t>
            </a:r>
            <a:r>
              <a:rPr lang="vi-VN" dirty="0"/>
              <a:t> </a:t>
            </a:r>
            <a:r>
              <a:rPr lang="vi-VN" b="1" dirty="0"/>
              <a:t>Cả ba trường hợp này nhìn từ phía client đều giống nhau: không có reply.</a:t>
            </a:r>
            <a:endParaRPr lang="vi-VN" dirty="0"/>
          </a:p>
          <a:p>
            <a:r>
              <a:rPr lang="vi-VN" dirty="0"/>
              <a:t>Do đó client </a:t>
            </a:r>
            <a:r>
              <a:rPr lang="vi-VN" b="1" dirty="0"/>
              <a:t>không thể quyết định</a:t>
            </a:r>
            <a:r>
              <a:rPr lang="vi-VN" dirty="0"/>
              <a:t> xem nên resend request hay không, và resend có gây ra lỗi hay không.</a:t>
            </a:r>
            <a:endParaRPr lang="en-US" dirty="0"/>
          </a:p>
          <a:p>
            <a:endParaRPr lang="en-US" b="1" dirty="0"/>
          </a:p>
          <a:p>
            <a:r>
              <a:rPr lang="vi-VN" b="1" dirty="0"/>
              <a:t>Giải pháp một phần (Partial Solution)</a:t>
            </a:r>
          </a:p>
          <a:p>
            <a:r>
              <a:rPr lang="vi-VN" dirty="0"/>
              <a:t>Để giảm mơ hồ, ta thiết kế server sao cho các thao tác là </a:t>
            </a:r>
            <a:r>
              <a:rPr lang="vi-VN" b="1" dirty="0"/>
              <a:t>idempotent</a:t>
            </a:r>
            <a:r>
              <a:rPr lang="vi-VN" dirty="0"/>
              <a:t>.</a:t>
            </a:r>
          </a:p>
          <a:p>
            <a:r>
              <a:rPr lang="en-US" b="1" dirty="0"/>
              <a:t>* </a:t>
            </a:r>
            <a:r>
              <a:rPr lang="vi-VN" b="1" dirty="0"/>
              <a:t>Idempotent operations là gì?</a:t>
            </a:r>
            <a:r>
              <a:rPr lang="en-US" b="1" dirty="0"/>
              <a:t> =&gt;</a:t>
            </a:r>
            <a:r>
              <a:rPr lang="en-US" dirty="0"/>
              <a:t> </a:t>
            </a:r>
            <a:r>
              <a:rPr lang="vi-VN" b="1" dirty="0"/>
              <a:t>Lặp lại nhiều lần vẫn cho kết quả y như thực hiện một lần duy nhất.</a:t>
            </a:r>
            <a:endParaRPr lang="vi-VN" dirty="0"/>
          </a:p>
          <a:p>
            <a:r>
              <a:rPr lang="vi-VN" b="1" dirty="0"/>
              <a:t>Ví dụ thao tác idempotent:</a:t>
            </a:r>
          </a:p>
          <a:p>
            <a:pPr>
              <a:buFont typeface="Arial" panose="020B0604020202020204" pitchFamily="34" charset="0"/>
              <a:buChar char="•"/>
            </a:pPr>
            <a:r>
              <a:rPr lang="vi-VN" b="1" dirty="0"/>
              <a:t>Pure read operations</a:t>
            </a:r>
            <a:endParaRPr lang="vi-VN" dirty="0"/>
          </a:p>
          <a:p>
            <a:pPr marL="742950" lvl="1" indent="-285750">
              <a:buFont typeface="Arial" panose="020B0604020202020204" pitchFamily="34" charset="0"/>
              <a:buChar char="•"/>
            </a:pPr>
            <a:r>
              <a:rPr lang="vi-VN" dirty="0"/>
              <a:t>Đọc dữ liệu nhiều lần → kết quả vẫn giống nhau → an toàn khi retry.</a:t>
            </a:r>
          </a:p>
          <a:p>
            <a:pPr>
              <a:buFont typeface="Arial" panose="020B0604020202020204" pitchFamily="34" charset="0"/>
              <a:buChar char="•"/>
            </a:pPr>
            <a:r>
              <a:rPr lang="vi-VN" b="1" dirty="0"/>
              <a:t>Strict overwrite operations</a:t>
            </a:r>
            <a:endParaRPr lang="vi-VN" dirty="0"/>
          </a:p>
          <a:p>
            <a:pPr marL="742950" lvl="1" indent="-285750">
              <a:buFont typeface="Arial" panose="020B0604020202020204" pitchFamily="34" charset="0"/>
              <a:buChar char="•"/>
            </a:pPr>
            <a:r>
              <a:rPr lang="vi-VN" dirty="0"/>
              <a:t>Ghi giá trị mới thay thế hoàn toàn:</a:t>
            </a:r>
            <a:br>
              <a:rPr lang="vi-VN" dirty="0"/>
            </a:br>
            <a:r>
              <a:rPr lang="vi-VN" dirty="0"/>
              <a:t>x = 5</a:t>
            </a:r>
            <a:br>
              <a:rPr lang="vi-VN" dirty="0"/>
            </a:br>
            <a:r>
              <a:rPr lang="vi-VN" dirty="0"/>
              <a:t>Ghi lại lần thứ 2 vẫn cho kết quả như lần thứ nhất.</a:t>
            </a:r>
          </a:p>
          <a:p>
            <a:r>
              <a:rPr lang="vi-VN" dirty="0"/>
              <a:t>Như vậy nếu client resend request nhiều lần, kết quả vẫn </a:t>
            </a:r>
            <a:r>
              <a:rPr lang="vi-VN" b="1" dirty="0"/>
              <a:t>đúng và an toàn</a:t>
            </a:r>
            <a:r>
              <a:rPr lang="vi-VN" dirty="0"/>
              <a:t>.</a:t>
            </a:r>
          </a:p>
          <a:p>
            <a:endParaRPr lang="en-US" b="1" dirty="0"/>
          </a:p>
          <a:p>
            <a:r>
              <a:rPr lang="en-US" b="1" dirty="0"/>
              <a:t>* </a:t>
            </a:r>
            <a:r>
              <a:rPr lang="vi-VN" b="1" dirty="0"/>
              <a:t>Nhưng hạn chế: nhiều operation là non-idempotent</a:t>
            </a:r>
          </a:p>
          <a:p>
            <a:r>
              <a:rPr lang="vi-VN" dirty="0"/>
              <a:t>Một số thao tác </a:t>
            </a:r>
            <a:r>
              <a:rPr lang="vi-VN" b="1" dirty="0"/>
              <a:t>không idempotent</a:t>
            </a:r>
            <a:r>
              <a:rPr lang="vi-VN" dirty="0"/>
              <a:t>, ví dụ trong hệ thống ngân hàng:</a:t>
            </a:r>
          </a:p>
          <a:p>
            <a:pPr>
              <a:buFont typeface="Arial" panose="020B0604020202020204" pitchFamily="34" charset="0"/>
              <a:buChar char="•"/>
            </a:pPr>
            <a:r>
              <a:rPr lang="vi-VN" dirty="0"/>
              <a:t>transfer(10$)</a:t>
            </a:r>
          </a:p>
          <a:p>
            <a:pPr>
              <a:buFont typeface="Arial" panose="020B0604020202020204" pitchFamily="34" charset="0"/>
              <a:buChar char="•"/>
            </a:pPr>
            <a:r>
              <a:rPr lang="vi-VN" dirty="0"/>
              <a:t>withdraw(20$)</a:t>
            </a:r>
          </a:p>
          <a:p>
            <a:pPr>
              <a:buFont typeface="Arial" panose="020B0604020202020204" pitchFamily="34" charset="0"/>
              <a:buChar char="•"/>
            </a:pPr>
            <a:r>
              <a:rPr lang="vi-VN" dirty="0"/>
              <a:t>increment counter</a:t>
            </a:r>
          </a:p>
          <a:p>
            <a:r>
              <a:rPr lang="vi-VN" dirty="0"/>
              <a:t>Nếu client gửi lại request vì không nhận được reply:</a:t>
            </a:r>
          </a:p>
          <a:p>
            <a:r>
              <a:rPr lang="en-US" dirty="0"/>
              <a:t>- </a:t>
            </a:r>
            <a:r>
              <a:rPr lang="vi-VN" b="1" dirty="0"/>
              <a:t>Tiền có thể bị trừ hai lần</a:t>
            </a:r>
            <a:br>
              <a:rPr lang="vi-VN" dirty="0"/>
            </a:br>
            <a:r>
              <a:rPr lang="en-US" dirty="0"/>
              <a:t>- </a:t>
            </a:r>
            <a:r>
              <a:rPr lang="vi-VN" b="1" dirty="0"/>
              <a:t>Counter tăng gấp đôi</a:t>
            </a:r>
            <a:br>
              <a:rPr lang="vi-VN" dirty="0"/>
            </a:br>
            <a:r>
              <a:rPr lang="en-US" dirty="0"/>
              <a:t>- </a:t>
            </a:r>
            <a:r>
              <a:rPr lang="vi-VN" b="1" dirty="0"/>
              <a:t>Dữ liệu bị sai lệch nghiêm trọng</a:t>
            </a:r>
            <a:endParaRPr lang="vi-VN" dirty="0"/>
          </a:p>
          <a:p>
            <a:r>
              <a:rPr lang="vi-VN" dirty="0"/>
              <a:t>Do đó idempotent chỉ là </a:t>
            </a:r>
            <a:r>
              <a:rPr lang="vi-VN" b="1" dirty="0"/>
              <a:t>giải pháp một phần</a:t>
            </a:r>
            <a:r>
              <a:rPr lang="vi-VN" dirty="0"/>
              <a:t>, không phải giải pháp toàn diện.</a:t>
            </a:r>
          </a:p>
          <a:p>
            <a:endParaRPr lang="en-US" b="1" dirty="0"/>
          </a:p>
          <a:p>
            <a:r>
              <a:rPr lang="en-US" b="1" dirty="0"/>
              <a:t>*** </a:t>
            </a:r>
            <a:r>
              <a:rPr lang="vi-VN" b="1" dirty="0"/>
              <a:t>Tóm tắt</a:t>
            </a:r>
            <a:r>
              <a:rPr lang="en-US" b="1" dirty="0"/>
              <a:t>:</a:t>
            </a:r>
            <a:endParaRPr lang="vi-VN" b="1" dirty="0"/>
          </a:p>
          <a:p>
            <a:pPr>
              <a:buFont typeface="Arial" panose="020B0604020202020204" pitchFamily="34" charset="0"/>
              <a:buChar char="•"/>
            </a:pPr>
            <a:r>
              <a:rPr lang="vi-VN" dirty="0"/>
              <a:t>Client KHÔNG phân biệt được lost request, crashed server hay lost response.</a:t>
            </a:r>
          </a:p>
          <a:p>
            <a:pPr>
              <a:buFont typeface="Arial" panose="020B0604020202020204" pitchFamily="34" charset="0"/>
              <a:buChar char="•"/>
            </a:pPr>
            <a:r>
              <a:rPr lang="vi-VN" dirty="0"/>
              <a:t>Do đó nếu retry mà không cẩn thận → DỮ LIỆU SAI LỆCH.</a:t>
            </a:r>
          </a:p>
          <a:p>
            <a:pPr>
              <a:buFont typeface="Arial" panose="020B0604020202020204" pitchFamily="34" charset="0"/>
              <a:buChar char="•"/>
            </a:pPr>
            <a:r>
              <a:rPr lang="vi-VN" dirty="0"/>
              <a:t>Giải pháp một phần:</a:t>
            </a:r>
            <a:br>
              <a:rPr lang="vi-VN" dirty="0"/>
            </a:br>
            <a:r>
              <a:rPr lang="en-US" dirty="0"/>
              <a:t>-</a:t>
            </a:r>
            <a:r>
              <a:rPr lang="vi-VN" dirty="0"/>
              <a:t> Thiết kế server với idempotent operations khi có thể.</a:t>
            </a:r>
          </a:p>
          <a:p>
            <a:pPr>
              <a:buFont typeface="Arial" panose="020B0604020202020204" pitchFamily="34" charset="0"/>
              <a:buChar char="•"/>
            </a:pPr>
            <a:r>
              <a:rPr lang="vi-VN" dirty="0"/>
              <a:t>Nhưng:</a:t>
            </a:r>
            <a:br>
              <a:rPr lang="vi-VN" dirty="0"/>
            </a:br>
            <a:r>
              <a:rPr lang="en-US" dirty="0"/>
              <a:t>- </a:t>
            </a:r>
            <a:r>
              <a:rPr lang="vi-VN" dirty="0"/>
              <a:t>Rất nhiều operation trong thực tế (đặc biệt banking) là non-idempotent.</a:t>
            </a:r>
            <a:br>
              <a:rPr lang="vi-VN" dirty="0"/>
            </a:br>
            <a:r>
              <a:rPr lang="en-US" dirty="0"/>
              <a:t>- </a:t>
            </a:r>
            <a:r>
              <a:rPr lang="vi-VN" dirty="0"/>
              <a:t>Cần cơ chế mạnh hơn như transaction, logging, unique request IDs.</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62</a:t>
            </a:fld>
            <a:endParaRPr lang="en-US"/>
          </a:p>
        </p:txBody>
      </p:sp>
    </p:spTree>
    <p:extLst>
      <p:ext uri="{BB962C8B-B14F-4D97-AF65-F5344CB8AC3E}">
        <p14:creationId xmlns:p14="http://schemas.microsoft.com/office/powerpoint/2010/main" val="12700849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“Reliable RPC: client crash”</a:t>
            </a:r>
            <a:r>
              <a:rPr lang="vi-VN" dirty="0"/>
              <a:t>.</a:t>
            </a:r>
          </a:p>
          <a:p>
            <a:r>
              <a:rPr lang="vi-VN" b="1" dirty="0"/>
              <a:t>Reliable RPC: Client Crash</a:t>
            </a:r>
          </a:p>
          <a:p>
            <a:r>
              <a:rPr lang="vi-VN" dirty="0"/>
              <a:t>Khi nói về RPC, ta không chỉ lo server crash — </a:t>
            </a:r>
            <a:r>
              <a:rPr lang="vi-VN" b="1" dirty="0"/>
              <a:t>client crash cũng gây vấn đề lớn</a:t>
            </a:r>
            <a:r>
              <a:rPr lang="vi-VN" dirty="0"/>
              <a:t>, và slide này mô tả chính xác tình huống đó.</a:t>
            </a:r>
          </a:p>
          <a:p>
            <a:endParaRPr lang="en-US" b="1" dirty="0"/>
          </a:p>
          <a:p>
            <a:r>
              <a:rPr lang="vi-VN" b="1" dirty="0"/>
              <a:t>Problem: Orphan Computation</a:t>
            </a:r>
          </a:p>
          <a:p>
            <a:r>
              <a:rPr lang="vi-VN" dirty="0"/>
              <a:t>Khi client gửi một RPC request đến server:</a:t>
            </a:r>
          </a:p>
          <a:p>
            <a:pPr rtl="0"/>
            <a:r>
              <a:rPr lang="vi-VN" dirty="0"/>
              <a:t>client → server: please execute operation X </a:t>
            </a:r>
          </a:p>
          <a:p>
            <a:r>
              <a:rPr lang="vi-VN" dirty="0"/>
              <a:t>Sau khi server đã bắt đầu xử lý:</a:t>
            </a:r>
          </a:p>
          <a:p>
            <a:r>
              <a:rPr lang="en-US" dirty="0"/>
              <a:t>=&gt; </a:t>
            </a:r>
            <a:r>
              <a:rPr lang="vi-VN" b="1" dirty="0"/>
              <a:t>Client bị crash</a:t>
            </a:r>
            <a:endParaRPr lang="vi-VN" dirty="0"/>
          </a:p>
          <a:p>
            <a:r>
              <a:rPr lang="vi-VN" dirty="0"/>
              <a:t>Kết quả là:</a:t>
            </a:r>
          </a:p>
          <a:p>
            <a:pPr>
              <a:buFont typeface="Arial" panose="020B0604020202020204" pitchFamily="34" charset="0"/>
              <a:buChar char="•"/>
            </a:pPr>
            <a:r>
              <a:rPr lang="vi-VN" dirty="0"/>
              <a:t>Server </a:t>
            </a:r>
            <a:r>
              <a:rPr lang="vi-VN" b="1" dirty="0"/>
              <a:t>vẫn tiếp tục thực thi</a:t>
            </a:r>
            <a:r>
              <a:rPr lang="vi-VN" dirty="0"/>
              <a:t> request</a:t>
            </a:r>
          </a:p>
          <a:p>
            <a:pPr>
              <a:buFont typeface="Arial" panose="020B0604020202020204" pitchFamily="34" charset="0"/>
              <a:buChar char="•"/>
            </a:pPr>
            <a:r>
              <a:rPr lang="vi-VN" dirty="0"/>
              <a:t>Mặc dù client </a:t>
            </a:r>
            <a:r>
              <a:rPr lang="vi-VN" b="1" dirty="0"/>
              <a:t>không còn tồn tại</a:t>
            </a:r>
            <a:r>
              <a:rPr lang="vi-VN" dirty="0"/>
              <a:t> để nhận kết quả</a:t>
            </a:r>
          </a:p>
          <a:p>
            <a:pPr>
              <a:buFont typeface="Arial" panose="020B0604020202020204" pitchFamily="34" charset="0"/>
              <a:buChar char="•"/>
            </a:pPr>
            <a:r>
              <a:rPr lang="vi-VN" dirty="0"/>
              <a:t>Nghĩa là server dùng CPU, RAM, tài nguyên I/O… </a:t>
            </a:r>
            <a:r>
              <a:rPr lang="vi-VN" b="1" dirty="0"/>
              <a:t>một cách vô nghĩa</a:t>
            </a:r>
            <a:endParaRPr lang="vi-VN" dirty="0"/>
          </a:p>
          <a:p>
            <a:r>
              <a:rPr lang="en-US" dirty="0"/>
              <a:t>* </a:t>
            </a:r>
            <a:r>
              <a:rPr lang="vi-VN" dirty="0"/>
              <a:t>Server đang chạy một </a:t>
            </a:r>
            <a:r>
              <a:rPr lang="vi-VN" b="1" dirty="0"/>
              <a:t>orphan computation</a:t>
            </a:r>
            <a:r>
              <a:rPr lang="vi-VN" dirty="0"/>
              <a:t> (tính toán mồ côi).</a:t>
            </a:r>
          </a:p>
          <a:p>
            <a:r>
              <a:rPr lang="vi-VN" dirty="0"/>
              <a:t>Hậu quả:</a:t>
            </a:r>
          </a:p>
          <a:p>
            <a:pPr>
              <a:buFont typeface="Arial" panose="020B0604020202020204" pitchFamily="34" charset="0"/>
              <a:buChar char="•"/>
            </a:pPr>
            <a:r>
              <a:rPr lang="vi-VN" dirty="0"/>
              <a:t>Lãng phí tài nguyên server</a:t>
            </a:r>
          </a:p>
          <a:p>
            <a:pPr>
              <a:buFont typeface="Arial" panose="020B0604020202020204" pitchFamily="34" charset="0"/>
              <a:buChar char="•"/>
            </a:pPr>
            <a:r>
              <a:rPr lang="vi-VN" dirty="0"/>
              <a:t>Có thể giữ lock, file, transaction → gây deadlock hoặc blocking</a:t>
            </a:r>
          </a:p>
          <a:p>
            <a:pPr>
              <a:buFont typeface="Arial" panose="020B0604020202020204" pitchFamily="34" charset="0"/>
              <a:buChar char="•"/>
            </a:pPr>
            <a:r>
              <a:rPr lang="vi-VN" dirty="0"/>
              <a:t>Tăng độ trễ cho các client khác</a:t>
            </a:r>
          </a:p>
          <a:p>
            <a:endParaRPr lang="en-US" b="1" dirty="0"/>
          </a:p>
          <a:p>
            <a:r>
              <a:rPr lang="vi-VN" b="1" dirty="0"/>
              <a:t>Solutions to the Orphan Problem</a:t>
            </a:r>
          </a:p>
          <a:p>
            <a:r>
              <a:rPr lang="vi-VN" dirty="0"/>
              <a:t>Slide đưa ra </a:t>
            </a:r>
            <a:r>
              <a:rPr lang="vi-VN" b="1" dirty="0"/>
              <a:t>3 cách giải quyết phổ biến</a:t>
            </a:r>
            <a:r>
              <a:rPr lang="vi-VN" dirty="0"/>
              <a:t>.</a:t>
            </a:r>
          </a:p>
          <a:p>
            <a:r>
              <a:rPr lang="en-US" b="1" dirty="0"/>
              <a:t>1. </a:t>
            </a:r>
            <a:r>
              <a:rPr lang="vi-VN" b="1" dirty="0"/>
              <a:t>Client kills orphans upon recovery</a:t>
            </a:r>
          </a:p>
          <a:p>
            <a:r>
              <a:rPr lang="vi-VN" dirty="0"/>
              <a:t>Khi client khôi phục:</a:t>
            </a:r>
          </a:p>
          <a:p>
            <a:pPr>
              <a:buFont typeface="Arial" panose="020B0604020202020204" pitchFamily="34" charset="0"/>
              <a:buChar char="•"/>
            </a:pPr>
            <a:r>
              <a:rPr lang="vi-VN" dirty="0"/>
              <a:t>Nó biết phiên làm việc cũ đã mất</a:t>
            </a:r>
          </a:p>
          <a:p>
            <a:pPr>
              <a:buFont typeface="Arial" panose="020B0604020202020204" pitchFamily="34" charset="0"/>
              <a:buChar char="•"/>
            </a:pPr>
            <a:r>
              <a:rPr lang="vi-VN" dirty="0"/>
              <a:t>Nó gửi cho server thông tin để </a:t>
            </a:r>
            <a:r>
              <a:rPr lang="vi-VN" b="1" dirty="0"/>
              <a:t>hủy tất cả các request cũ</a:t>
            </a:r>
            <a:r>
              <a:rPr lang="vi-VN" dirty="0"/>
              <a:t> do nó đã gửi trước crash</a:t>
            </a:r>
          </a:p>
          <a:p>
            <a:r>
              <a:rPr lang="en-US" dirty="0"/>
              <a:t>=&gt;</a:t>
            </a:r>
            <a:r>
              <a:rPr lang="vi-VN" dirty="0"/>
              <a:t> Server dừng các orphan computations.</a:t>
            </a:r>
          </a:p>
          <a:p>
            <a:r>
              <a:rPr lang="vi-VN" dirty="0"/>
              <a:t>Đây là cách tiếp cận </a:t>
            </a:r>
            <a:r>
              <a:rPr lang="vi-VN" b="1" dirty="0"/>
              <a:t>hợp tác (cooperative)</a:t>
            </a:r>
            <a:r>
              <a:rPr lang="vi-VN" dirty="0"/>
              <a:t>:</a:t>
            </a:r>
            <a:br>
              <a:rPr lang="vi-VN" dirty="0"/>
            </a:br>
            <a:r>
              <a:rPr lang="vi-VN" dirty="0"/>
              <a:t>Client tự chịu trách nhiệm dọn dẹp.</a:t>
            </a:r>
          </a:p>
          <a:p>
            <a:r>
              <a:rPr lang="en-US" b="1" dirty="0"/>
              <a:t>2. </a:t>
            </a:r>
            <a:r>
              <a:rPr lang="vi-VN" b="1" dirty="0"/>
              <a:t>New epoch number (generation number)</a:t>
            </a:r>
          </a:p>
          <a:p>
            <a:r>
              <a:rPr lang="vi-VN" dirty="0"/>
              <a:t>Khi client hồi phục, nó:</a:t>
            </a:r>
          </a:p>
          <a:p>
            <a:pPr>
              <a:buFont typeface="Arial" panose="020B0604020202020204" pitchFamily="34" charset="0"/>
              <a:buChar char="•"/>
            </a:pPr>
            <a:r>
              <a:rPr lang="vi-VN" dirty="0"/>
              <a:t>Tạo </a:t>
            </a:r>
            <a:r>
              <a:rPr lang="vi-VN" b="1" dirty="0"/>
              <a:t>một epoch number mới</a:t>
            </a:r>
            <a:r>
              <a:rPr lang="vi-VN" dirty="0"/>
              <a:t> (ví dụ: tăng version của client)</a:t>
            </a:r>
          </a:p>
          <a:p>
            <a:pPr>
              <a:buFont typeface="Arial" panose="020B0604020202020204" pitchFamily="34" charset="0"/>
              <a:buChar char="•"/>
            </a:pPr>
            <a:r>
              <a:rPr lang="vi-VN" dirty="0"/>
              <a:t>Gửi broadcast thông báo:</a:t>
            </a:r>
            <a:br>
              <a:rPr lang="vi-VN" dirty="0"/>
            </a:br>
            <a:r>
              <a:rPr lang="vi-VN" dirty="0"/>
              <a:t>“Tôi đã reboot — tất cả operations từ epoch cũ phải bị hủy”</a:t>
            </a:r>
          </a:p>
          <a:p>
            <a:r>
              <a:rPr lang="en-US" dirty="0"/>
              <a:t>=&gt;</a:t>
            </a:r>
            <a:r>
              <a:rPr lang="vi-VN" dirty="0"/>
              <a:t> Server kiểm tra epoch:</a:t>
            </a:r>
          </a:p>
          <a:p>
            <a:pPr>
              <a:buFont typeface="Arial" panose="020B0604020202020204" pitchFamily="34" charset="0"/>
              <a:buChar char="•"/>
            </a:pPr>
            <a:r>
              <a:rPr lang="vi-VN" dirty="0"/>
              <a:t>Nếu request thuộc epoch cũ → </a:t>
            </a:r>
            <a:r>
              <a:rPr lang="vi-VN" b="1" dirty="0"/>
              <a:t>kill orphan</a:t>
            </a:r>
            <a:endParaRPr lang="vi-VN" dirty="0"/>
          </a:p>
          <a:p>
            <a:r>
              <a:rPr lang="en-US" dirty="0"/>
              <a:t>* </a:t>
            </a:r>
            <a:r>
              <a:rPr lang="vi-VN" dirty="0"/>
              <a:t>Đây là cách nhiều hệ thống dùng:</a:t>
            </a:r>
            <a:br>
              <a:rPr lang="vi-VN" dirty="0"/>
            </a:br>
            <a:r>
              <a:rPr lang="vi-VN" dirty="0"/>
              <a:t>VD: NFS, các hệ phân tán sử dụng session ID.</a:t>
            </a:r>
          </a:p>
          <a:p>
            <a:r>
              <a:rPr lang="en-US" b="1" dirty="0"/>
              <a:t>3. </a:t>
            </a:r>
            <a:r>
              <a:rPr lang="vi-VN" b="1" dirty="0"/>
              <a:t>Time-limited computations (T time units)</a:t>
            </a:r>
          </a:p>
          <a:p>
            <a:r>
              <a:rPr lang="vi-VN" dirty="0"/>
              <a:t>Server yêu cầu:</a:t>
            </a:r>
          </a:p>
          <a:p>
            <a:pPr>
              <a:buFont typeface="Arial" panose="020B0604020202020204" pitchFamily="34" charset="0"/>
              <a:buChar char="•"/>
            </a:pPr>
            <a:r>
              <a:rPr lang="vi-VN" dirty="0"/>
              <a:t>Mỗi computation phải hoàn thành trong </a:t>
            </a:r>
            <a:r>
              <a:rPr lang="vi-VN" b="1" dirty="0"/>
              <a:t>T time units</a:t>
            </a:r>
            <a:endParaRPr lang="vi-VN" dirty="0"/>
          </a:p>
          <a:p>
            <a:pPr>
              <a:buFont typeface="Arial" panose="020B0604020202020204" pitchFamily="34" charset="0"/>
              <a:buChar char="•"/>
            </a:pPr>
            <a:r>
              <a:rPr lang="vi-VN" dirty="0"/>
              <a:t>Nếu quá thời gian → server tự loại bỏ</a:t>
            </a:r>
          </a:p>
          <a:p>
            <a:r>
              <a:rPr lang="vi-VN" dirty="0"/>
              <a:t>Ưu điểm:</a:t>
            </a:r>
          </a:p>
          <a:p>
            <a:pPr>
              <a:buFont typeface="Arial" panose="020B0604020202020204" pitchFamily="34" charset="0"/>
              <a:buChar char="•"/>
            </a:pPr>
            <a:r>
              <a:rPr lang="vi-VN" dirty="0"/>
              <a:t>Đơn giản, không cần client hỗ trợ</a:t>
            </a:r>
          </a:p>
          <a:p>
            <a:pPr>
              <a:buFont typeface="Arial" panose="020B0604020202020204" pitchFamily="34" charset="0"/>
              <a:buChar char="•"/>
            </a:pPr>
            <a:r>
              <a:rPr lang="vi-VN" dirty="0"/>
              <a:t>Bảo vệ server khỏi orphan kéo dài</a:t>
            </a:r>
          </a:p>
          <a:p>
            <a:r>
              <a:rPr lang="vi-VN" dirty="0"/>
              <a:t>Nhược điểm:</a:t>
            </a:r>
          </a:p>
          <a:p>
            <a:pPr>
              <a:buFont typeface="Arial" panose="020B0604020202020204" pitchFamily="34" charset="0"/>
              <a:buChar char="•"/>
            </a:pPr>
            <a:r>
              <a:rPr lang="vi-VN" dirty="0"/>
              <a:t>Đôi khi T khó chọn</a:t>
            </a:r>
          </a:p>
          <a:p>
            <a:pPr>
              <a:buFont typeface="Arial" panose="020B0604020202020204" pitchFamily="34" charset="0"/>
              <a:buChar char="•"/>
            </a:pPr>
            <a:r>
              <a:rPr lang="vi-VN" dirty="0"/>
              <a:t>Computations dài hạn có thể bị huỷ mặc dù client không crash</a:t>
            </a:r>
          </a:p>
          <a:p>
            <a:endParaRPr lang="en-US" b="1" dirty="0"/>
          </a:p>
          <a:p>
            <a:r>
              <a:rPr lang="en-US" b="1" dirty="0"/>
              <a:t>***</a:t>
            </a:r>
            <a:r>
              <a:rPr lang="vi-VN" b="1" dirty="0"/>
              <a:t>Tóm tắt bài học quan trọng</a:t>
            </a:r>
          </a:p>
          <a:p>
            <a:pPr>
              <a:buFont typeface="Arial" panose="020B0604020202020204" pitchFamily="34" charset="0"/>
              <a:buChar char="•"/>
            </a:pPr>
            <a:r>
              <a:rPr lang="vi-VN" dirty="0"/>
              <a:t>Khi client crash, các request đang chạy trở thành </a:t>
            </a:r>
            <a:r>
              <a:rPr lang="vi-VN" b="1" dirty="0"/>
              <a:t>orphan</a:t>
            </a:r>
            <a:r>
              <a:rPr lang="vi-VN" dirty="0"/>
              <a:t>, gây lãng phí server.</a:t>
            </a:r>
          </a:p>
          <a:p>
            <a:pPr>
              <a:buFont typeface="Arial" panose="020B0604020202020204" pitchFamily="34" charset="0"/>
              <a:buChar char="•"/>
            </a:pPr>
            <a:r>
              <a:rPr lang="vi-VN" dirty="0"/>
              <a:t>Không thể bỏ mặc — cần </a:t>
            </a:r>
            <a:r>
              <a:rPr lang="vi-VN" b="1" dirty="0"/>
              <a:t>cơ chế dọn dẹp</a:t>
            </a:r>
            <a:r>
              <a:rPr lang="vi-VN" dirty="0"/>
              <a:t>.</a:t>
            </a:r>
          </a:p>
          <a:p>
            <a:pPr>
              <a:buFont typeface="Arial" panose="020B0604020202020204" pitchFamily="34" charset="0"/>
              <a:buChar char="•"/>
            </a:pPr>
            <a:r>
              <a:rPr lang="vi-VN" dirty="0"/>
              <a:t>Có 3 cách xử lý chính:</a:t>
            </a:r>
          </a:p>
          <a:p>
            <a:pPr marL="742950" lvl="1" indent="-285750">
              <a:buFont typeface="Arial" panose="020B0604020202020204" pitchFamily="34" charset="0"/>
              <a:buChar char="•"/>
            </a:pPr>
            <a:r>
              <a:rPr lang="vi-VN" dirty="0"/>
              <a:t>Client phục hồi → hủy orphan</a:t>
            </a:r>
          </a:p>
          <a:p>
            <a:pPr marL="742950" lvl="1" indent="-285750">
              <a:buFont typeface="Arial" panose="020B0604020202020204" pitchFamily="34" charset="0"/>
              <a:buChar char="•"/>
            </a:pPr>
            <a:r>
              <a:rPr lang="vi-VN" dirty="0"/>
              <a:t>Sử dụng </a:t>
            </a:r>
            <a:r>
              <a:rPr lang="vi-VN" b="1" dirty="0"/>
              <a:t>epoch numbers</a:t>
            </a:r>
            <a:endParaRPr lang="vi-VN" dirty="0"/>
          </a:p>
          <a:p>
            <a:pPr marL="742950" lvl="1" indent="-285750">
              <a:buFont typeface="Arial" panose="020B0604020202020204" pitchFamily="34" charset="0"/>
              <a:buChar char="•"/>
            </a:pPr>
            <a:r>
              <a:rPr lang="vi-VN" dirty="0"/>
              <a:t>Server tự timeout computations</a:t>
            </a:r>
          </a:p>
          <a:p>
            <a:r>
              <a:rPr lang="en-US" dirty="0"/>
              <a:t>=&gt;</a:t>
            </a:r>
            <a:r>
              <a:rPr lang="vi-VN" dirty="0"/>
              <a:t> Mục tiêu: </a:t>
            </a:r>
            <a:r>
              <a:rPr lang="vi-VN" b="1" dirty="0"/>
              <a:t>Giữ server sạch, tránh deadlock, tiết kiệm tài nguyên</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63</a:t>
            </a:fld>
            <a:endParaRPr lang="en-US"/>
          </a:p>
        </p:txBody>
      </p:sp>
    </p:spTree>
    <p:extLst>
      <p:ext uri="{BB962C8B-B14F-4D97-AF65-F5344CB8AC3E}">
        <p14:creationId xmlns:p14="http://schemas.microsoft.com/office/powerpoint/2010/main" val="22847104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i="1" dirty="0"/>
              <a:t>“Simple reliable group communication”</a:t>
            </a:r>
            <a:r>
              <a:rPr lang="vi-VN" dirty="0"/>
              <a:t>.</a:t>
            </a:r>
          </a:p>
          <a:p>
            <a:r>
              <a:rPr lang="vi-VN" b="1" dirty="0"/>
              <a:t>Simple Reliable Group Communication</a:t>
            </a:r>
          </a:p>
          <a:p>
            <a:r>
              <a:rPr lang="vi-VN" dirty="0"/>
              <a:t>Slide này giới thiệu </a:t>
            </a:r>
            <a:r>
              <a:rPr lang="vi-VN" b="1" dirty="0"/>
              <a:t>khái niệm nền tảng</a:t>
            </a:r>
            <a:r>
              <a:rPr lang="vi-VN" dirty="0"/>
              <a:t> trong truyền thông nhóm (group communication) — một thành phần quan trọng của hệ thống phân tán và cơ chế chịu lỗi.</a:t>
            </a:r>
            <a:endParaRPr lang="en-US" dirty="0"/>
          </a:p>
          <a:p>
            <a:endParaRPr lang="en-US" b="1" dirty="0"/>
          </a:p>
          <a:p>
            <a:r>
              <a:rPr lang="vi-VN" b="1" dirty="0"/>
              <a:t>Intuition (Trực giác / Ý tưởng chính)</a:t>
            </a:r>
          </a:p>
          <a:p>
            <a:r>
              <a:rPr lang="vi-VN" dirty="0"/>
              <a:t>Một thông điệp được gửi tới </a:t>
            </a:r>
            <a:r>
              <a:rPr lang="vi-VN" b="1" dirty="0"/>
              <a:t>process group G</a:t>
            </a:r>
            <a:r>
              <a:rPr lang="vi-VN" dirty="0"/>
              <a:t> (một nhóm tiến trình)</a:t>
            </a:r>
            <a:br>
              <a:rPr lang="vi-VN" dirty="0"/>
            </a:br>
            <a:r>
              <a:rPr lang="en-US" dirty="0"/>
              <a:t>=&gt;</a:t>
            </a:r>
            <a:r>
              <a:rPr lang="vi-VN" dirty="0"/>
              <a:t> </a:t>
            </a:r>
            <a:r>
              <a:rPr lang="vi-VN" b="1" dirty="0"/>
              <a:t>phải được giao (delivered)</a:t>
            </a:r>
            <a:r>
              <a:rPr lang="vi-VN" dirty="0"/>
              <a:t> tới </a:t>
            </a:r>
            <a:r>
              <a:rPr lang="vi-VN" i="1" dirty="0"/>
              <a:t>mọi thành viên</a:t>
            </a:r>
            <a:r>
              <a:rPr lang="vi-VN" dirty="0"/>
              <a:t> của nhóm G.</a:t>
            </a:r>
          </a:p>
          <a:p>
            <a:r>
              <a:rPr lang="en-US" dirty="0"/>
              <a:t>*</a:t>
            </a:r>
            <a:r>
              <a:rPr lang="vi-VN" dirty="0"/>
              <a:t> Tuy nhiên, slide nhấn mạnh một điểm </a:t>
            </a:r>
            <a:r>
              <a:rPr lang="vi-VN" b="1" dirty="0"/>
              <a:t>cực kỳ quan trọng</a:t>
            </a:r>
            <a:r>
              <a:rPr lang="vi-VN" dirty="0"/>
              <a:t>:</a:t>
            </a:r>
          </a:p>
          <a:p>
            <a:r>
              <a:rPr lang="vi-VN" b="1" dirty="0"/>
              <a:t>Cần phân biệt giữa receiving (nhận) và delivering (giao) message.</a:t>
            </a:r>
            <a:endParaRPr lang="vi-VN" dirty="0"/>
          </a:p>
          <a:p>
            <a:r>
              <a:rPr lang="vi-VN" b="1" dirty="0"/>
              <a:t>Tại sao phải phân biệt?</a:t>
            </a:r>
          </a:p>
          <a:p>
            <a:pPr>
              <a:buFont typeface="Arial" panose="020B0604020202020204" pitchFamily="34" charset="0"/>
              <a:buChar char="•"/>
            </a:pPr>
            <a:r>
              <a:rPr lang="vi-VN" b="1" dirty="0"/>
              <a:t>Receiving (nhận)</a:t>
            </a:r>
            <a:r>
              <a:rPr lang="vi-VN" dirty="0"/>
              <a:t>: Hệ điều hành hoặc middleware nhận message từ mạng.</a:t>
            </a:r>
          </a:p>
          <a:p>
            <a:pPr>
              <a:buFont typeface="Arial" panose="020B0604020202020204" pitchFamily="34" charset="0"/>
              <a:buChar char="•"/>
            </a:pPr>
            <a:r>
              <a:rPr lang="vi-VN" b="1" dirty="0"/>
              <a:t>Delivering (giao)</a:t>
            </a:r>
            <a:r>
              <a:rPr lang="vi-VN" dirty="0"/>
              <a:t>: Message được </a:t>
            </a:r>
            <a:r>
              <a:rPr lang="vi-VN" i="1" dirty="0"/>
              <a:t>chính thức</a:t>
            </a:r>
            <a:r>
              <a:rPr lang="vi-VN" dirty="0"/>
              <a:t> chuyển cho ứng dụng (application layer).</a:t>
            </a:r>
          </a:p>
          <a:p>
            <a:r>
              <a:rPr lang="vi-VN" dirty="0"/>
              <a:t>Trong group communication, message </a:t>
            </a:r>
            <a:r>
              <a:rPr lang="vi-VN" b="1" dirty="0"/>
              <a:t>có thể được nhận (received)</a:t>
            </a:r>
            <a:r>
              <a:rPr lang="vi-VN" dirty="0"/>
              <a:t> từ mạng nhưng </a:t>
            </a:r>
            <a:r>
              <a:rPr lang="vi-VN" b="1" dirty="0"/>
              <a:t>chưa được giao (delivered)</a:t>
            </a:r>
            <a:r>
              <a:rPr lang="vi-VN" dirty="0"/>
              <a:t> cho ứng dụng, cho đến khi:</a:t>
            </a:r>
          </a:p>
          <a:p>
            <a:pPr>
              <a:buFont typeface="Arial" panose="020B0604020202020204" pitchFamily="34" charset="0"/>
              <a:buChar char="•"/>
            </a:pPr>
            <a:r>
              <a:rPr lang="vi-VN" dirty="0"/>
              <a:t>Đảm bảo tính tuần tự (ordering)</a:t>
            </a:r>
          </a:p>
          <a:p>
            <a:pPr>
              <a:buFont typeface="Arial" panose="020B0604020202020204" pitchFamily="34" charset="0"/>
              <a:buChar char="•"/>
            </a:pPr>
            <a:r>
              <a:rPr lang="vi-VN" dirty="0"/>
              <a:t>Đảm bảo tính nhất quán nhóm (group membership)</a:t>
            </a:r>
          </a:p>
          <a:p>
            <a:pPr>
              <a:buFont typeface="Arial" panose="020B0604020202020204" pitchFamily="34" charset="0"/>
              <a:buChar char="•"/>
            </a:pPr>
            <a:r>
              <a:rPr lang="vi-VN" dirty="0"/>
              <a:t>Đảm bảo độ tin cậy (reliability)</a:t>
            </a:r>
          </a:p>
          <a:p>
            <a:pPr>
              <a:buFont typeface="Arial" panose="020B0604020202020204" pitchFamily="34" charset="0"/>
              <a:buChar char="•"/>
            </a:pPr>
            <a:r>
              <a:rPr lang="vi-VN" dirty="0"/>
              <a:t>Đảm bảo mọi thành viên sẽ nhận giống nhau trước khi bất kỳ ai deliver</a:t>
            </a:r>
          </a:p>
          <a:p>
            <a:endParaRPr lang="en-US" b="1" dirty="0"/>
          </a:p>
          <a:p>
            <a:r>
              <a:rPr lang="vi-VN" b="1" dirty="0"/>
              <a:t>Giải thích hình minh hoạ</a:t>
            </a:r>
          </a:p>
          <a:p>
            <a:r>
              <a:rPr lang="vi-VN" dirty="0"/>
              <a:t>Hình có 3 hộp: </a:t>
            </a:r>
            <a:r>
              <a:rPr lang="vi-VN" b="1" dirty="0"/>
              <a:t>Sender</a:t>
            </a:r>
            <a:r>
              <a:rPr lang="vi-VN" dirty="0"/>
              <a:t> và 2 </a:t>
            </a:r>
            <a:r>
              <a:rPr lang="vi-VN" b="1" dirty="0"/>
              <a:t>Recipients</a:t>
            </a:r>
            <a:r>
              <a:rPr lang="vi-VN" dirty="0"/>
              <a:t>.</a:t>
            </a:r>
          </a:p>
          <a:p>
            <a:r>
              <a:rPr lang="vi-VN" dirty="0"/>
              <a:t>Mỗi tiến trình gồm 3 tầng:</a:t>
            </a:r>
          </a:p>
          <a:p>
            <a:r>
              <a:rPr lang="en-US" b="1" dirty="0"/>
              <a:t>1.</a:t>
            </a:r>
            <a:r>
              <a:rPr lang="vi-VN" b="1" dirty="0"/>
              <a:t> Group Membership Functionality</a:t>
            </a:r>
          </a:p>
          <a:p>
            <a:r>
              <a:rPr lang="vi-VN" dirty="0"/>
              <a:t>Đây là tầng quản lý:</a:t>
            </a:r>
          </a:p>
          <a:p>
            <a:pPr>
              <a:buFont typeface="Arial" panose="020B0604020202020204" pitchFamily="34" charset="0"/>
              <a:buChar char="•"/>
            </a:pPr>
            <a:r>
              <a:rPr lang="vi-VN" dirty="0"/>
              <a:t>Ai đang trong nhóm G?</a:t>
            </a:r>
          </a:p>
          <a:p>
            <a:pPr>
              <a:buFont typeface="Arial" panose="020B0604020202020204" pitchFamily="34" charset="0"/>
              <a:buChar char="•"/>
            </a:pPr>
            <a:r>
              <a:rPr lang="vi-VN" dirty="0"/>
              <a:t>Thành viên nào join/leave?</a:t>
            </a:r>
          </a:p>
          <a:p>
            <a:pPr>
              <a:buFont typeface="Arial" panose="020B0604020202020204" pitchFamily="34" charset="0"/>
              <a:buChar char="•"/>
            </a:pPr>
            <a:r>
              <a:rPr lang="vi-VN" dirty="0"/>
              <a:t>Phát hiện crash của thành viên</a:t>
            </a:r>
          </a:p>
          <a:p>
            <a:pPr>
              <a:buFont typeface="Arial" panose="020B0604020202020204" pitchFamily="34" charset="0"/>
              <a:buChar char="•"/>
            </a:pPr>
            <a:r>
              <a:rPr lang="vi-VN" dirty="0"/>
              <a:t>Đồng bộ view của nhóm</a:t>
            </a:r>
          </a:p>
          <a:p>
            <a:r>
              <a:rPr lang="en-US" dirty="0"/>
              <a:t>* </a:t>
            </a:r>
            <a:r>
              <a:rPr lang="vi-VN" b="1" dirty="0"/>
              <a:t>Group membership đảm bảo rằng tất cả tiến trình có cùng cái nhìn về nhóm.</a:t>
            </a:r>
            <a:endParaRPr lang="vi-VN" dirty="0"/>
          </a:p>
          <a:p>
            <a:r>
              <a:rPr lang="en-US" b="1" dirty="0"/>
              <a:t>2.</a:t>
            </a:r>
            <a:r>
              <a:rPr lang="vi-VN" b="1" dirty="0"/>
              <a:t> Message-handling component</a:t>
            </a:r>
          </a:p>
          <a:p>
            <a:r>
              <a:rPr lang="vi-VN" dirty="0"/>
              <a:t>Thành phần trung gian:</a:t>
            </a:r>
          </a:p>
          <a:p>
            <a:pPr>
              <a:buFont typeface="Arial" panose="020B0604020202020204" pitchFamily="34" charset="0"/>
              <a:buChar char="•"/>
            </a:pPr>
            <a:r>
              <a:rPr lang="vi-VN" dirty="0"/>
              <a:t>Đảm bảo thứ tự messages</a:t>
            </a:r>
            <a:br>
              <a:rPr lang="vi-VN" dirty="0"/>
            </a:br>
            <a:r>
              <a:rPr lang="vi-VN" dirty="0"/>
              <a:t>(ví dụ: FIFO, causal, total order)</a:t>
            </a:r>
          </a:p>
          <a:p>
            <a:pPr>
              <a:buFont typeface="Arial" panose="020B0604020202020204" pitchFamily="34" charset="0"/>
              <a:buChar char="•"/>
            </a:pPr>
            <a:r>
              <a:rPr lang="vi-VN" dirty="0"/>
              <a:t>Đảm bảo độ tin cậy</a:t>
            </a:r>
            <a:br>
              <a:rPr lang="vi-VN" dirty="0"/>
            </a:br>
            <a:r>
              <a:rPr lang="vi-VN" dirty="0"/>
              <a:t>(retry, acknowledgment)</a:t>
            </a:r>
          </a:p>
          <a:p>
            <a:pPr>
              <a:buFont typeface="Arial" panose="020B0604020202020204" pitchFamily="34" charset="0"/>
              <a:buChar char="•"/>
            </a:pPr>
            <a:r>
              <a:rPr lang="vi-VN" dirty="0"/>
              <a:t>Lọc bỏ message bị duplicated</a:t>
            </a:r>
          </a:p>
          <a:p>
            <a:pPr>
              <a:buFont typeface="Arial" panose="020B0604020202020204" pitchFamily="34" charset="0"/>
              <a:buChar char="•"/>
            </a:pPr>
            <a:r>
              <a:rPr lang="vi-VN" dirty="0"/>
              <a:t>Đảm bảo rằng message chỉ được deliver khi </a:t>
            </a:r>
            <a:r>
              <a:rPr lang="vi-VN" b="1" dirty="0"/>
              <a:t>mọi thành viên đều ready</a:t>
            </a:r>
            <a:endParaRPr lang="vi-VN" dirty="0"/>
          </a:p>
          <a:p>
            <a:r>
              <a:rPr lang="en-US" dirty="0"/>
              <a:t>* </a:t>
            </a:r>
            <a:r>
              <a:rPr lang="vi-VN" dirty="0"/>
              <a:t>Đây là nơi xảy ra sự khác biệt giữa “receive” và “deliver”.</a:t>
            </a:r>
          </a:p>
          <a:p>
            <a:r>
              <a:rPr lang="en-US" b="1" dirty="0"/>
              <a:t>3.</a:t>
            </a:r>
            <a:r>
              <a:rPr lang="vi-VN" b="1" dirty="0"/>
              <a:t> Local OS (Hệ điều hành)</a:t>
            </a:r>
          </a:p>
          <a:p>
            <a:pPr>
              <a:buFont typeface="Arial" panose="020B0604020202020204" pitchFamily="34" charset="0"/>
              <a:buChar char="•"/>
            </a:pPr>
            <a:r>
              <a:rPr lang="vi-VN" dirty="0"/>
              <a:t>Nhận packet từ mạng</a:t>
            </a:r>
          </a:p>
          <a:p>
            <a:pPr>
              <a:buFont typeface="Arial" panose="020B0604020202020204" pitchFamily="34" charset="0"/>
              <a:buChar char="•"/>
            </a:pPr>
            <a:r>
              <a:rPr lang="vi-VN" dirty="0"/>
              <a:t>Truyền packet qua TCP/UDP</a:t>
            </a:r>
          </a:p>
          <a:p>
            <a:pPr>
              <a:buFont typeface="Arial" panose="020B0604020202020204" pitchFamily="34" charset="0"/>
              <a:buChar char="•"/>
            </a:pPr>
            <a:r>
              <a:rPr lang="vi-VN" dirty="0"/>
              <a:t>Giao tiếp socket</a:t>
            </a:r>
          </a:p>
          <a:p>
            <a:r>
              <a:rPr lang="vi-VN" dirty="0"/>
              <a:t>OS </a:t>
            </a:r>
            <a:r>
              <a:rPr lang="vi-VN" b="1" dirty="0"/>
              <a:t>chỉ nhận (receive)</a:t>
            </a:r>
            <a:r>
              <a:rPr lang="vi-VN" dirty="0"/>
              <a:t> message</a:t>
            </a:r>
            <a:br>
              <a:rPr lang="vi-VN" dirty="0"/>
            </a:br>
            <a:r>
              <a:rPr lang="vi-VN" dirty="0"/>
              <a:t>→ nhưng không quyết định </a:t>
            </a:r>
            <a:r>
              <a:rPr lang="vi-VN" b="1" dirty="0"/>
              <a:t>khi nào deliver</a:t>
            </a:r>
            <a:r>
              <a:rPr lang="vi-VN" dirty="0"/>
              <a:t>.</a:t>
            </a:r>
          </a:p>
          <a:p>
            <a:endParaRPr lang="en-US" b="1" dirty="0"/>
          </a:p>
          <a:p>
            <a:r>
              <a:rPr lang="en-US" b="1" dirty="0"/>
              <a:t>***</a:t>
            </a:r>
            <a:r>
              <a:rPr lang="vi-VN" b="1" dirty="0"/>
              <a:t>Luồng hoạt động tổng quát</a:t>
            </a:r>
          </a:p>
          <a:p>
            <a:pPr>
              <a:buFont typeface="+mj-lt"/>
              <a:buAutoNum type="arabicPeriod"/>
            </a:pPr>
            <a:r>
              <a:rPr lang="vi-VN" b="1" dirty="0"/>
              <a:t>Sender</a:t>
            </a:r>
            <a:r>
              <a:rPr lang="vi-VN" dirty="0"/>
              <a:t> gửi message đến nhóm G</a:t>
            </a:r>
          </a:p>
          <a:p>
            <a:pPr>
              <a:buFont typeface="+mj-lt"/>
              <a:buAutoNum type="arabicPeriod"/>
            </a:pPr>
            <a:r>
              <a:rPr lang="vi-VN" dirty="0"/>
              <a:t>Message qua OS → message-handling component</a:t>
            </a:r>
          </a:p>
          <a:p>
            <a:pPr>
              <a:buFont typeface="+mj-lt"/>
              <a:buAutoNum type="arabicPeriod"/>
            </a:pPr>
            <a:r>
              <a:rPr lang="vi-VN" dirty="0"/>
              <a:t>Recipient nhận message (receive)</a:t>
            </a:r>
          </a:p>
          <a:p>
            <a:pPr>
              <a:buFont typeface="+mj-lt"/>
              <a:buAutoNum type="arabicPeriod"/>
            </a:pPr>
            <a:r>
              <a:rPr lang="vi-VN" dirty="0"/>
              <a:t>Message-handling component đảm bảo các điều kiện như:</a:t>
            </a:r>
          </a:p>
          <a:p>
            <a:pPr marL="742950" lvl="1" indent="-285750">
              <a:buFont typeface="+mj-lt"/>
              <a:buAutoNum type="arabicPeriod"/>
            </a:pPr>
            <a:r>
              <a:rPr lang="vi-VN" dirty="0"/>
              <a:t>Thứ tự đúng?</a:t>
            </a:r>
          </a:p>
          <a:p>
            <a:pPr marL="742950" lvl="1" indent="-285750">
              <a:buFont typeface="+mj-lt"/>
              <a:buAutoNum type="arabicPeriod"/>
            </a:pPr>
            <a:r>
              <a:rPr lang="vi-VN" dirty="0"/>
              <a:t>Mọi thành viên đều nhận?</a:t>
            </a:r>
          </a:p>
          <a:p>
            <a:pPr marL="742950" lvl="1" indent="-285750">
              <a:buFont typeface="+mj-lt"/>
              <a:buAutoNum type="arabicPeriod"/>
            </a:pPr>
            <a:r>
              <a:rPr lang="vi-VN" dirty="0"/>
              <a:t>Nhóm có thay đổi membership không?</a:t>
            </a:r>
          </a:p>
          <a:p>
            <a:pPr>
              <a:buFont typeface="+mj-lt"/>
              <a:buAutoNum type="arabicPeriod"/>
            </a:pPr>
            <a:r>
              <a:rPr lang="vi-VN" dirty="0"/>
              <a:t>Khi đảm bảo, message mới được </a:t>
            </a:r>
            <a:r>
              <a:rPr lang="vi-VN" b="1" dirty="0"/>
              <a:t>deliver</a:t>
            </a:r>
            <a:r>
              <a:rPr lang="vi-VN" dirty="0"/>
              <a:t> cho ứng dụng</a:t>
            </a:r>
          </a:p>
          <a:p>
            <a:endParaRPr lang="en-US" b="1" dirty="0"/>
          </a:p>
          <a:p>
            <a:r>
              <a:rPr lang="en-US" b="1" dirty="0"/>
              <a:t>*** </a:t>
            </a:r>
            <a:r>
              <a:rPr lang="vi-VN" b="1" dirty="0"/>
              <a:t>Điểm quan trọng của slide</a:t>
            </a:r>
          </a:p>
          <a:p>
            <a:r>
              <a:rPr lang="vi-VN" dirty="0"/>
              <a:t>Reliable group communication = reliable receiving + reliable delivering</a:t>
            </a:r>
            <a:br>
              <a:rPr lang="vi-VN" dirty="0"/>
            </a:br>
            <a:r>
              <a:rPr lang="vi-VN" dirty="0"/>
              <a:t>nhưng delivering cần nhiều logic để đảm bảo consistency giữa tất cả thành viên.</a:t>
            </a:r>
          </a:p>
          <a:p>
            <a:r>
              <a:rPr lang="vi-VN" b="1" dirty="0"/>
              <a:t>Ví dụ thực tế</a:t>
            </a:r>
          </a:p>
          <a:p>
            <a:r>
              <a:rPr lang="vi-VN" b="1" dirty="0"/>
              <a:t>Ví dụ: Chat room như Zalo/Slack</a:t>
            </a:r>
          </a:p>
          <a:p>
            <a:pPr>
              <a:buFont typeface="Arial" panose="020B0604020202020204" pitchFamily="34" charset="0"/>
              <a:buChar char="•"/>
            </a:pPr>
            <a:r>
              <a:rPr lang="vi-VN" dirty="0"/>
              <a:t>Khi A gửi tin nhắn cho group 10 người</a:t>
            </a:r>
            <a:br>
              <a:rPr lang="vi-VN" dirty="0"/>
            </a:br>
            <a:r>
              <a:rPr lang="vi-VN" dirty="0"/>
              <a:t>→ Tất cả phải nhận cùng một thứ tự, không ai bị missing thông điệp.</a:t>
            </a:r>
          </a:p>
          <a:p>
            <a:pPr>
              <a:buFont typeface="Arial" panose="020B0604020202020204" pitchFamily="34" charset="0"/>
              <a:buChar char="•"/>
            </a:pPr>
            <a:r>
              <a:rPr lang="vi-VN" dirty="0"/>
              <a:t>Nếu một người nhận message nhưng chưa deliver</a:t>
            </a:r>
            <a:br>
              <a:rPr lang="vi-VN" dirty="0"/>
            </a:br>
            <a:r>
              <a:rPr lang="vi-VN" dirty="0"/>
              <a:t>→ hệ thống đợi tất cả ổn định hoặc đảm bảo điều kiện order trước khi deliver chính thức.</a:t>
            </a:r>
          </a:p>
          <a:p>
            <a:endParaRPr lang="en-US" b="1" dirty="0"/>
          </a:p>
          <a:p>
            <a:r>
              <a:rPr lang="vi-VN" b="1" dirty="0"/>
              <a:t>Kết luận</a:t>
            </a:r>
          </a:p>
          <a:p>
            <a:pPr>
              <a:buFont typeface="Arial" panose="020B0604020202020204" pitchFamily="34" charset="0"/>
              <a:buChar char="•"/>
            </a:pPr>
            <a:r>
              <a:rPr lang="vi-VN" b="1" dirty="0"/>
              <a:t>Reliable </a:t>
            </a:r>
            <a:r>
              <a:rPr lang="en-US" b="1" dirty="0"/>
              <a:t>group</a:t>
            </a:r>
            <a:r>
              <a:rPr lang="vi-VN" b="1" dirty="0"/>
              <a:t> ≠ chỉ cần Reliable unicast</a:t>
            </a:r>
            <a:endParaRPr lang="vi-VN" dirty="0"/>
          </a:p>
          <a:p>
            <a:pPr>
              <a:buFont typeface="Arial" panose="020B0604020202020204" pitchFamily="34" charset="0"/>
              <a:buChar char="•"/>
            </a:pPr>
            <a:r>
              <a:rPr lang="vi-VN" dirty="0"/>
              <a:t>Truyền thông nhóm cần:</a:t>
            </a:r>
          </a:p>
          <a:p>
            <a:pPr marL="742950" lvl="1" indent="-285750">
              <a:buFont typeface="Arial" panose="020B0604020202020204" pitchFamily="34" charset="0"/>
              <a:buChar char="•"/>
            </a:pPr>
            <a:r>
              <a:rPr lang="vi-VN" dirty="0"/>
              <a:t>Quản lý membership</a:t>
            </a:r>
          </a:p>
          <a:p>
            <a:pPr marL="742950" lvl="1" indent="-285750">
              <a:buFont typeface="Arial" panose="020B0604020202020204" pitchFamily="34" charset="0"/>
              <a:buChar char="•"/>
            </a:pPr>
            <a:r>
              <a:rPr lang="vi-VN" dirty="0"/>
              <a:t>Message ordering rules</a:t>
            </a:r>
          </a:p>
          <a:p>
            <a:pPr marL="742950" lvl="1" indent="-285750">
              <a:buFont typeface="Arial" panose="020B0604020202020204" pitchFamily="34" charset="0"/>
              <a:buChar char="•"/>
            </a:pPr>
            <a:r>
              <a:rPr lang="vi-VN" dirty="0"/>
              <a:t>Chờ mọi thành viên hoặc đảm bảo consistency trước khi deliver</a:t>
            </a:r>
          </a:p>
          <a:p>
            <a:r>
              <a:rPr lang="vi-VN" dirty="0"/>
              <a:t>Và chính vì điều này mà group communication là </a:t>
            </a:r>
            <a:r>
              <a:rPr lang="vi-VN" b="1" dirty="0"/>
              <a:t>khó hơn nhiều</a:t>
            </a:r>
            <a:r>
              <a:rPr lang="vi-VN" dirty="0"/>
              <a:t> so với gửi message 1-1.</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64</a:t>
            </a:fld>
            <a:endParaRPr lang="en-US"/>
          </a:p>
        </p:txBody>
      </p:sp>
    </p:spTree>
    <p:extLst>
      <p:ext uri="{BB962C8B-B14F-4D97-AF65-F5344CB8AC3E}">
        <p14:creationId xmlns:p14="http://schemas.microsoft.com/office/powerpoint/2010/main" val="34445887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Less simple reliable group communication</a:t>
            </a:r>
          </a:p>
          <a:p>
            <a:r>
              <a:rPr lang="vi-VN" dirty="0"/>
              <a:t>Slide này đi từ ý tưởng đơn giản (ở slide trước) sang </a:t>
            </a:r>
            <a:r>
              <a:rPr lang="vi-VN" b="1" dirty="0"/>
              <a:t>một thực tế phức tạp hơn</a:t>
            </a:r>
            <a:r>
              <a:rPr lang="vi-VN" dirty="0"/>
              <a:t>: đảm bảo truyền thông nhóm tin cậy </a:t>
            </a:r>
            <a:r>
              <a:rPr lang="vi-VN" b="1" dirty="0"/>
              <a:t>khi có tiến trình bị lỗi</a:t>
            </a:r>
            <a:r>
              <a:rPr lang="vi-VN" dirty="0"/>
              <a:t>.</a:t>
            </a:r>
          </a:p>
          <a:p>
            <a:endParaRPr lang="en-US" b="1" dirty="0"/>
          </a:p>
          <a:p>
            <a:r>
              <a:rPr lang="vi-VN" b="1" dirty="0"/>
              <a:t>Reliable communication in the presence of faulty processes</a:t>
            </a:r>
          </a:p>
          <a:p>
            <a:r>
              <a:rPr lang="vi-VN" dirty="0"/>
              <a:t>(</a:t>
            </a:r>
            <a:r>
              <a:rPr lang="vi-VN" i="1" dirty="0"/>
              <a:t>Truyền thông nhóm tin cậy khi có tiến trình lỗi</a:t>
            </a:r>
            <a:r>
              <a:rPr lang="vi-VN" dirty="0"/>
              <a:t>)</a:t>
            </a:r>
          </a:p>
          <a:p>
            <a:r>
              <a:rPr lang="vi-VN" dirty="0"/>
              <a:t>Định nghĩa quan trọng:</a:t>
            </a:r>
          </a:p>
          <a:p>
            <a:r>
              <a:rPr lang="vi-VN" dirty="0"/>
              <a:t>Group communication được gọi là </a:t>
            </a:r>
            <a:r>
              <a:rPr lang="vi-VN" b="1" dirty="0"/>
              <a:t>reliable</a:t>
            </a:r>
            <a:r>
              <a:rPr lang="vi-VN" dirty="0"/>
              <a:t> khi:</a:t>
            </a:r>
            <a:br>
              <a:rPr lang="vi-VN" dirty="0"/>
            </a:br>
            <a:r>
              <a:rPr lang="vi-VN" b="1" dirty="0"/>
              <a:t>mọi tiến trình không lỗi (nonfaulty)</a:t>
            </a:r>
            <a:r>
              <a:rPr lang="vi-VN" dirty="0"/>
              <a:t> đều </a:t>
            </a:r>
            <a:r>
              <a:rPr lang="vi-VN" b="1" dirty="0"/>
              <a:t>nhận được (received)</a:t>
            </a:r>
            <a:r>
              <a:rPr lang="vi-VN" dirty="0"/>
              <a:t> message và </a:t>
            </a:r>
            <a:r>
              <a:rPr lang="vi-VN" b="1" dirty="0"/>
              <a:t>deliver</a:t>
            </a:r>
            <a:r>
              <a:rPr lang="vi-VN" dirty="0"/>
              <a:t> message đó.</a:t>
            </a:r>
          </a:p>
          <a:p>
            <a:r>
              <a:rPr lang="vi-VN" dirty="0"/>
              <a:t>Như vậy, với group G:</a:t>
            </a:r>
          </a:p>
          <a:p>
            <a:pPr>
              <a:buFont typeface="Arial" panose="020B0604020202020204" pitchFamily="34" charset="0"/>
              <a:buChar char="•"/>
            </a:pPr>
            <a:r>
              <a:rPr lang="vi-VN" dirty="0"/>
              <a:t>Nếu 5 server trong nhóm, 1 server bị crash</a:t>
            </a:r>
            <a:br>
              <a:rPr lang="vi-VN" dirty="0"/>
            </a:br>
            <a:r>
              <a:rPr lang="vi-VN" dirty="0"/>
              <a:t>→ thì chỉ cần 4 server </a:t>
            </a:r>
            <a:r>
              <a:rPr lang="vi-VN" b="1" dirty="0"/>
              <a:t>khỏe mạnh</a:t>
            </a:r>
            <a:r>
              <a:rPr lang="vi-VN" dirty="0"/>
              <a:t> đều nhận và deliver thông điệp.</a:t>
            </a:r>
          </a:p>
          <a:p>
            <a:r>
              <a:rPr lang="en-US" dirty="0"/>
              <a:t>* </a:t>
            </a:r>
            <a:r>
              <a:rPr lang="vi-VN" dirty="0"/>
              <a:t>Điều quan trọng:</a:t>
            </a:r>
            <a:br>
              <a:rPr lang="vi-VN" dirty="0"/>
            </a:br>
            <a:r>
              <a:rPr lang="vi-VN" b="1" dirty="0"/>
              <a:t>Không yêu cầu tiến trình lỗi phải deliver</a:t>
            </a:r>
            <a:r>
              <a:rPr lang="vi-VN" dirty="0"/>
              <a:t> — vì điều đó là không thể.</a:t>
            </a:r>
          </a:p>
          <a:p>
            <a:endParaRPr lang="en-US" b="1" dirty="0"/>
          </a:p>
          <a:p>
            <a:r>
              <a:rPr lang="vi-VN" b="1" dirty="0"/>
              <a:t>Why receiving ≠ delivering?</a:t>
            </a:r>
          </a:p>
          <a:p>
            <a:pPr>
              <a:buFont typeface="Arial" panose="020B0604020202020204" pitchFamily="34" charset="0"/>
              <a:buChar char="•"/>
            </a:pPr>
            <a:r>
              <a:rPr lang="vi-VN" b="1" dirty="0"/>
              <a:t>Receiving</a:t>
            </a:r>
            <a:r>
              <a:rPr lang="vi-VN" dirty="0"/>
              <a:t> = OS hoặc middleware nhận packet từ mạng.</a:t>
            </a:r>
          </a:p>
          <a:p>
            <a:pPr>
              <a:buFont typeface="Arial" panose="020B0604020202020204" pitchFamily="34" charset="0"/>
              <a:buChar char="•"/>
            </a:pPr>
            <a:r>
              <a:rPr lang="vi-VN" b="1" dirty="0"/>
              <a:t>Delivering</a:t>
            </a:r>
            <a:r>
              <a:rPr lang="vi-VN" dirty="0"/>
              <a:t> = message được đưa lên application, </a:t>
            </a:r>
            <a:r>
              <a:rPr lang="vi-VN" i="1" dirty="0"/>
              <a:t>sau khi bảo đảm mọi điều kiện an toàn</a:t>
            </a:r>
            <a:r>
              <a:rPr lang="vi-VN" dirty="0"/>
              <a:t>.</a:t>
            </a:r>
          </a:p>
          <a:p>
            <a:r>
              <a:rPr lang="vi-VN" dirty="0"/>
              <a:t>Khi có process lỗi, đảm bảo deliver phải:</a:t>
            </a:r>
          </a:p>
          <a:p>
            <a:pPr>
              <a:buFont typeface="Arial" panose="020B0604020202020204" pitchFamily="34" charset="0"/>
              <a:buChar char="•"/>
            </a:pPr>
            <a:r>
              <a:rPr lang="vi-VN" dirty="0"/>
              <a:t>Loại bỏ tiến trình lỗi khỏi nhóm</a:t>
            </a:r>
          </a:p>
          <a:p>
            <a:pPr>
              <a:buFont typeface="Arial" panose="020B0604020202020204" pitchFamily="34" charset="0"/>
              <a:buChar char="•"/>
            </a:pPr>
            <a:r>
              <a:rPr lang="vi-VN" dirty="0"/>
              <a:t>Đảm bảo tất cả tiến trình khỏe còn lại đều có </a:t>
            </a:r>
            <a:r>
              <a:rPr lang="vi-VN" i="1" dirty="0"/>
              <a:t>cùng danh sách thành viên (group view)</a:t>
            </a:r>
            <a:endParaRPr lang="vi-VN" dirty="0"/>
          </a:p>
          <a:p>
            <a:pPr>
              <a:buFont typeface="Arial" panose="020B0604020202020204" pitchFamily="34" charset="0"/>
              <a:buChar char="•"/>
            </a:pPr>
            <a:r>
              <a:rPr lang="vi-VN" dirty="0"/>
              <a:t>Đảm bảo rằng message được deliver bởi cùng tập tiến trình</a:t>
            </a:r>
          </a:p>
          <a:p>
            <a:r>
              <a:rPr lang="vi-VN" dirty="0"/>
              <a:t>Điều này dẫn đến phần </a:t>
            </a:r>
            <a:r>
              <a:rPr lang="vi-VN" b="1" dirty="0"/>
              <a:t>tricky</a:t>
            </a:r>
            <a:r>
              <a:rPr lang="vi-VN" dirty="0"/>
              <a:t> bên dưới.</a:t>
            </a:r>
          </a:p>
          <a:p>
            <a:endParaRPr lang="en-US" b="1" dirty="0"/>
          </a:p>
          <a:p>
            <a:r>
              <a:rPr lang="vi-VN" b="1" dirty="0"/>
              <a:t>Tricky part</a:t>
            </a:r>
          </a:p>
          <a:p>
            <a:r>
              <a:rPr lang="vi-VN" dirty="0"/>
              <a:t>(</a:t>
            </a:r>
            <a:r>
              <a:rPr lang="vi-VN" i="1" dirty="0"/>
              <a:t>Phần khó khăn thực sự của bài toán</a:t>
            </a:r>
            <a:r>
              <a:rPr lang="vi-VN" dirty="0"/>
              <a:t>)</a:t>
            </a:r>
          </a:p>
          <a:p>
            <a:r>
              <a:rPr lang="vi-VN" dirty="0"/>
              <a:t>Cần phải </a:t>
            </a:r>
            <a:r>
              <a:rPr lang="vi-VN" b="1" dirty="0"/>
              <a:t>đạt được đồng thuận (agreement)</a:t>
            </a:r>
            <a:r>
              <a:rPr lang="vi-VN" dirty="0"/>
              <a:t> về việc </a:t>
            </a:r>
            <a:r>
              <a:rPr lang="vi-VN" b="1" dirty="0"/>
              <a:t>nhóm hiện tại (group membership) gồm những ai</a:t>
            </a:r>
            <a:r>
              <a:rPr lang="vi-VN" dirty="0"/>
              <a:t> trước khi một message được deliver.</a:t>
            </a:r>
          </a:p>
          <a:p>
            <a:r>
              <a:rPr lang="vi-VN" dirty="0"/>
              <a:t>Nói cách khác:</a:t>
            </a:r>
          </a:p>
          <a:p>
            <a:pPr>
              <a:buFont typeface="Arial" panose="020B0604020202020204" pitchFamily="34" charset="0"/>
              <a:buChar char="•"/>
            </a:pPr>
            <a:r>
              <a:rPr lang="vi-VN" dirty="0"/>
              <a:t>Một message chỉ có thể deliver nếu tất cả tiến trình </a:t>
            </a:r>
            <a:r>
              <a:rPr lang="vi-VN" b="1" dirty="0"/>
              <a:t>đồng thuận rằng</a:t>
            </a:r>
            <a:r>
              <a:rPr lang="vi-VN" dirty="0"/>
              <a:t>:</a:t>
            </a:r>
          </a:p>
          <a:p>
            <a:pPr marL="742950" lvl="1" indent="-285750">
              <a:buFont typeface="Arial" panose="020B0604020202020204" pitchFamily="34" charset="0"/>
              <a:buChar char="•"/>
            </a:pPr>
            <a:r>
              <a:rPr lang="vi-VN" dirty="0"/>
              <a:t>Ai đang trong nhóm?</a:t>
            </a:r>
          </a:p>
          <a:p>
            <a:pPr marL="742950" lvl="1" indent="-285750">
              <a:buFont typeface="Arial" panose="020B0604020202020204" pitchFamily="34" charset="0"/>
              <a:buChar char="•"/>
            </a:pPr>
            <a:r>
              <a:rPr lang="vi-VN" dirty="0"/>
              <a:t>Ai đã rời nhóm?</a:t>
            </a:r>
          </a:p>
          <a:p>
            <a:pPr marL="742950" lvl="1" indent="-285750">
              <a:buFont typeface="Arial" panose="020B0604020202020204" pitchFamily="34" charset="0"/>
              <a:buChar char="•"/>
            </a:pPr>
            <a:r>
              <a:rPr lang="vi-VN" dirty="0"/>
              <a:t>Ai đã crash?</a:t>
            </a:r>
          </a:p>
          <a:p>
            <a:r>
              <a:rPr lang="en-US" dirty="0"/>
              <a:t>* </a:t>
            </a:r>
            <a:r>
              <a:rPr lang="vi-VN" dirty="0"/>
              <a:t>Nếu không đồng thuận về </a:t>
            </a:r>
            <a:r>
              <a:rPr lang="vi-VN" i="1" dirty="0"/>
              <a:t>group view</a:t>
            </a:r>
            <a:r>
              <a:rPr lang="vi-VN" dirty="0"/>
              <a:t>, hệ thống có thể xảy ra lỗi cực kỳ nguy hiểm:</a:t>
            </a:r>
          </a:p>
          <a:p>
            <a:endParaRPr lang="en-US" b="1" dirty="0"/>
          </a:p>
          <a:p>
            <a:r>
              <a:rPr lang="vi-VN" b="1" dirty="0"/>
              <a:t>Ví dụ lỗi:</a:t>
            </a:r>
          </a:p>
          <a:p>
            <a:r>
              <a:rPr lang="vi-VN" dirty="0"/>
              <a:t>Tiến trình A nghĩ nhóm là {A, B, C}</a:t>
            </a:r>
            <a:br>
              <a:rPr lang="vi-VN" dirty="0"/>
            </a:br>
            <a:r>
              <a:rPr lang="vi-VN" dirty="0"/>
              <a:t>Tiến trình B nghĩ nhóm là {A, B} (C bị crash)</a:t>
            </a:r>
          </a:p>
          <a:p>
            <a:r>
              <a:rPr lang="vi-VN" dirty="0"/>
              <a:t>→ Khi A deliver message M, nhưng B lại không deliver</a:t>
            </a:r>
            <a:br>
              <a:rPr lang="vi-VN" dirty="0"/>
            </a:br>
            <a:r>
              <a:rPr lang="vi-VN" dirty="0"/>
              <a:t>→ </a:t>
            </a:r>
            <a:r>
              <a:rPr lang="vi-VN" b="1" dirty="0"/>
              <a:t>Hệ thống trở nên không nhất quán</a:t>
            </a:r>
            <a:r>
              <a:rPr lang="vi-VN" dirty="0"/>
              <a:t>, gây lỗi ứng dụng.</a:t>
            </a:r>
          </a:p>
          <a:p>
            <a:r>
              <a:rPr lang="vi-VN" dirty="0"/>
              <a:t>Đây chính là lý do tại sao group communication </a:t>
            </a:r>
            <a:r>
              <a:rPr lang="vi-VN" b="1" dirty="0"/>
              <a:t>luôn đi kèm group membership management</a:t>
            </a:r>
            <a:r>
              <a:rPr lang="vi-VN" dirty="0"/>
              <a:t>, và vì sao nó </a:t>
            </a:r>
            <a:r>
              <a:rPr lang="vi-VN" b="1" dirty="0"/>
              <a:t>không đơn giản</a:t>
            </a:r>
            <a:r>
              <a:rPr lang="vi-VN" dirty="0"/>
              <a:t>.</a:t>
            </a:r>
          </a:p>
          <a:p>
            <a:endParaRPr lang="en-US" b="1" dirty="0"/>
          </a:p>
          <a:p>
            <a:r>
              <a:rPr lang="en-US" b="1" dirty="0"/>
              <a:t>K</a:t>
            </a:r>
            <a:r>
              <a:rPr lang="vi-VN" b="1" dirty="0"/>
              <a:t>ết luận</a:t>
            </a:r>
          </a:p>
          <a:p>
            <a:pPr>
              <a:buFont typeface="Arial" panose="020B0604020202020204" pitchFamily="34" charset="0"/>
              <a:buChar char="•"/>
            </a:pPr>
            <a:r>
              <a:rPr lang="vi-VN" b="1" dirty="0"/>
              <a:t>Truyền thông multicast không hề đơn giản</a:t>
            </a:r>
            <a:r>
              <a:rPr lang="vi-VN" dirty="0"/>
              <a:t> khi có tiến trình crash.</a:t>
            </a:r>
          </a:p>
          <a:p>
            <a:pPr>
              <a:buFont typeface="Arial" panose="020B0604020202020204" pitchFamily="34" charset="0"/>
              <a:buChar char="•"/>
            </a:pPr>
            <a:r>
              <a:rPr lang="vi-VN" dirty="0"/>
              <a:t>Trước khi deliver message cho ứng dụng, hệ thống phải đảm bảo </a:t>
            </a:r>
            <a:r>
              <a:rPr lang="vi-VN" b="1" dirty="0"/>
              <a:t>tất cả tiến trình không lỗi đều cùng hiểu nhóm hiện tại</a:t>
            </a:r>
            <a:r>
              <a:rPr lang="vi-VN" dirty="0"/>
              <a:t>.</a:t>
            </a:r>
          </a:p>
          <a:p>
            <a:pPr>
              <a:buFont typeface="Arial" panose="020B0604020202020204" pitchFamily="34" charset="0"/>
              <a:buChar char="•"/>
            </a:pPr>
            <a:r>
              <a:rPr lang="vi-VN" dirty="0"/>
              <a:t>Bài toán này liên quan trực tiếp đến </a:t>
            </a:r>
            <a:r>
              <a:rPr lang="vi-VN" b="1" dirty="0"/>
              <a:t>consensus</a:t>
            </a:r>
            <a:r>
              <a:rPr lang="vi-VN" dirty="0"/>
              <a:t> và là cơ sở của nhiều hệ thống phân tán (Zookeeper, Kafka, Paxos, Raft…).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65</a:t>
            </a:fld>
            <a:endParaRPr lang="en-US"/>
          </a:p>
        </p:txBody>
      </p:sp>
    </p:spTree>
    <p:extLst>
      <p:ext uri="{BB962C8B-B14F-4D97-AF65-F5344CB8AC3E}">
        <p14:creationId xmlns:p14="http://schemas.microsoft.com/office/powerpoint/2010/main" val="3942020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Simple reliable group communication</a:t>
            </a:r>
          </a:p>
          <a:p>
            <a:r>
              <a:rPr lang="vi-VN" b="1" dirty="0"/>
              <a:t>(giản lược – chỉ xét tiến trình không lỗi)</a:t>
            </a:r>
          </a:p>
          <a:p>
            <a:r>
              <a:rPr lang="vi-VN" dirty="0"/>
              <a:t>Slide này mô tả </a:t>
            </a:r>
            <a:r>
              <a:rPr lang="vi-VN" b="1" dirty="0"/>
              <a:t>truyền thông nhóm tin cậy trong trường hợp đơn giản</a:t>
            </a:r>
            <a:r>
              <a:rPr lang="vi-VN" dirty="0"/>
              <a:t>, tức là </a:t>
            </a:r>
            <a:r>
              <a:rPr lang="vi-VN" b="1" dirty="0"/>
              <a:t>giả định mọi tiến trình đều không lỗi</a:t>
            </a:r>
            <a:r>
              <a:rPr lang="vi-VN" dirty="0"/>
              <a:t> (nonfaulty).</a:t>
            </a:r>
            <a:br>
              <a:rPr lang="vi-VN" dirty="0"/>
            </a:br>
            <a:r>
              <a:rPr lang="en-US" dirty="0"/>
              <a:t>=&gt;</a:t>
            </a:r>
            <a:r>
              <a:rPr lang="vi-VN" dirty="0"/>
              <a:t> Khi đó, vấn đề chính chỉ còn là </a:t>
            </a:r>
            <a:r>
              <a:rPr lang="vi-VN" b="1" dirty="0"/>
              <a:t>reliable multicasting</a:t>
            </a:r>
            <a:r>
              <a:rPr lang="vi-VN" dirty="0"/>
              <a:t>.</a:t>
            </a:r>
          </a:p>
          <a:p>
            <a:endParaRPr lang="en-US" b="1" dirty="0"/>
          </a:p>
          <a:p>
            <a:r>
              <a:rPr lang="en-US" b="1" dirty="0"/>
              <a:t>1. </a:t>
            </a:r>
            <a:r>
              <a:rPr lang="vi-VN" b="1" dirty="0"/>
              <a:t>Ý chính của slide</a:t>
            </a:r>
          </a:p>
          <a:p>
            <a:r>
              <a:rPr lang="en-US" b="1" dirty="0"/>
              <a:t>-</a:t>
            </a:r>
            <a:r>
              <a:rPr lang="vi-VN" b="1" dirty="0"/>
              <a:t> Reliable communication, but assume nonfaulty processes</a:t>
            </a:r>
          </a:p>
          <a:p>
            <a:r>
              <a:rPr lang="vi-VN" dirty="0"/>
              <a:t>Nếu ta giả định rằng </a:t>
            </a:r>
            <a:r>
              <a:rPr lang="vi-VN" b="1" dirty="0"/>
              <a:t>mọi tiến trình đều không crash</a:t>
            </a:r>
            <a:r>
              <a:rPr lang="vi-VN" dirty="0"/>
              <a:t> thì:</a:t>
            </a:r>
          </a:p>
          <a:p>
            <a:pPr>
              <a:buFont typeface="Arial" panose="020B0604020202020204" pitchFamily="34" charset="0"/>
              <a:buChar char="•"/>
            </a:pPr>
            <a:r>
              <a:rPr lang="vi-VN" dirty="0"/>
              <a:t>Không lo tiến trình bị hỏng</a:t>
            </a:r>
          </a:p>
          <a:p>
            <a:pPr>
              <a:buFont typeface="Arial" panose="020B0604020202020204" pitchFamily="34" charset="0"/>
              <a:buChar char="•"/>
            </a:pPr>
            <a:r>
              <a:rPr lang="vi-VN" dirty="0"/>
              <a:t>Không lo mất thành viên trong nhóm</a:t>
            </a:r>
          </a:p>
          <a:p>
            <a:pPr>
              <a:buFont typeface="Arial" panose="020B0604020202020204" pitchFamily="34" charset="0"/>
              <a:buChar char="•"/>
            </a:pPr>
            <a:r>
              <a:rPr lang="vi-VN" dirty="0"/>
              <a:t>Không cần giải bài toán membership hay consensus</a:t>
            </a:r>
          </a:p>
          <a:p>
            <a:r>
              <a:rPr lang="en-US" dirty="0"/>
              <a:t>=&gt; </a:t>
            </a:r>
            <a:r>
              <a:rPr lang="vi-VN" dirty="0"/>
              <a:t>Khi đó, “reliable group communication” </a:t>
            </a:r>
            <a:r>
              <a:rPr lang="vi-VN" b="1" dirty="0"/>
              <a:t>chỉ còn lại</a:t>
            </a:r>
            <a:r>
              <a:rPr lang="vi-VN" dirty="0"/>
              <a:t> vấn đề:</a:t>
            </a:r>
          </a:p>
          <a:p>
            <a:r>
              <a:rPr lang="en-US" b="1" dirty="0"/>
              <a:t>- </a:t>
            </a:r>
            <a:r>
              <a:rPr lang="vi-VN" b="1" dirty="0"/>
              <a:t>Reliable multicasting</a:t>
            </a:r>
          </a:p>
          <a:p>
            <a:r>
              <a:rPr lang="vi-VN" dirty="0"/>
              <a:t>Một thông điệp từ sender </a:t>
            </a:r>
            <a:r>
              <a:rPr lang="vi-VN" b="1" dirty="0"/>
              <a:t>phải được nhận &amp; deliver bởi tất cả recipient</a:t>
            </a:r>
            <a:r>
              <a:rPr lang="vi-VN" dirty="0"/>
              <a:t>,</a:t>
            </a:r>
            <a:br>
              <a:rPr lang="vi-VN" dirty="0"/>
            </a:br>
            <a:r>
              <a:rPr lang="vi-VN" b="1" dirty="0"/>
              <a:t>đúng theo thứ tự mà sender mong muốn</a:t>
            </a:r>
            <a:r>
              <a:rPr lang="vi-VN" dirty="0"/>
              <a:t> (as intended by the sender).</a:t>
            </a:r>
          </a:p>
          <a:p>
            <a:r>
              <a:rPr lang="vi-VN" dirty="0"/>
              <a:t>Nói cách khác:</a:t>
            </a:r>
          </a:p>
          <a:p>
            <a:pPr>
              <a:buFont typeface="Arial" panose="020B0604020202020204" pitchFamily="34" charset="0"/>
              <a:buChar char="•"/>
            </a:pPr>
            <a:r>
              <a:rPr lang="vi-VN" dirty="0"/>
              <a:t>Không được mất message</a:t>
            </a:r>
          </a:p>
          <a:p>
            <a:pPr>
              <a:buFont typeface="Arial" panose="020B0604020202020204" pitchFamily="34" charset="0"/>
              <a:buChar char="•"/>
            </a:pPr>
            <a:r>
              <a:rPr lang="vi-VN" dirty="0"/>
              <a:t>Không được reorder message</a:t>
            </a:r>
          </a:p>
          <a:p>
            <a:pPr>
              <a:buFont typeface="Arial" panose="020B0604020202020204" pitchFamily="34" charset="0"/>
              <a:buChar char="•"/>
            </a:pPr>
            <a:r>
              <a:rPr lang="vi-VN" dirty="0"/>
              <a:t>Mọi receiver phải thấy </a:t>
            </a:r>
            <a:r>
              <a:rPr lang="vi-VN" b="1" dirty="0"/>
              <a:t>cùng một thứ tự</a:t>
            </a:r>
            <a:r>
              <a:rPr lang="vi-VN" dirty="0"/>
              <a:t>: M24 → M25 → M26 → …</a:t>
            </a:r>
          </a:p>
          <a:p>
            <a:pPr>
              <a:buFont typeface="Arial" panose="020B0604020202020204" pitchFamily="34" charset="0"/>
              <a:buChar char="•"/>
            </a:pPr>
            <a:r>
              <a:rPr lang="vi-VN" dirty="0"/>
              <a:t>Nếu ai đó bị “miss” thì phải </a:t>
            </a:r>
            <a:r>
              <a:rPr lang="vi-VN" b="1" dirty="0"/>
              <a:t>đòi lại message</a:t>
            </a:r>
            <a:r>
              <a:rPr lang="vi-VN" dirty="0"/>
              <a:t> từ sender</a:t>
            </a:r>
          </a:p>
          <a:p>
            <a:endParaRPr lang="en-US" b="1" dirty="0"/>
          </a:p>
          <a:p>
            <a:r>
              <a:rPr lang="en-US" b="1" dirty="0"/>
              <a:t>2. </a:t>
            </a:r>
            <a:r>
              <a:rPr lang="vi-VN" b="1" dirty="0"/>
              <a:t>Giải thích hình minh họa</a:t>
            </a:r>
          </a:p>
          <a:p>
            <a:r>
              <a:rPr lang="vi-VN" dirty="0"/>
              <a:t>Hình gồm hai phần:</a:t>
            </a:r>
          </a:p>
          <a:p>
            <a:r>
              <a:rPr lang="en-US" b="1" dirty="0"/>
              <a:t>** </a:t>
            </a:r>
            <a:r>
              <a:rPr lang="vi-VN" b="1" dirty="0"/>
              <a:t>Phần trên: gửi M25 – có một tiến trình bị miss M24</a:t>
            </a:r>
          </a:p>
          <a:p>
            <a:r>
              <a:rPr lang="vi-VN" dirty="0"/>
              <a:t>Sender phát message M25 cho cả nhóm:</a:t>
            </a:r>
          </a:p>
          <a:p>
            <a:pPr>
              <a:buFont typeface="Arial" panose="020B0604020202020204" pitchFamily="34" charset="0"/>
              <a:buChar char="•"/>
            </a:pPr>
            <a:r>
              <a:rPr lang="vi-VN" dirty="0"/>
              <a:t>Receiver A: Last = 24 → nhận M25 bình thường</a:t>
            </a:r>
          </a:p>
          <a:p>
            <a:pPr>
              <a:buFont typeface="Arial" panose="020B0604020202020204" pitchFamily="34" charset="0"/>
              <a:buChar char="•"/>
            </a:pPr>
            <a:r>
              <a:rPr lang="vi-VN" dirty="0"/>
              <a:t>Receiver B: Last = 24 → nhận M25 bình thường</a:t>
            </a:r>
          </a:p>
          <a:p>
            <a:pPr>
              <a:buFont typeface="Arial" panose="020B0604020202020204" pitchFamily="34" charset="0"/>
              <a:buChar char="•"/>
            </a:pPr>
            <a:r>
              <a:rPr lang="en-US" dirty="0"/>
              <a:t> ! </a:t>
            </a:r>
            <a:r>
              <a:rPr lang="vi-VN" dirty="0"/>
              <a:t>Receiver C: Last = 23 → </a:t>
            </a:r>
            <a:r>
              <a:rPr lang="vi-VN" b="1" dirty="0"/>
              <a:t>bị mất message 24</a:t>
            </a:r>
            <a:endParaRPr lang="vi-VN" dirty="0"/>
          </a:p>
          <a:p>
            <a:pPr>
              <a:buFont typeface="Arial" panose="020B0604020202020204" pitchFamily="34" charset="0"/>
              <a:buChar char="•"/>
            </a:pPr>
            <a:r>
              <a:rPr lang="vi-VN" dirty="0"/>
              <a:t>Receiver D: Last = 24 → nhận M25 bình thường</a:t>
            </a:r>
          </a:p>
          <a:p>
            <a:r>
              <a:rPr lang="vi-VN" dirty="0"/>
              <a:t>=&gt; Tất cả đều nhận M25, nhưng C thiếu M24 → </a:t>
            </a:r>
            <a:r>
              <a:rPr lang="vi-VN" b="1" dirty="0"/>
              <a:t>không thể deliver M25 ngay</a:t>
            </a:r>
            <a:r>
              <a:rPr lang="vi-VN" dirty="0"/>
              <a:t> vì phải giữ đúng thứ tự.</a:t>
            </a:r>
          </a:p>
          <a:p>
            <a:r>
              <a:rPr lang="vi-VN" dirty="0"/>
              <a:t>Receiver C nhận ra:</a:t>
            </a:r>
          </a:p>
          <a:p>
            <a:r>
              <a:rPr lang="vi-VN" dirty="0"/>
              <a:t>“Tôi đang ở 23, lần gần nhất các message phải là 24 rồi 25 → Tôi bị mất M24!”</a:t>
            </a:r>
          </a:p>
          <a:p>
            <a:r>
              <a:rPr lang="vi-VN" dirty="0"/>
              <a:t>Khi đó C sẽ:</a:t>
            </a:r>
          </a:p>
          <a:p>
            <a:pPr>
              <a:buFont typeface="Arial" panose="020B0604020202020204" pitchFamily="34" charset="0"/>
              <a:buChar char="•"/>
            </a:pPr>
            <a:r>
              <a:rPr lang="vi-VN" dirty="0"/>
              <a:t>Gửi yêu cầu retranmission về sender</a:t>
            </a:r>
          </a:p>
          <a:p>
            <a:pPr>
              <a:buFont typeface="Arial" panose="020B0604020202020204" pitchFamily="34" charset="0"/>
              <a:buChar char="•"/>
            </a:pPr>
            <a:r>
              <a:rPr lang="vi-VN" dirty="0"/>
              <a:t>Đợi sender trả lại bản sao từ </a:t>
            </a:r>
            <a:r>
              <a:rPr lang="vi-VN" b="1" dirty="0"/>
              <a:t>history buffer</a:t>
            </a:r>
            <a:endParaRPr lang="vi-VN" dirty="0"/>
          </a:p>
          <a:p>
            <a:r>
              <a:rPr lang="en-US" b="1" dirty="0"/>
              <a:t>** </a:t>
            </a:r>
            <a:r>
              <a:rPr lang="vi-VN" b="1" dirty="0"/>
              <a:t>Phần dưới: sender gửi lại &amp; nhận ACK</a:t>
            </a:r>
          </a:p>
          <a:p>
            <a:r>
              <a:rPr lang="vi-VN" dirty="0"/>
              <a:t>Sau khi gửi M25:</a:t>
            </a:r>
          </a:p>
          <a:p>
            <a:pPr>
              <a:buFont typeface="Arial" panose="020B0604020202020204" pitchFamily="34" charset="0"/>
              <a:buChar char="•"/>
            </a:pPr>
            <a:r>
              <a:rPr lang="vi-VN" dirty="0"/>
              <a:t>Các receiver gửi </a:t>
            </a:r>
            <a:r>
              <a:rPr lang="vi-VN" b="1" dirty="0"/>
              <a:t>ACK 25</a:t>
            </a:r>
            <a:r>
              <a:rPr lang="vi-VN" dirty="0"/>
              <a:t> về cho sender</a:t>
            </a:r>
          </a:p>
          <a:p>
            <a:pPr>
              <a:buFont typeface="Arial" panose="020B0604020202020204" pitchFamily="34" charset="0"/>
              <a:buChar char="•"/>
            </a:pPr>
            <a:r>
              <a:rPr lang="vi-VN" dirty="0"/>
              <a:t>Receiver C yêu cầu </a:t>
            </a:r>
            <a:r>
              <a:rPr lang="vi-VN" b="1" dirty="0"/>
              <a:t>Missed 24</a:t>
            </a:r>
            <a:endParaRPr lang="vi-VN" dirty="0"/>
          </a:p>
          <a:p>
            <a:pPr>
              <a:buFont typeface="Arial" panose="020B0604020202020204" pitchFamily="34" charset="0"/>
              <a:buChar char="•"/>
            </a:pPr>
            <a:r>
              <a:rPr lang="vi-VN" dirty="0"/>
              <a:t>Sender lấy M24 từ </a:t>
            </a:r>
            <a:r>
              <a:rPr lang="vi-VN" b="1" dirty="0"/>
              <a:t>history buffer</a:t>
            </a:r>
            <a:r>
              <a:rPr lang="vi-VN" dirty="0"/>
              <a:t> và gửi lại</a:t>
            </a:r>
          </a:p>
          <a:p>
            <a:pPr>
              <a:buFont typeface="Arial" panose="020B0604020202020204" pitchFamily="34" charset="0"/>
              <a:buChar char="•"/>
            </a:pPr>
            <a:r>
              <a:rPr lang="vi-VN" dirty="0"/>
              <a:t>Sau khi nhận M24 → C có thể deliver 24 và sau đó deliver 25</a:t>
            </a:r>
          </a:p>
          <a:p>
            <a:r>
              <a:rPr lang="en-US" dirty="0"/>
              <a:t>=&gt; </a:t>
            </a:r>
            <a:r>
              <a:rPr lang="vi-VN" dirty="0"/>
              <a:t>Cuối cùng </a:t>
            </a:r>
            <a:r>
              <a:rPr lang="vi-VN" b="1" dirty="0"/>
              <a:t>tất cả các receiver có cùng state</a:t>
            </a:r>
            <a:r>
              <a:rPr lang="vi-VN" dirty="0"/>
              <a:t>:</a:t>
            </a:r>
          </a:p>
          <a:p>
            <a:pPr>
              <a:buFont typeface="Arial" panose="020B0604020202020204" pitchFamily="34" charset="0"/>
              <a:buChar char="•"/>
            </a:pPr>
            <a:r>
              <a:rPr lang="vi-VN" dirty="0"/>
              <a:t>Last = 25</a:t>
            </a:r>
          </a:p>
          <a:p>
            <a:pPr>
              <a:buFont typeface="Arial" panose="020B0604020202020204" pitchFamily="34" charset="0"/>
              <a:buChar char="•"/>
            </a:pPr>
            <a:r>
              <a:rPr lang="vi-VN" dirty="0"/>
              <a:t>Không có message nào bị mất</a:t>
            </a:r>
          </a:p>
          <a:p>
            <a:pPr>
              <a:buFont typeface="Arial" panose="020B0604020202020204" pitchFamily="34" charset="0"/>
              <a:buChar char="•"/>
            </a:pPr>
            <a:r>
              <a:rPr lang="vi-VN" dirty="0"/>
              <a:t>Thứ tự như sender mong muốn: 24 → 25</a:t>
            </a:r>
          </a:p>
          <a:p>
            <a:endParaRPr lang="en-US" b="1" dirty="0"/>
          </a:p>
          <a:p>
            <a:r>
              <a:rPr lang="en-US" b="1" dirty="0"/>
              <a:t>3. </a:t>
            </a:r>
            <a:r>
              <a:rPr lang="vi-VN" b="1" dirty="0"/>
              <a:t>Cơ chế được mô tả trong slide</a:t>
            </a:r>
          </a:p>
          <a:p>
            <a:r>
              <a:rPr lang="en-US" b="1" dirty="0"/>
              <a:t>-</a:t>
            </a:r>
            <a:r>
              <a:rPr lang="vi-VN" b="1" dirty="0"/>
              <a:t> History buffer</a:t>
            </a:r>
          </a:p>
          <a:p>
            <a:r>
              <a:rPr lang="vi-VN" dirty="0"/>
              <a:t>Sender lưu lại một số message gần nhất (M24, M25, …) để phục vụ:</a:t>
            </a:r>
          </a:p>
          <a:p>
            <a:pPr>
              <a:buFont typeface="Arial" panose="020B0604020202020204" pitchFamily="34" charset="0"/>
              <a:buChar char="•"/>
            </a:pPr>
            <a:r>
              <a:rPr lang="vi-VN" dirty="0"/>
              <a:t>retransmission</a:t>
            </a:r>
          </a:p>
          <a:p>
            <a:pPr>
              <a:buFont typeface="Arial" panose="020B0604020202020204" pitchFamily="34" charset="0"/>
              <a:buChar char="•"/>
            </a:pPr>
            <a:r>
              <a:rPr lang="vi-VN" dirty="0"/>
              <a:t>xử lý receiver miss message</a:t>
            </a:r>
          </a:p>
          <a:p>
            <a:pPr>
              <a:buFont typeface="Arial" panose="020B0604020202020204" pitchFamily="34" charset="0"/>
              <a:buChar char="•"/>
            </a:pPr>
            <a:r>
              <a:rPr lang="vi-VN" dirty="0"/>
              <a:t>đảm bảo tính tin cậy</a:t>
            </a:r>
          </a:p>
          <a:p>
            <a:r>
              <a:rPr lang="en-US" b="1" dirty="0"/>
              <a:t>-</a:t>
            </a:r>
            <a:r>
              <a:rPr lang="vi-VN" b="1" dirty="0"/>
              <a:t> NACK-based recovery</a:t>
            </a:r>
          </a:p>
          <a:p>
            <a:r>
              <a:rPr lang="vi-VN" dirty="0"/>
              <a:t>(Receiver báo mất message)</a:t>
            </a:r>
          </a:p>
          <a:p>
            <a:r>
              <a:rPr lang="vi-VN" dirty="0"/>
              <a:t>Receiver nhận ra mình bị mất message → chủ động yêu cầu sender gửi lại.</a:t>
            </a:r>
          </a:p>
          <a:p>
            <a:r>
              <a:rPr lang="vi-VN" dirty="0"/>
              <a:t>Đây là cơ chế phổ biến trong:</a:t>
            </a:r>
          </a:p>
          <a:p>
            <a:pPr>
              <a:buFont typeface="Arial" panose="020B0604020202020204" pitchFamily="34" charset="0"/>
              <a:buChar char="•"/>
            </a:pPr>
            <a:r>
              <a:rPr lang="vi-VN" dirty="0"/>
              <a:t>Reliable multicast protocols (SRM)</a:t>
            </a:r>
          </a:p>
          <a:p>
            <a:pPr>
              <a:buFont typeface="Arial" panose="020B0604020202020204" pitchFamily="34" charset="0"/>
              <a:buChar char="•"/>
            </a:pPr>
            <a:r>
              <a:rPr lang="vi-VN" dirty="0"/>
              <a:t>Many group communication systems</a:t>
            </a:r>
          </a:p>
          <a:p>
            <a:pPr>
              <a:buFont typeface="Arial" panose="020B0604020202020204" pitchFamily="34" charset="0"/>
              <a:buChar char="•"/>
            </a:pPr>
            <a:r>
              <a:rPr lang="vi-VN" dirty="0"/>
              <a:t>Một số biến thể dựa trên TCP (stream-based)</a:t>
            </a:r>
          </a:p>
          <a:p>
            <a:r>
              <a:rPr lang="en-US" b="1" dirty="0"/>
              <a:t>-</a:t>
            </a:r>
            <a:r>
              <a:rPr lang="vi-VN" b="1" dirty="0"/>
              <a:t> ACK collection</a:t>
            </a:r>
          </a:p>
          <a:p>
            <a:r>
              <a:rPr lang="vi-VN" dirty="0"/>
              <a:t>Sender thu thập ACK 25 từ nhóm để biết:</a:t>
            </a:r>
          </a:p>
          <a:p>
            <a:pPr>
              <a:buFont typeface="Arial" panose="020B0604020202020204" pitchFamily="34" charset="0"/>
              <a:buChar char="•"/>
            </a:pPr>
            <a:r>
              <a:rPr lang="vi-VN" dirty="0"/>
              <a:t>Ai đã nhận message</a:t>
            </a:r>
          </a:p>
          <a:p>
            <a:pPr>
              <a:buFont typeface="Arial" panose="020B0604020202020204" pitchFamily="34" charset="0"/>
              <a:buChar char="•"/>
            </a:pPr>
            <a:r>
              <a:rPr lang="vi-VN" dirty="0"/>
              <a:t>Ai đang cần retransmission</a:t>
            </a:r>
          </a:p>
          <a:p>
            <a:pPr>
              <a:buFont typeface="Arial" panose="020B0604020202020204" pitchFamily="34" charset="0"/>
              <a:buChar char="•"/>
            </a:pPr>
            <a:r>
              <a:rPr lang="vi-VN" dirty="0"/>
              <a:t>Khi nào được phép xóa M25 khỏi history buffer</a:t>
            </a:r>
          </a:p>
          <a:p>
            <a:endParaRPr lang="en-US" b="1" dirty="0"/>
          </a:p>
          <a:p>
            <a:r>
              <a:rPr lang="en-US" b="1" dirty="0"/>
              <a:t>5. </a:t>
            </a:r>
            <a:r>
              <a:rPr lang="vi-VN" b="1" dirty="0"/>
              <a:t>Giảng viên kết luận</a:t>
            </a:r>
          </a:p>
          <a:p>
            <a:r>
              <a:rPr lang="vi-VN" dirty="0"/>
              <a:t>“Trong mô hình đơn giản, reliable group communication chỉ là reliable multicast:</a:t>
            </a:r>
            <a:br>
              <a:rPr lang="vi-VN" dirty="0"/>
            </a:br>
            <a:r>
              <a:rPr lang="vi-VN" dirty="0"/>
              <a:t>gửi message đến nhóm và đảm bảo ai cũng nhận cùng thứ tự.</a:t>
            </a:r>
            <a:br>
              <a:rPr lang="vi-VN" dirty="0"/>
            </a:br>
            <a:r>
              <a:rPr lang="vi-VN" dirty="0"/>
              <a:t>Nhưng khi xuất hiện faulty process, mọi thứ trở nên phức tạp hơn nhiều.”</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66</a:t>
            </a:fld>
            <a:endParaRPr lang="en-US"/>
          </a:p>
        </p:txBody>
      </p:sp>
    </p:spTree>
    <p:extLst>
      <p:ext uri="{BB962C8B-B14F-4D97-AF65-F5344CB8AC3E}">
        <p14:creationId xmlns:p14="http://schemas.microsoft.com/office/powerpoint/2010/main" val="29873223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Distributed commit protocols</a:t>
            </a:r>
          </a:p>
          <a:p>
            <a:r>
              <a:rPr lang="vi-VN" b="1" dirty="0"/>
              <a:t>Mục tiêu của chủ đề</a:t>
            </a:r>
          </a:p>
          <a:p>
            <a:r>
              <a:rPr lang="vi-VN" dirty="0"/>
              <a:t>Khi nhiều tiến trình (processes) trong một hệ phân tán cùng tham gia một </a:t>
            </a:r>
            <a:r>
              <a:rPr lang="vi-VN" b="1" dirty="0"/>
              <a:t>giao dịch chung</a:t>
            </a:r>
            <a:r>
              <a:rPr lang="vi-VN" dirty="0"/>
              <a:t> (distributed transaction), ta phải đảm bảo:</a:t>
            </a:r>
          </a:p>
          <a:p>
            <a:r>
              <a:rPr lang="vi-VN" b="1" dirty="0"/>
              <a:t>Hoặc tất cả tiến trình cùng thực hiện (commit), hoặc không tiến trình nào thực hiện (abort).</a:t>
            </a:r>
            <a:endParaRPr lang="vi-VN" dirty="0"/>
          </a:p>
          <a:p>
            <a:r>
              <a:rPr lang="en-US" dirty="0"/>
              <a:t>=&gt; </a:t>
            </a:r>
            <a:r>
              <a:rPr lang="vi-VN" dirty="0"/>
              <a:t>Không bao giờ được xảy ra tình huống </a:t>
            </a:r>
            <a:r>
              <a:rPr lang="vi-VN" i="1" dirty="0"/>
              <a:t>một số commit – một số không commit</a:t>
            </a:r>
            <a:r>
              <a:rPr lang="vi-VN" dirty="0"/>
              <a:t>.</a:t>
            </a:r>
          </a:p>
          <a:p>
            <a:r>
              <a:rPr lang="vi-VN" dirty="0"/>
              <a:t>Đây chính là vấn đề mà distributed commit protocols muốn giải quyết.</a:t>
            </a:r>
          </a:p>
          <a:p>
            <a:endParaRPr lang="en-US" b="1" dirty="0"/>
          </a:p>
          <a:p>
            <a:r>
              <a:rPr lang="vi-VN" b="1" dirty="0"/>
              <a:t>Phần Problem – vấn đề cốt lõi</a:t>
            </a:r>
          </a:p>
          <a:p>
            <a:r>
              <a:rPr lang="vi-VN" dirty="0"/>
              <a:t>Slide nói:</a:t>
            </a:r>
          </a:p>
          <a:p>
            <a:r>
              <a:rPr lang="vi-VN" dirty="0"/>
              <a:t>“Have an operation being performed by each member of a process group, or </a:t>
            </a:r>
            <a:r>
              <a:rPr lang="vi-VN" b="1" dirty="0"/>
              <a:t>none at all</a:t>
            </a:r>
            <a:r>
              <a:rPr lang="vi-VN" dirty="0"/>
              <a:t>.”</a:t>
            </a:r>
          </a:p>
          <a:p>
            <a:r>
              <a:rPr lang="vi-VN" dirty="0"/>
              <a:t>Tức là:</a:t>
            </a:r>
          </a:p>
          <a:p>
            <a:pPr>
              <a:buFont typeface="Arial" panose="020B0604020202020204" pitchFamily="34" charset="0"/>
              <a:buChar char="•"/>
            </a:pPr>
            <a:r>
              <a:rPr lang="vi-VN" dirty="0"/>
              <a:t>Một thao tác phải được tất cả các thành viên thực thi </a:t>
            </a:r>
            <a:r>
              <a:rPr lang="vi-VN" b="1" dirty="0"/>
              <a:t>đồng nhất</a:t>
            </a:r>
            <a:endParaRPr lang="vi-VN" dirty="0"/>
          </a:p>
          <a:p>
            <a:pPr>
              <a:buFont typeface="Arial" panose="020B0604020202020204" pitchFamily="34" charset="0"/>
              <a:buChar char="•"/>
            </a:pPr>
            <a:r>
              <a:rPr lang="vi-VN" dirty="0"/>
              <a:t>Hoặc là tất cả đều commit</a:t>
            </a:r>
          </a:p>
          <a:p>
            <a:pPr>
              <a:buFont typeface="Arial" panose="020B0604020202020204" pitchFamily="34" charset="0"/>
              <a:buChar char="•"/>
            </a:pPr>
            <a:r>
              <a:rPr lang="vi-VN" dirty="0"/>
              <a:t>Hoặc tất cả đều abort</a:t>
            </a:r>
          </a:p>
          <a:p>
            <a:pPr>
              <a:buFont typeface="Arial" panose="020B0604020202020204" pitchFamily="34" charset="0"/>
              <a:buChar char="•"/>
            </a:pPr>
            <a:r>
              <a:rPr lang="vi-VN" dirty="0"/>
              <a:t>Tuyệt đối tránh sự không nhất quán (inconsistency)</a:t>
            </a:r>
          </a:p>
          <a:p>
            <a:r>
              <a:rPr lang="vi-VN" dirty="0"/>
              <a:t>Như vậy, distributed commit là </a:t>
            </a:r>
            <a:r>
              <a:rPr lang="vi-VN" b="1" dirty="0"/>
              <a:t>đồng bộ hóa kết quả cuối cùng</a:t>
            </a:r>
            <a:r>
              <a:rPr lang="vi-VN" dirty="0"/>
              <a:t> của toàn bộ nhóm tiến trình.</a:t>
            </a:r>
          </a:p>
          <a:p>
            <a:endParaRPr lang="en-US" b="1" dirty="0"/>
          </a:p>
          <a:p>
            <a:r>
              <a:rPr lang="vi-VN" b="1" dirty="0"/>
              <a:t>Hai ý phụ quan trọng trong slide</a:t>
            </a:r>
          </a:p>
          <a:p>
            <a:r>
              <a:rPr lang="en-US" b="1" dirty="0"/>
              <a:t>1.</a:t>
            </a:r>
            <a:r>
              <a:rPr lang="vi-VN" b="1" dirty="0"/>
              <a:t> Reliable multicasting</a:t>
            </a:r>
          </a:p>
          <a:p>
            <a:pPr>
              <a:buFont typeface="Arial" panose="020B0604020202020204" pitchFamily="34" charset="0"/>
              <a:buChar char="•"/>
            </a:pPr>
            <a:r>
              <a:rPr lang="vi-VN" dirty="0"/>
              <a:t>Message gửi đi phải được </a:t>
            </a:r>
            <a:r>
              <a:rPr lang="vi-VN" b="1" dirty="0"/>
              <a:t>mọi member nhận được</a:t>
            </a:r>
            <a:r>
              <a:rPr lang="vi-VN" dirty="0"/>
              <a:t>.</a:t>
            </a:r>
          </a:p>
          <a:p>
            <a:pPr>
              <a:buFont typeface="Arial" panose="020B0604020202020204" pitchFamily="34" charset="0"/>
              <a:buChar char="•"/>
            </a:pPr>
            <a:r>
              <a:rPr lang="vi-VN" dirty="0"/>
              <a:t>Đây là nền tảng để các thành viên “biết được tình hình của nhau”.</a:t>
            </a:r>
          </a:p>
          <a:p>
            <a:r>
              <a:rPr lang="vi-VN" dirty="0"/>
              <a:t>Ví dụ: Coordinator gửi “Prepare?” hoặc “Commit” thì </a:t>
            </a:r>
            <a:r>
              <a:rPr lang="vi-VN" b="1" dirty="0"/>
              <a:t>mọi participant đều phải nhận</a:t>
            </a:r>
            <a:r>
              <a:rPr lang="vi-VN" dirty="0"/>
              <a:t> → đảm bảo mọi người cùng làm theo đúng lệnh.</a:t>
            </a:r>
          </a:p>
          <a:p>
            <a:r>
              <a:rPr lang="vi-VN" dirty="0"/>
              <a:t>Nếu reliable multicast không hoạt động → commit protocol sẽ thất bại.</a:t>
            </a:r>
          </a:p>
          <a:p>
            <a:r>
              <a:rPr lang="en-US" b="1" dirty="0"/>
              <a:t>2.</a:t>
            </a:r>
            <a:r>
              <a:rPr lang="vi-VN" b="1" dirty="0"/>
              <a:t> Distributed transaction</a:t>
            </a:r>
          </a:p>
          <a:p>
            <a:pPr>
              <a:buFont typeface="Arial" panose="020B0604020202020204" pitchFamily="34" charset="0"/>
              <a:buChar char="•"/>
            </a:pPr>
            <a:r>
              <a:rPr lang="vi-VN" dirty="0"/>
              <a:t>Mỗi tiến trình local thực thi một phần nhỏ của transaction.</a:t>
            </a:r>
          </a:p>
          <a:p>
            <a:pPr>
              <a:buFont typeface="Arial" panose="020B0604020202020204" pitchFamily="34" charset="0"/>
              <a:buChar char="•"/>
            </a:pPr>
            <a:r>
              <a:rPr lang="vi-VN" dirty="0"/>
              <a:t>Tất cả các local transaction phải:</a:t>
            </a:r>
          </a:p>
          <a:p>
            <a:pPr marL="742950" lvl="1" indent="-285750">
              <a:buFont typeface="Arial" panose="020B0604020202020204" pitchFamily="34" charset="0"/>
              <a:buChar char="•"/>
            </a:pPr>
            <a:r>
              <a:rPr lang="vi-VN" dirty="0"/>
              <a:t>cùng commit</a:t>
            </a:r>
          </a:p>
          <a:p>
            <a:pPr marL="742950" lvl="1" indent="-285750">
              <a:buFont typeface="Arial" panose="020B0604020202020204" pitchFamily="34" charset="0"/>
              <a:buChar char="•"/>
            </a:pPr>
            <a:r>
              <a:rPr lang="vi-VN" dirty="0"/>
              <a:t>hoặc cùng rollback</a:t>
            </a:r>
          </a:p>
          <a:p>
            <a:r>
              <a:rPr lang="vi-VN" dirty="0"/>
              <a:t>Nếu một local transaction commit và những cái còn lại rollback → hệ thống </a:t>
            </a:r>
            <a:r>
              <a:rPr lang="vi-VN" b="1" dirty="0"/>
              <a:t>hỏng tính nhất quán</a:t>
            </a:r>
            <a:r>
              <a:rPr lang="vi-VN" dirty="0"/>
              <a:t>.</a:t>
            </a:r>
          </a:p>
          <a:p>
            <a:r>
              <a:rPr lang="en-US" dirty="0"/>
              <a:t>=&gt; </a:t>
            </a:r>
            <a:r>
              <a:rPr lang="vi-VN" dirty="0"/>
              <a:t>Đây chính là lý do commit protocol ra đời (2PC, 3PC,…).</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67</a:t>
            </a:fld>
            <a:endParaRPr lang="en-US"/>
          </a:p>
        </p:txBody>
      </p:sp>
    </p:spTree>
    <p:extLst>
      <p:ext uri="{BB962C8B-B14F-4D97-AF65-F5344CB8AC3E}">
        <p14:creationId xmlns:p14="http://schemas.microsoft.com/office/powerpoint/2010/main" val="28506096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Two-Phase Commit Protocol (2PC)</a:t>
            </a:r>
          </a:p>
          <a:p>
            <a:r>
              <a:rPr lang="vi-VN" dirty="0"/>
              <a:t>2PC là giao thức </a:t>
            </a:r>
            <a:r>
              <a:rPr lang="vi-VN" b="1" dirty="0"/>
              <a:t>đảm bảo tất cả các tiến trình hoặc cùng commit, hoặc cùng abort</a:t>
            </a:r>
            <a:r>
              <a:rPr lang="vi-VN" dirty="0"/>
              <a:t>, trong một giao dịch phân tán.</a:t>
            </a:r>
          </a:p>
          <a:p>
            <a:pPr>
              <a:buFont typeface="Arial" panose="020B0604020202020204" pitchFamily="34" charset="0"/>
              <a:buChar char="•"/>
            </a:pPr>
            <a:r>
              <a:rPr lang="vi-VN" b="1" dirty="0"/>
              <a:t>Coordinator</a:t>
            </a:r>
            <a:r>
              <a:rPr lang="vi-VN" dirty="0"/>
              <a:t>: tiến trình dẫn đầu (thường là tiến trình nhận yêu cầu từ client).</a:t>
            </a:r>
          </a:p>
          <a:p>
            <a:pPr>
              <a:buFont typeface="Arial" panose="020B0604020202020204" pitchFamily="34" charset="0"/>
              <a:buChar char="•"/>
            </a:pPr>
            <a:r>
              <a:rPr lang="vi-VN" b="1" dirty="0"/>
              <a:t>Participants</a:t>
            </a:r>
            <a:r>
              <a:rPr lang="vi-VN" dirty="0"/>
              <a:t>: các tiến trình con tham gia vào giao dịch.</a:t>
            </a:r>
          </a:p>
          <a:p>
            <a:endParaRPr lang="en-US" b="1" dirty="0"/>
          </a:p>
          <a:p>
            <a:r>
              <a:rPr lang="vi-VN" b="1" dirty="0"/>
              <a:t>Essence – Ý nghĩa cốt lõi của 2PC</a:t>
            </a:r>
          </a:p>
          <a:p>
            <a:r>
              <a:rPr lang="vi-VN" dirty="0"/>
              <a:t>2PC gồm </a:t>
            </a:r>
            <a:r>
              <a:rPr lang="vi-VN" b="1" dirty="0"/>
              <a:t>hai giai đoạn</a:t>
            </a:r>
            <a:r>
              <a:rPr lang="vi-VN" dirty="0"/>
              <a:t>:</a:t>
            </a:r>
          </a:p>
          <a:p>
            <a:r>
              <a:rPr lang="vi-VN" b="1" dirty="0"/>
              <a:t>Phase 1: Voting phase (Chuẩn bị – bỏ phiếu)</a:t>
            </a:r>
          </a:p>
          <a:p>
            <a:r>
              <a:rPr lang="vi-VN" b="1" dirty="0"/>
              <a:t>Phase 1a – Coordinator gửi yêu cầu bỏ phiếu</a:t>
            </a:r>
          </a:p>
          <a:p>
            <a:r>
              <a:rPr lang="vi-VN" dirty="0"/>
              <a:t>Coordinator gửi thông điệp:</a:t>
            </a:r>
          </a:p>
          <a:p>
            <a:r>
              <a:rPr lang="vi-VN" b="1" dirty="0"/>
              <a:t>VOTE-REQUEST</a:t>
            </a:r>
            <a:br>
              <a:rPr lang="vi-VN" dirty="0"/>
            </a:br>
            <a:r>
              <a:rPr lang="vi-VN" dirty="0"/>
              <a:t>(còn gọi là </a:t>
            </a:r>
            <a:r>
              <a:rPr lang="vi-VN" i="1" dirty="0"/>
              <a:t>pre-write</a:t>
            </a:r>
            <a:r>
              <a:rPr lang="vi-VN" dirty="0"/>
              <a:t> hoặc </a:t>
            </a:r>
            <a:r>
              <a:rPr lang="vi-VN" i="1" dirty="0"/>
              <a:t>prepare</a:t>
            </a:r>
            <a:r>
              <a:rPr lang="vi-VN" dirty="0"/>
              <a:t>)</a:t>
            </a:r>
          </a:p>
          <a:p>
            <a:r>
              <a:rPr lang="vi-VN" dirty="0"/>
              <a:t>Nó hỏi từng participant:</a:t>
            </a:r>
          </a:p>
          <a:p>
            <a:r>
              <a:rPr lang="vi-VN" dirty="0"/>
              <a:t>“Bạn có sẵn sàng commit không?</a:t>
            </a:r>
            <a:br>
              <a:rPr lang="vi-VN" dirty="0"/>
            </a:br>
            <a:r>
              <a:rPr lang="vi-VN" dirty="0"/>
              <a:t>Kiểm tra lại xem local transaction của bạn có commit được không?”</a:t>
            </a:r>
          </a:p>
          <a:p>
            <a:r>
              <a:rPr lang="vi-VN" b="1" dirty="0"/>
              <a:t>Phase 1b – Participants phản hồi</a:t>
            </a:r>
          </a:p>
          <a:p>
            <a:r>
              <a:rPr lang="vi-VN" dirty="0"/>
              <a:t>Khi nhận VOTE-REQUEST, mỗi participant:</a:t>
            </a:r>
          </a:p>
          <a:p>
            <a:pPr>
              <a:buFont typeface="Arial" panose="020B0604020202020204" pitchFamily="34" charset="0"/>
              <a:buChar char="•"/>
            </a:pPr>
            <a:r>
              <a:rPr lang="vi-VN" dirty="0"/>
              <a:t>Nếu quá trình local thành công → </a:t>
            </a:r>
            <a:r>
              <a:rPr lang="vi-VN" b="1" dirty="0"/>
              <a:t>gửi VOTE-COMMIT</a:t>
            </a:r>
            <a:endParaRPr lang="vi-VN" dirty="0"/>
          </a:p>
          <a:p>
            <a:pPr>
              <a:buFont typeface="Arial" panose="020B0604020202020204" pitchFamily="34" charset="0"/>
              <a:buChar char="•"/>
            </a:pPr>
            <a:r>
              <a:rPr lang="vi-VN" dirty="0"/>
              <a:t>Nếu lỗi, hoặc dữ liệu không sẵn sàng, hoặc muốn rollback →</a:t>
            </a:r>
            <a:br>
              <a:rPr lang="vi-VN" dirty="0"/>
            </a:br>
            <a:r>
              <a:rPr lang="en-US" dirty="0"/>
              <a:t>=&gt;</a:t>
            </a:r>
            <a:r>
              <a:rPr lang="vi-VN" dirty="0"/>
              <a:t> </a:t>
            </a:r>
            <a:r>
              <a:rPr lang="vi-VN" b="1" dirty="0"/>
              <a:t>gửi VOTE-ABORT</a:t>
            </a:r>
            <a:r>
              <a:rPr lang="vi-VN" dirty="0"/>
              <a:t> + đồng thời abort local computation</a:t>
            </a:r>
          </a:p>
          <a:p>
            <a:r>
              <a:rPr lang="en-US" dirty="0"/>
              <a:t>=&gt; </a:t>
            </a:r>
            <a:r>
              <a:rPr lang="vi-VN" dirty="0"/>
              <a:t>Kết thúc Phase 1, coordinator thu được một tập phiếu:</a:t>
            </a:r>
          </a:p>
          <a:p>
            <a:pPr>
              <a:buFont typeface="Arial" panose="020B0604020202020204" pitchFamily="34" charset="0"/>
              <a:buChar char="•"/>
            </a:pPr>
            <a:r>
              <a:rPr lang="vi-VN" dirty="0"/>
              <a:t>toàn bộ COMMIT</a:t>
            </a:r>
          </a:p>
          <a:p>
            <a:pPr>
              <a:buFont typeface="Arial" panose="020B0604020202020204" pitchFamily="34" charset="0"/>
              <a:buChar char="•"/>
            </a:pPr>
            <a:r>
              <a:rPr lang="vi-VN" dirty="0"/>
              <a:t>hoặc có ít nhất một ABORT.</a:t>
            </a:r>
          </a:p>
          <a:p>
            <a:r>
              <a:rPr lang="vi-VN" b="1" dirty="0"/>
              <a:t>Phase 2: Global decision phase (Quyết định toàn cục)</a:t>
            </a:r>
          </a:p>
          <a:p>
            <a:r>
              <a:rPr lang="vi-VN" b="1" dirty="0"/>
              <a:t>Phase 2a – Coordinator ra quyết định</a:t>
            </a:r>
          </a:p>
          <a:p>
            <a:pPr>
              <a:buFont typeface="Arial" panose="020B0604020202020204" pitchFamily="34" charset="0"/>
              <a:buChar char="•"/>
            </a:pPr>
            <a:r>
              <a:rPr lang="vi-VN" dirty="0"/>
              <a:t>Nếu </a:t>
            </a:r>
            <a:r>
              <a:rPr lang="vi-VN" b="1" dirty="0"/>
              <a:t>tất cả</a:t>
            </a:r>
            <a:r>
              <a:rPr lang="vi-VN" dirty="0"/>
              <a:t> participants gửi </a:t>
            </a:r>
            <a:r>
              <a:rPr lang="vi-VN" b="1" dirty="0"/>
              <a:t>VOTE-COMMIT</a:t>
            </a:r>
            <a:r>
              <a:rPr lang="vi-VN" dirty="0"/>
              <a:t> → Coordinator gửi:</a:t>
            </a:r>
            <a:br>
              <a:rPr lang="vi-VN" dirty="0"/>
            </a:br>
            <a:r>
              <a:rPr lang="en-US" dirty="0"/>
              <a:t>=&gt;</a:t>
            </a:r>
            <a:r>
              <a:rPr lang="vi-VN" dirty="0"/>
              <a:t> </a:t>
            </a:r>
            <a:r>
              <a:rPr lang="vi-VN" b="1" dirty="0"/>
              <a:t>GLOBAL-COMMIT</a:t>
            </a:r>
            <a:endParaRPr lang="vi-VN" dirty="0"/>
          </a:p>
          <a:p>
            <a:pPr>
              <a:buFont typeface="Arial" panose="020B0604020202020204" pitchFamily="34" charset="0"/>
              <a:buChar char="•"/>
            </a:pPr>
            <a:r>
              <a:rPr lang="vi-VN" dirty="0"/>
              <a:t>Nếu </a:t>
            </a:r>
            <a:r>
              <a:rPr lang="vi-VN" b="1" dirty="0"/>
              <a:t>một hoặc nhiều</a:t>
            </a:r>
            <a:r>
              <a:rPr lang="vi-VN" dirty="0"/>
              <a:t> participant gửi </a:t>
            </a:r>
            <a:r>
              <a:rPr lang="vi-VN" b="1" dirty="0"/>
              <a:t>VOTE-ABORT</a:t>
            </a:r>
            <a:r>
              <a:rPr lang="vi-VN" dirty="0"/>
              <a:t> → Coordinator gửi:</a:t>
            </a:r>
            <a:br>
              <a:rPr lang="vi-VN" dirty="0"/>
            </a:br>
            <a:r>
              <a:rPr lang="en-US" dirty="0"/>
              <a:t>=&gt;</a:t>
            </a:r>
            <a:r>
              <a:rPr lang="vi-VN" dirty="0"/>
              <a:t> </a:t>
            </a:r>
            <a:r>
              <a:rPr lang="vi-VN" b="1" dirty="0"/>
              <a:t>GLOBAL-ABORT</a:t>
            </a:r>
            <a:endParaRPr lang="vi-VN" dirty="0"/>
          </a:p>
          <a:p>
            <a:r>
              <a:rPr lang="vi-VN" b="1" dirty="0"/>
              <a:t>Phase 2b – Participants thực thi quyết định</a:t>
            </a:r>
          </a:p>
          <a:p>
            <a:r>
              <a:rPr lang="vi-VN" dirty="0"/>
              <a:t>Khi nhận GLOBAL-COMMIT hoặc GLOBAL-ABORT:</a:t>
            </a:r>
          </a:p>
          <a:p>
            <a:pPr>
              <a:buFont typeface="Arial" panose="020B0604020202020204" pitchFamily="34" charset="0"/>
              <a:buChar char="•"/>
            </a:pPr>
            <a:r>
              <a:rPr lang="vi-VN" dirty="0"/>
              <a:t>Participants commit hoặc abort local transaction</a:t>
            </a:r>
          </a:p>
          <a:p>
            <a:pPr>
              <a:buFont typeface="Arial" panose="020B0604020202020204" pitchFamily="34" charset="0"/>
              <a:buChar char="•"/>
            </a:pPr>
            <a:r>
              <a:rPr lang="vi-VN" dirty="0"/>
              <a:t>Sau đó giải phóng tài nguyên</a:t>
            </a:r>
          </a:p>
          <a:p>
            <a:endParaRPr lang="en-US" b="1" dirty="0"/>
          </a:p>
          <a:p>
            <a:r>
              <a:rPr lang="en-US" b="1" dirty="0"/>
              <a:t>**</a:t>
            </a:r>
            <a:r>
              <a:rPr lang="vi-VN" b="1" dirty="0"/>
              <a:t>Ý nghĩa tổng quát của 2PC</a:t>
            </a:r>
          </a:p>
          <a:p>
            <a:r>
              <a:rPr lang="vi-VN" dirty="0"/>
              <a:t>2PC bảo đảm sự </a:t>
            </a:r>
            <a:r>
              <a:rPr lang="vi-VN" b="1" dirty="0"/>
              <a:t>nhất quán</a:t>
            </a:r>
            <a:r>
              <a:rPr lang="vi-VN" dirty="0"/>
              <a:t> giữa tất cả các tiến trình:</a:t>
            </a:r>
          </a:p>
          <a:p>
            <a:pPr>
              <a:buFont typeface="Arial" panose="020B0604020202020204" pitchFamily="34" charset="0"/>
              <a:buChar char="•"/>
            </a:pPr>
            <a:r>
              <a:rPr lang="vi-VN" dirty="0"/>
              <a:t>Không tiến trình nào commit nếu coordinator quyết định abort</a:t>
            </a:r>
          </a:p>
          <a:p>
            <a:pPr>
              <a:buFont typeface="Arial" panose="020B0604020202020204" pitchFamily="34" charset="0"/>
              <a:buChar char="•"/>
            </a:pPr>
            <a:r>
              <a:rPr lang="vi-VN" dirty="0"/>
              <a:t>Không tiến trình nào abort sau khi coordinator quyết định commit</a:t>
            </a:r>
          </a:p>
          <a:p>
            <a:r>
              <a:rPr lang="vi-VN" dirty="0"/>
              <a:t>→ Tất cả commit hoặc tất cả abort.</a:t>
            </a:r>
          </a:p>
          <a:p>
            <a:endParaRPr lang="en-US" b="1" dirty="0"/>
          </a:p>
          <a:p>
            <a:r>
              <a:rPr lang="en-US" b="1" dirty="0"/>
              <a:t>** </a:t>
            </a:r>
            <a:r>
              <a:rPr lang="vi-VN" b="1" dirty="0"/>
              <a:t>Lưu ý (rất quan trọng trong 2PC)</a:t>
            </a:r>
          </a:p>
          <a:p>
            <a:r>
              <a:rPr lang="vi-VN" dirty="0"/>
              <a:t>2PC </a:t>
            </a:r>
            <a:r>
              <a:rPr lang="vi-VN" b="1" dirty="0"/>
              <a:t>có thể bị blocking</a:t>
            </a:r>
            <a:r>
              <a:rPr lang="vi-VN" dirty="0"/>
              <a:t> khi coordinator bị crash trong một số tình huống.</a:t>
            </a:r>
            <a:br>
              <a:rPr lang="vi-VN" dirty="0"/>
            </a:br>
            <a:r>
              <a:rPr lang="vi-VN" dirty="0"/>
              <a:t>(Điều này sẽ dẫn đến 3PC, Paxos Commit…)</a:t>
            </a:r>
          </a:p>
          <a:p>
            <a:r>
              <a:rPr lang="vi-VN" dirty="0"/>
              <a:t>Nếu bạn muốn, mình có thể giải thích </a:t>
            </a:r>
            <a:r>
              <a:rPr lang="vi-VN" b="1" dirty="0"/>
              <a:t>hình minh họa 2PC</a:t>
            </a:r>
            <a:r>
              <a:rPr lang="vi-VN" dirty="0"/>
              <a:t>, hoặc giải thích sâu về </a:t>
            </a:r>
            <a:r>
              <a:rPr lang="vi-VN" b="1" dirty="0"/>
              <a:t>điểm yếu – tình huống blocking – so sánh 2PC &amp; 3PC</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68</a:t>
            </a:fld>
            <a:endParaRPr lang="en-US"/>
          </a:p>
        </p:txBody>
      </p:sp>
    </p:spTree>
    <p:extLst>
      <p:ext uri="{BB962C8B-B14F-4D97-AF65-F5344CB8AC3E}">
        <p14:creationId xmlns:p14="http://schemas.microsoft.com/office/powerpoint/2010/main" val="21123980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2PC – Finite State Machines (FSM)</a:t>
            </a:r>
          </a:p>
          <a:p>
            <a:r>
              <a:rPr lang="vi-VN" dirty="0"/>
              <a:t>(Máy trạng thái hữu hạn của giao thức Two-Phase Commit)</a:t>
            </a:r>
          </a:p>
          <a:p>
            <a:r>
              <a:rPr lang="vi-VN" b="1" dirty="0"/>
              <a:t>Ý nghĩa của slide này</a:t>
            </a:r>
          </a:p>
          <a:p>
            <a:r>
              <a:rPr lang="vi-VN" dirty="0"/>
              <a:t>Slide mô tả </a:t>
            </a:r>
            <a:r>
              <a:rPr lang="vi-VN" b="1" dirty="0"/>
              <a:t>hành vi của Coordinator và Participant dưới dạng FSM (Finite State Machine)</a:t>
            </a:r>
            <a:r>
              <a:rPr lang="vi-VN" dirty="0"/>
              <a:t> – tức là mỗi thực thể trong giao thức 2PC sẽ chuyển qua các trạng thái cụ thể, tùy vào thông điệp nhận/gửi.</a:t>
            </a:r>
          </a:p>
          <a:p>
            <a:r>
              <a:rPr lang="vi-VN" dirty="0"/>
              <a:t>Giao thức 2PC gồm hai bên:</a:t>
            </a:r>
          </a:p>
          <a:p>
            <a:pPr>
              <a:buFont typeface="Arial" panose="020B0604020202020204" pitchFamily="34" charset="0"/>
              <a:buChar char="•"/>
            </a:pPr>
            <a:r>
              <a:rPr lang="vi-VN" b="1" dirty="0"/>
              <a:t>Coordinator</a:t>
            </a:r>
            <a:r>
              <a:rPr lang="vi-VN" dirty="0"/>
              <a:t>: điều phối việc commit/abort</a:t>
            </a:r>
          </a:p>
          <a:p>
            <a:pPr>
              <a:buFont typeface="Arial" panose="020B0604020202020204" pitchFamily="34" charset="0"/>
              <a:buChar char="•"/>
            </a:pPr>
            <a:r>
              <a:rPr lang="vi-VN" b="1" dirty="0"/>
              <a:t>Participant</a:t>
            </a:r>
            <a:r>
              <a:rPr lang="vi-VN" dirty="0"/>
              <a:t>: thực thi local transaction và tham gia bỏ phiếu</a:t>
            </a:r>
          </a:p>
          <a:p>
            <a:r>
              <a:rPr lang="vi-VN" dirty="0"/>
              <a:t>FSM giúp chúng ta hiểu </a:t>
            </a:r>
            <a:r>
              <a:rPr lang="vi-VN" b="1" dirty="0"/>
              <a:t>mỗi bên có thể ở trạng thái nào, và tại sao 2PC có thể bị blocking</a:t>
            </a:r>
            <a:r>
              <a:rPr lang="vi-VN" dirty="0"/>
              <a:t>.</a:t>
            </a:r>
          </a:p>
          <a:p>
            <a:endParaRPr lang="en-US" b="1" dirty="0"/>
          </a:p>
          <a:p>
            <a:r>
              <a:rPr lang="en-US" b="1" dirty="0"/>
              <a:t>1. </a:t>
            </a:r>
            <a:r>
              <a:rPr lang="vi-VN" b="1" dirty="0"/>
              <a:t>FSM của Coordinator</a:t>
            </a:r>
          </a:p>
          <a:p>
            <a:pPr rtl="0"/>
            <a:r>
              <a:rPr lang="vi-VN" dirty="0"/>
              <a:t>INIT → WAIT → { COMMIT , ABORT } </a:t>
            </a:r>
          </a:p>
          <a:p>
            <a:r>
              <a:rPr lang="vi-VN" b="1" dirty="0"/>
              <a:t>INIT (trạng thái khởi tạo)</a:t>
            </a:r>
          </a:p>
          <a:p>
            <a:r>
              <a:rPr lang="vi-VN" dirty="0"/>
              <a:t>Coordinator nhận yêu cầu từ client để bắt đầu transaction.</a:t>
            </a:r>
          </a:p>
          <a:p>
            <a:r>
              <a:rPr lang="en-US" dirty="0"/>
              <a:t>=&gt;</a:t>
            </a:r>
            <a:r>
              <a:rPr lang="vi-VN" dirty="0"/>
              <a:t> Gửi thông điệp </a:t>
            </a:r>
            <a:r>
              <a:rPr lang="vi-VN" b="1" dirty="0"/>
              <a:t>VOTE-REQUEST</a:t>
            </a:r>
            <a:r>
              <a:rPr lang="vi-VN" dirty="0"/>
              <a:t> đến tất cả participants.</a:t>
            </a:r>
            <a:br>
              <a:rPr lang="vi-VN" dirty="0"/>
            </a:br>
            <a:r>
              <a:rPr lang="en-US" dirty="0"/>
              <a:t>=&gt;</a:t>
            </a:r>
            <a:r>
              <a:rPr lang="vi-VN" dirty="0"/>
              <a:t> Chuyển sang trạng thái </a:t>
            </a:r>
            <a:r>
              <a:rPr lang="vi-VN" b="1" dirty="0"/>
              <a:t>WAIT</a:t>
            </a:r>
            <a:r>
              <a:rPr lang="vi-VN" dirty="0"/>
              <a:t>.</a:t>
            </a:r>
          </a:p>
          <a:p>
            <a:r>
              <a:rPr lang="vi-VN" b="1" dirty="0"/>
              <a:t>WAIT (chờ phiếu từ participant)</a:t>
            </a:r>
          </a:p>
          <a:p>
            <a:r>
              <a:rPr lang="vi-VN" dirty="0"/>
              <a:t>Coordinator thu thập tất cả phản hồi:</a:t>
            </a:r>
          </a:p>
          <a:p>
            <a:pPr>
              <a:buFont typeface="Arial" panose="020B0604020202020204" pitchFamily="34" charset="0"/>
              <a:buChar char="•"/>
            </a:pPr>
            <a:r>
              <a:rPr lang="vi-VN" b="1" dirty="0"/>
              <a:t>VOTE-COMMIT</a:t>
            </a:r>
            <a:endParaRPr lang="vi-VN" dirty="0"/>
          </a:p>
          <a:p>
            <a:pPr>
              <a:buFont typeface="Arial" panose="020B0604020202020204" pitchFamily="34" charset="0"/>
              <a:buChar char="•"/>
            </a:pPr>
            <a:r>
              <a:rPr lang="vi-VN" b="1" dirty="0"/>
              <a:t>VOTE-ABORT</a:t>
            </a:r>
            <a:endParaRPr lang="vi-VN" dirty="0"/>
          </a:p>
          <a:p>
            <a:r>
              <a:rPr lang="vi-VN" dirty="0"/>
              <a:t>Sau khi thu thập đủ phiếu → đưa ra quyết định global:</a:t>
            </a:r>
          </a:p>
          <a:p>
            <a:r>
              <a:rPr lang="en-US" b="1" dirty="0"/>
              <a:t>* </a:t>
            </a:r>
            <a:r>
              <a:rPr lang="vi-VN" b="1" dirty="0"/>
              <a:t>Nếu có ít nhất 1 participant gửi VOTE-ABORT → Global-abort</a:t>
            </a:r>
          </a:p>
          <a:p>
            <a:r>
              <a:rPr lang="en-US" dirty="0"/>
              <a:t>=&gt;</a:t>
            </a:r>
            <a:r>
              <a:rPr lang="vi-VN" dirty="0"/>
              <a:t> Chuyển sang trạng thái </a:t>
            </a:r>
            <a:r>
              <a:rPr lang="vi-VN" b="1" dirty="0"/>
              <a:t>ABORT</a:t>
            </a:r>
            <a:endParaRPr lang="vi-VN" dirty="0"/>
          </a:p>
          <a:p>
            <a:r>
              <a:rPr lang="en-US" b="1" dirty="0"/>
              <a:t>* </a:t>
            </a:r>
            <a:r>
              <a:rPr lang="vi-VN" b="1" dirty="0"/>
              <a:t>Nếu tất cả participants gửi VOTE-COMMIT → Global-commit</a:t>
            </a:r>
          </a:p>
          <a:p>
            <a:r>
              <a:rPr lang="en-US" dirty="0"/>
              <a:t>=&gt;</a:t>
            </a:r>
            <a:r>
              <a:rPr lang="vi-VN" dirty="0"/>
              <a:t> Chuyển sang trạng thái </a:t>
            </a:r>
            <a:r>
              <a:rPr lang="vi-VN" b="1" dirty="0"/>
              <a:t>COMMIT</a:t>
            </a:r>
            <a:endParaRPr lang="vi-VN" dirty="0"/>
          </a:p>
          <a:p>
            <a:r>
              <a:rPr lang="vi-VN" b="1" dirty="0"/>
              <a:t>ABORT / COMMIT</a:t>
            </a:r>
          </a:p>
          <a:p>
            <a:r>
              <a:rPr lang="vi-VN" dirty="0"/>
              <a:t>Đây là trạng thái cuối:</a:t>
            </a:r>
          </a:p>
          <a:p>
            <a:pPr>
              <a:buFont typeface="Arial" panose="020B0604020202020204" pitchFamily="34" charset="0"/>
              <a:buChar char="•"/>
            </a:pPr>
            <a:r>
              <a:rPr lang="vi-VN" dirty="0"/>
              <a:t>Coordinator gửi:</a:t>
            </a:r>
          </a:p>
          <a:p>
            <a:pPr marL="742950" lvl="1" indent="-285750">
              <a:buFont typeface="Arial" panose="020B0604020202020204" pitchFamily="34" charset="0"/>
              <a:buChar char="•"/>
            </a:pPr>
            <a:r>
              <a:rPr lang="vi-VN" b="1" dirty="0"/>
              <a:t>GLOBAL-ABORT</a:t>
            </a:r>
            <a:r>
              <a:rPr lang="vi-VN" dirty="0"/>
              <a:t> hoặc</a:t>
            </a:r>
          </a:p>
          <a:p>
            <a:pPr marL="742950" lvl="1" indent="-285750">
              <a:buFont typeface="Arial" panose="020B0604020202020204" pitchFamily="34" charset="0"/>
              <a:buChar char="•"/>
            </a:pPr>
            <a:r>
              <a:rPr lang="vi-VN" b="1" dirty="0"/>
              <a:t>GLOBAL-COMMIT</a:t>
            </a:r>
            <a:endParaRPr lang="vi-VN" dirty="0"/>
          </a:p>
          <a:p>
            <a:pPr>
              <a:buFont typeface="Arial" panose="020B0604020202020204" pitchFamily="34" charset="0"/>
              <a:buChar char="•"/>
            </a:pPr>
            <a:r>
              <a:rPr lang="vi-VN" dirty="0"/>
              <a:t>Transaction kết thúc.</a:t>
            </a:r>
          </a:p>
          <a:p>
            <a:endParaRPr lang="en-US" b="1" dirty="0"/>
          </a:p>
          <a:p>
            <a:r>
              <a:rPr lang="en-US" b="1" dirty="0"/>
              <a:t>2. </a:t>
            </a:r>
            <a:r>
              <a:rPr lang="vi-VN" b="1" dirty="0"/>
              <a:t>FSM của Participant</a:t>
            </a:r>
          </a:p>
          <a:p>
            <a:pPr rtl="0"/>
            <a:r>
              <a:rPr lang="vi-VN" dirty="0"/>
              <a:t>INIT → READY → { COMMIT , ABORT } </a:t>
            </a:r>
          </a:p>
          <a:p>
            <a:r>
              <a:rPr lang="vi-VN" b="1" dirty="0"/>
              <a:t>INIT</a:t>
            </a:r>
          </a:p>
          <a:p>
            <a:r>
              <a:rPr lang="vi-VN" dirty="0"/>
              <a:t>Participant đang ở trạng thái ban đầu.</a:t>
            </a:r>
          </a:p>
          <a:p>
            <a:r>
              <a:rPr lang="vi-VN" dirty="0"/>
              <a:t>Khi nhận được </a:t>
            </a:r>
            <a:r>
              <a:rPr lang="vi-VN" b="1" dirty="0"/>
              <a:t>VOTE-REQUEST</a:t>
            </a:r>
            <a:r>
              <a:rPr lang="vi-VN" dirty="0"/>
              <a:t> từ coordinator:</a:t>
            </a:r>
          </a:p>
          <a:p>
            <a:pPr>
              <a:buFont typeface="Arial" panose="020B0604020202020204" pitchFamily="34" charset="0"/>
              <a:buChar char="•"/>
            </a:pPr>
            <a:r>
              <a:rPr lang="vi-VN" dirty="0"/>
              <a:t>Kiểm tra local transaction</a:t>
            </a:r>
          </a:p>
          <a:p>
            <a:pPr>
              <a:buFont typeface="Arial" panose="020B0604020202020204" pitchFamily="34" charset="0"/>
              <a:buChar char="•"/>
            </a:pPr>
            <a:r>
              <a:rPr lang="vi-VN" dirty="0"/>
              <a:t>Trả về:</a:t>
            </a:r>
          </a:p>
          <a:p>
            <a:pPr marL="742950" lvl="1" indent="-285750">
              <a:buFont typeface="Arial" panose="020B0604020202020204" pitchFamily="34" charset="0"/>
              <a:buChar char="•"/>
            </a:pPr>
            <a:r>
              <a:rPr lang="vi-VN" b="1" dirty="0"/>
              <a:t>VOTE-COMMIT</a:t>
            </a:r>
            <a:r>
              <a:rPr lang="vi-VN" dirty="0"/>
              <a:t> nếu có thể commit</a:t>
            </a:r>
          </a:p>
          <a:p>
            <a:pPr marL="742950" lvl="1" indent="-285750">
              <a:buFont typeface="Arial" panose="020B0604020202020204" pitchFamily="34" charset="0"/>
              <a:buChar char="•"/>
            </a:pPr>
            <a:r>
              <a:rPr lang="vi-VN" b="1" dirty="0"/>
              <a:t>VOTE-ABORT</a:t>
            </a:r>
            <a:r>
              <a:rPr lang="vi-VN" dirty="0"/>
              <a:t> nếu có lỗi</a:t>
            </a:r>
          </a:p>
          <a:p>
            <a:r>
              <a:rPr lang="vi-VN" dirty="0"/>
              <a:t>Nếu gửi VOTE-COMMIT → chuyển sang </a:t>
            </a:r>
            <a:r>
              <a:rPr lang="vi-VN" b="1" dirty="0"/>
              <a:t>READY</a:t>
            </a:r>
            <a:br>
              <a:rPr lang="vi-VN" dirty="0"/>
            </a:br>
            <a:r>
              <a:rPr lang="vi-VN" dirty="0"/>
              <a:t>Nếu gửi VOTE-ABORT → chuyển trực tiếp sang </a:t>
            </a:r>
            <a:r>
              <a:rPr lang="vi-VN" b="1" dirty="0"/>
              <a:t>ABORT</a:t>
            </a:r>
            <a:r>
              <a:rPr lang="vi-VN" dirty="0"/>
              <a:t> (abort local transaction)</a:t>
            </a:r>
          </a:p>
          <a:p>
            <a:r>
              <a:rPr lang="vi-VN" b="1" dirty="0"/>
              <a:t>READY</a:t>
            </a:r>
          </a:p>
          <a:p>
            <a:r>
              <a:rPr lang="vi-VN" dirty="0"/>
              <a:t>Đây là trạng thái quan trọng nhất của participant.</a:t>
            </a:r>
            <a:br>
              <a:rPr lang="vi-VN" dirty="0"/>
            </a:br>
            <a:r>
              <a:rPr lang="vi-VN" dirty="0"/>
              <a:t>READY = “Tôi đã vote-COMMIT. Từ giờ trở đi tôi </a:t>
            </a:r>
            <a:r>
              <a:rPr lang="vi-VN" i="1" dirty="0"/>
              <a:t>phải</a:t>
            </a:r>
            <a:r>
              <a:rPr lang="vi-VN" dirty="0"/>
              <a:t> chờ coordinator quyết định.”</a:t>
            </a:r>
          </a:p>
          <a:p>
            <a:r>
              <a:rPr lang="vi-VN" dirty="0"/>
              <a:t>Participant sẽ:</a:t>
            </a:r>
          </a:p>
          <a:p>
            <a:pPr>
              <a:buFont typeface="Arial" panose="020B0604020202020204" pitchFamily="34" charset="0"/>
              <a:buChar char="•"/>
            </a:pPr>
            <a:r>
              <a:rPr lang="vi-VN" dirty="0"/>
              <a:t>Chờ </a:t>
            </a:r>
            <a:r>
              <a:rPr lang="vi-VN" b="1" dirty="0"/>
              <a:t>GLOBAL-COMMIT</a:t>
            </a:r>
            <a:r>
              <a:rPr lang="vi-VN" dirty="0"/>
              <a:t> → chuyển sang </a:t>
            </a:r>
            <a:r>
              <a:rPr lang="vi-VN" b="1" dirty="0"/>
              <a:t>COMMIT</a:t>
            </a:r>
            <a:endParaRPr lang="vi-VN" dirty="0"/>
          </a:p>
          <a:p>
            <a:pPr>
              <a:buFont typeface="Arial" panose="020B0604020202020204" pitchFamily="34" charset="0"/>
              <a:buChar char="•"/>
            </a:pPr>
            <a:r>
              <a:rPr lang="vi-VN" dirty="0"/>
              <a:t>Hoặc chờ </a:t>
            </a:r>
            <a:r>
              <a:rPr lang="vi-VN" b="1" dirty="0"/>
              <a:t>GLOBAL-ABORT</a:t>
            </a:r>
            <a:r>
              <a:rPr lang="vi-VN" dirty="0"/>
              <a:t> → chuyển sang </a:t>
            </a:r>
            <a:r>
              <a:rPr lang="vi-VN" b="1" dirty="0"/>
              <a:t>ABORT</a:t>
            </a:r>
            <a:endParaRPr lang="vi-VN" dirty="0"/>
          </a:p>
          <a:p>
            <a:pPr>
              <a:buFont typeface="Arial" panose="020B0604020202020204" pitchFamily="34" charset="0"/>
              <a:buChar char="•"/>
            </a:pPr>
            <a:r>
              <a:rPr lang="vi-VN" dirty="0"/>
              <a:t>Gửi ACK xác nhận</a:t>
            </a:r>
          </a:p>
          <a:p>
            <a:r>
              <a:rPr lang="en-US" dirty="0"/>
              <a:t>=&gt; </a:t>
            </a:r>
            <a:r>
              <a:rPr lang="vi-VN" b="1" dirty="0"/>
              <a:t>READY là trạng thái gây blocking trong 2PC</a:t>
            </a:r>
            <a:br>
              <a:rPr lang="vi-VN" dirty="0"/>
            </a:br>
            <a:r>
              <a:rPr lang="vi-VN" dirty="0"/>
              <a:t>Nếu coordinator crash tại thời điểm này → participant bị treo, không dám tự quyết định.</a:t>
            </a:r>
          </a:p>
          <a:p>
            <a:r>
              <a:rPr lang="vi-VN" b="1" dirty="0"/>
              <a:t>COMMIT</a:t>
            </a:r>
          </a:p>
          <a:p>
            <a:r>
              <a:rPr lang="vi-VN" dirty="0"/>
              <a:t>Participant thực hiện local commit và kết thúc.</a:t>
            </a:r>
          </a:p>
          <a:p>
            <a:r>
              <a:rPr lang="vi-VN" b="1" dirty="0"/>
              <a:t>ABORT</a:t>
            </a:r>
          </a:p>
          <a:p>
            <a:r>
              <a:rPr lang="vi-VN" dirty="0"/>
              <a:t>Participant roll back local transaction và kết thúc.</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69</a:t>
            </a:fld>
            <a:endParaRPr lang="en-US"/>
          </a:p>
        </p:txBody>
      </p:sp>
    </p:spTree>
    <p:extLst>
      <p:ext uri="{BB962C8B-B14F-4D97-AF65-F5344CB8AC3E}">
        <p14:creationId xmlns:p14="http://schemas.microsoft.com/office/powerpoint/2010/main" val="40633725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2PC – Failing participant</a:t>
            </a:r>
          </a:p>
          <a:p>
            <a:r>
              <a:rPr lang="vi-VN" b="1" i="1" dirty="0"/>
              <a:t>Phân tích: participant crash ở trạng thái S và hồi phục trở lại trạng thái S</a:t>
            </a:r>
            <a:endParaRPr lang="vi-VN" b="1" dirty="0"/>
          </a:p>
          <a:p>
            <a:r>
              <a:rPr lang="vi-VN" dirty="0"/>
              <a:t>Slide này mô tả điều gì sẽ xảy ra khi </a:t>
            </a:r>
            <a:r>
              <a:rPr lang="vi-VN" b="1" dirty="0"/>
              <a:t>một participant bị crash trong quá trình 2PC</a:t>
            </a:r>
            <a:r>
              <a:rPr lang="vi-VN" dirty="0"/>
              <a:t>, và khi phục hồi (recovery), participant cần phải biết </a:t>
            </a:r>
            <a:r>
              <a:rPr lang="vi-VN" b="1" dirty="0"/>
              <a:t>nó đang ở trạng thái nào của giao thức</a:t>
            </a:r>
            <a:r>
              <a:rPr lang="vi-VN" dirty="0"/>
              <a:t> để tiếp tục đúng cách.</a:t>
            </a:r>
          </a:p>
          <a:p>
            <a:r>
              <a:rPr lang="vi-VN" dirty="0"/>
              <a:t>Ta xét từng trạng thái trong FSM của participant:</a:t>
            </a:r>
          </a:p>
          <a:p>
            <a:r>
              <a:rPr lang="en-US" b="1" dirty="0"/>
              <a:t>1. </a:t>
            </a:r>
            <a:r>
              <a:rPr lang="vi-VN" b="1" dirty="0"/>
              <a:t>INIT – Không có vấn đề</a:t>
            </a:r>
          </a:p>
          <a:p>
            <a:pPr>
              <a:buFont typeface="Arial" panose="020B0604020202020204" pitchFamily="34" charset="0"/>
              <a:buChar char="•"/>
            </a:pPr>
            <a:r>
              <a:rPr lang="vi-VN" dirty="0"/>
              <a:t>Participant chưa tham gia giao thức</a:t>
            </a:r>
          </a:p>
          <a:p>
            <a:pPr>
              <a:buFont typeface="Arial" panose="020B0604020202020204" pitchFamily="34" charset="0"/>
              <a:buChar char="•"/>
            </a:pPr>
            <a:r>
              <a:rPr lang="vi-VN" dirty="0"/>
              <a:t>Chưa nhận được </a:t>
            </a:r>
            <a:r>
              <a:rPr lang="vi-VN" b="1" dirty="0"/>
              <a:t>VOTE-REQUEST</a:t>
            </a:r>
            <a:endParaRPr lang="vi-VN" dirty="0"/>
          </a:p>
          <a:p>
            <a:pPr>
              <a:buFont typeface="Arial" panose="020B0604020202020204" pitchFamily="34" charset="0"/>
              <a:buChar char="•"/>
            </a:pPr>
            <a:r>
              <a:rPr lang="vi-VN" dirty="0"/>
              <a:t>Do đó khi crash → recover không cần làm gì</a:t>
            </a:r>
            <a:br>
              <a:rPr lang="vi-VN" dirty="0"/>
            </a:br>
            <a:r>
              <a:rPr lang="en-US" dirty="0"/>
              <a:t>-</a:t>
            </a:r>
            <a:r>
              <a:rPr lang="vi-VN" dirty="0"/>
              <a:t> Không có thông tin nào bị mất</a:t>
            </a:r>
            <a:br>
              <a:rPr lang="vi-VN" dirty="0"/>
            </a:br>
            <a:r>
              <a:rPr lang="en-US" dirty="0"/>
              <a:t>-</a:t>
            </a:r>
            <a:r>
              <a:rPr lang="vi-VN" dirty="0"/>
              <a:t> Không có ràng buộc giao thức</a:t>
            </a:r>
          </a:p>
          <a:p>
            <a:endParaRPr lang="en-US" b="1" dirty="0"/>
          </a:p>
          <a:p>
            <a:r>
              <a:rPr lang="en-US" b="1" dirty="0"/>
              <a:t>2. </a:t>
            </a:r>
            <a:r>
              <a:rPr lang="vi-VN" b="1" dirty="0"/>
              <a:t>READY – Trạng thái nguy hiểm nhất</a:t>
            </a:r>
          </a:p>
          <a:p>
            <a:r>
              <a:rPr lang="vi-VN" dirty="0"/>
              <a:t>Đây là phần quan trọng nhất của slide.</a:t>
            </a:r>
          </a:p>
          <a:p>
            <a:r>
              <a:rPr lang="vi-VN" dirty="0"/>
              <a:t>READY = participant đã gửi </a:t>
            </a:r>
            <a:r>
              <a:rPr lang="vi-VN" b="1" dirty="0"/>
              <a:t>VOTE-COMMIT</a:t>
            </a:r>
            <a:r>
              <a:rPr lang="vi-VN" dirty="0"/>
              <a:t> cho coordinator và </a:t>
            </a:r>
            <a:r>
              <a:rPr lang="vi-VN" b="1" dirty="0"/>
              <a:t>đang chờ</a:t>
            </a:r>
            <a:r>
              <a:rPr lang="vi-VN" dirty="0"/>
              <a:t> quyết định GLOBAL-COMMIT hay GLOBAL-ABORT.</a:t>
            </a:r>
          </a:p>
          <a:p>
            <a:r>
              <a:rPr lang="en-US" dirty="0"/>
              <a:t>=&gt;</a:t>
            </a:r>
            <a:r>
              <a:rPr lang="vi-VN" dirty="0"/>
              <a:t> Nếu crash trong READY và sau đó hồi phục:</a:t>
            </a:r>
          </a:p>
          <a:p>
            <a:r>
              <a:rPr lang="vi-VN" dirty="0"/>
              <a:t>Participant </a:t>
            </a:r>
            <a:r>
              <a:rPr lang="vi-VN" b="1" dirty="0"/>
              <a:t>không biết quyết định cuối cùng là gì</a:t>
            </a:r>
            <a:r>
              <a:rPr lang="vi-VN" dirty="0"/>
              <a:t>, nên không biết:</a:t>
            </a:r>
          </a:p>
          <a:p>
            <a:pPr>
              <a:buFont typeface="Arial" panose="020B0604020202020204" pitchFamily="34" charset="0"/>
              <a:buChar char="•"/>
            </a:pPr>
            <a:r>
              <a:rPr lang="vi-VN" dirty="0"/>
              <a:t>có nên commit?</a:t>
            </a:r>
          </a:p>
          <a:p>
            <a:pPr>
              <a:buFont typeface="Arial" panose="020B0604020202020204" pitchFamily="34" charset="0"/>
              <a:buChar char="•"/>
            </a:pPr>
            <a:r>
              <a:rPr lang="vi-VN" dirty="0"/>
              <a:t>hay nên abort?</a:t>
            </a:r>
          </a:p>
          <a:p>
            <a:r>
              <a:rPr lang="en-US" dirty="0"/>
              <a:t>=&gt; </a:t>
            </a:r>
            <a:r>
              <a:rPr lang="vi-VN" dirty="0"/>
              <a:t>Vì vậy </a:t>
            </a:r>
            <a:r>
              <a:rPr lang="vi-VN" b="1" dirty="0"/>
              <a:t>READY là trạng thái cần log bền vững (write-ahead log)</a:t>
            </a:r>
            <a:br>
              <a:rPr lang="vi-VN" dirty="0"/>
            </a:br>
            <a:r>
              <a:rPr lang="vi-VN" dirty="0"/>
              <a:t>Participant phải lưu lại:</a:t>
            </a:r>
          </a:p>
          <a:p>
            <a:pPr>
              <a:buFont typeface="Arial" panose="020B0604020202020204" pitchFamily="34" charset="0"/>
              <a:buChar char="•"/>
            </a:pPr>
            <a:r>
              <a:rPr lang="vi-VN" dirty="0"/>
              <a:t>Nó đã vote-commit</a:t>
            </a:r>
          </a:p>
          <a:p>
            <a:pPr>
              <a:buFont typeface="Arial" panose="020B0604020202020204" pitchFamily="34" charset="0"/>
              <a:buChar char="•"/>
            </a:pPr>
            <a:r>
              <a:rPr lang="vi-VN" dirty="0"/>
              <a:t>Nó đã chuyển sang READY</a:t>
            </a:r>
          </a:p>
          <a:p>
            <a:pPr>
              <a:buFont typeface="Arial" panose="020B0604020202020204" pitchFamily="34" charset="0"/>
              <a:buChar char="•"/>
            </a:pPr>
            <a:r>
              <a:rPr lang="vi-VN" dirty="0"/>
              <a:t>Nó cần chờ quyết định từ coordinator</a:t>
            </a:r>
          </a:p>
          <a:p>
            <a:r>
              <a:rPr lang="vi-VN" dirty="0"/>
              <a:t>Sau recovery, participant </a:t>
            </a:r>
            <a:r>
              <a:rPr lang="vi-VN" b="1" dirty="0"/>
              <a:t>phải hỏi coordinator</a:t>
            </a:r>
            <a:r>
              <a:rPr lang="vi-VN" dirty="0"/>
              <a:t> để biết quyết định cuối cùng.</a:t>
            </a:r>
          </a:p>
          <a:p>
            <a:endParaRPr lang="en-US" b="1" dirty="0"/>
          </a:p>
          <a:p>
            <a:r>
              <a:rPr lang="en-US" b="1" dirty="0"/>
              <a:t>3. </a:t>
            </a:r>
            <a:r>
              <a:rPr lang="vi-VN" b="1" dirty="0"/>
              <a:t>ABORT – Idempotent</a:t>
            </a:r>
          </a:p>
          <a:p>
            <a:r>
              <a:rPr lang="vi-VN" dirty="0"/>
              <a:t>ABORT là trạng thái cuối:</a:t>
            </a:r>
          </a:p>
          <a:p>
            <a:pPr>
              <a:buFont typeface="Arial" panose="020B0604020202020204" pitchFamily="34" charset="0"/>
              <a:buChar char="•"/>
            </a:pPr>
            <a:r>
              <a:rPr lang="vi-VN" dirty="0"/>
              <a:t>Nếu crash trước/đang/hoặc sau khi abort → recovery chỉ cần abort lại.</a:t>
            </a:r>
          </a:p>
          <a:p>
            <a:pPr>
              <a:buFont typeface="Arial" panose="020B0604020202020204" pitchFamily="34" charset="0"/>
              <a:buChar char="•"/>
            </a:pPr>
            <a:r>
              <a:rPr lang="vi-VN" dirty="0"/>
              <a:t>Các hành động abort (rollback, xóa workspace tạm) đều </a:t>
            </a:r>
            <a:r>
              <a:rPr lang="vi-VN" b="1" dirty="0"/>
              <a:t>idempotent</a:t>
            </a:r>
            <a:r>
              <a:rPr lang="vi-VN" dirty="0"/>
              <a:t>:</a:t>
            </a:r>
          </a:p>
          <a:p>
            <a:pPr marL="742950" lvl="1" indent="-285750">
              <a:buFont typeface="Arial" panose="020B0604020202020204" pitchFamily="34" charset="0"/>
              <a:buChar char="•"/>
            </a:pPr>
            <a:r>
              <a:rPr lang="vi-VN" dirty="0"/>
              <a:t>làm 1 lần hay 10 lần đều cho kết quả như nhau</a:t>
            </a:r>
          </a:p>
          <a:p>
            <a:r>
              <a:rPr lang="en-US" dirty="0"/>
              <a:t>-</a:t>
            </a:r>
            <a:r>
              <a:rPr lang="vi-VN" dirty="0"/>
              <a:t> Dễ phục hồi</a:t>
            </a:r>
            <a:br>
              <a:rPr lang="vi-VN" dirty="0"/>
            </a:br>
            <a:r>
              <a:rPr lang="en-US" dirty="0"/>
              <a:t>-</a:t>
            </a:r>
            <a:r>
              <a:rPr lang="vi-VN" dirty="0"/>
              <a:t> Không gây nhầm lẫn</a:t>
            </a:r>
            <a:br>
              <a:rPr lang="vi-VN" dirty="0"/>
            </a:br>
            <a:r>
              <a:rPr lang="en-US" dirty="0"/>
              <a:t>-</a:t>
            </a:r>
            <a:r>
              <a:rPr lang="vi-VN" dirty="0"/>
              <a:t> Không gây blocking</a:t>
            </a:r>
          </a:p>
          <a:p>
            <a:endParaRPr lang="en-US" b="1" dirty="0"/>
          </a:p>
          <a:p>
            <a:r>
              <a:rPr lang="en-US" b="1" dirty="0"/>
              <a:t>4. </a:t>
            </a:r>
            <a:r>
              <a:rPr lang="vi-VN" b="1" dirty="0"/>
              <a:t>COMMIT – Idempotent</a:t>
            </a:r>
          </a:p>
          <a:p>
            <a:r>
              <a:rPr lang="vi-VN" dirty="0"/>
              <a:t>Tương tự ABORT:</a:t>
            </a:r>
          </a:p>
          <a:p>
            <a:pPr>
              <a:buFont typeface="Arial" panose="020B0604020202020204" pitchFamily="34" charset="0"/>
              <a:buChar char="•"/>
            </a:pPr>
            <a:r>
              <a:rPr lang="vi-VN" dirty="0"/>
              <a:t>COMMIT là trạng thái cuối</a:t>
            </a:r>
          </a:p>
          <a:p>
            <a:pPr>
              <a:buFont typeface="Arial" panose="020B0604020202020204" pitchFamily="34" charset="0"/>
              <a:buChar char="•"/>
            </a:pPr>
            <a:r>
              <a:rPr lang="vi-VN" dirty="0"/>
              <a:t>Sao chép workspace vào storage, finalize dữ liệu</a:t>
            </a:r>
          </a:p>
          <a:p>
            <a:r>
              <a:rPr lang="en-US" dirty="0"/>
              <a:t>-</a:t>
            </a:r>
            <a:r>
              <a:rPr lang="vi-VN" dirty="0"/>
              <a:t> COMMIT cũng </a:t>
            </a:r>
            <a:r>
              <a:rPr lang="vi-VN" b="1" dirty="0"/>
              <a:t>idempotent</a:t>
            </a:r>
            <a:br>
              <a:rPr lang="vi-VN" dirty="0"/>
            </a:br>
            <a:r>
              <a:rPr lang="en-US" dirty="0"/>
              <a:t>=&gt;</a:t>
            </a:r>
            <a:r>
              <a:rPr lang="vi-VN" dirty="0"/>
              <a:t> Nếu đang commit mà bị crash, có thể commit lại khi phục hồi mà không làm sai dữ liệu</a:t>
            </a:r>
          </a:p>
          <a:p>
            <a:endParaRPr lang="en-US" b="1" dirty="0"/>
          </a:p>
          <a:p>
            <a:r>
              <a:rPr lang="en-US" b="1" dirty="0"/>
              <a:t>** </a:t>
            </a:r>
            <a:r>
              <a:rPr lang="vi-VN" b="1" dirty="0"/>
              <a:t>Observation – Ý nghĩa quan trọng của slide</a:t>
            </a:r>
          </a:p>
          <a:p>
            <a:r>
              <a:rPr lang="vi-VN" i="1" dirty="0"/>
              <a:t>Khi cần commit phân tán, việc dùng temporary workspace giúp recovery đơn giản ngay cả khi participant bị crash.</a:t>
            </a:r>
            <a:endParaRPr lang="vi-VN" dirty="0"/>
          </a:p>
          <a:p>
            <a:r>
              <a:rPr lang="vi-VN" dirty="0"/>
              <a:t>Tại sao?</a:t>
            </a:r>
          </a:p>
          <a:p>
            <a:r>
              <a:rPr lang="vi-VN" dirty="0"/>
              <a:t>Bởi vì:</a:t>
            </a:r>
          </a:p>
          <a:p>
            <a:pPr>
              <a:buFont typeface="Arial" panose="020B0604020202020204" pitchFamily="34" charset="0"/>
              <a:buChar char="•"/>
            </a:pPr>
            <a:r>
              <a:rPr lang="vi-VN" dirty="0"/>
              <a:t>Trước khi commit thật (final), participant chỉ ghi dữ liệu vào </a:t>
            </a:r>
            <a:r>
              <a:rPr lang="vi-VN" b="1" dirty="0"/>
              <a:t>workspace tạm</a:t>
            </a:r>
            <a:endParaRPr lang="vi-VN" dirty="0"/>
          </a:p>
          <a:p>
            <a:pPr>
              <a:buFont typeface="Arial" panose="020B0604020202020204" pitchFamily="34" charset="0"/>
              <a:buChar char="•"/>
            </a:pPr>
            <a:r>
              <a:rPr lang="vi-VN" dirty="0"/>
              <a:t>Workspace này có thể rollback (ABORT) hoặc finalize (COMMIT)</a:t>
            </a:r>
          </a:p>
          <a:p>
            <a:pPr>
              <a:buFont typeface="Arial" panose="020B0604020202020204" pitchFamily="34" charset="0"/>
              <a:buChar char="•"/>
            </a:pPr>
            <a:r>
              <a:rPr lang="vi-VN" dirty="0"/>
              <a:t>Do đó các hành động cuối cùng (commit/abort) đều idempotent</a:t>
            </a:r>
          </a:p>
          <a:p>
            <a:r>
              <a:rPr lang="en-US" dirty="0"/>
              <a:t>=&gt;</a:t>
            </a:r>
            <a:r>
              <a:rPr lang="vi-VN" dirty="0"/>
              <a:t> Điều này giúp participant dễ khôi phục sau crash</a:t>
            </a:r>
            <a:br>
              <a:rPr lang="vi-VN" dirty="0"/>
            </a:br>
            <a:r>
              <a:rPr lang="en-US" dirty="0"/>
              <a:t>=&gt;</a:t>
            </a:r>
            <a:r>
              <a:rPr lang="vi-VN" dirty="0"/>
              <a:t> Đồng thời giúp 2PC đảm bảo tính nhất quán (Atomicity)</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74</a:t>
            </a:fld>
            <a:endParaRPr lang="en-US"/>
          </a:p>
        </p:txBody>
      </p:sp>
    </p:spTree>
    <p:extLst>
      <p:ext uri="{BB962C8B-B14F-4D97-AF65-F5344CB8AC3E}">
        <p14:creationId xmlns:p14="http://schemas.microsoft.com/office/powerpoint/2010/main" val="25731321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2PC – Failing participant (Alternative)</a:t>
            </a:r>
          </a:p>
          <a:p>
            <a:r>
              <a:rPr lang="vi-VN" dirty="0"/>
              <a:t>Slide này mô tả </a:t>
            </a:r>
            <a:r>
              <a:rPr lang="vi-VN" b="1" dirty="0"/>
              <a:t>một cơ chế thay thế</a:t>
            </a:r>
            <a:r>
              <a:rPr lang="vi-VN" dirty="0"/>
              <a:t> để xử lý trường hợp </a:t>
            </a:r>
            <a:r>
              <a:rPr lang="vi-VN" b="1" dirty="0"/>
              <a:t>participant bị crash khi đang ở trạng thái READY</a:t>
            </a:r>
            <a:r>
              <a:rPr lang="vi-VN" dirty="0"/>
              <a:t>, mà </a:t>
            </a:r>
            <a:r>
              <a:rPr lang="vi-VN" b="1" dirty="0"/>
              <a:t>không cần phải log decision của coordinator</a:t>
            </a:r>
            <a:r>
              <a:rPr lang="vi-VN" dirty="0"/>
              <a:t>.</a:t>
            </a:r>
          </a:p>
          <a:p>
            <a:r>
              <a:rPr lang="vi-VN" dirty="0"/>
              <a:t>Ý tưởng chính:</a:t>
            </a:r>
          </a:p>
          <a:p>
            <a:r>
              <a:rPr lang="vi-VN" b="1" dirty="0"/>
              <a:t>Khi participant P hồi phục và thấy mình đang ở trạng thái READY, nó có thể hỏi các participant khác để suy luận quyết định cuối cùng.</a:t>
            </a:r>
            <a:endParaRPr lang="vi-VN" dirty="0"/>
          </a:p>
          <a:p>
            <a:r>
              <a:rPr lang="vi-VN" dirty="0"/>
              <a:t>Điều này giúp tránh phải dựa 100% vào coordinator.</a:t>
            </a:r>
          </a:p>
          <a:p>
            <a:endParaRPr lang="en-US" b="1" dirty="0"/>
          </a:p>
          <a:p>
            <a:r>
              <a:rPr lang="vi-VN" b="1" dirty="0"/>
              <a:t>Cách hoạt động</a:t>
            </a:r>
          </a:p>
          <a:p>
            <a:r>
              <a:rPr lang="vi-VN" dirty="0"/>
              <a:t>Khi participant </a:t>
            </a:r>
            <a:r>
              <a:rPr lang="vi-VN" b="1" dirty="0"/>
              <a:t>P</a:t>
            </a:r>
            <a:r>
              <a:rPr lang="vi-VN" dirty="0"/>
              <a:t> recover và thấy nó đang ở </a:t>
            </a:r>
            <a:r>
              <a:rPr lang="vi-VN" b="1" dirty="0"/>
              <a:t>READY</a:t>
            </a:r>
            <a:r>
              <a:rPr lang="vi-VN" dirty="0"/>
              <a:t>, điều đó có nghĩa là:</a:t>
            </a:r>
          </a:p>
          <a:p>
            <a:pPr>
              <a:buFont typeface="Arial" panose="020B0604020202020204" pitchFamily="34" charset="0"/>
              <a:buChar char="•"/>
            </a:pPr>
            <a:r>
              <a:rPr lang="vi-VN" dirty="0"/>
              <a:t>P đã gửi </a:t>
            </a:r>
            <a:r>
              <a:rPr lang="vi-VN" b="1" dirty="0"/>
              <a:t>VOTE-COMMIT</a:t>
            </a:r>
            <a:endParaRPr lang="vi-VN" dirty="0"/>
          </a:p>
          <a:p>
            <a:pPr>
              <a:buFont typeface="Arial" panose="020B0604020202020204" pitchFamily="34" charset="0"/>
              <a:buChar char="•"/>
            </a:pPr>
            <a:r>
              <a:rPr lang="vi-VN" dirty="0"/>
              <a:t>Nhưng P chưa nhận được </a:t>
            </a:r>
            <a:r>
              <a:rPr lang="vi-VN" b="1" dirty="0"/>
              <a:t>GLOBAL-COMMIT / GLOBAL-ABORT</a:t>
            </a:r>
            <a:endParaRPr lang="vi-VN" dirty="0"/>
          </a:p>
          <a:p>
            <a:r>
              <a:rPr lang="vi-VN" dirty="0"/>
              <a:t>→ Bây giờ P cần biết quyết định cuối cùng.</a:t>
            </a:r>
          </a:p>
          <a:p>
            <a:r>
              <a:rPr lang="vi-VN" dirty="0"/>
              <a:t>Vì coordinator có thể đã crash, P thử hỏi những participant khác.</a:t>
            </a:r>
          </a:p>
          <a:p>
            <a:endParaRPr lang="en-US" b="1" dirty="0"/>
          </a:p>
          <a:p>
            <a:r>
              <a:rPr lang="vi-VN" b="1" dirty="0"/>
              <a:t>Recovering participant P contacts another participant Q</a:t>
            </a:r>
          </a:p>
          <a:p>
            <a:r>
              <a:rPr lang="vi-VN" dirty="0"/>
              <a:t>Bảng dưới đây mô tả </a:t>
            </a:r>
            <a:r>
              <a:rPr lang="vi-VN" b="1" dirty="0"/>
              <a:t>P nên làm gì tùy thuộc vào trạng thái của Q</a:t>
            </a:r>
            <a:r>
              <a:rPr lang="vi-VN" dirty="0"/>
              <a:t>:</a:t>
            </a:r>
          </a:p>
          <a:p>
            <a:r>
              <a:rPr lang="vi-VN" b="1" dirty="0"/>
              <a:t>State of QAction by PCOMMIT</a:t>
            </a:r>
            <a:r>
              <a:rPr lang="vi-VN" dirty="0"/>
              <a:t>→ P chuyển sang COMMIT</a:t>
            </a:r>
            <a:r>
              <a:rPr lang="vi-VN" b="1" dirty="0"/>
              <a:t>ABORT</a:t>
            </a:r>
            <a:r>
              <a:rPr lang="vi-VN" dirty="0"/>
              <a:t>→ P chuyển sang ABORT</a:t>
            </a:r>
            <a:r>
              <a:rPr lang="vi-VN" b="1" dirty="0"/>
              <a:t>INIT</a:t>
            </a:r>
            <a:r>
              <a:rPr lang="vi-VN" dirty="0"/>
              <a:t>→ P chuyển sang ABORT (vì Q chưa vote, nên không thể commit)</a:t>
            </a:r>
            <a:r>
              <a:rPr lang="vi-VN" b="1" dirty="0"/>
              <a:t>READY</a:t>
            </a:r>
            <a:r>
              <a:rPr lang="vi-VN" dirty="0"/>
              <a:t>→ P hỏi participant khác (vì Q cũng chưa biết)</a:t>
            </a:r>
          </a:p>
          <a:p>
            <a:r>
              <a:rPr lang="vi-VN" dirty="0"/>
              <a:t>Giải thích:</a:t>
            </a:r>
          </a:p>
          <a:p>
            <a:r>
              <a:rPr lang="en-US" b="1" dirty="0"/>
              <a:t>-</a:t>
            </a:r>
            <a:r>
              <a:rPr lang="vi-VN" b="1" dirty="0"/>
              <a:t> Nếu Q = COMMIT</a:t>
            </a:r>
          </a:p>
          <a:p>
            <a:r>
              <a:rPr lang="en-US" dirty="0"/>
              <a:t>=&gt;</a:t>
            </a:r>
            <a:r>
              <a:rPr lang="vi-VN" dirty="0"/>
              <a:t> Coordinator chắc chắn đã gửi GLOBAL-COMMIT → P commit theo.</a:t>
            </a:r>
          </a:p>
          <a:p>
            <a:r>
              <a:rPr lang="en-US" b="1" dirty="0"/>
              <a:t>-</a:t>
            </a:r>
            <a:r>
              <a:rPr lang="vi-VN" b="1" dirty="0"/>
              <a:t> Nếu Q = ABORT</a:t>
            </a:r>
          </a:p>
          <a:p>
            <a:r>
              <a:rPr lang="en-US" dirty="0"/>
              <a:t>=&gt;</a:t>
            </a:r>
            <a:r>
              <a:rPr lang="vi-VN" dirty="0"/>
              <a:t> Một participant abort → toàn hệ thống phải abort → P abort theo.</a:t>
            </a:r>
          </a:p>
          <a:p>
            <a:r>
              <a:rPr lang="en-US" b="1" dirty="0"/>
              <a:t>-</a:t>
            </a:r>
            <a:r>
              <a:rPr lang="vi-VN" b="1" dirty="0"/>
              <a:t> Nếu Q = INIT</a:t>
            </a:r>
          </a:p>
          <a:p>
            <a:r>
              <a:rPr lang="en-US" dirty="0"/>
              <a:t>=&gt;</a:t>
            </a:r>
            <a:r>
              <a:rPr lang="vi-VN" dirty="0"/>
              <a:t> Q chưa nhận Vote-request → vote của Q chắc chắn là abort</a:t>
            </a:r>
            <a:br>
              <a:rPr lang="vi-VN" dirty="0"/>
            </a:br>
            <a:r>
              <a:rPr lang="en-US" dirty="0"/>
              <a:t>=&gt;</a:t>
            </a:r>
            <a:r>
              <a:rPr lang="vi-VN" dirty="0"/>
              <a:t> Vậy kết luận là transaction phải ABORT</a:t>
            </a:r>
            <a:br>
              <a:rPr lang="vi-VN" dirty="0"/>
            </a:br>
            <a:r>
              <a:rPr lang="en-US" dirty="0"/>
              <a:t>=&gt;</a:t>
            </a:r>
            <a:r>
              <a:rPr lang="vi-VN" dirty="0"/>
              <a:t> P abort theo.</a:t>
            </a:r>
          </a:p>
          <a:p>
            <a:r>
              <a:rPr lang="en-US" b="1" dirty="0"/>
              <a:t>-</a:t>
            </a:r>
            <a:r>
              <a:rPr lang="vi-VN" b="1" dirty="0"/>
              <a:t> Nếu Q = READY</a:t>
            </a:r>
          </a:p>
          <a:p>
            <a:r>
              <a:rPr lang="en-US" dirty="0"/>
              <a:t>=&gt;</a:t>
            </a:r>
            <a:r>
              <a:rPr lang="vi-VN" dirty="0"/>
              <a:t> Q cũng đang chờ quyết định</a:t>
            </a:r>
            <a:br>
              <a:rPr lang="vi-VN" dirty="0"/>
            </a:br>
            <a:r>
              <a:rPr lang="en-US" dirty="0"/>
              <a:t>=&gt;</a:t>
            </a:r>
            <a:r>
              <a:rPr lang="vi-VN" dirty="0"/>
              <a:t> Không thể suy ra quyết định cuối cùng</a:t>
            </a:r>
            <a:br>
              <a:rPr lang="vi-VN" dirty="0"/>
            </a:br>
            <a:r>
              <a:rPr lang="en-US" dirty="0"/>
              <a:t>=&gt;</a:t>
            </a:r>
            <a:r>
              <a:rPr lang="vi-VN" dirty="0"/>
              <a:t> P phải tiếp tục hỏi các participant khác.</a:t>
            </a:r>
          </a:p>
          <a:p>
            <a:endParaRPr lang="en-US" b="1" dirty="0"/>
          </a:p>
          <a:p>
            <a:r>
              <a:rPr lang="vi-VN" b="1" dirty="0"/>
              <a:t>Result – Kết quả quan trọng</a:t>
            </a:r>
          </a:p>
          <a:p>
            <a:r>
              <a:rPr lang="vi-VN" b="1" dirty="0"/>
              <a:t>Nếu tất cả participant đều ở READY → giao thức bị block.</a:t>
            </a:r>
            <a:endParaRPr lang="vi-VN" dirty="0"/>
          </a:p>
          <a:p>
            <a:r>
              <a:rPr lang="vi-VN" dirty="0"/>
              <a:t>Đây là điểm mấu chốt.</a:t>
            </a:r>
          </a:p>
          <a:p>
            <a:r>
              <a:rPr lang="vi-VN" dirty="0"/>
              <a:t>Tại sao?</a:t>
            </a:r>
          </a:p>
          <a:p>
            <a:pPr>
              <a:buFont typeface="Arial" panose="020B0604020202020204" pitchFamily="34" charset="0"/>
              <a:buChar char="•"/>
            </a:pPr>
            <a:r>
              <a:rPr lang="vi-VN" dirty="0"/>
              <a:t>Mỗi participant đang ở READY chỉ biết rằng “tôi vote commit”.</a:t>
            </a:r>
          </a:p>
          <a:p>
            <a:pPr>
              <a:buFont typeface="Arial" panose="020B0604020202020204" pitchFamily="34" charset="0"/>
              <a:buChar char="•"/>
            </a:pPr>
            <a:r>
              <a:rPr lang="vi-VN" dirty="0"/>
              <a:t>Không ai biết coordinator gửi GLOBAL-COMMIT hay GLOBAL-ABORT.</a:t>
            </a:r>
          </a:p>
          <a:p>
            <a:pPr>
              <a:buFont typeface="Arial" panose="020B0604020202020204" pitchFamily="34" charset="0"/>
              <a:buChar char="•"/>
            </a:pPr>
            <a:r>
              <a:rPr lang="vi-VN" dirty="0"/>
              <a:t>Không ai quyết định được.</a:t>
            </a:r>
          </a:p>
          <a:p>
            <a:pPr>
              <a:buFont typeface="Arial" panose="020B0604020202020204" pitchFamily="34" charset="0"/>
              <a:buChar char="•"/>
            </a:pPr>
            <a:r>
              <a:rPr lang="vi-VN" dirty="0"/>
              <a:t>Không ai có thông tin tiến triển.</a:t>
            </a:r>
          </a:p>
          <a:p>
            <a:r>
              <a:rPr lang="vi-VN" dirty="0"/>
              <a:t>➡ </a:t>
            </a:r>
            <a:r>
              <a:rPr lang="vi-VN" b="1" dirty="0"/>
              <a:t>Hệ thống bị block (bế tắc).</a:t>
            </a:r>
            <a:endParaRPr lang="vi-VN" dirty="0"/>
          </a:p>
          <a:p>
            <a:r>
              <a:rPr lang="vi-VN" dirty="0"/>
              <a:t>kết luận:</a:t>
            </a:r>
          </a:p>
          <a:p>
            <a:r>
              <a:rPr lang="vi-VN" b="1" dirty="0"/>
              <a:t>Coordinator hẳn là đã crash.</a:t>
            </a:r>
            <a:br>
              <a:rPr lang="vi-VN" b="1" dirty="0"/>
            </a:br>
            <a:r>
              <a:rPr lang="vi-VN" b="1" dirty="0"/>
              <a:t>Và giao thức 2PC </a:t>
            </a:r>
            <a:r>
              <a:rPr lang="vi-VN" b="1" i="1" dirty="0"/>
              <a:t>bắt buộc</a:t>
            </a:r>
            <a:r>
              <a:rPr lang="vi-VN" b="1" dirty="0"/>
              <a:t> phải có quyết định từ coordinator.</a:t>
            </a:r>
            <a:endParaRPr lang="vi-VN" dirty="0"/>
          </a:p>
          <a:p>
            <a:r>
              <a:rPr lang="en-US" dirty="0"/>
              <a:t>* </a:t>
            </a:r>
            <a:r>
              <a:rPr lang="vi-VN" dirty="0"/>
              <a:t>Đây chính là </a:t>
            </a:r>
            <a:r>
              <a:rPr lang="vi-VN" b="1" dirty="0"/>
              <a:t>điểm yếu nhất và nổi tiếng nhất của 2PC</a:t>
            </a:r>
            <a:r>
              <a:rPr lang="vi-VN" dirty="0"/>
              <a:t>:</a:t>
            </a:r>
          </a:p>
          <a:p>
            <a:r>
              <a:rPr lang="en-US" b="1" dirty="0"/>
              <a:t>=&gt;</a:t>
            </a:r>
            <a:r>
              <a:rPr lang="vi-VN" b="1" dirty="0"/>
              <a:t> 2PC là một blocking protocol</a:t>
            </a:r>
          </a:p>
          <a:p>
            <a:r>
              <a:rPr lang="vi-VN" dirty="0"/>
              <a:t>Participant không thể tự quyết nếu tất cả đều READY.</a:t>
            </a:r>
          </a:p>
          <a:p>
            <a:endParaRPr lang="en-US" b="1" dirty="0"/>
          </a:p>
          <a:p>
            <a:r>
              <a:rPr lang="en-US" b="1" dirty="0"/>
              <a:t>*** </a:t>
            </a:r>
            <a:r>
              <a:rPr lang="vi-VN" b="1" dirty="0"/>
              <a:t>Ý nghĩa thực tế</a:t>
            </a:r>
          </a:p>
          <a:p>
            <a:pPr>
              <a:buFont typeface="Arial" panose="020B0604020202020204" pitchFamily="34" charset="0"/>
              <a:buChar char="•"/>
            </a:pPr>
            <a:r>
              <a:rPr lang="vi-VN" dirty="0"/>
              <a:t>Đây là lý do 2PC không phù hợp cho hệ thống phân tán quy mô lớn.</a:t>
            </a:r>
          </a:p>
          <a:p>
            <a:pPr>
              <a:buFont typeface="Arial" panose="020B0604020202020204" pitchFamily="34" charset="0"/>
              <a:buChar char="•"/>
            </a:pPr>
            <a:r>
              <a:rPr lang="vi-VN" dirty="0"/>
              <a:t>Là nền tảng để hiểu vì sao người ta cần:</a:t>
            </a:r>
          </a:p>
          <a:p>
            <a:pPr marL="742950" lvl="1" indent="-285750">
              <a:buFont typeface="Arial" panose="020B0604020202020204" pitchFamily="34" charset="0"/>
              <a:buChar char="•"/>
            </a:pPr>
            <a:r>
              <a:rPr lang="vi-VN" b="1" dirty="0"/>
              <a:t>3PC (Three-Phase Commit)</a:t>
            </a:r>
            <a:endParaRPr lang="vi-VN" dirty="0"/>
          </a:p>
          <a:p>
            <a:pPr marL="742950" lvl="1" indent="-285750">
              <a:buFont typeface="Arial" panose="020B0604020202020204" pitchFamily="34" charset="0"/>
              <a:buChar char="•"/>
            </a:pPr>
            <a:r>
              <a:rPr lang="vi-VN" b="1" dirty="0"/>
              <a:t>Paxos Commit / Raft / Viewstamped Replication</a:t>
            </a:r>
            <a:endParaRPr lang="vi-VN" dirty="0"/>
          </a:p>
          <a:p>
            <a:pPr marL="742950" lvl="1" indent="-285750">
              <a:buFont typeface="Arial" panose="020B0604020202020204" pitchFamily="34" charset="0"/>
              <a:buChar char="•"/>
            </a:pPr>
            <a:r>
              <a:rPr lang="vi-VN" dirty="0"/>
              <a:t>Các giao thức consensus mạnh hơn.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75</a:t>
            </a:fld>
            <a:endParaRPr lang="en-US"/>
          </a:p>
        </p:txBody>
      </p:sp>
    </p:spTree>
    <p:extLst>
      <p:ext uri="{BB962C8B-B14F-4D97-AF65-F5344CB8AC3E}">
        <p14:creationId xmlns:p14="http://schemas.microsoft.com/office/powerpoint/2010/main" val="33023743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2PC – Failing coordinator</a:t>
            </a:r>
          </a:p>
          <a:p>
            <a:r>
              <a:rPr lang="vi-VN" dirty="0"/>
              <a:t>Slide này phân tích vấn đề nghiêm trọng nhất của giao thức </a:t>
            </a:r>
            <a:r>
              <a:rPr lang="vi-VN" b="1" dirty="0"/>
              <a:t>Two-Phase Commit (2PC)</a:t>
            </a:r>
            <a:r>
              <a:rPr lang="vi-VN" dirty="0"/>
              <a:t>:</a:t>
            </a:r>
            <a:br>
              <a:rPr lang="vi-VN" dirty="0"/>
            </a:br>
            <a:r>
              <a:rPr lang="en-US" dirty="0"/>
              <a:t>=&gt;</a:t>
            </a:r>
            <a:r>
              <a:rPr lang="vi-VN" dirty="0"/>
              <a:t> </a:t>
            </a:r>
            <a:r>
              <a:rPr lang="vi-VN" b="1" dirty="0"/>
              <a:t>Khi coordinator bị crash, toàn bộ protocol có nguy cơ bị block</a:t>
            </a:r>
            <a:r>
              <a:rPr lang="vi-VN" dirty="0"/>
              <a:t>.</a:t>
            </a:r>
          </a:p>
          <a:p>
            <a:endParaRPr lang="en-US" b="1" dirty="0"/>
          </a:p>
          <a:p>
            <a:r>
              <a:rPr lang="vi-VN" b="1" dirty="0"/>
              <a:t>Observation 1 – Vấn đề cốt lõi</a:t>
            </a:r>
          </a:p>
          <a:p>
            <a:r>
              <a:rPr lang="vi-VN" i="1" dirty="0"/>
              <a:t>“The real problem lies in the fact that the coordinator’s final decision may not be available for some time (or actually lost).”</a:t>
            </a:r>
            <a:endParaRPr lang="vi-VN" dirty="0"/>
          </a:p>
          <a:p>
            <a:r>
              <a:rPr lang="vi-VN" dirty="0"/>
              <a:t>Ý nghĩa:</a:t>
            </a:r>
          </a:p>
          <a:p>
            <a:pPr>
              <a:buFont typeface="Arial" panose="020B0604020202020204" pitchFamily="34" charset="0"/>
              <a:buChar char="•"/>
            </a:pPr>
            <a:r>
              <a:rPr lang="vi-VN" dirty="0"/>
              <a:t>Coordinator là tác nhân DUY NHẤT có quyền quyết định </a:t>
            </a:r>
            <a:r>
              <a:rPr lang="vi-VN" b="1" dirty="0"/>
              <a:t>GLOBAL-COMMIT</a:t>
            </a:r>
            <a:r>
              <a:rPr lang="vi-VN" dirty="0"/>
              <a:t> hoặc </a:t>
            </a:r>
            <a:r>
              <a:rPr lang="vi-VN" b="1" dirty="0"/>
              <a:t>GLOBAL-ABORT</a:t>
            </a:r>
            <a:r>
              <a:rPr lang="vi-VN" dirty="0"/>
              <a:t>.</a:t>
            </a:r>
          </a:p>
          <a:p>
            <a:pPr>
              <a:buFont typeface="Arial" panose="020B0604020202020204" pitchFamily="34" charset="0"/>
              <a:buChar char="•"/>
            </a:pPr>
            <a:r>
              <a:rPr lang="vi-VN" dirty="0"/>
              <a:t>Nếu coordinator bị crash hoặc mất kết nối:</a:t>
            </a:r>
          </a:p>
          <a:p>
            <a:pPr marL="742950" lvl="1" indent="-285750">
              <a:buFont typeface="Arial" panose="020B0604020202020204" pitchFamily="34" charset="0"/>
              <a:buChar char="•"/>
            </a:pPr>
            <a:r>
              <a:rPr lang="vi-VN" dirty="0"/>
              <a:t>Các participant </a:t>
            </a:r>
            <a:r>
              <a:rPr lang="vi-VN" b="1" dirty="0"/>
              <a:t>ở trạng thái READY</a:t>
            </a:r>
            <a:r>
              <a:rPr lang="vi-VN" dirty="0"/>
              <a:t> sẽ không biết được quyết định cuối cùng.</a:t>
            </a:r>
          </a:p>
          <a:p>
            <a:pPr marL="742950" lvl="1" indent="-285750">
              <a:buFont typeface="Arial" panose="020B0604020202020204" pitchFamily="34" charset="0"/>
              <a:buChar char="•"/>
            </a:pPr>
            <a:r>
              <a:rPr lang="vi-VN" dirty="0"/>
              <a:t>Quyết định có thể </a:t>
            </a:r>
            <a:r>
              <a:rPr lang="vi-VN" b="1" dirty="0"/>
              <a:t>trễ rất lâu</a:t>
            </a:r>
            <a:r>
              <a:rPr lang="vi-VN" dirty="0"/>
              <a:t> hoặc </a:t>
            </a:r>
            <a:r>
              <a:rPr lang="vi-VN" b="1" dirty="0"/>
              <a:t>mất vĩnh viễn</a:t>
            </a:r>
            <a:r>
              <a:rPr lang="vi-VN" dirty="0"/>
              <a:t> nếu coordinator chết hẳn.</a:t>
            </a:r>
          </a:p>
          <a:p>
            <a:r>
              <a:rPr lang="en-US" dirty="0"/>
              <a:t>* </a:t>
            </a:r>
            <a:r>
              <a:rPr lang="vi-VN" b="1" dirty="0"/>
              <a:t>Kết luận:</a:t>
            </a:r>
            <a:r>
              <a:rPr lang="vi-VN" dirty="0"/>
              <a:t> Nếu coordinator không gửi được quyết định → hệ thống không thể tiến triển → </a:t>
            </a:r>
            <a:r>
              <a:rPr lang="vi-VN" b="1" dirty="0"/>
              <a:t>2PC bị block</a:t>
            </a:r>
            <a:r>
              <a:rPr lang="vi-VN" dirty="0"/>
              <a:t>.</a:t>
            </a:r>
          </a:p>
          <a:p>
            <a:endParaRPr lang="en-US" b="1" dirty="0"/>
          </a:p>
          <a:p>
            <a:r>
              <a:rPr lang="vi-VN" b="1" dirty="0"/>
              <a:t>Alternative – Giải pháp thay thế</a:t>
            </a:r>
          </a:p>
          <a:p>
            <a:r>
              <a:rPr lang="vi-VN" dirty="0"/>
              <a:t>Slide nhắc lại giải pháp slide trước:</a:t>
            </a:r>
          </a:p>
          <a:p>
            <a:r>
              <a:rPr lang="vi-VN" i="1" dirty="0"/>
              <a:t>Cho phép một participant P trong READY chờ timeout → sau đó hỏi các participant khác.</a:t>
            </a:r>
            <a:endParaRPr lang="vi-VN" dirty="0"/>
          </a:p>
          <a:p>
            <a:r>
              <a:rPr lang="vi-VN" dirty="0"/>
              <a:t>Cơ chế:</a:t>
            </a:r>
          </a:p>
          <a:p>
            <a:pPr>
              <a:buFont typeface="+mj-lt"/>
              <a:buAutoNum type="arabicPeriod"/>
            </a:pPr>
            <a:r>
              <a:rPr lang="vi-VN" dirty="0"/>
              <a:t>P đang READY và không nhận được GLOBAL-DECISION.</a:t>
            </a:r>
          </a:p>
          <a:p>
            <a:pPr>
              <a:buFont typeface="+mj-lt"/>
              <a:buAutoNum type="arabicPeriod"/>
            </a:pPr>
            <a:r>
              <a:rPr lang="vi-VN" dirty="0"/>
              <a:t>P timeout.</a:t>
            </a:r>
          </a:p>
          <a:p>
            <a:pPr>
              <a:buFont typeface="+mj-lt"/>
              <a:buAutoNum type="arabicPeriod"/>
            </a:pPr>
            <a:r>
              <a:rPr lang="vi-VN" dirty="0"/>
              <a:t>P hỏi các participant khác về:</a:t>
            </a:r>
          </a:p>
          <a:p>
            <a:pPr marL="457200" lvl="1" indent="0">
              <a:buFont typeface="+mj-lt"/>
              <a:buNone/>
            </a:pPr>
            <a:r>
              <a:rPr lang="en-US" dirty="0"/>
              <a:t>a. </a:t>
            </a:r>
            <a:r>
              <a:rPr lang="vi-VN" dirty="0"/>
              <a:t>Họ commit?</a:t>
            </a:r>
          </a:p>
          <a:p>
            <a:pPr marL="457200" lvl="1" indent="0">
              <a:buFont typeface="+mj-lt"/>
              <a:buNone/>
            </a:pPr>
            <a:r>
              <a:rPr lang="en-US" dirty="0"/>
              <a:t>b. </a:t>
            </a:r>
            <a:r>
              <a:rPr lang="vi-VN" dirty="0"/>
              <a:t>Họ abort?</a:t>
            </a:r>
          </a:p>
          <a:p>
            <a:pPr marL="457200" lvl="1" indent="0">
              <a:buFont typeface="+mj-lt"/>
              <a:buNone/>
            </a:pPr>
            <a:r>
              <a:rPr lang="en-US" dirty="0"/>
              <a:t>c. </a:t>
            </a:r>
            <a:r>
              <a:rPr lang="vi-VN" dirty="0"/>
              <a:t>Họ còn READY?</a:t>
            </a:r>
          </a:p>
          <a:p>
            <a:r>
              <a:rPr lang="en-US" dirty="0"/>
              <a:t>=&gt;</a:t>
            </a:r>
            <a:r>
              <a:rPr lang="vi-VN" dirty="0"/>
              <a:t> Nếu ai đó biết kết quả → P đi theo kết quả đó.</a:t>
            </a:r>
            <a:br>
              <a:rPr lang="vi-VN" dirty="0"/>
            </a:br>
            <a:r>
              <a:rPr lang="en-US" dirty="0"/>
              <a:t>=&gt;</a:t>
            </a:r>
            <a:r>
              <a:rPr lang="vi-VN" dirty="0"/>
              <a:t> Nếu tất cả đều READY → </a:t>
            </a:r>
            <a:r>
              <a:rPr lang="vi-VN" b="1" dirty="0"/>
              <a:t>bế tắc</a:t>
            </a:r>
            <a:r>
              <a:rPr lang="vi-VN" dirty="0"/>
              <a:t>.</a:t>
            </a:r>
          </a:p>
          <a:p>
            <a:endParaRPr lang="en-US" b="1" dirty="0"/>
          </a:p>
          <a:p>
            <a:r>
              <a:rPr lang="vi-VN" b="1" dirty="0"/>
              <a:t>Observation 2 – Lý do vấn đề không thể giải quyết</a:t>
            </a:r>
          </a:p>
          <a:p>
            <a:r>
              <a:rPr lang="vi-VN" i="1" dirty="0"/>
              <a:t>“Essence of the problem is that a recovering participant cannot make a local decision: it is dependent on other (possibly failed) processes.”</a:t>
            </a:r>
            <a:endParaRPr lang="vi-VN" dirty="0"/>
          </a:p>
          <a:p>
            <a:r>
              <a:rPr lang="vi-VN" dirty="0"/>
              <a:t>Nội dung sâu sắc:</a:t>
            </a:r>
          </a:p>
          <a:p>
            <a:pPr>
              <a:buFont typeface="Arial" panose="020B0604020202020204" pitchFamily="34" charset="0"/>
              <a:buChar char="•"/>
            </a:pPr>
            <a:r>
              <a:rPr lang="vi-VN" dirty="0"/>
              <a:t>Participant </a:t>
            </a:r>
            <a:r>
              <a:rPr lang="vi-VN" b="1" dirty="0"/>
              <a:t>không thể tự quyết định commit/abort</a:t>
            </a:r>
            <a:r>
              <a:rPr lang="vi-VN" dirty="0"/>
              <a:t>.</a:t>
            </a:r>
          </a:p>
          <a:p>
            <a:pPr>
              <a:buFont typeface="Arial" panose="020B0604020202020204" pitchFamily="34" charset="0"/>
              <a:buChar char="•"/>
            </a:pPr>
            <a:r>
              <a:rPr lang="vi-VN" dirty="0"/>
              <a:t>Nó </a:t>
            </a:r>
            <a:r>
              <a:rPr lang="vi-VN" b="1" dirty="0"/>
              <a:t>phụ thuộc vào coordinator</a:t>
            </a:r>
            <a:r>
              <a:rPr lang="vi-VN" dirty="0"/>
              <a:t>, hoặc phụ thuộc vào các participant khác.</a:t>
            </a:r>
          </a:p>
          <a:p>
            <a:pPr>
              <a:buFont typeface="Arial" panose="020B0604020202020204" pitchFamily="34" charset="0"/>
              <a:buChar char="•"/>
            </a:pPr>
            <a:r>
              <a:rPr lang="vi-VN" dirty="0"/>
              <a:t>Nhưng các participant kia </a:t>
            </a:r>
            <a:r>
              <a:rPr lang="vi-VN" b="1" dirty="0"/>
              <a:t>cũng có thể đã crash</a:t>
            </a:r>
            <a:r>
              <a:rPr lang="vi-VN" dirty="0"/>
              <a:t>, hoặc không biết quyết định cuối cùng.</a:t>
            </a:r>
          </a:p>
          <a:p>
            <a:r>
              <a:rPr lang="en-US" dirty="0"/>
              <a:t>* </a:t>
            </a:r>
            <a:r>
              <a:rPr lang="vi-VN" dirty="0"/>
              <a:t>Vì vậy:</a:t>
            </a:r>
          </a:p>
          <a:p>
            <a:r>
              <a:rPr lang="en-US" b="1" dirty="0"/>
              <a:t>- </a:t>
            </a:r>
            <a:r>
              <a:rPr lang="vi-VN" b="1" dirty="0"/>
              <a:t>Participant không thể commit một mình</a:t>
            </a:r>
          </a:p>
          <a:p>
            <a:r>
              <a:rPr lang="en-US" b="1" dirty="0"/>
              <a:t>- </a:t>
            </a:r>
            <a:r>
              <a:rPr lang="vi-VN" b="1" dirty="0"/>
              <a:t>Participant không thể abort một mình</a:t>
            </a:r>
          </a:p>
          <a:p>
            <a:r>
              <a:rPr lang="en-US" b="1" dirty="0"/>
              <a:t>- </a:t>
            </a:r>
            <a:r>
              <a:rPr lang="vi-VN" b="1" dirty="0"/>
              <a:t>Participant phải dựa vào thông tin bên ngoài</a:t>
            </a:r>
          </a:p>
          <a:p>
            <a:r>
              <a:rPr lang="en-US" b="1" dirty="0"/>
              <a:t>- </a:t>
            </a:r>
            <a:r>
              <a:rPr lang="vi-VN" b="1" dirty="0"/>
              <a:t>Nếu tất cả đều READY → không ai biết → protocol bị BLOCKED</a:t>
            </a:r>
          </a:p>
          <a:p>
            <a:endParaRPr lang="en-US" b="1" dirty="0"/>
          </a:p>
          <a:p>
            <a:r>
              <a:rPr lang="en-US" b="1" dirty="0"/>
              <a:t>*** </a:t>
            </a:r>
            <a:r>
              <a:rPr lang="vi-VN" b="1" dirty="0"/>
              <a:t>Kết luận quan trọng về 2PC</a:t>
            </a:r>
          </a:p>
          <a:p>
            <a:r>
              <a:rPr lang="vi-VN" b="1" dirty="0"/>
              <a:t>2PC là một blocking protocol</a:t>
            </a:r>
          </a:p>
          <a:p>
            <a:r>
              <a:rPr lang="vi-VN" dirty="0"/>
              <a:t>Khi coordinator fail, participant trong READY không thể tự đưa ra quyết định.</a:t>
            </a:r>
          </a:p>
          <a:p>
            <a:r>
              <a:rPr lang="vi-VN" dirty="0"/>
              <a:t>Tại sao?</a:t>
            </a:r>
          </a:p>
          <a:p>
            <a:pPr>
              <a:buFont typeface="Arial" panose="020B0604020202020204" pitchFamily="34" charset="0"/>
              <a:buChar char="•"/>
            </a:pPr>
            <a:r>
              <a:rPr lang="vi-VN" dirty="0"/>
              <a:t>READY = đã vote commit → không thể tự ý abort</a:t>
            </a:r>
          </a:p>
          <a:p>
            <a:pPr>
              <a:buFont typeface="Arial" panose="020B0604020202020204" pitchFamily="34" charset="0"/>
              <a:buChar char="•"/>
            </a:pPr>
            <a:r>
              <a:rPr lang="vi-VN" dirty="0"/>
              <a:t>READY ≠ commit → vì commit cần GLOBAL-COMMIT</a:t>
            </a:r>
          </a:p>
          <a:p>
            <a:pPr>
              <a:buFont typeface="Arial" panose="020B0604020202020204" pitchFamily="34" charset="0"/>
              <a:buChar char="•"/>
            </a:pPr>
            <a:r>
              <a:rPr lang="vi-VN" dirty="0"/>
              <a:t>READY cần </a:t>
            </a:r>
            <a:r>
              <a:rPr lang="vi-VN" b="1" dirty="0"/>
              <a:t>coordinator</a:t>
            </a:r>
            <a:r>
              <a:rPr lang="vi-VN" dirty="0"/>
              <a:t> hoặc </a:t>
            </a:r>
            <a:r>
              <a:rPr lang="vi-VN" b="1" dirty="0"/>
              <a:t>participant có thông tin</a:t>
            </a:r>
            <a:endParaRPr lang="vi-VN" dirty="0"/>
          </a:p>
          <a:p>
            <a:pPr>
              <a:buFont typeface="Arial" panose="020B0604020202020204" pitchFamily="34" charset="0"/>
              <a:buChar char="•"/>
            </a:pPr>
            <a:r>
              <a:rPr lang="vi-VN" dirty="0"/>
              <a:t>Nếu thông tin không tồn tại hoặc bị mất → 2PC dừng vĩnh viễn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76</a:t>
            </a:fld>
            <a:endParaRPr lang="en-US"/>
          </a:p>
        </p:txBody>
      </p:sp>
    </p:spTree>
    <p:extLst>
      <p:ext uri="{BB962C8B-B14F-4D97-AF65-F5344CB8AC3E}">
        <p14:creationId xmlns:p14="http://schemas.microsoft.com/office/powerpoint/2010/main" val="25697602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Recovery: Background</a:t>
            </a:r>
          </a:p>
          <a:p>
            <a:r>
              <a:rPr lang="vi-VN" dirty="0"/>
              <a:t>Slide này giới thiệu </a:t>
            </a:r>
            <a:r>
              <a:rPr lang="vi-VN" b="1" dirty="0"/>
              <a:t>khái niệm khôi phục hệ thống (recovery)</a:t>
            </a:r>
            <a:r>
              <a:rPr lang="vi-VN" dirty="0"/>
              <a:t> sau khi xảy ra lỗi trong hệ phân tán.</a:t>
            </a:r>
          </a:p>
          <a:p>
            <a:endParaRPr lang="en-US" b="1" dirty="0"/>
          </a:p>
          <a:p>
            <a:r>
              <a:rPr lang="vi-VN" b="1" dirty="0"/>
              <a:t>Essence – Bản chất của Recovery</a:t>
            </a:r>
          </a:p>
          <a:p>
            <a:r>
              <a:rPr lang="vi-VN" dirty="0"/>
              <a:t>Khi xảy ra lỗi (failure), hệ thống cần được đưa về </a:t>
            </a:r>
            <a:r>
              <a:rPr lang="vi-VN" b="1" dirty="0"/>
              <a:t>một trạng thái không lỗi (error-free state)</a:t>
            </a:r>
            <a:r>
              <a:rPr lang="vi-VN" dirty="0"/>
              <a:t>.</a:t>
            </a:r>
          </a:p>
          <a:p>
            <a:r>
              <a:rPr lang="vi-VN" dirty="0"/>
              <a:t>Có hai hướng tiếp cận chính:</a:t>
            </a:r>
          </a:p>
          <a:p>
            <a:r>
              <a:rPr lang="en-US" b="1" dirty="0"/>
              <a:t>1. </a:t>
            </a:r>
            <a:r>
              <a:rPr lang="vi-VN" b="1" dirty="0"/>
              <a:t>Forward error recovery</a:t>
            </a:r>
          </a:p>
          <a:p>
            <a:r>
              <a:rPr lang="vi-VN" i="1" dirty="0"/>
              <a:t>Find a new state from which the system can continue operation.</a:t>
            </a:r>
            <a:endParaRPr lang="vi-VN" dirty="0"/>
          </a:p>
          <a:p>
            <a:pPr>
              <a:buFont typeface="Arial" panose="020B0604020202020204" pitchFamily="34" charset="0"/>
              <a:buChar char="•"/>
            </a:pPr>
            <a:r>
              <a:rPr lang="vi-VN" dirty="0"/>
              <a:t>Hệ thống </a:t>
            </a:r>
            <a:r>
              <a:rPr lang="vi-VN" i="1" dirty="0"/>
              <a:t>không quay lại quá khứ</a:t>
            </a:r>
            <a:r>
              <a:rPr lang="vi-VN" dirty="0"/>
              <a:t>, mà cố tìm một </a:t>
            </a:r>
            <a:r>
              <a:rPr lang="vi-VN" b="1" dirty="0"/>
              <a:t>trạng thái mới an toàn</a:t>
            </a:r>
            <a:r>
              <a:rPr lang="vi-VN" dirty="0"/>
              <a:t> để tiếp tục chạy.</a:t>
            </a:r>
          </a:p>
          <a:p>
            <a:pPr>
              <a:buFont typeface="Arial" panose="020B0604020202020204" pitchFamily="34" charset="0"/>
              <a:buChar char="•"/>
            </a:pPr>
            <a:r>
              <a:rPr lang="vi-VN" dirty="0"/>
              <a:t>Thường dùng trong:</a:t>
            </a:r>
          </a:p>
          <a:p>
            <a:pPr marL="742950" lvl="1" indent="-285750">
              <a:buFont typeface="Arial" panose="020B0604020202020204" pitchFamily="34" charset="0"/>
              <a:buChar char="•"/>
            </a:pPr>
            <a:r>
              <a:rPr lang="vi-VN" dirty="0"/>
              <a:t>AI planning</a:t>
            </a:r>
          </a:p>
          <a:p>
            <a:pPr marL="742950" lvl="1" indent="-285750">
              <a:buFont typeface="Arial" panose="020B0604020202020204" pitchFamily="34" charset="0"/>
              <a:buChar char="•"/>
            </a:pPr>
            <a:r>
              <a:rPr lang="vi-VN" dirty="0"/>
              <a:t>Fault-tolerant control systems</a:t>
            </a:r>
          </a:p>
          <a:p>
            <a:pPr marL="742950" lvl="1" indent="-285750">
              <a:buFont typeface="Arial" panose="020B0604020202020204" pitchFamily="34" charset="0"/>
              <a:buChar char="•"/>
            </a:pPr>
            <a:r>
              <a:rPr lang="vi-VN" dirty="0"/>
              <a:t>Một số hệ thống tự điều chỉnh (self-healing)</a:t>
            </a:r>
          </a:p>
          <a:p>
            <a:r>
              <a:rPr lang="vi-VN" dirty="0"/>
              <a:t>Ví dụ: Một hệ thống file bị lỗi một phần, nhưng có thể tái cấu trúc metadata để vẫn tiếp tục hoạt động.</a:t>
            </a:r>
          </a:p>
          <a:p>
            <a:r>
              <a:rPr lang="en-US" b="1" dirty="0"/>
              <a:t>2. </a:t>
            </a:r>
            <a:r>
              <a:rPr lang="vi-VN" b="1" dirty="0"/>
              <a:t>Backward error recovery</a:t>
            </a:r>
          </a:p>
          <a:p>
            <a:r>
              <a:rPr lang="vi-VN" i="1" dirty="0"/>
              <a:t>Bring the system back into a previous error-free state.</a:t>
            </a:r>
            <a:endParaRPr lang="vi-VN" dirty="0"/>
          </a:p>
          <a:p>
            <a:pPr>
              <a:buFont typeface="Arial" panose="020B0604020202020204" pitchFamily="34" charset="0"/>
              <a:buChar char="•"/>
            </a:pPr>
            <a:r>
              <a:rPr lang="vi-VN" dirty="0"/>
              <a:t>Hệ thống được </a:t>
            </a:r>
            <a:r>
              <a:rPr lang="vi-VN" b="1" dirty="0"/>
              <a:t>quay trở lại trạng thái trước đó</a:t>
            </a:r>
            <a:r>
              <a:rPr lang="vi-VN" dirty="0"/>
              <a:t> khi chưa có lỗi.</a:t>
            </a:r>
          </a:p>
          <a:p>
            <a:pPr>
              <a:buFont typeface="Arial" panose="020B0604020202020204" pitchFamily="34" charset="0"/>
              <a:buChar char="•"/>
            </a:pPr>
            <a:r>
              <a:rPr lang="vi-VN" dirty="0"/>
              <a:t>Đây là cách tiếp cận </a:t>
            </a:r>
            <a:r>
              <a:rPr lang="vi-VN" b="1" dirty="0"/>
              <a:t>phổ biến nhất trong hệ phân tán</a:t>
            </a:r>
            <a:r>
              <a:rPr lang="vi-VN" dirty="0"/>
              <a:t>.</a:t>
            </a:r>
          </a:p>
          <a:p>
            <a:pPr>
              <a:buFont typeface="Arial" panose="020B0604020202020204" pitchFamily="34" charset="0"/>
              <a:buChar char="•"/>
            </a:pPr>
            <a:r>
              <a:rPr lang="vi-VN" dirty="0"/>
              <a:t>Đòi hỏi ta phải:</a:t>
            </a:r>
          </a:p>
          <a:p>
            <a:pPr marL="742950" lvl="1" indent="-285750">
              <a:buFont typeface="Arial" panose="020B0604020202020204" pitchFamily="34" charset="0"/>
              <a:buChar char="•"/>
            </a:pPr>
            <a:r>
              <a:rPr lang="vi-VN" dirty="0"/>
              <a:t>Lưu lại các </a:t>
            </a:r>
            <a:r>
              <a:rPr lang="vi-VN" b="1" dirty="0"/>
              <a:t>recovery points</a:t>
            </a:r>
            <a:r>
              <a:rPr lang="vi-VN" dirty="0"/>
              <a:t> (điểm khôi phục)</a:t>
            </a:r>
          </a:p>
          <a:p>
            <a:pPr marL="742950" lvl="1" indent="-285750">
              <a:buFont typeface="Arial" panose="020B0604020202020204" pitchFamily="34" charset="0"/>
              <a:buChar char="•"/>
            </a:pPr>
            <a:r>
              <a:rPr lang="vi-VN" dirty="0"/>
              <a:t>Có log/checkpoint để khôi phục</a:t>
            </a:r>
          </a:p>
          <a:p>
            <a:r>
              <a:rPr lang="vi-VN" dirty="0"/>
              <a:t>Ví dụ:</a:t>
            </a:r>
            <a:br>
              <a:rPr lang="vi-VN" dirty="0"/>
            </a:br>
            <a:r>
              <a:rPr lang="vi-VN" dirty="0"/>
              <a:t>Sử dụng </a:t>
            </a:r>
            <a:r>
              <a:rPr lang="vi-VN" b="1" dirty="0"/>
              <a:t>checkpoint + rollback</a:t>
            </a:r>
            <a:r>
              <a:rPr lang="vi-VN" dirty="0"/>
              <a:t> trong distributed databases, MapReduce, Spark, hoặc transaction logs.</a:t>
            </a:r>
          </a:p>
          <a:p>
            <a:endParaRPr lang="en-US" b="1" dirty="0"/>
          </a:p>
          <a:p>
            <a:r>
              <a:rPr lang="en-US" b="1" dirty="0"/>
              <a:t>** </a:t>
            </a:r>
            <a:r>
              <a:rPr lang="vi-VN" b="1" dirty="0"/>
              <a:t>Practice – Trong thực tế</a:t>
            </a:r>
          </a:p>
          <a:p>
            <a:r>
              <a:rPr lang="vi-VN" i="1" dirty="0"/>
              <a:t>Use backward error recovery, requiring recovery points.</a:t>
            </a:r>
            <a:endParaRPr lang="vi-VN" dirty="0"/>
          </a:p>
          <a:p>
            <a:r>
              <a:rPr lang="vi-VN" dirty="0"/>
              <a:t>Hầu hết hệ thống phân tán đều chọn </a:t>
            </a:r>
            <a:r>
              <a:rPr lang="vi-VN" b="1" dirty="0"/>
              <a:t>backward recovery</a:t>
            </a:r>
            <a:r>
              <a:rPr lang="vi-VN" dirty="0"/>
              <a:t> vì:</a:t>
            </a:r>
          </a:p>
          <a:p>
            <a:pPr>
              <a:buFont typeface="Arial" panose="020B0604020202020204" pitchFamily="34" charset="0"/>
              <a:buChar char="•"/>
            </a:pPr>
            <a:r>
              <a:rPr lang="vi-VN" dirty="0"/>
              <a:t>Dễ triển khai</a:t>
            </a:r>
          </a:p>
          <a:p>
            <a:pPr>
              <a:buFont typeface="Arial" panose="020B0604020202020204" pitchFamily="34" charset="0"/>
              <a:buChar char="•"/>
            </a:pPr>
            <a:r>
              <a:rPr lang="vi-VN" dirty="0"/>
              <a:t>Bảo đảm tính đúng đắn cao hơn</a:t>
            </a:r>
          </a:p>
          <a:p>
            <a:pPr>
              <a:buFont typeface="Arial" panose="020B0604020202020204" pitchFamily="34" charset="0"/>
              <a:buChar char="•"/>
            </a:pPr>
            <a:r>
              <a:rPr lang="vi-VN" dirty="0"/>
              <a:t>Cho phép rollback khi lỗi lan rộng</a:t>
            </a:r>
          </a:p>
          <a:p>
            <a:r>
              <a:rPr lang="vi-VN" dirty="0"/>
              <a:t>Vì vậy chúng ta phải xác định:</a:t>
            </a:r>
          </a:p>
          <a:p>
            <a:r>
              <a:rPr lang="en-US" b="1" dirty="0"/>
              <a:t>- </a:t>
            </a:r>
            <a:r>
              <a:rPr lang="vi-VN" b="1" dirty="0"/>
              <a:t>Recovery points</a:t>
            </a:r>
          </a:p>
          <a:p>
            <a:r>
              <a:rPr lang="vi-VN" dirty="0"/>
              <a:t>(thời điểm lưu trạng thái hệ thống để có thể quay về)</a:t>
            </a:r>
          </a:p>
          <a:p>
            <a:endParaRPr lang="en-US" b="1" dirty="0"/>
          </a:p>
          <a:p>
            <a:r>
              <a:rPr lang="en-US" b="1" dirty="0"/>
              <a:t>** </a:t>
            </a:r>
            <a:r>
              <a:rPr lang="vi-VN" b="1" dirty="0"/>
              <a:t>Observation – Nhận xét quan trọng</a:t>
            </a:r>
          </a:p>
          <a:p>
            <a:r>
              <a:rPr lang="vi-VN" i="1" dirty="0"/>
              <a:t>Recovery in distributed systems is complicated because processes must cooperate to identify a consistent state.</a:t>
            </a:r>
            <a:endParaRPr lang="vi-VN" dirty="0"/>
          </a:p>
          <a:p>
            <a:r>
              <a:rPr lang="vi-VN" dirty="0"/>
              <a:t>Đây là ý nghĩa cốt lõi:</a:t>
            </a:r>
          </a:p>
          <a:p>
            <a:r>
              <a:rPr lang="en-US" b="1" dirty="0"/>
              <a:t>- </a:t>
            </a:r>
            <a:r>
              <a:rPr lang="vi-VN" b="1" dirty="0"/>
              <a:t>Tại sao Recovery trong hệ phân tán phức tạp?</a:t>
            </a:r>
          </a:p>
          <a:p>
            <a:r>
              <a:rPr lang="vi-VN" dirty="0"/>
              <a:t>Trong hệ phân tán:</a:t>
            </a:r>
          </a:p>
          <a:p>
            <a:pPr>
              <a:buFont typeface="Arial" panose="020B0604020202020204" pitchFamily="34" charset="0"/>
              <a:buChar char="•"/>
            </a:pPr>
            <a:r>
              <a:rPr lang="vi-VN" dirty="0"/>
              <a:t>Nhiều tiến trình chạy song song</a:t>
            </a:r>
          </a:p>
          <a:p>
            <a:pPr>
              <a:buFont typeface="Arial" panose="020B0604020202020204" pitchFamily="34" charset="0"/>
              <a:buChar char="•"/>
            </a:pPr>
            <a:r>
              <a:rPr lang="vi-VN" dirty="0"/>
              <a:t>Mỗi tiến trình có trạng thái riêng</a:t>
            </a:r>
          </a:p>
          <a:p>
            <a:pPr>
              <a:buFont typeface="Arial" panose="020B0604020202020204" pitchFamily="34" charset="0"/>
              <a:buChar char="•"/>
            </a:pPr>
            <a:r>
              <a:rPr lang="vi-VN" dirty="0"/>
              <a:t>Các tiến trình gửi/nhận message lệch thời gian</a:t>
            </a:r>
          </a:p>
          <a:p>
            <a:pPr>
              <a:buFont typeface="Arial" panose="020B0604020202020204" pitchFamily="34" charset="0"/>
              <a:buChar char="•"/>
            </a:pPr>
            <a:r>
              <a:rPr lang="vi-VN" dirty="0"/>
              <a:t>Không có đồng hồ chung</a:t>
            </a:r>
          </a:p>
          <a:p>
            <a:r>
              <a:rPr lang="en-US" dirty="0"/>
              <a:t>=&gt;</a:t>
            </a:r>
            <a:r>
              <a:rPr lang="vi-VN" dirty="0"/>
              <a:t> Làm cho việc xác định </a:t>
            </a:r>
            <a:r>
              <a:rPr lang="vi-VN" b="1" dirty="0"/>
              <a:t>một trạng thái nhất quán (consistent state)</a:t>
            </a:r>
            <a:r>
              <a:rPr lang="vi-VN" dirty="0"/>
              <a:t> rất khó.</a:t>
            </a:r>
          </a:p>
          <a:p>
            <a:r>
              <a:rPr lang="en-US" b="1" dirty="0"/>
              <a:t>- </a:t>
            </a:r>
            <a:r>
              <a:rPr lang="vi-VN" b="1" dirty="0"/>
              <a:t>Consistent state là gì?</a:t>
            </a:r>
          </a:p>
          <a:p>
            <a:r>
              <a:rPr lang="vi-VN" dirty="0"/>
              <a:t>Một tập trạng thái được xem là </a:t>
            </a:r>
            <a:r>
              <a:rPr lang="vi-VN" b="1" dirty="0"/>
              <a:t>nhất quán</a:t>
            </a:r>
            <a:r>
              <a:rPr lang="vi-VN" dirty="0"/>
              <a:t> nếu:</a:t>
            </a:r>
          </a:p>
          <a:p>
            <a:pPr>
              <a:buFont typeface="Arial" panose="020B0604020202020204" pitchFamily="34" charset="0"/>
              <a:buChar char="•"/>
            </a:pPr>
            <a:r>
              <a:rPr lang="vi-VN" dirty="0"/>
              <a:t>Không chứa tình huống “tin nhắn ma” (orphan messages)</a:t>
            </a:r>
          </a:p>
          <a:p>
            <a:pPr>
              <a:buFont typeface="Arial" panose="020B0604020202020204" pitchFamily="34" charset="0"/>
              <a:buChar char="•"/>
            </a:pPr>
            <a:r>
              <a:rPr lang="vi-VN" dirty="0"/>
              <a:t>Không chứa tình huống “tin nhắn mất” (missing messages)</a:t>
            </a:r>
          </a:p>
          <a:p>
            <a:pPr>
              <a:buFont typeface="Arial" panose="020B0604020202020204" pitchFamily="34" charset="0"/>
              <a:buChar char="•"/>
            </a:pPr>
            <a:r>
              <a:rPr lang="vi-VN" dirty="0"/>
              <a:t>Có thể biểu diễn như một snapshot hợp lệ của hệ thống</a:t>
            </a:r>
          </a:p>
          <a:p>
            <a:r>
              <a:rPr lang="vi-VN" dirty="0"/>
              <a:t>Đây chính là động lực để xuất hiện:</a:t>
            </a:r>
          </a:p>
          <a:p>
            <a:pPr>
              <a:buFont typeface="Arial" panose="020B0604020202020204" pitchFamily="34" charset="0"/>
              <a:buChar char="•"/>
            </a:pPr>
            <a:r>
              <a:rPr lang="vi-VN" b="1" dirty="0"/>
              <a:t>Chandy-Lamport Distributed Snapshot Algorithm</a:t>
            </a:r>
            <a:endParaRPr lang="vi-VN" dirty="0"/>
          </a:p>
          <a:p>
            <a:pPr>
              <a:buFont typeface="Arial" panose="020B0604020202020204" pitchFamily="34" charset="0"/>
              <a:buChar char="•"/>
            </a:pPr>
            <a:r>
              <a:rPr lang="vi-VN" b="1" dirty="0"/>
              <a:t>Checkpointing &amp; rollback protocols</a:t>
            </a:r>
            <a:endParaRPr lang="vi-VN" dirty="0"/>
          </a:p>
          <a:p>
            <a:pPr>
              <a:buFont typeface="Arial" panose="020B0604020202020204" pitchFamily="34" charset="0"/>
              <a:buChar char="•"/>
            </a:pPr>
            <a:r>
              <a:rPr lang="vi-VN" b="1" dirty="0"/>
              <a:t>Message logging protocols</a:t>
            </a:r>
            <a:endParaRPr lang="vi-VN" dirty="0"/>
          </a:p>
          <a:p>
            <a:endParaRPr lang="en-US" b="1" dirty="0"/>
          </a:p>
          <a:p>
            <a:r>
              <a:rPr lang="vi-VN" b="1" dirty="0"/>
              <a:t>Tóm tắt</a:t>
            </a:r>
            <a:r>
              <a:rPr lang="en-US" b="1" dirty="0"/>
              <a:t>:</a:t>
            </a:r>
            <a:endParaRPr lang="vi-VN" b="1" dirty="0"/>
          </a:p>
          <a:p>
            <a:pPr>
              <a:buFont typeface="Arial" panose="020B0604020202020204" pitchFamily="34" charset="0"/>
              <a:buChar char="•"/>
            </a:pPr>
            <a:r>
              <a:rPr lang="vi-VN" dirty="0"/>
              <a:t>Khi hệ thống bị lỗi → cần đưa về trạng thái không lỗi.</a:t>
            </a:r>
          </a:p>
          <a:p>
            <a:pPr>
              <a:buFont typeface="Arial" panose="020B0604020202020204" pitchFamily="34" charset="0"/>
              <a:buChar char="•"/>
            </a:pPr>
            <a:r>
              <a:rPr lang="vi-VN" dirty="0"/>
              <a:t>Hai cách khôi phục:</a:t>
            </a:r>
          </a:p>
          <a:p>
            <a:pPr marL="742950" lvl="1" indent="-285750">
              <a:buFont typeface="Arial" panose="020B0604020202020204" pitchFamily="34" charset="0"/>
              <a:buChar char="•"/>
            </a:pPr>
            <a:r>
              <a:rPr lang="vi-VN" b="1" dirty="0"/>
              <a:t>Forward recovery</a:t>
            </a:r>
            <a:r>
              <a:rPr lang="vi-VN" dirty="0"/>
              <a:t>: tìm trạng thái mới.</a:t>
            </a:r>
          </a:p>
          <a:p>
            <a:pPr marL="742950" lvl="1" indent="-285750">
              <a:buFont typeface="Arial" panose="020B0604020202020204" pitchFamily="34" charset="0"/>
              <a:buChar char="•"/>
            </a:pPr>
            <a:r>
              <a:rPr lang="vi-VN" b="1" dirty="0"/>
              <a:t>Backward recovery</a:t>
            </a:r>
            <a:r>
              <a:rPr lang="vi-VN" dirty="0"/>
              <a:t>: quay về trạng thái trước — thông dụng nhất.</a:t>
            </a:r>
          </a:p>
          <a:p>
            <a:pPr>
              <a:buFont typeface="Arial" panose="020B0604020202020204" pitchFamily="34" charset="0"/>
              <a:buChar char="•"/>
            </a:pPr>
            <a:r>
              <a:rPr lang="vi-VN" dirty="0"/>
              <a:t>Cần xây dựng </a:t>
            </a:r>
            <a:r>
              <a:rPr lang="vi-VN" b="1" dirty="0"/>
              <a:t>recovery points</a:t>
            </a:r>
            <a:r>
              <a:rPr lang="vi-VN" dirty="0"/>
              <a:t>.</a:t>
            </a:r>
          </a:p>
          <a:p>
            <a:pPr>
              <a:buFont typeface="Arial" panose="020B0604020202020204" pitchFamily="34" charset="0"/>
              <a:buChar char="•"/>
            </a:pPr>
            <a:r>
              <a:rPr lang="vi-VN" dirty="0"/>
              <a:t>Trong hệ phân tán, recovery khó do phải tìm </a:t>
            </a:r>
            <a:r>
              <a:rPr lang="vi-VN" b="1" dirty="0"/>
              <a:t>trạng thái nhất quán giữa nhiều tiến trình</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79</a:t>
            </a:fld>
            <a:endParaRPr lang="en-US"/>
          </a:p>
        </p:txBody>
      </p:sp>
    </p:spTree>
    <p:extLst>
      <p:ext uri="{BB962C8B-B14F-4D97-AF65-F5344CB8AC3E}">
        <p14:creationId xmlns:p14="http://schemas.microsoft.com/office/powerpoint/2010/main" val="30227587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Consistent recovery state</a:t>
            </a:r>
          </a:p>
          <a:p>
            <a:r>
              <a:rPr lang="vi-VN" dirty="0"/>
              <a:t>Khi một hệ thống phân tán bị lỗi, ta cần khôi phục lại từ một tập checkpoint.</a:t>
            </a:r>
            <a:br>
              <a:rPr lang="vi-VN" dirty="0"/>
            </a:br>
            <a:r>
              <a:rPr lang="en-US" dirty="0"/>
              <a:t>=&gt;</a:t>
            </a:r>
            <a:r>
              <a:rPr lang="vi-VN" dirty="0"/>
              <a:t> Nhưng </a:t>
            </a:r>
            <a:r>
              <a:rPr lang="vi-VN" b="1" dirty="0"/>
              <a:t>không phải mọi tập checkpoint đều hợp lệ</a:t>
            </a:r>
            <a:r>
              <a:rPr lang="vi-VN" dirty="0"/>
              <a:t> — một số là </a:t>
            </a:r>
            <a:r>
              <a:rPr lang="vi-VN" b="1" dirty="0"/>
              <a:t>inconsistent</a:t>
            </a:r>
            <a:r>
              <a:rPr lang="vi-VN" dirty="0"/>
              <a:t> và dẫn đến trạng thái “ảo”, không thể xảy ra.</a:t>
            </a:r>
          </a:p>
          <a:p>
            <a:r>
              <a:rPr lang="vi-VN" dirty="0"/>
              <a:t>Slide này giải thích </a:t>
            </a:r>
            <a:r>
              <a:rPr lang="vi-VN" b="1" dirty="0"/>
              <a:t>điều kiện để một global checkpoint là nhất quán (consistent)</a:t>
            </a:r>
            <a:r>
              <a:rPr lang="vi-VN" dirty="0"/>
              <a:t> và minh họa bằng đồ thị thời gian.</a:t>
            </a:r>
          </a:p>
          <a:p>
            <a:endParaRPr lang="en-US" b="1" dirty="0"/>
          </a:p>
          <a:p>
            <a:r>
              <a:rPr lang="en-US" b="1" dirty="0"/>
              <a:t>** </a:t>
            </a:r>
            <a:r>
              <a:rPr lang="vi-VN" b="1" dirty="0"/>
              <a:t>Requirement – Yêu cầu để checkpoint nhất quán</a:t>
            </a:r>
          </a:p>
          <a:p>
            <a:r>
              <a:rPr lang="vi-VN" b="1" dirty="0"/>
              <a:t>Every message that has been received is also shown to have been sent in the state of the sender.</a:t>
            </a:r>
            <a:endParaRPr lang="vi-VN" dirty="0"/>
          </a:p>
          <a:p>
            <a:r>
              <a:rPr lang="vi-VN" dirty="0"/>
              <a:t>Tức là:</a:t>
            </a:r>
          </a:p>
          <a:p>
            <a:pPr>
              <a:buFont typeface="Arial" panose="020B0604020202020204" pitchFamily="34" charset="0"/>
              <a:buChar char="•"/>
            </a:pPr>
            <a:r>
              <a:rPr lang="vi-VN" dirty="0"/>
              <a:t>Nếu P1 đã </a:t>
            </a:r>
            <a:r>
              <a:rPr lang="vi-VN" b="1" dirty="0"/>
              <a:t>nhận</a:t>
            </a:r>
            <a:r>
              <a:rPr lang="vi-VN" dirty="0"/>
              <a:t> message m tại checkpoint,</a:t>
            </a:r>
          </a:p>
          <a:p>
            <a:pPr>
              <a:buFont typeface="Arial" panose="020B0604020202020204" pitchFamily="34" charset="0"/>
              <a:buChar char="•"/>
            </a:pPr>
            <a:r>
              <a:rPr lang="vi-VN" dirty="0"/>
              <a:t>Thì checkpoint của P2 (sender) phải chứa </a:t>
            </a:r>
            <a:r>
              <a:rPr lang="vi-VN" b="1" dirty="0"/>
              <a:t>sự kiện gửi message m</a:t>
            </a:r>
            <a:r>
              <a:rPr lang="vi-VN" dirty="0"/>
              <a:t>.</a:t>
            </a:r>
          </a:p>
          <a:p>
            <a:r>
              <a:rPr lang="vi-VN" dirty="0"/>
              <a:t>Nếu điều kiện này không đúng:</a:t>
            </a:r>
          </a:p>
          <a:p>
            <a:r>
              <a:rPr lang="en-US" dirty="0"/>
              <a:t>=&gt; </a:t>
            </a:r>
            <a:r>
              <a:rPr lang="vi-VN" dirty="0"/>
              <a:t>Ta sẽ có </a:t>
            </a:r>
            <a:r>
              <a:rPr lang="vi-VN" b="1" dirty="0"/>
              <a:t>orphan message</a:t>
            </a:r>
            <a:r>
              <a:rPr lang="vi-VN" dirty="0"/>
              <a:t>:</a:t>
            </a:r>
          </a:p>
          <a:p>
            <a:pPr>
              <a:buFont typeface="Arial" panose="020B0604020202020204" pitchFamily="34" charset="0"/>
              <a:buChar char="•"/>
            </a:pPr>
            <a:r>
              <a:rPr lang="vi-VN" dirty="0"/>
              <a:t>Checkpoint nói rằng </a:t>
            </a:r>
            <a:r>
              <a:rPr lang="vi-VN" b="1" dirty="0"/>
              <a:t>P1 đã nhận</a:t>
            </a:r>
            <a:r>
              <a:rPr lang="vi-VN" dirty="0"/>
              <a:t> m</a:t>
            </a:r>
          </a:p>
          <a:p>
            <a:pPr>
              <a:buFont typeface="Arial" panose="020B0604020202020204" pitchFamily="34" charset="0"/>
              <a:buChar char="•"/>
            </a:pPr>
            <a:r>
              <a:rPr lang="vi-VN" dirty="0"/>
              <a:t>Nhưng checkpoint của P2 lại cho thấy </a:t>
            </a:r>
            <a:r>
              <a:rPr lang="vi-VN" b="1" dirty="0"/>
              <a:t>P2 chưa bao giờ gửi</a:t>
            </a:r>
            <a:r>
              <a:rPr lang="vi-VN" dirty="0"/>
              <a:t> m</a:t>
            </a:r>
            <a:br>
              <a:rPr lang="vi-VN" dirty="0"/>
            </a:br>
            <a:r>
              <a:rPr lang="en-US" dirty="0"/>
              <a:t>=&gt;</a:t>
            </a:r>
            <a:r>
              <a:rPr lang="vi-VN" dirty="0"/>
              <a:t> Đây là trạng thái </a:t>
            </a:r>
            <a:r>
              <a:rPr lang="vi-VN" i="1" dirty="0"/>
              <a:t>không thể xảy ra</a:t>
            </a:r>
            <a:r>
              <a:rPr lang="vi-VN" dirty="0"/>
              <a:t> trong thực tế.</a:t>
            </a:r>
          </a:p>
          <a:p>
            <a:r>
              <a:rPr lang="vi-VN" dirty="0"/>
              <a:t>Vì vậy checkpoint như vậy </a:t>
            </a:r>
            <a:r>
              <a:rPr lang="vi-VN" b="1" dirty="0"/>
              <a:t>không được dùng để recovery</a:t>
            </a:r>
            <a:r>
              <a:rPr lang="vi-VN" dirty="0"/>
              <a:t>.</a:t>
            </a:r>
          </a:p>
          <a:p>
            <a:endParaRPr lang="en-US" b="1" dirty="0"/>
          </a:p>
          <a:p>
            <a:r>
              <a:rPr lang="en-US" b="1" dirty="0"/>
              <a:t>** </a:t>
            </a:r>
            <a:r>
              <a:rPr lang="vi-VN" b="1" dirty="0"/>
              <a:t>Recovery line – Đường phục hồi nhất quán</a:t>
            </a:r>
          </a:p>
          <a:p>
            <a:r>
              <a:rPr lang="vi-VN" dirty="0"/>
              <a:t>Trong hệ phân tán:</a:t>
            </a:r>
          </a:p>
          <a:p>
            <a:pPr>
              <a:buFont typeface="Arial" panose="020B0604020202020204" pitchFamily="34" charset="0"/>
              <a:buChar char="•"/>
            </a:pPr>
            <a:r>
              <a:rPr lang="vi-VN" dirty="0"/>
              <a:t>Mỗi tiến trình P1, P2… checkpoint riêng lẻ (local checkpoint)</a:t>
            </a:r>
          </a:p>
          <a:p>
            <a:pPr>
              <a:buFont typeface="Arial" panose="020B0604020202020204" pitchFamily="34" charset="0"/>
              <a:buChar char="•"/>
            </a:pPr>
            <a:r>
              <a:rPr lang="vi-VN" dirty="0"/>
              <a:t>Tập hợp các checkpoint tại cùng một thời điểm </a:t>
            </a:r>
            <a:r>
              <a:rPr lang="vi-VN" b="1" dirty="0"/>
              <a:t>phải tạo thành một global checkpoint nhất quán</a:t>
            </a:r>
            <a:endParaRPr lang="vi-VN" dirty="0"/>
          </a:p>
          <a:p>
            <a:r>
              <a:rPr lang="vi-VN" b="1" dirty="0"/>
              <a:t>“Recovery line”</a:t>
            </a:r>
            <a:br>
              <a:rPr lang="vi-VN" dirty="0"/>
            </a:br>
            <a:r>
              <a:rPr lang="vi-VN" dirty="0"/>
              <a:t>= tập global checkpoint mới nhất mà trong đó </a:t>
            </a:r>
            <a:r>
              <a:rPr lang="vi-VN" b="1" dirty="0"/>
              <a:t>không có orphan messages</a:t>
            </a:r>
            <a:r>
              <a:rPr lang="vi-VN" dirty="0"/>
              <a:t>.</a:t>
            </a:r>
          </a:p>
          <a:p>
            <a:r>
              <a:rPr lang="vi-VN" dirty="0"/>
              <a:t>Khi xảy ra lỗi, hệ thống rollback về recovery line này.</a:t>
            </a:r>
          </a:p>
          <a:p>
            <a:endParaRPr lang="en-US" b="1" dirty="0"/>
          </a:p>
          <a:p>
            <a:r>
              <a:rPr lang="en-US" b="1" dirty="0"/>
              <a:t>** </a:t>
            </a:r>
            <a:r>
              <a:rPr lang="vi-VN" b="1" dirty="0"/>
              <a:t>Giải thích hình minh họa</a:t>
            </a:r>
          </a:p>
          <a:p>
            <a:r>
              <a:rPr lang="vi-VN" dirty="0"/>
              <a:t>Hình có hai tiến trình:</a:t>
            </a:r>
          </a:p>
          <a:p>
            <a:pPr>
              <a:buFont typeface="Arial" panose="020B0604020202020204" pitchFamily="34" charset="0"/>
              <a:buChar char="•"/>
            </a:pPr>
            <a:r>
              <a:rPr lang="vi-VN" b="1" dirty="0"/>
              <a:t>P1</a:t>
            </a:r>
            <a:r>
              <a:rPr lang="vi-VN" dirty="0"/>
              <a:t> (trên)</a:t>
            </a:r>
          </a:p>
          <a:p>
            <a:pPr>
              <a:buFont typeface="Arial" panose="020B0604020202020204" pitchFamily="34" charset="0"/>
              <a:buChar char="•"/>
            </a:pPr>
            <a:r>
              <a:rPr lang="vi-VN" b="1" dirty="0"/>
              <a:t>P2</a:t>
            </a:r>
            <a:r>
              <a:rPr lang="vi-VN" dirty="0"/>
              <a:t> (dưới)</a:t>
            </a:r>
          </a:p>
          <a:p>
            <a:r>
              <a:rPr lang="vi-VN" dirty="0"/>
              <a:t>Các đoạn dọc nhỏ = các checkpoint cục bộ.</a:t>
            </a:r>
          </a:p>
          <a:p>
            <a:r>
              <a:rPr lang="vi-VN" b="1" dirty="0"/>
              <a:t>Có 3 phần chính trong hình:</a:t>
            </a:r>
          </a:p>
          <a:p>
            <a:r>
              <a:rPr lang="en-US" b="1" dirty="0"/>
              <a:t>(1) </a:t>
            </a:r>
            <a:r>
              <a:rPr lang="vi-VN" b="1" dirty="0"/>
              <a:t>Initial state</a:t>
            </a:r>
          </a:p>
          <a:p>
            <a:r>
              <a:rPr lang="vi-VN" dirty="0"/>
              <a:t>Ban đầu, cả P1 và P2 đều ở checkpoint đầu tiên — consistent.</a:t>
            </a:r>
          </a:p>
          <a:p>
            <a:r>
              <a:rPr lang="en-US" b="1" dirty="0"/>
              <a:t>(2) </a:t>
            </a:r>
            <a:r>
              <a:rPr lang="vi-VN" b="1" dirty="0"/>
              <a:t>Inconsistent collection of checkpoints</a:t>
            </a:r>
          </a:p>
          <a:p>
            <a:r>
              <a:rPr lang="vi-VN" dirty="0"/>
              <a:t>Ở giữa hình có một ví dụ về </a:t>
            </a:r>
            <a:r>
              <a:rPr lang="vi-VN" b="1" dirty="0"/>
              <a:t>tập checkpoint không nhất quán</a:t>
            </a:r>
            <a:r>
              <a:rPr lang="vi-VN" dirty="0"/>
              <a:t>:</a:t>
            </a:r>
          </a:p>
          <a:p>
            <a:pPr>
              <a:buFont typeface="Arial" panose="020B0604020202020204" pitchFamily="34" charset="0"/>
              <a:buChar char="•"/>
            </a:pPr>
            <a:r>
              <a:rPr lang="vi-VN" dirty="0"/>
              <a:t>P2 gửi một message → P1 nhận message đó.</a:t>
            </a:r>
          </a:p>
          <a:p>
            <a:pPr>
              <a:buFont typeface="Arial" panose="020B0604020202020204" pitchFamily="34" charset="0"/>
              <a:buChar char="•"/>
            </a:pPr>
            <a:r>
              <a:rPr lang="vi-VN" dirty="0"/>
              <a:t>Nhưng checkpoint của P1 được chọn </a:t>
            </a:r>
            <a:r>
              <a:rPr lang="vi-VN" b="1" dirty="0"/>
              <a:t>đứng sau</a:t>
            </a:r>
            <a:r>
              <a:rPr lang="vi-VN" dirty="0"/>
              <a:t> khi nó nhận message.</a:t>
            </a:r>
          </a:p>
          <a:p>
            <a:pPr>
              <a:buFont typeface="Arial" panose="020B0604020202020204" pitchFamily="34" charset="0"/>
              <a:buChar char="•"/>
            </a:pPr>
            <a:r>
              <a:rPr lang="vi-VN" dirty="0"/>
              <a:t>Trong khi checkpoint của P2 được chọn </a:t>
            </a:r>
            <a:r>
              <a:rPr lang="vi-VN" b="1" dirty="0"/>
              <a:t>đứng trước</a:t>
            </a:r>
            <a:r>
              <a:rPr lang="vi-VN" dirty="0"/>
              <a:t> khi nó gửi message.</a:t>
            </a:r>
          </a:p>
          <a:p>
            <a:r>
              <a:rPr lang="en-US" dirty="0"/>
              <a:t>=&gt;</a:t>
            </a:r>
            <a:r>
              <a:rPr lang="vi-VN" dirty="0"/>
              <a:t> P1 nói rằng: “Tôi đã nhận m.”</a:t>
            </a:r>
            <a:br>
              <a:rPr lang="vi-VN" dirty="0"/>
            </a:br>
            <a:r>
              <a:rPr lang="en-US" dirty="0"/>
              <a:t>=&gt;</a:t>
            </a:r>
            <a:r>
              <a:rPr lang="vi-VN" dirty="0"/>
              <a:t> P2 nói rằng: “Tôi chưa gửi m.”</a:t>
            </a:r>
          </a:p>
          <a:p>
            <a:r>
              <a:rPr lang="en-US" dirty="0"/>
              <a:t>*</a:t>
            </a:r>
            <a:r>
              <a:rPr lang="vi-VN" dirty="0"/>
              <a:t> Trạng thái này </a:t>
            </a:r>
            <a:r>
              <a:rPr lang="vi-VN" b="1" dirty="0"/>
              <a:t>không thể tồn tại</a:t>
            </a:r>
            <a:r>
              <a:rPr lang="vi-VN" dirty="0"/>
              <a:t> → checkpoint này </a:t>
            </a:r>
            <a:r>
              <a:rPr lang="vi-VN" b="1" dirty="0"/>
              <a:t>inconsistent</a:t>
            </a:r>
            <a:r>
              <a:rPr lang="vi-VN" dirty="0"/>
              <a:t>.</a:t>
            </a:r>
          </a:p>
          <a:p>
            <a:r>
              <a:rPr lang="en-US" b="1" dirty="0"/>
              <a:t>(3) </a:t>
            </a:r>
            <a:r>
              <a:rPr lang="vi-VN" b="1" dirty="0"/>
              <a:t>Recovery line</a:t>
            </a:r>
          </a:p>
          <a:p>
            <a:r>
              <a:rPr lang="vi-VN" dirty="0"/>
              <a:t>Dash line (đường đứt) đánh dấu </a:t>
            </a:r>
            <a:r>
              <a:rPr lang="vi-VN" b="1" dirty="0"/>
              <a:t>global checkpoint nhất quán cuối cùng</a:t>
            </a:r>
            <a:r>
              <a:rPr lang="vi-VN" dirty="0"/>
              <a:t>.</a:t>
            </a:r>
          </a:p>
          <a:p>
            <a:r>
              <a:rPr lang="vi-VN" dirty="0"/>
              <a:t>Trong hình:</a:t>
            </a:r>
          </a:p>
          <a:p>
            <a:pPr>
              <a:buFont typeface="Arial" panose="020B0604020202020204" pitchFamily="34" charset="0"/>
              <a:buChar char="•"/>
            </a:pPr>
            <a:r>
              <a:rPr lang="vi-VN" dirty="0"/>
              <a:t>Tập checkpoint sau đường recovery line là nhất quán.</a:t>
            </a:r>
          </a:p>
          <a:p>
            <a:pPr>
              <a:buFont typeface="Arial" panose="020B0604020202020204" pitchFamily="34" charset="0"/>
              <a:buChar char="•"/>
            </a:pPr>
            <a:r>
              <a:rPr lang="vi-VN" dirty="0"/>
              <a:t>Các checkpoint bên phải đường recovery line thì không.</a:t>
            </a:r>
          </a:p>
          <a:p>
            <a:r>
              <a:rPr lang="vi-VN" dirty="0"/>
              <a:t>Khi failure xảy ra (dấu X):</a:t>
            </a:r>
          </a:p>
          <a:p>
            <a:r>
              <a:rPr lang="en-US" dirty="0"/>
              <a:t>=&gt;</a:t>
            </a:r>
            <a:r>
              <a:rPr lang="vi-VN" dirty="0"/>
              <a:t> Hệ thống </a:t>
            </a:r>
            <a:r>
              <a:rPr lang="vi-VN" b="1" dirty="0"/>
              <a:t>rollback</a:t>
            </a:r>
            <a:r>
              <a:rPr lang="vi-VN" dirty="0"/>
              <a:t> về recovery line — nơi mà mọi message đều phù hợp theo yêu cầu nhất quán.</a:t>
            </a:r>
          </a:p>
          <a:p>
            <a:endParaRPr lang="en-US" b="1" dirty="0"/>
          </a:p>
          <a:p>
            <a:r>
              <a:rPr lang="en-US" b="1" dirty="0"/>
              <a:t>** </a:t>
            </a:r>
            <a:r>
              <a:rPr lang="vi-VN" b="1" dirty="0"/>
              <a:t>Ý nghĩa quan trọng</a:t>
            </a:r>
          </a:p>
          <a:p>
            <a:r>
              <a:rPr lang="vi-VN" b="1" dirty="0"/>
              <a:t>Nếu checkpoint không nhất quán </a:t>
            </a:r>
            <a:r>
              <a:rPr lang="en-US" b="1" dirty="0"/>
              <a:t>=&gt;</a:t>
            </a:r>
            <a:r>
              <a:rPr lang="vi-VN" b="1" dirty="0"/>
              <a:t> khi khôi phục, hệ thống sẽ:</a:t>
            </a:r>
          </a:p>
          <a:p>
            <a:pPr>
              <a:buFont typeface="Arial" panose="020B0604020202020204" pitchFamily="34" charset="0"/>
              <a:buChar char="•"/>
            </a:pPr>
            <a:r>
              <a:rPr lang="vi-VN" dirty="0"/>
              <a:t>nhận message </a:t>
            </a:r>
            <a:r>
              <a:rPr lang="vi-VN" b="1" dirty="0"/>
              <a:t>không có gửi</a:t>
            </a:r>
            <a:endParaRPr lang="vi-VN" dirty="0"/>
          </a:p>
          <a:p>
            <a:pPr>
              <a:buFont typeface="Arial" panose="020B0604020202020204" pitchFamily="34" charset="0"/>
              <a:buChar char="•"/>
            </a:pPr>
            <a:r>
              <a:rPr lang="vi-VN" dirty="0"/>
              <a:t>gửi message </a:t>
            </a:r>
            <a:r>
              <a:rPr lang="vi-VN" b="1" dirty="0"/>
              <a:t>sẽ không được nhận</a:t>
            </a:r>
            <a:endParaRPr lang="vi-VN" dirty="0"/>
          </a:p>
          <a:p>
            <a:r>
              <a:rPr lang="en-US" dirty="0"/>
              <a:t>=&gt;</a:t>
            </a:r>
            <a:r>
              <a:rPr lang="vi-VN" dirty="0"/>
              <a:t> dẫn đến mất đồng bộ và hành vi sai.</a:t>
            </a:r>
          </a:p>
          <a:p>
            <a:r>
              <a:rPr lang="vi-VN" dirty="0"/>
              <a:t>Vì vậy, hệ thống phân tán phải đảm bảo:</a:t>
            </a:r>
          </a:p>
          <a:p>
            <a:r>
              <a:rPr lang="vi-VN" b="1" dirty="0"/>
              <a:t>Luôn chọn được một consistent global checkpoint mới nhất để phục hồi.</a:t>
            </a:r>
          </a:p>
          <a:p>
            <a:r>
              <a:rPr lang="vi-VN" dirty="0"/>
              <a:t>Đây là nền tảng của:</a:t>
            </a:r>
          </a:p>
          <a:p>
            <a:pPr>
              <a:buFont typeface="Arial" panose="020B0604020202020204" pitchFamily="34" charset="0"/>
              <a:buChar char="•"/>
            </a:pPr>
            <a:r>
              <a:rPr lang="vi-VN" dirty="0"/>
              <a:t>Coordinated Checkpointing</a:t>
            </a:r>
          </a:p>
          <a:p>
            <a:pPr>
              <a:buFont typeface="Arial" panose="020B0604020202020204" pitchFamily="34" charset="0"/>
              <a:buChar char="•"/>
            </a:pPr>
            <a:r>
              <a:rPr lang="vi-VN" dirty="0"/>
              <a:t>Uncoordinated Checkpointing + Message Logging</a:t>
            </a:r>
          </a:p>
          <a:p>
            <a:pPr>
              <a:buFont typeface="Arial" panose="020B0604020202020204" pitchFamily="34" charset="0"/>
              <a:buChar char="•"/>
            </a:pPr>
            <a:r>
              <a:rPr lang="vi-VN" dirty="0"/>
              <a:t>Chandy-Lamport Global Snapshot Algorithm</a:t>
            </a:r>
          </a:p>
          <a:p>
            <a:endParaRPr lang="en-US" b="1" dirty="0"/>
          </a:p>
          <a:p>
            <a:r>
              <a:rPr lang="en-US" b="1" dirty="0"/>
              <a:t>** </a:t>
            </a:r>
            <a:r>
              <a:rPr lang="vi-VN" b="1" dirty="0"/>
              <a:t>Tóm tắt slide</a:t>
            </a:r>
          </a:p>
          <a:p>
            <a:pPr>
              <a:buFont typeface="Arial" panose="020B0604020202020204" pitchFamily="34" charset="0"/>
              <a:buChar char="•"/>
            </a:pPr>
            <a:r>
              <a:rPr lang="vi-VN" dirty="0"/>
              <a:t>Global checkpoint phải thỏa:</a:t>
            </a:r>
            <a:br>
              <a:rPr lang="vi-VN" dirty="0"/>
            </a:br>
            <a:r>
              <a:rPr lang="vi-VN" b="1" dirty="0"/>
              <a:t>Nếu message được nhận → phải có gửi trong checkpoint của sender.</a:t>
            </a:r>
            <a:endParaRPr lang="vi-VN" dirty="0"/>
          </a:p>
          <a:p>
            <a:pPr>
              <a:buFont typeface="Arial" panose="020B0604020202020204" pitchFamily="34" charset="0"/>
              <a:buChar char="•"/>
            </a:pPr>
            <a:r>
              <a:rPr lang="vi-VN" dirty="0"/>
              <a:t>Một số tập checkpoint có thể </a:t>
            </a:r>
            <a:r>
              <a:rPr lang="vi-VN" b="1" dirty="0"/>
              <a:t>inconsistent</a:t>
            </a:r>
            <a:r>
              <a:rPr lang="vi-VN" dirty="0"/>
              <a:t> → không dùng được để recovery.</a:t>
            </a:r>
          </a:p>
          <a:p>
            <a:pPr>
              <a:buFont typeface="Arial" panose="020B0604020202020204" pitchFamily="34" charset="0"/>
              <a:buChar char="•"/>
            </a:pPr>
            <a:r>
              <a:rPr lang="vi-VN" dirty="0"/>
              <a:t>Recovery line là </a:t>
            </a:r>
            <a:r>
              <a:rPr lang="vi-VN" b="1" dirty="0"/>
              <a:t>global checkpoint hợp lệ mới nhất</a:t>
            </a:r>
            <a:r>
              <a:rPr lang="vi-VN" dirty="0"/>
              <a:t>.</a:t>
            </a:r>
          </a:p>
          <a:p>
            <a:pPr>
              <a:buFont typeface="Arial" panose="020B0604020202020204" pitchFamily="34" charset="0"/>
              <a:buChar char="•"/>
            </a:pPr>
            <a:r>
              <a:rPr lang="vi-VN" dirty="0"/>
              <a:t>Khi xảy ra lỗi, tất cả tiến trình rollback về recovery line để đảm bảo trạng thái nhất quán.</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80</a:t>
            </a:fld>
            <a:endParaRPr lang="en-US"/>
          </a:p>
        </p:txBody>
      </p:sp>
    </p:spTree>
    <p:extLst>
      <p:ext uri="{BB962C8B-B14F-4D97-AF65-F5344CB8AC3E}">
        <p14:creationId xmlns:p14="http://schemas.microsoft.com/office/powerpoint/2010/main" val="3692836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Coordinated checkpointing – Checkpoint phối hợp</a:t>
            </a:r>
          </a:p>
          <a:p>
            <a:r>
              <a:rPr lang="vi-VN" dirty="0"/>
              <a:t>Coordinated checkpointing là </a:t>
            </a:r>
            <a:r>
              <a:rPr lang="vi-VN" b="1" dirty="0"/>
              <a:t>phương pháp đảm bảo tất cả tiến trình trong hệ phân tán tạo checkpoint đồng nhất (consistent global checkpoint)</a:t>
            </a:r>
            <a:r>
              <a:rPr lang="vi-VN" dirty="0"/>
              <a:t> mà không cần lo về orphan messages.</a:t>
            </a:r>
          </a:p>
          <a:p>
            <a:endParaRPr lang="en-US" b="1" dirty="0"/>
          </a:p>
          <a:p>
            <a:r>
              <a:rPr lang="en-US" b="1" dirty="0"/>
              <a:t>** </a:t>
            </a:r>
            <a:r>
              <a:rPr lang="vi-VN" b="1" dirty="0"/>
              <a:t>Essence (Bản chất)</a:t>
            </a:r>
          </a:p>
          <a:p>
            <a:r>
              <a:rPr lang="vi-VN" b="1" dirty="0"/>
              <a:t>Mỗi tiến trình tạo checkpoint sau một hành động được phối hợp toàn cục.</a:t>
            </a:r>
            <a:endParaRPr lang="vi-VN" dirty="0"/>
          </a:p>
          <a:p>
            <a:r>
              <a:rPr lang="vi-VN" dirty="0"/>
              <a:t>Tức là:</a:t>
            </a:r>
          </a:p>
          <a:p>
            <a:pPr>
              <a:buFont typeface="Arial" panose="020B0604020202020204" pitchFamily="34" charset="0"/>
              <a:buChar char="•"/>
            </a:pPr>
            <a:r>
              <a:rPr lang="vi-VN" dirty="0"/>
              <a:t>Không tiến trình nào tự checkpoint một cách tùy tiện.</a:t>
            </a:r>
          </a:p>
          <a:p>
            <a:pPr>
              <a:buFont typeface="Arial" panose="020B0604020202020204" pitchFamily="34" charset="0"/>
              <a:buChar char="•"/>
            </a:pPr>
            <a:r>
              <a:rPr lang="vi-VN" dirty="0"/>
              <a:t>Tất cả đều </a:t>
            </a:r>
            <a:r>
              <a:rPr lang="vi-VN" b="1" dirty="0"/>
              <a:t>phối hợp</a:t>
            </a:r>
            <a:r>
              <a:rPr lang="vi-VN" dirty="0"/>
              <a:t> với nhau để đảm bảo global checkpoint luôn </a:t>
            </a:r>
            <a:r>
              <a:rPr lang="vi-VN" b="1" dirty="0"/>
              <a:t>nhất quán</a:t>
            </a:r>
            <a:r>
              <a:rPr lang="vi-VN" dirty="0"/>
              <a:t>.</a:t>
            </a:r>
          </a:p>
          <a:p>
            <a:r>
              <a:rPr lang="vi-VN" dirty="0"/>
              <a:t>Điều này giải quyết hoàn toàn vấn đề checkpoint không nhất quán trong phương pháp uncoordinated checkpointing.</a:t>
            </a:r>
          </a:p>
          <a:p>
            <a:endParaRPr lang="en-US" b="1" dirty="0"/>
          </a:p>
          <a:p>
            <a:r>
              <a:rPr lang="en-US" b="1" dirty="0"/>
              <a:t>** </a:t>
            </a:r>
            <a:r>
              <a:rPr lang="vi-VN" b="1" dirty="0"/>
              <a:t>Simple solution – Two-phase blocking protocol</a:t>
            </a:r>
          </a:p>
          <a:p>
            <a:r>
              <a:rPr lang="vi-VN" dirty="0"/>
              <a:t>Phương pháp phối hợp dùng </a:t>
            </a:r>
            <a:r>
              <a:rPr lang="vi-VN" b="1" dirty="0"/>
              <a:t>two-phase protocol</a:t>
            </a:r>
            <a:r>
              <a:rPr lang="vi-VN" dirty="0"/>
              <a:t>, tương tự 2PC nhưng dành cho checkpointing.</a:t>
            </a:r>
          </a:p>
          <a:p>
            <a:r>
              <a:rPr lang="en-US" b="1" dirty="0"/>
              <a:t>- </a:t>
            </a:r>
            <a:r>
              <a:rPr lang="vi-VN" b="1" dirty="0"/>
              <a:t>Phase 1 – Checkpoint Request</a:t>
            </a:r>
          </a:p>
          <a:p>
            <a:r>
              <a:rPr lang="vi-VN" b="1" dirty="0"/>
              <a:t>Coordinator gửi multicast thông điệp: checkpoint request</a:t>
            </a:r>
            <a:endParaRPr lang="vi-VN" dirty="0"/>
          </a:p>
          <a:p>
            <a:r>
              <a:rPr lang="vi-VN" dirty="0"/>
              <a:t>Mục tiêu: yêu cầu tất cả tiến trình chuẩn bị và chụp checkpoint.</a:t>
            </a:r>
          </a:p>
          <a:p>
            <a:r>
              <a:rPr lang="en-US" b="1" dirty="0"/>
              <a:t>- </a:t>
            </a:r>
            <a:r>
              <a:rPr lang="vi-VN" b="1" dirty="0"/>
              <a:t>Phase 1 – Participants hành động</a:t>
            </a:r>
          </a:p>
          <a:p>
            <a:r>
              <a:rPr lang="vi-VN" dirty="0"/>
              <a:t>Khi một participant nhận được yêu cầu:</a:t>
            </a:r>
          </a:p>
          <a:p>
            <a:pPr>
              <a:buFont typeface="+mj-lt"/>
              <a:buNone/>
            </a:pPr>
            <a:r>
              <a:rPr lang="en-US" b="1" dirty="0"/>
              <a:t>a.</a:t>
            </a:r>
            <a:r>
              <a:rPr lang="vi-VN" b="1" dirty="0"/>
              <a:t>Dừng gửi các message ứng dụng</a:t>
            </a:r>
            <a:br>
              <a:rPr lang="vi-VN" dirty="0"/>
            </a:br>
            <a:r>
              <a:rPr lang="vi-VN" dirty="0"/>
              <a:t>(để tránh gửi message làm checkpoint inconsistent)</a:t>
            </a:r>
          </a:p>
          <a:p>
            <a:pPr>
              <a:buFont typeface="+mj-lt"/>
              <a:buNone/>
            </a:pPr>
            <a:r>
              <a:rPr lang="en-US" b="1" dirty="0"/>
              <a:t>b.</a:t>
            </a:r>
            <a:r>
              <a:rPr lang="vi-VN" b="1" dirty="0"/>
              <a:t>Tạo local checkpoint</a:t>
            </a:r>
            <a:endParaRPr lang="vi-VN" dirty="0"/>
          </a:p>
          <a:p>
            <a:pPr>
              <a:buFont typeface="+mj-lt"/>
              <a:buNone/>
            </a:pPr>
            <a:r>
              <a:rPr lang="en-US" b="1" dirty="0"/>
              <a:t>c.</a:t>
            </a:r>
            <a:r>
              <a:rPr lang="vi-VN" b="1" dirty="0"/>
              <a:t>Gửi báo cáo lại cho coordinator</a:t>
            </a:r>
            <a:br>
              <a:rPr lang="vi-VN" dirty="0"/>
            </a:br>
            <a:r>
              <a:rPr lang="vi-VN" dirty="0"/>
              <a:t>(“Tôi đã checkpoint xong”)</a:t>
            </a:r>
          </a:p>
          <a:p>
            <a:r>
              <a:rPr lang="en-US" dirty="0"/>
              <a:t>=&gt;</a:t>
            </a:r>
            <a:r>
              <a:rPr lang="vi-VN" dirty="0"/>
              <a:t> Điều này tạo ra một “global quiescent state” — trạng thái yên tĩnh, không có message bay trên mạng.</a:t>
            </a:r>
          </a:p>
          <a:p>
            <a:r>
              <a:rPr lang="en-US" b="1" dirty="0"/>
              <a:t>- </a:t>
            </a:r>
            <a:r>
              <a:rPr lang="vi-VN" b="1" dirty="0"/>
              <a:t>Phase 2 – Checkpoint Done</a:t>
            </a:r>
          </a:p>
          <a:p>
            <a:r>
              <a:rPr lang="vi-VN" dirty="0"/>
              <a:t>Khi </a:t>
            </a:r>
            <a:r>
              <a:rPr lang="vi-VN" b="1" dirty="0"/>
              <a:t>tất cả</a:t>
            </a:r>
            <a:r>
              <a:rPr lang="vi-VN" dirty="0"/>
              <a:t> tiến trình đã báo checkpoint thành công:</a:t>
            </a:r>
          </a:p>
          <a:p>
            <a:r>
              <a:rPr lang="en-US" dirty="0"/>
              <a:t>=&gt;</a:t>
            </a:r>
            <a:r>
              <a:rPr lang="vi-VN" dirty="0"/>
              <a:t> Coordinator gửi multicast </a:t>
            </a:r>
            <a:r>
              <a:rPr lang="vi-VN" b="1" dirty="0"/>
              <a:t>checkpoint done</a:t>
            </a:r>
            <a:endParaRPr lang="vi-VN" dirty="0"/>
          </a:p>
          <a:p>
            <a:r>
              <a:rPr lang="vi-VN" dirty="0"/>
              <a:t>Lúc này:</a:t>
            </a:r>
          </a:p>
          <a:p>
            <a:pPr>
              <a:buFont typeface="Arial" panose="020B0604020202020204" pitchFamily="34" charset="0"/>
              <a:buChar char="•"/>
            </a:pPr>
            <a:r>
              <a:rPr lang="vi-VN" dirty="0"/>
              <a:t>Các tiến trình </a:t>
            </a:r>
            <a:r>
              <a:rPr lang="vi-VN" b="1" dirty="0"/>
              <a:t>được phép tiếp tục gửi/nhận message ứng dụng</a:t>
            </a:r>
            <a:endParaRPr lang="vi-VN" dirty="0"/>
          </a:p>
          <a:p>
            <a:pPr>
              <a:buFont typeface="Arial" panose="020B0604020202020204" pitchFamily="34" charset="0"/>
              <a:buChar char="•"/>
            </a:pPr>
            <a:r>
              <a:rPr lang="vi-VN" dirty="0"/>
              <a:t>Global checkpoint được hình thành và </a:t>
            </a:r>
            <a:r>
              <a:rPr lang="vi-VN" b="1" dirty="0"/>
              <a:t>chắc chắn nhất quán</a:t>
            </a:r>
            <a:endParaRPr lang="vi-VN" dirty="0"/>
          </a:p>
          <a:p>
            <a:endParaRPr lang="en-US" b="1" dirty="0"/>
          </a:p>
          <a:p>
            <a:r>
              <a:rPr lang="en-US" b="1" dirty="0"/>
              <a:t>** </a:t>
            </a:r>
            <a:r>
              <a:rPr lang="vi-VN" b="1" dirty="0"/>
              <a:t>Tại sao lại gọi là blocking protocol?</a:t>
            </a:r>
          </a:p>
          <a:p>
            <a:r>
              <a:rPr lang="vi-VN" dirty="0"/>
              <a:t>Vì trong thời gian chụp checkpoint:</a:t>
            </a:r>
          </a:p>
          <a:p>
            <a:pPr>
              <a:buFont typeface="Arial" panose="020B0604020202020204" pitchFamily="34" charset="0"/>
              <a:buChar char="•"/>
            </a:pPr>
            <a:r>
              <a:rPr lang="vi-VN" dirty="0"/>
              <a:t>tiến trình </a:t>
            </a:r>
            <a:r>
              <a:rPr lang="vi-VN" b="1" dirty="0"/>
              <a:t>không được gửi message ứng dụng</a:t>
            </a:r>
            <a:endParaRPr lang="vi-VN" dirty="0"/>
          </a:p>
          <a:p>
            <a:pPr>
              <a:buFont typeface="Arial" panose="020B0604020202020204" pitchFamily="34" charset="0"/>
              <a:buChar char="•"/>
            </a:pPr>
            <a:r>
              <a:rPr lang="vi-VN" dirty="0"/>
              <a:t>phải chờ coordinator ra lệnh “checkpoint done”</a:t>
            </a:r>
          </a:p>
          <a:p>
            <a:r>
              <a:rPr lang="en-US" dirty="0"/>
              <a:t>=&gt;</a:t>
            </a:r>
            <a:r>
              <a:rPr lang="vi-VN" dirty="0"/>
              <a:t> Gây tạm thời “đóng băng” hệ thống.</a:t>
            </a:r>
          </a:p>
          <a:p>
            <a:endParaRPr lang="en-US" b="1" dirty="0"/>
          </a:p>
          <a:p>
            <a:r>
              <a:rPr lang="en-US" b="1" dirty="0"/>
              <a:t>** </a:t>
            </a:r>
            <a:r>
              <a:rPr lang="vi-VN" b="1" dirty="0"/>
              <a:t>Observation – Nhận xét</a:t>
            </a:r>
          </a:p>
          <a:p>
            <a:r>
              <a:rPr lang="vi-VN" dirty="0"/>
              <a:t>We can consider only those processes that depend on the recovery of the coordinator.</a:t>
            </a:r>
          </a:p>
          <a:p>
            <a:r>
              <a:rPr lang="vi-VN" dirty="0"/>
              <a:t>Ý là:</a:t>
            </a:r>
          </a:p>
          <a:p>
            <a:pPr>
              <a:buFont typeface="Arial" panose="020B0604020202020204" pitchFamily="34" charset="0"/>
              <a:buChar char="•"/>
            </a:pPr>
            <a:r>
              <a:rPr lang="vi-VN" dirty="0"/>
              <a:t>Không phải tất cả tiến trình luôn phải checkpoint cùng một lúc.</a:t>
            </a:r>
          </a:p>
          <a:p>
            <a:pPr>
              <a:buFont typeface="Arial" panose="020B0604020202020204" pitchFamily="34" charset="0"/>
              <a:buChar char="•"/>
            </a:pPr>
            <a:r>
              <a:rPr lang="vi-VN" dirty="0"/>
              <a:t>Chỉ những tiến trình có liên quan trong đường giao tiếp (message dependency graph) với coordinator mới cần checkpoint.</a:t>
            </a:r>
          </a:p>
          <a:p>
            <a:r>
              <a:rPr lang="en-US" dirty="0"/>
              <a:t>* </a:t>
            </a:r>
            <a:r>
              <a:rPr lang="vi-VN" dirty="0"/>
              <a:t>Điều này giúp giảm overhead:</a:t>
            </a:r>
            <a:br>
              <a:rPr lang="vi-VN" dirty="0"/>
            </a:br>
            <a:r>
              <a:rPr lang="vi-VN" dirty="0"/>
              <a:t>Không phải toàn bộ hệ thống đều bị “đóng băng”.</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85</a:t>
            </a:fld>
            <a:endParaRPr lang="en-US"/>
          </a:p>
        </p:txBody>
      </p:sp>
    </p:spTree>
    <p:extLst>
      <p:ext uri="{BB962C8B-B14F-4D97-AF65-F5344CB8AC3E}">
        <p14:creationId xmlns:p14="http://schemas.microsoft.com/office/powerpoint/2010/main" val="36859540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Cascaded rollback – Hiện tượng “lăn quay” hồi phục dây chuyền</a:t>
            </a:r>
          </a:p>
          <a:p>
            <a:endParaRPr lang="en-US" b="1" dirty="0"/>
          </a:p>
          <a:p>
            <a:r>
              <a:rPr lang="en-US" b="1" dirty="0"/>
              <a:t>** </a:t>
            </a:r>
            <a:r>
              <a:rPr lang="vi-VN" b="1" dirty="0"/>
              <a:t>Observation (Nhận xét chính)</a:t>
            </a:r>
          </a:p>
          <a:p>
            <a:r>
              <a:rPr lang="vi-VN" dirty="0"/>
              <a:t>Nếu checkpoint được tạo </a:t>
            </a:r>
            <a:r>
              <a:rPr lang="vi-VN" b="1" dirty="0"/>
              <a:t>không đúng thời điểm</a:t>
            </a:r>
            <a:r>
              <a:rPr lang="vi-VN" dirty="0"/>
              <a:t>, thì khi xảy ra lỗi, hệ thống bị buộc phải rollback về </a:t>
            </a:r>
            <a:r>
              <a:rPr lang="vi-VN" b="1" dirty="0"/>
              <a:t>một thời điểm rất xa</a:t>
            </a:r>
            <a:r>
              <a:rPr lang="vi-VN" dirty="0"/>
              <a:t>, thậm chí là về </a:t>
            </a:r>
            <a:r>
              <a:rPr lang="vi-VN" b="1" dirty="0"/>
              <a:t>trạng thái ban đầu (initial state)</a:t>
            </a:r>
            <a:r>
              <a:rPr lang="vi-VN" dirty="0"/>
              <a:t>.</a:t>
            </a:r>
          </a:p>
          <a:p>
            <a:r>
              <a:rPr lang="vi-VN" dirty="0"/>
              <a:t>Hiện tượng này được gọi là </a:t>
            </a:r>
            <a:r>
              <a:rPr lang="vi-VN" b="1" dirty="0"/>
              <a:t>cascaded rollback</a:t>
            </a:r>
            <a:r>
              <a:rPr lang="vi-VN" dirty="0"/>
              <a:t> – rollback dây chuyền.</a:t>
            </a:r>
          </a:p>
          <a:p>
            <a:endParaRPr lang="en-US" b="1" dirty="0"/>
          </a:p>
          <a:p>
            <a:r>
              <a:rPr lang="en-US" b="1" dirty="0"/>
              <a:t>** </a:t>
            </a:r>
            <a:r>
              <a:rPr lang="vi-VN" b="1" dirty="0"/>
              <a:t>Giải thích bằng ví dụ trong hình</a:t>
            </a:r>
          </a:p>
          <a:p>
            <a:r>
              <a:rPr lang="vi-VN" dirty="0"/>
              <a:t>Trong hình ta có 2 tiến trình:</a:t>
            </a:r>
          </a:p>
          <a:p>
            <a:pPr>
              <a:buFont typeface="Arial" panose="020B0604020202020204" pitchFamily="34" charset="0"/>
              <a:buChar char="•"/>
            </a:pPr>
            <a:r>
              <a:rPr lang="vi-VN" b="1" dirty="0"/>
              <a:t>P1</a:t>
            </a:r>
            <a:endParaRPr lang="vi-VN" dirty="0"/>
          </a:p>
          <a:p>
            <a:pPr>
              <a:buFont typeface="Arial" panose="020B0604020202020204" pitchFamily="34" charset="0"/>
              <a:buChar char="•"/>
            </a:pPr>
            <a:r>
              <a:rPr lang="vi-VN" b="1" dirty="0"/>
              <a:t>P2</a:t>
            </a:r>
            <a:endParaRPr lang="vi-VN" dirty="0"/>
          </a:p>
          <a:p>
            <a:r>
              <a:rPr lang="vi-VN" dirty="0"/>
              <a:t>Các đường chéo là message gửi qua lại.</a:t>
            </a:r>
            <a:br>
              <a:rPr lang="vi-VN" dirty="0"/>
            </a:br>
            <a:r>
              <a:rPr lang="vi-VN" dirty="0"/>
              <a:t>Các vạch dọc là checkpoint.</a:t>
            </a:r>
          </a:p>
          <a:p>
            <a:r>
              <a:rPr lang="vi-VN" dirty="0"/>
              <a:t>Một lỗi xảy ra ở P2 → hệ thống muốn khôi phục về </a:t>
            </a:r>
            <a:r>
              <a:rPr lang="vi-VN" b="1" dirty="0"/>
              <a:t>một trạng thái nhất quán</a:t>
            </a:r>
            <a:r>
              <a:rPr lang="vi-VN" dirty="0"/>
              <a:t>.</a:t>
            </a:r>
          </a:p>
          <a:p>
            <a:r>
              <a:rPr lang="en-US" b="1" dirty="0"/>
              <a:t>** </a:t>
            </a:r>
            <a:r>
              <a:rPr lang="vi-VN" b="1" dirty="0"/>
              <a:t>Vấn đề xảy ra như thế nào?</a:t>
            </a:r>
          </a:p>
          <a:p>
            <a:r>
              <a:rPr lang="vi-VN" dirty="0"/>
              <a:t>Giả sử:</a:t>
            </a:r>
          </a:p>
          <a:p>
            <a:pPr>
              <a:buFont typeface="+mj-lt"/>
              <a:buAutoNum type="arabicPeriod"/>
            </a:pPr>
            <a:r>
              <a:rPr lang="vi-VN" dirty="0"/>
              <a:t>P2 nhận message </a:t>
            </a:r>
            <a:r>
              <a:rPr lang="vi-VN" b="1" dirty="0"/>
              <a:t>m</a:t>
            </a:r>
            <a:r>
              <a:rPr lang="vi-VN" dirty="0"/>
              <a:t> từ P1 ⇒ message này </a:t>
            </a:r>
            <a:r>
              <a:rPr lang="vi-VN" i="1" dirty="0"/>
              <a:t>đã được nhận</a:t>
            </a:r>
            <a:endParaRPr lang="vi-VN" dirty="0"/>
          </a:p>
          <a:p>
            <a:pPr>
              <a:buFont typeface="+mj-lt"/>
              <a:buAutoNum type="arabicPeriod"/>
            </a:pPr>
            <a:r>
              <a:rPr lang="vi-VN" dirty="0"/>
              <a:t>Nhưng checkpoint gần nhất của P1 lại </a:t>
            </a:r>
            <a:r>
              <a:rPr lang="vi-VN" b="1" dirty="0"/>
              <a:t>không lưu trạng thái đã gửi m</a:t>
            </a:r>
            <a:br>
              <a:rPr lang="vi-VN" dirty="0"/>
            </a:br>
            <a:r>
              <a:rPr lang="en-US" dirty="0"/>
              <a:t>=&gt;</a:t>
            </a:r>
            <a:r>
              <a:rPr lang="vi-VN" dirty="0"/>
              <a:t> tức là </a:t>
            </a:r>
            <a:r>
              <a:rPr lang="vi-VN" b="1" dirty="0"/>
              <a:t>m chưa “được gửi” trong checkpoint của P1</a:t>
            </a:r>
            <a:endParaRPr lang="vi-VN" dirty="0"/>
          </a:p>
          <a:p>
            <a:pPr>
              <a:buFont typeface="+mj-lt"/>
              <a:buAutoNum type="arabicPeriod"/>
            </a:pPr>
            <a:r>
              <a:rPr lang="vi-VN" dirty="0"/>
              <a:t>Khi P2 rollback, nó phải quay về checkpoint không chứa m</a:t>
            </a:r>
            <a:br>
              <a:rPr lang="vi-VN" dirty="0"/>
            </a:br>
            <a:r>
              <a:rPr lang="en-US" dirty="0"/>
              <a:t>=&gt;</a:t>
            </a:r>
            <a:r>
              <a:rPr lang="vi-VN" dirty="0"/>
              <a:t> tức P1 cũng phải rollback để “xóa lời hứa đã gửi m”</a:t>
            </a:r>
          </a:p>
          <a:p>
            <a:r>
              <a:rPr lang="en-US" dirty="0"/>
              <a:t>-</a:t>
            </a:r>
            <a:r>
              <a:rPr lang="vi-VN" dirty="0"/>
              <a:t> </a:t>
            </a:r>
            <a:r>
              <a:rPr lang="vi-VN" b="1" dirty="0"/>
              <a:t>Rollback lan sang P1</a:t>
            </a:r>
            <a:endParaRPr lang="vi-VN" dirty="0"/>
          </a:p>
          <a:p>
            <a:r>
              <a:rPr lang="vi-VN" dirty="0"/>
              <a:t>Tiếp tục:</a:t>
            </a:r>
          </a:p>
          <a:p>
            <a:pPr>
              <a:buFont typeface="Arial" panose="020B0604020202020204" pitchFamily="34" charset="0"/>
              <a:buChar char="•"/>
            </a:pPr>
            <a:r>
              <a:rPr lang="vi-VN" dirty="0"/>
              <a:t>Khi P1 rollback về checkpoint cũ → một số message mà P1 đã nhận từ P2 (ví dụ m*) cũng không còn hợp lệ</a:t>
            </a:r>
          </a:p>
          <a:p>
            <a:pPr>
              <a:buFont typeface="Arial" panose="020B0604020202020204" pitchFamily="34" charset="0"/>
              <a:buChar char="•"/>
            </a:pPr>
            <a:r>
              <a:rPr lang="vi-VN" dirty="0"/>
              <a:t>Do đó P2 lại phải rollback về checkpoint cũ hơn để giữ nhất quán</a:t>
            </a:r>
          </a:p>
          <a:p>
            <a:r>
              <a:rPr lang="en-US" dirty="0"/>
              <a:t>-</a:t>
            </a:r>
            <a:r>
              <a:rPr lang="vi-VN" dirty="0"/>
              <a:t> </a:t>
            </a:r>
            <a:r>
              <a:rPr lang="vi-VN" b="1" dirty="0"/>
              <a:t>Rollback tiếp tục dây chuyền (cascade)</a:t>
            </a:r>
            <a:endParaRPr lang="vi-VN" dirty="0"/>
          </a:p>
          <a:p>
            <a:r>
              <a:rPr lang="vi-VN" dirty="0"/>
              <a:t>Kết quả:</a:t>
            </a:r>
            <a:endParaRPr lang="en-US" dirty="0"/>
          </a:p>
          <a:p>
            <a:r>
              <a:rPr lang="en-US" dirty="0"/>
              <a:t>=&gt; </a:t>
            </a:r>
            <a:r>
              <a:rPr lang="vi-VN" dirty="0"/>
              <a:t>Hệ thống buộc phải </a:t>
            </a:r>
            <a:r>
              <a:rPr lang="vi-VN" b="1" dirty="0"/>
              <a:t>quay ngược rất xa</a:t>
            </a:r>
            <a:r>
              <a:rPr lang="vi-VN" dirty="0"/>
              <a:t>, nhiều khi quay về </a:t>
            </a:r>
            <a:r>
              <a:rPr lang="vi-VN" b="1" dirty="0"/>
              <a:t>initial state</a:t>
            </a:r>
            <a:endParaRPr lang="en-US" dirty="0"/>
          </a:p>
          <a:p>
            <a:endParaRPr lang="en-US" b="1" dirty="0"/>
          </a:p>
          <a:p>
            <a:r>
              <a:rPr lang="en-US" b="1" dirty="0"/>
              <a:t>** </a:t>
            </a:r>
            <a:r>
              <a:rPr lang="vi-VN" b="1" dirty="0"/>
              <a:t>Ý nghĩa của hiện tượng Cascaded rollback</a:t>
            </a:r>
          </a:p>
          <a:p>
            <a:r>
              <a:rPr lang="vi-VN" dirty="0"/>
              <a:t>Cascaded rollback xảy ra khi:</a:t>
            </a:r>
          </a:p>
          <a:p>
            <a:pPr>
              <a:buFont typeface="Arial" panose="020B0604020202020204" pitchFamily="34" charset="0"/>
              <a:buChar char="•"/>
            </a:pPr>
            <a:r>
              <a:rPr lang="vi-VN" dirty="0"/>
              <a:t>Các tiến trình </a:t>
            </a:r>
            <a:r>
              <a:rPr lang="vi-VN" b="1" dirty="0"/>
              <a:t>checkpoint độc lập</a:t>
            </a:r>
            <a:r>
              <a:rPr lang="vi-VN" dirty="0"/>
              <a:t>, không phối hợp</a:t>
            </a:r>
          </a:p>
          <a:p>
            <a:pPr>
              <a:buFont typeface="Arial" panose="020B0604020202020204" pitchFamily="34" charset="0"/>
              <a:buChar char="•"/>
            </a:pPr>
            <a:r>
              <a:rPr lang="vi-VN" dirty="0"/>
              <a:t>Một message đã được nhận ở tiến trình A</a:t>
            </a:r>
            <a:br>
              <a:rPr lang="vi-VN" dirty="0"/>
            </a:br>
            <a:r>
              <a:rPr lang="vi-VN" dirty="0"/>
              <a:t>nhưng </a:t>
            </a:r>
            <a:r>
              <a:rPr lang="vi-VN" b="1" dirty="0"/>
              <a:t>checkpoint send không tồn tại</a:t>
            </a:r>
            <a:r>
              <a:rPr lang="vi-VN" dirty="0"/>
              <a:t> ở tiến trình gửi B</a:t>
            </a:r>
          </a:p>
          <a:p>
            <a:r>
              <a:rPr lang="vi-VN" dirty="0"/>
              <a:t>==&gt; Tạo ra checkpoint </a:t>
            </a:r>
            <a:r>
              <a:rPr lang="vi-VN" b="1" dirty="0"/>
              <a:t>không nhất quán (inconsistent checkpoint)</a:t>
            </a:r>
            <a:r>
              <a:rPr lang="vi-VN" dirty="0"/>
              <a:t>.</a:t>
            </a:r>
          </a:p>
          <a:p>
            <a:r>
              <a:rPr lang="vi-VN" dirty="0"/>
              <a:t>Khi khôi phục, toàn hệ thống phải rollback ngược theo chuỗi phụ thuộc message.</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86</a:t>
            </a:fld>
            <a:endParaRPr lang="en-US"/>
          </a:p>
        </p:txBody>
      </p:sp>
    </p:spTree>
    <p:extLst>
      <p:ext uri="{BB962C8B-B14F-4D97-AF65-F5344CB8AC3E}">
        <p14:creationId xmlns:p14="http://schemas.microsoft.com/office/powerpoint/2010/main" val="38917940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Independent checkpointing – Ý tưởng chính</a:t>
            </a:r>
          </a:p>
          <a:p>
            <a:r>
              <a:rPr lang="en-US" b="1" dirty="0"/>
              <a:t>** </a:t>
            </a:r>
            <a:r>
              <a:rPr lang="vi-VN" b="1" dirty="0"/>
              <a:t>Essence (Bản chất)</a:t>
            </a:r>
          </a:p>
          <a:p>
            <a:r>
              <a:rPr lang="vi-VN" dirty="0"/>
              <a:t>Mỗi tiến trình </a:t>
            </a:r>
            <a:r>
              <a:rPr lang="vi-VN" b="1" dirty="0"/>
              <a:t>tự tạo checkpoint độc lập</a:t>
            </a:r>
            <a:r>
              <a:rPr lang="vi-VN" dirty="0"/>
              <a:t>, không cần phối hợp với tiến trình khác.</a:t>
            </a:r>
          </a:p>
          <a:p>
            <a:r>
              <a:rPr lang="en-US" dirty="0"/>
              <a:t>-</a:t>
            </a:r>
            <a:r>
              <a:rPr lang="vi-VN" dirty="0"/>
              <a:t> Ưu điểm: </a:t>
            </a:r>
            <a:r>
              <a:rPr lang="vi-VN" i="1" dirty="0"/>
              <a:t>Không cần đồng bộ, ít tốn chi phí đồng bộ hóa.</a:t>
            </a:r>
            <a:br>
              <a:rPr lang="vi-VN" dirty="0"/>
            </a:br>
            <a:r>
              <a:rPr lang="en-US" dirty="0"/>
              <a:t>-</a:t>
            </a:r>
            <a:r>
              <a:rPr lang="vi-VN" dirty="0"/>
              <a:t> Nhược điểm: </a:t>
            </a:r>
            <a:r>
              <a:rPr lang="vi-VN" i="1" dirty="0"/>
              <a:t>Dễ tạo ra cascaded rollback → rollback dây chuyền.</a:t>
            </a:r>
            <a:endParaRPr lang="vi-VN" dirty="0"/>
          </a:p>
          <a:p>
            <a:endParaRPr lang="en-US" b="1" dirty="0"/>
          </a:p>
          <a:p>
            <a:r>
              <a:rPr lang="en-US" b="1" dirty="0"/>
              <a:t>** </a:t>
            </a:r>
            <a:r>
              <a:rPr lang="vi-VN" b="1" dirty="0"/>
              <a:t>Giải thích các ký hiệu trong slide</a:t>
            </a:r>
          </a:p>
          <a:p>
            <a:pPr>
              <a:buFont typeface="Arial" panose="020B0604020202020204" pitchFamily="34" charset="0"/>
              <a:buChar char="•"/>
            </a:pPr>
            <a:r>
              <a:rPr lang="vi-VN" b="1" dirty="0"/>
              <a:t>CPᵢ(m)</a:t>
            </a:r>
            <a:r>
              <a:rPr lang="vi-VN" dirty="0"/>
              <a:t> = checkpoint thứ </a:t>
            </a:r>
            <a:r>
              <a:rPr lang="vi-VN" b="1" dirty="0"/>
              <a:t>m</a:t>
            </a:r>
            <a:r>
              <a:rPr lang="vi-VN" dirty="0"/>
              <a:t> của tiến trình </a:t>
            </a:r>
            <a:r>
              <a:rPr lang="vi-VN" b="1" dirty="0"/>
              <a:t>Pᵢ</a:t>
            </a:r>
            <a:endParaRPr lang="vi-VN" dirty="0"/>
          </a:p>
          <a:p>
            <a:pPr>
              <a:buFont typeface="Arial" panose="020B0604020202020204" pitchFamily="34" charset="0"/>
              <a:buChar char="•"/>
            </a:pPr>
            <a:r>
              <a:rPr lang="vi-VN" b="1" dirty="0"/>
              <a:t>INTᵢ(m)</a:t>
            </a:r>
            <a:r>
              <a:rPr lang="vi-VN" dirty="0"/>
              <a:t> = khoảng thời gian giữa </a:t>
            </a:r>
            <a:r>
              <a:rPr lang="vi-VN" b="1" dirty="0"/>
              <a:t>CPᵢ(m–1)</a:t>
            </a:r>
            <a:r>
              <a:rPr lang="vi-VN" dirty="0"/>
              <a:t> và </a:t>
            </a:r>
            <a:r>
              <a:rPr lang="vi-VN" b="1" dirty="0"/>
              <a:t>CPᵢ(m)</a:t>
            </a:r>
            <a:br>
              <a:rPr lang="vi-VN" dirty="0"/>
            </a:br>
            <a:r>
              <a:rPr lang="vi-VN" dirty="0"/>
              <a:t>(tức là giai đoạn chạy chương trình giữa hai checkpoint)</a:t>
            </a:r>
          </a:p>
          <a:p>
            <a:r>
              <a:rPr lang="en-US" b="1" dirty="0"/>
              <a:t>- </a:t>
            </a:r>
            <a:r>
              <a:rPr lang="vi-VN" b="1" dirty="0"/>
              <a:t>Cách ghi nhận phụ thuộc giữa các tiến trình</a:t>
            </a:r>
          </a:p>
          <a:p>
            <a:r>
              <a:rPr lang="en-US" b="1" dirty="0"/>
              <a:t>1.</a:t>
            </a:r>
            <a:r>
              <a:rPr lang="vi-VN" b="1" dirty="0"/>
              <a:t> Khi Pᵢ gửi message trong interval INTᵢ(m)</a:t>
            </a:r>
          </a:p>
          <a:p>
            <a:r>
              <a:rPr lang="vi-VN" dirty="0"/>
              <a:t>Nó gắn kèm (piggyback) thông tin:</a:t>
            </a:r>
          </a:p>
          <a:p>
            <a:r>
              <a:rPr lang="en-US" dirty="0"/>
              <a:t>=&gt; </a:t>
            </a:r>
            <a:r>
              <a:rPr lang="en-US" b="1" dirty="0"/>
              <a:t>(</a:t>
            </a:r>
            <a:r>
              <a:rPr lang="vi-VN" b="1" dirty="0"/>
              <a:t>i, m)</a:t>
            </a:r>
            <a:r>
              <a:rPr lang="vi-VN" dirty="0"/>
              <a:t> – nghĩa là “message này được gửi trong interval m của Pᵢ”</a:t>
            </a:r>
          </a:p>
          <a:p>
            <a:r>
              <a:rPr lang="en-US" b="1" dirty="0"/>
              <a:t>2.</a:t>
            </a:r>
            <a:r>
              <a:rPr lang="vi-VN" b="1" dirty="0"/>
              <a:t> Khi Pⱼ nhận message trong interval INTⱼ(n)</a:t>
            </a:r>
          </a:p>
          <a:p>
            <a:r>
              <a:rPr lang="vi-VN" dirty="0"/>
              <a:t>Pⱼ ghi lại một quan hệ phụ thuộc:</a:t>
            </a:r>
          </a:p>
          <a:p>
            <a:r>
              <a:rPr lang="en-US" dirty="0"/>
              <a:t>=&gt; </a:t>
            </a:r>
            <a:r>
              <a:rPr lang="vi-VN" b="1" dirty="0"/>
              <a:t>INTᵢ(m) → INTⱼ(n)</a:t>
            </a:r>
            <a:br>
              <a:rPr lang="vi-VN" dirty="0"/>
            </a:br>
            <a:r>
              <a:rPr lang="vi-VN" dirty="0"/>
              <a:t>“Tất cả trạng thái trong INTⱼ(n) phụ thuộc vào trạng thái trong INTᵢ(m).”</a:t>
            </a:r>
          </a:p>
          <a:p>
            <a:r>
              <a:rPr lang="en-US" b="1" dirty="0"/>
              <a:t>3.</a:t>
            </a:r>
            <a:r>
              <a:rPr lang="vi-VN" b="1" dirty="0"/>
              <a:t> Khi Pⱼ tạo checkpoint CPⱼ(n)</a:t>
            </a:r>
          </a:p>
          <a:p>
            <a:r>
              <a:rPr lang="vi-VN" dirty="0"/>
              <a:t>Nó lưu xuống file hệ thống tất cả dependency:</a:t>
            </a:r>
          </a:p>
          <a:p>
            <a:r>
              <a:rPr lang="en-US" dirty="0"/>
              <a:t>=&gt; </a:t>
            </a:r>
            <a:r>
              <a:rPr lang="vi-VN" b="1" dirty="0"/>
              <a:t>INTᵢ(m) → INTⱼ(n)</a:t>
            </a:r>
            <a:endParaRPr lang="vi-VN" dirty="0"/>
          </a:p>
          <a:p>
            <a:r>
              <a:rPr lang="vi-VN" dirty="0"/>
              <a:t>Nhờ đó, Pⱼ nhớ rằng:</a:t>
            </a:r>
          </a:p>
          <a:p>
            <a:pPr>
              <a:buFont typeface="Arial" panose="020B0604020202020204" pitchFamily="34" charset="0"/>
              <a:buChar char="•"/>
            </a:pPr>
            <a:r>
              <a:rPr lang="vi-VN" dirty="0"/>
              <a:t>Nếu Pᵢ rollback về CPᵢ(m–1)</a:t>
            </a:r>
            <a:br>
              <a:rPr lang="vi-VN" dirty="0"/>
            </a:br>
            <a:r>
              <a:rPr lang="en-US" dirty="0"/>
              <a:t>-</a:t>
            </a:r>
            <a:r>
              <a:rPr lang="vi-VN" dirty="0"/>
              <a:t> Thì Pⱼ </a:t>
            </a:r>
            <a:r>
              <a:rPr lang="vi-VN" b="1" dirty="0"/>
              <a:t>cũng phải rollback</a:t>
            </a:r>
            <a:r>
              <a:rPr lang="vi-VN" dirty="0"/>
              <a:t> về CPⱼ(n–1)</a:t>
            </a:r>
            <a:br>
              <a:rPr lang="vi-VN" dirty="0"/>
            </a:br>
            <a:r>
              <a:rPr lang="en-US" dirty="0"/>
              <a:t>-</a:t>
            </a:r>
            <a:r>
              <a:rPr lang="vi-VN" dirty="0"/>
              <a:t> Vì trạng thái của Pⱼ phụ thuộc vào message được gửi trong INTᵢ(m).</a:t>
            </a:r>
          </a:p>
          <a:p>
            <a:endParaRPr lang="en-US" b="1" dirty="0"/>
          </a:p>
          <a:p>
            <a:r>
              <a:rPr lang="en-US" b="1" dirty="0"/>
              <a:t>** </a:t>
            </a:r>
            <a:r>
              <a:rPr lang="vi-VN" b="1" dirty="0"/>
              <a:t>Observation </a:t>
            </a:r>
            <a:r>
              <a:rPr lang="en-US" b="1" dirty="0"/>
              <a:t>(</a:t>
            </a:r>
            <a:r>
              <a:rPr lang="en-US" b="1" dirty="0" err="1"/>
              <a:t>Nhận</a:t>
            </a:r>
            <a:r>
              <a:rPr lang="en-US" b="1" dirty="0"/>
              <a:t> </a:t>
            </a:r>
            <a:r>
              <a:rPr lang="en-US" b="1" dirty="0" err="1"/>
              <a:t>xét</a:t>
            </a:r>
            <a:r>
              <a:rPr lang="vi-VN" b="1" dirty="0"/>
              <a:t>)</a:t>
            </a:r>
          </a:p>
          <a:p>
            <a:r>
              <a:rPr lang="vi-VN" b="1" dirty="0"/>
              <a:t>Nếu Pᵢ rollback về checkpoint trước CPᵢ(m), thì Pⱼ cũng phải rollback về checkpoint trước CPⱼ(n).</a:t>
            </a:r>
            <a:endParaRPr lang="vi-VN" dirty="0"/>
          </a:p>
          <a:p>
            <a:r>
              <a:rPr lang="vi-VN" dirty="0"/>
              <a:t>Tức là rollback </a:t>
            </a:r>
            <a:r>
              <a:rPr lang="vi-VN" b="1" dirty="0"/>
              <a:t>lan truyền</a:t>
            </a:r>
            <a:r>
              <a:rPr lang="vi-VN" dirty="0"/>
              <a:t> giữa các tiến trình.</a:t>
            </a:r>
          </a:p>
          <a:p>
            <a:r>
              <a:rPr lang="vi-VN" dirty="0"/>
              <a:t>Đây chính là hiện tượng </a:t>
            </a:r>
            <a:r>
              <a:rPr lang="vi-VN" b="1" dirty="0"/>
              <a:t>cascaded rollback</a:t>
            </a:r>
            <a:r>
              <a:rPr lang="vi-VN" dirty="0"/>
              <a: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92</a:t>
            </a:fld>
            <a:endParaRPr lang="en-US"/>
          </a:p>
        </p:txBody>
      </p:sp>
    </p:spTree>
    <p:extLst>
      <p:ext uri="{BB962C8B-B14F-4D97-AF65-F5344CB8AC3E}">
        <p14:creationId xmlns:p14="http://schemas.microsoft.com/office/powerpoint/2010/main" val="29673467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Message logging – Ý tưởng chính</a:t>
            </a:r>
          </a:p>
          <a:p>
            <a:r>
              <a:rPr lang="vi-VN" dirty="0"/>
              <a:t>Slide này trình bày một cách tiếp cận </a:t>
            </a:r>
            <a:r>
              <a:rPr lang="vi-VN" b="1" dirty="0"/>
              <a:t>khác</a:t>
            </a:r>
            <a:r>
              <a:rPr lang="vi-VN" dirty="0"/>
              <a:t> so với checkpointing truyền thống:</a:t>
            </a:r>
            <a:br>
              <a:rPr lang="vi-VN" dirty="0"/>
            </a:br>
            <a:r>
              <a:rPr lang="en-US" dirty="0"/>
              <a:t>=&gt; </a:t>
            </a:r>
            <a:r>
              <a:rPr lang="vi-VN" dirty="0"/>
              <a:t>Thay vì tạo checkpoint thường xuyên (rất tốn chi phí), ta </a:t>
            </a:r>
            <a:r>
              <a:rPr lang="vi-VN" b="1" dirty="0"/>
              <a:t>ghi log các message</a:t>
            </a:r>
            <a:r>
              <a:rPr lang="vi-VN" dirty="0"/>
              <a:t> để có thể </a:t>
            </a:r>
            <a:r>
              <a:rPr lang="vi-VN" b="1" dirty="0"/>
              <a:t>replay (tái hiện)</a:t>
            </a:r>
            <a:r>
              <a:rPr lang="vi-VN" dirty="0"/>
              <a:t> trạng thái của tiến trình khi cần phục hồi.</a:t>
            </a:r>
          </a:p>
          <a:p>
            <a:endParaRPr lang="en-US" b="1" dirty="0"/>
          </a:p>
          <a:p>
            <a:r>
              <a:rPr lang="en-US" b="1" dirty="0"/>
              <a:t>** </a:t>
            </a:r>
            <a:r>
              <a:rPr lang="vi-VN" b="1" dirty="0"/>
              <a:t>Alternative — Tại sao dùng message logging?</a:t>
            </a:r>
          </a:p>
          <a:p>
            <a:r>
              <a:rPr lang="vi-VN" dirty="0"/>
              <a:t>Checkpointing tốn tài nguyên vì phải:</a:t>
            </a:r>
          </a:p>
          <a:p>
            <a:pPr>
              <a:buFont typeface="Arial" panose="020B0604020202020204" pitchFamily="34" charset="0"/>
              <a:buChar char="•"/>
            </a:pPr>
            <a:r>
              <a:rPr lang="vi-VN" dirty="0"/>
              <a:t>ghi toàn bộ trạng thái tiến trình xuống đĩa,</a:t>
            </a:r>
          </a:p>
          <a:p>
            <a:pPr>
              <a:buFont typeface="Arial" panose="020B0604020202020204" pitchFamily="34" charset="0"/>
              <a:buChar char="•"/>
            </a:pPr>
            <a:r>
              <a:rPr lang="vi-VN" dirty="0"/>
              <a:t>dừng một số hoạt động để đảm bảo nhất quán.</a:t>
            </a:r>
          </a:p>
          <a:p>
            <a:r>
              <a:rPr lang="vi-VN" b="1" dirty="0"/>
              <a:t>Message logging</a:t>
            </a:r>
            <a:r>
              <a:rPr lang="vi-VN" dirty="0"/>
              <a:t> đề xuất giải pháp thay thế:</a:t>
            </a:r>
          </a:p>
          <a:p>
            <a:r>
              <a:rPr lang="en-US" b="1" dirty="0"/>
              <a:t>=&gt;</a:t>
            </a:r>
            <a:r>
              <a:rPr lang="vi-VN" b="1" dirty="0"/>
              <a:t> Thay vì checkpoint liên tục → chỉ lưu log các message</a:t>
            </a:r>
          </a:p>
          <a:p>
            <a:r>
              <a:rPr lang="en-US" dirty="0"/>
              <a:t>-</a:t>
            </a:r>
            <a:r>
              <a:rPr lang="vi-VN" dirty="0"/>
              <a:t> Khi tiến trình bị lỗi, ta </a:t>
            </a:r>
            <a:r>
              <a:rPr lang="vi-VN" b="1" dirty="0"/>
              <a:t>phục hồi từ checkpoint gần nhất</a:t>
            </a:r>
            <a:r>
              <a:rPr lang="vi-VN" dirty="0"/>
              <a:t>,</a:t>
            </a:r>
            <a:br>
              <a:rPr lang="vi-VN" dirty="0"/>
            </a:br>
            <a:r>
              <a:rPr lang="en-US" dirty="0"/>
              <a:t>-</a:t>
            </a:r>
            <a:r>
              <a:rPr lang="vi-VN" dirty="0"/>
              <a:t> rồi </a:t>
            </a:r>
            <a:r>
              <a:rPr lang="vi-VN" b="1" dirty="0"/>
              <a:t>replay lại các message trong log</a:t>
            </a:r>
            <a:r>
              <a:rPr lang="vi-VN" dirty="0"/>
              <a:t> để trở lại đúng trạng thái trước khi crash.</a:t>
            </a:r>
          </a:p>
          <a:p>
            <a:r>
              <a:rPr lang="vi-VN" b="1" dirty="0"/>
              <a:t>Ý tưởng giống như "undo + redo" trong database</a:t>
            </a:r>
            <a:r>
              <a:rPr lang="vi-VN" dirty="0"/>
              <a:t>, chỉ khác là đây là “replay messages”.</a:t>
            </a:r>
          </a:p>
          <a:p>
            <a:endParaRPr lang="en-US" b="1" dirty="0"/>
          </a:p>
          <a:p>
            <a:r>
              <a:rPr lang="en-US" b="1" dirty="0"/>
              <a:t>** </a:t>
            </a:r>
            <a:r>
              <a:rPr lang="vi-VN" b="1" dirty="0"/>
              <a:t>Assumption — Giả định quan trọng</a:t>
            </a:r>
          </a:p>
          <a:p>
            <a:r>
              <a:rPr lang="vi-VN" dirty="0"/>
              <a:t>Chúng ta giả định mô hình </a:t>
            </a:r>
            <a:r>
              <a:rPr lang="vi-VN" b="1" dirty="0"/>
              <a:t>piecewise deterministic (PWD)</a:t>
            </a:r>
            <a:r>
              <a:rPr lang="vi-VN" dirty="0"/>
              <a:t>:</a:t>
            </a:r>
          </a:p>
          <a:p>
            <a:r>
              <a:rPr lang="en-US" b="1" dirty="0"/>
              <a:t>1.</a:t>
            </a:r>
            <a:r>
              <a:rPr lang="vi-VN" b="1" dirty="0"/>
              <a:t> Chạy chương trình = chuỗi các state interval</a:t>
            </a:r>
          </a:p>
          <a:p>
            <a:r>
              <a:rPr lang="vi-VN" dirty="0"/>
              <a:t>Một tiến trình chạy qua nhiều giai đoạn (interval).</a:t>
            </a:r>
          </a:p>
          <a:p>
            <a:r>
              <a:rPr lang="en-US" b="1" dirty="0"/>
              <a:t>2.</a:t>
            </a:r>
            <a:r>
              <a:rPr lang="vi-VN" b="1" dirty="0"/>
              <a:t> Mỗi interval bắt đầu bằng sự kiện </a:t>
            </a:r>
            <a:r>
              <a:rPr lang="vi-VN" b="1" i="1" dirty="0"/>
              <a:t>không xác định</a:t>
            </a:r>
            <a:endParaRPr lang="vi-VN" b="1" dirty="0"/>
          </a:p>
          <a:p>
            <a:r>
              <a:rPr lang="vi-VN" dirty="0"/>
              <a:t>Ví dụ:</a:t>
            </a:r>
          </a:p>
          <a:p>
            <a:pPr>
              <a:buFont typeface="Arial" panose="020B0604020202020204" pitchFamily="34" charset="0"/>
              <a:buChar char="•"/>
            </a:pPr>
            <a:r>
              <a:rPr lang="vi-VN" dirty="0"/>
              <a:t>một message đến,</a:t>
            </a:r>
          </a:p>
          <a:p>
            <a:pPr>
              <a:buFont typeface="Arial" panose="020B0604020202020204" pitchFamily="34" charset="0"/>
              <a:buChar char="•"/>
            </a:pPr>
            <a:r>
              <a:rPr lang="vi-VN" dirty="0"/>
              <a:t>interrupt,</a:t>
            </a:r>
          </a:p>
          <a:p>
            <a:pPr>
              <a:buFont typeface="Arial" panose="020B0604020202020204" pitchFamily="34" charset="0"/>
              <a:buChar char="•"/>
            </a:pPr>
            <a:r>
              <a:rPr lang="vi-VN" dirty="0"/>
              <a:t>timeout…</a:t>
            </a:r>
          </a:p>
          <a:p>
            <a:r>
              <a:rPr lang="vi-VN" dirty="0"/>
              <a:t>Đây là các sự kiện mà ta </a:t>
            </a:r>
            <a:r>
              <a:rPr lang="vi-VN" b="1" dirty="0"/>
              <a:t>không thể dự đoán</a:t>
            </a:r>
            <a:r>
              <a:rPr lang="vi-VN" dirty="0"/>
              <a:t>.</a:t>
            </a:r>
          </a:p>
          <a:p>
            <a:r>
              <a:rPr lang="en-US" b="1" dirty="0"/>
              <a:t>3.</a:t>
            </a:r>
            <a:r>
              <a:rPr lang="vi-VN" b="1" dirty="0"/>
              <a:t> Sau sự kiện đó → mọi hành vi là </a:t>
            </a:r>
            <a:r>
              <a:rPr lang="vi-VN" b="1" i="1" dirty="0"/>
              <a:t>deterministic</a:t>
            </a:r>
            <a:r>
              <a:rPr lang="vi-VN" b="1" dirty="0"/>
              <a:t> (xác định)</a:t>
            </a:r>
          </a:p>
          <a:p>
            <a:r>
              <a:rPr lang="vi-VN" dirty="0"/>
              <a:t>Tức là:</a:t>
            </a:r>
          </a:p>
          <a:p>
            <a:pPr>
              <a:buFont typeface="Arial" panose="020B0604020202020204" pitchFamily="34" charset="0"/>
              <a:buChar char="•"/>
            </a:pPr>
            <a:r>
              <a:rPr lang="vi-VN" dirty="0"/>
              <a:t>Nếu trạng thái &amp; input giống nhau</a:t>
            </a:r>
            <a:br>
              <a:rPr lang="vi-VN" dirty="0"/>
            </a:br>
            <a:r>
              <a:rPr lang="vi-VN" dirty="0"/>
              <a:t>→ tiến trình sẽ chạy lại giống hệt.</a:t>
            </a:r>
          </a:p>
          <a:p>
            <a:r>
              <a:rPr lang="en-US" b="1" dirty="0"/>
              <a:t>* </a:t>
            </a:r>
            <a:r>
              <a:rPr lang="vi-VN" b="1" dirty="0"/>
              <a:t>Tại sao</a:t>
            </a:r>
            <a:r>
              <a:rPr lang="en-US" b="1" dirty="0"/>
              <a:t> </a:t>
            </a:r>
            <a:r>
              <a:rPr lang="vi-VN" b="1" dirty="0"/>
              <a:t>piecewise deterministic </a:t>
            </a:r>
            <a:r>
              <a:rPr lang="en-US" b="1" dirty="0"/>
              <a:t>(</a:t>
            </a:r>
            <a:r>
              <a:rPr lang="vi-VN" b="1" dirty="0"/>
              <a:t>PWD</a:t>
            </a:r>
            <a:r>
              <a:rPr lang="en-US" b="1" dirty="0"/>
              <a:t>)</a:t>
            </a:r>
            <a:r>
              <a:rPr lang="vi-VN" b="1" dirty="0"/>
              <a:t> giúp message logging hoạt động?</a:t>
            </a:r>
          </a:p>
          <a:p>
            <a:r>
              <a:rPr lang="vi-VN" dirty="0"/>
              <a:t>Vì:</a:t>
            </a:r>
          </a:p>
          <a:p>
            <a:pPr>
              <a:buFont typeface="Arial" panose="020B0604020202020204" pitchFamily="34" charset="0"/>
              <a:buChar char="•"/>
            </a:pPr>
            <a:r>
              <a:rPr lang="vi-VN" dirty="0"/>
              <a:t>Ta chỉ cần ghi lại </a:t>
            </a:r>
            <a:r>
              <a:rPr lang="vi-VN" b="1" dirty="0"/>
              <a:t>những sự kiện không xác định</a:t>
            </a:r>
            <a:r>
              <a:rPr lang="vi-VN" dirty="0"/>
              <a:t> (nondeterministic events)</a:t>
            </a:r>
          </a:p>
          <a:p>
            <a:pPr>
              <a:buFont typeface="Arial" panose="020B0604020202020204" pitchFamily="34" charset="0"/>
              <a:buChar char="•"/>
            </a:pPr>
            <a:r>
              <a:rPr lang="vi-VN" dirty="0"/>
              <a:t>Còn phần deterministic thì sẽ chạy lại giống hệt trong lúc replay</a:t>
            </a:r>
          </a:p>
          <a:p>
            <a:r>
              <a:rPr lang="en-US" dirty="0"/>
              <a:t>-</a:t>
            </a:r>
            <a:r>
              <a:rPr lang="vi-VN" dirty="0"/>
              <a:t> Không cần record toàn bộ execution, chỉ cần record </a:t>
            </a:r>
            <a:r>
              <a:rPr lang="vi-VN" b="1" dirty="0"/>
              <a:t>message arrivals</a:t>
            </a:r>
            <a:r>
              <a:rPr lang="vi-VN" dirty="0"/>
              <a:t>.</a:t>
            </a:r>
          </a:p>
          <a:p>
            <a:endParaRPr lang="en-US" b="1" dirty="0"/>
          </a:p>
          <a:p>
            <a:r>
              <a:rPr lang="en-US" b="1" dirty="0"/>
              <a:t>** </a:t>
            </a:r>
            <a:r>
              <a:rPr lang="vi-VN" b="1" dirty="0"/>
              <a:t>Conclusion — Kết luận của mô hình</a:t>
            </a:r>
          </a:p>
          <a:p>
            <a:r>
              <a:rPr lang="vi-VN" dirty="0"/>
              <a:t>Nếu ta:</a:t>
            </a:r>
          </a:p>
          <a:p>
            <a:pPr>
              <a:buFont typeface="Arial" panose="020B0604020202020204" pitchFamily="34" charset="0"/>
              <a:buChar char="•"/>
            </a:pPr>
            <a:r>
              <a:rPr lang="vi-VN" dirty="0"/>
              <a:t>ghi lại </a:t>
            </a:r>
            <a:r>
              <a:rPr lang="vi-VN" b="1" dirty="0"/>
              <a:t>các sự kiện không xác định</a:t>
            </a:r>
            <a:br>
              <a:rPr lang="vi-VN" dirty="0"/>
            </a:br>
            <a:r>
              <a:rPr lang="vi-VN" dirty="0"/>
              <a:t>(chủ yếu là message đến)</a:t>
            </a:r>
          </a:p>
          <a:p>
            <a:pPr>
              <a:buFont typeface="Arial" panose="020B0604020202020204" pitchFamily="34" charset="0"/>
              <a:buChar char="•"/>
            </a:pPr>
            <a:r>
              <a:rPr lang="vi-VN" dirty="0"/>
              <a:t>lưu chúng vào </a:t>
            </a:r>
            <a:r>
              <a:rPr lang="vi-VN" b="1" dirty="0"/>
              <a:t>log</a:t>
            </a:r>
            <a:endParaRPr lang="vi-VN" dirty="0"/>
          </a:p>
          <a:p>
            <a:r>
              <a:rPr lang="vi-VN" dirty="0"/>
              <a:t>Thì khi cần phục hồi:</a:t>
            </a:r>
          </a:p>
          <a:p>
            <a:pPr>
              <a:buFont typeface="+mj-lt"/>
              <a:buAutoNum type="arabicPeriod"/>
            </a:pPr>
            <a:r>
              <a:rPr lang="vi-VN" dirty="0"/>
              <a:t>Load checkpoint gần nhất</a:t>
            </a:r>
          </a:p>
          <a:p>
            <a:pPr>
              <a:buFont typeface="+mj-lt"/>
              <a:buAutoNum type="arabicPeriod"/>
            </a:pPr>
            <a:r>
              <a:rPr lang="vi-VN" dirty="0"/>
              <a:t>Replay lại log các message đúng thứ tự</a:t>
            </a:r>
          </a:p>
          <a:p>
            <a:pPr>
              <a:buFont typeface="+mj-lt"/>
              <a:buAutoNum type="arabicPeriod"/>
            </a:pPr>
            <a:r>
              <a:rPr lang="vi-VN" dirty="0"/>
              <a:t>Hệ thống đạt lại đúng trạng thái như trước khi crash</a:t>
            </a:r>
          </a:p>
          <a:p>
            <a:r>
              <a:rPr lang="en-US" dirty="0"/>
              <a:t>- </a:t>
            </a:r>
            <a:r>
              <a:rPr lang="vi-VN" b="1" dirty="0"/>
              <a:t>Bản chất: phục hồi bằng cách "phát lại" chương trình dựa trên log</a:t>
            </a:r>
            <a:br>
              <a:rPr lang="vi-VN" dirty="0"/>
            </a:br>
            <a:r>
              <a:rPr lang="en-US" dirty="0"/>
              <a:t>- </a:t>
            </a:r>
            <a:r>
              <a:rPr lang="vi-VN" dirty="0"/>
              <a:t>Không tốn chi phí checkpoint liên tục</a:t>
            </a:r>
            <a:br>
              <a:rPr lang="vi-VN" dirty="0"/>
            </a:br>
            <a:r>
              <a:rPr lang="en-US" dirty="0"/>
              <a:t>- </a:t>
            </a:r>
            <a:r>
              <a:rPr lang="vi-VN" dirty="0"/>
              <a:t>Vẫn đảm bảo khôi phục chính xác</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93</a:t>
            </a:fld>
            <a:endParaRPr lang="en-US"/>
          </a:p>
        </p:txBody>
      </p:sp>
    </p:spTree>
    <p:extLst>
      <p:ext uri="{BB962C8B-B14F-4D97-AF65-F5344CB8AC3E}">
        <p14:creationId xmlns:p14="http://schemas.microsoft.com/office/powerpoint/2010/main" val="33652910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i="0" dirty="0"/>
              <a:t>Message logging and consistency – When should we actually log messages?</a:t>
            </a:r>
          </a:p>
          <a:p>
            <a:r>
              <a:rPr lang="vi-VN" b="1" dirty="0"/>
              <a:t>Ý tưởng chung của slide</a:t>
            </a:r>
          </a:p>
          <a:p>
            <a:r>
              <a:rPr lang="vi-VN" dirty="0"/>
              <a:t>Slide này trả lời câu hỏi quan trọng trong message logging:</a:t>
            </a:r>
          </a:p>
          <a:p>
            <a:r>
              <a:rPr lang="en-US" b="1" dirty="0"/>
              <a:t>=&gt; </a:t>
            </a:r>
            <a:r>
              <a:rPr lang="vi-VN" b="1" dirty="0"/>
              <a:t>Khi nào chúng ta cần ghi log message?</a:t>
            </a:r>
          </a:p>
          <a:p>
            <a:r>
              <a:rPr lang="en-US" dirty="0"/>
              <a:t>-</a:t>
            </a:r>
            <a:r>
              <a:rPr lang="vi-VN" dirty="0"/>
              <a:t> Mục tiêu: </a:t>
            </a:r>
            <a:r>
              <a:rPr lang="vi-VN" b="1" dirty="0"/>
              <a:t>tránh tạo ra orphan processes (tiến trình mồ côi)</a:t>
            </a:r>
            <a:endParaRPr lang="vi-VN" dirty="0"/>
          </a:p>
          <a:p>
            <a:endParaRPr lang="en-US" b="1" dirty="0"/>
          </a:p>
          <a:p>
            <a:r>
              <a:rPr lang="en-US" b="1" dirty="0"/>
              <a:t>** </a:t>
            </a:r>
            <a:r>
              <a:rPr lang="vi-VN" b="1" dirty="0"/>
              <a:t>Orphan process là gì?</a:t>
            </a:r>
          </a:p>
          <a:p>
            <a:r>
              <a:rPr lang="vi-VN" dirty="0"/>
              <a:t>Một </a:t>
            </a:r>
            <a:r>
              <a:rPr lang="vi-VN" b="1" dirty="0"/>
              <a:t>orphan process</a:t>
            </a:r>
            <a:r>
              <a:rPr lang="vi-VN" dirty="0"/>
              <a:t> là tiến trình:</a:t>
            </a:r>
          </a:p>
          <a:p>
            <a:pPr>
              <a:buFont typeface="Arial" panose="020B0604020202020204" pitchFamily="34" charset="0"/>
              <a:buChar char="•"/>
            </a:pPr>
            <a:r>
              <a:rPr lang="vi-VN" dirty="0"/>
              <a:t>đang ở trạng thái </a:t>
            </a:r>
            <a:r>
              <a:rPr lang="vi-VN" b="1" dirty="0"/>
              <a:t>không thể được tái tạo</a:t>
            </a:r>
            <a:r>
              <a:rPr lang="vi-VN" dirty="0"/>
              <a:t> từ trạng thái lưu trữ (checkpoint + log),</a:t>
            </a:r>
          </a:p>
          <a:p>
            <a:pPr>
              <a:buFont typeface="Arial" panose="020B0604020202020204" pitchFamily="34" charset="0"/>
              <a:buChar char="•"/>
            </a:pPr>
            <a:r>
              <a:rPr lang="vi-VN" dirty="0"/>
              <a:t>vì nó phụ thuộc vào những message </a:t>
            </a:r>
            <a:r>
              <a:rPr lang="vi-VN" b="1" dirty="0"/>
              <a:t>không được log lại</a:t>
            </a:r>
            <a:r>
              <a:rPr lang="vi-VN" dirty="0"/>
              <a:t> trước khi tiến trình gửi message tiếp theo.</a:t>
            </a:r>
          </a:p>
          <a:p>
            <a:r>
              <a:rPr lang="en-US" dirty="0"/>
              <a:t>=&gt;</a:t>
            </a:r>
            <a:r>
              <a:rPr lang="vi-VN" dirty="0"/>
              <a:t> Điều này dẫn đến </a:t>
            </a:r>
            <a:r>
              <a:rPr lang="vi-VN" b="1" dirty="0"/>
              <a:t>inconsistency</a:t>
            </a:r>
            <a:r>
              <a:rPr lang="vi-VN" dirty="0"/>
              <a:t> sau khi phục hồi.</a:t>
            </a:r>
          </a:p>
          <a:p>
            <a:endParaRPr lang="en-US" b="1" dirty="0"/>
          </a:p>
          <a:p>
            <a:r>
              <a:rPr lang="en-US" b="1" dirty="0"/>
              <a:t>** </a:t>
            </a:r>
            <a:r>
              <a:rPr lang="vi-VN" b="1" dirty="0"/>
              <a:t>Tình huống ví dụ trong slide</a:t>
            </a:r>
          </a:p>
          <a:p>
            <a:r>
              <a:rPr lang="vi-VN" dirty="0"/>
              <a:t>Hệ thống gồm 3 tiến trình:</a:t>
            </a:r>
          </a:p>
          <a:p>
            <a:pPr>
              <a:buFont typeface="Arial" panose="020B0604020202020204" pitchFamily="34" charset="0"/>
              <a:buChar char="•"/>
            </a:pPr>
            <a:r>
              <a:rPr lang="vi-VN" b="1" dirty="0"/>
              <a:t>P</a:t>
            </a:r>
            <a:r>
              <a:rPr lang="vi-VN" dirty="0"/>
              <a:t> gửi message </a:t>
            </a:r>
            <a:r>
              <a:rPr lang="vi-VN" b="1" dirty="0"/>
              <a:t>m1</a:t>
            </a:r>
            <a:r>
              <a:rPr lang="vi-VN" dirty="0"/>
              <a:t> đến Q</a:t>
            </a:r>
          </a:p>
          <a:p>
            <a:pPr>
              <a:buFont typeface="Arial" panose="020B0604020202020204" pitchFamily="34" charset="0"/>
              <a:buChar char="•"/>
            </a:pPr>
            <a:r>
              <a:rPr lang="vi-VN" b="1" dirty="0"/>
              <a:t>Q</a:t>
            </a:r>
            <a:r>
              <a:rPr lang="vi-VN" dirty="0"/>
              <a:t> nhận </a:t>
            </a:r>
            <a:r>
              <a:rPr lang="vi-VN" b="1" dirty="0"/>
              <a:t>m1</a:t>
            </a:r>
            <a:r>
              <a:rPr lang="vi-VN" dirty="0"/>
              <a:t>, rồi nhận tiếp </a:t>
            </a:r>
            <a:r>
              <a:rPr lang="vi-VN" b="1" dirty="0"/>
              <a:t>m2</a:t>
            </a:r>
            <a:endParaRPr lang="vi-VN" dirty="0"/>
          </a:p>
          <a:p>
            <a:pPr>
              <a:buFont typeface="Arial" panose="020B0604020202020204" pitchFamily="34" charset="0"/>
              <a:buChar char="•"/>
            </a:pPr>
            <a:r>
              <a:rPr lang="vi-VN" b="1" dirty="0"/>
              <a:t>Nhưng Q KHÔNG log message m2</a:t>
            </a:r>
            <a:r>
              <a:rPr lang="vi-VN" dirty="0"/>
              <a:t> (giả định)</a:t>
            </a:r>
          </a:p>
          <a:p>
            <a:pPr>
              <a:buFont typeface="Arial" panose="020B0604020202020204" pitchFamily="34" charset="0"/>
              <a:buChar char="•"/>
            </a:pPr>
            <a:r>
              <a:rPr lang="vi-VN" dirty="0"/>
              <a:t>Sau đó Q </a:t>
            </a:r>
            <a:r>
              <a:rPr lang="vi-VN" b="1" dirty="0"/>
              <a:t>gửi message m3</a:t>
            </a:r>
            <a:r>
              <a:rPr lang="vi-VN" dirty="0"/>
              <a:t> đến R</a:t>
            </a:r>
          </a:p>
          <a:p>
            <a:pPr>
              <a:buFont typeface="Arial" panose="020B0604020202020204" pitchFamily="34" charset="0"/>
              <a:buChar char="•"/>
            </a:pPr>
            <a:r>
              <a:rPr lang="vi-VN" b="1" dirty="0"/>
              <a:t>R nhận và deliver m3</a:t>
            </a:r>
            <a:endParaRPr lang="vi-VN" dirty="0"/>
          </a:p>
          <a:p>
            <a:r>
              <a:rPr lang="vi-VN" dirty="0"/>
              <a:t>Mọi thứ bình thường… cho tới:</a:t>
            </a:r>
          </a:p>
          <a:p>
            <a:r>
              <a:rPr lang="en-US" b="1" dirty="0"/>
              <a:t>- </a:t>
            </a:r>
            <a:r>
              <a:rPr lang="vi-VN" b="1" dirty="0"/>
              <a:t>Q bị crash và quay trở lại (recover)</a:t>
            </a:r>
          </a:p>
          <a:p>
            <a:pPr>
              <a:buFont typeface="Arial" panose="020B0604020202020204" pitchFamily="34" charset="0"/>
              <a:buChar char="•"/>
            </a:pPr>
            <a:r>
              <a:rPr lang="vi-VN" dirty="0"/>
              <a:t>Khi phục hồi, Q </a:t>
            </a:r>
            <a:r>
              <a:rPr lang="vi-VN" b="1" dirty="0"/>
              <a:t>chỉ có checkpoint cũ</a:t>
            </a:r>
            <a:r>
              <a:rPr lang="vi-VN" dirty="0"/>
              <a:t>, không có log của </a:t>
            </a:r>
            <a:r>
              <a:rPr lang="vi-VN" b="1" dirty="0"/>
              <a:t>m2</a:t>
            </a:r>
            <a:endParaRPr lang="vi-VN" dirty="0"/>
          </a:p>
          <a:p>
            <a:pPr>
              <a:buFont typeface="Arial" panose="020B0604020202020204" pitchFamily="34" charset="0"/>
              <a:buChar char="•"/>
            </a:pPr>
            <a:r>
              <a:rPr lang="vi-VN" dirty="0"/>
              <a:t>Q chỉ có thể replay lại </a:t>
            </a:r>
            <a:r>
              <a:rPr lang="vi-VN" b="1" dirty="0"/>
              <a:t>m1</a:t>
            </a:r>
            <a:endParaRPr lang="vi-VN" dirty="0"/>
          </a:p>
          <a:p>
            <a:pPr>
              <a:buFont typeface="Arial" panose="020B0604020202020204" pitchFamily="34" charset="0"/>
              <a:buChar char="•"/>
            </a:pPr>
            <a:r>
              <a:rPr lang="vi-VN" dirty="0"/>
              <a:t>Q KHÔNG replay được m2</a:t>
            </a:r>
          </a:p>
          <a:p>
            <a:pPr>
              <a:buFont typeface="Arial" panose="020B0604020202020204" pitchFamily="34" charset="0"/>
              <a:buChar char="•"/>
            </a:pPr>
            <a:r>
              <a:rPr lang="vi-VN" dirty="0"/>
              <a:t>nên Q cũng </a:t>
            </a:r>
            <a:r>
              <a:rPr lang="vi-VN" b="1" dirty="0"/>
              <a:t>không thể gửi m3 như trước crash</a:t>
            </a:r>
            <a:endParaRPr lang="vi-VN" dirty="0"/>
          </a:p>
          <a:p>
            <a:r>
              <a:rPr lang="vi-VN" dirty="0"/>
              <a:t>Nhưng lúc này:</a:t>
            </a:r>
          </a:p>
          <a:p>
            <a:r>
              <a:rPr lang="en-US" b="1" dirty="0"/>
              <a:t>-</a:t>
            </a:r>
            <a:r>
              <a:rPr lang="vi-VN" b="1" dirty="0"/>
              <a:t> Tiến trình R đã nhận và deliver m3 rồi!</a:t>
            </a:r>
          </a:p>
          <a:p>
            <a:r>
              <a:rPr lang="vi-VN" dirty="0"/>
              <a:t>Do đó, R ở trong trạng thái:</a:t>
            </a:r>
          </a:p>
          <a:p>
            <a:pPr>
              <a:buFont typeface="Arial" panose="020B0604020202020204" pitchFamily="34" charset="0"/>
              <a:buChar char="•"/>
            </a:pPr>
            <a:r>
              <a:rPr lang="vi-VN" dirty="0"/>
              <a:t>phụ thuộc vào m3</a:t>
            </a:r>
          </a:p>
          <a:p>
            <a:pPr>
              <a:buFont typeface="Arial" panose="020B0604020202020204" pitchFamily="34" charset="0"/>
              <a:buChar char="•"/>
            </a:pPr>
            <a:r>
              <a:rPr lang="vi-VN" dirty="0"/>
              <a:t>nhưng m3 KHÔNG bao giờ được sinh ra nữa sau khi Q phục hồi</a:t>
            </a:r>
          </a:p>
          <a:p>
            <a:pPr>
              <a:buFont typeface="Arial" panose="020B0604020202020204" pitchFamily="34" charset="0"/>
              <a:buChar char="•"/>
            </a:pPr>
            <a:r>
              <a:rPr lang="vi-VN" dirty="0"/>
              <a:t>mà m3 lại phụ thuộc vào m2 (vì m2 → m3)</a:t>
            </a:r>
          </a:p>
          <a:p>
            <a:r>
              <a:rPr lang="en-US" dirty="0"/>
              <a:t>=&gt; </a:t>
            </a:r>
            <a:r>
              <a:rPr lang="vi-VN" b="1" dirty="0"/>
              <a:t>R trở thành một orphan process</a:t>
            </a:r>
            <a:endParaRPr lang="vi-VN" dirty="0"/>
          </a:p>
          <a:p>
            <a:endParaRPr lang="en-US" b="1" dirty="0"/>
          </a:p>
          <a:p>
            <a:r>
              <a:rPr lang="en-US" b="1" dirty="0"/>
              <a:t>** </a:t>
            </a:r>
            <a:r>
              <a:rPr lang="vi-VN" b="1" dirty="0"/>
              <a:t>Vấn đề chính</a:t>
            </a:r>
          </a:p>
          <a:p>
            <a:r>
              <a:rPr lang="vi-VN" dirty="0"/>
              <a:t>Khi Q phục hồi:</a:t>
            </a:r>
          </a:p>
          <a:p>
            <a:pPr>
              <a:buFont typeface="Arial" panose="020B0604020202020204" pitchFamily="34" charset="0"/>
              <a:buChar char="•"/>
            </a:pPr>
            <a:r>
              <a:rPr lang="vi-VN" dirty="0"/>
              <a:t>m1 được replay</a:t>
            </a:r>
          </a:p>
          <a:p>
            <a:pPr>
              <a:buFont typeface="Arial" panose="020B0604020202020204" pitchFamily="34" charset="0"/>
              <a:buChar char="•"/>
            </a:pPr>
            <a:r>
              <a:rPr lang="vi-VN" b="1" dirty="0"/>
              <a:t>m2 không được replay vì không được log</a:t>
            </a:r>
            <a:endParaRPr lang="vi-VN" dirty="0"/>
          </a:p>
          <a:p>
            <a:pPr>
              <a:buFont typeface="Arial" panose="020B0604020202020204" pitchFamily="34" charset="0"/>
              <a:buChar char="•"/>
            </a:pPr>
            <a:r>
              <a:rPr lang="vi-VN" dirty="0"/>
              <a:t>do đó </a:t>
            </a:r>
            <a:r>
              <a:rPr lang="vi-VN" b="1" dirty="0"/>
              <a:t>m3 cũng không tồn tại</a:t>
            </a:r>
            <a:r>
              <a:rPr lang="vi-VN" dirty="0"/>
              <a:t>, vì nó phụ thuộc vào m2</a:t>
            </a:r>
          </a:p>
          <a:p>
            <a:r>
              <a:rPr lang="vi-VN" dirty="0"/>
              <a:t>Nhưng R vẫn mang trạng thái dựa trên </a:t>
            </a:r>
            <a:r>
              <a:rPr lang="vi-VN" b="1" dirty="0"/>
              <a:t>m3 đã nhận trước crash</a:t>
            </a:r>
            <a:r>
              <a:rPr lang="vi-VN" dirty="0"/>
              <a:t>.</a:t>
            </a:r>
          </a:p>
          <a:p>
            <a:r>
              <a:rPr lang="en-US" dirty="0"/>
              <a:t>=&gt;</a:t>
            </a:r>
            <a:r>
              <a:rPr lang="vi-VN" dirty="0"/>
              <a:t> </a:t>
            </a:r>
            <a:r>
              <a:rPr lang="vi-VN" b="1" dirty="0"/>
              <a:t>Hai tiến trình không còn nhất quán</a:t>
            </a:r>
            <a:r>
              <a:rPr lang="vi-VN" dirty="0"/>
              <a:t>.</a:t>
            </a:r>
          </a:p>
          <a:p>
            <a:endParaRPr lang="en-US" b="1" dirty="0"/>
          </a:p>
          <a:p>
            <a:r>
              <a:rPr lang="en-US" b="1" dirty="0"/>
              <a:t>** </a:t>
            </a:r>
            <a:r>
              <a:rPr lang="vi-VN" b="1" dirty="0"/>
              <a:t>Kết luận</a:t>
            </a:r>
            <a:r>
              <a:rPr lang="en-US" b="1" dirty="0"/>
              <a:t>:</a:t>
            </a:r>
            <a:endParaRPr lang="vi-VN" b="1" dirty="0"/>
          </a:p>
          <a:p>
            <a:r>
              <a:rPr lang="vi-VN" b="1" dirty="0"/>
              <a:t>Chúng ta phải log một message trước khi cho phép tiến trình gửi các message phụ thuộc vào nó.</a:t>
            </a:r>
          </a:p>
          <a:p>
            <a:r>
              <a:rPr lang="vi-VN" dirty="0"/>
              <a:t>Nếu không:</a:t>
            </a:r>
          </a:p>
          <a:p>
            <a:pPr>
              <a:buFont typeface="Arial" panose="020B0604020202020204" pitchFamily="34" charset="0"/>
              <a:buChar char="•"/>
            </a:pPr>
            <a:r>
              <a:rPr lang="vi-VN" dirty="0"/>
              <a:t>tiến trình gửi có thể phục hồi vào trạng thái không bao gồm message đó,</a:t>
            </a:r>
          </a:p>
          <a:p>
            <a:pPr>
              <a:buFont typeface="Arial" panose="020B0604020202020204" pitchFamily="34" charset="0"/>
              <a:buChar char="•"/>
            </a:pPr>
            <a:r>
              <a:rPr lang="vi-VN" dirty="0"/>
              <a:t>nhưng các tiến trình khác đã deliver các message “hậu duệ” của nó,</a:t>
            </a:r>
          </a:p>
          <a:p>
            <a:pPr>
              <a:buFont typeface="Arial" panose="020B0604020202020204" pitchFamily="34" charset="0"/>
              <a:buChar char="•"/>
            </a:pPr>
            <a:r>
              <a:rPr lang="vi-VN" dirty="0"/>
              <a:t>dẫn tới orphan processes.</a:t>
            </a:r>
          </a:p>
          <a:p>
            <a:endParaRPr lang="en-US" b="1" dirty="0"/>
          </a:p>
          <a:p>
            <a:r>
              <a:rPr lang="en-US" b="1" dirty="0"/>
              <a:t>** </a:t>
            </a:r>
            <a:r>
              <a:rPr lang="vi-VN" b="1" dirty="0"/>
              <a:t>Ý nghĩa với thiết kế hệ thống</a:t>
            </a:r>
          </a:p>
          <a:p>
            <a:r>
              <a:rPr lang="vi-VN" dirty="0"/>
              <a:t>Slide này giải thích lý do vì sao nhiều message-logging protocol:</a:t>
            </a:r>
          </a:p>
          <a:p>
            <a:pPr>
              <a:buFont typeface="Arial" panose="020B0604020202020204" pitchFamily="34" charset="0"/>
              <a:buChar char="•"/>
            </a:pPr>
            <a:r>
              <a:rPr lang="vi-VN" dirty="0"/>
              <a:t>yêu cầu </a:t>
            </a:r>
            <a:r>
              <a:rPr lang="vi-VN" b="1" dirty="0"/>
              <a:t>log message ngay khi nhận</a:t>
            </a:r>
            <a:r>
              <a:rPr lang="vi-VN" dirty="0"/>
              <a:t> (pessimistic logging)</a:t>
            </a:r>
          </a:p>
          <a:p>
            <a:pPr>
              <a:buFont typeface="Arial" panose="020B0604020202020204" pitchFamily="34" charset="0"/>
              <a:buChar char="•"/>
            </a:pPr>
            <a:r>
              <a:rPr lang="vi-VN" dirty="0"/>
              <a:t>hoặc log trước khi deliver (causal logging)</a:t>
            </a:r>
          </a:p>
          <a:p>
            <a:pPr>
              <a:buFont typeface="Arial" panose="020B0604020202020204" pitchFamily="34" charset="0"/>
              <a:buChar char="•"/>
            </a:pPr>
            <a:r>
              <a:rPr lang="vi-VN" dirty="0"/>
              <a:t>hoặc log theo nhóm với checkpoint (optimistic logging)</a:t>
            </a:r>
          </a:p>
          <a:p>
            <a:r>
              <a:rPr lang="vi-VN" dirty="0"/>
              <a:t>Vì thế, </a:t>
            </a:r>
            <a:r>
              <a:rPr lang="vi-VN" b="1" dirty="0"/>
              <a:t>tránh orphan processes là mục tiêu cốt lõi của mọi message logging protocol.</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94</a:t>
            </a:fld>
            <a:endParaRPr lang="en-US"/>
          </a:p>
        </p:txBody>
      </p:sp>
    </p:spTree>
    <p:extLst>
      <p:ext uri="{BB962C8B-B14F-4D97-AF65-F5344CB8AC3E}">
        <p14:creationId xmlns:p14="http://schemas.microsoft.com/office/powerpoint/2010/main" val="23377336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Message-logging schemes.</a:t>
            </a:r>
          </a:p>
          <a:p>
            <a:r>
              <a:rPr lang="vi-VN" b="1" dirty="0"/>
              <a:t>Mục tiêu của slide</a:t>
            </a:r>
          </a:p>
          <a:p>
            <a:r>
              <a:rPr lang="vi-VN" dirty="0"/>
              <a:t>Slide này đưa ra </a:t>
            </a:r>
            <a:r>
              <a:rPr lang="vi-VN" b="1" dirty="0"/>
              <a:t>khái niệm và ký hiệu</a:t>
            </a:r>
            <a:r>
              <a:rPr lang="vi-VN" dirty="0"/>
              <a:t> dùng trong message logging, và </a:t>
            </a:r>
            <a:r>
              <a:rPr lang="vi-VN" b="1" dirty="0"/>
              <a:t>định nghĩa chính xác khi nào một tiến trình trở thành orphan process</a:t>
            </a:r>
            <a:r>
              <a:rPr lang="vi-VN" dirty="0"/>
              <a:t>.</a:t>
            </a:r>
          </a:p>
          <a:p>
            <a:endParaRPr lang="en-US" b="1" dirty="0"/>
          </a:p>
          <a:p>
            <a:r>
              <a:rPr lang="en-US" b="1" dirty="0"/>
              <a:t>1. </a:t>
            </a:r>
            <a:r>
              <a:rPr lang="vi-VN" b="1" dirty="0"/>
              <a:t>Notations (Ký hiệu)</a:t>
            </a:r>
          </a:p>
          <a:p>
            <a:r>
              <a:rPr lang="en-US" b="1" dirty="0"/>
              <a:t>* </a:t>
            </a:r>
            <a:r>
              <a:rPr lang="vi-VN" b="1" dirty="0"/>
              <a:t>DEP(m)</a:t>
            </a:r>
          </a:p>
          <a:p>
            <a:r>
              <a:rPr lang="vi-VN" dirty="0"/>
              <a:t>“Delivered processes” — tập các tiến trình đã </a:t>
            </a:r>
            <a:r>
              <a:rPr lang="vi-VN" b="1" dirty="0"/>
              <a:t>deliver message m</a:t>
            </a:r>
            <a:r>
              <a:rPr lang="vi-VN" dirty="0"/>
              <a:t>.</a:t>
            </a:r>
          </a:p>
          <a:p>
            <a:r>
              <a:rPr lang="vi-VN" dirty="0"/>
              <a:t>Quan trọng hơn:</a:t>
            </a:r>
            <a:br>
              <a:rPr lang="vi-VN" dirty="0"/>
            </a:br>
            <a:r>
              <a:rPr lang="vi-VN" dirty="0"/>
              <a:t>Nếu một message m∗m^*m∗ </a:t>
            </a:r>
            <a:r>
              <a:rPr lang="vi-VN" b="1" dirty="0"/>
              <a:t>phụ thuộc nhân quả (causally dependent)</a:t>
            </a:r>
            <a:r>
              <a:rPr lang="vi-VN" dirty="0"/>
              <a:t> vào m,</a:t>
            </a:r>
            <a:br>
              <a:rPr lang="vi-VN" dirty="0"/>
            </a:br>
            <a:r>
              <a:rPr lang="vi-VN" dirty="0"/>
              <a:t>và m∗m^*m∗ đã được deliver tới Q,</a:t>
            </a:r>
            <a:br>
              <a:rPr lang="vi-VN" dirty="0"/>
            </a:br>
            <a:r>
              <a:rPr lang="en-US" dirty="0"/>
              <a:t>=&gt;</a:t>
            </a:r>
            <a:r>
              <a:rPr lang="vi-VN" dirty="0"/>
              <a:t> thì Q </a:t>
            </a:r>
            <a:r>
              <a:rPr lang="vi-VN" b="1" dirty="0"/>
              <a:t>cũng thuộc DEP(m)</a:t>
            </a:r>
            <a:r>
              <a:rPr lang="vi-VN" dirty="0"/>
              <a:t>.</a:t>
            </a:r>
          </a:p>
          <a:p>
            <a:r>
              <a:rPr lang="en-US" dirty="0"/>
              <a:t>=&gt; </a:t>
            </a:r>
            <a:r>
              <a:rPr lang="vi-VN" dirty="0"/>
              <a:t>Nghĩa là: Q đang ở trạng thái có chứa ảnh hưởng của message m.</a:t>
            </a:r>
          </a:p>
          <a:p>
            <a:r>
              <a:rPr lang="vi-VN" b="1" dirty="0"/>
              <a:t>Ví dụ:</a:t>
            </a:r>
            <a:endParaRPr lang="vi-VN" dirty="0"/>
          </a:p>
          <a:p>
            <a:pPr>
              <a:buFont typeface="Arial" panose="020B0604020202020204" pitchFamily="34" charset="0"/>
              <a:buChar char="•"/>
            </a:pPr>
            <a:r>
              <a:rPr lang="vi-VN" dirty="0"/>
              <a:t>Q nhận m → Q ∈ DEP(m)</a:t>
            </a:r>
          </a:p>
          <a:p>
            <a:pPr>
              <a:buFont typeface="Arial" panose="020B0604020202020204" pitchFamily="34" charset="0"/>
              <a:buChar char="•"/>
            </a:pPr>
            <a:r>
              <a:rPr lang="vi-VN" dirty="0"/>
              <a:t>Q nhận m2, mà m2 phụ thuộc vào m → Q ∈ DEP(m)</a:t>
            </a:r>
          </a:p>
          <a:p>
            <a:r>
              <a:rPr lang="en-US" dirty="0"/>
              <a:t>=&gt;</a:t>
            </a:r>
            <a:r>
              <a:rPr lang="vi-VN" dirty="0"/>
              <a:t> DEP(m) = tập các tiến trình </a:t>
            </a:r>
            <a:r>
              <a:rPr lang="vi-VN" i="1" dirty="0"/>
              <a:t>có trạng thái phụ thuộc vào m</a:t>
            </a:r>
            <a:r>
              <a:rPr lang="vi-VN" dirty="0"/>
              <a:t>.</a:t>
            </a:r>
          </a:p>
          <a:p>
            <a:r>
              <a:rPr lang="en-US" b="1" dirty="0"/>
              <a:t>* </a:t>
            </a:r>
            <a:r>
              <a:rPr lang="vi-VN" b="1" dirty="0"/>
              <a:t>COPY(m)</a:t>
            </a:r>
          </a:p>
          <a:p>
            <a:r>
              <a:rPr lang="vi-VN" dirty="0"/>
              <a:t>Tập các tiến trình </a:t>
            </a:r>
            <a:r>
              <a:rPr lang="vi-VN" b="1" dirty="0"/>
              <a:t>đang giữ một bản copy của message m</a:t>
            </a:r>
            <a:r>
              <a:rPr lang="vi-VN" dirty="0"/>
              <a:t>,</a:t>
            </a:r>
            <a:br>
              <a:rPr lang="vi-VN" dirty="0"/>
            </a:br>
            <a:r>
              <a:rPr lang="vi-VN" dirty="0"/>
              <a:t>nhưng </a:t>
            </a:r>
            <a:r>
              <a:rPr lang="vi-VN" b="1" dirty="0"/>
              <a:t>chưa lưu trữ nó một cách an toàn (not yet reliably stored)</a:t>
            </a:r>
            <a:r>
              <a:rPr lang="vi-VN" dirty="0"/>
              <a:t>.</a:t>
            </a:r>
          </a:p>
          <a:p>
            <a:r>
              <a:rPr lang="en-US" dirty="0"/>
              <a:t>* </a:t>
            </a:r>
            <a:r>
              <a:rPr lang="vi-VN" dirty="0"/>
              <a:t>Đây là trường hợp message được gửi đi, được lưu tạm, nhưng:</a:t>
            </a:r>
          </a:p>
          <a:p>
            <a:pPr>
              <a:buFont typeface="Arial" panose="020B0604020202020204" pitchFamily="34" charset="0"/>
              <a:buChar char="•"/>
            </a:pPr>
            <a:r>
              <a:rPr lang="vi-VN" dirty="0"/>
              <a:t>chưa log vào ổ đĩa,</a:t>
            </a:r>
          </a:p>
          <a:p>
            <a:pPr>
              <a:buFont typeface="Arial" panose="020B0604020202020204" pitchFamily="34" charset="0"/>
              <a:buChar char="•"/>
            </a:pPr>
            <a:r>
              <a:rPr lang="vi-VN" dirty="0"/>
              <a:t>hoặc chưa gửi ACK,</a:t>
            </a:r>
          </a:p>
          <a:p>
            <a:pPr>
              <a:buFont typeface="Arial" panose="020B0604020202020204" pitchFamily="34" charset="0"/>
              <a:buChar char="•"/>
            </a:pPr>
            <a:r>
              <a:rPr lang="vi-VN" dirty="0"/>
              <a:t>hoặc nằm trong buffer và có thể bị mất khi tiến trình crash.</a:t>
            </a:r>
          </a:p>
          <a:p>
            <a:r>
              <a:rPr lang="en-US" b="1" dirty="0"/>
              <a:t>* </a:t>
            </a:r>
            <a:r>
              <a:rPr lang="vi-VN" b="1" dirty="0"/>
              <a:t>FAIL</a:t>
            </a:r>
          </a:p>
          <a:p>
            <a:r>
              <a:rPr lang="vi-VN" dirty="0"/>
              <a:t>Tập các tiến trình đã </a:t>
            </a:r>
            <a:r>
              <a:rPr lang="vi-VN" b="1" dirty="0"/>
              <a:t>crash</a:t>
            </a:r>
            <a:r>
              <a:rPr lang="vi-VN" dirty="0"/>
              <a:t>.</a:t>
            </a:r>
          </a:p>
          <a:p>
            <a:r>
              <a:rPr lang="vi-VN" dirty="0"/>
              <a:t>Không có gì đặc biệt — đây là danh sách các tiến trình bị lỗi.</a:t>
            </a:r>
          </a:p>
          <a:p>
            <a:endParaRPr lang="en-US" b="1" dirty="0"/>
          </a:p>
          <a:p>
            <a:r>
              <a:rPr lang="en-US" b="1" dirty="0"/>
              <a:t>2. </a:t>
            </a:r>
            <a:r>
              <a:rPr lang="vi-VN" b="1" dirty="0"/>
              <a:t>Characterization (Đặc trưng điều kiện orphan)</a:t>
            </a:r>
          </a:p>
          <a:p>
            <a:r>
              <a:rPr lang="vi-VN" dirty="0"/>
              <a:t>Slide đưa ra điều kiện chính xác để một tiến trình Q trở thành </a:t>
            </a:r>
            <a:r>
              <a:rPr lang="vi-VN" b="1" dirty="0"/>
              <a:t>orphan process</a:t>
            </a:r>
            <a:r>
              <a:rPr lang="vi-VN" dirty="0"/>
              <a:t>:</a:t>
            </a:r>
          </a:p>
          <a:p>
            <a:r>
              <a:rPr lang="en-US" b="1" dirty="0"/>
              <a:t>- </a:t>
            </a:r>
            <a:r>
              <a:rPr lang="vi-VN" b="1" dirty="0"/>
              <a:t>Q is orphaned ⇔ ∃ m such that:</a:t>
            </a:r>
          </a:p>
          <a:p>
            <a:r>
              <a:rPr lang="en-US" b="1" dirty="0"/>
              <a:t>=&gt; </a:t>
            </a:r>
            <a:r>
              <a:rPr lang="vi-VN" b="1" dirty="0"/>
              <a:t>Q∈DEP(m) (Q phụ thuộc vào m)</a:t>
            </a:r>
          </a:p>
          <a:p>
            <a:r>
              <a:rPr lang="en-US" b="1" dirty="0"/>
              <a:t>=&gt; </a:t>
            </a:r>
            <a:r>
              <a:rPr lang="vi-VN" b="1" dirty="0"/>
              <a:t>và COPY(m)⊆FAIL (mọi bản copy của m đều nằm ở tiến trình đã crash)</a:t>
            </a:r>
          </a:p>
          <a:p>
            <a:endParaRPr lang="en-US" b="1" dirty="0"/>
          </a:p>
          <a:p>
            <a:r>
              <a:rPr lang="en-US" b="1" dirty="0"/>
              <a:t>** </a:t>
            </a:r>
            <a:r>
              <a:rPr lang="vi-VN" b="1" dirty="0"/>
              <a:t>Ý nghĩa trực quan</a:t>
            </a:r>
          </a:p>
          <a:p>
            <a:r>
              <a:rPr lang="en-US" dirty="0"/>
              <a:t>-</a:t>
            </a:r>
            <a:r>
              <a:rPr lang="vi-VN" dirty="0"/>
              <a:t> Q phụ thuộc vào message m</a:t>
            </a:r>
            <a:br>
              <a:rPr lang="vi-VN" dirty="0"/>
            </a:br>
            <a:r>
              <a:rPr lang="en-US" dirty="0"/>
              <a:t>-</a:t>
            </a:r>
            <a:r>
              <a:rPr lang="vi-VN" dirty="0"/>
              <a:t> Nhưng </a:t>
            </a:r>
            <a:r>
              <a:rPr lang="vi-VN" b="1" dirty="0"/>
              <a:t>tất cả các bản copy của m đều nằm trên các tiến trình đã crash</a:t>
            </a:r>
            <a:endParaRPr lang="vi-VN" dirty="0"/>
          </a:p>
          <a:p>
            <a:r>
              <a:rPr lang="en-US" dirty="0"/>
              <a:t>=&gt;</a:t>
            </a:r>
            <a:r>
              <a:rPr lang="vi-VN" dirty="0"/>
              <a:t> Không ai còn giữ m nữa → m không thể được replay.</a:t>
            </a:r>
          </a:p>
          <a:p>
            <a:r>
              <a:rPr lang="en-US" dirty="0"/>
              <a:t>=&gt;</a:t>
            </a:r>
            <a:r>
              <a:rPr lang="vi-VN" dirty="0"/>
              <a:t> Nhưng Q vẫn đang ở trạng thái “đã sử dụng m”.</a:t>
            </a:r>
          </a:p>
          <a:p>
            <a:r>
              <a:rPr lang="vi-VN" dirty="0"/>
              <a:t>Kết quả:</a:t>
            </a:r>
          </a:p>
          <a:p>
            <a:r>
              <a:rPr lang="en-US" b="1" dirty="0"/>
              <a:t>- </a:t>
            </a:r>
            <a:r>
              <a:rPr lang="vi-VN" b="1" dirty="0"/>
              <a:t>Q trở thành orphan process</a:t>
            </a:r>
          </a:p>
          <a:p>
            <a:r>
              <a:rPr lang="vi-VN" dirty="0"/>
              <a:t>vì sau khi phục hồi, hệ thống </a:t>
            </a:r>
            <a:r>
              <a:rPr lang="vi-VN" b="1" dirty="0"/>
              <a:t>không thể tái tạo message m</a:t>
            </a:r>
            <a:r>
              <a:rPr lang="vi-VN" dirty="0"/>
              <a:t>,</a:t>
            </a:r>
            <a:br>
              <a:rPr lang="vi-VN" dirty="0"/>
            </a:br>
            <a:r>
              <a:rPr lang="vi-VN" dirty="0"/>
              <a:t>nhưng Q lại phụ thuộc vào nó → trạng thái của Q không thể được khôi phục nhất quán.</a:t>
            </a:r>
          </a:p>
          <a:p>
            <a:endParaRPr lang="en-US" b="1" dirty="0"/>
          </a:p>
          <a:p>
            <a:r>
              <a:rPr lang="en-US" b="1" dirty="0"/>
              <a:t>** </a:t>
            </a:r>
            <a:r>
              <a:rPr lang="vi-VN" b="1" dirty="0"/>
              <a:t>Ý nghĩa thực tế đối với thiết kế hệ thống</a:t>
            </a:r>
          </a:p>
          <a:p>
            <a:r>
              <a:rPr lang="vi-VN" dirty="0"/>
              <a:t>Định nghĩa này cực kỳ quan trọng vì nó:</a:t>
            </a:r>
          </a:p>
          <a:p>
            <a:pPr>
              <a:buFont typeface="Arial" panose="020B0604020202020204" pitchFamily="34" charset="0"/>
              <a:buChar char="•"/>
            </a:pPr>
            <a:r>
              <a:rPr lang="vi-VN" dirty="0"/>
              <a:t>mô tả </a:t>
            </a:r>
            <a:r>
              <a:rPr lang="vi-VN" b="1" dirty="0"/>
              <a:t>điều kiện cần tránh trong message logging</a:t>
            </a:r>
            <a:r>
              <a:rPr lang="vi-VN" dirty="0"/>
              <a:t>,</a:t>
            </a:r>
          </a:p>
          <a:p>
            <a:pPr>
              <a:buFont typeface="Arial" panose="020B0604020202020204" pitchFamily="34" charset="0"/>
              <a:buChar char="•"/>
            </a:pPr>
            <a:r>
              <a:rPr lang="vi-VN" dirty="0"/>
              <a:t>là cơ sở để phân tích ba loại protocol:</a:t>
            </a:r>
          </a:p>
          <a:p>
            <a:pPr marL="742950" lvl="1" indent="-285750">
              <a:buFont typeface="Arial" panose="020B0604020202020204" pitchFamily="34" charset="0"/>
              <a:buChar char="•"/>
            </a:pPr>
            <a:r>
              <a:rPr lang="vi-VN" b="1" dirty="0"/>
              <a:t>Pessimistic logging</a:t>
            </a:r>
            <a:r>
              <a:rPr lang="vi-VN" dirty="0"/>
              <a:t> (tránh orphan tuyệt đối)</a:t>
            </a:r>
          </a:p>
          <a:p>
            <a:pPr marL="742950" lvl="1" indent="-285750">
              <a:buFont typeface="Arial" panose="020B0604020202020204" pitchFamily="34" charset="0"/>
              <a:buChar char="•"/>
            </a:pPr>
            <a:r>
              <a:rPr lang="vi-VN" b="1" dirty="0"/>
              <a:t>Optimistic logging</a:t>
            </a:r>
            <a:r>
              <a:rPr lang="vi-VN" dirty="0"/>
              <a:t> (có thể tạo orphan → cần rollback lan truyền)</a:t>
            </a:r>
          </a:p>
          <a:p>
            <a:pPr marL="742950" lvl="1" indent="-285750">
              <a:buFont typeface="Arial" panose="020B0604020202020204" pitchFamily="34" charset="0"/>
              <a:buChar char="•"/>
            </a:pPr>
            <a:r>
              <a:rPr lang="vi-VN" b="1" dirty="0"/>
              <a:t>Causal logging</a:t>
            </a:r>
            <a:r>
              <a:rPr lang="vi-VN" dirty="0"/>
              <a:t> (đảm bảo DEP(m) và COPY(m) liên quan nhân quả)</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95</a:t>
            </a:fld>
            <a:endParaRPr lang="en-US"/>
          </a:p>
        </p:txBody>
      </p:sp>
    </p:spTree>
    <p:extLst>
      <p:ext uri="{BB962C8B-B14F-4D97-AF65-F5344CB8AC3E}">
        <p14:creationId xmlns:p14="http://schemas.microsoft.com/office/powerpoint/2010/main" val="35970892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Message-logging schemes – Pessimistic protocol</a:t>
            </a:r>
          </a:p>
          <a:p>
            <a:r>
              <a:rPr lang="vi-VN" dirty="0"/>
              <a:t>Slide này mô tả </a:t>
            </a:r>
            <a:r>
              <a:rPr lang="vi-VN" b="1" dirty="0"/>
              <a:t>loại giao thức logging “bi quan”</a:t>
            </a:r>
            <a:r>
              <a:rPr lang="vi-VN" dirty="0"/>
              <a:t>, dùng để đảm bảo </a:t>
            </a:r>
            <a:r>
              <a:rPr lang="vi-VN" b="1" dirty="0"/>
              <a:t>không bao giờ xuất hiện orphan process</a:t>
            </a:r>
            <a:r>
              <a:rPr lang="vi-VN" dirty="0"/>
              <a:t>.</a:t>
            </a:r>
          </a:p>
          <a:p>
            <a:endParaRPr lang="en-US" b="1" dirty="0"/>
          </a:p>
          <a:p>
            <a:r>
              <a:rPr lang="en-US" b="1" dirty="0"/>
              <a:t>1. </a:t>
            </a:r>
            <a:r>
              <a:rPr lang="vi-VN" b="1" dirty="0"/>
              <a:t>Khái niệm cơ bản: nonstable message</a:t>
            </a:r>
          </a:p>
          <a:p>
            <a:r>
              <a:rPr lang="vi-VN" dirty="0"/>
              <a:t>Một message m là </a:t>
            </a:r>
            <a:r>
              <a:rPr lang="vi-VN" b="1" dirty="0"/>
              <a:t>nonstable (không ổn định)</a:t>
            </a:r>
            <a:r>
              <a:rPr lang="vi-VN" dirty="0"/>
              <a:t> khi:</a:t>
            </a:r>
          </a:p>
          <a:p>
            <a:pPr>
              <a:buFont typeface="Arial" panose="020B0604020202020204" pitchFamily="34" charset="0"/>
              <a:buChar char="•"/>
            </a:pPr>
            <a:r>
              <a:rPr lang="vi-VN" dirty="0"/>
              <a:t>m </a:t>
            </a:r>
            <a:r>
              <a:rPr lang="vi-VN" b="1" dirty="0"/>
              <a:t>chưa được log một cách an toàn</a:t>
            </a:r>
            <a:r>
              <a:rPr lang="vi-VN" dirty="0"/>
              <a:t> trên bộ nhớ bền vững, hoặc</a:t>
            </a:r>
          </a:p>
          <a:p>
            <a:pPr>
              <a:buFont typeface="Arial" panose="020B0604020202020204" pitchFamily="34" charset="0"/>
              <a:buChar char="•"/>
            </a:pPr>
            <a:r>
              <a:rPr lang="vi-VN" dirty="0"/>
              <a:t>chưa có </a:t>
            </a:r>
            <a:r>
              <a:rPr lang="vi-VN" b="1" dirty="0"/>
              <a:t>đầy đủ bản sao an toàn</a:t>
            </a:r>
            <a:r>
              <a:rPr lang="vi-VN" dirty="0"/>
              <a:t> để phục hồi khi crash.</a:t>
            </a:r>
          </a:p>
          <a:p>
            <a:r>
              <a:rPr lang="vi-VN" dirty="0"/>
              <a:t>Khi m chưa ổn định → nếu tiến trình crash, </a:t>
            </a:r>
            <a:r>
              <a:rPr lang="vi-VN" b="1" dirty="0"/>
              <a:t>m có thể bị mất</a:t>
            </a:r>
            <a:r>
              <a:rPr lang="vi-VN" dirty="0"/>
              <a:t>.</a:t>
            </a:r>
          </a:p>
          <a:p>
            <a:r>
              <a:rPr lang="vi-VN" dirty="0"/>
              <a:t>Đây là điểm mấu chốt dẫn đến </a:t>
            </a:r>
            <a:r>
              <a:rPr lang="vi-VN" i="1" dirty="0"/>
              <a:t>orphan processes</a:t>
            </a:r>
            <a:r>
              <a:rPr lang="vi-VN" dirty="0"/>
              <a:t> nếu không quản lý cẩn thận.</a:t>
            </a:r>
          </a:p>
          <a:p>
            <a:endParaRPr lang="en-US" b="1" dirty="0"/>
          </a:p>
          <a:p>
            <a:r>
              <a:rPr lang="en-US" b="1" dirty="0"/>
              <a:t>2. </a:t>
            </a:r>
            <a:r>
              <a:rPr lang="vi-VN" b="1" dirty="0"/>
              <a:t>Định nghĩa Pessimistic protocol</a:t>
            </a:r>
          </a:p>
          <a:p>
            <a:r>
              <a:rPr lang="vi-VN" dirty="0"/>
              <a:t>Slide ghi:</a:t>
            </a:r>
          </a:p>
          <a:p>
            <a:r>
              <a:rPr lang="vi-VN" dirty="0"/>
              <a:t>For each </a:t>
            </a:r>
            <a:r>
              <a:rPr lang="vi-VN" b="1" dirty="0"/>
              <a:t>nonstable</a:t>
            </a:r>
            <a:r>
              <a:rPr lang="vi-VN" dirty="0"/>
              <a:t> message m,</a:t>
            </a:r>
            <a:br>
              <a:rPr lang="vi-VN" dirty="0"/>
            </a:br>
            <a:r>
              <a:rPr lang="vi-VN" dirty="0"/>
              <a:t>there is </a:t>
            </a:r>
            <a:r>
              <a:rPr lang="vi-VN" b="1" dirty="0"/>
              <a:t>at most one</a:t>
            </a:r>
            <a:r>
              <a:rPr lang="vi-VN" dirty="0"/>
              <a:t> process dependent on m:</a:t>
            </a:r>
            <a:br>
              <a:rPr lang="vi-VN" dirty="0"/>
            </a:br>
            <a:r>
              <a:rPr lang="vi-VN" dirty="0"/>
              <a:t> i.e., |DEP(m)| ≤ 1</a:t>
            </a:r>
          </a:p>
          <a:p>
            <a:r>
              <a:rPr lang="vi-VN" b="1" dirty="0"/>
              <a:t>Ý nghĩa:</a:t>
            </a:r>
            <a:endParaRPr lang="vi-VN" dirty="0"/>
          </a:p>
          <a:p>
            <a:pPr>
              <a:buFont typeface="Arial" panose="020B0604020202020204" pitchFamily="34" charset="0"/>
              <a:buChar char="•"/>
            </a:pPr>
            <a:r>
              <a:rPr lang="vi-VN" dirty="0"/>
              <a:t>Một message m </a:t>
            </a:r>
            <a:r>
              <a:rPr lang="vi-VN" b="1" dirty="0"/>
              <a:t>chưa log an toàn</a:t>
            </a:r>
            <a:r>
              <a:rPr lang="vi-VN" dirty="0"/>
              <a:t> → chỉ được phép ảnh hưởng (deliver) tới </a:t>
            </a:r>
            <a:r>
              <a:rPr lang="vi-VN" b="1" dirty="0"/>
              <a:t>nhiều nhất 1 tiến trình</a:t>
            </a:r>
            <a:r>
              <a:rPr lang="vi-VN" dirty="0"/>
              <a:t>.</a:t>
            </a:r>
          </a:p>
          <a:p>
            <a:pPr>
              <a:buFont typeface="Arial" panose="020B0604020202020204" pitchFamily="34" charset="0"/>
              <a:buChar char="•"/>
            </a:pPr>
            <a:r>
              <a:rPr lang="vi-VN" dirty="0"/>
              <a:t>Không được phép có 2 tiến trình cùng </a:t>
            </a:r>
            <a:r>
              <a:rPr lang="vi-VN" b="1" dirty="0"/>
              <a:t>phụ thuộc</a:t>
            </a:r>
            <a:r>
              <a:rPr lang="vi-VN" dirty="0"/>
              <a:t> vào một message chưa ổn định.</a:t>
            </a:r>
          </a:p>
          <a:p>
            <a:r>
              <a:rPr lang="en-US" dirty="0"/>
              <a:t>=&gt; </a:t>
            </a:r>
            <a:r>
              <a:rPr lang="vi-VN" dirty="0"/>
              <a:t>Điều này đảm bảo:</a:t>
            </a:r>
            <a:br>
              <a:rPr lang="vi-VN" dirty="0"/>
            </a:br>
            <a:r>
              <a:rPr lang="vi-VN" dirty="0"/>
              <a:t>Nếu message m chưa ổn định bị mất khi crash → sẽ không làm nhiều tiến trình khác trở thành orphan.</a:t>
            </a:r>
          </a:p>
          <a:p>
            <a:endParaRPr lang="en-US" b="1" dirty="0"/>
          </a:p>
          <a:p>
            <a:r>
              <a:rPr lang="en-US" b="1" dirty="0"/>
              <a:t>3. </a:t>
            </a:r>
            <a:r>
              <a:rPr lang="vi-VN" b="1" dirty="0"/>
              <a:t>Vì sao phải giới hạn |DEP(m)| ≤ 1?</a:t>
            </a:r>
          </a:p>
          <a:p>
            <a:r>
              <a:rPr lang="vi-VN" dirty="0"/>
              <a:t>Hãy nhớ lại định nghĩa orphan:</a:t>
            </a:r>
          </a:p>
          <a:p>
            <a:r>
              <a:rPr lang="vi-VN" dirty="0"/>
              <a:t>Q is orphaned ⇔ ∃ m such that</a:t>
            </a:r>
            <a:br>
              <a:rPr lang="vi-VN" dirty="0"/>
            </a:br>
            <a:r>
              <a:rPr lang="vi-VN" dirty="0"/>
              <a:t>  Q ∈ DEP(m) </a:t>
            </a:r>
            <a:r>
              <a:rPr lang="vi-VN" b="1" dirty="0"/>
              <a:t>and</a:t>
            </a:r>
            <a:r>
              <a:rPr lang="vi-VN" dirty="0"/>
              <a:t> COPY(m) ⊆ FAIL</a:t>
            </a:r>
          </a:p>
          <a:p>
            <a:r>
              <a:rPr lang="vi-VN" dirty="0"/>
              <a:t>Nếu một message chưa stable đã được deliver cho 2 tiến trình trở lên:</a:t>
            </a:r>
          </a:p>
          <a:p>
            <a:pPr>
              <a:buFont typeface="Arial" panose="020B0604020202020204" pitchFamily="34" charset="0"/>
              <a:buChar char="•"/>
            </a:pPr>
            <a:r>
              <a:rPr lang="vi-VN" dirty="0"/>
              <a:t>Nếu sender crash → không thể replay m</a:t>
            </a:r>
            <a:br>
              <a:rPr lang="vi-VN" dirty="0"/>
            </a:br>
            <a:r>
              <a:rPr lang="vi-VN" dirty="0"/>
              <a:t>→ cả hai tiến trình đều bị đặt vào trạng thái phụ thuộc vào một message không tồn tại</a:t>
            </a:r>
            <a:br>
              <a:rPr lang="vi-VN" dirty="0"/>
            </a:br>
            <a:r>
              <a:rPr lang="vi-VN" dirty="0"/>
              <a:t>→ khả năng tạo orphan rất cao.</a:t>
            </a:r>
          </a:p>
          <a:p>
            <a:r>
              <a:rPr lang="vi-VN" dirty="0"/>
              <a:t>Bằng cách </a:t>
            </a:r>
            <a:r>
              <a:rPr lang="vi-VN" b="1" dirty="0"/>
              <a:t>giới hạn</a:t>
            </a:r>
            <a:r>
              <a:rPr lang="vi-VN" dirty="0"/>
              <a:t> message m chỉ được deliver cho tối đa 1 process →</a:t>
            </a:r>
            <a:br>
              <a:rPr lang="vi-VN" dirty="0"/>
            </a:br>
            <a:r>
              <a:rPr lang="vi-VN" b="1" dirty="0"/>
              <a:t>không thể có orphan</a:t>
            </a:r>
            <a:r>
              <a:rPr lang="vi-VN" dirty="0"/>
              <a:t>, vì orphan đòi hỏi </a:t>
            </a:r>
            <a:r>
              <a:rPr lang="vi-VN" i="1" dirty="0"/>
              <a:t>ít nhất 2 tiến trình</a:t>
            </a:r>
            <a:r>
              <a:rPr lang="vi-VN" dirty="0"/>
              <a:t> phụ thuộc.</a:t>
            </a:r>
          </a:p>
          <a:p>
            <a:endParaRPr lang="en-US" b="1" dirty="0"/>
          </a:p>
          <a:p>
            <a:r>
              <a:rPr lang="en-US" b="1" dirty="0"/>
              <a:t>4. </a:t>
            </a:r>
            <a:r>
              <a:rPr lang="vi-VN" b="1" dirty="0"/>
              <a:t>Hệ quả (Consequence)</a:t>
            </a:r>
          </a:p>
          <a:p>
            <a:r>
              <a:rPr lang="vi-VN" dirty="0"/>
              <a:t>Slide ghi:</a:t>
            </a:r>
          </a:p>
          <a:p>
            <a:r>
              <a:rPr lang="vi-VN" b="1" dirty="0"/>
              <a:t>An unstable message in a pessimistic protocol must be made stable before sending a next message.</a:t>
            </a:r>
            <a:endParaRPr lang="vi-VN" dirty="0"/>
          </a:p>
          <a:p>
            <a:r>
              <a:rPr lang="vi-VN" b="1" dirty="0"/>
              <a:t>Nghĩa là:</a:t>
            </a:r>
            <a:endParaRPr lang="vi-VN" dirty="0"/>
          </a:p>
          <a:p>
            <a:pPr>
              <a:buFont typeface="Arial" panose="020B0604020202020204" pitchFamily="34" charset="0"/>
              <a:buChar char="•"/>
            </a:pPr>
            <a:r>
              <a:rPr lang="vi-VN" dirty="0"/>
              <a:t>Nếu message m chưa được log ổn định,</a:t>
            </a:r>
          </a:p>
          <a:p>
            <a:pPr>
              <a:buFont typeface="Arial" panose="020B0604020202020204" pitchFamily="34" charset="0"/>
              <a:buChar char="•"/>
            </a:pPr>
            <a:r>
              <a:rPr lang="vi-VN" dirty="0"/>
              <a:t>Tiến trình </a:t>
            </a:r>
            <a:r>
              <a:rPr lang="vi-VN" b="1" dirty="0"/>
              <a:t>không được gửi message tiếp theo</a:t>
            </a:r>
            <a:r>
              <a:rPr lang="vi-VN" dirty="0"/>
              <a:t>.</a:t>
            </a:r>
          </a:p>
          <a:p>
            <a:r>
              <a:rPr lang="en-US" dirty="0"/>
              <a:t>* </a:t>
            </a:r>
            <a:r>
              <a:rPr lang="vi-VN" dirty="0"/>
              <a:t>Tổng quát:</a:t>
            </a:r>
            <a:br>
              <a:rPr lang="vi-VN" dirty="0"/>
            </a:br>
            <a:r>
              <a:rPr lang="vi-VN" b="1" dirty="0"/>
              <a:t>Trước khi gửi m2, phải đảm bảo m1 “stable”</a:t>
            </a:r>
            <a:br>
              <a:rPr lang="vi-VN" dirty="0"/>
            </a:br>
            <a:r>
              <a:rPr lang="vi-VN" dirty="0"/>
              <a:t>(tức là đã được logged/bảo vệ khỏi crash).</a:t>
            </a:r>
          </a:p>
          <a:p>
            <a:endParaRPr lang="en-US" b="1" dirty="0"/>
          </a:p>
          <a:p>
            <a:r>
              <a:rPr lang="en-US" b="1" dirty="0"/>
              <a:t>** </a:t>
            </a:r>
            <a:r>
              <a:rPr lang="vi-VN" b="1" dirty="0"/>
              <a:t>Điều này tạo ra điều gì?</a:t>
            </a:r>
          </a:p>
          <a:p>
            <a:r>
              <a:rPr lang="en-US" dirty="0"/>
              <a:t>-</a:t>
            </a:r>
            <a:r>
              <a:rPr lang="vi-VN" dirty="0"/>
              <a:t> </a:t>
            </a:r>
            <a:r>
              <a:rPr lang="vi-VN" b="1" dirty="0"/>
              <a:t>Đảm bảo không bao giờ có orphan processes</a:t>
            </a:r>
            <a:br>
              <a:rPr lang="vi-VN" dirty="0"/>
            </a:br>
            <a:r>
              <a:rPr lang="en-US" dirty="0"/>
              <a:t>-</a:t>
            </a:r>
            <a:r>
              <a:rPr lang="vi-VN" dirty="0"/>
              <a:t> </a:t>
            </a:r>
            <a:r>
              <a:rPr lang="vi-VN" b="1" dirty="0"/>
              <a:t>Đảm bảo phục hồi đơn giản và an toàn</a:t>
            </a:r>
            <a:br>
              <a:rPr lang="vi-VN" dirty="0"/>
            </a:br>
            <a:r>
              <a:rPr lang="en-US" dirty="0"/>
              <a:t>- </a:t>
            </a:r>
            <a:r>
              <a:rPr lang="vi-VN" b="1" dirty="0"/>
              <a:t>Nhưng gây chậm trễ, vì mỗi message cần phải “được ổn định” trước khi gửi tiếp</a:t>
            </a:r>
            <a:endParaRPr lang="vi-VN" dirty="0"/>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96</a:t>
            </a:fld>
            <a:endParaRPr lang="en-US"/>
          </a:p>
        </p:txBody>
      </p:sp>
    </p:spTree>
    <p:extLst>
      <p:ext uri="{BB962C8B-B14F-4D97-AF65-F5344CB8AC3E}">
        <p14:creationId xmlns:p14="http://schemas.microsoft.com/office/powerpoint/2010/main" val="28340379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Optimistic message-logging protocol</a:t>
            </a:r>
            <a:r>
              <a:rPr lang="vi-VN" dirty="0"/>
              <a:t> trong hệ thống phân tán.</a:t>
            </a:r>
          </a:p>
          <a:p>
            <a:r>
              <a:rPr lang="en-US" b="1" dirty="0"/>
              <a:t>1. </a:t>
            </a:r>
            <a:r>
              <a:rPr lang="vi-VN" b="1" dirty="0"/>
              <a:t>Bối cảnh: Message Logging để khôi phục sau crash</a:t>
            </a:r>
          </a:p>
          <a:p>
            <a:r>
              <a:rPr lang="vi-VN" dirty="0"/>
              <a:t>Trong message logging, mỗi message m có:</a:t>
            </a:r>
          </a:p>
          <a:p>
            <a:pPr>
              <a:buFont typeface="Arial" panose="020B0604020202020204" pitchFamily="34" charset="0"/>
              <a:buChar char="•"/>
            </a:pPr>
            <a:r>
              <a:rPr lang="vi-VN" b="1" dirty="0"/>
              <a:t>DEP(m)</a:t>
            </a:r>
            <a:r>
              <a:rPr lang="vi-VN" dirty="0"/>
              <a:t>: tập các tiến trình </a:t>
            </a:r>
            <a:r>
              <a:rPr lang="vi-VN" i="1" dirty="0"/>
              <a:t>phụ thuộc</a:t>
            </a:r>
            <a:r>
              <a:rPr lang="vi-VN" dirty="0"/>
              <a:t> vào m (đã deliver m).</a:t>
            </a:r>
          </a:p>
          <a:p>
            <a:pPr>
              <a:buFont typeface="Arial" panose="020B0604020202020204" pitchFamily="34" charset="0"/>
              <a:buChar char="•"/>
            </a:pPr>
            <a:r>
              <a:rPr lang="vi-VN" b="1" dirty="0"/>
              <a:t>COPY(m)</a:t>
            </a:r>
            <a:r>
              <a:rPr lang="vi-VN" dirty="0"/>
              <a:t>: tập các tiến trình đang giữ bản sao (nhưng chưa log ổn định).</a:t>
            </a:r>
          </a:p>
          <a:p>
            <a:pPr>
              <a:buFont typeface="Arial" panose="020B0604020202020204" pitchFamily="34" charset="0"/>
              <a:buChar char="•"/>
            </a:pPr>
            <a:r>
              <a:rPr lang="vi-VN" b="1" dirty="0"/>
              <a:t>FAIL</a:t>
            </a:r>
            <a:r>
              <a:rPr lang="vi-VN" dirty="0"/>
              <a:t>: tập tiến trình đã crash.</a:t>
            </a:r>
          </a:p>
          <a:p>
            <a:r>
              <a:rPr lang="vi-VN" dirty="0"/>
              <a:t>Mục tiêu của message logging:</a:t>
            </a:r>
            <a:br>
              <a:rPr lang="vi-VN" dirty="0"/>
            </a:br>
            <a:r>
              <a:rPr lang="en-US" dirty="0"/>
              <a:t>=&gt; </a:t>
            </a:r>
            <a:r>
              <a:rPr lang="vi-VN" dirty="0"/>
              <a:t>Tránh </a:t>
            </a:r>
            <a:r>
              <a:rPr lang="vi-VN" b="1" dirty="0"/>
              <a:t>orphan process</a:t>
            </a:r>
            <a:r>
              <a:rPr lang="vi-VN" dirty="0"/>
              <a:t>, đảm bảo hệ thống khôi phục nhất quán.</a:t>
            </a:r>
          </a:p>
          <a:p>
            <a:r>
              <a:rPr lang="en-US" b="1" dirty="0"/>
              <a:t>2. </a:t>
            </a:r>
            <a:r>
              <a:rPr lang="vi-VN" b="1" dirty="0"/>
              <a:t>Optimistic protocol là gì?</a:t>
            </a:r>
          </a:p>
          <a:p>
            <a:r>
              <a:rPr lang="vi-VN" dirty="0"/>
              <a:t>Optimistic = "lạc quan":</a:t>
            </a:r>
            <a:br>
              <a:rPr lang="vi-VN" dirty="0"/>
            </a:br>
            <a:r>
              <a:rPr lang="en-US" dirty="0"/>
              <a:t>- </a:t>
            </a:r>
            <a:r>
              <a:rPr lang="vi-VN" dirty="0"/>
              <a:t>Không ngăn chặn orphan ngay lập tức</a:t>
            </a:r>
            <a:br>
              <a:rPr lang="vi-VN" dirty="0"/>
            </a:br>
            <a:r>
              <a:rPr lang="en-US" dirty="0"/>
              <a:t>- </a:t>
            </a:r>
            <a:r>
              <a:rPr lang="vi-VN" dirty="0"/>
              <a:t>Cho phép hệ thống chạy nhanh, ít delay</a:t>
            </a:r>
            <a:br>
              <a:rPr lang="vi-VN" dirty="0"/>
            </a:br>
            <a:r>
              <a:rPr lang="en-US" dirty="0"/>
              <a:t>- </a:t>
            </a:r>
            <a:r>
              <a:rPr lang="vi-VN" dirty="0"/>
              <a:t>Nhưng sửa lỗi bằng cách rollback sau crash.</a:t>
            </a:r>
          </a:p>
          <a:p>
            <a:r>
              <a:rPr lang="vi-VN" dirty="0"/>
              <a:t>Slide ghi:</a:t>
            </a:r>
          </a:p>
          <a:p>
            <a:r>
              <a:rPr lang="vi-VN" dirty="0"/>
              <a:t>For each unstable message m, ensure that</a:t>
            </a:r>
            <a:br>
              <a:rPr lang="vi-VN" dirty="0"/>
            </a:br>
            <a:r>
              <a:rPr lang="vi-VN" b="1" dirty="0"/>
              <a:t>if COPY(m) ⊆ FAIL then eventually DEP(m) ⊆ FAIL</a:t>
            </a:r>
            <a:endParaRPr lang="vi-VN" dirty="0"/>
          </a:p>
          <a:p>
            <a:r>
              <a:rPr lang="vi-VN" dirty="0"/>
              <a:t>Giải thích:</a:t>
            </a:r>
          </a:p>
          <a:p>
            <a:pPr>
              <a:buFont typeface="Arial" panose="020B0604020202020204" pitchFamily="34" charset="0"/>
              <a:buChar char="•"/>
            </a:pPr>
            <a:r>
              <a:rPr lang="vi-VN" dirty="0"/>
              <a:t>Khi một message m chưa ổn định, mọi bản sao tạm thời của nó nằm trong tập COPY(m).</a:t>
            </a:r>
          </a:p>
          <a:p>
            <a:pPr>
              <a:buFont typeface="Arial" panose="020B0604020202020204" pitchFamily="34" charset="0"/>
              <a:buChar char="•"/>
            </a:pPr>
            <a:r>
              <a:rPr lang="vi-VN" dirty="0"/>
              <a:t>Nếu </a:t>
            </a:r>
            <a:r>
              <a:rPr lang="vi-VN" b="1" dirty="0"/>
              <a:t>tất cả bản sao tạm thời của m bị mất do crash</a:t>
            </a:r>
            <a:r>
              <a:rPr lang="vi-VN" dirty="0"/>
              <a:t> → COPY(m) ⊆ FAIL</a:t>
            </a:r>
          </a:p>
          <a:p>
            <a:pPr>
              <a:buFont typeface="Arial" panose="020B0604020202020204" pitchFamily="34" charset="0"/>
              <a:buChar char="•"/>
            </a:pPr>
            <a:r>
              <a:rPr lang="vi-VN" dirty="0"/>
              <a:t>Khi đó phải đảm bảo rằng </a:t>
            </a:r>
            <a:r>
              <a:rPr lang="vi-VN" b="1" dirty="0"/>
              <a:t>tất cả tiến trình đã phụ thuộc vào m (DEP(m)) cũng phải crash hoặc rollback</a:t>
            </a:r>
            <a:r>
              <a:rPr lang="vi-VN" dirty="0"/>
              <a:t>.</a:t>
            </a:r>
          </a:p>
          <a:p>
            <a:r>
              <a:rPr lang="vi-VN" dirty="0"/>
              <a:t>Nói cách khác:</a:t>
            </a:r>
          </a:p>
          <a:p>
            <a:r>
              <a:rPr lang="vi-VN" dirty="0"/>
              <a:t>Nếu message m bị mất hoàn toàn → mọi tiến trình phụ thuộc vào m cũng phải quay trở lại thời điểm trước khi m tồn tại.</a:t>
            </a:r>
          </a:p>
          <a:p>
            <a:r>
              <a:rPr lang="vi-VN" dirty="0"/>
              <a:t>Đây là cách tránh orphan process.</a:t>
            </a:r>
          </a:p>
          <a:p>
            <a:r>
              <a:rPr lang="en-US" b="1" dirty="0"/>
              <a:t>3. </a:t>
            </a:r>
            <a:r>
              <a:rPr lang="vi-VN" b="1" dirty="0"/>
              <a:t>Consequence (Hệ quả)</a:t>
            </a:r>
          </a:p>
          <a:p>
            <a:r>
              <a:rPr lang="vi-VN" dirty="0"/>
              <a:t>Slide ghi:</a:t>
            </a:r>
          </a:p>
          <a:p>
            <a:r>
              <a:rPr lang="vi-VN" dirty="0"/>
              <a:t>To guarantee DEP(m) ⊆ FAIL,</a:t>
            </a:r>
            <a:br>
              <a:rPr lang="vi-VN" dirty="0"/>
            </a:br>
            <a:r>
              <a:rPr lang="vi-VN" dirty="0"/>
              <a:t>we rollback each orphan process Q</a:t>
            </a:r>
            <a:br>
              <a:rPr lang="vi-VN" dirty="0"/>
            </a:br>
            <a:r>
              <a:rPr lang="vi-VN" dirty="0"/>
              <a:t>until Q ∉ DEP(m).</a:t>
            </a:r>
          </a:p>
          <a:p>
            <a:r>
              <a:rPr lang="vi-VN" dirty="0"/>
              <a:t>Ý nghĩa:</a:t>
            </a:r>
          </a:p>
          <a:p>
            <a:pPr>
              <a:buFont typeface="Arial" panose="020B0604020202020204" pitchFamily="34" charset="0"/>
              <a:buChar char="•"/>
            </a:pPr>
            <a:r>
              <a:rPr lang="vi-VN" dirty="0"/>
              <a:t>Sau crash, một số tiến trình trở thành </a:t>
            </a:r>
            <a:r>
              <a:rPr lang="vi-VN" b="1" dirty="0"/>
              <a:t>orphan</a:t>
            </a:r>
            <a:r>
              <a:rPr lang="vi-VN" dirty="0"/>
              <a:t> vì phụ thuộc vào message m bị mất.</a:t>
            </a:r>
          </a:p>
          <a:p>
            <a:pPr>
              <a:buFont typeface="Arial" panose="020B0604020202020204" pitchFamily="34" charset="0"/>
              <a:buChar char="•"/>
            </a:pPr>
            <a:r>
              <a:rPr lang="vi-VN" dirty="0"/>
              <a:t>Giải pháp của optimistic protocol:</a:t>
            </a:r>
            <a:br>
              <a:rPr lang="vi-VN" dirty="0"/>
            </a:br>
            <a:r>
              <a:rPr lang="en-US" dirty="0"/>
              <a:t>=&gt; </a:t>
            </a:r>
            <a:r>
              <a:rPr lang="vi-VN" b="1" dirty="0"/>
              <a:t>Rollback các orphan process</a:t>
            </a:r>
            <a:r>
              <a:rPr lang="vi-VN" dirty="0"/>
              <a:t> để loại bỏ dependency vào m.</a:t>
            </a:r>
          </a:p>
          <a:p>
            <a:r>
              <a:rPr lang="vi-VN" dirty="0"/>
              <a:t>Nói cách khác:</a:t>
            </a:r>
          </a:p>
          <a:p>
            <a:pPr>
              <a:buFont typeface="Arial" panose="020B0604020202020204" pitchFamily="34" charset="0"/>
              <a:buChar char="•"/>
            </a:pPr>
            <a:r>
              <a:rPr lang="vi-VN" dirty="0"/>
              <a:t>Không phòng ngừa orphan</a:t>
            </a:r>
          </a:p>
          <a:p>
            <a:pPr>
              <a:buFont typeface="Arial" panose="020B0604020202020204" pitchFamily="34" charset="0"/>
              <a:buChar char="•"/>
            </a:pPr>
            <a:r>
              <a:rPr lang="vi-VN" dirty="0"/>
              <a:t>Mà xử lý orphan bằng cách rollback cho đến khi tiến trình không còn phụ thuộc vào message đã mất.</a:t>
            </a:r>
          </a:p>
          <a:p>
            <a:endParaRPr lang="en-US" dirty="0"/>
          </a:p>
        </p:txBody>
      </p:sp>
      <p:sp>
        <p:nvSpPr>
          <p:cNvPr id="4" name="Slide Number Placeholder 3"/>
          <p:cNvSpPr>
            <a:spLocks noGrp="1"/>
          </p:cNvSpPr>
          <p:nvPr>
            <p:ph type="sldNum" sz="quarter" idx="5"/>
          </p:nvPr>
        </p:nvSpPr>
        <p:spPr/>
        <p:txBody>
          <a:bodyPr/>
          <a:lstStyle/>
          <a:p>
            <a:fld id="{239FF1FD-65A6-4FF9-B413-EF3BDF7973BD}" type="slidenum">
              <a:rPr lang="en-US" smtClean="0"/>
              <a:t>97</a:t>
            </a:fld>
            <a:endParaRPr lang="en-US"/>
          </a:p>
        </p:txBody>
      </p:sp>
    </p:spTree>
    <p:extLst>
      <p:ext uri="{BB962C8B-B14F-4D97-AF65-F5344CB8AC3E}">
        <p14:creationId xmlns:p14="http://schemas.microsoft.com/office/powerpoint/2010/main" val="1394460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5300" y="188846"/>
            <a:ext cx="4419498" cy="24447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68</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68</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7" name="Holder 7"/>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68</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5" name="Holder 5"/>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68</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4" name="Holder 4"/>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68</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188846"/>
            <a:ext cx="2247900"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317728" y="864375"/>
            <a:ext cx="3716020" cy="1201420"/>
          </a:xfrm>
          <a:prstGeom prst="rect">
            <a:avLst/>
          </a:prstGeom>
        </p:spPr>
        <p:txBody>
          <a:bodyPr wrap="square" lIns="0" tIns="0" rIns="0" bIns="0">
            <a:spAutoFit/>
          </a:bodyPr>
          <a:lstStyle>
            <a:lvl1pPr>
              <a:defRPr sz="10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11/18/2025</a:t>
            </a:fld>
            <a:endParaRPr lang="en-US"/>
          </a:p>
        </p:txBody>
      </p:sp>
      <p:sp>
        <p:nvSpPr>
          <p:cNvPr id="6" name="Holder 6"/>
          <p:cNvSpPr>
            <a:spLocks noGrp="1"/>
          </p:cNvSpPr>
          <p:nvPr>
            <p:ph type="sldNum" sz="quarter" idx="7"/>
          </p:nvPr>
        </p:nvSpPr>
        <p:spPr>
          <a:xfrm>
            <a:off x="4258348" y="3331252"/>
            <a:ext cx="283210" cy="119379"/>
          </a:xfrm>
          <a:prstGeom prst="rect">
            <a:avLst/>
          </a:prstGeom>
        </p:spPr>
        <p:txBody>
          <a:bodyPr wrap="square" lIns="0" tIns="0" rIns="0" bIns="0">
            <a:spAutoFit/>
          </a:bodyPr>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68</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slide" Target="slide8.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slide" Target="slide8.xml"/></Relationships>
</file>

<file path=ppt/slides/_rels/slide1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slide" Target="slide8.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slide" Target="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slide" Target="slide2.xm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slide" Target="slide14.xml"/><Relationship Id="rId9" Type="http://schemas.openxmlformats.org/officeDocument/2006/relationships/image" Target="../media/image5.png"/><Relationship Id="rId1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1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slide" Target="slide15.xml"/><Relationship Id="rId4" Type="http://schemas.openxmlformats.org/officeDocument/2006/relationships/slide" Target="slide14.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slide" Target="slide18.xml"/><Relationship Id="rId4" Type="http://schemas.openxmlformats.org/officeDocument/2006/relationships/slide" Target="slide14.xml"/></Relationships>
</file>

<file path=ppt/slides/_rels/slide19.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18.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slide" Target="slide14.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slide" Target="slide18.xml"/><Relationship Id="rId4" Type="http://schemas.openxmlformats.org/officeDocument/2006/relationships/slide" Target="slide14.xml"/></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slide" Target="slide22.xml"/><Relationship Id="rId4" Type="http://schemas.openxmlformats.org/officeDocument/2006/relationships/slide" Target="slide14.xml"/></Relationships>
</file>

<file path=ppt/slides/_rels/slide23.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xml"/></Relationships>
</file>

<file path=ppt/slides/_rels/slide24.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25.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27.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2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29.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30.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31.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3.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14.xml"/></Relationships>
</file>

<file path=ppt/slides/_rels/slide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slide" Target="slide23.xml"/><Relationship Id="rId5" Type="http://schemas.openxmlformats.org/officeDocument/2006/relationships/slide" Target="slide22.xml"/><Relationship Id="rId4" Type="http://schemas.openxmlformats.org/officeDocument/2006/relationships/slide" Target="slide14.xml"/></Relationships>
</file>

<file path=ppt/slides/_rels/slide3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3.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14.xml"/></Relationships>
</file>

<file path=ppt/slides/_rels/slide35.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xml"/></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3.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14.xml"/></Relationships>
</file>

<file path=ppt/slides/_rels/slide37.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3.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14.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3.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14.xml"/></Relationships>
</file>

<file path=ppt/slides/_rels/slide40.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xml"/></Relationships>
</file>

<file path=ppt/slides/_rels/slide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3.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14.xml"/></Relationships>
</file>

<file path=ppt/slides/_rels/slide4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xml"/></Relationships>
</file>

<file path=ppt/slides/_rels/slide4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44.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4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3.xml"/><Relationship Id="rId4" Type="http://schemas.openxmlformats.org/officeDocument/2006/relationships/slide" Target="slide22.xml"/></Relationships>
</file>

<file path=ppt/slides/_rels/slide4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slide" Target="slide2.xml"/><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slide" Target="slide46.xml"/><Relationship Id="rId10" Type="http://schemas.openxmlformats.org/officeDocument/2006/relationships/image" Target="../media/image15.png"/><Relationship Id="rId4" Type="http://schemas.openxmlformats.org/officeDocument/2006/relationships/slide" Target="slide14.xml"/><Relationship Id="rId9" Type="http://schemas.openxmlformats.org/officeDocument/2006/relationships/image" Target="../media/image14.png"/><Relationship Id="rId14" Type="http://schemas.openxmlformats.org/officeDocument/2006/relationships/image" Target="../media/image19.png"/></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slide" Target="slide14.xml"/></Relationships>
</file>

<file path=ppt/slides/_rels/slide4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slide" Target="slide2.xml"/><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slide" Target="slide46.xml"/><Relationship Id="rId10" Type="http://schemas.openxmlformats.org/officeDocument/2006/relationships/image" Target="../media/image24.png"/><Relationship Id="rId4" Type="http://schemas.openxmlformats.org/officeDocument/2006/relationships/slide" Target="slide14.xml"/><Relationship Id="rId9" Type="http://schemas.openxmlformats.org/officeDocument/2006/relationships/image" Target="../media/image23.png"/><Relationship Id="rId14" Type="http://schemas.openxmlformats.org/officeDocument/2006/relationships/slide" Target="slide48.xml"/></Relationships>
</file>

<file path=ppt/slides/_rels/slide4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5.png"/><Relationship Id="rId3" Type="http://schemas.openxmlformats.org/officeDocument/2006/relationships/slide" Target="slide2.xml"/><Relationship Id="rId21" Type="http://schemas.openxmlformats.org/officeDocument/2006/relationships/image" Target="../media/image11.png"/><Relationship Id="rId7" Type="http://schemas.openxmlformats.org/officeDocument/2006/relationships/image" Target="../media/image28.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4.png"/><Relationship Id="rId2" Type="http://schemas.openxmlformats.org/officeDocument/2006/relationships/notesSlide" Target="../notesSlides/notesSlide29.xml"/><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31.png"/><Relationship Id="rId24" Type="http://schemas.openxmlformats.org/officeDocument/2006/relationships/image" Target="../media/image43.png"/><Relationship Id="rId5" Type="http://schemas.openxmlformats.org/officeDocument/2006/relationships/slide" Target="slide46.xml"/><Relationship Id="rId15" Type="http://schemas.openxmlformats.org/officeDocument/2006/relationships/image" Target="../media/image35.png"/><Relationship Id="rId23" Type="http://schemas.openxmlformats.org/officeDocument/2006/relationships/image" Target="../media/image42.png"/><Relationship Id="rId28" Type="http://schemas.openxmlformats.org/officeDocument/2006/relationships/image" Target="../media/image47.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slide" Target="slide14.xml"/><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1.png"/><Relationship Id="rId27" Type="http://schemas.openxmlformats.org/officeDocument/2006/relationships/image" Target="../media/image46.png"/><Relationship Id="rId30" Type="http://schemas.openxmlformats.org/officeDocument/2006/relationships/slide" Target="slide49.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slide" Target="slide50.xml"/><Relationship Id="rId4" Type="http://schemas.openxmlformats.org/officeDocument/2006/relationships/slide" Target="slide14.xml"/></Relationships>
</file>

<file path=ppt/slides/_rels/slide5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51.xml"/><Relationship Id="rId5" Type="http://schemas.openxmlformats.org/officeDocument/2006/relationships/slide" Target="slide50.xml"/><Relationship Id="rId4" Type="http://schemas.openxmlformats.org/officeDocument/2006/relationships/slide" Target="slide14.xml"/></Relationships>
</file>

<file path=ppt/slides/_rels/slide52.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slide" Target="slide50.xml"/><Relationship Id="rId5" Type="http://schemas.openxmlformats.org/officeDocument/2006/relationships/slide" Target="slide14.xml"/><Relationship Id="rId4" Type="http://schemas.openxmlformats.org/officeDocument/2006/relationships/slide" Target="slide2.xml"/></Relationships>
</file>

<file path=ppt/slides/_rels/slide5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52.xml"/><Relationship Id="rId1" Type="http://schemas.openxmlformats.org/officeDocument/2006/relationships/slideLayout" Target="../slideLayouts/slideLayout5.xml"/><Relationship Id="rId5" Type="http://schemas.openxmlformats.org/officeDocument/2006/relationships/slide" Target="slide50.xml"/><Relationship Id="rId4" Type="http://schemas.openxmlformats.org/officeDocument/2006/relationships/slide" Target="slide14.xml"/></Relationships>
</file>

<file path=ppt/slides/_rels/slide54.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slide" Target="slide50.xml"/><Relationship Id="rId5" Type="http://schemas.openxmlformats.org/officeDocument/2006/relationships/slide" Target="slide14.xml"/><Relationship Id="rId4" Type="http://schemas.openxmlformats.org/officeDocument/2006/relationships/slide" Target="slide2.xml"/></Relationships>
</file>

<file path=ppt/slides/_rels/slide5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4.xml"/><Relationship Id="rId1" Type="http://schemas.openxmlformats.org/officeDocument/2006/relationships/slideLayout" Target="../slideLayouts/slideLayout5.xml"/><Relationship Id="rId5" Type="http://schemas.openxmlformats.org/officeDocument/2006/relationships/slide" Target="slide55.xml"/><Relationship Id="rId4" Type="http://schemas.openxmlformats.org/officeDocument/2006/relationships/slide" Target="slide14.xml"/></Relationships>
</file>

<file path=ppt/slides/_rels/slide5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5.xml"/><Relationship Id="rId1" Type="http://schemas.openxmlformats.org/officeDocument/2006/relationships/slideLayout" Target="../slideLayouts/slideLayout5.xml"/><Relationship Id="rId5" Type="http://schemas.openxmlformats.org/officeDocument/2006/relationships/slide" Target="slide55.xml"/><Relationship Id="rId4" Type="http://schemas.openxmlformats.org/officeDocument/2006/relationships/slide" Target="slide14.xml"/></Relationships>
</file>

<file path=ppt/slides/_rels/slide57.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slide" Target="slide57.xml"/></Relationships>
</file>

<file path=ppt/slides/_rels/slide5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slide" Target="slide2.xml"/><Relationship Id="rId7"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image" Target="../media/image49.png"/><Relationship Id="rId11" Type="http://schemas.openxmlformats.org/officeDocument/2006/relationships/slide" Target="slide59.xml"/><Relationship Id="rId5" Type="http://schemas.openxmlformats.org/officeDocument/2006/relationships/image" Target="../media/image26.png"/><Relationship Id="rId10" Type="http://schemas.openxmlformats.org/officeDocument/2006/relationships/image" Target="../media/image53.png"/><Relationship Id="rId4" Type="http://schemas.openxmlformats.org/officeDocument/2006/relationships/slide" Target="slide57.xml"/><Relationship Id="rId9" Type="http://schemas.openxmlformats.org/officeDocument/2006/relationships/image" Target="../media/image52.png"/></Relationships>
</file>

<file path=ppt/slides/_rels/slide60.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slide" Target="slide57.xml"/><Relationship Id="rId4" Type="http://schemas.openxmlformats.org/officeDocument/2006/relationships/slide" Target="slide2.xml"/></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59.xml"/><Relationship Id="rId1" Type="http://schemas.openxmlformats.org/officeDocument/2006/relationships/slideLayout" Target="../slideLayouts/slideLayout2.xml"/><Relationship Id="rId4" Type="http://schemas.openxmlformats.org/officeDocument/2006/relationships/slide" Target="slide57.xml"/></Relationships>
</file>

<file path=ppt/slides/_rels/slide6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slide" Target="slide62.xml"/><Relationship Id="rId4" Type="http://schemas.openxmlformats.org/officeDocument/2006/relationships/slide" Target="slide57.xml"/></Relationships>
</file>

<file path=ppt/slides/_rels/slide6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0.xml"/><Relationship Id="rId1" Type="http://schemas.openxmlformats.org/officeDocument/2006/relationships/slideLayout" Target="../slideLayouts/slideLayout5.xml"/><Relationship Id="rId5" Type="http://schemas.openxmlformats.org/officeDocument/2006/relationships/slide" Target="slide63.xml"/><Relationship Id="rId4" Type="http://schemas.openxmlformats.org/officeDocument/2006/relationships/slide" Target="slide57.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slide" Target="slide64.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slide" Target="slide64.xml"/></Relationships>
</file>

<file path=ppt/slides/_rels/slide66.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3" Type="http://schemas.openxmlformats.org/officeDocument/2006/relationships/slide" Target="slide2.xml"/><Relationship Id="rId7" Type="http://schemas.openxmlformats.org/officeDocument/2006/relationships/image" Target="../media/image58.png"/><Relationship Id="rId12"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slide" Target="slide64.xml"/><Relationship Id="rId9" Type="http://schemas.openxmlformats.org/officeDocument/2006/relationships/image" Target="../media/image60.png"/></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6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69.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slide" Target="slide2.xml"/><Relationship Id="rId7" Type="http://schemas.openxmlformats.org/officeDocument/2006/relationships/image" Target="../media/image67.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slide" Target="slide67.xml"/><Relationship Id="rId9" Type="http://schemas.openxmlformats.org/officeDocument/2006/relationships/image" Target="../media/image69.png"/></Relationships>
</file>

<file path=ppt/slides/_rels/slide70.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slide" Target="slide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7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7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77.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slide" Target="slide6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slide" Target="slide79.xml"/></Relationships>
</file>

<file path=ppt/slides/_rels/slide80.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slide" Target="slide2.xml"/><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slide" Target="slide80.xml"/><Relationship Id="rId10" Type="http://schemas.openxmlformats.org/officeDocument/2006/relationships/image" Target="../media/image74.png"/><Relationship Id="rId4" Type="http://schemas.openxmlformats.org/officeDocument/2006/relationships/slide" Target="slide79.xml"/><Relationship Id="rId9" Type="http://schemas.openxmlformats.org/officeDocument/2006/relationships/image" Target="../media/image73.png"/><Relationship Id="rId14" Type="http://schemas.openxmlformats.org/officeDocument/2006/relationships/image" Target="../media/image78.png"/></Relationships>
</file>

<file path=ppt/slides/_rels/slide8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1.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8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1.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8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1.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8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1.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85.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slide" Target="slide80.xml"/><Relationship Id="rId5" Type="http://schemas.openxmlformats.org/officeDocument/2006/relationships/slide" Target="slide79.xml"/><Relationship Id="rId4" Type="http://schemas.openxmlformats.org/officeDocument/2006/relationships/slide" Target="slide2.xml"/></Relationships>
</file>

<file path=ppt/slides/_rels/slide8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3" Type="http://schemas.openxmlformats.org/officeDocument/2006/relationships/slide" Target="slide2.xml"/><Relationship Id="rId7" Type="http://schemas.openxmlformats.org/officeDocument/2006/relationships/image" Target="../media/image80.png"/><Relationship Id="rId12" Type="http://schemas.openxmlformats.org/officeDocument/2006/relationships/image" Target="../media/image85.png"/><Relationship Id="rId2" Type="http://schemas.openxmlformats.org/officeDocument/2006/relationships/notesSlide" Target="../notesSlides/notesSlide53.xml"/><Relationship Id="rId1" Type="http://schemas.openxmlformats.org/officeDocument/2006/relationships/slideLayout" Target="../slideLayouts/slideLayout5.xml"/><Relationship Id="rId6" Type="http://schemas.openxmlformats.org/officeDocument/2006/relationships/image" Target="../media/image79.png"/><Relationship Id="rId11" Type="http://schemas.openxmlformats.org/officeDocument/2006/relationships/image" Target="../media/image84.png"/><Relationship Id="rId5" Type="http://schemas.openxmlformats.org/officeDocument/2006/relationships/slide" Target="slide80.xml"/><Relationship Id="rId15" Type="http://schemas.openxmlformats.org/officeDocument/2006/relationships/slide" Target="slide86.xml"/><Relationship Id="rId10" Type="http://schemas.openxmlformats.org/officeDocument/2006/relationships/image" Target="../media/image83.png"/><Relationship Id="rId4" Type="http://schemas.openxmlformats.org/officeDocument/2006/relationships/slide" Target="slide79.xml"/><Relationship Id="rId9" Type="http://schemas.openxmlformats.org/officeDocument/2006/relationships/image" Target="../media/image82.png"/><Relationship Id="rId14" Type="http://schemas.openxmlformats.org/officeDocument/2006/relationships/image" Target="../media/image87.png"/></Relationships>
</file>

<file path=ppt/slides/_rels/slide8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6.xml"/><Relationship Id="rId1" Type="http://schemas.openxmlformats.org/officeDocument/2006/relationships/slideLayout" Target="../slideLayouts/slideLayout5.xml"/><Relationship Id="rId5" Type="http://schemas.openxmlformats.org/officeDocument/2006/relationships/slide" Target="slide80.xml"/><Relationship Id="rId4" Type="http://schemas.openxmlformats.org/officeDocument/2006/relationships/slide" Target="slide79.xml"/></Relationships>
</file>

<file path=ppt/slides/_rels/slide8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6.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8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6.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9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6.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9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6.xml"/><Relationship Id="rId1" Type="http://schemas.openxmlformats.org/officeDocument/2006/relationships/slideLayout" Target="../slideLayouts/slideLayout2.xml"/><Relationship Id="rId5" Type="http://schemas.openxmlformats.org/officeDocument/2006/relationships/slide" Target="slide80.xml"/><Relationship Id="rId4" Type="http://schemas.openxmlformats.org/officeDocument/2006/relationships/slide" Target="slide79.xml"/></Relationships>
</file>

<file path=ppt/slides/_rels/slide92.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slide" Target="slide80.xml"/><Relationship Id="rId5" Type="http://schemas.openxmlformats.org/officeDocument/2006/relationships/slide" Target="slide79.xml"/><Relationship Id="rId4" Type="http://schemas.openxmlformats.org/officeDocument/2006/relationships/slide" Target="slide2.xml"/></Relationships>
</file>

<file path=ppt/slides/_rels/slide9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5.xml"/><Relationship Id="rId1" Type="http://schemas.openxmlformats.org/officeDocument/2006/relationships/slideLayout" Target="../slideLayouts/slideLayout5.xml"/><Relationship Id="rId5" Type="http://schemas.openxmlformats.org/officeDocument/2006/relationships/slide" Target="slide93.xml"/><Relationship Id="rId4" Type="http://schemas.openxmlformats.org/officeDocument/2006/relationships/slide" Target="slide79.xml"/></Relationships>
</file>

<file path=ppt/slides/_rels/slide9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slide" Target="slide2.xml"/><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notesSlide" Target="../notesSlides/notesSlide56.xml"/><Relationship Id="rId16"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slide" Target="slide93.xml"/><Relationship Id="rId15" Type="http://schemas.openxmlformats.org/officeDocument/2006/relationships/image" Target="../media/image97.png"/><Relationship Id="rId10" Type="http://schemas.openxmlformats.org/officeDocument/2006/relationships/image" Target="../media/image92.png"/><Relationship Id="rId4" Type="http://schemas.openxmlformats.org/officeDocument/2006/relationships/slide" Target="slide79.xml"/><Relationship Id="rId9" Type="http://schemas.openxmlformats.org/officeDocument/2006/relationships/image" Target="../media/image91.png"/><Relationship Id="rId14" Type="http://schemas.openxmlformats.org/officeDocument/2006/relationships/image" Target="../media/image96.png"/></Relationships>
</file>

<file path=ppt/slides/_rels/slide9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7.xml"/><Relationship Id="rId1" Type="http://schemas.openxmlformats.org/officeDocument/2006/relationships/slideLayout" Target="../slideLayouts/slideLayout5.xml"/><Relationship Id="rId5" Type="http://schemas.openxmlformats.org/officeDocument/2006/relationships/slide" Target="slide93.xml"/><Relationship Id="rId4" Type="http://schemas.openxmlformats.org/officeDocument/2006/relationships/slide" Target="slide79.xml"/></Relationships>
</file>

<file path=ppt/slides/_rels/slide9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8.xml"/><Relationship Id="rId1" Type="http://schemas.openxmlformats.org/officeDocument/2006/relationships/slideLayout" Target="../slideLayouts/slideLayout5.xml"/><Relationship Id="rId5" Type="http://schemas.openxmlformats.org/officeDocument/2006/relationships/slide" Target="slide93.xml"/><Relationship Id="rId4" Type="http://schemas.openxmlformats.org/officeDocument/2006/relationships/slide" Target="slide79.xml"/></Relationships>
</file>

<file path=ppt/slides/_rels/slide9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9.xml"/><Relationship Id="rId1" Type="http://schemas.openxmlformats.org/officeDocument/2006/relationships/slideLayout" Target="../slideLayouts/slideLayout5.xml"/><Relationship Id="rId5" Type="http://schemas.openxmlformats.org/officeDocument/2006/relationships/slide" Target="slide93.xml"/><Relationship Id="rId4" Type="http://schemas.openxmlformats.org/officeDocument/2006/relationships/slide" Target="slide7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2303" y="503866"/>
            <a:ext cx="1783714" cy="554355"/>
          </a:xfrm>
          <a:prstGeom prst="rect">
            <a:avLst/>
          </a:prstGeom>
        </p:spPr>
        <p:txBody>
          <a:bodyPr vert="horz" wrap="square" lIns="0" tIns="110490" rIns="0" bIns="0" rtlCol="0">
            <a:spAutoFit/>
          </a:bodyPr>
          <a:lstStyle/>
          <a:p>
            <a:pPr algn="ctr">
              <a:lnSpc>
                <a:spcPct val="100000"/>
              </a:lnSpc>
              <a:spcBef>
                <a:spcPts val="870"/>
              </a:spcBef>
            </a:pPr>
            <a:r>
              <a:rPr sz="1400" b="1" spc="10" dirty="0">
                <a:solidFill>
                  <a:srgbClr val="3333B2"/>
                </a:solidFill>
                <a:latin typeface="Arial"/>
                <a:cs typeface="Arial"/>
              </a:rPr>
              <a:t>Distributed</a:t>
            </a:r>
            <a:r>
              <a:rPr sz="1400" b="1" spc="-35" dirty="0">
                <a:solidFill>
                  <a:srgbClr val="3333B2"/>
                </a:solidFill>
                <a:latin typeface="Arial"/>
                <a:cs typeface="Arial"/>
              </a:rPr>
              <a:t> </a:t>
            </a:r>
            <a:r>
              <a:rPr sz="1400" b="1" spc="20" dirty="0">
                <a:solidFill>
                  <a:srgbClr val="3333B2"/>
                </a:solidFill>
                <a:latin typeface="Arial"/>
                <a:cs typeface="Arial"/>
              </a:rPr>
              <a:t>Systems</a:t>
            </a:r>
            <a:endParaRPr sz="1400">
              <a:latin typeface="Arial"/>
              <a:cs typeface="Arial"/>
            </a:endParaRPr>
          </a:p>
          <a:p>
            <a:pPr marL="3810" algn="ctr">
              <a:lnSpc>
                <a:spcPct val="100000"/>
              </a:lnSpc>
              <a:spcBef>
                <a:spcPts val="509"/>
              </a:spcBef>
            </a:pPr>
            <a:r>
              <a:rPr sz="1000" spc="-5" dirty="0">
                <a:solidFill>
                  <a:srgbClr val="3333B2"/>
                </a:solidFill>
                <a:latin typeface="Arial"/>
                <a:cs typeface="Arial"/>
              </a:rPr>
              <a:t>(3rd</a:t>
            </a:r>
            <a:r>
              <a:rPr sz="1000" spc="-35" dirty="0">
                <a:solidFill>
                  <a:srgbClr val="3333B2"/>
                </a:solidFill>
                <a:latin typeface="Arial"/>
                <a:cs typeface="Arial"/>
              </a:rPr>
              <a:t> </a:t>
            </a:r>
            <a:r>
              <a:rPr sz="1000" spc="-5" dirty="0">
                <a:solidFill>
                  <a:srgbClr val="3333B2"/>
                </a:solidFill>
                <a:latin typeface="Arial"/>
                <a:cs typeface="Arial"/>
              </a:rPr>
              <a:t>Edition)</a:t>
            </a:r>
            <a:endParaRPr sz="1000">
              <a:latin typeface="Arial"/>
              <a:cs typeface="Arial"/>
            </a:endParaRPr>
          </a:p>
        </p:txBody>
      </p:sp>
      <p:sp>
        <p:nvSpPr>
          <p:cNvPr id="3" name="object 3"/>
          <p:cNvSpPr txBox="1"/>
          <p:nvPr/>
        </p:nvSpPr>
        <p:spPr>
          <a:xfrm>
            <a:off x="1167523" y="2243770"/>
            <a:ext cx="2273300" cy="521334"/>
          </a:xfrm>
          <a:prstGeom prst="rect">
            <a:avLst/>
          </a:prstGeom>
        </p:spPr>
        <p:txBody>
          <a:bodyPr vert="horz" wrap="square" lIns="0" tIns="17145" rIns="0" bIns="0" rtlCol="0">
            <a:spAutoFit/>
          </a:bodyPr>
          <a:lstStyle/>
          <a:p>
            <a:pPr algn="ctr">
              <a:lnSpc>
                <a:spcPct val="100000"/>
              </a:lnSpc>
              <a:spcBef>
                <a:spcPts val="135"/>
              </a:spcBef>
            </a:pPr>
            <a:r>
              <a:rPr sz="1400" spc="15" dirty="0">
                <a:latin typeface="Arial"/>
                <a:cs typeface="Arial"/>
              </a:rPr>
              <a:t>Chapter</a:t>
            </a:r>
            <a:r>
              <a:rPr sz="1400" spc="-15" dirty="0">
                <a:latin typeface="Arial"/>
                <a:cs typeface="Arial"/>
              </a:rPr>
              <a:t> </a:t>
            </a:r>
            <a:r>
              <a:rPr sz="1400" spc="15" dirty="0">
                <a:latin typeface="Arial"/>
                <a:cs typeface="Arial"/>
              </a:rPr>
              <a:t>08:</a:t>
            </a:r>
            <a:r>
              <a:rPr sz="1400" spc="75" dirty="0">
                <a:latin typeface="Arial"/>
                <a:cs typeface="Arial"/>
              </a:rPr>
              <a:t> </a:t>
            </a:r>
            <a:r>
              <a:rPr sz="1400" dirty="0">
                <a:latin typeface="Arial"/>
                <a:cs typeface="Arial"/>
              </a:rPr>
              <a:t>Fault</a:t>
            </a:r>
            <a:r>
              <a:rPr sz="1400" spc="-10" dirty="0">
                <a:latin typeface="Arial"/>
                <a:cs typeface="Arial"/>
              </a:rPr>
              <a:t> </a:t>
            </a:r>
            <a:r>
              <a:rPr sz="1400" spc="-5" dirty="0">
                <a:latin typeface="Arial"/>
                <a:cs typeface="Arial"/>
              </a:rPr>
              <a:t>Tolerance</a:t>
            </a:r>
            <a:endParaRPr sz="1400">
              <a:latin typeface="Arial"/>
              <a:cs typeface="Arial"/>
            </a:endParaRPr>
          </a:p>
          <a:p>
            <a:pPr algn="ctr">
              <a:lnSpc>
                <a:spcPct val="100000"/>
              </a:lnSpc>
              <a:spcBef>
                <a:spcPts val="869"/>
              </a:spcBef>
            </a:pPr>
            <a:r>
              <a:rPr sz="1100" spc="-20" dirty="0">
                <a:latin typeface="Arial"/>
                <a:cs typeface="Arial"/>
              </a:rPr>
              <a:t>Version:</a:t>
            </a:r>
            <a:r>
              <a:rPr sz="1100" spc="60" dirty="0">
                <a:latin typeface="Arial"/>
                <a:cs typeface="Arial"/>
              </a:rPr>
              <a:t> </a:t>
            </a:r>
            <a:r>
              <a:rPr sz="1100" spc="-10" dirty="0">
                <a:latin typeface="Arial"/>
                <a:cs typeface="Arial"/>
              </a:rPr>
              <a:t>March </a:t>
            </a:r>
            <a:r>
              <a:rPr sz="1100" spc="-5" dirty="0">
                <a:latin typeface="Arial"/>
                <a:cs typeface="Arial"/>
              </a:rPr>
              <a:t>20,</a:t>
            </a:r>
            <a:r>
              <a:rPr sz="1100" spc="-10" dirty="0">
                <a:latin typeface="Arial"/>
                <a:cs typeface="Arial"/>
              </a:rPr>
              <a:t> 2022</a:t>
            </a:r>
            <a:endParaRPr sz="110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 name="object 7"/>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50970" algn="l"/>
              </a:tabLst>
            </a:pPr>
            <a:r>
              <a:rPr sz="600" spc="-10" dirty="0">
                <a:solidFill>
                  <a:srgbClr val="3333B2"/>
                </a:solidFill>
                <a:latin typeface="Arial"/>
                <a:cs typeface="Arial"/>
                <a:hlinkClick r:id="rId2" action="ppaction://hlinksldjump"/>
              </a:rPr>
              <a:t>Fault</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tolerance:</a:t>
            </a:r>
            <a:r>
              <a:rPr sz="600" spc="170" dirty="0">
                <a:solidFill>
                  <a:srgbClr val="3333B2"/>
                </a:solidFill>
                <a:latin typeface="Arial"/>
                <a:cs typeface="Arial"/>
              </a:rPr>
              <a:t> </a:t>
            </a:r>
            <a:r>
              <a:rPr sz="600" spc="-5" dirty="0">
                <a:solidFill>
                  <a:srgbClr val="3333B2"/>
                </a:solidFill>
                <a:latin typeface="Arial"/>
                <a:cs typeface="Arial"/>
                <a:hlinkClick r:id="rId2" action="ppaction://hlinksldjump"/>
              </a:rPr>
              <a:t>Introduction</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to</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fault</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tolerance</a:t>
            </a:r>
            <a:r>
              <a:rPr sz="600" spc="-5" dirty="0">
                <a:solidFill>
                  <a:srgbClr val="3333B2"/>
                </a:solidFill>
                <a:latin typeface="Arial"/>
                <a:cs typeface="Arial"/>
              </a:rPr>
              <a:t>	</a:t>
            </a:r>
            <a:r>
              <a:rPr sz="600" spc="-5" dirty="0">
                <a:solidFill>
                  <a:srgbClr val="262685"/>
                </a:solidFill>
                <a:latin typeface="Arial"/>
                <a:cs typeface="Arial"/>
                <a:hlinkClick r:id="rId2" action="ppaction://hlinksldjump"/>
              </a:rPr>
              <a:t>Basic</a:t>
            </a:r>
            <a:r>
              <a:rPr sz="600" spc="-3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concepts</a:t>
            </a:r>
            <a:endParaRPr sz="600">
              <a:latin typeface="Arial"/>
              <a:cs typeface="Arial"/>
            </a:endParaRPr>
          </a:p>
        </p:txBody>
      </p:sp>
      <p:sp>
        <p:nvSpPr>
          <p:cNvPr id="3" name="object 3"/>
          <p:cNvSpPr txBox="1">
            <a:spLocks noGrp="1"/>
          </p:cNvSpPr>
          <p:nvPr>
            <p:ph type="title"/>
          </p:nvPr>
        </p:nvSpPr>
        <p:spPr>
          <a:xfrm>
            <a:off x="95300" y="188846"/>
            <a:ext cx="1129665" cy="244475"/>
          </a:xfrm>
          <a:prstGeom prst="rect">
            <a:avLst/>
          </a:prstGeom>
        </p:spPr>
        <p:txBody>
          <a:bodyPr vert="horz" wrap="square" lIns="0" tIns="17145" rIns="0" bIns="0" rtlCol="0">
            <a:spAutoFit/>
          </a:bodyPr>
          <a:lstStyle/>
          <a:p>
            <a:pPr marL="12700">
              <a:lnSpc>
                <a:spcPct val="100000"/>
              </a:lnSpc>
              <a:spcBef>
                <a:spcPts val="135"/>
              </a:spcBef>
            </a:pPr>
            <a:r>
              <a:rPr spc="15" dirty="0"/>
              <a:t>Dependability</a:t>
            </a:r>
          </a:p>
        </p:txBody>
      </p:sp>
      <p:sp>
        <p:nvSpPr>
          <p:cNvPr id="4" name="object 4"/>
          <p:cNvSpPr txBox="1"/>
          <p:nvPr/>
        </p:nvSpPr>
        <p:spPr>
          <a:xfrm>
            <a:off x="343128" y="438045"/>
            <a:ext cx="3726815" cy="35306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Basics</a:t>
            </a:r>
            <a:endParaRPr sz="1200">
              <a:latin typeface="Arial"/>
              <a:cs typeface="Arial"/>
            </a:endParaRPr>
          </a:p>
          <a:p>
            <a:pPr marL="12700">
              <a:lnSpc>
                <a:spcPts val="1170"/>
              </a:lnSpc>
            </a:pPr>
            <a:r>
              <a:rPr sz="1000" spc="-5" dirty="0">
                <a:latin typeface="Arial"/>
                <a:cs typeface="Arial"/>
              </a:rPr>
              <a:t>A </a:t>
            </a:r>
            <a:r>
              <a:rPr sz="1000" spc="-5" dirty="0">
                <a:solidFill>
                  <a:srgbClr val="0000FA"/>
                </a:solidFill>
                <a:latin typeface="Arial"/>
                <a:cs typeface="Arial"/>
              </a:rPr>
              <a:t>component</a:t>
            </a:r>
            <a:r>
              <a:rPr sz="1000" dirty="0">
                <a:solidFill>
                  <a:srgbClr val="0000FA"/>
                </a:solidFill>
                <a:latin typeface="Arial"/>
                <a:cs typeface="Arial"/>
              </a:rPr>
              <a:t> </a:t>
            </a:r>
            <a:r>
              <a:rPr sz="1000" spc="-5" dirty="0">
                <a:latin typeface="Arial"/>
                <a:cs typeface="Arial"/>
              </a:rPr>
              <a:t>provides</a:t>
            </a:r>
            <a:r>
              <a:rPr sz="1000" dirty="0">
                <a:latin typeface="Arial"/>
                <a:cs typeface="Arial"/>
              </a:rPr>
              <a:t> </a:t>
            </a:r>
            <a:r>
              <a:rPr sz="1000" dirty="0">
                <a:solidFill>
                  <a:srgbClr val="0000FA"/>
                </a:solidFill>
                <a:latin typeface="Arial"/>
                <a:cs typeface="Arial"/>
              </a:rPr>
              <a:t>services </a:t>
            </a:r>
            <a:r>
              <a:rPr sz="1000" spc="-5" dirty="0">
                <a:latin typeface="Arial"/>
                <a:cs typeface="Arial"/>
              </a:rPr>
              <a:t>to</a:t>
            </a:r>
            <a:r>
              <a:rPr sz="1000" dirty="0">
                <a:latin typeface="Arial"/>
                <a:cs typeface="Arial"/>
              </a:rPr>
              <a:t> </a:t>
            </a:r>
            <a:r>
              <a:rPr sz="1000" spc="-5" dirty="0">
                <a:solidFill>
                  <a:srgbClr val="0000FA"/>
                </a:solidFill>
                <a:latin typeface="Arial"/>
                <a:cs typeface="Arial"/>
              </a:rPr>
              <a:t>clients</a:t>
            </a:r>
            <a:r>
              <a:rPr sz="1000" spc="-5" dirty="0">
                <a:latin typeface="Arial"/>
                <a:cs typeface="Arial"/>
              </a:rPr>
              <a:t>.</a:t>
            </a:r>
            <a:r>
              <a:rPr sz="1000" spc="65" dirty="0">
                <a:latin typeface="Arial"/>
                <a:cs typeface="Arial"/>
              </a:rPr>
              <a:t> </a:t>
            </a:r>
            <a:r>
              <a:rPr sz="1000" spc="-65" dirty="0">
                <a:latin typeface="Arial"/>
                <a:cs typeface="Arial"/>
              </a:rPr>
              <a:t>To</a:t>
            </a:r>
            <a:r>
              <a:rPr sz="1000" dirty="0">
                <a:latin typeface="Arial"/>
                <a:cs typeface="Arial"/>
              </a:rPr>
              <a:t> </a:t>
            </a:r>
            <a:r>
              <a:rPr sz="1000" spc="-5" dirty="0">
                <a:latin typeface="Arial"/>
                <a:cs typeface="Arial"/>
              </a:rPr>
              <a:t>provide</a:t>
            </a:r>
            <a:r>
              <a:rPr sz="1000" dirty="0">
                <a:latin typeface="Arial"/>
                <a:cs typeface="Arial"/>
              </a:rPr>
              <a:t> </a:t>
            </a:r>
            <a:r>
              <a:rPr sz="1000" spc="-5" dirty="0">
                <a:latin typeface="Arial"/>
                <a:cs typeface="Arial"/>
              </a:rPr>
              <a:t>services,</a:t>
            </a:r>
            <a:r>
              <a:rPr sz="1000" dirty="0">
                <a:latin typeface="Arial"/>
                <a:cs typeface="Arial"/>
              </a:rPr>
              <a:t> </a:t>
            </a:r>
            <a:r>
              <a:rPr sz="1000" spc="-5" dirty="0">
                <a:latin typeface="Arial"/>
                <a:cs typeface="Arial"/>
              </a:rPr>
              <a:t>the</a:t>
            </a:r>
            <a:endParaRPr sz="1000">
              <a:latin typeface="Arial"/>
              <a:cs typeface="Arial"/>
            </a:endParaRPr>
          </a:p>
        </p:txBody>
      </p:sp>
      <p:sp>
        <p:nvSpPr>
          <p:cNvPr id="5" name="object 5"/>
          <p:cNvSpPr txBox="1"/>
          <p:nvPr/>
        </p:nvSpPr>
        <p:spPr>
          <a:xfrm>
            <a:off x="347294" y="765624"/>
            <a:ext cx="366839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component </a:t>
            </a:r>
            <a:r>
              <a:rPr sz="1000" spc="-15" dirty="0">
                <a:latin typeface="Arial"/>
                <a:cs typeface="Arial"/>
              </a:rPr>
              <a:t>may</a:t>
            </a:r>
            <a:r>
              <a:rPr sz="1000" dirty="0">
                <a:latin typeface="Arial"/>
                <a:cs typeface="Arial"/>
              </a:rPr>
              <a:t> </a:t>
            </a:r>
            <a:r>
              <a:rPr sz="1000" spc="-5" dirty="0">
                <a:latin typeface="Arial"/>
                <a:cs typeface="Arial"/>
              </a:rPr>
              <a:t>require</a:t>
            </a:r>
            <a:r>
              <a:rPr sz="1000" dirty="0">
                <a:latin typeface="Arial"/>
                <a:cs typeface="Arial"/>
              </a:rPr>
              <a:t> </a:t>
            </a:r>
            <a:r>
              <a:rPr sz="1000" spc="-5" dirty="0">
                <a:latin typeface="Arial"/>
                <a:cs typeface="Arial"/>
              </a:rPr>
              <a:t>the</a:t>
            </a:r>
            <a:r>
              <a:rPr sz="1000" dirty="0">
                <a:latin typeface="Arial"/>
                <a:cs typeface="Arial"/>
              </a:rPr>
              <a:t> services </a:t>
            </a:r>
            <a:r>
              <a:rPr sz="1000" spc="-5" dirty="0">
                <a:latin typeface="Arial"/>
                <a:cs typeface="Arial"/>
              </a:rPr>
              <a:t>from other</a:t>
            </a:r>
            <a:r>
              <a:rPr sz="1000" dirty="0">
                <a:latin typeface="Arial"/>
                <a:cs typeface="Arial"/>
              </a:rPr>
              <a:t> </a:t>
            </a:r>
            <a:r>
              <a:rPr sz="1000" spc="-5" dirty="0">
                <a:latin typeface="Arial"/>
                <a:cs typeface="Arial"/>
              </a:rPr>
              <a:t>components</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a</a:t>
            </a:r>
            <a:endParaRPr sz="1000">
              <a:latin typeface="Arial"/>
              <a:cs typeface="Arial"/>
            </a:endParaRPr>
          </a:p>
        </p:txBody>
      </p:sp>
      <p:sp>
        <p:nvSpPr>
          <p:cNvPr id="6" name="object 6"/>
          <p:cNvSpPr txBox="1">
            <a:spLocks noGrp="1"/>
          </p:cNvSpPr>
          <p:nvPr>
            <p:ph type="body" idx="1"/>
          </p:nvPr>
        </p:nvSpPr>
        <p:spPr>
          <a:prstGeom prst="rect">
            <a:avLst/>
          </a:prstGeom>
        </p:spPr>
        <p:txBody>
          <a:bodyPr vert="horz" wrap="square" lIns="0" tIns="65404" rIns="0" bIns="0" rtlCol="0">
            <a:spAutoFit/>
          </a:bodyPr>
          <a:lstStyle/>
          <a:p>
            <a:pPr marL="41910">
              <a:lnSpc>
                <a:spcPct val="100000"/>
              </a:lnSpc>
              <a:spcBef>
                <a:spcPts val="515"/>
              </a:spcBef>
            </a:pPr>
            <a:r>
              <a:rPr spc="-5" dirty="0"/>
              <a:t>component </a:t>
            </a:r>
            <a:r>
              <a:rPr spc="-15" dirty="0"/>
              <a:t>may</a:t>
            </a:r>
            <a:r>
              <a:rPr spc="-5" dirty="0"/>
              <a:t> </a:t>
            </a:r>
            <a:r>
              <a:rPr spc="-5" dirty="0">
                <a:solidFill>
                  <a:srgbClr val="FA0000"/>
                </a:solidFill>
              </a:rPr>
              <a:t>depend</a:t>
            </a:r>
            <a:r>
              <a:rPr dirty="0">
                <a:solidFill>
                  <a:srgbClr val="FA0000"/>
                </a:solidFill>
              </a:rPr>
              <a:t> </a:t>
            </a:r>
            <a:r>
              <a:rPr spc="-5" dirty="0"/>
              <a:t>on some other</a:t>
            </a:r>
            <a:r>
              <a:rPr dirty="0"/>
              <a:t> </a:t>
            </a:r>
            <a:r>
              <a:rPr spc="-5" dirty="0"/>
              <a:t>component.</a:t>
            </a:r>
          </a:p>
          <a:p>
            <a:pPr marL="41910">
              <a:lnSpc>
                <a:spcPct val="100000"/>
              </a:lnSpc>
              <a:spcBef>
                <a:spcPts val="495"/>
              </a:spcBef>
            </a:pPr>
            <a:r>
              <a:rPr sz="1200" spc="-5" dirty="0">
                <a:solidFill>
                  <a:srgbClr val="3333B2"/>
                </a:solidFill>
              </a:rPr>
              <a:t>Specifically</a:t>
            </a:r>
            <a:endParaRPr sz="1200"/>
          </a:p>
          <a:p>
            <a:pPr marL="41910" marR="30480" indent="-4445">
              <a:lnSpc>
                <a:spcPct val="100000"/>
              </a:lnSpc>
              <a:spcBef>
                <a:spcPts val="180"/>
              </a:spcBef>
            </a:pPr>
            <a:r>
              <a:rPr spc="-5" dirty="0"/>
              <a:t>A component </a:t>
            </a:r>
            <a:r>
              <a:rPr i="1" spc="-5" dirty="0">
                <a:latin typeface="Arial"/>
                <a:cs typeface="Arial"/>
              </a:rPr>
              <a:t>C</a:t>
            </a:r>
            <a:r>
              <a:rPr i="1" spc="60" dirty="0">
                <a:latin typeface="Arial"/>
                <a:cs typeface="Arial"/>
              </a:rPr>
              <a:t> </a:t>
            </a:r>
            <a:r>
              <a:rPr spc="-5" dirty="0"/>
              <a:t>depends on</a:t>
            </a:r>
            <a:r>
              <a:rPr dirty="0"/>
              <a:t> </a:t>
            </a:r>
            <a:r>
              <a:rPr i="1" spc="-5" dirty="0">
                <a:latin typeface="Arial"/>
                <a:cs typeface="Arial"/>
              </a:rPr>
              <a:t>C</a:t>
            </a:r>
            <a:r>
              <a:rPr sz="1050" i="1" spc="-7" baseline="27777" dirty="0">
                <a:latin typeface="メイリオ"/>
                <a:cs typeface="メイリオ"/>
              </a:rPr>
              <a:t>∗</a:t>
            </a:r>
            <a:r>
              <a:rPr sz="1050" i="1" spc="127" baseline="27777" dirty="0">
                <a:latin typeface="メイリオ"/>
                <a:cs typeface="メイリオ"/>
              </a:rPr>
              <a:t> </a:t>
            </a:r>
            <a:r>
              <a:rPr sz="1000" spc="-5" dirty="0"/>
              <a:t>if</a:t>
            </a:r>
            <a:r>
              <a:rPr sz="1000" dirty="0"/>
              <a:t> </a:t>
            </a:r>
            <a:r>
              <a:rPr sz="1000" spc="-5" dirty="0"/>
              <a:t>the </a:t>
            </a:r>
            <a:r>
              <a:rPr sz="1000" spc="-5" dirty="0">
                <a:solidFill>
                  <a:srgbClr val="0000FA"/>
                </a:solidFill>
              </a:rPr>
              <a:t>correctness </a:t>
            </a:r>
            <a:r>
              <a:rPr sz="1000" spc="-5" dirty="0"/>
              <a:t>of</a:t>
            </a:r>
            <a:r>
              <a:rPr sz="1000" dirty="0"/>
              <a:t> </a:t>
            </a:r>
            <a:r>
              <a:rPr sz="1000" i="1" dirty="0">
                <a:latin typeface="Arial"/>
                <a:cs typeface="Arial"/>
              </a:rPr>
              <a:t>C</a:t>
            </a:r>
            <a:r>
              <a:rPr sz="1000" dirty="0"/>
              <a:t>’s</a:t>
            </a:r>
            <a:r>
              <a:rPr sz="1000" spc="-5" dirty="0"/>
              <a:t> behavior </a:t>
            </a:r>
            <a:r>
              <a:rPr sz="1000" spc="-260" dirty="0"/>
              <a:t> </a:t>
            </a:r>
            <a:r>
              <a:rPr sz="1000" spc="-5" dirty="0"/>
              <a:t>depends on the</a:t>
            </a:r>
            <a:r>
              <a:rPr sz="1000" dirty="0"/>
              <a:t> </a:t>
            </a:r>
            <a:r>
              <a:rPr sz="1000" spc="-5" dirty="0"/>
              <a:t>correctness of</a:t>
            </a:r>
            <a:r>
              <a:rPr sz="1000" dirty="0"/>
              <a:t> </a:t>
            </a:r>
            <a:r>
              <a:rPr sz="1000" i="1" spc="-5" dirty="0">
                <a:latin typeface="Arial"/>
                <a:cs typeface="Arial"/>
              </a:rPr>
              <a:t>C</a:t>
            </a:r>
            <a:r>
              <a:rPr sz="1050" i="1" spc="-7" baseline="27777" dirty="0">
                <a:latin typeface="メイリオ"/>
                <a:cs typeface="メイリオ"/>
              </a:rPr>
              <a:t>∗</a:t>
            </a:r>
            <a:r>
              <a:rPr sz="1000" spc="-5" dirty="0"/>
              <a:t>’s </a:t>
            </a:r>
            <a:r>
              <a:rPr sz="1000" spc="-10" dirty="0"/>
              <a:t>behavior.</a:t>
            </a:r>
            <a:r>
              <a:rPr sz="1000" spc="65" dirty="0"/>
              <a:t> </a:t>
            </a:r>
            <a:r>
              <a:rPr sz="1000" spc="-5" dirty="0"/>
              <a:t>(Components are </a:t>
            </a:r>
            <a:r>
              <a:rPr sz="1000" dirty="0"/>
              <a:t> </a:t>
            </a:r>
            <a:r>
              <a:rPr sz="1000" spc="-5" dirty="0"/>
              <a:t>processes</a:t>
            </a:r>
            <a:r>
              <a:rPr sz="1000" spc="-10" dirty="0"/>
              <a:t> </a:t>
            </a:r>
            <a:r>
              <a:rPr sz="1000" spc="-5" dirty="0"/>
              <a:t>or channels.)</a:t>
            </a:r>
            <a:endParaRPr sz="1000">
              <a:latin typeface="メイリオ"/>
              <a:cs typeface="メイリオ"/>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50970"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Basic</a:t>
            </a:r>
            <a:r>
              <a:rPr sz="600" spc="-3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concepts</a:t>
            </a:r>
            <a:endParaRPr sz="600">
              <a:latin typeface="Arial"/>
              <a:cs typeface="Arial"/>
            </a:endParaRPr>
          </a:p>
        </p:txBody>
      </p:sp>
      <p:sp>
        <p:nvSpPr>
          <p:cNvPr id="3" name="object 3"/>
          <p:cNvSpPr txBox="1">
            <a:spLocks noGrp="1"/>
          </p:cNvSpPr>
          <p:nvPr>
            <p:ph type="title"/>
          </p:nvPr>
        </p:nvSpPr>
        <p:spPr>
          <a:xfrm>
            <a:off x="95300" y="188846"/>
            <a:ext cx="1129665" cy="244475"/>
          </a:xfrm>
          <a:prstGeom prst="rect">
            <a:avLst/>
          </a:prstGeom>
        </p:spPr>
        <p:txBody>
          <a:bodyPr vert="horz" wrap="square" lIns="0" tIns="17145" rIns="0" bIns="0" rtlCol="0">
            <a:spAutoFit/>
          </a:bodyPr>
          <a:lstStyle/>
          <a:p>
            <a:pPr marL="12700">
              <a:lnSpc>
                <a:spcPct val="100000"/>
              </a:lnSpc>
              <a:spcBef>
                <a:spcPts val="135"/>
              </a:spcBef>
            </a:pPr>
            <a:r>
              <a:rPr spc="15" dirty="0"/>
              <a:t>Dependability</a:t>
            </a:r>
          </a:p>
        </p:txBody>
      </p:sp>
      <p:sp>
        <p:nvSpPr>
          <p:cNvPr id="4" name="object 4"/>
          <p:cNvSpPr txBox="1"/>
          <p:nvPr/>
        </p:nvSpPr>
        <p:spPr>
          <a:xfrm>
            <a:off x="343128" y="438045"/>
            <a:ext cx="3726815" cy="35306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Basics</a:t>
            </a:r>
            <a:endParaRPr sz="1200">
              <a:latin typeface="Arial"/>
              <a:cs typeface="Arial"/>
            </a:endParaRPr>
          </a:p>
          <a:p>
            <a:pPr marL="12700">
              <a:lnSpc>
                <a:spcPts val="1170"/>
              </a:lnSpc>
            </a:pPr>
            <a:r>
              <a:rPr sz="1000" spc="-5" dirty="0">
                <a:latin typeface="Arial"/>
                <a:cs typeface="Arial"/>
              </a:rPr>
              <a:t>A </a:t>
            </a:r>
            <a:r>
              <a:rPr sz="1000" spc="-5" dirty="0">
                <a:solidFill>
                  <a:srgbClr val="0000FA"/>
                </a:solidFill>
                <a:latin typeface="Arial"/>
                <a:cs typeface="Arial"/>
              </a:rPr>
              <a:t>component</a:t>
            </a:r>
            <a:r>
              <a:rPr sz="1000" dirty="0">
                <a:solidFill>
                  <a:srgbClr val="0000FA"/>
                </a:solidFill>
                <a:latin typeface="Arial"/>
                <a:cs typeface="Arial"/>
              </a:rPr>
              <a:t> </a:t>
            </a:r>
            <a:r>
              <a:rPr sz="1000" spc="-5" dirty="0">
                <a:latin typeface="Arial"/>
                <a:cs typeface="Arial"/>
              </a:rPr>
              <a:t>provides</a:t>
            </a:r>
            <a:r>
              <a:rPr sz="1000" dirty="0">
                <a:latin typeface="Arial"/>
                <a:cs typeface="Arial"/>
              </a:rPr>
              <a:t> </a:t>
            </a:r>
            <a:r>
              <a:rPr sz="1000" dirty="0">
                <a:solidFill>
                  <a:srgbClr val="0000FA"/>
                </a:solidFill>
                <a:latin typeface="Arial"/>
                <a:cs typeface="Arial"/>
              </a:rPr>
              <a:t>services </a:t>
            </a:r>
            <a:r>
              <a:rPr sz="1000" spc="-5" dirty="0">
                <a:latin typeface="Arial"/>
                <a:cs typeface="Arial"/>
              </a:rPr>
              <a:t>to</a:t>
            </a:r>
            <a:r>
              <a:rPr sz="1000" dirty="0">
                <a:latin typeface="Arial"/>
                <a:cs typeface="Arial"/>
              </a:rPr>
              <a:t> </a:t>
            </a:r>
            <a:r>
              <a:rPr sz="1000" spc="-5" dirty="0">
                <a:solidFill>
                  <a:srgbClr val="0000FA"/>
                </a:solidFill>
                <a:latin typeface="Arial"/>
                <a:cs typeface="Arial"/>
              </a:rPr>
              <a:t>clients</a:t>
            </a:r>
            <a:r>
              <a:rPr sz="1000" spc="-5" dirty="0">
                <a:latin typeface="Arial"/>
                <a:cs typeface="Arial"/>
              </a:rPr>
              <a:t>.</a:t>
            </a:r>
            <a:r>
              <a:rPr sz="1000" spc="65" dirty="0">
                <a:latin typeface="Arial"/>
                <a:cs typeface="Arial"/>
              </a:rPr>
              <a:t> </a:t>
            </a:r>
            <a:r>
              <a:rPr sz="1000" spc="-65" dirty="0">
                <a:latin typeface="Arial"/>
                <a:cs typeface="Arial"/>
              </a:rPr>
              <a:t>To</a:t>
            </a:r>
            <a:r>
              <a:rPr sz="1000" dirty="0">
                <a:latin typeface="Arial"/>
                <a:cs typeface="Arial"/>
              </a:rPr>
              <a:t> </a:t>
            </a:r>
            <a:r>
              <a:rPr sz="1000" spc="-5" dirty="0">
                <a:latin typeface="Arial"/>
                <a:cs typeface="Arial"/>
              </a:rPr>
              <a:t>provide</a:t>
            </a:r>
            <a:r>
              <a:rPr sz="1000" dirty="0">
                <a:latin typeface="Arial"/>
                <a:cs typeface="Arial"/>
              </a:rPr>
              <a:t> </a:t>
            </a:r>
            <a:r>
              <a:rPr sz="1000" spc="-5" dirty="0">
                <a:latin typeface="Arial"/>
                <a:cs typeface="Arial"/>
              </a:rPr>
              <a:t>services,</a:t>
            </a:r>
            <a:r>
              <a:rPr sz="1000" dirty="0">
                <a:latin typeface="Arial"/>
                <a:cs typeface="Arial"/>
              </a:rPr>
              <a:t> </a:t>
            </a:r>
            <a:r>
              <a:rPr sz="1000" spc="-5" dirty="0">
                <a:latin typeface="Arial"/>
                <a:cs typeface="Arial"/>
              </a:rPr>
              <a:t>the</a:t>
            </a:r>
            <a:endParaRPr sz="1000">
              <a:latin typeface="Arial"/>
              <a:cs typeface="Arial"/>
            </a:endParaRPr>
          </a:p>
        </p:txBody>
      </p:sp>
      <p:sp>
        <p:nvSpPr>
          <p:cNvPr id="5" name="object 5"/>
          <p:cNvSpPr txBox="1"/>
          <p:nvPr/>
        </p:nvSpPr>
        <p:spPr>
          <a:xfrm>
            <a:off x="347294" y="765624"/>
            <a:ext cx="366839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component </a:t>
            </a:r>
            <a:r>
              <a:rPr sz="1000" spc="-15" dirty="0">
                <a:latin typeface="Arial"/>
                <a:cs typeface="Arial"/>
              </a:rPr>
              <a:t>may</a:t>
            </a:r>
            <a:r>
              <a:rPr sz="1000" dirty="0">
                <a:latin typeface="Arial"/>
                <a:cs typeface="Arial"/>
              </a:rPr>
              <a:t> </a:t>
            </a:r>
            <a:r>
              <a:rPr sz="1000" spc="-5" dirty="0">
                <a:latin typeface="Arial"/>
                <a:cs typeface="Arial"/>
              </a:rPr>
              <a:t>require</a:t>
            </a:r>
            <a:r>
              <a:rPr sz="1000" dirty="0">
                <a:latin typeface="Arial"/>
                <a:cs typeface="Arial"/>
              </a:rPr>
              <a:t> </a:t>
            </a:r>
            <a:r>
              <a:rPr sz="1000" spc="-5" dirty="0">
                <a:latin typeface="Arial"/>
                <a:cs typeface="Arial"/>
              </a:rPr>
              <a:t>the</a:t>
            </a:r>
            <a:r>
              <a:rPr sz="1000" dirty="0">
                <a:latin typeface="Arial"/>
                <a:cs typeface="Arial"/>
              </a:rPr>
              <a:t> services </a:t>
            </a:r>
            <a:r>
              <a:rPr sz="1000" spc="-5" dirty="0">
                <a:latin typeface="Arial"/>
                <a:cs typeface="Arial"/>
              </a:rPr>
              <a:t>from other</a:t>
            </a:r>
            <a:r>
              <a:rPr sz="1000" dirty="0">
                <a:latin typeface="Arial"/>
                <a:cs typeface="Arial"/>
              </a:rPr>
              <a:t> </a:t>
            </a:r>
            <a:r>
              <a:rPr sz="1000" spc="-5" dirty="0">
                <a:latin typeface="Arial"/>
                <a:cs typeface="Arial"/>
              </a:rPr>
              <a:t>components</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a</a:t>
            </a:r>
            <a:endParaRPr sz="1000">
              <a:latin typeface="Arial"/>
              <a:cs typeface="Arial"/>
            </a:endParaRPr>
          </a:p>
        </p:txBody>
      </p:sp>
      <p:sp>
        <p:nvSpPr>
          <p:cNvPr id="6" name="object 6"/>
          <p:cNvSpPr txBox="1">
            <a:spLocks noGrp="1"/>
          </p:cNvSpPr>
          <p:nvPr>
            <p:ph type="body" idx="1"/>
          </p:nvPr>
        </p:nvSpPr>
        <p:spPr>
          <a:prstGeom prst="rect">
            <a:avLst/>
          </a:prstGeom>
        </p:spPr>
        <p:txBody>
          <a:bodyPr vert="horz" wrap="square" lIns="0" tIns="65404" rIns="0" bIns="0" rtlCol="0">
            <a:spAutoFit/>
          </a:bodyPr>
          <a:lstStyle/>
          <a:p>
            <a:pPr marL="41910">
              <a:lnSpc>
                <a:spcPct val="100000"/>
              </a:lnSpc>
              <a:spcBef>
                <a:spcPts val="515"/>
              </a:spcBef>
            </a:pPr>
            <a:r>
              <a:rPr spc="-5" dirty="0"/>
              <a:t>component </a:t>
            </a:r>
            <a:r>
              <a:rPr spc="-15" dirty="0"/>
              <a:t>may</a:t>
            </a:r>
            <a:r>
              <a:rPr spc="-5" dirty="0"/>
              <a:t> </a:t>
            </a:r>
            <a:r>
              <a:rPr spc="-5" dirty="0">
                <a:solidFill>
                  <a:srgbClr val="FA0000"/>
                </a:solidFill>
              </a:rPr>
              <a:t>depend</a:t>
            </a:r>
            <a:r>
              <a:rPr dirty="0">
                <a:solidFill>
                  <a:srgbClr val="FA0000"/>
                </a:solidFill>
              </a:rPr>
              <a:t> </a:t>
            </a:r>
            <a:r>
              <a:rPr spc="-5" dirty="0"/>
              <a:t>on some other</a:t>
            </a:r>
            <a:r>
              <a:rPr dirty="0"/>
              <a:t> </a:t>
            </a:r>
            <a:r>
              <a:rPr spc="-5" dirty="0"/>
              <a:t>component.</a:t>
            </a:r>
          </a:p>
          <a:p>
            <a:pPr marL="41910">
              <a:lnSpc>
                <a:spcPct val="100000"/>
              </a:lnSpc>
              <a:spcBef>
                <a:spcPts val="495"/>
              </a:spcBef>
            </a:pPr>
            <a:r>
              <a:rPr sz="1200" spc="-5" dirty="0">
                <a:solidFill>
                  <a:srgbClr val="3333B2"/>
                </a:solidFill>
              </a:rPr>
              <a:t>Specifically</a:t>
            </a:r>
            <a:endParaRPr sz="1200" dirty="0"/>
          </a:p>
          <a:p>
            <a:pPr marL="41910" marR="30480" indent="-4445">
              <a:lnSpc>
                <a:spcPct val="100000"/>
              </a:lnSpc>
              <a:spcBef>
                <a:spcPts val="180"/>
              </a:spcBef>
            </a:pPr>
            <a:r>
              <a:rPr spc="-5" dirty="0"/>
              <a:t>A component </a:t>
            </a:r>
            <a:r>
              <a:rPr i="1" spc="-5" dirty="0">
                <a:latin typeface="Arial"/>
                <a:cs typeface="Arial"/>
              </a:rPr>
              <a:t>C</a:t>
            </a:r>
            <a:r>
              <a:rPr i="1" spc="60" dirty="0">
                <a:latin typeface="Arial"/>
                <a:cs typeface="Arial"/>
              </a:rPr>
              <a:t> </a:t>
            </a:r>
            <a:r>
              <a:rPr spc="-5" dirty="0"/>
              <a:t>depends on</a:t>
            </a:r>
            <a:r>
              <a:rPr dirty="0"/>
              <a:t> </a:t>
            </a:r>
            <a:r>
              <a:rPr i="1" spc="-5" dirty="0">
                <a:latin typeface="Arial"/>
                <a:cs typeface="Arial"/>
              </a:rPr>
              <a:t>C</a:t>
            </a:r>
            <a:r>
              <a:rPr sz="1050" i="1" spc="-7" baseline="27777" dirty="0">
                <a:latin typeface="メイリオ"/>
                <a:cs typeface="メイリオ"/>
              </a:rPr>
              <a:t>∗</a:t>
            </a:r>
            <a:r>
              <a:rPr sz="1050" i="1" spc="127" baseline="27777" dirty="0">
                <a:latin typeface="メイリオ"/>
                <a:cs typeface="メイリオ"/>
              </a:rPr>
              <a:t> </a:t>
            </a:r>
            <a:r>
              <a:rPr sz="1000" spc="-5" dirty="0"/>
              <a:t>if</a:t>
            </a:r>
            <a:r>
              <a:rPr sz="1000" dirty="0"/>
              <a:t> </a:t>
            </a:r>
            <a:r>
              <a:rPr sz="1000" spc="-5" dirty="0"/>
              <a:t>the </a:t>
            </a:r>
            <a:r>
              <a:rPr sz="1000" spc="-5" dirty="0">
                <a:solidFill>
                  <a:srgbClr val="0000FA"/>
                </a:solidFill>
              </a:rPr>
              <a:t>correctness </a:t>
            </a:r>
            <a:r>
              <a:rPr sz="1000" spc="-5" dirty="0"/>
              <a:t>of</a:t>
            </a:r>
            <a:r>
              <a:rPr sz="1000" dirty="0"/>
              <a:t> </a:t>
            </a:r>
            <a:r>
              <a:rPr sz="1000" i="1" dirty="0">
                <a:latin typeface="Arial"/>
                <a:cs typeface="Arial"/>
              </a:rPr>
              <a:t>C</a:t>
            </a:r>
            <a:r>
              <a:rPr sz="1000" dirty="0"/>
              <a:t>’s</a:t>
            </a:r>
            <a:r>
              <a:rPr sz="1000" spc="-5" dirty="0"/>
              <a:t> behavior </a:t>
            </a:r>
            <a:r>
              <a:rPr sz="1000" spc="-260" dirty="0"/>
              <a:t> </a:t>
            </a:r>
            <a:r>
              <a:rPr sz="1000" spc="-5" dirty="0"/>
              <a:t>depends on the</a:t>
            </a:r>
            <a:r>
              <a:rPr sz="1000" dirty="0"/>
              <a:t> </a:t>
            </a:r>
            <a:r>
              <a:rPr sz="1000" spc="-5" dirty="0"/>
              <a:t>correctness of</a:t>
            </a:r>
            <a:r>
              <a:rPr sz="1000" dirty="0"/>
              <a:t> </a:t>
            </a:r>
            <a:r>
              <a:rPr sz="1000" i="1" spc="-5" dirty="0">
                <a:latin typeface="Arial"/>
                <a:cs typeface="Arial"/>
              </a:rPr>
              <a:t>C</a:t>
            </a:r>
            <a:r>
              <a:rPr sz="1050" i="1" spc="-7" baseline="27777" dirty="0">
                <a:latin typeface="メイリオ"/>
                <a:cs typeface="メイリオ"/>
              </a:rPr>
              <a:t>∗</a:t>
            </a:r>
            <a:r>
              <a:rPr sz="1000" spc="-5" dirty="0"/>
              <a:t>’s </a:t>
            </a:r>
            <a:r>
              <a:rPr sz="1000" spc="-10" dirty="0"/>
              <a:t>behavior.</a:t>
            </a:r>
            <a:r>
              <a:rPr sz="1000" spc="65" dirty="0"/>
              <a:t> </a:t>
            </a:r>
            <a:r>
              <a:rPr sz="1000" spc="-5" dirty="0"/>
              <a:t>(Components are </a:t>
            </a:r>
            <a:r>
              <a:rPr sz="1000" dirty="0"/>
              <a:t> </a:t>
            </a:r>
            <a:r>
              <a:rPr sz="1000" spc="-5" dirty="0"/>
              <a:t>processes</a:t>
            </a:r>
            <a:r>
              <a:rPr sz="1000" spc="-10" dirty="0"/>
              <a:t> </a:t>
            </a:r>
            <a:r>
              <a:rPr sz="1000" spc="-5" dirty="0"/>
              <a:t>or channels.)</a:t>
            </a:r>
            <a:endParaRPr sz="1000" dirty="0">
              <a:latin typeface="メイリオ"/>
              <a:cs typeface="メイリオ"/>
            </a:endParaRPr>
          </a:p>
          <a:p>
            <a:pPr marL="41910">
              <a:lnSpc>
                <a:spcPct val="100000"/>
              </a:lnSpc>
              <a:spcBef>
                <a:spcPts val="484"/>
              </a:spcBef>
            </a:pPr>
            <a:r>
              <a:rPr sz="1200" spc="-5" dirty="0">
                <a:solidFill>
                  <a:srgbClr val="3333B2"/>
                </a:solidFill>
              </a:rPr>
              <a:t>Requirements</a:t>
            </a:r>
            <a:r>
              <a:rPr sz="1200" spc="-10" dirty="0">
                <a:solidFill>
                  <a:srgbClr val="3333B2"/>
                </a:solidFill>
              </a:rPr>
              <a:t> </a:t>
            </a:r>
            <a:r>
              <a:rPr sz="1200" spc="-5" dirty="0">
                <a:solidFill>
                  <a:srgbClr val="3333B2"/>
                </a:solidFill>
              </a:rPr>
              <a:t>related to dependability</a:t>
            </a:r>
            <a:endParaRPr sz="1200" dirty="0"/>
          </a:p>
        </p:txBody>
      </p:sp>
      <p:graphicFrame>
        <p:nvGraphicFramePr>
          <p:cNvPr id="7" name="object 7"/>
          <p:cNvGraphicFramePr>
            <a:graphicFrameLocks noGrp="1"/>
          </p:cNvGraphicFramePr>
          <p:nvPr/>
        </p:nvGraphicFramePr>
        <p:xfrm>
          <a:off x="572325" y="2177554"/>
          <a:ext cx="3457575" cy="947420"/>
        </p:xfrm>
        <a:graphic>
          <a:graphicData uri="http://schemas.openxmlformats.org/drawingml/2006/table">
            <a:tbl>
              <a:tblPr firstRow="1" bandRow="1">
                <a:tableStyleId>{2D5ABB26-0587-4C30-8999-92F81FD0307C}</a:tableStyleId>
              </a:tblPr>
              <a:tblGrid>
                <a:gridCol w="958215">
                  <a:extLst>
                    <a:ext uri="{9D8B030D-6E8A-4147-A177-3AD203B41FA5}">
                      <a16:colId xmlns:a16="http://schemas.microsoft.com/office/drawing/2014/main" val="20000"/>
                    </a:ext>
                  </a:extLst>
                </a:gridCol>
                <a:gridCol w="2499360">
                  <a:extLst>
                    <a:ext uri="{9D8B030D-6E8A-4147-A177-3AD203B41FA5}">
                      <a16:colId xmlns:a16="http://schemas.microsoft.com/office/drawing/2014/main" val="20001"/>
                    </a:ext>
                  </a:extLst>
                </a:gridCol>
              </a:tblGrid>
              <a:tr h="193675">
                <a:tc>
                  <a:txBody>
                    <a:bodyPr/>
                    <a:lstStyle/>
                    <a:p>
                      <a:pPr marL="78105">
                        <a:lnSpc>
                          <a:spcPct val="100000"/>
                        </a:lnSpc>
                        <a:spcBef>
                          <a:spcPts val="25"/>
                        </a:spcBef>
                      </a:pPr>
                      <a:r>
                        <a:rPr sz="1000" b="1" spc="-5" dirty="0">
                          <a:latin typeface="Arial"/>
                          <a:cs typeface="Arial"/>
                        </a:rPr>
                        <a:t>Requirement</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93675">
                <a:tc>
                  <a:txBody>
                    <a:bodyPr/>
                    <a:lstStyle/>
                    <a:p>
                      <a:pPr marL="78105">
                        <a:lnSpc>
                          <a:spcPct val="100000"/>
                        </a:lnSpc>
                        <a:spcBef>
                          <a:spcPts val="75"/>
                        </a:spcBef>
                      </a:pPr>
                      <a:r>
                        <a:rPr sz="1000" spc="-10" dirty="0">
                          <a:solidFill>
                            <a:srgbClr val="FA0000"/>
                          </a:solidFill>
                          <a:latin typeface="Arial"/>
                          <a:cs typeface="Arial"/>
                        </a:rPr>
                        <a:t>Availability</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75"/>
                        </a:spcBef>
                      </a:pPr>
                      <a:r>
                        <a:rPr sz="1000" spc="-5" dirty="0">
                          <a:latin typeface="Arial"/>
                          <a:cs typeface="Arial"/>
                        </a:rPr>
                        <a:t>Readiness</a:t>
                      </a:r>
                      <a:r>
                        <a:rPr sz="1000" spc="-25" dirty="0">
                          <a:latin typeface="Arial"/>
                          <a:cs typeface="Arial"/>
                        </a:rPr>
                        <a:t> </a:t>
                      </a:r>
                      <a:r>
                        <a:rPr sz="1000" spc="-15" dirty="0">
                          <a:latin typeface="Arial"/>
                          <a:cs typeface="Arial"/>
                        </a:rPr>
                        <a:t>for</a:t>
                      </a:r>
                      <a:r>
                        <a:rPr sz="1000" spc="-20" dirty="0">
                          <a:latin typeface="Arial"/>
                          <a:cs typeface="Arial"/>
                        </a:rPr>
                        <a:t> </a:t>
                      </a:r>
                      <a:r>
                        <a:rPr sz="1000" spc="-5" dirty="0">
                          <a:latin typeface="Arial"/>
                          <a:cs typeface="Arial"/>
                        </a:rPr>
                        <a:t>usage</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86690">
                <a:tc>
                  <a:txBody>
                    <a:bodyPr/>
                    <a:lstStyle/>
                    <a:p>
                      <a:pPr marL="78105">
                        <a:lnSpc>
                          <a:spcPct val="100000"/>
                        </a:lnSpc>
                        <a:spcBef>
                          <a:spcPts val="25"/>
                        </a:spcBef>
                      </a:pPr>
                      <a:r>
                        <a:rPr sz="1000" spc="-5" dirty="0">
                          <a:solidFill>
                            <a:srgbClr val="FA0000"/>
                          </a:solidFill>
                          <a:latin typeface="Arial"/>
                          <a:cs typeface="Arial"/>
                        </a:rPr>
                        <a:t>Reliability</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5" dirty="0">
                          <a:latin typeface="Arial"/>
                          <a:cs typeface="Arial"/>
                        </a:rPr>
                        <a:t>Continuity</a:t>
                      </a:r>
                      <a:r>
                        <a:rPr sz="1000" spc="-15" dirty="0">
                          <a:latin typeface="Arial"/>
                          <a:cs typeface="Arial"/>
                        </a:rPr>
                        <a:t> </a:t>
                      </a:r>
                      <a:r>
                        <a:rPr sz="1000" spc="-5" dirty="0">
                          <a:latin typeface="Arial"/>
                          <a:cs typeface="Arial"/>
                        </a:rPr>
                        <a:t>of</a:t>
                      </a:r>
                      <a:r>
                        <a:rPr sz="1000" spc="-10" dirty="0">
                          <a:latin typeface="Arial"/>
                          <a:cs typeface="Arial"/>
                        </a:rPr>
                        <a:t> </a:t>
                      </a:r>
                      <a:r>
                        <a:rPr sz="1000" dirty="0">
                          <a:latin typeface="Arial"/>
                          <a:cs typeface="Arial"/>
                        </a:rPr>
                        <a:t>service</a:t>
                      </a:r>
                      <a:r>
                        <a:rPr sz="1000" spc="-15" dirty="0">
                          <a:latin typeface="Arial"/>
                          <a:cs typeface="Arial"/>
                        </a:rPr>
                        <a:t> </a:t>
                      </a:r>
                      <a:r>
                        <a:rPr sz="1000" spc="-5" dirty="0">
                          <a:latin typeface="Arial"/>
                          <a:cs typeface="Arial"/>
                        </a:rPr>
                        <a:t>delivery</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6690">
                <a:tc>
                  <a:txBody>
                    <a:bodyPr/>
                    <a:lstStyle/>
                    <a:p>
                      <a:pPr marL="78105">
                        <a:lnSpc>
                          <a:spcPct val="100000"/>
                        </a:lnSpc>
                        <a:spcBef>
                          <a:spcPts val="25"/>
                        </a:spcBef>
                      </a:pPr>
                      <a:r>
                        <a:rPr sz="1000" spc="-10" dirty="0">
                          <a:solidFill>
                            <a:srgbClr val="FA0000"/>
                          </a:solidFill>
                          <a:latin typeface="Arial"/>
                          <a:cs typeface="Arial"/>
                        </a:rPr>
                        <a:t>Safety</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20" dirty="0">
                          <a:latin typeface="Arial"/>
                          <a:cs typeface="Arial"/>
                        </a:rPr>
                        <a:t>Very</a:t>
                      </a:r>
                      <a:r>
                        <a:rPr sz="1000" spc="-5" dirty="0">
                          <a:latin typeface="Arial"/>
                          <a:cs typeface="Arial"/>
                        </a:rPr>
                        <a:t> </a:t>
                      </a:r>
                      <a:r>
                        <a:rPr sz="1000" spc="-10" dirty="0">
                          <a:latin typeface="Arial"/>
                          <a:cs typeface="Arial"/>
                        </a:rPr>
                        <a:t>low</a:t>
                      </a:r>
                      <a:r>
                        <a:rPr sz="1000" spc="-5" dirty="0">
                          <a:latin typeface="Arial"/>
                          <a:cs typeface="Arial"/>
                        </a:rPr>
                        <a:t> probability of</a:t>
                      </a:r>
                      <a:r>
                        <a:rPr sz="1000" dirty="0">
                          <a:latin typeface="Arial"/>
                          <a:cs typeface="Arial"/>
                        </a:rPr>
                        <a:t> </a:t>
                      </a:r>
                      <a:r>
                        <a:rPr sz="1000" spc="-5" dirty="0">
                          <a:latin typeface="Arial"/>
                          <a:cs typeface="Arial"/>
                        </a:rPr>
                        <a:t>catastrophes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86690">
                <a:tc>
                  <a:txBody>
                    <a:bodyPr/>
                    <a:lstStyle/>
                    <a:p>
                      <a:pPr marL="78105">
                        <a:lnSpc>
                          <a:spcPct val="100000"/>
                        </a:lnSpc>
                        <a:spcBef>
                          <a:spcPts val="25"/>
                        </a:spcBef>
                      </a:pPr>
                      <a:r>
                        <a:rPr sz="1000" spc="-5" dirty="0">
                          <a:solidFill>
                            <a:srgbClr val="FA0000"/>
                          </a:solidFill>
                          <a:latin typeface="Arial"/>
                          <a:cs typeface="Arial"/>
                        </a:rPr>
                        <a:t>Maintainability</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10" dirty="0">
                          <a:latin typeface="Arial"/>
                          <a:cs typeface="Arial"/>
                        </a:rPr>
                        <a:t>How</a:t>
                      </a:r>
                      <a:r>
                        <a:rPr sz="1000" spc="-5" dirty="0">
                          <a:latin typeface="Arial"/>
                          <a:cs typeface="Arial"/>
                        </a:rPr>
                        <a:t> easy</a:t>
                      </a:r>
                      <a:r>
                        <a:rPr sz="1000" spc="-10" dirty="0">
                          <a:latin typeface="Arial"/>
                          <a:cs typeface="Arial"/>
                        </a:rPr>
                        <a:t> </a:t>
                      </a:r>
                      <a:r>
                        <a:rPr sz="1000" spc="-5" dirty="0">
                          <a:latin typeface="Arial"/>
                          <a:cs typeface="Arial"/>
                        </a:rPr>
                        <a:t>can a </a:t>
                      </a:r>
                      <a:r>
                        <a:rPr sz="1000" spc="-10" dirty="0">
                          <a:latin typeface="Arial"/>
                          <a:cs typeface="Arial"/>
                        </a:rPr>
                        <a:t>failed</a:t>
                      </a:r>
                      <a:r>
                        <a:rPr sz="1000" spc="-5" dirty="0">
                          <a:latin typeface="Arial"/>
                          <a:cs typeface="Arial"/>
                        </a:rPr>
                        <a:t> system be repaired</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r>
              <a:rPr sz="600" spc="-5" dirty="0">
                <a:solidFill>
                  <a:srgbClr val="262685"/>
                </a:solidFill>
                <a:latin typeface="Arial"/>
                <a:cs typeface="Arial"/>
              </a:rPr>
              <a:t>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05362" y="716"/>
            <a:ext cx="5359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Basic</a:t>
            </a:r>
            <a:r>
              <a:rPr sz="600" spc="-4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concepts</a:t>
            </a:r>
            <a:endParaRPr sz="600">
              <a:latin typeface="Arial"/>
              <a:cs typeface="Arial"/>
            </a:endParaRPr>
          </a:p>
        </p:txBody>
      </p:sp>
      <p:sp>
        <p:nvSpPr>
          <p:cNvPr id="4" name="object 4"/>
          <p:cNvSpPr txBox="1"/>
          <p:nvPr/>
        </p:nvSpPr>
        <p:spPr>
          <a:xfrm>
            <a:off x="95300" y="188846"/>
            <a:ext cx="227076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Reliability</a:t>
            </a:r>
            <a:r>
              <a:rPr sz="1400" spc="-10" dirty="0">
                <a:solidFill>
                  <a:srgbClr val="3333B2"/>
                </a:solidFill>
                <a:latin typeface="Arial"/>
                <a:cs typeface="Arial"/>
              </a:rPr>
              <a:t> </a:t>
            </a:r>
            <a:r>
              <a:rPr sz="1400" spc="10" dirty="0">
                <a:solidFill>
                  <a:srgbClr val="3333B2"/>
                </a:solidFill>
                <a:latin typeface="Arial"/>
                <a:cs typeface="Arial"/>
              </a:rPr>
              <a:t>versus</a:t>
            </a:r>
            <a:r>
              <a:rPr sz="1400" spc="-10" dirty="0">
                <a:solidFill>
                  <a:srgbClr val="3333B2"/>
                </a:solidFill>
                <a:latin typeface="Arial"/>
                <a:cs typeface="Arial"/>
              </a:rPr>
              <a:t> </a:t>
            </a:r>
            <a:r>
              <a:rPr sz="1400" spc="5" dirty="0">
                <a:solidFill>
                  <a:srgbClr val="3333B2"/>
                </a:solidFill>
                <a:latin typeface="Arial"/>
                <a:cs typeface="Arial"/>
              </a:rPr>
              <a:t>availability</a:t>
            </a:r>
            <a:endParaRPr sz="1400">
              <a:latin typeface="Arial"/>
              <a:cs typeface="Arial"/>
            </a:endParaRPr>
          </a:p>
        </p:txBody>
      </p:sp>
      <p:sp>
        <p:nvSpPr>
          <p:cNvPr id="5" name="object 5"/>
          <p:cNvSpPr txBox="1"/>
          <p:nvPr/>
        </p:nvSpPr>
        <p:spPr>
          <a:xfrm>
            <a:off x="317195" y="851465"/>
            <a:ext cx="3821429" cy="1674495"/>
          </a:xfrm>
          <a:prstGeom prst="rect">
            <a:avLst/>
          </a:prstGeom>
        </p:spPr>
        <p:txBody>
          <a:bodyPr vert="horz" wrap="square" lIns="0" tIns="46990" rIns="0" bIns="0" rtlCol="0">
            <a:spAutoFit/>
          </a:bodyPr>
          <a:lstStyle/>
          <a:p>
            <a:pPr marL="42545">
              <a:lnSpc>
                <a:spcPct val="100000"/>
              </a:lnSpc>
              <a:spcBef>
                <a:spcPts val="370"/>
              </a:spcBef>
            </a:pPr>
            <a:r>
              <a:rPr sz="1200" spc="-5" dirty="0">
                <a:solidFill>
                  <a:srgbClr val="3333B2"/>
                </a:solidFill>
                <a:latin typeface="Arial"/>
                <a:cs typeface="Arial"/>
              </a:rPr>
              <a:t>Reliability </a:t>
            </a:r>
            <a:r>
              <a:rPr sz="1200" i="1" spc="55" dirty="0">
                <a:solidFill>
                  <a:srgbClr val="3333B2"/>
                </a:solidFill>
                <a:latin typeface="Arial"/>
                <a:cs typeface="Arial"/>
              </a:rPr>
              <a:t>R</a:t>
            </a:r>
            <a:r>
              <a:rPr sz="1200" spc="50" dirty="0">
                <a:solidFill>
                  <a:srgbClr val="3333B2"/>
                </a:solidFill>
                <a:latin typeface="Arial"/>
                <a:cs typeface="Arial"/>
              </a:rPr>
              <a:t>(</a:t>
            </a:r>
            <a:r>
              <a:rPr sz="1200" i="1" spc="-5" dirty="0">
                <a:solidFill>
                  <a:srgbClr val="3333B2"/>
                </a:solidFill>
                <a:latin typeface="Arial"/>
                <a:cs typeface="Arial"/>
              </a:rPr>
              <a:t>t</a:t>
            </a:r>
            <a:r>
              <a:rPr sz="1200" i="1" spc="-229" dirty="0">
                <a:solidFill>
                  <a:srgbClr val="3333B2"/>
                </a:solidFill>
                <a:latin typeface="Arial"/>
                <a:cs typeface="Arial"/>
              </a:rPr>
              <a:t> </a:t>
            </a:r>
            <a:r>
              <a:rPr sz="1200" spc="50" dirty="0">
                <a:solidFill>
                  <a:srgbClr val="3333B2"/>
                </a:solidFill>
                <a:latin typeface="Arial"/>
                <a:cs typeface="Arial"/>
              </a:rPr>
              <a:t>)</a:t>
            </a:r>
            <a:r>
              <a:rPr sz="1200" spc="-5" dirty="0">
                <a:solidFill>
                  <a:srgbClr val="3333B2"/>
                </a:solidFill>
                <a:latin typeface="Arial"/>
                <a:cs typeface="Arial"/>
              </a:rPr>
              <a:t> of component </a:t>
            </a:r>
            <a:r>
              <a:rPr sz="1200" i="1" spc="-5" dirty="0">
                <a:solidFill>
                  <a:srgbClr val="3333B2"/>
                </a:solidFill>
                <a:latin typeface="Arial"/>
                <a:cs typeface="Arial"/>
              </a:rPr>
              <a:t>C</a:t>
            </a:r>
            <a:endParaRPr sz="1200">
              <a:latin typeface="Arial"/>
              <a:cs typeface="Arial"/>
            </a:endParaRPr>
          </a:p>
          <a:p>
            <a:pPr marL="42545">
              <a:lnSpc>
                <a:spcPts val="1200"/>
              </a:lnSpc>
              <a:spcBef>
                <a:spcPts val="220"/>
              </a:spcBef>
            </a:pPr>
            <a:r>
              <a:rPr sz="1000" spc="-5" dirty="0">
                <a:latin typeface="Arial"/>
                <a:cs typeface="Arial"/>
              </a:rPr>
              <a:t>Conditional</a:t>
            </a:r>
            <a:r>
              <a:rPr sz="1000" spc="5" dirty="0">
                <a:latin typeface="Arial"/>
                <a:cs typeface="Arial"/>
              </a:rPr>
              <a:t> </a:t>
            </a:r>
            <a:r>
              <a:rPr sz="1000" spc="-5" dirty="0">
                <a:latin typeface="Arial"/>
                <a:cs typeface="Arial"/>
              </a:rPr>
              <a:t>probability</a:t>
            </a:r>
            <a:r>
              <a:rPr sz="1000" spc="5" dirty="0">
                <a:latin typeface="Arial"/>
                <a:cs typeface="Arial"/>
              </a:rPr>
              <a:t> </a:t>
            </a:r>
            <a:r>
              <a:rPr sz="1000" spc="-5" dirty="0">
                <a:latin typeface="Arial"/>
                <a:cs typeface="Arial"/>
              </a:rPr>
              <a:t>that</a:t>
            </a:r>
            <a:r>
              <a:rPr sz="1000" spc="5" dirty="0">
                <a:latin typeface="Arial"/>
                <a:cs typeface="Arial"/>
              </a:rPr>
              <a:t> </a:t>
            </a:r>
            <a:r>
              <a:rPr sz="1000" i="1" spc="-5" dirty="0">
                <a:latin typeface="Arial"/>
                <a:cs typeface="Arial"/>
              </a:rPr>
              <a:t>C</a:t>
            </a:r>
            <a:r>
              <a:rPr sz="1000" i="1" spc="70" dirty="0">
                <a:latin typeface="Arial"/>
                <a:cs typeface="Arial"/>
              </a:rPr>
              <a:t> </a:t>
            </a:r>
            <a:r>
              <a:rPr sz="1000" spc="-5" dirty="0">
                <a:latin typeface="Arial"/>
                <a:cs typeface="Arial"/>
              </a:rPr>
              <a:t>has</a:t>
            </a:r>
            <a:r>
              <a:rPr sz="1000" spc="5" dirty="0">
                <a:latin typeface="Arial"/>
                <a:cs typeface="Arial"/>
              </a:rPr>
              <a:t> </a:t>
            </a:r>
            <a:r>
              <a:rPr sz="1000" spc="-5" dirty="0">
                <a:latin typeface="Arial"/>
                <a:cs typeface="Arial"/>
              </a:rPr>
              <a:t>been</a:t>
            </a:r>
            <a:r>
              <a:rPr sz="1000" spc="5" dirty="0">
                <a:latin typeface="Arial"/>
                <a:cs typeface="Arial"/>
              </a:rPr>
              <a:t> </a:t>
            </a:r>
            <a:r>
              <a:rPr sz="1000" spc="-5" dirty="0">
                <a:latin typeface="Arial"/>
                <a:cs typeface="Arial"/>
              </a:rPr>
              <a:t>functioning</a:t>
            </a:r>
            <a:r>
              <a:rPr sz="1000" spc="5" dirty="0">
                <a:latin typeface="Arial"/>
                <a:cs typeface="Arial"/>
              </a:rPr>
              <a:t> </a:t>
            </a:r>
            <a:r>
              <a:rPr sz="1000" spc="-5" dirty="0">
                <a:latin typeface="Arial"/>
                <a:cs typeface="Arial"/>
              </a:rPr>
              <a:t>correctly</a:t>
            </a:r>
            <a:r>
              <a:rPr sz="1000" spc="5" dirty="0">
                <a:latin typeface="Arial"/>
                <a:cs typeface="Arial"/>
              </a:rPr>
              <a:t> </a:t>
            </a:r>
            <a:r>
              <a:rPr sz="1000" spc="-5" dirty="0">
                <a:latin typeface="Arial"/>
                <a:cs typeface="Arial"/>
              </a:rPr>
              <a:t>during</a:t>
            </a:r>
            <a:endParaRPr sz="1000">
              <a:latin typeface="Arial"/>
              <a:cs typeface="Arial"/>
            </a:endParaRPr>
          </a:p>
          <a:p>
            <a:pPr marL="42545">
              <a:lnSpc>
                <a:spcPts val="1200"/>
              </a:lnSpc>
            </a:pPr>
            <a:r>
              <a:rPr sz="1000" dirty="0">
                <a:latin typeface="Arial"/>
                <a:cs typeface="Arial"/>
              </a:rPr>
              <a:t>[0</a:t>
            </a:r>
            <a:r>
              <a:rPr sz="1000" i="1" dirty="0">
                <a:latin typeface="Arial"/>
                <a:cs typeface="Arial"/>
              </a:rPr>
              <a:t>,</a:t>
            </a:r>
            <a:r>
              <a:rPr sz="1000" i="1" spc="-170" dirty="0">
                <a:latin typeface="Arial"/>
                <a:cs typeface="Arial"/>
              </a:rPr>
              <a:t> </a:t>
            </a:r>
            <a:r>
              <a:rPr sz="1000" i="1" spc="-5" dirty="0">
                <a:latin typeface="Arial"/>
                <a:cs typeface="Arial"/>
              </a:rPr>
              <a:t>t</a:t>
            </a:r>
            <a:r>
              <a:rPr sz="1000" i="1" spc="-190" dirty="0">
                <a:latin typeface="Arial"/>
                <a:cs typeface="Arial"/>
              </a:rPr>
              <a:t> </a:t>
            </a:r>
            <a:r>
              <a:rPr sz="1000" spc="50" dirty="0">
                <a:latin typeface="Arial"/>
                <a:cs typeface="Arial"/>
              </a:rPr>
              <a:t>)</a:t>
            </a:r>
            <a:r>
              <a:rPr sz="1000" dirty="0">
                <a:latin typeface="Arial"/>
                <a:cs typeface="Arial"/>
              </a:rPr>
              <a:t> </a:t>
            </a:r>
            <a:r>
              <a:rPr sz="1000" spc="-10" dirty="0">
                <a:latin typeface="Arial"/>
                <a:cs typeface="Arial"/>
              </a:rPr>
              <a:t>given</a:t>
            </a:r>
            <a:r>
              <a:rPr sz="1000" dirty="0">
                <a:latin typeface="Arial"/>
                <a:cs typeface="Arial"/>
              </a:rPr>
              <a:t> </a:t>
            </a:r>
            <a:r>
              <a:rPr sz="1000" i="1" spc="-5" dirty="0">
                <a:latin typeface="Arial"/>
                <a:cs typeface="Arial"/>
              </a:rPr>
              <a:t>C</a:t>
            </a:r>
            <a:r>
              <a:rPr sz="1000" i="1" spc="60" dirty="0">
                <a:latin typeface="Arial"/>
                <a:cs typeface="Arial"/>
              </a:rPr>
              <a:t> </a:t>
            </a:r>
            <a:r>
              <a:rPr sz="1000" spc="-10" dirty="0">
                <a:latin typeface="Arial"/>
                <a:cs typeface="Arial"/>
              </a:rPr>
              <a:t>was</a:t>
            </a:r>
            <a:r>
              <a:rPr sz="1000" spc="-5" dirty="0">
                <a:latin typeface="Arial"/>
                <a:cs typeface="Arial"/>
              </a:rPr>
              <a:t> functioning</a:t>
            </a:r>
            <a:r>
              <a:rPr sz="1000" dirty="0">
                <a:latin typeface="Arial"/>
                <a:cs typeface="Arial"/>
              </a:rPr>
              <a:t> </a:t>
            </a:r>
            <a:r>
              <a:rPr sz="1000" spc="-5" dirty="0">
                <a:latin typeface="Arial"/>
                <a:cs typeface="Arial"/>
              </a:rPr>
              <a:t>correctly at</a:t>
            </a:r>
            <a:r>
              <a:rPr sz="1000" dirty="0">
                <a:latin typeface="Arial"/>
                <a:cs typeface="Arial"/>
              </a:rPr>
              <a:t> </a:t>
            </a:r>
            <a:r>
              <a:rPr sz="1000" spc="-5" dirty="0">
                <a:latin typeface="Arial"/>
                <a:cs typeface="Arial"/>
              </a:rPr>
              <a:t>time</a:t>
            </a:r>
            <a:r>
              <a:rPr sz="1000" dirty="0">
                <a:latin typeface="Arial"/>
                <a:cs typeface="Arial"/>
              </a:rPr>
              <a:t> </a:t>
            </a:r>
            <a:r>
              <a:rPr sz="1000" i="1" spc="-5" dirty="0">
                <a:latin typeface="Arial"/>
                <a:cs typeface="Arial"/>
              </a:rPr>
              <a:t>T</a:t>
            </a:r>
            <a:r>
              <a:rPr sz="1000" i="1" spc="80" dirty="0">
                <a:latin typeface="Arial"/>
                <a:cs typeface="Arial"/>
              </a:rPr>
              <a:t> </a:t>
            </a:r>
            <a:r>
              <a:rPr sz="1000" spc="190" dirty="0">
                <a:latin typeface="Arial"/>
                <a:cs typeface="Arial"/>
              </a:rPr>
              <a:t>=</a:t>
            </a:r>
            <a:r>
              <a:rPr sz="1000" spc="-55" dirty="0">
                <a:latin typeface="Arial"/>
                <a:cs typeface="Arial"/>
              </a:rPr>
              <a:t> </a:t>
            </a:r>
            <a:r>
              <a:rPr sz="1000" spc="-5" dirty="0">
                <a:latin typeface="Arial"/>
                <a:cs typeface="Arial"/>
              </a:rPr>
              <a:t>0.</a:t>
            </a:r>
            <a:endParaRPr sz="1000">
              <a:latin typeface="Arial"/>
              <a:cs typeface="Arial"/>
            </a:endParaRPr>
          </a:p>
          <a:p>
            <a:pPr marL="38100">
              <a:lnSpc>
                <a:spcPct val="100000"/>
              </a:lnSpc>
              <a:spcBef>
                <a:spcPts val="695"/>
              </a:spcBef>
            </a:pPr>
            <a:r>
              <a:rPr sz="1200" spc="-20" dirty="0">
                <a:solidFill>
                  <a:srgbClr val="3333B2"/>
                </a:solidFill>
                <a:latin typeface="Arial"/>
                <a:cs typeface="Arial"/>
              </a:rPr>
              <a:t>Traditional</a:t>
            </a:r>
            <a:r>
              <a:rPr sz="1200" spc="-35" dirty="0">
                <a:solidFill>
                  <a:srgbClr val="3333B2"/>
                </a:solidFill>
                <a:latin typeface="Arial"/>
                <a:cs typeface="Arial"/>
              </a:rPr>
              <a:t> </a:t>
            </a:r>
            <a:r>
              <a:rPr sz="1200" dirty="0">
                <a:solidFill>
                  <a:srgbClr val="3333B2"/>
                </a:solidFill>
                <a:latin typeface="Arial"/>
                <a:cs typeface="Arial"/>
              </a:rPr>
              <a:t>metrics</a:t>
            </a:r>
            <a:endParaRPr sz="1200">
              <a:latin typeface="Arial"/>
              <a:cs typeface="Arial"/>
            </a:endParaRPr>
          </a:p>
          <a:p>
            <a:pPr marL="319405" marR="391795" indent="-168275">
              <a:lnSpc>
                <a:spcPct val="100000"/>
              </a:lnSpc>
              <a:spcBef>
                <a:spcPts val="540"/>
              </a:spcBef>
              <a:buClr>
                <a:srgbClr val="3333B2"/>
              </a:buClr>
              <a:buChar char="►"/>
              <a:tabLst>
                <a:tab pos="320040" algn="l"/>
              </a:tabLst>
            </a:pPr>
            <a:r>
              <a:rPr sz="1000" spc="-5" dirty="0">
                <a:solidFill>
                  <a:srgbClr val="FA0000"/>
                </a:solidFill>
                <a:latin typeface="Arial"/>
                <a:cs typeface="Arial"/>
              </a:rPr>
              <a:t>Mean Time </a:t>
            </a:r>
            <a:r>
              <a:rPr sz="1000" spc="-125" dirty="0">
                <a:solidFill>
                  <a:srgbClr val="FA0000"/>
                </a:solidFill>
                <a:latin typeface="Arial"/>
                <a:cs typeface="Arial"/>
              </a:rPr>
              <a:t>T</a:t>
            </a:r>
            <a:r>
              <a:rPr sz="1000" spc="-5" dirty="0">
                <a:solidFill>
                  <a:srgbClr val="FA0000"/>
                </a:solidFill>
                <a:latin typeface="Arial"/>
                <a:cs typeface="Arial"/>
              </a:rPr>
              <a:t>o </a:t>
            </a:r>
            <a:r>
              <a:rPr sz="1000" spc="-55" dirty="0">
                <a:solidFill>
                  <a:srgbClr val="FA0000"/>
                </a:solidFill>
                <a:latin typeface="Arial"/>
                <a:cs typeface="Arial"/>
              </a:rPr>
              <a:t>F</a:t>
            </a:r>
            <a:r>
              <a:rPr sz="1000" spc="-5" dirty="0">
                <a:solidFill>
                  <a:srgbClr val="FA0000"/>
                </a:solidFill>
                <a:latin typeface="Arial"/>
                <a:cs typeface="Arial"/>
              </a:rPr>
              <a:t>ailure </a:t>
            </a:r>
            <a:r>
              <a:rPr sz="1000" spc="-10" dirty="0">
                <a:latin typeface="Arial"/>
                <a:cs typeface="Arial"/>
              </a:rPr>
              <a:t>(</a:t>
            </a:r>
            <a:r>
              <a:rPr sz="1000" i="1" spc="-5" dirty="0">
                <a:solidFill>
                  <a:srgbClr val="0000FA"/>
                </a:solidFill>
                <a:latin typeface="Arial"/>
                <a:cs typeface="Arial"/>
              </a:rPr>
              <a:t>MTTF</a:t>
            </a:r>
            <a:r>
              <a:rPr sz="1000" spc="-5" dirty="0">
                <a:latin typeface="Arial"/>
                <a:cs typeface="Arial"/>
              </a:rPr>
              <a:t>):</a:t>
            </a:r>
            <a:r>
              <a:rPr sz="1000" spc="60" dirty="0">
                <a:latin typeface="Arial"/>
                <a:cs typeface="Arial"/>
              </a:rPr>
              <a:t> </a:t>
            </a:r>
            <a:r>
              <a:rPr sz="1000" spc="-5" dirty="0">
                <a:latin typeface="Arial"/>
                <a:cs typeface="Arial"/>
              </a:rPr>
              <a:t>The </a:t>
            </a:r>
            <a:r>
              <a:rPr sz="1000" spc="-25" dirty="0">
                <a:latin typeface="Arial"/>
                <a:cs typeface="Arial"/>
              </a:rPr>
              <a:t>a</a:t>
            </a:r>
            <a:r>
              <a:rPr sz="1000" spc="-30" dirty="0">
                <a:latin typeface="Arial"/>
                <a:cs typeface="Arial"/>
              </a:rPr>
              <a:t>v</a:t>
            </a:r>
            <a:r>
              <a:rPr sz="1000" spc="-5" dirty="0">
                <a:latin typeface="Arial"/>
                <a:cs typeface="Arial"/>
              </a:rPr>
              <a:t>e</a:t>
            </a:r>
            <a:r>
              <a:rPr sz="1000" spc="-15" dirty="0">
                <a:latin typeface="Arial"/>
                <a:cs typeface="Arial"/>
              </a:rPr>
              <a:t>r</a:t>
            </a:r>
            <a:r>
              <a:rPr sz="1000" spc="-5" dirty="0">
                <a:latin typeface="Arial"/>
                <a:cs typeface="Arial"/>
              </a:rPr>
              <a:t>age time until a  component</a:t>
            </a:r>
            <a:r>
              <a:rPr sz="1000" spc="-10" dirty="0">
                <a:latin typeface="Arial"/>
                <a:cs typeface="Arial"/>
              </a:rPr>
              <a:t> fails.</a:t>
            </a:r>
            <a:endParaRPr sz="1000">
              <a:latin typeface="Arial"/>
              <a:cs typeface="Arial"/>
            </a:endParaRPr>
          </a:p>
          <a:p>
            <a:pPr marL="319405" marR="160020" indent="-168275">
              <a:lnSpc>
                <a:spcPts val="1200"/>
              </a:lnSpc>
              <a:spcBef>
                <a:spcPts val="35"/>
              </a:spcBef>
              <a:buClr>
                <a:srgbClr val="3333B2"/>
              </a:buClr>
              <a:buChar char="►"/>
              <a:tabLst>
                <a:tab pos="320040" algn="l"/>
              </a:tabLst>
            </a:pPr>
            <a:r>
              <a:rPr sz="1000" spc="-5" dirty="0">
                <a:solidFill>
                  <a:srgbClr val="FA0000"/>
                </a:solidFill>
                <a:latin typeface="Arial"/>
                <a:cs typeface="Arial"/>
              </a:rPr>
              <a:t>Mean Time </a:t>
            </a:r>
            <a:r>
              <a:rPr sz="1000" spc="-65" dirty="0">
                <a:solidFill>
                  <a:srgbClr val="FA0000"/>
                </a:solidFill>
                <a:latin typeface="Arial"/>
                <a:cs typeface="Arial"/>
              </a:rPr>
              <a:t>To</a:t>
            </a:r>
            <a:r>
              <a:rPr sz="1000" spc="-5" dirty="0">
                <a:solidFill>
                  <a:srgbClr val="FA0000"/>
                </a:solidFill>
                <a:latin typeface="Arial"/>
                <a:cs typeface="Arial"/>
              </a:rPr>
              <a:t> Repair </a:t>
            </a:r>
            <a:r>
              <a:rPr sz="1000" spc="-5" dirty="0">
                <a:latin typeface="Arial"/>
                <a:cs typeface="Arial"/>
              </a:rPr>
              <a:t>(</a:t>
            </a:r>
            <a:r>
              <a:rPr sz="1000" i="1" spc="-5" dirty="0">
                <a:solidFill>
                  <a:srgbClr val="0000FA"/>
                </a:solidFill>
                <a:latin typeface="Arial"/>
                <a:cs typeface="Arial"/>
              </a:rPr>
              <a:t>MTTR</a:t>
            </a:r>
            <a:r>
              <a:rPr sz="1000" spc="-5" dirty="0">
                <a:latin typeface="Arial"/>
                <a:cs typeface="Arial"/>
              </a:rPr>
              <a:t>):</a:t>
            </a:r>
            <a:r>
              <a:rPr sz="1000" spc="60" dirty="0">
                <a:latin typeface="Arial"/>
                <a:cs typeface="Arial"/>
              </a:rPr>
              <a:t> </a:t>
            </a:r>
            <a:r>
              <a:rPr sz="1000" spc="-5" dirty="0">
                <a:latin typeface="Arial"/>
                <a:cs typeface="Arial"/>
              </a:rPr>
              <a:t>The </a:t>
            </a:r>
            <a:r>
              <a:rPr sz="1000" spc="-10" dirty="0">
                <a:latin typeface="Arial"/>
                <a:cs typeface="Arial"/>
              </a:rPr>
              <a:t>average</a:t>
            </a:r>
            <a:r>
              <a:rPr sz="1000" dirty="0">
                <a:latin typeface="Arial"/>
                <a:cs typeface="Arial"/>
              </a:rPr>
              <a:t> </a:t>
            </a:r>
            <a:r>
              <a:rPr sz="1000" spc="-5" dirty="0">
                <a:latin typeface="Arial"/>
                <a:cs typeface="Arial"/>
              </a:rPr>
              <a:t>time needed to </a:t>
            </a:r>
            <a:r>
              <a:rPr sz="1000" spc="-265" dirty="0">
                <a:latin typeface="Arial"/>
                <a:cs typeface="Arial"/>
              </a:rPr>
              <a:t> </a:t>
            </a:r>
            <a:r>
              <a:rPr sz="1000" spc="-5" dirty="0">
                <a:latin typeface="Arial"/>
                <a:cs typeface="Arial"/>
              </a:rPr>
              <a:t>repair</a:t>
            </a:r>
            <a:r>
              <a:rPr sz="1000" spc="-10" dirty="0">
                <a:latin typeface="Arial"/>
                <a:cs typeface="Arial"/>
              </a:rPr>
              <a:t> </a:t>
            </a:r>
            <a:r>
              <a:rPr sz="1000" spc="-5" dirty="0">
                <a:latin typeface="Arial"/>
                <a:cs typeface="Arial"/>
              </a:rPr>
              <a:t>a component.</a:t>
            </a:r>
            <a:endParaRPr sz="1000">
              <a:latin typeface="Arial"/>
              <a:cs typeface="Arial"/>
            </a:endParaRPr>
          </a:p>
          <a:p>
            <a:pPr marL="319405" indent="-168275">
              <a:lnSpc>
                <a:spcPts val="1150"/>
              </a:lnSpc>
              <a:buClr>
                <a:srgbClr val="3333B2"/>
              </a:buClr>
              <a:buChar char="►"/>
              <a:tabLst>
                <a:tab pos="320040" algn="l"/>
              </a:tabLst>
            </a:pPr>
            <a:r>
              <a:rPr sz="1000" spc="-5" dirty="0">
                <a:solidFill>
                  <a:srgbClr val="FA0000"/>
                </a:solidFill>
                <a:latin typeface="Arial"/>
                <a:cs typeface="Arial"/>
              </a:rPr>
              <a:t>Mean Time Between </a:t>
            </a:r>
            <a:r>
              <a:rPr sz="1000" spc="-10" dirty="0">
                <a:solidFill>
                  <a:srgbClr val="FA0000"/>
                </a:solidFill>
                <a:latin typeface="Arial"/>
                <a:cs typeface="Arial"/>
              </a:rPr>
              <a:t>Failures</a:t>
            </a:r>
            <a:r>
              <a:rPr sz="1000" spc="-5" dirty="0">
                <a:solidFill>
                  <a:srgbClr val="FA0000"/>
                </a:solidFill>
                <a:latin typeface="Arial"/>
                <a:cs typeface="Arial"/>
              </a:rPr>
              <a:t> </a:t>
            </a:r>
            <a:r>
              <a:rPr sz="1000" spc="-5" dirty="0">
                <a:latin typeface="Arial"/>
                <a:cs typeface="Arial"/>
              </a:rPr>
              <a:t>(</a:t>
            </a:r>
            <a:r>
              <a:rPr sz="1000" i="1" spc="-5" dirty="0">
                <a:solidFill>
                  <a:srgbClr val="0000FA"/>
                </a:solidFill>
                <a:latin typeface="Arial"/>
                <a:cs typeface="Arial"/>
              </a:rPr>
              <a:t>MTBF</a:t>
            </a:r>
            <a:r>
              <a:rPr sz="1000" spc="-5" dirty="0">
                <a:latin typeface="Arial"/>
                <a:cs typeface="Arial"/>
              </a:rPr>
              <a:t>):</a:t>
            </a:r>
            <a:r>
              <a:rPr sz="1000" spc="65" dirty="0">
                <a:latin typeface="Arial"/>
                <a:cs typeface="Arial"/>
              </a:rPr>
              <a:t> </a:t>
            </a:r>
            <a:r>
              <a:rPr sz="1000" spc="-5" dirty="0">
                <a:latin typeface="Arial"/>
                <a:cs typeface="Arial"/>
              </a:rPr>
              <a:t>Simply </a:t>
            </a:r>
            <a:r>
              <a:rPr sz="1000" i="1" spc="-5" dirty="0">
                <a:latin typeface="Arial"/>
                <a:cs typeface="Arial"/>
              </a:rPr>
              <a:t>MTTF </a:t>
            </a:r>
            <a:r>
              <a:rPr sz="1000" spc="-5" dirty="0">
                <a:latin typeface="Arial"/>
                <a:cs typeface="Arial"/>
              </a:rPr>
              <a:t>+ </a:t>
            </a:r>
            <a:r>
              <a:rPr sz="1000" i="1" spc="-5" dirty="0">
                <a:latin typeface="Arial"/>
                <a:cs typeface="Arial"/>
              </a:rPr>
              <a:t>MTTR</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r>
              <a:rPr sz="600" spc="-5" dirty="0">
                <a:solidFill>
                  <a:srgbClr val="262685"/>
                </a:solidFill>
                <a:latin typeface="Arial"/>
                <a:cs typeface="Arial"/>
              </a:rPr>
              <a:t>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05362" y="716"/>
            <a:ext cx="5359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Basic</a:t>
            </a:r>
            <a:r>
              <a:rPr sz="600" spc="-4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concepts</a:t>
            </a:r>
            <a:endParaRPr sz="600">
              <a:latin typeface="Arial"/>
              <a:cs typeface="Arial"/>
            </a:endParaRPr>
          </a:p>
        </p:txBody>
      </p:sp>
      <p:sp>
        <p:nvSpPr>
          <p:cNvPr id="4" name="object 4"/>
          <p:cNvSpPr txBox="1"/>
          <p:nvPr/>
        </p:nvSpPr>
        <p:spPr>
          <a:xfrm>
            <a:off x="95300" y="188846"/>
            <a:ext cx="227076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Reliability</a:t>
            </a:r>
            <a:r>
              <a:rPr sz="1400" spc="-10" dirty="0">
                <a:solidFill>
                  <a:srgbClr val="3333B2"/>
                </a:solidFill>
                <a:latin typeface="Arial"/>
                <a:cs typeface="Arial"/>
              </a:rPr>
              <a:t> </a:t>
            </a:r>
            <a:r>
              <a:rPr sz="1400" spc="10" dirty="0">
                <a:solidFill>
                  <a:srgbClr val="3333B2"/>
                </a:solidFill>
                <a:latin typeface="Arial"/>
                <a:cs typeface="Arial"/>
              </a:rPr>
              <a:t>versus</a:t>
            </a:r>
            <a:r>
              <a:rPr sz="1400" spc="-10" dirty="0">
                <a:solidFill>
                  <a:srgbClr val="3333B2"/>
                </a:solidFill>
                <a:latin typeface="Arial"/>
                <a:cs typeface="Arial"/>
              </a:rPr>
              <a:t> </a:t>
            </a:r>
            <a:r>
              <a:rPr sz="1400" spc="5" dirty="0">
                <a:solidFill>
                  <a:srgbClr val="3333B2"/>
                </a:solidFill>
                <a:latin typeface="Arial"/>
                <a:cs typeface="Arial"/>
              </a:rPr>
              <a:t>availability</a:t>
            </a:r>
            <a:endParaRPr sz="1400">
              <a:latin typeface="Arial"/>
              <a:cs typeface="Arial"/>
            </a:endParaRPr>
          </a:p>
        </p:txBody>
      </p:sp>
      <p:sp>
        <p:nvSpPr>
          <p:cNvPr id="5" name="object 5"/>
          <p:cNvSpPr txBox="1"/>
          <p:nvPr/>
        </p:nvSpPr>
        <p:spPr>
          <a:xfrm>
            <a:off x="278790" y="837726"/>
            <a:ext cx="3887470" cy="1784985"/>
          </a:xfrm>
          <a:prstGeom prst="rect">
            <a:avLst/>
          </a:prstGeom>
        </p:spPr>
        <p:txBody>
          <a:bodyPr vert="horz" wrap="square" lIns="0" tIns="46990" rIns="0" bIns="0" rtlCol="0">
            <a:spAutoFit/>
          </a:bodyPr>
          <a:lstStyle/>
          <a:p>
            <a:pPr marL="76200">
              <a:lnSpc>
                <a:spcPct val="100000"/>
              </a:lnSpc>
              <a:spcBef>
                <a:spcPts val="370"/>
              </a:spcBef>
            </a:pPr>
            <a:r>
              <a:rPr sz="1200" spc="-55" dirty="0">
                <a:solidFill>
                  <a:srgbClr val="3333B2"/>
                </a:solidFill>
                <a:latin typeface="Arial"/>
                <a:cs typeface="Arial"/>
              </a:rPr>
              <a:t>A</a:t>
            </a:r>
            <a:r>
              <a:rPr sz="1200" spc="-35" dirty="0">
                <a:solidFill>
                  <a:srgbClr val="3333B2"/>
                </a:solidFill>
                <a:latin typeface="Arial"/>
                <a:cs typeface="Arial"/>
              </a:rPr>
              <a:t>v</a:t>
            </a:r>
            <a:r>
              <a:rPr sz="1200" spc="-5" dirty="0">
                <a:solidFill>
                  <a:srgbClr val="3333B2"/>
                </a:solidFill>
                <a:latin typeface="Arial"/>
                <a:cs typeface="Arial"/>
              </a:rPr>
              <a:t>ailability </a:t>
            </a:r>
            <a:r>
              <a:rPr sz="1200" i="1" spc="-5" dirty="0">
                <a:solidFill>
                  <a:srgbClr val="3333B2"/>
                </a:solidFill>
                <a:latin typeface="Arial"/>
                <a:cs typeface="Arial"/>
              </a:rPr>
              <a:t>A</a:t>
            </a:r>
            <a:r>
              <a:rPr sz="1200" spc="50" dirty="0">
                <a:solidFill>
                  <a:srgbClr val="3333B2"/>
                </a:solidFill>
                <a:latin typeface="Arial"/>
                <a:cs typeface="Arial"/>
              </a:rPr>
              <a:t>(</a:t>
            </a:r>
            <a:r>
              <a:rPr sz="1200" i="1" spc="-5" dirty="0">
                <a:solidFill>
                  <a:srgbClr val="3333B2"/>
                </a:solidFill>
                <a:latin typeface="Arial"/>
                <a:cs typeface="Arial"/>
              </a:rPr>
              <a:t>t</a:t>
            </a:r>
            <a:r>
              <a:rPr sz="1200" i="1" spc="-229" dirty="0">
                <a:solidFill>
                  <a:srgbClr val="3333B2"/>
                </a:solidFill>
                <a:latin typeface="Arial"/>
                <a:cs typeface="Arial"/>
              </a:rPr>
              <a:t> </a:t>
            </a:r>
            <a:r>
              <a:rPr sz="1200" spc="50" dirty="0">
                <a:solidFill>
                  <a:srgbClr val="3333B2"/>
                </a:solidFill>
                <a:latin typeface="Arial"/>
                <a:cs typeface="Arial"/>
              </a:rPr>
              <a:t>)</a:t>
            </a:r>
            <a:r>
              <a:rPr sz="1200" spc="-5" dirty="0">
                <a:solidFill>
                  <a:srgbClr val="3333B2"/>
                </a:solidFill>
                <a:latin typeface="Arial"/>
                <a:cs typeface="Arial"/>
              </a:rPr>
              <a:t> of component </a:t>
            </a:r>
            <a:r>
              <a:rPr sz="1200" i="1" spc="-5" dirty="0">
                <a:solidFill>
                  <a:srgbClr val="3333B2"/>
                </a:solidFill>
                <a:latin typeface="Arial"/>
                <a:cs typeface="Arial"/>
              </a:rPr>
              <a:t>C</a:t>
            </a:r>
            <a:endParaRPr sz="1200">
              <a:latin typeface="Arial"/>
              <a:cs typeface="Arial"/>
            </a:endParaRPr>
          </a:p>
          <a:p>
            <a:pPr marL="76835">
              <a:lnSpc>
                <a:spcPts val="1200"/>
              </a:lnSpc>
              <a:spcBef>
                <a:spcPts val="220"/>
              </a:spcBef>
            </a:pPr>
            <a:r>
              <a:rPr sz="1000" spc="-15" dirty="0">
                <a:solidFill>
                  <a:srgbClr val="0000FA"/>
                </a:solidFill>
                <a:latin typeface="Arial"/>
                <a:cs typeface="Arial"/>
              </a:rPr>
              <a:t>Average</a:t>
            </a:r>
            <a:r>
              <a:rPr sz="1000" dirty="0">
                <a:solidFill>
                  <a:srgbClr val="0000FA"/>
                </a:solidFill>
                <a:latin typeface="Arial"/>
                <a:cs typeface="Arial"/>
              </a:rPr>
              <a:t> </a:t>
            </a:r>
            <a:r>
              <a:rPr sz="1000" spc="-5" dirty="0">
                <a:solidFill>
                  <a:srgbClr val="0000FA"/>
                </a:solidFill>
                <a:latin typeface="Arial"/>
                <a:cs typeface="Arial"/>
              </a:rPr>
              <a:t>fraction</a:t>
            </a:r>
            <a:r>
              <a:rPr sz="1000" dirty="0">
                <a:solidFill>
                  <a:srgbClr val="0000FA"/>
                </a:solidFill>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time</a:t>
            </a:r>
            <a:r>
              <a:rPr sz="1000" spc="5" dirty="0">
                <a:latin typeface="Arial"/>
                <a:cs typeface="Arial"/>
              </a:rPr>
              <a:t> </a:t>
            </a:r>
            <a:r>
              <a:rPr sz="1000" spc="-5" dirty="0">
                <a:latin typeface="Arial"/>
                <a:cs typeface="Arial"/>
              </a:rPr>
              <a:t>that</a:t>
            </a:r>
            <a:r>
              <a:rPr sz="1000" dirty="0">
                <a:latin typeface="Arial"/>
                <a:cs typeface="Arial"/>
              </a:rPr>
              <a:t> </a:t>
            </a:r>
            <a:r>
              <a:rPr sz="1000" i="1" spc="-5" dirty="0">
                <a:latin typeface="Arial"/>
                <a:cs typeface="Arial"/>
              </a:rPr>
              <a:t>C</a:t>
            </a:r>
            <a:r>
              <a:rPr sz="1000" i="1" spc="65"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been</a:t>
            </a:r>
            <a:r>
              <a:rPr sz="1000" dirty="0">
                <a:latin typeface="Arial"/>
                <a:cs typeface="Arial"/>
              </a:rPr>
              <a:t> </a:t>
            </a:r>
            <a:r>
              <a:rPr sz="1000" spc="-5" dirty="0">
                <a:latin typeface="Arial"/>
                <a:cs typeface="Arial"/>
              </a:rPr>
              <a:t>up-and-running</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interval</a:t>
            </a:r>
            <a:endParaRPr sz="1000">
              <a:latin typeface="Arial"/>
              <a:cs typeface="Arial"/>
            </a:endParaRPr>
          </a:p>
          <a:p>
            <a:pPr marL="80645">
              <a:lnSpc>
                <a:spcPts val="1200"/>
              </a:lnSpc>
            </a:pPr>
            <a:r>
              <a:rPr sz="1000" spc="5" dirty="0">
                <a:latin typeface="Arial"/>
                <a:cs typeface="Arial"/>
              </a:rPr>
              <a:t>[</a:t>
            </a:r>
            <a:r>
              <a:rPr sz="1000" spc="-5" dirty="0">
                <a:latin typeface="Arial"/>
                <a:cs typeface="Arial"/>
              </a:rPr>
              <a:t>0</a:t>
            </a:r>
            <a:r>
              <a:rPr sz="1000" i="1" spc="-5" dirty="0">
                <a:latin typeface="Arial"/>
                <a:cs typeface="Arial"/>
              </a:rPr>
              <a:t>,</a:t>
            </a:r>
            <a:r>
              <a:rPr sz="1000" i="1" spc="-170" dirty="0">
                <a:latin typeface="Arial"/>
                <a:cs typeface="Arial"/>
              </a:rPr>
              <a:t> </a:t>
            </a:r>
            <a:r>
              <a:rPr sz="1000" i="1" spc="-5" dirty="0">
                <a:latin typeface="Arial"/>
                <a:cs typeface="Arial"/>
              </a:rPr>
              <a:t>t</a:t>
            </a:r>
            <a:r>
              <a:rPr sz="1000" i="1" spc="-190" dirty="0">
                <a:latin typeface="Arial"/>
                <a:cs typeface="Arial"/>
              </a:rPr>
              <a:t> </a:t>
            </a:r>
            <a:r>
              <a:rPr sz="1000" spc="50" dirty="0">
                <a:latin typeface="Arial"/>
                <a:cs typeface="Arial"/>
              </a:rPr>
              <a:t>)</a:t>
            </a:r>
            <a:r>
              <a:rPr sz="1000" spc="-5" dirty="0">
                <a:latin typeface="Arial"/>
                <a:cs typeface="Arial"/>
              </a:rPr>
              <a:t>.</a:t>
            </a:r>
            <a:endParaRPr sz="1000">
              <a:latin typeface="Arial"/>
              <a:cs typeface="Arial"/>
            </a:endParaRPr>
          </a:p>
          <a:p>
            <a:pPr marL="358140" indent="-168275">
              <a:lnSpc>
                <a:spcPct val="100000"/>
              </a:lnSpc>
              <a:spcBef>
                <a:spcPts val="595"/>
              </a:spcBef>
              <a:buClr>
                <a:srgbClr val="3333B2"/>
              </a:buClr>
              <a:buChar char="►"/>
              <a:tabLst>
                <a:tab pos="358775" algn="l"/>
              </a:tabLst>
            </a:pPr>
            <a:r>
              <a:rPr sz="1000" dirty="0">
                <a:latin typeface="Arial"/>
                <a:cs typeface="Arial"/>
              </a:rPr>
              <a:t>Long-term</a:t>
            </a:r>
            <a:r>
              <a:rPr sz="1000" spc="-15" dirty="0">
                <a:latin typeface="Arial"/>
                <a:cs typeface="Arial"/>
              </a:rPr>
              <a:t> </a:t>
            </a:r>
            <a:r>
              <a:rPr sz="1000" spc="-10" dirty="0">
                <a:latin typeface="Arial"/>
                <a:cs typeface="Arial"/>
              </a:rPr>
              <a:t>availability </a:t>
            </a:r>
            <a:r>
              <a:rPr sz="1000" i="1" spc="-5" dirty="0">
                <a:latin typeface="Arial"/>
                <a:cs typeface="Arial"/>
              </a:rPr>
              <a:t>A</a:t>
            </a:r>
            <a:r>
              <a:rPr sz="1000" spc="-5" dirty="0">
                <a:latin typeface="Arial"/>
                <a:cs typeface="Arial"/>
              </a:rPr>
              <a:t>:</a:t>
            </a:r>
            <a:r>
              <a:rPr sz="1000" spc="50" dirty="0">
                <a:latin typeface="Arial"/>
                <a:cs typeface="Arial"/>
              </a:rPr>
              <a:t> </a:t>
            </a:r>
            <a:r>
              <a:rPr sz="1000" i="1" spc="25" dirty="0">
                <a:latin typeface="Arial"/>
                <a:cs typeface="Arial"/>
              </a:rPr>
              <a:t>A</a:t>
            </a:r>
            <a:r>
              <a:rPr sz="1000" spc="25" dirty="0">
                <a:latin typeface="Arial"/>
                <a:cs typeface="Arial"/>
              </a:rPr>
              <a:t>(∞)</a:t>
            </a:r>
            <a:endParaRPr sz="1000">
              <a:latin typeface="Arial"/>
              <a:cs typeface="Arial"/>
            </a:endParaRPr>
          </a:p>
          <a:p>
            <a:pPr marL="358140" indent="-168275">
              <a:lnSpc>
                <a:spcPts val="1060"/>
              </a:lnSpc>
              <a:spcBef>
                <a:spcPts val="465"/>
              </a:spcBef>
              <a:buClr>
                <a:srgbClr val="3333B2"/>
              </a:buClr>
              <a:buChar char="►"/>
              <a:tabLst>
                <a:tab pos="358775" algn="l"/>
                <a:tab pos="1699895" algn="l"/>
                <a:tab pos="2249170" algn="l"/>
              </a:tabLst>
            </a:pPr>
            <a:r>
              <a:rPr sz="1500" spc="-7" baseline="-22222" dirty="0">
                <a:solidFill>
                  <a:srgbClr val="FA0000"/>
                </a:solidFill>
                <a:latin typeface="Arial"/>
                <a:cs typeface="Arial"/>
              </a:rPr>
              <a:t>Note:</a:t>
            </a:r>
            <a:r>
              <a:rPr sz="1500" spc="97" baseline="-22222" dirty="0">
                <a:solidFill>
                  <a:srgbClr val="FA0000"/>
                </a:solidFill>
                <a:latin typeface="Arial"/>
                <a:cs typeface="Arial"/>
              </a:rPr>
              <a:t> </a:t>
            </a:r>
            <a:r>
              <a:rPr sz="1500" i="1" spc="-7" baseline="-22222" dirty="0">
                <a:latin typeface="Arial"/>
                <a:cs typeface="Arial"/>
              </a:rPr>
              <a:t>A</a:t>
            </a:r>
            <a:r>
              <a:rPr sz="1500" i="1" spc="-82" baseline="-22222" dirty="0">
                <a:latin typeface="Arial"/>
                <a:cs typeface="Arial"/>
              </a:rPr>
              <a:t> </a:t>
            </a:r>
            <a:r>
              <a:rPr sz="1500" spc="284" baseline="-22222" dirty="0">
                <a:latin typeface="Arial"/>
                <a:cs typeface="Arial"/>
              </a:rPr>
              <a:t>=</a:t>
            </a:r>
            <a:r>
              <a:rPr sz="1000" spc="100" dirty="0">
                <a:latin typeface="Arial"/>
                <a:cs typeface="Arial"/>
              </a:rPr>
              <a:t> </a:t>
            </a:r>
            <a:r>
              <a:rPr sz="1000" i="1" u="sng" spc="-5" dirty="0">
                <a:uFill>
                  <a:solidFill>
                    <a:srgbClr val="000000"/>
                  </a:solidFill>
                </a:uFill>
                <a:latin typeface="Arial"/>
                <a:cs typeface="Arial"/>
              </a:rPr>
              <a:t>MTTF</a:t>
            </a:r>
            <a:r>
              <a:rPr sz="1000" i="1" spc="95" dirty="0">
                <a:latin typeface="Arial"/>
                <a:cs typeface="Arial"/>
              </a:rPr>
              <a:t> </a:t>
            </a:r>
            <a:r>
              <a:rPr sz="1500" spc="284" baseline="-22222" dirty="0">
                <a:latin typeface="Arial"/>
                <a:cs typeface="Arial"/>
              </a:rPr>
              <a:t>=</a:t>
            </a:r>
            <a:r>
              <a:rPr sz="1000" u="sng" spc="190" dirty="0">
                <a:uFill>
                  <a:solidFill>
                    <a:srgbClr val="000000"/>
                  </a:solidFill>
                </a:uFill>
                <a:latin typeface="Times New Roman"/>
                <a:cs typeface="Times New Roman"/>
              </a:rPr>
              <a:t>	</a:t>
            </a:r>
            <a:r>
              <a:rPr sz="1000" i="1" u="sng" spc="-5" dirty="0">
                <a:uFill>
                  <a:solidFill>
                    <a:srgbClr val="000000"/>
                  </a:solidFill>
                </a:uFill>
                <a:latin typeface="Arial"/>
                <a:cs typeface="Arial"/>
              </a:rPr>
              <a:t>MTTF	</a:t>
            </a:r>
            <a:endParaRPr sz="1000">
              <a:latin typeface="Arial"/>
              <a:cs typeface="Arial"/>
            </a:endParaRPr>
          </a:p>
          <a:p>
            <a:pPr marL="958215">
              <a:lnSpc>
                <a:spcPts val="1060"/>
              </a:lnSpc>
              <a:tabLst>
                <a:tab pos="1487170" algn="l"/>
              </a:tabLst>
            </a:pPr>
            <a:r>
              <a:rPr sz="1000" i="1" spc="-5" dirty="0">
                <a:latin typeface="Arial"/>
                <a:cs typeface="Arial"/>
              </a:rPr>
              <a:t>MTBF	</a:t>
            </a:r>
            <a:r>
              <a:rPr sz="1000" i="1" spc="15" dirty="0">
                <a:latin typeface="Arial"/>
                <a:cs typeface="Arial"/>
              </a:rPr>
              <a:t>MTTF</a:t>
            </a:r>
            <a:r>
              <a:rPr sz="700" spc="15" dirty="0">
                <a:latin typeface="Arial"/>
                <a:cs typeface="Arial"/>
              </a:rPr>
              <a:t>+</a:t>
            </a:r>
            <a:r>
              <a:rPr sz="1000" i="1" spc="15" dirty="0">
                <a:latin typeface="Arial"/>
                <a:cs typeface="Arial"/>
              </a:rPr>
              <a:t>MTTR</a:t>
            </a:r>
            <a:endParaRPr sz="1000">
              <a:latin typeface="Arial"/>
              <a:cs typeface="Arial"/>
            </a:endParaRPr>
          </a:p>
          <a:p>
            <a:pPr>
              <a:lnSpc>
                <a:spcPct val="100000"/>
              </a:lnSpc>
              <a:spcBef>
                <a:spcPts val="40"/>
              </a:spcBef>
            </a:pPr>
            <a:endParaRPr sz="1150">
              <a:latin typeface="Arial"/>
              <a:cs typeface="Arial"/>
            </a:endParaRPr>
          </a:p>
          <a:p>
            <a:pPr marL="80645">
              <a:lnSpc>
                <a:spcPts val="1410"/>
              </a:lnSpc>
            </a:pPr>
            <a:r>
              <a:rPr sz="1200" spc="-5" dirty="0">
                <a:solidFill>
                  <a:srgbClr val="FA0000"/>
                </a:solidFill>
                <a:latin typeface="Arial"/>
                <a:cs typeface="Arial"/>
              </a:rPr>
              <a:t>Observation</a:t>
            </a:r>
            <a:endParaRPr sz="1200">
              <a:latin typeface="Arial"/>
              <a:cs typeface="Arial"/>
            </a:endParaRPr>
          </a:p>
          <a:p>
            <a:pPr marL="80645" marR="122555">
              <a:lnSpc>
                <a:spcPts val="1200"/>
              </a:lnSpc>
              <a:spcBef>
                <a:spcPts val="15"/>
              </a:spcBef>
            </a:pPr>
            <a:r>
              <a:rPr sz="1000" spc="-5" dirty="0">
                <a:solidFill>
                  <a:srgbClr val="0000FA"/>
                </a:solidFill>
                <a:latin typeface="Arial"/>
                <a:cs typeface="Arial"/>
              </a:rPr>
              <a:t>Reliability</a:t>
            </a:r>
            <a:r>
              <a:rPr sz="1000" dirty="0">
                <a:solidFill>
                  <a:srgbClr val="0000FA"/>
                </a:solidFill>
                <a:latin typeface="Arial"/>
                <a:cs typeface="Arial"/>
              </a:rPr>
              <a:t> </a:t>
            </a:r>
            <a:r>
              <a:rPr sz="1000" spc="-5" dirty="0">
                <a:latin typeface="Arial"/>
                <a:cs typeface="Arial"/>
              </a:rPr>
              <a:t>and</a:t>
            </a:r>
            <a:r>
              <a:rPr sz="1000" spc="5" dirty="0">
                <a:latin typeface="Arial"/>
                <a:cs typeface="Arial"/>
              </a:rPr>
              <a:t> </a:t>
            </a:r>
            <a:r>
              <a:rPr sz="1000" spc="-10" dirty="0">
                <a:solidFill>
                  <a:srgbClr val="0000FA"/>
                </a:solidFill>
                <a:latin typeface="Arial"/>
                <a:cs typeface="Arial"/>
              </a:rPr>
              <a:t>availability</a:t>
            </a:r>
            <a:r>
              <a:rPr sz="1000" dirty="0">
                <a:solidFill>
                  <a:srgbClr val="0000FA"/>
                </a:solidFill>
                <a:latin typeface="Arial"/>
                <a:cs typeface="Arial"/>
              </a:rPr>
              <a:t> </a:t>
            </a:r>
            <a:r>
              <a:rPr sz="1000" spc="-10" dirty="0">
                <a:latin typeface="Arial"/>
                <a:cs typeface="Arial"/>
              </a:rPr>
              <a:t>make</a:t>
            </a:r>
            <a:r>
              <a:rPr sz="1000" spc="5" dirty="0">
                <a:latin typeface="Arial"/>
                <a:cs typeface="Arial"/>
              </a:rPr>
              <a:t> </a:t>
            </a:r>
            <a:r>
              <a:rPr sz="1000" spc="-5" dirty="0">
                <a:latin typeface="Arial"/>
                <a:cs typeface="Arial"/>
              </a:rPr>
              <a:t>sense</a:t>
            </a:r>
            <a:r>
              <a:rPr sz="1000" dirty="0">
                <a:latin typeface="Arial"/>
                <a:cs typeface="Arial"/>
              </a:rPr>
              <a:t> </a:t>
            </a:r>
            <a:r>
              <a:rPr sz="1000" spc="-5" dirty="0">
                <a:latin typeface="Arial"/>
                <a:cs typeface="Arial"/>
              </a:rPr>
              <a:t>only</a:t>
            </a:r>
            <a:r>
              <a:rPr sz="1000" spc="5" dirty="0">
                <a:latin typeface="Arial"/>
                <a:cs typeface="Arial"/>
              </a:rPr>
              <a:t> </a:t>
            </a:r>
            <a:r>
              <a:rPr sz="1000" spc="-5" dirty="0">
                <a:latin typeface="Arial"/>
                <a:cs typeface="Arial"/>
              </a:rPr>
              <a:t>if</a:t>
            </a:r>
            <a:r>
              <a:rPr sz="1000" spc="5" dirty="0">
                <a:latin typeface="Arial"/>
                <a:cs typeface="Arial"/>
              </a:rPr>
              <a:t> </a:t>
            </a:r>
            <a:r>
              <a:rPr sz="1000" spc="-10" dirty="0">
                <a:latin typeface="Arial"/>
                <a:cs typeface="Arial"/>
              </a:rPr>
              <a:t>we</a:t>
            </a:r>
            <a:r>
              <a:rPr sz="1000" dirty="0">
                <a:latin typeface="Arial"/>
                <a:cs typeface="Arial"/>
              </a:rPr>
              <a:t> </a:t>
            </a:r>
            <a:r>
              <a:rPr sz="1000" spc="-15" dirty="0">
                <a:latin typeface="Arial"/>
                <a:cs typeface="Arial"/>
              </a:rPr>
              <a:t>have</a:t>
            </a:r>
            <a:r>
              <a:rPr sz="1000" spc="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accurate </a:t>
            </a:r>
            <a:r>
              <a:rPr sz="1000" spc="-260" dirty="0">
                <a:latin typeface="Arial"/>
                <a:cs typeface="Arial"/>
              </a:rPr>
              <a:t> </a:t>
            </a:r>
            <a:r>
              <a:rPr sz="1000" spc="-5" dirty="0">
                <a:latin typeface="Arial"/>
                <a:cs typeface="Arial"/>
              </a:rPr>
              <a:t>notion of what a </a:t>
            </a:r>
            <a:r>
              <a:rPr sz="1000" spc="-10" dirty="0">
                <a:solidFill>
                  <a:srgbClr val="FA0000"/>
                </a:solidFill>
                <a:latin typeface="Arial"/>
                <a:cs typeface="Arial"/>
              </a:rPr>
              <a:t>failure</a:t>
            </a:r>
            <a:r>
              <a:rPr sz="1000" spc="-5" dirty="0">
                <a:solidFill>
                  <a:srgbClr val="FA0000"/>
                </a:solidFill>
                <a:latin typeface="Arial"/>
                <a:cs typeface="Arial"/>
              </a:rPr>
              <a:t> </a:t>
            </a:r>
            <a:r>
              <a:rPr sz="1000" spc="-5" dirty="0">
                <a:latin typeface="Arial"/>
                <a:cs typeface="Arial"/>
              </a:rPr>
              <a:t>actually </a:t>
            </a:r>
            <a:r>
              <a:rPr sz="1000" spc="-10" dirty="0">
                <a:latin typeface="Arial"/>
                <a:cs typeface="Arial"/>
              </a:rPr>
              <a:t>is.</a:t>
            </a:r>
            <a:endParaRPr sz="100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r>
              <a:rPr sz="600" spc="-5" dirty="0">
                <a:solidFill>
                  <a:srgbClr val="262685"/>
                </a:solidFill>
                <a:latin typeface="Arial"/>
                <a:cs typeface="Arial"/>
              </a:rPr>
              <a:t>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05362" y="716"/>
            <a:ext cx="5359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Basic</a:t>
            </a:r>
            <a:r>
              <a:rPr sz="600" spc="-4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concepts</a:t>
            </a:r>
            <a:endParaRPr sz="600">
              <a:latin typeface="Arial"/>
              <a:cs typeface="Arial"/>
            </a:endParaRPr>
          </a:p>
        </p:txBody>
      </p:sp>
      <p:sp>
        <p:nvSpPr>
          <p:cNvPr id="4" name="object 4"/>
          <p:cNvSpPr txBox="1"/>
          <p:nvPr/>
        </p:nvSpPr>
        <p:spPr>
          <a:xfrm>
            <a:off x="95300" y="188846"/>
            <a:ext cx="1010919"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Terminology</a:t>
            </a:r>
            <a:endParaRPr sz="1400">
              <a:latin typeface="Arial"/>
              <a:cs typeface="Arial"/>
            </a:endParaRPr>
          </a:p>
        </p:txBody>
      </p:sp>
      <p:sp>
        <p:nvSpPr>
          <p:cNvPr id="5" name="object 5"/>
          <p:cNvSpPr txBox="1"/>
          <p:nvPr/>
        </p:nvSpPr>
        <p:spPr>
          <a:xfrm>
            <a:off x="347294" y="970125"/>
            <a:ext cx="1243965" cy="207645"/>
          </a:xfrm>
          <a:prstGeom prst="rect">
            <a:avLst/>
          </a:prstGeom>
        </p:spPr>
        <p:txBody>
          <a:bodyPr vert="horz" wrap="square" lIns="0" tIns="12065" rIns="0" bIns="0" rtlCol="0">
            <a:spAutoFit/>
          </a:bodyPr>
          <a:lstStyle/>
          <a:p>
            <a:pPr marL="12700">
              <a:lnSpc>
                <a:spcPct val="100000"/>
              </a:lnSpc>
              <a:spcBef>
                <a:spcPts val="95"/>
              </a:spcBef>
            </a:pPr>
            <a:r>
              <a:rPr sz="1200" spc="-15" dirty="0">
                <a:solidFill>
                  <a:srgbClr val="3333B2"/>
                </a:solidFill>
                <a:latin typeface="Arial"/>
                <a:cs typeface="Arial"/>
              </a:rPr>
              <a:t>Failure,</a:t>
            </a:r>
            <a:r>
              <a:rPr sz="1200" spc="-30" dirty="0">
                <a:solidFill>
                  <a:srgbClr val="3333B2"/>
                </a:solidFill>
                <a:latin typeface="Arial"/>
                <a:cs typeface="Arial"/>
              </a:rPr>
              <a:t> </a:t>
            </a:r>
            <a:r>
              <a:rPr sz="1200" spc="-15" dirty="0">
                <a:solidFill>
                  <a:srgbClr val="3333B2"/>
                </a:solidFill>
                <a:latin typeface="Arial"/>
                <a:cs typeface="Arial"/>
              </a:rPr>
              <a:t>error,</a:t>
            </a:r>
            <a:r>
              <a:rPr sz="1200" spc="-30" dirty="0">
                <a:solidFill>
                  <a:srgbClr val="3333B2"/>
                </a:solidFill>
                <a:latin typeface="Arial"/>
                <a:cs typeface="Arial"/>
              </a:rPr>
              <a:t> </a:t>
            </a:r>
            <a:r>
              <a:rPr sz="1200" spc="-10" dirty="0">
                <a:solidFill>
                  <a:srgbClr val="3333B2"/>
                </a:solidFill>
                <a:latin typeface="Arial"/>
                <a:cs typeface="Arial"/>
              </a:rPr>
              <a:t>fault</a:t>
            </a:r>
            <a:endParaRPr sz="1200">
              <a:latin typeface="Arial"/>
              <a:cs typeface="Arial"/>
            </a:endParaRPr>
          </a:p>
        </p:txBody>
      </p:sp>
      <p:graphicFrame>
        <p:nvGraphicFramePr>
          <p:cNvPr id="6" name="object 6"/>
          <p:cNvGraphicFramePr>
            <a:graphicFrameLocks noGrp="1"/>
          </p:cNvGraphicFramePr>
          <p:nvPr/>
        </p:nvGraphicFramePr>
        <p:xfrm>
          <a:off x="515175" y="1279613"/>
          <a:ext cx="3572509" cy="1064260"/>
        </p:xfrm>
        <a:graphic>
          <a:graphicData uri="http://schemas.openxmlformats.org/drawingml/2006/table">
            <a:tbl>
              <a:tblPr firstRow="1" bandRow="1">
                <a:tableStyleId>{2D5ABB26-0587-4C30-8999-92F81FD0307C}</a:tableStyleId>
              </a:tblPr>
              <a:tblGrid>
                <a:gridCol w="537210">
                  <a:extLst>
                    <a:ext uri="{9D8B030D-6E8A-4147-A177-3AD203B41FA5}">
                      <a16:colId xmlns:a16="http://schemas.microsoft.com/office/drawing/2014/main" val="20000"/>
                    </a:ext>
                  </a:extLst>
                </a:gridCol>
                <a:gridCol w="1711960">
                  <a:extLst>
                    <a:ext uri="{9D8B030D-6E8A-4147-A177-3AD203B41FA5}">
                      <a16:colId xmlns:a16="http://schemas.microsoft.com/office/drawing/2014/main" val="20001"/>
                    </a:ext>
                  </a:extLst>
                </a:gridCol>
                <a:gridCol w="1323339">
                  <a:extLst>
                    <a:ext uri="{9D8B030D-6E8A-4147-A177-3AD203B41FA5}">
                      <a16:colId xmlns:a16="http://schemas.microsoft.com/office/drawing/2014/main" val="20002"/>
                    </a:ext>
                  </a:extLst>
                </a:gridCol>
              </a:tblGrid>
              <a:tr h="193675">
                <a:tc>
                  <a:txBody>
                    <a:bodyPr/>
                    <a:lstStyle/>
                    <a:p>
                      <a:pPr marL="78105">
                        <a:lnSpc>
                          <a:spcPct val="100000"/>
                        </a:lnSpc>
                        <a:spcBef>
                          <a:spcPts val="25"/>
                        </a:spcBef>
                      </a:pPr>
                      <a:r>
                        <a:rPr sz="1000" b="1" spc="-20" dirty="0">
                          <a:latin typeface="Arial"/>
                          <a:cs typeface="Arial"/>
                        </a:rPr>
                        <a:t>Term</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Example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45440">
                <a:tc>
                  <a:txBody>
                    <a:bodyPr/>
                    <a:lstStyle/>
                    <a:p>
                      <a:pPr marL="78105">
                        <a:lnSpc>
                          <a:spcPct val="100000"/>
                        </a:lnSpc>
                        <a:spcBef>
                          <a:spcPts val="75"/>
                        </a:spcBef>
                      </a:pPr>
                      <a:r>
                        <a:rPr sz="1000" spc="-10" dirty="0">
                          <a:solidFill>
                            <a:srgbClr val="FA0000"/>
                          </a:solidFill>
                          <a:latin typeface="Arial"/>
                          <a:cs typeface="Arial"/>
                        </a:rPr>
                        <a:t>Failure</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70485">
                        <a:lnSpc>
                          <a:spcPct val="100000"/>
                        </a:lnSpc>
                        <a:spcBef>
                          <a:spcPts val="75"/>
                        </a:spcBef>
                      </a:pPr>
                      <a:r>
                        <a:rPr sz="1000" spc="-20" dirty="0">
                          <a:latin typeface="Arial"/>
                          <a:cs typeface="Arial"/>
                        </a:rPr>
                        <a:t>A</a:t>
                      </a:r>
                      <a:r>
                        <a:rPr sz="1000" spc="-15" dirty="0">
                          <a:latin typeface="Arial"/>
                          <a:cs typeface="Arial"/>
                        </a:rPr>
                        <a:t> component </a:t>
                      </a:r>
                      <a:r>
                        <a:rPr sz="1000" spc="-10" dirty="0">
                          <a:latin typeface="Arial"/>
                          <a:cs typeface="Arial"/>
                        </a:rPr>
                        <a:t>is </a:t>
                      </a:r>
                      <a:r>
                        <a:rPr sz="1000" spc="-15" dirty="0">
                          <a:latin typeface="Arial"/>
                          <a:cs typeface="Arial"/>
                        </a:rPr>
                        <a:t>not </a:t>
                      </a:r>
                      <a:r>
                        <a:rPr sz="1000" spc="-10" dirty="0">
                          <a:latin typeface="Arial"/>
                          <a:cs typeface="Arial"/>
                        </a:rPr>
                        <a:t>living </a:t>
                      </a:r>
                      <a:r>
                        <a:rPr sz="1000" spc="-20" dirty="0">
                          <a:latin typeface="Arial"/>
                          <a:cs typeface="Arial"/>
                        </a:rPr>
                        <a:t>up </a:t>
                      </a:r>
                      <a:r>
                        <a:rPr sz="1000" spc="-265"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its specifications</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75"/>
                        </a:spcBef>
                      </a:pPr>
                      <a:r>
                        <a:rPr sz="1000" spc="-5" dirty="0">
                          <a:latin typeface="Arial"/>
                          <a:cs typeface="Arial"/>
                        </a:rPr>
                        <a:t>Crashed</a:t>
                      </a:r>
                      <a:r>
                        <a:rPr sz="1000" spc="-50" dirty="0">
                          <a:latin typeface="Arial"/>
                          <a:cs typeface="Arial"/>
                        </a:rPr>
                        <a:t> </a:t>
                      </a:r>
                      <a:r>
                        <a:rPr sz="1000" spc="-5" dirty="0">
                          <a:latin typeface="Arial"/>
                          <a:cs typeface="Arial"/>
                        </a:rPr>
                        <a:t>program</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38455">
                <a:tc>
                  <a:txBody>
                    <a:bodyPr/>
                    <a:lstStyle/>
                    <a:p>
                      <a:pPr marL="78105">
                        <a:lnSpc>
                          <a:spcPct val="100000"/>
                        </a:lnSpc>
                        <a:spcBef>
                          <a:spcPts val="25"/>
                        </a:spcBef>
                      </a:pPr>
                      <a:r>
                        <a:rPr sz="1000" spc="-5" dirty="0">
                          <a:solidFill>
                            <a:srgbClr val="FA0000"/>
                          </a:solidFill>
                          <a:latin typeface="Arial"/>
                          <a:cs typeface="Arial"/>
                        </a:rPr>
                        <a:t>Error</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240029">
                        <a:lnSpc>
                          <a:spcPct val="100000"/>
                        </a:lnSpc>
                        <a:spcBef>
                          <a:spcPts val="25"/>
                        </a:spcBef>
                      </a:pPr>
                      <a:r>
                        <a:rPr sz="1000" spc="-5" dirty="0">
                          <a:latin typeface="Arial"/>
                          <a:cs typeface="Arial"/>
                        </a:rPr>
                        <a:t>Part</a:t>
                      </a:r>
                      <a:r>
                        <a:rPr sz="1000" spc="-20" dirty="0">
                          <a:latin typeface="Arial"/>
                          <a:cs typeface="Arial"/>
                        </a:rPr>
                        <a:t> </a:t>
                      </a:r>
                      <a:r>
                        <a:rPr sz="1000" spc="-5" dirty="0">
                          <a:latin typeface="Arial"/>
                          <a:cs typeface="Arial"/>
                        </a:rPr>
                        <a:t>of</a:t>
                      </a:r>
                      <a:r>
                        <a:rPr sz="1000" spc="-15" dirty="0">
                          <a:latin typeface="Arial"/>
                          <a:cs typeface="Arial"/>
                        </a:rPr>
                        <a:t> </a:t>
                      </a:r>
                      <a:r>
                        <a:rPr sz="1000" spc="-5" dirty="0">
                          <a:latin typeface="Arial"/>
                          <a:cs typeface="Arial"/>
                        </a:rPr>
                        <a:t>a</a:t>
                      </a:r>
                      <a:r>
                        <a:rPr sz="1000" spc="-15" dirty="0">
                          <a:latin typeface="Arial"/>
                          <a:cs typeface="Arial"/>
                        </a:rPr>
                        <a:t> </a:t>
                      </a:r>
                      <a:r>
                        <a:rPr sz="1000" spc="-5" dirty="0">
                          <a:latin typeface="Arial"/>
                          <a:cs typeface="Arial"/>
                        </a:rPr>
                        <a:t>component</a:t>
                      </a:r>
                      <a:r>
                        <a:rPr sz="1000" spc="-15" dirty="0">
                          <a:latin typeface="Arial"/>
                          <a:cs typeface="Arial"/>
                        </a:rPr>
                        <a:t> </a:t>
                      </a:r>
                      <a:r>
                        <a:rPr sz="1000" spc="-5" dirty="0">
                          <a:latin typeface="Arial"/>
                          <a:cs typeface="Arial"/>
                        </a:rPr>
                        <a:t>that </a:t>
                      </a:r>
                      <a:r>
                        <a:rPr sz="1000" spc="-260"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lead</a:t>
                      </a:r>
                      <a:r>
                        <a:rPr sz="1000" spc="-10" dirty="0">
                          <a:latin typeface="Arial"/>
                          <a:cs typeface="Arial"/>
                        </a:rPr>
                        <a:t> </a:t>
                      </a:r>
                      <a:r>
                        <a:rPr sz="1000" spc="-5" dirty="0">
                          <a:latin typeface="Arial"/>
                          <a:cs typeface="Arial"/>
                        </a:rPr>
                        <a:t>to a</a:t>
                      </a:r>
                      <a:r>
                        <a:rPr sz="1000" spc="-10" dirty="0">
                          <a:latin typeface="Arial"/>
                          <a:cs typeface="Arial"/>
                        </a:rPr>
                        <a:t> failure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5" dirty="0">
                          <a:latin typeface="Arial"/>
                          <a:cs typeface="Arial"/>
                        </a:rPr>
                        <a:t>Programming</a:t>
                      </a:r>
                      <a:r>
                        <a:rPr sz="1000" spc="-45" dirty="0">
                          <a:latin typeface="Arial"/>
                          <a:cs typeface="Arial"/>
                        </a:rPr>
                        <a:t> </a:t>
                      </a:r>
                      <a:r>
                        <a:rPr sz="1000" spc="-10" dirty="0">
                          <a:latin typeface="Arial"/>
                          <a:cs typeface="Arial"/>
                        </a:rPr>
                        <a:t>bug</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6690">
                <a:tc>
                  <a:txBody>
                    <a:bodyPr/>
                    <a:lstStyle/>
                    <a:p>
                      <a:pPr marL="78105">
                        <a:lnSpc>
                          <a:spcPct val="100000"/>
                        </a:lnSpc>
                        <a:spcBef>
                          <a:spcPts val="25"/>
                        </a:spcBef>
                      </a:pPr>
                      <a:r>
                        <a:rPr sz="1000" spc="-15" dirty="0">
                          <a:solidFill>
                            <a:srgbClr val="FA0000"/>
                          </a:solidFill>
                          <a:latin typeface="Arial"/>
                          <a:cs typeface="Arial"/>
                        </a:rPr>
                        <a:t>Fault</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5" dirty="0">
                          <a:latin typeface="Arial"/>
                          <a:cs typeface="Arial"/>
                        </a:rPr>
                        <a:t>Cause</a:t>
                      </a:r>
                      <a:r>
                        <a:rPr sz="1000" spc="-20" dirty="0">
                          <a:latin typeface="Arial"/>
                          <a:cs typeface="Arial"/>
                        </a:rPr>
                        <a:t> </a:t>
                      </a:r>
                      <a:r>
                        <a:rPr sz="1000" spc="-5" dirty="0">
                          <a:latin typeface="Arial"/>
                          <a:cs typeface="Arial"/>
                        </a:rPr>
                        <a:t>of</a:t>
                      </a:r>
                      <a:r>
                        <a:rPr sz="1000" spc="-20" dirty="0">
                          <a:latin typeface="Arial"/>
                          <a:cs typeface="Arial"/>
                        </a:rPr>
                        <a:t> </a:t>
                      </a:r>
                      <a:r>
                        <a:rPr sz="1000" spc="-5" dirty="0">
                          <a:latin typeface="Arial"/>
                          <a:cs typeface="Arial"/>
                        </a:rPr>
                        <a:t>an</a:t>
                      </a:r>
                      <a:r>
                        <a:rPr sz="1000" spc="-20" dirty="0">
                          <a:latin typeface="Arial"/>
                          <a:cs typeface="Arial"/>
                        </a:rPr>
                        <a:t> </a:t>
                      </a:r>
                      <a:r>
                        <a:rPr sz="1000" spc="-5" dirty="0">
                          <a:latin typeface="Arial"/>
                          <a:cs typeface="Arial"/>
                        </a:rPr>
                        <a:t>error</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10" dirty="0">
                          <a:latin typeface="Arial"/>
                          <a:cs typeface="Arial"/>
                        </a:rPr>
                        <a:t>Sloppy</a:t>
                      </a:r>
                      <a:r>
                        <a:rPr sz="1000" spc="-40" dirty="0">
                          <a:latin typeface="Arial"/>
                          <a:cs typeface="Arial"/>
                        </a:rPr>
                        <a:t> </a:t>
                      </a:r>
                      <a:r>
                        <a:rPr sz="1000" spc="-5" dirty="0">
                          <a:latin typeface="Arial"/>
                          <a:cs typeface="Arial"/>
                        </a:rPr>
                        <a:t>programmer</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r>
              <a:rPr sz="600" spc="-5" dirty="0">
                <a:solidFill>
                  <a:srgbClr val="262685"/>
                </a:solidFill>
                <a:latin typeface="Arial"/>
                <a:cs typeface="Arial"/>
              </a:rPr>
              <a:t>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05362" y="716"/>
            <a:ext cx="5359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Basic</a:t>
            </a:r>
            <a:r>
              <a:rPr sz="600" spc="-4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concepts</a:t>
            </a:r>
            <a:endParaRPr sz="600">
              <a:latin typeface="Arial"/>
              <a:cs typeface="Arial"/>
            </a:endParaRPr>
          </a:p>
        </p:txBody>
      </p:sp>
      <p:sp>
        <p:nvSpPr>
          <p:cNvPr id="4" name="object 4"/>
          <p:cNvSpPr txBox="1"/>
          <p:nvPr/>
        </p:nvSpPr>
        <p:spPr>
          <a:xfrm>
            <a:off x="95300" y="162640"/>
            <a:ext cx="1277620" cy="474345"/>
          </a:xfrm>
          <a:prstGeom prst="rect">
            <a:avLst/>
          </a:prstGeom>
        </p:spPr>
        <p:txBody>
          <a:bodyPr vert="horz" wrap="square" lIns="0" tIns="43180" rIns="0" bIns="0" rtlCol="0">
            <a:spAutoFit/>
          </a:bodyPr>
          <a:lstStyle/>
          <a:p>
            <a:pPr marL="12700">
              <a:lnSpc>
                <a:spcPct val="100000"/>
              </a:lnSpc>
              <a:spcBef>
                <a:spcPts val="340"/>
              </a:spcBef>
            </a:pPr>
            <a:r>
              <a:rPr sz="1400" dirty="0">
                <a:solidFill>
                  <a:srgbClr val="3333B2"/>
                </a:solidFill>
                <a:latin typeface="Arial"/>
                <a:cs typeface="Arial"/>
              </a:rPr>
              <a:t>Terminology</a:t>
            </a:r>
            <a:endParaRPr sz="1400">
              <a:latin typeface="Arial"/>
              <a:cs typeface="Arial"/>
            </a:endParaRPr>
          </a:p>
          <a:p>
            <a:pPr marL="264160">
              <a:lnSpc>
                <a:spcPct val="100000"/>
              </a:lnSpc>
              <a:spcBef>
                <a:spcPts val="175"/>
              </a:spcBef>
            </a:pPr>
            <a:r>
              <a:rPr sz="1200" spc="-5" dirty="0">
                <a:solidFill>
                  <a:srgbClr val="3333B2"/>
                </a:solidFill>
                <a:latin typeface="Arial"/>
                <a:cs typeface="Arial"/>
              </a:rPr>
              <a:t>Handling</a:t>
            </a:r>
            <a:r>
              <a:rPr sz="1200" spc="-60" dirty="0">
                <a:solidFill>
                  <a:srgbClr val="3333B2"/>
                </a:solidFill>
                <a:latin typeface="Arial"/>
                <a:cs typeface="Arial"/>
              </a:rPr>
              <a:t> </a:t>
            </a:r>
            <a:r>
              <a:rPr sz="1200" spc="-10" dirty="0">
                <a:solidFill>
                  <a:srgbClr val="3333B2"/>
                </a:solidFill>
                <a:latin typeface="Arial"/>
                <a:cs typeface="Arial"/>
              </a:rPr>
              <a:t>faults</a:t>
            </a:r>
            <a:endParaRPr sz="1200">
              <a:latin typeface="Arial"/>
              <a:cs typeface="Arial"/>
            </a:endParaRPr>
          </a:p>
        </p:txBody>
      </p:sp>
      <p:graphicFrame>
        <p:nvGraphicFramePr>
          <p:cNvPr id="5" name="object 5"/>
          <p:cNvGraphicFramePr>
            <a:graphicFrameLocks noGrp="1"/>
          </p:cNvGraphicFramePr>
          <p:nvPr/>
        </p:nvGraphicFramePr>
        <p:xfrm>
          <a:off x="510933" y="750277"/>
          <a:ext cx="3581398" cy="2466975"/>
        </p:xfrm>
        <a:graphic>
          <a:graphicData uri="http://schemas.openxmlformats.org/drawingml/2006/table">
            <a:tbl>
              <a:tblPr firstRow="1" bandRow="1">
                <a:tableStyleId>{2D5ABB26-0587-4C30-8999-92F81FD0307C}</a:tableStyleId>
              </a:tblPr>
              <a:tblGrid>
                <a:gridCol w="934719">
                  <a:extLst>
                    <a:ext uri="{9D8B030D-6E8A-4147-A177-3AD203B41FA5}">
                      <a16:colId xmlns:a16="http://schemas.microsoft.com/office/drawing/2014/main" val="20000"/>
                    </a:ext>
                  </a:extLst>
                </a:gridCol>
                <a:gridCol w="1323340">
                  <a:extLst>
                    <a:ext uri="{9D8B030D-6E8A-4147-A177-3AD203B41FA5}">
                      <a16:colId xmlns:a16="http://schemas.microsoft.com/office/drawing/2014/main" val="20001"/>
                    </a:ext>
                  </a:extLst>
                </a:gridCol>
                <a:gridCol w="1323339">
                  <a:extLst>
                    <a:ext uri="{9D8B030D-6E8A-4147-A177-3AD203B41FA5}">
                      <a16:colId xmlns:a16="http://schemas.microsoft.com/office/drawing/2014/main" val="20002"/>
                    </a:ext>
                  </a:extLst>
                </a:gridCol>
              </a:tblGrid>
              <a:tr h="193675">
                <a:tc>
                  <a:txBody>
                    <a:bodyPr/>
                    <a:lstStyle/>
                    <a:p>
                      <a:pPr marL="78105">
                        <a:lnSpc>
                          <a:spcPct val="100000"/>
                        </a:lnSpc>
                        <a:spcBef>
                          <a:spcPts val="25"/>
                        </a:spcBef>
                      </a:pPr>
                      <a:r>
                        <a:rPr sz="1000" b="1" spc="-20" dirty="0">
                          <a:latin typeface="Arial"/>
                          <a:cs typeface="Arial"/>
                        </a:rPr>
                        <a:t>Term</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Example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345440">
                <a:tc>
                  <a:txBody>
                    <a:bodyPr/>
                    <a:lstStyle/>
                    <a:p>
                      <a:pPr marL="78105" marR="264160">
                        <a:lnSpc>
                          <a:spcPct val="100000"/>
                        </a:lnSpc>
                        <a:spcBef>
                          <a:spcPts val="75"/>
                        </a:spcBef>
                      </a:pPr>
                      <a:r>
                        <a:rPr sz="1000" spc="-15" dirty="0">
                          <a:solidFill>
                            <a:srgbClr val="FA0000"/>
                          </a:solidFill>
                          <a:latin typeface="Arial"/>
                          <a:cs typeface="Arial"/>
                        </a:rPr>
                        <a:t>Fault </a:t>
                      </a:r>
                      <a:r>
                        <a:rPr sz="1000" spc="-10" dirty="0">
                          <a:solidFill>
                            <a:srgbClr val="FA0000"/>
                          </a:solidFill>
                          <a:latin typeface="Arial"/>
                          <a:cs typeface="Arial"/>
                        </a:rPr>
                        <a:t> </a:t>
                      </a:r>
                      <a:r>
                        <a:rPr sz="1000" dirty="0">
                          <a:solidFill>
                            <a:srgbClr val="FA0000"/>
                          </a:solidFill>
                          <a:latin typeface="Arial"/>
                          <a:cs typeface="Arial"/>
                        </a:rPr>
                        <a:t>pr</a:t>
                      </a:r>
                      <a:r>
                        <a:rPr sz="1000" spc="-30" dirty="0">
                          <a:solidFill>
                            <a:srgbClr val="FA0000"/>
                          </a:solidFill>
                          <a:latin typeface="Arial"/>
                          <a:cs typeface="Arial"/>
                        </a:rPr>
                        <a:t>e</a:t>
                      </a:r>
                      <a:r>
                        <a:rPr sz="1000" spc="-25" dirty="0">
                          <a:solidFill>
                            <a:srgbClr val="FA0000"/>
                          </a:solidFill>
                          <a:latin typeface="Arial"/>
                          <a:cs typeface="Arial"/>
                        </a:rPr>
                        <a:t>v</a:t>
                      </a:r>
                      <a:r>
                        <a:rPr sz="1000" dirty="0">
                          <a:solidFill>
                            <a:srgbClr val="FA0000"/>
                          </a:solidFill>
                          <a:latin typeface="Arial"/>
                          <a:cs typeface="Arial"/>
                        </a:rPr>
                        <a:t>ention</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94615">
                        <a:lnSpc>
                          <a:spcPct val="100000"/>
                        </a:lnSpc>
                        <a:spcBef>
                          <a:spcPts val="75"/>
                        </a:spcBef>
                      </a:pPr>
                      <a:r>
                        <a:rPr sz="1000" spc="-10" dirty="0">
                          <a:latin typeface="Arial"/>
                          <a:cs typeface="Arial"/>
                        </a:rPr>
                        <a:t>Prevent </a:t>
                      </a:r>
                      <a:r>
                        <a:rPr sz="1000" spc="-5" dirty="0">
                          <a:latin typeface="Arial"/>
                          <a:cs typeface="Arial"/>
                        </a:rPr>
                        <a:t>the </a:t>
                      </a:r>
                      <a:r>
                        <a:rPr sz="1000" dirty="0">
                          <a:latin typeface="Arial"/>
                          <a:cs typeface="Arial"/>
                        </a:rPr>
                        <a:t> </a:t>
                      </a:r>
                      <a:r>
                        <a:rPr sz="1000" spc="-5" dirty="0">
                          <a:latin typeface="Arial"/>
                          <a:cs typeface="Arial"/>
                        </a:rPr>
                        <a:t>occurrence</a:t>
                      </a:r>
                      <a:r>
                        <a:rPr sz="1000" spc="-20" dirty="0">
                          <a:latin typeface="Arial"/>
                          <a:cs typeface="Arial"/>
                        </a:rPr>
                        <a:t> </a:t>
                      </a:r>
                      <a:r>
                        <a:rPr sz="1000" spc="-5" dirty="0">
                          <a:latin typeface="Arial"/>
                          <a:cs typeface="Arial"/>
                        </a:rPr>
                        <a:t>of</a:t>
                      </a:r>
                      <a:r>
                        <a:rPr sz="1000" spc="-25" dirty="0">
                          <a:latin typeface="Arial"/>
                          <a:cs typeface="Arial"/>
                        </a:rPr>
                        <a:t> </a:t>
                      </a:r>
                      <a:r>
                        <a:rPr sz="1000" spc="-5" dirty="0">
                          <a:latin typeface="Arial"/>
                          <a:cs typeface="Arial"/>
                        </a:rPr>
                        <a:t>a</a:t>
                      </a:r>
                      <a:r>
                        <a:rPr sz="1000" spc="-20" dirty="0">
                          <a:latin typeface="Arial"/>
                          <a:cs typeface="Arial"/>
                        </a:rPr>
                        <a:t> </a:t>
                      </a:r>
                      <a:r>
                        <a:rPr sz="1000" spc="-10" dirty="0">
                          <a:latin typeface="Arial"/>
                          <a:cs typeface="Arial"/>
                        </a:rPr>
                        <a:t>fault</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marR="298450">
                        <a:lnSpc>
                          <a:spcPct val="100000"/>
                        </a:lnSpc>
                        <a:spcBef>
                          <a:spcPts val="75"/>
                        </a:spcBef>
                      </a:pPr>
                      <a:r>
                        <a:rPr sz="1000" spc="-5" dirty="0">
                          <a:latin typeface="Arial"/>
                          <a:cs typeface="Arial"/>
                        </a:rPr>
                        <a:t>Don’t</a:t>
                      </a:r>
                      <a:r>
                        <a:rPr sz="1000" spc="-35" dirty="0">
                          <a:latin typeface="Arial"/>
                          <a:cs typeface="Arial"/>
                        </a:rPr>
                        <a:t> </a:t>
                      </a:r>
                      <a:r>
                        <a:rPr sz="1000" spc="-5" dirty="0">
                          <a:latin typeface="Arial"/>
                          <a:cs typeface="Arial"/>
                        </a:rPr>
                        <a:t>hire</a:t>
                      </a:r>
                      <a:r>
                        <a:rPr sz="1000" spc="-30" dirty="0">
                          <a:latin typeface="Arial"/>
                          <a:cs typeface="Arial"/>
                        </a:rPr>
                        <a:t> </a:t>
                      </a:r>
                      <a:r>
                        <a:rPr sz="1000" spc="-10" dirty="0">
                          <a:latin typeface="Arial"/>
                          <a:cs typeface="Arial"/>
                        </a:rPr>
                        <a:t>sloppy </a:t>
                      </a:r>
                      <a:r>
                        <a:rPr sz="1000" spc="-260" dirty="0">
                          <a:latin typeface="Arial"/>
                          <a:cs typeface="Arial"/>
                        </a:rPr>
                        <a:t> </a:t>
                      </a:r>
                      <a:r>
                        <a:rPr sz="1000" spc="-5" dirty="0">
                          <a:latin typeface="Arial"/>
                          <a:cs typeface="Arial"/>
                        </a:rPr>
                        <a:t>programmers</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642620">
                <a:tc>
                  <a:txBody>
                    <a:bodyPr/>
                    <a:lstStyle/>
                    <a:p>
                      <a:pPr marL="78105" marR="328930">
                        <a:lnSpc>
                          <a:spcPct val="100000"/>
                        </a:lnSpc>
                        <a:spcBef>
                          <a:spcPts val="25"/>
                        </a:spcBef>
                      </a:pPr>
                      <a:r>
                        <a:rPr sz="1000" spc="-15" dirty="0">
                          <a:solidFill>
                            <a:srgbClr val="FA0000"/>
                          </a:solidFill>
                          <a:latin typeface="Arial"/>
                          <a:cs typeface="Arial"/>
                        </a:rPr>
                        <a:t>Fault </a:t>
                      </a:r>
                      <a:r>
                        <a:rPr sz="1000" spc="-10" dirty="0">
                          <a:solidFill>
                            <a:srgbClr val="FA0000"/>
                          </a:solidFill>
                          <a:latin typeface="Arial"/>
                          <a:cs typeface="Arial"/>
                        </a:rPr>
                        <a:t> </a:t>
                      </a:r>
                      <a:r>
                        <a:rPr sz="1000" dirty="0">
                          <a:solidFill>
                            <a:srgbClr val="FA0000"/>
                          </a:solidFill>
                          <a:latin typeface="Arial"/>
                          <a:cs typeface="Arial"/>
                        </a:rPr>
                        <a:t>tole</a:t>
                      </a:r>
                      <a:r>
                        <a:rPr sz="1000" spc="-10" dirty="0">
                          <a:solidFill>
                            <a:srgbClr val="FA0000"/>
                          </a:solidFill>
                          <a:latin typeface="Arial"/>
                          <a:cs typeface="Arial"/>
                        </a:rPr>
                        <a:t>r</a:t>
                      </a:r>
                      <a:r>
                        <a:rPr sz="1000" dirty="0">
                          <a:solidFill>
                            <a:srgbClr val="FA0000"/>
                          </a:solidFill>
                          <a:latin typeface="Arial"/>
                          <a:cs typeface="Arial"/>
                        </a:rPr>
                        <a:t>ance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67310">
                        <a:lnSpc>
                          <a:spcPct val="100000"/>
                        </a:lnSpc>
                        <a:spcBef>
                          <a:spcPts val="25"/>
                        </a:spcBef>
                      </a:pPr>
                      <a:r>
                        <a:rPr sz="1000" spc="-5" dirty="0">
                          <a:latin typeface="Arial"/>
                          <a:cs typeface="Arial"/>
                        </a:rPr>
                        <a:t>Build a component </a:t>
                      </a:r>
                      <a:r>
                        <a:rPr sz="1000" dirty="0">
                          <a:latin typeface="Arial"/>
                          <a:cs typeface="Arial"/>
                        </a:rPr>
                        <a:t> </a:t>
                      </a:r>
                      <a:r>
                        <a:rPr sz="1000" spc="-15" dirty="0">
                          <a:latin typeface="Arial"/>
                          <a:cs typeface="Arial"/>
                        </a:rPr>
                        <a:t>such</a:t>
                      </a:r>
                      <a:r>
                        <a:rPr sz="1000" spc="-20" dirty="0">
                          <a:latin typeface="Arial"/>
                          <a:cs typeface="Arial"/>
                        </a:rPr>
                        <a:t> </a:t>
                      </a:r>
                      <a:r>
                        <a:rPr sz="1000" spc="-10" dirty="0">
                          <a:latin typeface="Arial"/>
                          <a:cs typeface="Arial"/>
                        </a:rPr>
                        <a:t>that</a:t>
                      </a:r>
                      <a:r>
                        <a:rPr sz="1000" spc="-20" dirty="0">
                          <a:latin typeface="Arial"/>
                          <a:cs typeface="Arial"/>
                        </a:rPr>
                        <a:t> </a:t>
                      </a:r>
                      <a:r>
                        <a:rPr sz="1000" spc="-10" dirty="0">
                          <a:latin typeface="Arial"/>
                          <a:cs typeface="Arial"/>
                        </a:rPr>
                        <a:t>it</a:t>
                      </a:r>
                      <a:r>
                        <a:rPr sz="1000" spc="-20" dirty="0">
                          <a:latin typeface="Arial"/>
                          <a:cs typeface="Arial"/>
                        </a:rPr>
                        <a:t> </a:t>
                      </a:r>
                      <a:r>
                        <a:rPr sz="1000" spc="-15" dirty="0">
                          <a:latin typeface="Arial"/>
                          <a:cs typeface="Arial"/>
                        </a:rPr>
                        <a:t>can mask </a:t>
                      </a:r>
                      <a:r>
                        <a:rPr sz="1000" spc="-265" dirty="0">
                          <a:latin typeface="Arial"/>
                          <a:cs typeface="Arial"/>
                        </a:rPr>
                        <a:t> </a:t>
                      </a:r>
                      <a:r>
                        <a:rPr sz="1000" spc="-5" dirty="0">
                          <a:latin typeface="Arial"/>
                          <a:cs typeface="Arial"/>
                        </a:rPr>
                        <a:t>the occurrence of a </a:t>
                      </a:r>
                      <a:r>
                        <a:rPr sz="1000" dirty="0">
                          <a:latin typeface="Arial"/>
                          <a:cs typeface="Arial"/>
                        </a:rPr>
                        <a:t> </a:t>
                      </a:r>
                      <a:r>
                        <a:rPr sz="1000" spc="-10" dirty="0">
                          <a:latin typeface="Arial"/>
                          <a:cs typeface="Arial"/>
                        </a:rPr>
                        <a:t>fault</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213995">
                        <a:lnSpc>
                          <a:spcPct val="100000"/>
                        </a:lnSpc>
                        <a:spcBef>
                          <a:spcPts val="25"/>
                        </a:spcBef>
                      </a:pPr>
                      <a:r>
                        <a:rPr sz="1000" spc="-5" dirty="0">
                          <a:latin typeface="Arial"/>
                          <a:cs typeface="Arial"/>
                        </a:rPr>
                        <a:t>Build each </a:t>
                      </a:r>
                      <a:r>
                        <a:rPr sz="1000" dirty="0">
                          <a:latin typeface="Arial"/>
                          <a:cs typeface="Arial"/>
                        </a:rPr>
                        <a:t> </a:t>
                      </a:r>
                      <a:r>
                        <a:rPr sz="1000" spc="-5" dirty="0">
                          <a:latin typeface="Arial"/>
                          <a:cs typeface="Arial"/>
                        </a:rPr>
                        <a:t>component</a:t>
                      </a:r>
                      <a:r>
                        <a:rPr sz="1000" spc="-35" dirty="0">
                          <a:latin typeface="Arial"/>
                          <a:cs typeface="Arial"/>
                        </a:rPr>
                        <a:t> </a:t>
                      </a:r>
                      <a:r>
                        <a:rPr sz="1000" spc="-15" dirty="0">
                          <a:latin typeface="Arial"/>
                          <a:cs typeface="Arial"/>
                        </a:rPr>
                        <a:t>by</a:t>
                      </a:r>
                      <a:r>
                        <a:rPr sz="1000" spc="-30" dirty="0">
                          <a:latin typeface="Arial"/>
                          <a:cs typeface="Arial"/>
                        </a:rPr>
                        <a:t> </a:t>
                      </a:r>
                      <a:r>
                        <a:rPr sz="1000" spc="-10" dirty="0">
                          <a:latin typeface="Arial"/>
                          <a:cs typeface="Arial"/>
                        </a:rPr>
                        <a:t>two </a:t>
                      </a:r>
                      <a:r>
                        <a:rPr sz="1000" spc="-265" dirty="0">
                          <a:latin typeface="Arial"/>
                          <a:cs typeface="Arial"/>
                        </a:rPr>
                        <a:t> </a:t>
                      </a:r>
                      <a:r>
                        <a:rPr sz="1000" spc="-5" dirty="0">
                          <a:latin typeface="Arial"/>
                          <a:cs typeface="Arial"/>
                        </a:rPr>
                        <a:t>independent </a:t>
                      </a:r>
                      <a:r>
                        <a:rPr sz="1000" dirty="0">
                          <a:latin typeface="Arial"/>
                          <a:cs typeface="Arial"/>
                        </a:rPr>
                        <a:t> </a:t>
                      </a:r>
                      <a:r>
                        <a:rPr sz="1000" spc="-5" dirty="0">
                          <a:latin typeface="Arial"/>
                          <a:cs typeface="Arial"/>
                        </a:rPr>
                        <a:t>programmers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90855">
                <a:tc>
                  <a:txBody>
                    <a:bodyPr/>
                    <a:lstStyle/>
                    <a:p>
                      <a:pPr marL="78105">
                        <a:lnSpc>
                          <a:spcPct val="100000"/>
                        </a:lnSpc>
                        <a:spcBef>
                          <a:spcPts val="25"/>
                        </a:spcBef>
                      </a:pPr>
                      <a:r>
                        <a:rPr sz="1000" spc="-15" dirty="0">
                          <a:solidFill>
                            <a:srgbClr val="FA0000"/>
                          </a:solidFill>
                          <a:latin typeface="Arial"/>
                          <a:cs typeface="Arial"/>
                        </a:rPr>
                        <a:t>Fault</a:t>
                      </a:r>
                      <a:r>
                        <a:rPr sz="1000" spc="-40" dirty="0">
                          <a:solidFill>
                            <a:srgbClr val="FA0000"/>
                          </a:solidFill>
                          <a:latin typeface="Arial"/>
                          <a:cs typeface="Arial"/>
                        </a:rPr>
                        <a:t> </a:t>
                      </a:r>
                      <a:r>
                        <a:rPr sz="1000" spc="-10" dirty="0">
                          <a:solidFill>
                            <a:srgbClr val="FA0000"/>
                          </a:solidFill>
                          <a:latin typeface="Arial"/>
                          <a:cs typeface="Arial"/>
                        </a:rPr>
                        <a:t>removal</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68580">
                        <a:lnSpc>
                          <a:spcPct val="100000"/>
                        </a:lnSpc>
                        <a:spcBef>
                          <a:spcPts val="25"/>
                        </a:spcBef>
                      </a:pPr>
                      <a:r>
                        <a:rPr sz="1000" spc="-5" dirty="0">
                          <a:latin typeface="Arial"/>
                          <a:cs typeface="Arial"/>
                        </a:rPr>
                        <a:t>Reduce the </a:t>
                      </a:r>
                      <a:r>
                        <a:rPr sz="1000" dirty="0">
                          <a:latin typeface="Arial"/>
                          <a:cs typeface="Arial"/>
                        </a:rPr>
                        <a:t> </a:t>
                      </a:r>
                      <a:r>
                        <a:rPr sz="1000" spc="-15" dirty="0">
                          <a:latin typeface="Arial"/>
                          <a:cs typeface="Arial"/>
                        </a:rPr>
                        <a:t>presence,</a:t>
                      </a:r>
                      <a:r>
                        <a:rPr sz="1000" spc="-35" dirty="0">
                          <a:latin typeface="Arial"/>
                          <a:cs typeface="Arial"/>
                        </a:rPr>
                        <a:t> </a:t>
                      </a:r>
                      <a:r>
                        <a:rPr sz="1000" spc="-25" dirty="0">
                          <a:latin typeface="Arial"/>
                          <a:cs typeface="Arial"/>
                        </a:rPr>
                        <a:t>number,</a:t>
                      </a:r>
                      <a:r>
                        <a:rPr sz="1000" spc="-35" dirty="0">
                          <a:latin typeface="Arial"/>
                          <a:cs typeface="Arial"/>
                        </a:rPr>
                        <a:t> </a:t>
                      </a:r>
                      <a:r>
                        <a:rPr sz="1000" spc="-15" dirty="0">
                          <a:latin typeface="Arial"/>
                          <a:cs typeface="Arial"/>
                        </a:rPr>
                        <a:t>or </a:t>
                      </a:r>
                      <a:r>
                        <a:rPr sz="1000" spc="-260" dirty="0">
                          <a:latin typeface="Arial"/>
                          <a:cs typeface="Arial"/>
                        </a:rPr>
                        <a:t> </a:t>
                      </a:r>
                      <a:r>
                        <a:rPr sz="1000" spc="-15" dirty="0">
                          <a:latin typeface="Arial"/>
                          <a:cs typeface="Arial"/>
                        </a:rPr>
                        <a:t>seriousness</a:t>
                      </a:r>
                      <a:r>
                        <a:rPr sz="1000" spc="-30" dirty="0">
                          <a:latin typeface="Arial"/>
                          <a:cs typeface="Arial"/>
                        </a:rPr>
                        <a:t> </a:t>
                      </a:r>
                      <a:r>
                        <a:rPr sz="1000" spc="-10" dirty="0">
                          <a:latin typeface="Arial"/>
                          <a:cs typeface="Arial"/>
                        </a:rPr>
                        <a:t>of</a:t>
                      </a:r>
                      <a:r>
                        <a:rPr sz="1000" spc="-30" dirty="0">
                          <a:latin typeface="Arial"/>
                          <a:cs typeface="Arial"/>
                        </a:rPr>
                        <a:t> </a:t>
                      </a:r>
                      <a:r>
                        <a:rPr sz="1000" spc="-15" dirty="0">
                          <a:latin typeface="Arial"/>
                          <a:cs typeface="Arial"/>
                        </a:rPr>
                        <a:t>a</a:t>
                      </a:r>
                      <a:r>
                        <a:rPr sz="1000" spc="-25" dirty="0">
                          <a:latin typeface="Arial"/>
                          <a:cs typeface="Arial"/>
                        </a:rPr>
                        <a:t> </a:t>
                      </a:r>
                      <a:r>
                        <a:rPr sz="1000" spc="-20" dirty="0">
                          <a:latin typeface="Arial"/>
                          <a:cs typeface="Arial"/>
                        </a:rPr>
                        <a:t>fault</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317500">
                        <a:lnSpc>
                          <a:spcPct val="100000"/>
                        </a:lnSpc>
                        <a:spcBef>
                          <a:spcPts val="25"/>
                        </a:spcBef>
                      </a:pPr>
                      <a:r>
                        <a:rPr sz="1000" spc="-5" dirty="0">
                          <a:latin typeface="Arial"/>
                          <a:cs typeface="Arial"/>
                        </a:rPr>
                        <a:t>Get</a:t>
                      </a:r>
                      <a:r>
                        <a:rPr sz="1000" spc="-25" dirty="0">
                          <a:latin typeface="Arial"/>
                          <a:cs typeface="Arial"/>
                        </a:rPr>
                        <a:t> </a:t>
                      </a:r>
                      <a:r>
                        <a:rPr sz="1000" dirty="0">
                          <a:latin typeface="Arial"/>
                          <a:cs typeface="Arial"/>
                        </a:rPr>
                        <a:t>rid</a:t>
                      </a:r>
                      <a:r>
                        <a:rPr sz="1000" spc="-25" dirty="0">
                          <a:latin typeface="Arial"/>
                          <a:cs typeface="Arial"/>
                        </a:rPr>
                        <a:t> </a:t>
                      </a:r>
                      <a:r>
                        <a:rPr sz="1000" spc="-5" dirty="0">
                          <a:latin typeface="Arial"/>
                          <a:cs typeface="Arial"/>
                        </a:rPr>
                        <a:t>of</a:t>
                      </a:r>
                      <a:r>
                        <a:rPr sz="1000" spc="-25" dirty="0">
                          <a:latin typeface="Arial"/>
                          <a:cs typeface="Arial"/>
                        </a:rPr>
                        <a:t> </a:t>
                      </a:r>
                      <a:r>
                        <a:rPr sz="1000" spc="-10" dirty="0">
                          <a:latin typeface="Arial"/>
                          <a:cs typeface="Arial"/>
                        </a:rPr>
                        <a:t>sloppy </a:t>
                      </a:r>
                      <a:r>
                        <a:rPr sz="1000" spc="-265" dirty="0">
                          <a:latin typeface="Arial"/>
                          <a:cs typeface="Arial"/>
                        </a:rPr>
                        <a:t> </a:t>
                      </a:r>
                      <a:r>
                        <a:rPr sz="1000" spc="-5" dirty="0">
                          <a:latin typeface="Arial"/>
                          <a:cs typeface="Arial"/>
                        </a:rPr>
                        <a:t>programmers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794385">
                <a:tc>
                  <a:txBody>
                    <a:bodyPr/>
                    <a:lstStyle/>
                    <a:p>
                      <a:pPr marL="78105" marR="233045">
                        <a:lnSpc>
                          <a:spcPct val="100000"/>
                        </a:lnSpc>
                        <a:spcBef>
                          <a:spcPts val="25"/>
                        </a:spcBef>
                      </a:pPr>
                      <a:r>
                        <a:rPr sz="1000" spc="-15" dirty="0">
                          <a:solidFill>
                            <a:srgbClr val="FA0000"/>
                          </a:solidFill>
                          <a:latin typeface="Arial"/>
                          <a:cs typeface="Arial"/>
                        </a:rPr>
                        <a:t>Fault </a:t>
                      </a:r>
                      <a:r>
                        <a:rPr sz="1000" spc="-10" dirty="0">
                          <a:solidFill>
                            <a:srgbClr val="FA0000"/>
                          </a:solidFill>
                          <a:latin typeface="Arial"/>
                          <a:cs typeface="Arial"/>
                        </a:rPr>
                        <a:t> </a:t>
                      </a:r>
                      <a:r>
                        <a:rPr sz="1000" spc="-30" dirty="0">
                          <a:solidFill>
                            <a:srgbClr val="FA0000"/>
                          </a:solidFill>
                          <a:latin typeface="Arial"/>
                          <a:cs typeface="Arial"/>
                        </a:rPr>
                        <a:t>f</a:t>
                      </a:r>
                      <a:r>
                        <a:rPr sz="1000" dirty="0">
                          <a:solidFill>
                            <a:srgbClr val="FA0000"/>
                          </a:solidFill>
                          <a:latin typeface="Arial"/>
                          <a:cs typeface="Arial"/>
                        </a:rPr>
                        <a:t>orecasting</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280670">
                        <a:lnSpc>
                          <a:spcPct val="100000"/>
                        </a:lnSpc>
                        <a:spcBef>
                          <a:spcPts val="25"/>
                        </a:spcBef>
                      </a:pPr>
                      <a:r>
                        <a:rPr sz="1000" spc="-5" dirty="0">
                          <a:latin typeface="Arial"/>
                          <a:cs typeface="Arial"/>
                        </a:rPr>
                        <a:t>Estimate current </a:t>
                      </a:r>
                      <a:r>
                        <a:rPr sz="1000" spc="-265" dirty="0">
                          <a:latin typeface="Arial"/>
                          <a:cs typeface="Arial"/>
                        </a:rPr>
                        <a:t> </a:t>
                      </a:r>
                      <a:r>
                        <a:rPr sz="1000" spc="-5" dirty="0">
                          <a:latin typeface="Arial"/>
                          <a:cs typeface="Arial"/>
                        </a:rPr>
                        <a:t>presence, future </a:t>
                      </a:r>
                      <a:r>
                        <a:rPr sz="1000" dirty="0">
                          <a:latin typeface="Arial"/>
                          <a:cs typeface="Arial"/>
                        </a:rPr>
                        <a:t> </a:t>
                      </a:r>
                      <a:r>
                        <a:rPr sz="1000" spc="-5" dirty="0">
                          <a:latin typeface="Arial"/>
                          <a:cs typeface="Arial"/>
                        </a:rPr>
                        <a:t>incidence, and </a:t>
                      </a:r>
                      <a:r>
                        <a:rPr sz="1000" dirty="0">
                          <a:latin typeface="Arial"/>
                          <a:cs typeface="Arial"/>
                        </a:rPr>
                        <a:t> </a:t>
                      </a:r>
                      <a:r>
                        <a:rPr sz="1000" spc="-5" dirty="0">
                          <a:latin typeface="Arial"/>
                          <a:cs typeface="Arial"/>
                        </a:rPr>
                        <a:t>consequences</a:t>
                      </a:r>
                      <a:r>
                        <a:rPr sz="1000" spc="-65" dirty="0">
                          <a:latin typeface="Arial"/>
                          <a:cs typeface="Arial"/>
                        </a:rPr>
                        <a:t> </a:t>
                      </a:r>
                      <a:r>
                        <a:rPr sz="1000" spc="-5" dirty="0">
                          <a:latin typeface="Arial"/>
                          <a:cs typeface="Arial"/>
                        </a:rPr>
                        <a:t>of </a:t>
                      </a:r>
                      <a:r>
                        <a:rPr sz="1000" spc="-265" dirty="0">
                          <a:latin typeface="Arial"/>
                          <a:cs typeface="Arial"/>
                        </a:rPr>
                        <a:t> </a:t>
                      </a:r>
                      <a:r>
                        <a:rPr sz="1000" spc="-10" dirty="0">
                          <a:latin typeface="Arial"/>
                          <a:cs typeface="Arial"/>
                        </a:rPr>
                        <a:t>faults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3660" marR="292100" indent="4445">
                        <a:lnSpc>
                          <a:spcPct val="100000"/>
                        </a:lnSpc>
                        <a:spcBef>
                          <a:spcPts val="25"/>
                        </a:spcBef>
                      </a:pPr>
                      <a:r>
                        <a:rPr sz="1000" spc="-5" dirty="0">
                          <a:latin typeface="Arial"/>
                          <a:cs typeface="Arial"/>
                        </a:rPr>
                        <a:t>Estimate </a:t>
                      </a:r>
                      <a:r>
                        <a:rPr sz="1000" spc="-10" dirty="0">
                          <a:latin typeface="Arial"/>
                          <a:cs typeface="Arial"/>
                        </a:rPr>
                        <a:t>how </a:t>
                      </a:r>
                      <a:r>
                        <a:rPr sz="1000" spc="-5" dirty="0">
                          <a:latin typeface="Arial"/>
                          <a:cs typeface="Arial"/>
                        </a:rPr>
                        <a:t>a </a:t>
                      </a:r>
                      <a:r>
                        <a:rPr sz="1000" dirty="0">
                          <a:latin typeface="Arial"/>
                          <a:cs typeface="Arial"/>
                        </a:rPr>
                        <a:t> </a:t>
                      </a:r>
                      <a:r>
                        <a:rPr sz="1000" spc="-5" dirty="0">
                          <a:latin typeface="Arial"/>
                          <a:cs typeface="Arial"/>
                        </a:rPr>
                        <a:t>recruiter is doing </a:t>
                      </a:r>
                      <a:r>
                        <a:rPr sz="1000" spc="-265" dirty="0">
                          <a:latin typeface="Arial"/>
                          <a:cs typeface="Arial"/>
                        </a:rPr>
                        <a:t> </a:t>
                      </a:r>
                      <a:r>
                        <a:rPr sz="1000" spc="-5" dirty="0">
                          <a:latin typeface="Arial"/>
                          <a:cs typeface="Arial"/>
                        </a:rPr>
                        <a:t>when</a:t>
                      </a:r>
                      <a:r>
                        <a:rPr sz="1000" spc="-25" dirty="0">
                          <a:latin typeface="Arial"/>
                          <a:cs typeface="Arial"/>
                        </a:rPr>
                        <a:t> </a:t>
                      </a:r>
                      <a:r>
                        <a:rPr sz="1000" spc="-5" dirty="0">
                          <a:latin typeface="Arial"/>
                          <a:cs typeface="Arial"/>
                        </a:rPr>
                        <a:t>it</a:t>
                      </a:r>
                      <a:r>
                        <a:rPr sz="1000" spc="-25" dirty="0">
                          <a:latin typeface="Arial"/>
                          <a:cs typeface="Arial"/>
                        </a:rPr>
                        <a:t> </a:t>
                      </a:r>
                      <a:r>
                        <a:rPr sz="1000" spc="-5" dirty="0">
                          <a:latin typeface="Arial"/>
                          <a:cs typeface="Arial"/>
                        </a:rPr>
                        <a:t>comes</a:t>
                      </a:r>
                      <a:r>
                        <a:rPr sz="1000" spc="-25" dirty="0">
                          <a:latin typeface="Arial"/>
                          <a:cs typeface="Arial"/>
                        </a:rPr>
                        <a:t> </a:t>
                      </a:r>
                      <a:r>
                        <a:rPr sz="1000" spc="-5" dirty="0">
                          <a:latin typeface="Arial"/>
                          <a:cs typeface="Arial"/>
                        </a:rPr>
                        <a:t>to </a:t>
                      </a:r>
                      <a:r>
                        <a:rPr sz="1000" spc="-265" dirty="0">
                          <a:latin typeface="Arial"/>
                          <a:cs typeface="Arial"/>
                        </a:rPr>
                        <a:t> </a:t>
                      </a:r>
                      <a:r>
                        <a:rPr sz="1000" dirty="0">
                          <a:latin typeface="Arial"/>
                          <a:cs typeface="Arial"/>
                        </a:rPr>
                        <a:t>hiring </a:t>
                      </a:r>
                      <a:r>
                        <a:rPr sz="1000" spc="-10" dirty="0">
                          <a:latin typeface="Arial"/>
                          <a:cs typeface="Arial"/>
                        </a:rPr>
                        <a:t>sloppy </a:t>
                      </a:r>
                      <a:r>
                        <a:rPr sz="1000" spc="-5" dirty="0">
                          <a:latin typeface="Arial"/>
                          <a:cs typeface="Arial"/>
                        </a:rPr>
                        <a:t> programmers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r>
              <a:rPr sz="600" spc="-5" dirty="0">
                <a:solidFill>
                  <a:srgbClr val="262685"/>
                </a:solidFill>
                <a:latin typeface="Arial"/>
                <a:cs typeface="Arial"/>
              </a:rPr>
              <a:t>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21911" y="716"/>
            <a:ext cx="519430" cy="116839"/>
          </a:xfrm>
          <a:prstGeom prst="rect">
            <a:avLst/>
          </a:prstGeom>
        </p:spPr>
        <p:txBody>
          <a:bodyPr vert="horz" wrap="square" lIns="0" tIns="12065" rIns="0" bIns="0" rtlCol="0">
            <a:spAutoFit/>
          </a:bodyPr>
          <a:lstStyle/>
          <a:p>
            <a:pPr marL="12700">
              <a:lnSpc>
                <a:spcPct val="100000"/>
              </a:lnSpc>
              <a:spcBef>
                <a:spcPts val="95"/>
              </a:spcBef>
            </a:pPr>
            <a:r>
              <a:rPr sz="600" spc="-35" dirty="0">
                <a:solidFill>
                  <a:srgbClr val="262685"/>
                </a:solidFill>
                <a:latin typeface="Arial"/>
                <a:cs typeface="Arial"/>
                <a:hlinkClick r:id="rId4" action="ppaction://hlinksldjump"/>
              </a:rPr>
              <a:t>F</a:t>
            </a:r>
            <a:r>
              <a:rPr sz="600" spc="-5" dirty="0">
                <a:solidFill>
                  <a:srgbClr val="262685"/>
                </a:solidFill>
                <a:latin typeface="Arial"/>
                <a:cs typeface="Arial"/>
                <a:hlinkClick r:id="rId4" action="ppaction://hlinksldjump"/>
              </a:rPr>
              <a:t>ailure models</a:t>
            </a:r>
            <a:endParaRPr sz="600">
              <a:latin typeface="Arial"/>
              <a:cs typeface="Arial"/>
            </a:endParaRPr>
          </a:p>
        </p:txBody>
      </p:sp>
      <p:sp>
        <p:nvSpPr>
          <p:cNvPr id="4" name="object 4"/>
          <p:cNvSpPr txBox="1"/>
          <p:nvPr/>
        </p:nvSpPr>
        <p:spPr>
          <a:xfrm>
            <a:off x="95300" y="121020"/>
            <a:ext cx="1363980" cy="551180"/>
          </a:xfrm>
          <a:prstGeom prst="rect">
            <a:avLst/>
          </a:prstGeom>
        </p:spPr>
        <p:txBody>
          <a:bodyPr vert="horz" wrap="square" lIns="0" tIns="84455" rIns="0" bIns="0" rtlCol="0">
            <a:spAutoFit/>
          </a:bodyPr>
          <a:lstStyle/>
          <a:p>
            <a:pPr marL="12700">
              <a:lnSpc>
                <a:spcPct val="100000"/>
              </a:lnSpc>
              <a:spcBef>
                <a:spcPts val="665"/>
              </a:spcBef>
            </a:pPr>
            <a:r>
              <a:rPr sz="1400" dirty="0">
                <a:solidFill>
                  <a:srgbClr val="3333B2"/>
                </a:solidFill>
                <a:latin typeface="Arial"/>
                <a:cs typeface="Arial"/>
              </a:rPr>
              <a:t>Failure</a:t>
            </a:r>
            <a:r>
              <a:rPr sz="1400" spc="-20" dirty="0">
                <a:solidFill>
                  <a:srgbClr val="3333B2"/>
                </a:solidFill>
                <a:latin typeface="Arial"/>
                <a:cs typeface="Arial"/>
              </a:rPr>
              <a:t> </a:t>
            </a:r>
            <a:r>
              <a:rPr sz="1400" spc="15" dirty="0">
                <a:solidFill>
                  <a:srgbClr val="3333B2"/>
                </a:solidFill>
                <a:latin typeface="Arial"/>
                <a:cs typeface="Arial"/>
              </a:rPr>
              <a:t>models</a:t>
            </a:r>
            <a:endParaRPr sz="1400">
              <a:latin typeface="Arial"/>
              <a:cs typeface="Arial"/>
            </a:endParaRPr>
          </a:p>
          <a:p>
            <a:pPr marL="259715">
              <a:lnSpc>
                <a:spcPct val="100000"/>
              </a:lnSpc>
              <a:spcBef>
                <a:spcPts val="450"/>
              </a:spcBef>
            </a:pPr>
            <a:r>
              <a:rPr sz="1200" spc="-35" dirty="0">
                <a:solidFill>
                  <a:srgbClr val="3333B2"/>
                </a:solidFill>
                <a:latin typeface="Arial"/>
                <a:cs typeface="Arial"/>
              </a:rPr>
              <a:t>Types</a:t>
            </a:r>
            <a:r>
              <a:rPr sz="1200" spc="-30" dirty="0">
                <a:solidFill>
                  <a:srgbClr val="3333B2"/>
                </a:solidFill>
                <a:latin typeface="Arial"/>
                <a:cs typeface="Arial"/>
              </a:rPr>
              <a:t> </a:t>
            </a:r>
            <a:r>
              <a:rPr sz="1200" spc="-5" dirty="0">
                <a:solidFill>
                  <a:srgbClr val="3333B2"/>
                </a:solidFill>
                <a:latin typeface="Arial"/>
                <a:cs typeface="Arial"/>
              </a:rPr>
              <a:t>of</a:t>
            </a:r>
            <a:r>
              <a:rPr sz="1200" spc="-25" dirty="0">
                <a:solidFill>
                  <a:srgbClr val="3333B2"/>
                </a:solidFill>
                <a:latin typeface="Arial"/>
                <a:cs typeface="Arial"/>
              </a:rPr>
              <a:t> </a:t>
            </a:r>
            <a:r>
              <a:rPr sz="1200" spc="-10" dirty="0">
                <a:solidFill>
                  <a:srgbClr val="3333B2"/>
                </a:solidFill>
                <a:latin typeface="Arial"/>
                <a:cs typeface="Arial"/>
              </a:rPr>
              <a:t>failures</a:t>
            </a:r>
            <a:endParaRPr sz="1200">
              <a:latin typeface="Arial"/>
              <a:cs typeface="Arial"/>
            </a:endParaRPr>
          </a:p>
        </p:txBody>
      </p:sp>
      <p:graphicFrame>
        <p:nvGraphicFramePr>
          <p:cNvPr id="5" name="object 5"/>
          <p:cNvGraphicFramePr>
            <a:graphicFrameLocks noGrp="1"/>
          </p:cNvGraphicFramePr>
          <p:nvPr/>
        </p:nvGraphicFramePr>
        <p:xfrm>
          <a:off x="360006" y="935494"/>
          <a:ext cx="4023995" cy="2167890"/>
        </p:xfrm>
        <a:graphic>
          <a:graphicData uri="http://schemas.openxmlformats.org/drawingml/2006/table">
            <a:tbl>
              <a:tblPr firstRow="1" bandRow="1">
                <a:tableStyleId>{2D5ABB26-0587-4C30-8999-92F81FD0307C}</a:tableStyleId>
              </a:tblPr>
              <a:tblGrid>
                <a:gridCol w="1534160">
                  <a:extLst>
                    <a:ext uri="{9D8B030D-6E8A-4147-A177-3AD203B41FA5}">
                      <a16:colId xmlns:a16="http://schemas.microsoft.com/office/drawing/2014/main" val="20000"/>
                    </a:ext>
                  </a:extLst>
                </a:gridCol>
                <a:gridCol w="2489835">
                  <a:extLst>
                    <a:ext uri="{9D8B030D-6E8A-4147-A177-3AD203B41FA5}">
                      <a16:colId xmlns:a16="http://schemas.microsoft.com/office/drawing/2014/main" val="20001"/>
                    </a:ext>
                  </a:extLst>
                </a:gridCol>
              </a:tblGrid>
              <a:tr h="193675">
                <a:tc>
                  <a:txBody>
                    <a:bodyPr/>
                    <a:lstStyle/>
                    <a:p>
                      <a:pPr marL="78105">
                        <a:lnSpc>
                          <a:spcPct val="100000"/>
                        </a:lnSpc>
                        <a:spcBef>
                          <a:spcPts val="25"/>
                        </a:spcBef>
                      </a:pPr>
                      <a:r>
                        <a:rPr sz="1000" b="1" spc="-20" dirty="0">
                          <a:latin typeface="Arial"/>
                          <a:cs typeface="Arial"/>
                        </a:rPr>
                        <a:t>Type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r>
                        <a:rPr sz="1000" b="1" spc="-15" dirty="0">
                          <a:latin typeface="Arial"/>
                          <a:cs typeface="Arial"/>
                        </a:rPr>
                        <a:t> </a:t>
                      </a:r>
                      <a:r>
                        <a:rPr sz="1000" b="1" spc="-5" dirty="0">
                          <a:latin typeface="Arial"/>
                          <a:cs typeface="Arial"/>
                        </a:rPr>
                        <a:t>of</a:t>
                      </a:r>
                      <a:r>
                        <a:rPr sz="1000" b="1" spc="-15" dirty="0">
                          <a:latin typeface="Arial"/>
                          <a:cs typeface="Arial"/>
                        </a:rPr>
                        <a:t> </a:t>
                      </a:r>
                      <a:r>
                        <a:rPr sz="1000" b="1" spc="-10" dirty="0">
                          <a:latin typeface="Arial"/>
                          <a:cs typeface="Arial"/>
                        </a:rPr>
                        <a:t>server’s </a:t>
                      </a:r>
                      <a:r>
                        <a:rPr sz="1000" b="1" spc="-5" dirty="0">
                          <a:latin typeface="Arial"/>
                          <a:cs typeface="Arial"/>
                        </a:rPr>
                        <a:t>behavior</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93675">
                <a:tc>
                  <a:txBody>
                    <a:bodyPr/>
                    <a:lstStyle/>
                    <a:p>
                      <a:pPr marL="78105">
                        <a:lnSpc>
                          <a:spcPct val="100000"/>
                        </a:lnSpc>
                        <a:spcBef>
                          <a:spcPts val="75"/>
                        </a:spcBef>
                      </a:pPr>
                      <a:r>
                        <a:rPr sz="1000" spc="-5" dirty="0">
                          <a:solidFill>
                            <a:srgbClr val="FA0000"/>
                          </a:solidFill>
                          <a:latin typeface="Arial"/>
                          <a:cs typeface="Arial"/>
                        </a:rPr>
                        <a:t>Crash</a:t>
                      </a:r>
                      <a:r>
                        <a:rPr sz="1000" spc="-35" dirty="0">
                          <a:solidFill>
                            <a:srgbClr val="FA0000"/>
                          </a:solidFill>
                          <a:latin typeface="Arial"/>
                          <a:cs typeface="Arial"/>
                        </a:rPr>
                        <a:t> </a:t>
                      </a:r>
                      <a:r>
                        <a:rPr sz="1000" spc="-10" dirty="0">
                          <a:solidFill>
                            <a:srgbClr val="FA0000"/>
                          </a:solidFill>
                          <a:latin typeface="Arial"/>
                          <a:cs typeface="Arial"/>
                        </a:rPr>
                        <a:t>failure</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75"/>
                        </a:spcBef>
                      </a:pPr>
                      <a:r>
                        <a:rPr sz="1000" spc="-5" dirty="0">
                          <a:latin typeface="Arial"/>
                          <a:cs typeface="Arial"/>
                        </a:rPr>
                        <a:t>Halts, </a:t>
                      </a:r>
                      <a:r>
                        <a:rPr sz="1000" spc="-10" dirty="0">
                          <a:latin typeface="Arial"/>
                          <a:cs typeface="Arial"/>
                        </a:rPr>
                        <a:t>but</a:t>
                      </a:r>
                      <a:r>
                        <a:rPr sz="1000" spc="-5" dirty="0">
                          <a:latin typeface="Arial"/>
                          <a:cs typeface="Arial"/>
                        </a:rPr>
                        <a:t> is working</a:t>
                      </a:r>
                      <a:r>
                        <a:rPr sz="1000" dirty="0">
                          <a:latin typeface="Arial"/>
                          <a:cs typeface="Arial"/>
                        </a:rPr>
                        <a:t> </a:t>
                      </a:r>
                      <a:r>
                        <a:rPr sz="1000" spc="-5" dirty="0">
                          <a:latin typeface="Arial"/>
                          <a:cs typeface="Arial"/>
                        </a:rPr>
                        <a:t>correctly until it halts</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51180">
                <a:tc>
                  <a:txBody>
                    <a:bodyPr/>
                    <a:lstStyle/>
                    <a:p>
                      <a:pPr marL="78105">
                        <a:lnSpc>
                          <a:spcPct val="100000"/>
                        </a:lnSpc>
                        <a:spcBef>
                          <a:spcPts val="25"/>
                        </a:spcBef>
                      </a:pPr>
                      <a:r>
                        <a:rPr sz="1000" spc="-5" dirty="0">
                          <a:solidFill>
                            <a:srgbClr val="FA0000"/>
                          </a:solidFill>
                          <a:latin typeface="Arial"/>
                          <a:cs typeface="Arial"/>
                        </a:rPr>
                        <a:t>Omission</a:t>
                      </a:r>
                      <a:r>
                        <a:rPr sz="1000" spc="-30" dirty="0">
                          <a:solidFill>
                            <a:srgbClr val="FA0000"/>
                          </a:solidFill>
                          <a:latin typeface="Arial"/>
                          <a:cs typeface="Arial"/>
                        </a:rPr>
                        <a:t> </a:t>
                      </a:r>
                      <a:r>
                        <a:rPr sz="1000" spc="-10" dirty="0">
                          <a:solidFill>
                            <a:srgbClr val="FA0000"/>
                          </a:solidFill>
                          <a:latin typeface="Arial"/>
                          <a:cs typeface="Arial"/>
                        </a:rPr>
                        <a:t>failure</a:t>
                      </a:r>
                      <a:endParaRPr sz="1000">
                        <a:latin typeface="Arial"/>
                        <a:cs typeface="Arial"/>
                      </a:endParaRPr>
                    </a:p>
                    <a:p>
                      <a:pPr marL="229870" marR="307975">
                        <a:lnSpc>
                          <a:spcPct val="119600"/>
                        </a:lnSpc>
                      </a:pPr>
                      <a:r>
                        <a:rPr sz="1000" i="1" spc="-10" dirty="0">
                          <a:latin typeface="Arial"/>
                          <a:cs typeface="Arial"/>
                        </a:rPr>
                        <a:t>Receive</a:t>
                      </a:r>
                      <a:r>
                        <a:rPr sz="1000" i="1" spc="-50" dirty="0">
                          <a:latin typeface="Arial"/>
                          <a:cs typeface="Arial"/>
                        </a:rPr>
                        <a:t> </a:t>
                      </a:r>
                      <a:r>
                        <a:rPr sz="1000" i="1" spc="-5" dirty="0">
                          <a:latin typeface="Arial"/>
                          <a:cs typeface="Arial"/>
                        </a:rPr>
                        <a:t>omission </a:t>
                      </a:r>
                      <a:r>
                        <a:rPr sz="1000" i="1" spc="-260" dirty="0">
                          <a:latin typeface="Arial"/>
                          <a:cs typeface="Arial"/>
                        </a:rPr>
                        <a:t> </a:t>
                      </a:r>
                      <a:r>
                        <a:rPr sz="1000" i="1" spc="-5" dirty="0">
                          <a:latin typeface="Arial"/>
                          <a:cs typeface="Arial"/>
                        </a:rPr>
                        <a:t>Send</a:t>
                      </a:r>
                      <a:r>
                        <a:rPr sz="1000" i="1" spc="-20" dirty="0">
                          <a:latin typeface="Arial"/>
                          <a:cs typeface="Arial"/>
                        </a:rPr>
                        <a:t> </a:t>
                      </a:r>
                      <a:r>
                        <a:rPr sz="1000" i="1" spc="-5" dirty="0">
                          <a:latin typeface="Arial"/>
                          <a:cs typeface="Arial"/>
                        </a:rPr>
                        <a:t>omission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15" dirty="0">
                          <a:latin typeface="Arial"/>
                          <a:cs typeface="Arial"/>
                        </a:rPr>
                        <a:t>Fails</a:t>
                      </a:r>
                      <a:r>
                        <a:rPr sz="1000" spc="-5" dirty="0">
                          <a:latin typeface="Arial"/>
                          <a:cs typeface="Arial"/>
                        </a:rPr>
                        <a:t> to respond to incoming requests</a:t>
                      </a:r>
                      <a:endParaRPr sz="1000">
                        <a:latin typeface="Arial"/>
                        <a:cs typeface="Arial"/>
                      </a:endParaRPr>
                    </a:p>
                    <a:p>
                      <a:pPr marL="78105" marR="408940">
                        <a:lnSpc>
                          <a:spcPct val="119600"/>
                        </a:lnSpc>
                      </a:pPr>
                      <a:r>
                        <a:rPr sz="1000" spc="-15" dirty="0">
                          <a:latin typeface="Arial"/>
                          <a:cs typeface="Arial"/>
                        </a:rPr>
                        <a:t>Fails</a:t>
                      </a:r>
                      <a:r>
                        <a:rPr sz="1000" spc="-5" dirty="0">
                          <a:latin typeface="Arial"/>
                          <a:cs typeface="Arial"/>
                        </a:rPr>
                        <a:t> to </a:t>
                      </a:r>
                      <a:r>
                        <a:rPr sz="1000" spc="-10" dirty="0">
                          <a:latin typeface="Arial"/>
                          <a:cs typeface="Arial"/>
                        </a:rPr>
                        <a:t>receive</a:t>
                      </a:r>
                      <a:r>
                        <a:rPr sz="1000" spc="-5" dirty="0">
                          <a:latin typeface="Arial"/>
                          <a:cs typeface="Arial"/>
                        </a:rPr>
                        <a:t> incoming messages </a:t>
                      </a:r>
                      <a:r>
                        <a:rPr sz="1000" spc="-265" dirty="0">
                          <a:latin typeface="Arial"/>
                          <a:cs typeface="Arial"/>
                        </a:rPr>
                        <a:t> </a:t>
                      </a:r>
                      <a:r>
                        <a:rPr sz="1000" spc="-15" dirty="0">
                          <a:latin typeface="Arial"/>
                          <a:cs typeface="Arial"/>
                        </a:rPr>
                        <a:t>Fails</a:t>
                      </a:r>
                      <a:r>
                        <a:rPr sz="1000" spc="-10" dirty="0">
                          <a:latin typeface="Arial"/>
                          <a:cs typeface="Arial"/>
                        </a:rPr>
                        <a:t> </a:t>
                      </a:r>
                      <a:r>
                        <a:rPr sz="1000" spc="-5" dirty="0">
                          <a:latin typeface="Arial"/>
                          <a:cs typeface="Arial"/>
                        </a:rPr>
                        <a:t>to send</a:t>
                      </a:r>
                      <a:r>
                        <a:rPr sz="1000" spc="-10" dirty="0">
                          <a:latin typeface="Arial"/>
                          <a:cs typeface="Arial"/>
                        </a:rPr>
                        <a:t> </a:t>
                      </a:r>
                      <a:r>
                        <a:rPr sz="1000" spc="-5" dirty="0">
                          <a:latin typeface="Arial"/>
                          <a:cs typeface="Arial"/>
                        </a:rPr>
                        <a:t>messages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39090">
                <a:tc>
                  <a:txBody>
                    <a:bodyPr/>
                    <a:lstStyle/>
                    <a:p>
                      <a:pPr marL="78105">
                        <a:lnSpc>
                          <a:spcPct val="100000"/>
                        </a:lnSpc>
                        <a:spcBef>
                          <a:spcPts val="25"/>
                        </a:spcBef>
                      </a:pPr>
                      <a:r>
                        <a:rPr sz="1000" spc="-5" dirty="0">
                          <a:solidFill>
                            <a:srgbClr val="FA0000"/>
                          </a:solidFill>
                          <a:latin typeface="Arial"/>
                          <a:cs typeface="Arial"/>
                        </a:rPr>
                        <a:t>Timing</a:t>
                      </a:r>
                      <a:r>
                        <a:rPr sz="1000" spc="-30" dirty="0">
                          <a:solidFill>
                            <a:srgbClr val="FA0000"/>
                          </a:solidFill>
                          <a:latin typeface="Arial"/>
                          <a:cs typeface="Arial"/>
                        </a:rPr>
                        <a:t> </a:t>
                      </a:r>
                      <a:r>
                        <a:rPr sz="1000" spc="-10" dirty="0">
                          <a:solidFill>
                            <a:srgbClr val="FA0000"/>
                          </a:solidFill>
                          <a:latin typeface="Arial"/>
                          <a:cs typeface="Arial"/>
                        </a:rPr>
                        <a:t>failure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49530">
                        <a:lnSpc>
                          <a:spcPct val="100000"/>
                        </a:lnSpc>
                        <a:spcBef>
                          <a:spcPts val="25"/>
                        </a:spcBef>
                      </a:pPr>
                      <a:r>
                        <a:rPr sz="1000" dirty="0">
                          <a:latin typeface="Arial"/>
                          <a:cs typeface="Arial"/>
                        </a:rPr>
                        <a:t>Response</a:t>
                      </a:r>
                      <a:r>
                        <a:rPr sz="1000" spc="5" dirty="0">
                          <a:latin typeface="Arial"/>
                          <a:cs typeface="Arial"/>
                        </a:rPr>
                        <a:t> </a:t>
                      </a:r>
                      <a:r>
                        <a:rPr sz="1000" dirty="0">
                          <a:latin typeface="Arial"/>
                          <a:cs typeface="Arial"/>
                        </a:rPr>
                        <a:t>lies</a:t>
                      </a:r>
                      <a:r>
                        <a:rPr sz="1000" spc="5" dirty="0">
                          <a:latin typeface="Arial"/>
                          <a:cs typeface="Arial"/>
                        </a:rPr>
                        <a:t> </a:t>
                      </a:r>
                      <a:r>
                        <a:rPr sz="1000" dirty="0">
                          <a:latin typeface="Arial"/>
                          <a:cs typeface="Arial"/>
                        </a:rPr>
                        <a:t>outside</a:t>
                      </a:r>
                      <a:r>
                        <a:rPr sz="1000" spc="5" dirty="0">
                          <a:latin typeface="Arial"/>
                          <a:cs typeface="Arial"/>
                        </a:rPr>
                        <a:t> </a:t>
                      </a:r>
                      <a:r>
                        <a:rPr sz="1000" dirty="0">
                          <a:latin typeface="Arial"/>
                          <a:cs typeface="Arial"/>
                        </a:rPr>
                        <a:t>a specified</a:t>
                      </a:r>
                      <a:r>
                        <a:rPr sz="1000" spc="5" dirty="0">
                          <a:latin typeface="Arial"/>
                          <a:cs typeface="Arial"/>
                        </a:rPr>
                        <a:t> </a:t>
                      </a:r>
                      <a:r>
                        <a:rPr sz="1000" dirty="0">
                          <a:latin typeface="Arial"/>
                          <a:cs typeface="Arial"/>
                        </a:rPr>
                        <a:t>time</a:t>
                      </a:r>
                      <a:r>
                        <a:rPr sz="1000" spc="5" dirty="0">
                          <a:latin typeface="Arial"/>
                          <a:cs typeface="Arial"/>
                        </a:rPr>
                        <a:t> </a:t>
                      </a:r>
                      <a:r>
                        <a:rPr sz="1000" dirty="0">
                          <a:latin typeface="Arial"/>
                          <a:cs typeface="Arial"/>
                        </a:rPr>
                        <a:t>in- </a:t>
                      </a:r>
                      <a:r>
                        <a:rPr sz="1000" spc="-260" dirty="0">
                          <a:latin typeface="Arial"/>
                          <a:cs typeface="Arial"/>
                        </a:rPr>
                        <a:t> </a:t>
                      </a:r>
                      <a:r>
                        <a:rPr sz="1000" spc="-5" dirty="0">
                          <a:latin typeface="Arial"/>
                          <a:cs typeface="Arial"/>
                        </a:rPr>
                        <a:t>terval</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551180">
                <a:tc>
                  <a:txBody>
                    <a:bodyPr/>
                    <a:lstStyle/>
                    <a:p>
                      <a:pPr marR="424180" algn="ctr">
                        <a:lnSpc>
                          <a:spcPct val="100000"/>
                        </a:lnSpc>
                        <a:spcBef>
                          <a:spcPts val="25"/>
                        </a:spcBef>
                      </a:pPr>
                      <a:r>
                        <a:rPr sz="1000" spc="-5" dirty="0">
                          <a:solidFill>
                            <a:srgbClr val="FA0000"/>
                          </a:solidFill>
                          <a:latin typeface="Arial"/>
                          <a:cs typeface="Arial"/>
                        </a:rPr>
                        <a:t>Response</a:t>
                      </a:r>
                      <a:r>
                        <a:rPr sz="1000" spc="-30" dirty="0">
                          <a:solidFill>
                            <a:srgbClr val="FA0000"/>
                          </a:solidFill>
                          <a:latin typeface="Arial"/>
                          <a:cs typeface="Arial"/>
                        </a:rPr>
                        <a:t> </a:t>
                      </a:r>
                      <a:r>
                        <a:rPr sz="1000" spc="-10" dirty="0">
                          <a:solidFill>
                            <a:srgbClr val="FA0000"/>
                          </a:solidFill>
                          <a:latin typeface="Arial"/>
                          <a:cs typeface="Arial"/>
                        </a:rPr>
                        <a:t>failure</a:t>
                      </a:r>
                      <a:endParaRPr sz="1000">
                        <a:latin typeface="Arial"/>
                        <a:cs typeface="Arial"/>
                      </a:endParaRPr>
                    </a:p>
                    <a:p>
                      <a:pPr marR="375285" algn="ctr">
                        <a:lnSpc>
                          <a:spcPct val="100000"/>
                        </a:lnSpc>
                        <a:spcBef>
                          <a:spcPts val="229"/>
                        </a:spcBef>
                      </a:pPr>
                      <a:r>
                        <a:rPr sz="1000" i="1" spc="-20" dirty="0">
                          <a:latin typeface="Arial"/>
                          <a:cs typeface="Arial"/>
                        </a:rPr>
                        <a:t>Value</a:t>
                      </a:r>
                      <a:r>
                        <a:rPr sz="1000" i="1" spc="-30" dirty="0">
                          <a:latin typeface="Arial"/>
                          <a:cs typeface="Arial"/>
                        </a:rPr>
                        <a:t> </a:t>
                      </a:r>
                      <a:r>
                        <a:rPr sz="1000" i="1" spc="-10" dirty="0">
                          <a:latin typeface="Arial"/>
                          <a:cs typeface="Arial"/>
                        </a:rPr>
                        <a:t>failure</a:t>
                      </a:r>
                      <a:endParaRPr sz="1000">
                        <a:latin typeface="Arial"/>
                        <a:cs typeface="Arial"/>
                      </a:endParaRPr>
                    </a:p>
                    <a:p>
                      <a:pPr marL="151765" algn="ctr">
                        <a:lnSpc>
                          <a:spcPct val="100000"/>
                        </a:lnSpc>
                        <a:spcBef>
                          <a:spcPts val="235"/>
                        </a:spcBef>
                      </a:pPr>
                      <a:r>
                        <a:rPr sz="1000" i="1" spc="-5" dirty="0">
                          <a:latin typeface="Arial"/>
                          <a:cs typeface="Arial"/>
                        </a:rPr>
                        <a:t>State-transition</a:t>
                      </a:r>
                      <a:r>
                        <a:rPr sz="1000" i="1" spc="-20" dirty="0">
                          <a:latin typeface="Arial"/>
                          <a:cs typeface="Arial"/>
                        </a:rPr>
                        <a:t> </a:t>
                      </a:r>
                      <a:r>
                        <a:rPr sz="1000" i="1" spc="-10" dirty="0">
                          <a:latin typeface="Arial"/>
                          <a:cs typeface="Arial"/>
                        </a:rPr>
                        <a:t>failure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5" dirty="0">
                          <a:latin typeface="Arial"/>
                          <a:cs typeface="Arial"/>
                        </a:rPr>
                        <a:t>Response</a:t>
                      </a:r>
                      <a:r>
                        <a:rPr sz="1000" spc="-20" dirty="0">
                          <a:latin typeface="Arial"/>
                          <a:cs typeface="Arial"/>
                        </a:rPr>
                        <a:t> </a:t>
                      </a:r>
                      <a:r>
                        <a:rPr sz="1000" spc="-5" dirty="0">
                          <a:latin typeface="Arial"/>
                          <a:cs typeface="Arial"/>
                        </a:rPr>
                        <a:t>is</a:t>
                      </a:r>
                      <a:r>
                        <a:rPr sz="1000" spc="-20" dirty="0">
                          <a:latin typeface="Arial"/>
                          <a:cs typeface="Arial"/>
                        </a:rPr>
                        <a:t> </a:t>
                      </a:r>
                      <a:r>
                        <a:rPr sz="1000" spc="-5" dirty="0">
                          <a:latin typeface="Arial"/>
                          <a:cs typeface="Arial"/>
                        </a:rPr>
                        <a:t>incorrect</a:t>
                      </a:r>
                      <a:endParaRPr sz="1000">
                        <a:latin typeface="Arial"/>
                        <a:cs typeface="Arial"/>
                      </a:endParaRPr>
                    </a:p>
                    <a:p>
                      <a:pPr marL="78105" marR="180340">
                        <a:lnSpc>
                          <a:spcPct val="119600"/>
                        </a:lnSpc>
                      </a:pPr>
                      <a:r>
                        <a:rPr sz="1000" spc="-5" dirty="0">
                          <a:latin typeface="Arial"/>
                          <a:cs typeface="Arial"/>
                        </a:rPr>
                        <a:t>The </a:t>
                      </a:r>
                      <a:r>
                        <a:rPr sz="1000" spc="-10" dirty="0">
                          <a:latin typeface="Arial"/>
                          <a:cs typeface="Arial"/>
                        </a:rPr>
                        <a:t>value </a:t>
                      </a:r>
                      <a:r>
                        <a:rPr sz="1000" spc="-5" dirty="0">
                          <a:latin typeface="Arial"/>
                          <a:cs typeface="Arial"/>
                        </a:rPr>
                        <a:t>of the response is wrong </a:t>
                      </a:r>
                      <a:r>
                        <a:rPr sz="1000" dirty="0">
                          <a:latin typeface="Arial"/>
                          <a:cs typeface="Arial"/>
                        </a:rPr>
                        <a:t> </a:t>
                      </a:r>
                      <a:r>
                        <a:rPr sz="1000" spc="-10" dirty="0">
                          <a:latin typeface="Arial"/>
                          <a:cs typeface="Arial"/>
                        </a:rPr>
                        <a:t>Deviates</a:t>
                      </a:r>
                      <a:r>
                        <a:rPr sz="1000" spc="-5" dirty="0">
                          <a:latin typeface="Arial"/>
                          <a:cs typeface="Arial"/>
                        </a:rPr>
                        <a:t> from</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correct</a:t>
                      </a:r>
                      <a:r>
                        <a:rPr sz="1000" dirty="0">
                          <a:latin typeface="Arial"/>
                          <a:cs typeface="Arial"/>
                        </a:rPr>
                        <a:t> </a:t>
                      </a:r>
                      <a:r>
                        <a:rPr sz="1000" spc="-10" dirty="0">
                          <a:latin typeface="Arial"/>
                          <a:cs typeface="Arial"/>
                        </a:rPr>
                        <a:t>flow</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control</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339090">
                <a:tc>
                  <a:txBody>
                    <a:bodyPr/>
                    <a:lstStyle/>
                    <a:p>
                      <a:pPr marL="78105">
                        <a:lnSpc>
                          <a:spcPct val="100000"/>
                        </a:lnSpc>
                        <a:spcBef>
                          <a:spcPts val="25"/>
                        </a:spcBef>
                      </a:pPr>
                      <a:r>
                        <a:rPr sz="1000" dirty="0">
                          <a:solidFill>
                            <a:srgbClr val="FA0000"/>
                          </a:solidFill>
                          <a:latin typeface="Arial"/>
                          <a:cs typeface="Arial"/>
                        </a:rPr>
                        <a:t>Arbitrary</a:t>
                      </a:r>
                      <a:r>
                        <a:rPr sz="1000" spc="-40" dirty="0">
                          <a:solidFill>
                            <a:srgbClr val="FA0000"/>
                          </a:solidFill>
                          <a:latin typeface="Arial"/>
                          <a:cs typeface="Arial"/>
                        </a:rPr>
                        <a:t> </a:t>
                      </a:r>
                      <a:r>
                        <a:rPr sz="1000" spc="-10" dirty="0">
                          <a:solidFill>
                            <a:srgbClr val="FA0000"/>
                          </a:solidFill>
                          <a:latin typeface="Arial"/>
                          <a:cs typeface="Arial"/>
                        </a:rPr>
                        <a:t>failure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49530">
                        <a:lnSpc>
                          <a:spcPct val="100000"/>
                        </a:lnSpc>
                        <a:spcBef>
                          <a:spcPts val="25"/>
                        </a:spcBef>
                      </a:pPr>
                      <a:r>
                        <a:rPr sz="1000" dirty="0">
                          <a:latin typeface="Arial"/>
                          <a:cs typeface="Arial"/>
                        </a:rPr>
                        <a:t>May</a:t>
                      </a:r>
                      <a:r>
                        <a:rPr sz="1000" spc="45" dirty="0">
                          <a:latin typeface="Arial"/>
                          <a:cs typeface="Arial"/>
                        </a:rPr>
                        <a:t> </a:t>
                      </a:r>
                      <a:r>
                        <a:rPr sz="1000" spc="5" dirty="0">
                          <a:latin typeface="Arial"/>
                          <a:cs typeface="Arial"/>
                        </a:rPr>
                        <a:t>produce</a:t>
                      </a:r>
                      <a:r>
                        <a:rPr sz="1000" spc="45" dirty="0">
                          <a:latin typeface="Arial"/>
                          <a:cs typeface="Arial"/>
                        </a:rPr>
                        <a:t> </a:t>
                      </a:r>
                      <a:r>
                        <a:rPr sz="1000" spc="5" dirty="0">
                          <a:latin typeface="Arial"/>
                          <a:cs typeface="Arial"/>
                        </a:rPr>
                        <a:t>arbitrary</a:t>
                      </a:r>
                      <a:r>
                        <a:rPr sz="1000" spc="50" dirty="0">
                          <a:latin typeface="Arial"/>
                          <a:cs typeface="Arial"/>
                        </a:rPr>
                        <a:t> </a:t>
                      </a:r>
                      <a:r>
                        <a:rPr sz="1000" spc="5" dirty="0">
                          <a:latin typeface="Arial"/>
                          <a:cs typeface="Arial"/>
                        </a:rPr>
                        <a:t>responses</a:t>
                      </a:r>
                      <a:r>
                        <a:rPr sz="1000" spc="45" dirty="0">
                          <a:latin typeface="Arial"/>
                          <a:cs typeface="Arial"/>
                        </a:rPr>
                        <a:t> </a:t>
                      </a:r>
                      <a:r>
                        <a:rPr sz="1000" spc="5" dirty="0">
                          <a:latin typeface="Arial"/>
                          <a:cs typeface="Arial"/>
                        </a:rPr>
                        <a:t>at</a:t>
                      </a:r>
                      <a:r>
                        <a:rPr sz="1000" spc="50" dirty="0">
                          <a:latin typeface="Arial"/>
                          <a:cs typeface="Arial"/>
                        </a:rPr>
                        <a:t> </a:t>
                      </a:r>
                      <a:r>
                        <a:rPr sz="1000" spc="5" dirty="0">
                          <a:latin typeface="Arial"/>
                          <a:cs typeface="Arial"/>
                        </a:rPr>
                        <a:t>arbi- </a:t>
                      </a:r>
                      <a:r>
                        <a:rPr sz="1000" spc="-265" dirty="0">
                          <a:latin typeface="Arial"/>
                          <a:cs typeface="Arial"/>
                        </a:rPr>
                        <a:t> </a:t>
                      </a:r>
                      <a:r>
                        <a:rPr sz="1000" dirty="0">
                          <a:latin typeface="Arial"/>
                          <a:cs typeface="Arial"/>
                        </a:rPr>
                        <a:t>trary</a:t>
                      </a:r>
                      <a:r>
                        <a:rPr sz="1000" spc="-10" dirty="0">
                          <a:latin typeface="Arial"/>
                          <a:cs typeface="Arial"/>
                        </a:rPr>
                        <a:t> </a:t>
                      </a:r>
                      <a:r>
                        <a:rPr sz="1000" spc="-5" dirty="0">
                          <a:latin typeface="Arial"/>
                          <a:cs typeface="Arial"/>
                        </a:rPr>
                        <a:t>times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21911" y="716"/>
            <a:ext cx="519430" cy="116839"/>
          </a:xfrm>
          <a:prstGeom prst="rect">
            <a:avLst/>
          </a:prstGeom>
        </p:spPr>
        <p:txBody>
          <a:bodyPr vert="horz" wrap="square" lIns="0" tIns="12065" rIns="0" bIns="0" rtlCol="0">
            <a:spAutoFit/>
          </a:bodyPr>
          <a:lstStyle/>
          <a:p>
            <a:pPr marL="12700">
              <a:lnSpc>
                <a:spcPct val="100000"/>
              </a:lnSpc>
              <a:spcBef>
                <a:spcPts val="95"/>
              </a:spcBef>
            </a:pPr>
            <a:r>
              <a:rPr sz="600" spc="-35" dirty="0">
                <a:solidFill>
                  <a:srgbClr val="262685"/>
                </a:solidFill>
                <a:latin typeface="Arial"/>
                <a:cs typeface="Arial"/>
                <a:hlinkClick r:id="rId4" action="ppaction://hlinksldjump"/>
              </a:rPr>
              <a:t>F</a:t>
            </a:r>
            <a:r>
              <a:rPr sz="600" spc="-5" dirty="0">
                <a:solidFill>
                  <a:srgbClr val="262685"/>
                </a:solidFill>
                <a:latin typeface="Arial"/>
                <a:cs typeface="Arial"/>
                <a:hlinkClick r:id="rId4" action="ppaction://hlinksldjump"/>
              </a:rPr>
              <a:t>ailure models</a:t>
            </a:r>
            <a:endParaRPr sz="600">
              <a:latin typeface="Arial"/>
              <a:cs typeface="Arial"/>
            </a:endParaRPr>
          </a:p>
        </p:txBody>
      </p:sp>
      <p:sp>
        <p:nvSpPr>
          <p:cNvPr id="4" name="object 4"/>
          <p:cNvSpPr txBox="1"/>
          <p:nvPr/>
        </p:nvSpPr>
        <p:spPr>
          <a:xfrm>
            <a:off x="82600" y="188846"/>
            <a:ext cx="4123690" cy="182308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Dependability</a:t>
            </a:r>
            <a:r>
              <a:rPr sz="1400" spc="-20" dirty="0">
                <a:solidFill>
                  <a:srgbClr val="3333B2"/>
                </a:solidFill>
                <a:latin typeface="Arial"/>
                <a:cs typeface="Arial"/>
              </a:rPr>
              <a:t> </a:t>
            </a:r>
            <a:r>
              <a:rPr sz="1400" spc="10" dirty="0">
                <a:solidFill>
                  <a:srgbClr val="3333B2"/>
                </a:solidFill>
                <a:latin typeface="Arial"/>
                <a:cs typeface="Arial"/>
              </a:rPr>
              <a:t>versus</a:t>
            </a:r>
            <a:r>
              <a:rPr sz="1400" spc="-15" dirty="0">
                <a:solidFill>
                  <a:srgbClr val="3333B2"/>
                </a:solidFill>
                <a:latin typeface="Arial"/>
                <a:cs typeface="Arial"/>
              </a:rPr>
              <a:t> </a:t>
            </a:r>
            <a:r>
              <a:rPr sz="1400" spc="15" dirty="0">
                <a:solidFill>
                  <a:srgbClr val="3333B2"/>
                </a:solidFill>
                <a:latin typeface="Arial"/>
                <a:cs typeface="Arial"/>
              </a:rPr>
              <a:t>security</a:t>
            </a:r>
            <a:endParaRPr sz="1400">
              <a:latin typeface="Arial"/>
              <a:cs typeface="Arial"/>
            </a:endParaRPr>
          </a:p>
          <a:p>
            <a:pPr>
              <a:lnSpc>
                <a:spcPct val="100000"/>
              </a:lnSpc>
              <a:spcBef>
                <a:spcPts val="30"/>
              </a:spcBef>
            </a:pPr>
            <a:endParaRPr sz="2300">
              <a:latin typeface="Arial"/>
              <a:cs typeface="Arial"/>
            </a:endParaRPr>
          </a:p>
          <a:p>
            <a:pPr marL="276860">
              <a:lnSpc>
                <a:spcPts val="1410"/>
              </a:lnSpc>
            </a:pPr>
            <a:r>
              <a:rPr sz="1200" spc="-5" dirty="0">
                <a:solidFill>
                  <a:srgbClr val="3333B2"/>
                </a:solidFill>
                <a:latin typeface="Arial"/>
                <a:cs typeface="Arial"/>
              </a:rPr>
              <a:t>Omission</a:t>
            </a:r>
            <a:r>
              <a:rPr sz="1200" spc="-20" dirty="0">
                <a:solidFill>
                  <a:srgbClr val="3333B2"/>
                </a:solidFill>
                <a:latin typeface="Arial"/>
                <a:cs typeface="Arial"/>
              </a:rPr>
              <a:t> </a:t>
            </a:r>
            <a:r>
              <a:rPr sz="1200" spc="-10" dirty="0">
                <a:solidFill>
                  <a:srgbClr val="3333B2"/>
                </a:solidFill>
                <a:latin typeface="Arial"/>
                <a:cs typeface="Arial"/>
              </a:rPr>
              <a:t>versus</a:t>
            </a:r>
            <a:r>
              <a:rPr sz="1200" spc="-15" dirty="0">
                <a:solidFill>
                  <a:srgbClr val="3333B2"/>
                </a:solidFill>
                <a:latin typeface="Arial"/>
                <a:cs typeface="Arial"/>
              </a:rPr>
              <a:t> </a:t>
            </a:r>
            <a:r>
              <a:rPr sz="1200" spc="-5" dirty="0">
                <a:solidFill>
                  <a:srgbClr val="3333B2"/>
                </a:solidFill>
                <a:latin typeface="Arial"/>
                <a:cs typeface="Arial"/>
              </a:rPr>
              <a:t>commission</a:t>
            </a:r>
            <a:endParaRPr sz="1200">
              <a:latin typeface="Arial"/>
              <a:cs typeface="Arial"/>
            </a:endParaRPr>
          </a:p>
          <a:p>
            <a:pPr marL="276860" marR="45085" indent="-4445">
              <a:lnSpc>
                <a:spcPts val="1200"/>
              </a:lnSpc>
              <a:spcBef>
                <a:spcPts val="15"/>
              </a:spcBef>
            </a:pPr>
            <a:r>
              <a:rPr sz="1000" dirty="0">
                <a:latin typeface="Arial"/>
                <a:cs typeface="Arial"/>
              </a:rPr>
              <a:t>Arbitrary </a:t>
            </a:r>
            <a:r>
              <a:rPr sz="1000" spc="-10" dirty="0">
                <a:latin typeface="Arial"/>
                <a:cs typeface="Arial"/>
              </a:rPr>
              <a:t>failures</a:t>
            </a:r>
            <a:r>
              <a:rPr sz="1000" spc="5"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sometimes</a:t>
            </a:r>
            <a:r>
              <a:rPr sz="1000" spc="5" dirty="0">
                <a:latin typeface="Arial"/>
                <a:cs typeface="Arial"/>
              </a:rPr>
              <a:t> </a:t>
            </a:r>
            <a:r>
              <a:rPr sz="1000" spc="-5" dirty="0">
                <a:latin typeface="Arial"/>
                <a:cs typeface="Arial"/>
              </a:rPr>
              <a:t>qualified</a:t>
            </a:r>
            <a:r>
              <a:rPr sz="1000" spc="5" dirty="0">
                <a:latin typeface="Arial"/>
                <a:cs typeface="Arial"/>
              </a:rPr>
              <a:t> </a:t>
            </a:r>
            <a:r>
              <a:rPr sz="1000" spc="-5" dirty="0">
                <a:latin typeface="Arial"/>
                <a:cs typeface="Arial"/>
              </a:rPr>
              <a:t>as</a:t>
            </a:r>
            <a:r>
              <a:rPr sz="1000" dirty="0">
                <a:latin typeface="Arial"/>
                <a:cs typeface="Arial"/>
              </a:rPr>
              <a:t> </a:t>
            </a:r>
            <a:r>
              <a:rPr sz="1000" spc="-5" dirty="0">
                <a:solidFill>
                  <a:srgbClr val="0000FA"/>
                </a:solidFill>
                <a:latin typeface="Arial"/>
                <a:cs typeface="Arial"/>
              </a:rPr>
              <a:t>malicious</a:t>
            </a:r>
            <a:r>
              <a:rPr sz="1000" spc="-5" dirty="0">
                <a:latin typeface="Arial"/>
                <a:cs typeface="Arial"/>
              </a:rPr>
              <a:t>.</a:t>
            </a:r>
            <a:r>
              <a:rPr sz="1000" spc="70" dirty="0">
                <a:latin typeface="Arial"/>
                <a:cs typeface="Arial"/>
              </a:rPr>
              <a:t> </a:t>
            </a:r>
            <a:r>
              <a:rPr sz="1000" spc="-5" dirty="0">
                <a:latin typeface="Arial"/>
                <a:cs typeface="Arial"/>
              </a:rPr>
              <a:t>It</a:t>
            </a:r>
            <a:r>
              <a:rPr sz="1000" spc="5"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better</a:t>
            </a:r>
            <a:r>
              <a:rPr sz="1000" spc="5" dirty="0">
                <a:latin typeface="Arial"/>
                <a:cs typeface="Arial"/>
              </a:rPr>
              <a:t> </a:t>
            </a:r>
            <a:r>
              <a:rPr sz="1000" spc="-5" dirty="0">
                <a:latin typeface="Arial"/>
                <a:cs typeface="Arial"/>
              </a:rPr>
              <a:t>to </a:t>
            </a:r>
            <a:r>
              <a:rPr sz="1000" spc="-265" dirty="0">
                <a:latin typeface="Arial"/>
                <a:cs typeface="Arial"/>
              </a:rPr>
              <a:t> </a:t>
            </a:r>
            <a:r>
              <a:rPr sz="1000" spc="-10" dirty="0">
                <a:latin typeface="Arial"/>
                <a:cs typeface="Arial"/>
              </a:rPr>
              <a:t>make </a:t>
            </a:r>
            <a:r>
              <a:rPr sz="1000" spc="-5" dirty="0">
                <a:latin typeface="Arial"/>
                <a:cs typeface="Arial"/>
              </a:rPr>
              <a:t>the </a:t>
            </a:r>
            <a:r>
              <a:rPr sz="1000" spc="-10" dirty="0">
                <a:latin typeface="Arial"/>
                <a:cs typeface="Arial"/>
              </a:rPr>
              <a:t>following</a:t>
            </a:r>
            <a:r>
              <a:rPr sz="1000" spc="-5" dirty="0">
                <a:latin typeface="Arial"/>
                <a:cs typeface="Arial"/>
              </a:rPr>
              <a:t> distinction:</a:t>
            </a:r>
            <a:endParaRPr sz="1000">
              <a:latin typeface="Arial"/>
              <a:cs typeface="Arial"/>
            </a:endParaRPr>
          </a:p>
          <a:p>
            <a:pPr marL="554355" marR="222250" indent="-168275">
              <a:lnSpc>
                <a:spcPct val="100000"/>
              </a:lnSpc>
              <a:spcBef>
                <a:spcPts val="550"/>
              </a:spcBef>
              <a:buClr>
                <a:srgbClr val="3333B2"/>
              </a:buClr>
              <a:buChar char="►"/>
              <a:tabLst>
                <a:tab pos="554990" algn="l"/>
              </a:tabLst>
            </a:pPr>
            <a:r>
              <a:rPr sz="1000" spc="-5" dirty="0">
                <a:solidFill>
                  <a:srgbClr val="FA0000"/>
                </a:solidFill>
                <a:latin typeface="Arial"/>
                <a:cs typeface="Arial"/>
              </a:rPr>
              <a:t>Omission failures</a:t>
            </a:r>
            <a:r>
              <a:rPr sz="1000" spc="-5" dirty="0">
                <a:latin typeface="Arial"/>
                <a:cs typeface="Arial"/>
              </a:rPr>
              <a:t>:</a:t>
            </a:r>
            <a:r>
              <a:rPr sz="1000" spc="6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component </a:t>
            </a:r>
            <a:r>
              <a:rPr sz="1000" spc="-10" dirty="0">
                <a:latin typeface="Arial"/>
                <a:cs typeface="Arial"/>
              </a:rPr>
              <a:t>fails</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take</a:t>
            </a:r>
            <a:r>
              <a:rPr sz="1000" spc="-5" dirty="0">
                <a:latin typeface="Arial"/>
                <a:cs typeface="Arial"/>
              </a:rPr>
              <a:t> an</a:t>
            </a:r>
            <a:r>
              <a:rPr sz="1000" dirty="0">
                <a:latin typeface="Arial"/>
                <a:cs typeface="Arial"/>
              </a:rPr>
              <a:t> </a:t>
            </a:r>
            <a:r>
              <a:rPr sz="1000" spc="-5" dirty="0">
                <a:latin typeface="Arial"/>
                <a:cs typeface="Arial"/>
              </a:rPr>
              <a:t>action that</a:t>
            </a:r>
            <a:r>
              <a:rPr sz="1000" dirty="0">
                <a:latin typeface="Arial"/>
                <a:cs typeface="Arial"/>
              </a:rPr>
              <a:t> </a:t>
            </a:r>
            <a:r>
              <a:rPr sz="1000" spc="-5" dirty="0">
                <a:latin typeface="Arial"/>
                <a:cs typeface="Arial"/>
              </a:rPr>
              <a:t>it </a:t>
            </a:r>
            <a:r>
              <a:rPr sz="1000" spc="-260" dirty="0">
                <a:latin typeface="Arial"/>
                <a:cs typeface="Arial"/>
              </a:rPr>
              <a:t> </a:t>
            </a:r>
            <a:r>
              <a:rPr sz="1000" spc="-5" dirty="0">
                <a:latin typeface="Arial"/>
                <a:cs typeface="Arial"/>
              </a:rPr>
              <a:t>should</a:t>
            </a:r>
            <a:r>
              <a:rPr sz="1000" spc="-10" dirty="0">
                <a:latin typeface="Arial"/>
                <a:cs typeface="Arial"/>
              </a:rPr>
              <a:t> </a:t>
            </a:r>
            <a:r>
              <a:rPr sz="1000" spc="-15" dirty="0">
                <a:latin typeface="Arial"/>
                <a:cs typeface="Arial"/>
              </a:rPr>
              <a:t>have</a:t>
            </a:r>
            <a:r>
              <a:rPr sz="1000" spc="-5" dirty="0">
                <a:latin typeface="Arial"/>
                <a:cs typeface="Arial"/>
              </a:rPr>
              <a:t> </a:t>
            </a:r>
            <a:r>
              <a:rPr sz="1000" spc="-10" dirty="0">
                <a:latin typeface="Arial"/>
                <a:cs typeface="Arial"/>
              </a:rPr>
              <a:t>taken</a:t>
            </a:r>
            <a:endParaRPr sz="1000">
              <a:latin typeface="Arial"/>
              <a:cs typeface="Arial"/>
            </a:endParaRPr>
          </a:p>
          <a:p>
            <a:pPr marL="554355" marR="43180" indent="-168275">
              <a:lnSpc>
                <a:spcPct val="100000"/>
              </a:lnSpc>
              <a:spcBef>
                <a:spcPts val="585"/>
              </a:spcBef>
              <a:buClr>
                <a:srgbClr val="3333B2"/>
              </a:buClr>
              <a:buChar char="►"/>
              <a:tabLst>
                <a:tab pos="554990" algn="l"/>
              </a:tabLst>
            </a:pPr>
            <a:r>
              <a:rPr sz="1000" spc="-5" dirty="0">
                <a:solidFill>
                  <a:srgbClr val="FA0000"/>
                </a:solidFill>
                <a:latin typeface="Arial"/>
                <a:cs typeface="Arial"/>
              </a:rPr>
              <a:t>Commission</a:t>
            </a:r>
            <a:r>
              <a:rPr sz="1000" dirty="0">
                <a:solidFill>
                  <a:srgbClr val="FA0000"/>
                </a:solidFill>
                <a:latin typeface="Arial"/>
                <a:cs typeface="Arial"/>
              </a:rPr>
              <a:t> </a:t>
            </a:r>
            <a:r>
              <a:rPr sz="1000" spc="-10" dirty="0">
                <a:solidFill>
                  <a:srgbClr val="FA0000"/>
                </a:solidFill>
                <a:latin typeface="Arial"/>
                <a:cs typeface="Arial"/>
              </a:rPr>
              <a:t>failure</a:t>
            </a:r>
            <a:r>
              <a:rPr sz="1000" spc="-10" dirty="0">
                <a:latin typeface="Arial"/>
                <a:cs typeface="Arial"/>
              </a:rPr>
              <a:t>:</a:t>
            </a:r>
            <a:r>
              <a:rPr sz="1000" spc="7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component</a:t>
            </a:r>
            <a:r>
              <a:rPr sz="1000" spc="5" dirty="0">
                <a:latin typeface="Arial"/>
                <a:cs typeface="Arial"/>
              </a:rPr>
              <a:t> </a:t>
            </a:r>
            <a:r>
              <a:rPr sz="1000" spc="-10" dirty="0">
                <a:latin typeface="Arial"/>
                <a:cs typeface="Arial"/>
              </a:rPr>
              <a:t>takes</a:t>
            </a:r>
            <a:r>
              <a:rPr sz="1000" spc="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action</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should </a:t>
            </a:r>
            <a:r>
              <a:rPr sz="1000" spc="-260" dirty="0">
                <a:latin typeface="Arial"/>
                <a:cs typeface="Arial"/>
              </a:rPr>
              <a:t> </a:t>
            </a:r>
            <a:r>
              <a:rPr sz="1000" spc="-5" dirty="0">
                <a:latin typeface="Arial"/>
                <a:cs typeface="Arial"/>
              </a:rPr>
              <a:t>not</a:t>
            </a:r>
            <a:r>
              <a:rPr sz="1000" spc="-10" dirty="0">
                <a:latin typeface="Arial"/>
                <a:cs typeface="Arial"/>
              </a:rPr>
              <a:t> </a:t>
            </a:r>
            <a:r>
              <a:rPr sz="1000" spc="-15" dirty="0">
                <a:latin typeface="Arial"/>
                <a:cs typeface="Arial"/>
              </a:rPr>
              <a:t>have</a:t>
            </a:r>
            <a:r>
              <a:rPr sz="1000" spc="-5" dirty="0">
                <a:latin typeface="Arial"/>
                <a:cs typeface="Arial"/>
              </a:rPr>
              <a:t> </a:t>
            </a:r>
            <a:r>
              <a:rPr sz="1000" spc="-10" dirty="0">
                <a:latin typeface="Arial"/>
                <a:cs typeface="Arial"/>
              </a:rPr>
              <a:t>taken</a:t>
            </a:r>
            <a:endParaRPr sz="10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21911" y="716"/>
            <a:ext cx="519430" cy="116839"/>
          </a:xfrm>
          <a:prstGeom prst="rect">
            <a:avLst/>
          </a:prstGeom>
        </p:spPr>
        <p:txBody>
          <a:bodyPr vert="horz" wrap="square" lIns="0" tIns="12065" rIns="0" bIns="0" rtlCol="0">
            <a:spAutoFit/>
          </a:bodyPr>
          <a:lstStyle/>
          <a:p>
            <a:pPr marL="12700">
              <a:lnSpc>
                <a:spcPct val="100000"/>
              </a:lnSpc>
              <a:spcBef>
                <a:spcPts val="95"/>
              </a:spcBef>
            </a:pPr>
            <a:r>
              <a:rPr sz="600" spc="-35" dirty="0">
                <a:solidFill>
                  <a:srgbClr val="262685"/>
                </a:solidFill>
                <a:latin typeface="Arial"/>
                <a:cs typeface="Arial"/>
                <a:hlinkClick r:id="rId4" action="ppaction://hlinksldjump"/>
              </a:rPr>
              <a:t>F</a:t>
            </a:r>
            <a:r>
              <a:rPr sz="600" spc="-5" dirty="0">
                <a:solidFill>
                  <a:srgbClr val="262685"/>
                </a:solidFill>
                <a:latin typeface="Arial"/>
                <a:cs typeface="Arial"/>
                <a:hlinkClick r:id="rId4" action="ppaction://hlinksldjump"/>
              </a:rPr>
              <a:t>ailure models</a:t>
            </a:r>
            <a:endParaRPr sz="600">
              <a:latin typeface="Arial"/>
              <a:cs typeface="Arial"/>
            </a:endParaRPr>
          </a:p>
        </p:txBody>
      </p:sp>
      <p:sp>
        <p:nvSpPr>
          <p:cNvPr id="4" name="object 4"/>
          <p:cNvSpPr txBox="1"/>
          <p:nvPr/>
        </p:nvSpPr>
        <p:spPr>
          <a:xfrm>
            <a:off x="69900" y="188846"/>
            <a:ext cx="4163060" cy="2620645"/>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Dependability</a:t>
            </a:r>
            <a:r>
              <a:rPr sz="1400" spc="-20" dirty="0">
                <a:solidFill>
                  <a:srgbClr val="3333B2"/>
                </a:solidFill>
                <a:latin typeface="Arial"/>
                <a:cs typeface="Arial"/>
              </a:rPr>
              <a:t> </a:t>
            </a:r>
            <a:r>
              <a:rPr sz="1400" spc="10" dirty="0">
                <a:solidFill>
                  <a:srgbClr val="3333B2"/>
                </a:solidFill>
                <a:latin typeface="Arial"/>
                <a:cs typeface="Arial"/>
              </a:rPr>
              <a:t>versus</a:t>
            </a:r>
            <a:r>
              <a:rPr sz="1400" spc="-15" dirty="0">
                <a:solidFill>
                  <a:srgbClr val="3333B2"/>
                </a:solidFill>
                <a:latin typeface="Arial"/>
                <a:cs typeface="Arial"/>
              </a:rPr>
              <a:t> </a:t>
            </a:r>
            <a:r>
              <a:rPr sz="1400" spc="15" dirty="0">
                <a:solidFill>
                  <a:srgbClr val="3333B2"/>
                </a:solidFill>
                <a:latin typeface="Arial"/>
                <a:cs typeface="Arial"/>
              </a:rPr>
              <a:t>security</a:t>
            </a:r>
            <a:endParaRPr sz="1400" dirty="0">
              <a:latin typeface="Arial"/>
              <a:cs typeface="Arial"/>
            </a:endParaRPr>
          </a:p>
          <a:p>
            <a:pPr>
              <a:lnSpc>
                <a:spcPct val="100000"/>
              </a:lnSpc>
              <a:spcBef>
                <a:spcPts val="30"/>
              </a:spcBef>
            </a:pPr>
            <a:endParaRPr sz="2300" dirty="0">
              <a:latin typeface="Arial"/>
              <a:cs typeface="Arial"/>
            </a:endParaRPr>
          </a:p>
          <a:p>
            <a:pPr marL="289560">
              <a:lnSpc>
                <a:spcPts val="1410"/>
              </a:lnSpc>
            </a:pPr>
            <a:r>
              <a:rPr sz="1200" spc="-5" dirty="0">
                <a:solidFill>
                  <a:srgbClr val="3333B2"/>
                </a:solidFill>
                <a:latin typeface="Arial"/>
                <a:cs typeface="Arial"/>
              </a:rPr>
              <a:t>Omission</a:t>
            </a:r>
            <a:r>
              <a:rPr sz="1200" spc="-20" dirty="0">
                <a:solidFill>
                  <a:srgbClr val="3333B2"/>
                </a:solidFill>
                <a:latin typeface="Arial"/>
                <a:cs typeface="Arial"/>
              </a:rPr>
              <a:t> </a:t>
            </a:r>
            <a:r>
              <a:rPr sz="1200" spc="-10" dirty="0">
                <a:solidFill>
                  <a:srgbClr val="3333B2"/>
                </a:solidFill>
                <a:latin typeface="Arial"/>
                <a:cs typeface="Arial"/>
              </a:rPr>
              <a:t>versus</a:t>
            </a:r>
            <a:r>
              <a:rPr sz="1200" spc="-15" dirty="0">
                <a:solidFill>
                  <a:srgbClr val="3333B2"/>
                </a:solidFill>
                <a:latin typeface="Arial"/>
                <a:cs typeface="Arial"/>
              </a:rPr>
              <a:t> </a:t>
            </a:r>
            <a:r>
              <a:rPr sz="1200" spc="-5" dirty="0">
                <a:solidFill>
                  <a:srgbClr val="3333B2"/>
                </a:solidFill>
                <a:latin typeface="Arial"/>
                <a:cs typeface="Arial"/>
              </a:rPr>
              <a:t>commission</a:t>
            </a:r>
            <a:endParaRPr sz="1200" dirty="0">
              <a:latin typeface="Arial"/>
              <a:cs typeface="Arial"/>
            </a:endParaRPr>
          </a:p>
          <a:p>
            <a:pPr marL="289560" marR="71755" indent="-4445">
              <a:lnSpc>
                <a:spcPts val="1200"/>
              </a:lnSpc>
              <a:spcBef>
                <a:spcPts val="15"/>
              </a:spcBef>
            </a:pPr>
            <a:r>
              <a:rPr sz="1000" dirty="0">
                <a:latin typeface="Arial"/>
                <a:cs typeface="Arial"/>
              </a:rPr>
              <a:t>Arbitrary </a:t>
            </a:r>
            <a:r>
              <a:rPr sz="1000" spc="-10" dirty="0">
                <a:latin typeface="Arial"/>
                <a:cs typeface="Arial"/>
              </a:rPr>
              <a:t>failures</a:t>
            </a:r>
            <a:r>
              <a:rPr sz="1000" spc="5"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sometimes</a:t>
            </a:r>
            <a:r>
              <a:rPr sz="1000" spc="5" dirty="0">
                <a:latin typeface="Arial"/>
                <a:cs typeface="Arial"/>
              </a:rPr>
              <a:t> </a:t>
            </a:r>
            <a:r>
              <a:rPr sz="1000" spc="-5" dirty="0">
                <a:latin typeface="Arial"/>
                <a:cs typeface="Arial"/>
              </a:rPr>
              <a:t>qualified</a:t>
            </a:r>
            <a:r>
              <a:rPr sz="1000" spc="5" dirty="0">
                <a:latin typeface="Arial"/>
                <a:cs typeface="Arial"/>
              </a:rPr>
              <a:t> </a:t>
            </a:r>
            <a:r>
              <a:rPr sz="1000" spc="-5" dirty="0">
                <a:latin typeface="Arial"/>
                <a:cs typeface="Arial"/>
              </a:rPr>
              <a:t>as</a:t>
            </a:r>
            <a:r>
              <a:rPr sz="1000" dirty="0">
                <a:latin typeface="Arial"/>
                <a:cs typeface="Arial"/>
              </a:rPr>
              <a:t> </a:t>
            </a:r>
            <a:r>
              <a:rPr sz="1000" spc="-5" dirty="0">
                <a:solidFill>
                  <a:srgbClr val="0000FA"/>
                </a:solidFill>
                <a:latin typeface="Arial"/>
                <a:cs typeface="Arial"/>
              </a:rPr>
              <a:t>malicious</a:t>
            </a:r>
            <a:r>
              <a:rPr sz="1000" spc="-5" dirty="0">
                <a:latin typeface="Arial"/>
                <a:cs typeface="Arial"/>
              </a:rPr>
              <a:t>.</a:t>
            </a:r>
            <a:r>
              <a:rPr sz="1000" spc="70" dirty="0">
                <a:latin typeface="Arial"/>
                <a:cs typeface="Arial"/>
              </a:rPr>
              <a:t> </a:t>
            </a:r>
            <a:r>
              <a:rPr sz="1000" spc="-5" dirty="0">
                <a:latin typeface="Arial"/>
                <a:cs typeface="Arial"/>
              </a:rPr>
              <a:t>It</a:t>
            </a:r>
            <a:r>
              <a:rPr sz="1000" spc="5"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better</a:t>
            </a:r>
            <a:r>
              <a:rPr sz="1000" spc="5" dirty="0">
                <a:latin typeface="Arial"/>
                <a:cs typeface="Arial"/>
              </a:rPr>
              <a:t> </a:t>
            </a:r>
            <a:r>
              <a:rPr sz="1000" spc="-5" dirty="0">
                <a:latin typeface="Arial"/>
                <a:cs typeface="Arial"/>
              </a:rPr>
              <a:t>to </a:t>
            </a:r>
            <a:r>
              <a:rPr sz="1000" spc="-265" dirty="0">
                <a:latin typeface="Arial"/>
                <a:cs typeface="Arial"/>
              </a:rPr>
              <a:t> </a:t>
            </a:r>
            <a:r>
              <a:rPr sz="1000" spc="-10" dirty="0">
                <a:latin typeface="Arial"/>
                <a:cs typeface="Arial"/>
              </a:rPr>
              <a:t>make </a:t>
            </a:r>
            <a:r>
              <a:rPr sz="1000" spc="-5" dirty="0">
                <a:latin typeface="Arial"/>
                <a:cs typeface="Arial"/>
              </a:rPr>
              <a:t>the </a:t>
            </a:r>
            <a:r>
              <a:rPr sz="1000" spc="-10" dirty="0">
                <a:latin typeface="Arial"/>
                <a:cs typeface="Arial"/>
              </a:rPr>
              <a:t>following</a:t>
            </a:r>
            <a:r>
              <a:rPr sz="1000" spc="-5" dirty="0">
                <a:latin typeface="Arial"/>
                <a:cs typeface="Arial"/>
              </a:rPr>
              <a:t> distinction:</a:t>
            </a:r>
            <a:endParaRPr sz="1000" dirty="0">
              <a:latin typeface="Arial"/>
              <a:cs typeface="Arial"/>
            </a:endParaRPr>
          </a:p>
          <a:p>
            <a:pPr marL="567055" marR="248920" indent="-168275">
              <a:lnSpc>
                <a:spcPct val="100000"/>
              </a:lnSpc>
              <a:spcBef>
                <a:spcPts val="550"/>
              </a:spcBef>
              <a:buClr>
                <a:srgbClr val="3333B2"/>
              </a:buClr>
              <a:buChar char="►"/>
              <a:tabLst>
                <a:tab pos="567690" algn="l"/>
              </a:tabLst>
            </a:pPr>
            <a:r>
              <a:rPr sz="1000" spc="-5" dirty="0">
                <a:solidFill>
                  <a:srgbClr val="FA0000"/>
                </a:solidFill>
                <a:latin typeface="Arial"/>
                <a:cs typeface="Arial"/>
              </a:rPr>
              <a:t>Omission failures</a:t>
            </a:r>
            <a:r>
              <a:rPr sz="1000" spc="-5" dirty="0">
                <a:latin typeface="Arial"/>
                <a:cs typeface="Arial"/>
              </a:rPr>
              <a:t>:</a:t>
            </a:r>
            <a:r>
              <a:rPr sz="1000" spc="6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component </a:t>
            </a:r>
            <a:r>
              <a:rPr sz="1000" spc="-10" dirty="0">
                <a:latin typeface="Arial"/>
                <a:cs typeface="Arial"/>
              </a:rPr>
              <a:t>fails</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take</a:t>
            </a:r>
            <a:r>
              <a:rPr sz="1000" spc="-5" dirty="0">
                <a:latin typeface="Arial"/>
                <a:cs typeface="Arial"/>
              </a:rPr>
              <a:t> an</a:t>
            </a:r>
            <a:r>
              <a:rPr sz="1000" dirty="0">
                <a:latin typeface="Arial"/>
                <a:cs typeface="Arial"/>
              </a:rPr>
              <a:t> </a:t>
            </a:r>
            <a:r>
              <a:rPr sz="1000" spc="-5" dirty="0">
                <a:latin typeface="Arial"/>
                <a:cs typeface="Arial"/>
              </a:rPr>
              <a:t>action that</a:t>
            </a:r>
            <a:r>
              <a:rPr sz="1000" dirty="0">
                <a:latin typeface="Arial"/>
                <a:cs typeface="Arial"/>
              </a:rPr>
              <a:t> </a:t>
            </a:r>
            <a:r>
              <a:rPr sz="1000" spc="-5" dirty="0">
                <a:latin typeface="Arial"/>
                <a:cs typeface="Arial"/>
              </a:rPr>
              <a:t>it </a:t>
            </a:r>
            <a:r>
              <a:rPr sz="1000" spc="-260" dirty="0">
                <a:latin typeface="Arial"/>
                <a:cs typeface="Arial"/>
              </a:rPr>
              <a:t> </a:t>
            </a:r>
            <a:r>
              <a:rPr sz="1000" spc="-5" dirty="0">
                <a:latin typeface="Arial"/>
                <a:cs typeface="Arial"/>
              </a:rPr>
              <a:t>should</a:t>
            </a:r>
            <a:r>
              <a:rPr sz="1000" spc="-10" dirty="0">
                <a:latin typeface="Arial"/>
                <a:cs typeface="Arial"/>
              </a:rPr>
              <a:t> </a:t>
            </a:r>
            <a:r>
              <a:rPr sz="1000" spc="-15" dirty="0">
                <a:latin typeface="Arial"/>
                <a:cs typeface="Arial"/>
              </a:rPr>
              <a:t>have</a:t>
            </a:r>
            <a:r>
              <a:rPr sz="1000" spc="-5" dirty="0">
                <a:latin typeface="Arial"/>
                <a:cs typeface="Arial"/>
              </a:rPr>
              <a:t> </a:t>
            </a:r>
            <a:r>
              <a:rPr sz="1000" spc="-10" dirty="0">
                <a:latin typeface="Arial"/>
                <a:cs typeface="Arial"/>
              </a:rPr>
              <a:t>taken</a:t>
            </a:r>
            <a:endParaRPr sz="1000" dirty="0">
              <a:latin typeface="Arial"/>
              <a:cs typeface="Arial"/>
            </a:endParaRPr>
          </a:p>
          <a:p>
            <a:pPr marL="567055" marR="69215" indent="-168275">
              <a:lnSpc>
                <a:spcPct val="100000"/>
              </a:lnSpc>
              <a:spcBef>
                <a:spcPts val="585"/>
              </a:spcBef>
              <a:buClr>
                <a:srgbClr val="3333B2"/>
              </a:buClr>
              <a:buChar char="►"/>
              <a:tabLst>
                <a:tab pos="567690" algn="l"/>
              </a:tabLst>
            </a:pPr>
            <a:r>
              <a:rPr sz="1000" spc="-5" dirty="0">
                <a:solidFill>
                  <a:srgbClr val="FA0000"/>
                </a:solidFill>
                <a:latin typeface="Arial"/>
                <a:cs typeface="Arial"/>
              </a:rPr>
              <a:t>Commission</a:t>
            </a:r>
            <a:r>
              <a:rPr sz="1000" dirty="0">
                <a:solidFill>
                  <a:srgbClr val="FA0000"/>
                </a:solidFill>
                <a:latin typeface="Arial"/>
                <a:cs typeface="Arial"/>
              </a:rPr>
              <a:t> </a:t>
            </a:r>
            <a:r>
              <a:rPr sz="1000" spc="-10" dirty="0">
                <a:solidFill>
                  <a:srgbClr val="FA0000"/>
                </a:solidFill>
                <a:latin typeface="Arial"/>
                <a:cs typeface="Arial"/>
              </a:rPr>
              <a:t>failure</a:t>
            </a:r>
            <a:r>
              <a:rPr sz="1000" spc="-10" dirty="0">
                <a:latin typeface="Arial"/>
                <a:cs typeface="Arial"/>
              </a:rPr>
              <a:t>:</a:t>
            </a:r>
            <a:r>
              <a:rPr sz="1000" spc="7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component</a:t>
            </a:r>
            <a:r>
              <a:rPr sz="1000" spc="5" dirty="0">
                <a:latin typeface="Arial"/>
                <a:cs typeface="Arial"/>
              </a:rPr>
              <a:t> </a:t>
            </a:r>
            <a:r>
              <a:rPr sz="1000" spc="-10" dirty="0">
                <a:latin typeface="Arial"/>
                <a:cs typeface="Arial"/>
              </a:rPr>
              <a:t>takes</a:t>
            </a:r>
            <a:r>
              <a:rPr sz="1000" spc="5"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action</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should </a:t>
            </a:r>
            <a:r>
              <a:rPr sz="1000" spc="-260" dirty="0">
                <a:latin typeface="Arial"/>
                <a:cs typeface="Arial"/>
              </a:rPr>
              <a:t> </a:t>
            </a:r>
            <a:r>
              <a:rPr sz="1000" spc="-5" dirty="0">
                <a:latin typeface="Arial"/>
                <a:cs typeface="Arial"/>
              </a:rPr>
              <a:t>not</a:t>
            </a:r>
            <a:r>
              <a:rPr sz="1000" spc="-10" dirty="0">
                <a:latin typeface="Arial"/>
                <a:cs typeface="Arial"/>
              </a:rPr>
              <a:t> </a:t>
            </a:r>
            <a:r>
              <a:rPr sz="1000" spc="-15" dirty="0">
                <a:latin typeface="Arial"/>
                <a:cs typeface="Arial"/>
              </a:rPr>
              <a:t>have</a:t>
            </a:r>
            <a:r>
              <a:rPr sz="1000" spc="-5" dirty="0">
                <a:latin typeface="Arial"/>
                <a:cs typeface="Arial"/>
              </a:rPr>
              <a:t> </a:t>
            </a:r>
            <a:r>
              <a:rPr sz="1000" spc="-10" dirty="0">
                <a:latin typeface="Arial"/>
                <a:cs typeface="Arial"/>
              </a:rPr>
              <a:t>taken</a:t>
            </a:r>
            <a:endParaRPr sz="1000" dirty="0">
              <a:latin typeface="Arial"/>
              <a:cs typeface="Arial"/>
            </a:endParaRPr>
          </a:p>
          <a:p>
            <a:pPr>
              <a:lnSpc>
                <a:spcPct val="100000"/>
              </a:lnSpc>
              <a:spcBef>
                <a:spcPts val="40"/>
              </a:spcBef>
            </a:pPr>
            <a:endParaRPr sz="1100" dirty="0">
              <a:latin typeface="Arial"/>
              <a:cs typeface="Arial"/>
            </a:endParaRPr>
          </a:p>
          <a:p>
            <a:pPr marL="289560">
              <a:lnSpc>
                <a:spcPts val="1410"/>
              </a:lnSpc>
            </a:pPr>
            <a:r>
              <a:rPr sz="1200" spc="-5" dirty="0">
                <a:solidFill>
                  <a:srgbClr val="FA0000"/>
                </a:solidFill>
                <a:latin typeface="Arial"/>
                <a:cs typeface="Arial"/>
              </a:rPr>
              <a:t>Observation</a:t>
            </a:r>
            <a:endParaRPr sz="1200" dirty="0">
              <a:latin typeface="Arial"/>
              <a:cs typeface="Arial"/>
            </a:endParaRPr>
          </a:p>
          <a:p>
            <a:pPr marL="289560" marR="17780">
              <a:lnSpc>
                <a:spcPts val="1200"/>
              </a:lnSpc>
              <a:spcBef>
                <a:spcPts val="10"/>
              </a:spcBef>
            </a:pPr>
            <a:r>
              <a:rPr sz="1000" spc="-5" dirty="0">
                <a:latin typeface="Arial"/>
                <a:cs typeface="Arial"/>
              </a:rPr>
              <a:t>Note</a:t>
            </a:r>
            <a:r>
              <a:rPr sz="1000" spc="5" dirty="0">
                <a:latin typeface="Arial"/>
                <a:cs typeface="Arial"/>
              </a:rPr>
              <a:t> </a:t>
            </a:r>
            <a:r>
              <a:rPr sz="1000" spc="-5" dirty="0">
                <a:latin typeface="Arial"/>
                <a:cs typeface="Arial"/>
              </a:rPr>
              <a:t>that</a:t>
            </a:r>
            <a:r>
              <a:rPr sz="1000" spc="5" dirty="0">
                <a:latin typeface="Arial"/>
                <a:cs typeface="Arial"/>
              </a:rPr>
              <a:t> </a:t>
            </a:r>
            <a:r>
              <a:rPr sz="1000" spc="-5" dirty="0">
                <a:solidFill>
                  <a:srgbClr val="0000FA"/>
                </a:solidFill>
                <a:latin typeface="Arial"/>
                <a:cs typeface="Arial"/>
              </a:rPr>
              <a:t>deliberate</a:t>
            </a:r>
            <a:r>
              <a:rPr sz="1000" spc="5" dirty="0">
                <a:solidFill>
                  <a:srgbClr val="0000FA"/>
                </a:solidFill>
                <a:latin typeface="Arial"/>
                <a:cs typeface="Arial"/>
              </a:rPr>
              <a:t> </a:t>
            </a:r>
            <a:r>
              <a:rPr sz="1000" spc="-10" dirty="0">
                <a:latin typeface="Arial"/>
                <a:cs typeface="Arial"/>
              </a:rPr>
              <a:t>failures,</a:t>
            </a:r>
            <a:r>
              <a:rPr sz="1000" spc="5" dirty="0">
                <a:latin typeface="Arial"/>
                <a:cs typeface="Arial"/>
              </a:rPr>
              <a:t> </a:t>
            </a:r>
            <a:r>
              <a:rPr sz="1000" spc="-5" dirty="0">
                <a:latin typeface="Arial"/>
                <a:cs typeface="Arial"/>
              </a:rPr>
              <a:t>be</a:t>
            </a:r>
            <a:r>
              <a:rPr sz="1000" spc="5" dirty="0">
                <a:latin typeface="Arial"/>
                <a:cs typeface="Arial"/>
              </a:rPr>
              <a:t> </a:t>
            </a:r>
            <a:r>
              <a:rPr sz="1000" spc="-10" dirty="0">
                <a:latin typeface="Arial"/>
                <a:cs typeface="Arial"/>
              </a:rPr>
              <a:t>they</a:t>
            </a:r>
            <a:r>
              <a:rPr sz="1000" spc="5" dirty="0">
                <a:latin typeface="Arial"/>
                <a:cs typeface="Arial"/>
              </a:rPr>
              <a:t> </a:t>
            </a:r>
            <a:r>
              <a:rPr sz="1000" spc="-5" dirty="0">
                <a:latin typeface="Arial"/>
                <a:cs typeface="Arial"/>
              </a:rPr>
              <a:t>omission</a:t>
            </a:r>
            <a:r>
              <a:rPr sz="1000" spc="5" dirty="0">
                <a:latin typeface="Arial"/>
                <a:cs typeface="Arial"/>
              </a:rPr>
              <a:t> </a:t>
            </a:r>
            <a:r>
              <a:rPr sz="1000" spc="-5" dirty="0">
                <a:latin typeface="Arial"/>
                <a:cs typeface="Arial"/>
              </a:rPr>
              <a:t>or</a:t>
            </a:r>
            <a:r>
              <a:rPr sz="1000" spc="5" dirty="0">
                <a:latin typeface="Arial"/>
                <a:cs typeface="Arial"/>
              </a:rPr>
              <a:t> </a:t>
            </a:r>
            <a:r>
              <a:rPr sz="1000" spc="-5" dirty="0">
                <a:latin typeface="Arial"/>
                <a:cs typeface="Arial"/>
              </a:rPr>
              <a:t>commission</a:t>
            </a:r>
            <a:r>
              <a:rPr sz="1000" spc="5" dirty="0">
                <a:latin typeface="Arial"/>
                <a:cs typeface="Arial"/>
              </a:rPr>
              <a:t> </a:t>
            </a:r>
            <a:r>
              <a:rPr sz="1000" spc="-10" dirty="0">
                <a:latin typeface="Arial"/>
                <a:cs typeface="Arial"/>
              </a:rPr>
              <a:t>failures </a:t>
            </a:r>
            <a:r>
              <a:rPr sz="1000" spc="-26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typically</a:t>
            </a:r>
            <a:r>
              <a:rPr sz="1000" spc="5" dirty="0">
                <a:latin typeface="Arial"/>
                <a:cs typeface="Arial"/>
              </a:rPr>
              <a:t> </a:t>
            </a:r>
            <a:r>
              <a:rPr sz="1000" spc="-5" dirty="0">
                <a:latin typeface="Arial"/>
                <a:cs typeface="Arial"/>
              </a:rPr>
              <a:t>security</a:t>
            </a:r>
            <a:r>
              <a:rPr sz="1000" dirty="0">
                <a:latin typeface="Arial"/>
                <a:cs typeface="Arial"/>
              </a:rPr>
              <a:t> </a:t>
            </a:r>
            <a:r>
              <a:rPr sz="1000" spc="-10" dirty="0">
                <a:latin typeface="Arial"/>
                <a:cs typeface="Arial"/>
              </a:rPr>
              <a:t>problems.</a:t>
            </a:r>
            <a:r>
              <a:rPr sz="1000" spc="70" dirty="0">
                <a:latin typeface="Arial"/>
                <a:cs typeface="Arial"/>
              </a:rPr>
              <a:t> </a:t>
            </a:r>
            <a:r>
              <a:rPr sz="1000" spc="-5" dirty="0">
                <a:latin typeface="Arial"/>
                <a:cs typeface="Arial"/>
              </a:rPr>
              <a:t>Distinguishing</a:t>
            </a:r>
            <a:r>
              <a:rPr sz="1000" spc="5"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deliberate </a:t>
            </a:r>
            <a:r>
              <a:rPr sz="1000" dirty="0">
                <a:latin typeface="Arial"/>
                <a:cs typeface="Arial"/>
              </a:rPr>
              <a:t> </a:t>
            </a:r>
            <a:r>
              <a:rPr sz="1000" spc="-10" dirty="0">
                <a:latin typeface="Arial"/>
                <a:cs typeface="Arial"/>
              </a:rPr>
              <a:t>failures</a:t>
            </a:r>
            <a:r>
              <a:rPr sz="1000" spc="-5" dirty="0">
                <a:latin typeface="Arial"/>
                <a:cs typeface="Arial"/>
              </a:rPr>
              <a:t> and unintentional ones</a:t>
            </a:r>
            <a:r>
              <a:rPr sz="1000" dirty="0">
                <a:latin typeface="Arial"/>
                <a:cs typeface="Arial"/>
              </a:rPr>
              <a:t> </a:t>
            </a:r>
            <a:r>
              <a:rPr sz="1000" spc="-10" dirty="0">
                <a:latin typeface="Arial"/>
                <a:cs typeface="Arial"/>
              </a:rPr>
              <a:t>is,</a:t>
            </a:r>
            <a:r>
              <a:rPr sz="1000" spc="-5" dirty="0">
                <a:latin typeface="Arial"/>
                <a:cs typeface="Arial"/>
              </a:rPr>
              <a:t> in general, impossible.</a:t>
            </a:r>
            <a:endParaRPr sz="1000" dirty="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9</a:t>
            </a:r>
            <a:r>
              <a:rPr spc="-40" dirty="0"/>
              <a:t> </a:t>
            </a:r>
            <a:r>
              <a:rPr spc="-5" dirty="0"/>
              <a:t>/</a:t>
            </a:r>
            <a:r>
              <a:rPr spc="-35" dirty="0"/>
              <a:t> </a:t>
            </a:r>
            <a:r>
              <a:rPr spc="-5" dirty="0"/>
              <a:t>68</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67479" algn="l"/>
              </a:tabLst>
            </a:pPr>
            <a:r>
              <a:rPr sz="600" spc="-35" dirty="0">
                <a:solidFill>
                  <a:srgbClr val="3333B2"/>
                </a:solidFill>
                <a:latin typeface="Arial"/>
                <a:cs typeface="Arial"/>
                <a:hlinkClick r:id="rId3" action="ppaction://hlinksldjump"/>
              </a:rPr>
              <a:t>F</a:t>
            </a:r>
            <a:r>
              <a:rPr sz="600" spc="-5" dirty="0">
                <a:solidFill>
                  <a:srgbClr val="3333B2"/>
                </a:solidFill>
                <a:latin typeface="Arial"/>
                <a:cs typeface="Arial"/>
                <a:hlinkClick r:id="rId3" action="ppaction://hlinksldjump"/>
              </a:rPr>
              <a:t>ault tole</a:t>
            </a:r>
            <a:r>
              <a:rPr sz="600" spc="-15"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ance:</a:t>
            </a:r>
            <a:r>
              <a:rPr sz="600"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3" action="ppaction://hlinksldjump"/>
              </a:rPr>
              <a:t>Introduction to </a:t>
            </a:r>
            <a:r>
              <a:rPr sz="600" spc="-25" dirty="0">
                <a:solidFill>
                  <a:srgbClr val="3333B2"/>
                </a:solidFill>
                <a:latin typeface="Arial"/>
                <a:cs typeface="Arial"/>
                <a:hlinkClick r:id="rId3" action="ppaction://hlinksldjump"/>
              </a:rPr>
              <a:t>f</a:t>
            </a:r>
            <a:r>
              <a:rPr sz="600" spc="-5" dirty="0">
                <a:solidFill>
                  <a:srgbClr val="3333B2"/>
                </a:solidFill>
                <a:latin typeface="Arial"/>
                <a:cs typeface="Arial"/>
                <a:hlinkClick r:id="rId3" action="ppaction://hlinksldjump"/>
              </a:rPr>
              <a:t>ault tole</a:t>
            </a:r>
            <a:r>
              <a:rPr sz="600" spc="-15"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ance</a:t>
            </a:r>
            <a:r>
              <a:rPr sz="600" dirty="0">
                <a:solidFill>
                  <a:srgbClr val="3333B2"/>
                </a:solidFill>
                <a:latin typeface="Arial"/>
                <a:cs typeface="Arial"/>
              </a:rPr>
              <a:t>	</a:t>
            </a:r>
            <a:r>
              <a:rPr sz="600" spc="-35" dirty="0">
                <a:solidFill>
                  <a:srgbClr val="262685"/>
                </a:solidFill>
                <a:latin typeface="Arial"/>
                <a:cs typeface="Arial"/>
                <a:hlinkClick r:id="rId4" action="ppaction://hlinksldjump"/>
              </a:rPr>
              <a:t>F</a:t>
            </a:r>
            <a:r>
              <a:rPr sz="600" spc="-5" dirty="0">
                <a:solidFill>
                  <a:srgbClr val="262685"/>
                </a:solidFill>
                <a:latin typeface="Arial"/>
                <a:cs typeface="Arial"/>
                <a:hlinkClick r:id="rId4" action="ppaction://hlinksldjump"/>
              </a:rPr>
              <a:t>ailure models</a:t>
            </a:r>
            <a:endParaRPr sz="600">
              <a:latin typeface="Arial"/>
              <a:cs typeface="Arial"/>
            </a:endParaRPr>
          </a:p>
        </p:txBody>
      </p:sp>
      <p:sp>
        <p:nvSpPr>
          <p:cNvPr id="3" name="object 3"/>
          <p:cNvSpPr txBox="1">
            <a:spLocks noGrp="1"/>
          </p:cNvSpPr>
          <p:nvPr>
            <p:ph type="title"/>
          </p:nvPr>
        </p:nvSpPr>
        <p:spPr>
          <a:xfrm>
            <a:off x="95300" y="188846"/>
            <a:ext cx="1224915" cy="244475"/>
          </a:xfrm>
          <a:prstGeom prst="rect">
            <a:avLst/>
          </a:prstGeom>
        </p:spPr>
        <p:txBody>
          <a:bodyPr vert="horz" wrap="square" lIns="0" tIns="17145" rIns="0" bIns="0" rtlCol="0">
            <a:spAutoFit/>
          </a:bodyPr>
          <a:lstStyle/>
          <a:p>
            <a:pPr marL="12700">
              <a:lnSpc>
                <a:spcPct val="100000"/>
              </a:lnSpc>
              <a:spcBef>
                <a:spcPts val="135"/>
              </a:spcBef>
            </a:pPr>
            <a:r>
              <a:rPr spc="15" dirty="0"/>
              <a:t>Halting</a:t>
            </a:r>
            <a:r>
              <a:rPr spc="-55" dirty="0"/>
              <a:t> </a:t>
            </a:r>
            <a:r>
              <a:rPr spc="5" dirty="0"/>
              <a:t>failures</a:t>
            </a:r>
          </a:p>
        </p:txBody>
      </p:sp>
      <p:sp>
        <p:nvSpPr>
          <p:cNvPr id="4" name="object 4"/>
          <p:cNvSpPr txBox="1"/>
          <p:nvPr/>
        </p:nvSpPr>
        <p:spPr>
          <a:xfrm>
            <a:off x="329590" y="463344"/>
            <a:ext cx="3934460" cy="1179195"/>
          </a:xfrm>
          <a:prstGeom prst="rect">
            <a:avLst/>
          </a:prstGeom>
        </p:spPr>
        <p:txBody>
          <a:bodyPr vert="horz" wrap="square" lIns="0" tIns="12065" rIns="0" bIns="0" rtlCol="0">
            <a:spAutoFit/>
          </a:bodyPr>
          <a:lstStyle/>
          <a:p>
            <a:pPr marL="29845">
              <a:lnSpc>
                <a:spcPts val="1410"/>
              </a:lnSpc>
              <a:spcBef>
                <a:spcPts val="95"/>
              </a:spcBef>
            </a:pPr>
            <a:r>
              <a:rPr sz="1200" spc="-5" dirty="0">
                <a:solidFill>
                  <a:srgbClr val="3333B2"/>
                </a:solidFill>
                <a:latin typeface="Arial"/>
                <a:cs typeface="Arial"/>
              </a:rPr>
              <a:t>Scenario</a:t>
            </a:r>
            <a:endParaRPr sz="1200">
              <a:latin typeface="Arial"/>
              <a:cs typeface="Arial"/>
            </a:endParaRPr>
          </a:p>
          <a:p>
            <a:pPr marL="29845" marR="270510">
              <a:lnSpc>
                <a:spcPts val="1200"/>
              </a:lnSpc>
              <a:spcBef>
                <a:spcPts val="10"/>
              </a:spcBef>
            </a:pPr>
            <a:r>
              <a:rPr sz="1000" i="1" spc="-5" dirty="0">
                <a:latin typeface="Arial"/>
                <a:cs typeface="Arial"/>
              </a:rPr>
              <a:t>C </a:t>
            </a:r>
            <a:r>
              <a:rPr sz="1000" spc="-5" dirty="0">
                <a:latin typeface="Arial"/>
                <a:cs typeface="Arial"/>
              </a:rPr>
              <a:t>no longer perceives </a:t>
            </a:r>
            <a:r>
              <a:rPr sz="1000" spc="-10" dirty="0">
                <a:latin typeface="Arial"/>
                <a:cs typeface="Arial"/>
              </a:rPr>
              <a:t>any </a:t>
            </a:r>
            <a:r>
              <a:rPr sz="1000" spc="-5" dirty="0">
                <a:latin typeface="Arial"/>
                <a:cs typeface="Arial"/>
              </a:rPr>
              <a:t>activity from </a:t>
            </a:r>
            <a:r>
              <a:rPr sz="1000" i="1" spc="-5" dirty="0">
                <a:latin typeface="Arial"/>
                <a:cs typeface="Arial"/>
              </a:rPr>
              <a:t>C</a:t>
            </a:r>
            <a:r>
              <a:rPr sz="1050" i="1" spc="-7" baseline="27777" dirty="0">
                <a:latin typeface="メイリオ"/>
                <a:cs typeface="メイリオ"/>
              </a:rPr>
              <a:t>∗</a:t>
            </a:r>
            <a:r>
              <a:rPr sz="1050" i="1" baseline="27777" dirty="0">
                <a:latin typeface="メイリオ"/>
                <a:cs typeface="メイリオ"/>
              </a:rPr>
              <a:t> </a:t>
            </a:r>
            <a:r>
              <a:rPr sz="1000" spc="-5" dirty="0">
                <a:latin typeface="Arial"/>
                <a:cs typeface="Arial"/>
              </a:rPr>
              <a:t>— a </a:t>
            </a:r>
            <a:r>
              <a:rPr sz="1000" spc="-5" dirty="0">
                <a:solidFill>
                  <a:srgbClr val="0000FA"/>
                </a:solidFill>
                <a:latin typeface="Arial"/>
                <a:cs typeface="Arial"/>
              </a:rPr>
              <a:t>halting </a:t>
            </a:r>
            <a:r>
              <a:rPr sz="1000" spc="-10" dirty="0">
                <a:solidFill>
                  <a:srgbClr val="0000FA"/>
                </a:solidFill>
                <a:latin typeface="Arial"/>
                <a:cs typeface="Arial"/>
              </a:rPr>
              <a:t>failure</a:t>
            </a:r>
            <a:r>
              <a:rPr sz="1000" spc="-10" dirty="0">
                <a:latin typeface="Arial"/>
                <a:cs typeface="Arial"/>
              </a:rPr>
              <a:t>? </a:t>
            </a:r>
            <a:r>
              <a:rPr sz="1000" spc="-5" dirty="0">
                <a:latin typeface="Arial"/>
                <a:cs typeface="Arial"/>
              </a:rPr>
              <a:t> Distinguishing</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a</a:t>
            </a:r>
            <a:r>
              <a:rPr sz="1000" spc="5" dirty="0">
                <a:latin typeface="Arial"/>
                <a:cs typeface="Arial"/>
              </a:rPr>
              <a:t> </a:t>
            </a:r>
            <a:r>
              <a:rPr sz="1000" spc="-5" dirty="0">
                <a:solidFill>
                  <a:srgbClr val="0000FA"/>
                </a:solidFill>
                <a:latin typeface="Arial"/>
                <a:cs typeface="Arial"/>
              </a:rPr>
              <a:t>crash</a:t>
            </a:r>
            <a:r>
              <a:rPr sz="1000" dirty="0">
                <a:solidFill>
                  <a:srgbClr val="0000FA"/>
                </a:solidFill>
                <a:latin typeface="Arial"/>
                <a:cs typeface="Arial"/>
              </a:rPr>
              <a:t> </a:t>
            </a:r>
            <a:r>
              <a:rPr sz="1000" spc="-5" dirty="0">
                <a:latin typeface="Arial"/>
                <a:cs typeface="Arial"/>
              </a:rPr>
              <a:t>or</a:t>
            </a:r>
            <a:r>
              <a:rPr sz="1000" spc="5" dirty="0">
                <a:latin typeface="Arial"/>
                <a:cs typeface="Arial"/>
              </a:rPr>
              <a:t> </a:t>
            </a:r>
            <a:r>
              <a:rPr sz="1000" spc="-5" dirty="0">
                <a:solidFill>
                  <a:srgbClr val="0000FA"/>
                </a:solidFill>
                <a:latin typeface="Arial"/>
                <a:cs typeface="Arial"/>
              </a:rPr>
              <a:t>omission/timing</a:t>
            </a:r>
            <a:r>
              <a:rPr sz="1000" dirty="0">
                <a:solidFill>
                  <a:srgbClr val="0000FA"/>
                </a:solidFill>
                <a:latin typeface="Arial"/>
                <a:cs typeface="Arial"/>
              </a:rPr>
              <a:t> </a:t>
            </a:r>
            <a:r>
              <a:rPr sz="1000" spc="-10" dirty="0">
                <a:solidFill>
                  <a:srgbClr val="0000FA"/>
                </a:solidFill>
                <a:latin typeface="Arial"/>
                <a:cs typeface="Arial"/>
              </a:rPr>
              <a:t>failure</a:t>
            </a:r>
            <a:r>
              <a:rPr sz="1000" spc="5" dirty="0">
                <a:solidFill>
                  <a:srgbClr val="0000FA"/>
                </a:solidFill>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be </a:t>
            </a:r>
            <a:r>
              <a:rPr sz="1000" spc="-260" dirty="0">
                <a:latin typeface="Arial"/>
                <a:cs typeface="Arial"/>
              </a:rPr>
              <a:t> </a:t>
            </a:r>
            <a:r>
              <a:rPr sz="1000" spc="-5" dirty="0">
                <a:latin typeface="Arial"/>
                <a:cs typeface="Arial"/>
              </a:rPr>
              <a:t>impossible.</a:t>
            </a:r>
            <a:endParaRPr sz="1000">
              <a:latin typeface="Arial"/>
              <a:cs typeface="Arial"/>
            </a:endParaRPr>
          </a:p>
          <a:p>
            <a:pPr marL="25400">
              <a:lnSpc>
                <a:spcPct val="100000"/>
              </a:lnSpc>
              <a:spcBef>
                <a:spcPts val="645"/>
              </a:spcBef>
            </a:pPr>
            <a:r>
              <a:rPr sz="1200" spc="-5" dirty="0">
                <a:solidFill>
                  <a:srgbClr val="3333B2"/>
                </a:solidFill>
                <a:latin typeface="Arial"/>
                <a:cs typeface="Arial"/>
              </a:rPr>
              <a:t>Asynchronous</a:t>
            </a:r>
            <a:r>
              <a:rPr sz="1200" spc="-10" dirty="0">
                <a:solidFill>
                  <a:srgbClr val="3333B2"/>
                </a:solidFill>
                <a:latin typeface="Arial"/>
                <a:cs typeface="Arial"/>
              </a:rPr>
              <a:t> versus</a:t>
            </a:r>
            <a:r>
              <a:rPr sz="1200" spc="-5" dirty="0">
                <a:solidFill>
                  <a:srgbClr val="3333B2"/>
                </a:solidFill>
                <a:latin typeface="Arial"/>
                <a:cs typeface="Arial"/>
              </a:rPr>
              <a:t> synchronous systems</a:t>
            </a:r>
            <a:endParaRPr sz="1200">
              <a:latin typeface="Arial"/>
              <a:cs typeface="Arial"/>
            </a:endParaRPr>
          </a:p>
          <a:p>
            <a:pPr marL="307340" indent="-168275">
              <a:lnSpc>
                <a:spcPct val="100000"/>
              </a:lnSpc>
              <a:spcBef>
                <a:spcPts val="780"/>
              </a:spcBef>
              <a:buClr>
                <a:srgbClr val="3333B2"/>
              </a:buClr>
              <a:buChar char="►"/>
              <a:tabLst>
                <a:tab pos="307975" algn="l"/>
              </a:tabLst>
            </a:pPr>
            <a:r>
              <a:rPr sz="1000" spc="-5" dirty="0">
                <a:solidFill>
                  <a:srgbClr val="FA0000"/>
                </a:solidFill>
                <a:latin typeface="Arial"/>
                <a:cs typeface="Arial"/>
              </a:rPr>
              <a:t>Asynchronous</a:t>
            </a:r>
            <a:r>
              <a:rPr sz="1000" dirty="0">
                <a:solidFill>
                  <a:srgbClr val="FA0000"/>
                </a:solidFill>
                <a:latin typeface="Arial"/>
                <a:cs typeface="Arial"/>
              </a:rPr>
              <a:t> </a:t>
            </a:r>
            <a:r>
              <a:rPr sz="1000" spc="-5" dirty="0">
                <a:solidFill>
                  <a:srgbClr val="FA0000"/>
                </a:solidFill>
                <a:latin typeface="Arial"/>
                <a:cs typeface="Arial"/>
              </a:rPr>
              <a:t>system:</a:t>
            </a:r>
            <a:r>
              <a:rPr sz="1000" spc="65" dirty="0">
                <a:solidFill>
                  <a:srgbClr val="FA0000"/>
                </a:solidFill>
                <a:latin typeface="Arial"/>
                <a:cs typeface="Arial"/>
              </a:rPr>
              <a:t> </a:t>
            </a:r>
            <a:r>
              <a:rPr sz="1000" spc="-5" dirty="0">
                <a:latin typeface="Arial"/>
                <a:cs typeface="Arial"/>
              </a:rPr>
              <a:t>no</a:t>
            </a:r>
            <a:r>
              <a:rPr sz="1000" spc="5" dirty="0">
                <a:latin typeface="Arial"/>
                <a:cs typeface="Arial"/>
              </a:rPr>
              <a:t> </a:t>
            </a:r>
            <a:r>
              <a:rPr sz="1000" spc="-5" dirty="0">
                <a:latin typeface="Arial"/>
                <a:cs typeface="Arial"/>
              </a:rPr>
              <a:t>assumptions</a:t>
            </a:r>
            <a:r>
              <a:rPr sz="1000" dirty="0">
                <a:latin typeface="Arial"/>
                <a:cs typeface="Arial"/>
              </a:rPr>
              <a:t> </a:t>
            </a:r>
            <a:r>
              <a:rPr sz="1000" spc="-5" dirty="0">
                <a:latin typeface="Arial"/>
                <a:cs typeface="Arial"/>
              </a:rPr>
              <a:t>about</a:t>
            </a:r>
            <a:r>
              <a:rPr sz="1000" dirty="0">
                <a:latin typeface="Arial"/>
                <a:cs typeface="Arial"/>
              </a:rPr>
              <a:t> </a:t>
            </a:r>
            <a:r>
              <a:rPr sz="1000" spc="-5" dirty="0">
                <a:latin typeface="Arial"/>
                <a:cs typeface="Arial"/>
              </a:rPr>
              <a:t>process</a:t>
            </a:r>
            <a:r>
              <a:rPr sz="1000" spc="5" dirty="0">
                <a:latin typeface="Arial"/>
                <a:cs typeface="Arial"/>
              </a:rPr>
              <a:t> </a:t>
            </a:r>
            <a:r>
              <a:rPr sz="1000" spc="-10" dirty="0">
                <a:latin typeface="Arial"/>
                <a:cs typeface="Arial"/>
              </a:rPr>
              <a:t>execution</a:t>
            </a:r>
            <a:endParaRPr sz="1000">
              <a:latin typeface="Arial"/>
              <a:cs typeface="Arial"/>
            </a:endParaRPr>
          </a:p>
        </p:txBody>
      </p:sp>
      <p:sp>
        <p:nvSpPr>
          <p:cNvPr id="5" name="object 5"/>
          <p:cNvSpPr txBox="1"/>
          <p:nvPr/>
        </p:nvSpPr>
        <p:spPr>
          <a:xfrm>
            <a:off x="624395" y="1616638"/>
            <a:ext cx="3636645"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speeds</a:t>
            </a:r>
            <a:r>
              <a:rPr sz="1000" spc="-5" dirty="0">
                <a:latin typeface="Arial"/>
                <a:cs typeface="Arial"/>
              </a:rPr>
              <a:t> </a:t>
            </a:r>
            <a:r>
              <a:rPr sz="1000" spc="-10" dirty="0">
                <a:latin typeface="Arial"/>
                <a:cs typeface="Arial"/>
              </a:rPr>
              <a:t>or</a:t>
            </a:r>
            <a:r>
              <a:rPr sz="1000" dirty="0">
                <a:latin typeface="Arial"/>
                <a:cs typeface="Arial"/>
              </a:rPr>
              <a:t> </a:t>
            </a:r>
            <a:r>
              <a:rPr sz="1000" spc="-10" dirty="0">
                <a:latin typeface="Arial"/>
                <a:cs typeface="Arial"/>
              </a:rPr>
              <a:t>message</a:t>
            </a:r>
            <a:r>
              <a:rPr sz="1000" spc="-5" dirty="0">
                <a:latin typeface="Arial"/>
                <a:cs typeface="Arial"/>
              </a:rPr>
              <a:t> </a:t>
            </a:r>
            <a:r>
              <a:rPr sz="1000" spc="-10" dirty="0">
                <a:latin typeface="Arial"/>
                <a:cs typeface="Arial"/>
              </a:rPr>
              <a:t>delivery</a:t>
            </a:r>
            <a:r>
              <a:rPr sz="1000" dirty="0">
                <a:latin typeface="Arial"/>
                <a:cs typeface="Arial"/>
              </a:rPr>
              <a:t> </a:t>
            </a:r>
            <a:r>
              <a:rPr sz="1000" spc="-10" dirty="0">
                <a:latin typeface="Arial"/>
                <a:cs typeface="Arial"/>
              </a:rPr>
              <a:t>times</a:t>
            </a:r>
            <a:r>
              <a:rPr sz="1000" spc="-5" dirty="0">
                <a:latin typeface="Arial"/>
                <a:cs typeface="Arial"/>
              </a:rPr>
              <a:t> </a:t>
            </a:r>
            <a:r>
              <a:rPr sz="1000" i="1" spc="-5" dirty="0">
                <a:latin typeface="メイリオ"/>
                <a:cs typeface="メイリオ"/>
              </a:rPr>
              <a:t>→</a:t>
            </a:r>
            <a:r>
              <a:rPr sz="1000" i="1" spc="-60" dirty="0">
                <a:latin typeface="メイリオ"/>
                <a:cs typeface="メイリオ"/>
              </a:rPr>
              <a:t> </a:t>
            </a:r>
            <a:r>
              <a:rPr sz="1000" spc="-10" dirty="0">
                <a:solidFill>
                  <a:srgbClr val="0000FA"/>
                </a:solidFill>
                <a:latin typeface="Arial"/>
                <a:cs typeface="Arial"/>
              </a:rPr>
              <a:t>cannot</a:t>
            </a:r>
            <a:r>
              <a:rPr sz="1000" spc="-5" dirty="0">
                <a:solidFill>
                  <a:srgbClr val="0000FA"/>
                </a:solidFill>
                <a:latin typeface="Arial"/>
                <a:cs typeface="Arial"/>
              </a:rPr>
              <a:t> </a:t>
            </a:r>
            <a:r>
              <a:rPr sz="1000" spc="-10" dirty="0">
                <a:solidFill>
                  <a:srgbClr val="0000FA"/>
                </a:solidFill>
                <a:latin typeface="Arial"/>
                <a:cs typeface="Arial"/>
              </a:rPr>
              <a:t>reliably</a:t>
            </a:r>
            <a:r>
              <a:rPr sz="1000" dirty="0">
                <a:solidFill>
                  <a:srgbClr val="0000FA"/>
                </a:solidFill>
                <a:latin typeface="Arial"/>
                <a:cs typeface="Arial"/>
              </a:rPr>
              <a:t> </a:t>
            </a:r>
            <a:r>
              <a:rPr sz="1000" spc="-10" dirty="0">
                <a:solidFill>
                  <a:srgbClr val="0000FA"/>
                </a:solidFill>
                <a:latin typeface="Arial"/>
                <a:cs typeface="Arial"/>
              </a:rPr>
              <a:t>detect</a:t>
            </a:r>
            <a:r>
              <a:rPr sz="1000" spc="-5" dirty="0">
                <a:solidFill>
                  <a:srgbClr val="0000FA"/>
                </a:solidFill>
                <a:latin typeface="Arial"/>
                <a:cs typeface="Arial"/>
              </a:rPr>
              <a:t> </a:t>
            </a:r>
            <a:r>
              <a:rPr sz="1000" spc="-10" dirty="0">
                <a:solidFill>
                  <a:srgbClr val="0000FA"/>
                </a:solidFill>
                <a:latin typeface="Arial"/>
                <a:cs typeface="Arial"/>
              </a:rPr>
              <a:t>crash</a:t>
            </a:r>
            <a:endParaRPr sz="1000">
              <a:latin typeface="Arial"/>
              <a:cs typeface="Arial"/>
            </a:endParaRPr>
          </a:p>
        </p:txBody>
      </p:sp>
      <p:sp>
        <p:nvSpPr>
          <p:cNvPr id="6" name="object 6"/>
          <p:cNvSpPr txBox="1"/>
          <p:nvPr/>
        </p:nvSpPr>
        <p:spPr>
          <a:xfrm>
            <a:off x="431304" y="1692548"/>
            <a:ext cx="3747135" cy="481330"/>
          </a:xfrm>
          <a:prstGeom prst="rect">
            <a:avLst/>
          </a:prstGeom>
        </p:spPr>
        <p:txBody>
          <a:bodyPr vert="horz" wrap="square" lIns="0" tIns="88265" rIns="0" bIns="0" rtlCol="0">
            <a:spAutoFit/>
          </a:bodyPr>
          <a:lstStyle/>
          <a:p>
            <a:pPr marL="205740">
              <a:lnSpc>
                <a:spcPct val="100000"/>
              </a:lnSpc>
              <a:spcBef>
                <a:spcPts val="695"/>
              </a:spcBef>
            </a:pPr>
            <a:r>
              <a:rPr sz="1000" spc="-5" dirty="0">
                <a:solidFill>
                  <a:srgbClr val="0000FA"/>
                </a:solidFill>
                <a:latin typeface="Arial"/>
                <a:cs typeface="Arial"/>
              </a:rPr>
              <a:t>failures</a:t>
            </a:r>
            <a:r>
              <a:rPr sz="1000" spc="-5" dirty="0">
                <a:latin typeface="Arial"/>
                <a:cs typeface="Arial"/>
              </a:rPr>
              <a:t>.</a:t>
            </a:r>
            <a:endParaRPr sz="1000">
              <a:latin typeface="Arial"/>
              <a:cs typeface="Arial"/>
            </a:endParaRPr>
          </a:p>
          <a:p>
            <a:pPr marL="205740" indent="-168275">
              <a:lnSpc>
                <a:spcPct val="100000"/>
              </a:lnSpc>
              <a:spcBef>
                <a:spcPts val="590"/>
              </a:spcBef>
              <a:buClr>
                <a:srgbClr val="3333B2"/>
              </a:buClr>
              <a:buChar char="►"/>
              <a:tabLst>
                <a:tab pos="206375" algn="l"/>
              </a:tabLst>
            </a:pPr>
            <a:r>
              <a:rPr sz="1000" spc="-5" dirty="0">
                <a:solidFill>
                  <a:srgbClr val="FA0000"/>
                </a:solidFill>
                <a:latin typeface="Arial"/>
                <a:cs typeface="Arial"/>
              </a:rPr>
              <a:t>Synchronous system:</a:t>
            </a:r>
            <a:r>
              <a:rPr sz="1000" spc="70" dirty="0">
                <a:solidFill>
                  <a:srgbClr val="FA0000"/>
                </a:solidFill>
                <a:latin typeface="Arial"/>
                <a:cs typeface="Arial"/>
              </a:rPr>
              <a:t> </a:t>
            </a:r>
            <a:r>
              <a:rPr sz="1000" spc="-5" dirty="0">
                <a:latin typeface="Arial"/>
                <a:cs typeface="Arial"/>
              </a:rPr>
              <a:t>process </a:t>
            </a:r>
            <a:r>
              <a:rPr sz="1000" spc="-10" dirty="0">
                <a:latin typeface="Arial"/>
                <a:cs typeface="Arial"/>
              </a:rPr>
              <a:t>execution</a:t>
            </a:r>
            <a:r>
              <a:rPr sz="1000" dirty="0">
                <a:latin typeface="Arial"/>
                <a:cs typeface="Arial"/>
              </a:rPr>
              <a:t> </a:t>
            </a:r>
            <a:r>
              <a:rPr sz="1000" spc="-5" dirty="0">
                <a:latin typeface="Arial"/>
                <a:cs typeface="Arial"/>
              </a:rPr>
              <a:t>speeds</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message</a:t>
            </a:r>
            <a:endParaRPr sz="1000">
              <a:latin typeface="Arial"/>
              <a:cs typeface="Arial"/>
            </a:endParaRPr>
          </a:p>
        </p:txBody>
      </p:sp>
      <p:sp>
        <p:nvSpPr>
          <p:cNvPr id="7" name="object 7"/>
          <p:cNvSpPr txBox="1"/>
          <p:nvPr/>
        </p:nvSpPr>
        <p:spPr>
          <a:xfrm>
            <a:off x="624395" y="2148045"/>
            <a:ext cx="34893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delivery times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bounded</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spc="-10" dirty="0">
                <a:solidFill>
                  <a:srgbClr val="0000FA"/>
                </a:solidFill>
                <a:latin typeface="Arial"/>
                <a:cs typeface="Arial"/>
              </a:rPr>
              <a:t>we</a:t>
            </a:r>
            <a:r>
              <a:rPr sz="1000" dirty="0">
                <a:solidFill>
                  <a:srgbClr val="0000FA"/>
                </a:solidFill>
                <a:latin typeface="Arial"/>
                <a:cs typeface="Arial"/>
              </a:rPr>
              <a:t> </a:t>
            </a:r>
            <a:r>
              <a:rPr sz="1000" spc="-5" dirty="0">
                <a:solidFill>
                  <a:srgbClr val="0000FA"/>
                </a:solidFill>
                <a:latin typeface="Arial"/>
                <a:cs typeface="Arial"/>
              </a:rPr>
              <a:t>can</a:t>
            </a:r>
            <a:r>
              <a:rPr sz="1000" dirty="0">
                <a:solidFill>
                  <a:srgbClr val="0000FA"/>
                </a:solidFill>
                <a:latin typeface="Arial"/>
                <a:cs typeface="Arial"/>
              </a:rPr>
              <a:t> </a:t>
            </a:r>
            <a:r>
              <a:rPr sz="1000" spc="-5" dirty="0">
                <a:solidFill>
                  <a:srgbClr val="0000FA"/>
                </a:solidFill>
                <a:latin typeface="Arial"/>
                <a:cs typeface="Arial"/>
              </a:rPr>
              <a:t>reliably</a:t>
            </a:r>
            <a:r>
              <a:rPr sz="1000" dirty="0">
                <a:solidFill>
                  <a:srgbClr val="0000FA"/>
                </a:solidFill>
                <a:latin typeface="Arial"/>
                <a:cs typeface="Arial"/>
              </a:rPr>
              <a:t> </a:t>
            </a:r>
            <a:r>
              <a:rPr sz="1000" spc="-5" dirty="0">
                <a:solidFill>
                  <a:srgbClr val="0000FA"/>
                </a:solidFill>
                <a:latin typeface="Arial"/>
                <a:cs typeface="Arial"/>
              </a:rPr>
              <a:t>detect omission</a:t>
            </a:r>
            <a:endParaRPr sz="1000">
              <a:latin typeface="Arial"/>
              <a:cs typeface="Arial"/>
            </a:endParaRPr>
          </a:p>
        </p:txBody>
      </p:sp>
      <p:sp>
        <p:nvSpPr>
          <p:cNvPr id="8" name="object 8"/>
          <p:cNvSpPr txBox="1"/>
          <p:nvPr/>
        </p:nvSpPr>
        <p:spPr>
          <a:xfrm>
            <a:off x="431304" y="2223954"/>
            <a:ext cx="3830320" cy="633095"/>
          </a:xfrm>
          <a:prstGeom prst="rect">
            <a:avLst/>
          </a:prstGeom>
        </p:spPr>
        <p:txBody>
          <a:bodyPr vert="horz" wrap="square" lIns="0" tIns="88265" rIns="0" bIns="0" rtlCol="0">
            <a:spAutoFit/>
          </a:bodyPr>
          <a:lstStyle/>
          <a:p>
            <a:pPr marL="205740">
              <a:lnSpc>
                <a:spcPct val="100000"/>
              </a:lnSpc>
              <a:spcBef>
                <a:spcPts val="695"/>
              </a:spcBef>
            </a:pPr>
            <a:r>
              <a:rPr sz="1000" spc="-5" dirty="0">
                <a:solidFill>
                  <a:srgbClr val="0000FA"/>
                </a:solidFill>
                <a:latin typeface="Arial"/>
                <a:cs typeface="Arial"/>
              </a:rPr>
              <a:t>and</a:t>
            </a:r>
            <a:r>
              <a:rPr sz="1000" spc="-30" dirty="0">
                <a:solidFill>
                  <a:srgbClr val="0000FA"/>
                </a:solidFill>
                <a:latin typeface="Arial"/>
                <a:cs typeface="Arial"/>
              </a:rPr>
              <a:t> </a:t>
            </a:r>
            <a:r>
              <a:rPr sz="1000" spc="-5" dirty="0">
                <a:solidFill>
                  <a:srgbClr val="0000FA"/>
                </a:solidFill>
                <a:latin typeface="Arial"/>
                <a:cs typeface="Arial"/>
              </a:rPr>
              <a:t>timing</a:t>
            </a:r>
            <a:r>
              <a:rPr sz="1000" spc="-25" dirty="0">
                <a:solidFill>
                  <a:srgbClr val="0000FA"/>
                </a:solidFill>
                <a:latin typeface="Arial"/>
                <a:cs typeface="Arial"/>
              </a:rPr>
              <a:t> </a:t>
            </a:r>
            <a:r>
              <a:rPr sz="1000" spc="-5" dirty="0">
                <a:solidFill>
                  <a:srgbClr val="0000FA"/>
                </a:solidFill>
                <a:latin typeface="Arial"/>
                <a:cs typeface="Arial"/>
              </a:rPr>
              <a:t>failures</a:t>
            </a:r>
            <a:r>
              <a:rPr sz="1000" spc="-5" dirty="0">
                <a:latin typeface="Arial"/>
                <a:cs typeface="Arial"/>
              </a:rPr>
              <a:t>.</a:t>
            </a:r>
            <a:endParaRPr sz="1000">
              <a:latin typeface="Arial"/>
              <a:cs typeface="Arial"/>
            </a:endParaRPr>
          </a:p>
          <a:p>
            <a:pPr marL="205740" marR="30480" indent="-168275">
              <a:lnSpc>
                <a:spcPct val="100000"/>
              </a:lnSpc>
              <a:spcBef>
                <a:spcPts val="590"/>
              </a:spcBef>
              <a:buClr>
                <a:srgbClr val="3333B2"/>
              </a:buClr>
              <a:buChar char="►"/>
              <a:tabLst>
                <a:tab pos="206375" algn="l"/>
              </a:tabLst>
            </a:pPr>
            <a:r>
              <a:rPr sz="1000" spc="-5" dirty="0">
                <a:latin typeface="Arial"/>
                <a:cs typeface="Arial"/>
              </a:rPr>
              <a:t>In practice</a:t>
            </a:r>
            <a:r>
              <a:rPr sz="1000" dirty="0">
                <a:latin typeface="Arial"/>
                <a:cs typeface="Arial"/>
              </a:rPr>
              <a:t> </a:t>
            </a:r>
            <a:r>
              <a:rPr sz="1000" spc="-10" dirty="0">
                <a:latin typeface="Arial"/>
                <a:cs typeface="Arial"/>
              </a:rPr>
              <a:t>we</a:t>
            </a:r>
            <a:r>
              <a:rPr sz="1000" dirty="0">
                <a:latin typeface="Arial"/>
                <a:cs typeface="Arial"/>
              </a:rPr>
              <a:t> </a:t>
            </a:r>
            <a:r>
              <a:rPr sz="1000" spc="-15" dirty="0">
                <a:latin typeface="Arial"/>
                <a:cs typeface="Arial"/>
              </a:rPr>
              <a:t>have</a:t>
            </a:r>
            <a:r>
              <a:rPr sz="1000" spc="-5" dirty="0">
                <a:latin typeface="Arial"/>
                <a:cs typeface="Arial"/>
              </a:rPr>
              <a:t> </a:t>
            </a:r>
            <a:r>
              <a:rPr sz="1000" dirty="0">
                <a:solidFill>
                  <a:srgbClr val="FA0000"/>
                </a:solidFill>
                <a:latin typeface="Arial"/>
                <a:cs typeface="Arial"/>
              </a:rPr>
              <a:t>partially </a:t>
            </a:r>
            <a:r>
              <a:rPr sz="1000" spc="-5" dirty="0">
                <a:solidFill>
                  <a:srgbClr val="FA0000"/>
                </a:solidFill>
                <a:latin typeface="Arial"/>
                <a:cs typeface="Arial"/>
              </a:rPr>
              <a:t>synchronous</a:t>
            </a:r>
            <a:r>
              <a:rPr sz="1000" dirty="0">
                <a:solidFill>
                  <a:srgbClr val="FA0000"/>
                </a:solidFill>
                <a:latin typeface="Arial"/>
                <a:cs typeface="Arial"/>
              </a:rPr>
              <a:t> </a:t>
            </a:r>
            <a:r>
              <a:rPr sz="1000" spc="-5" dirty="0">
                <a:solidFill>
                  <a:srgbClr val="FA0000"/>
                </a:solidFill>
                <a:latin typeface="Arial"/>
                <a:cs typeface="Arial"/>
              </a:rPr>
              <a:t>systems:</a:t>
            </a:r>
            <a:r>
              <a:rPr sz="1000" spc="65" dirty="0">
                <a:solidFill>
                  <a:srgbClr val="FA0000"/>
                </a:solidFill>
                <a:latin typeface="Arial"/>
                <a:cs typeface="Arial"/>
              </a:rPr>
              <a:t> </a:t>
            </a:r>
            <a:r>
              <a:rPr sz="1000" spc="-5" dirty="0">
                <a:latin typeface="Arial"/>
                <a:cs typeface="Arial"/>
              </a:rPr>
              <a:t>most</a:t>
            </a:r>
            <a:r>
              <a:rPr sz="1000" dirty="0">
                <a:latin typeface="Arial"/>
                <a:cs typeface="Arial"/>
              </a:rPr>
              <a:t> </a:t>
            </a:r>
            <a:r>
              <a:rPr sz="1000" spc="-5" dirty="0">
                <a:latin typeface="Arial"/>
                <a:cs typeface="Arial"/>
              </a:rPr>
              <a:t>of the </a:t>
            </a:r>
            <a:r>
              <a:rPr sz="1000" dirty="0">
                <a:latin typeface="Arial"/>
                <a:cs typeface="Arial"/>
              </a:rPr>
              <a:t> </a:t>
            </a:r>
            <a:r>
              <a:rPr sz="1000" spc="-5" dirty="0">
                <a:latin typeface="Arial"/>
                <a:cs typeface="Arial"/>
              </a:rPr>
              <a:t>time, </a:t>
            </a:r>
            <a:r>
              <a:rPr sz="1000" spc="-10" dirty="0">
                <a:latin typeface="Arial"/>
                <a:cs typeface="Arial"/>
              </a:rPr>
              <a:t>we</a:t>
            </a:r>
            <a:r>
              <a:rPr sz="1000" spc="-5" dirty="0">
                <a:latin typeface="Arial"/>
                <a:cs typeface="Arial"/>
              </a:rPr>
              <a:t> can</a:t>
            </a:r>
            <a:r>
              <a:rPr sz="1000" dirty="0">
                <a:latin typeface="Arial"/>
                <a:cs typeface="Arial"/>
              </a:rPr>
              <a:t> </a:t>
            </a:r>
            <a:r>
              <a:rPr sz="1000" spc="-5" dirty="0">
                <a:latin typeface="Arial"/>
                <a:cs typeface="Arial"/>
              </a:rPr>
              <a:t>assume the</a:t>
            </a:r>
            <a:r>
              <a:rPr sz="1000" dirty="0">
                <a:latin typeface="Arial"/>
                <a:cs typeface="Arial"/>
              </a:rPr>
              <a:t> </a:t>
            </a:r>
            <a:r>
              <a:rPr sz="1000" spc="-5" dirty="0">
                <a:latin typeface="Arial"/>
                <a:cs typeface="Arial"/>
              </a:rPr>
              <a:t>system to be</a:t>
            </a:r>
            <a:r>
              <a:rPr sz="1000" dirty="0">
                <a:latin typeface="Arial"/>
                <a:cs typeface="Arial"/>
              </a:rPr>
              <a:t> </a:t>
            </a:r>
            <a:r>
              <a:rPr sz="1000" spc="-5" dirty="0">
                <a:latin typeface="Arial"/>
                <a:cs typeface="Arial"/>
              </a:rPr>
              <a:t>synchronous, </a:t>
            </a:r>
            <a:r>
              <a:rPr sz="1000" spc="-10" dirty="0">
                <a:latin typeface="Arial"/>
                <a:cs typeface="Arial"/>
              </a:rPr>
              <a:t>yet</a:t>
            </a:r>
            <a:r>
              <a:rPr sz="1000" dirty="0">
                <a:latin typeface="Arial"/>
                <a:cs typeface="Arial"/>
              </a:rPr>
              <a:t> </a:t>
            </a:r>
            <a:r>
              <a:rPr sz="1000" spc="-5" dirty="0">
                <a:latin typeface="Arial"/>
                <a:cs typeface="Arial"/>
              </a:rPr>
              <a:t>there is</a:t>
            </a:r>
            <a:endParaRPr sz="1000">
              <a:latin typeface="Arial"/>
              <a:cs typeface="Arial"/>
            </a:endParaRPr>
          </a:p>
        </p:txBody>
      </p:sp>
      <p:sp>
        <p:nvSpPr>
          <p:cNvPr id="9" name="object 9"/>
          <p:cNvSpPr txBox="1"/>
          <p:nvPr/>
        </p:nvSpPr>
        <p:spPr>
          <a:xfrm>
            <a:off x="624395" y="2831279"/>
            <a:ext cx="3352165" cy="329565"/>
          </a:xfrm>
          <a:prstGeom prst="rect">
            <a:avLst/>
          </a:prstGeom>
        </p:spPr>
        <p:txBody>
          <a:bodyPr vert="horz" wrap="square" lIns="0" tIns="12065" rIns="0" bIns="0" rtlCol="0">
            <a:spAutoFit/>
          </a:bodyPr>
          <a:lstStyle/>
          <a:p>
            <a:pPr marL="12700" marR="5080">
              <a:lnSpc>
                <a:spcPct val="100000"/>
              </a:lnSpc>
              <a:spcBef>
                <a:spcPts val="95"/>
              </a:spcBef>
            </a:pPr>
            <a:r>
              <a:rPr sz="1000" spc="-5" dirty="0">
                <a:latin typeface="Arial"/>
                <a:cs typeface="Arial"/>
              </a:rPr>
              <a:t>no bound on the time that a system is asynchronous </a:t>
            </a:r>
            <a:r>
              <a:rPr sz="1000" i="1" spc="-5" dirty="0">
                <a:latin typeface="メイリオ"/>
                <a:cs typeface="メイリオ"/>
              </a:rPr>
              <a:t>→ </a:t>
            </a:r>
            <a:r>
              <a:rPr sz="1000" spc="-5" dirty="0">
                <a:solidFill>
                  <a:srgbClr val="0000FA"/>
                </a:solidFill>
                <a:latin typeface="Arial"/>
                <a:cs typeface="Arial"/>
              </a:rPr>
              <a:t>can </a:t>
            </a:r>
            <a:r>
              <a:rPr sz="1000" spc="-265" dirty="0">
                <a:solidFill>
                  <a:srgbClr val="0000FA"/>
                </a:solidFill>
                <a:latin typeface="Arial"/>
                <a:cs typeface="Arial"/>
              </a:rPr>
              <a:t> </a:t>
            </a:r>
            <a:r>
              <a:rPr sz="1000" dirty="0">
                <a:solidFill>
                  <a:srgbClr val="0000FA"/>
                </a:solidFill>
                <a:latin typeface="Arial"/>
                <a:cs typeface="Arial"/>
              </a:rPr>
              <a:t>normally</a:t>
            </a:r>
            <a:r>
              <a:rPr sz="1000" spc="-10" dirty="0">
                <a:solidFill>
                  <a:srgbClr val="0000FA"/>
                </a:solidFill>
                <a:latin typeface="Arial"/>
                <a:cs typeface="Arial"/>
              </a:rPr>
              <a:t> </a:t>
            </a:r>
            <a:r>
              <a:rPr sz="1000" spc="-5" dirty="0">
                <a:solidFill>
                  <a:srgbClr val="0000FA"/>
                </a:solidFill>
                <a:latin typeface="Arial"/>
                <a:cs typeface="Arial"/>
              </a:rPr>
              <a:t>reliably detect crash</a:t>
            </a:r>
            <a:r>
              <a:rPr sz="1000" spc="-10" dirty="0">
                <a:solidFill>
                  <a:srgbClr val="0000FA"/>
                </a:solidFill>
                <a:latin typeface="Arial"/>
                <a:cs typeface="Arial"/>
              </a:rPr>
              <a:t> </a:t>
            </a:r>
            <a:r>
              <a:rPr sz="1000" spc="-5" dirty="0">
                <a:solidFill>
                  <a:srgbClr val="0000FA"/>
                </a:solidFill>
                <a:latin typeface="Arial"/>
                <a:cs typeface="Arial"/>
              </a:rPr>
              <a:t>failures</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10</a:t>
            </a:r>
            <a:r>
              <a:rPr spc="-40" dirty="0"/>
              <a:t> </a:t>
            </a:r>
            <a:r>
              <a:rPr spc="-5" dirty="0"/>
              <a:t>/</a:t>
            </a:r>
            <a:r>
              <a:rPr spc="-35" dirty="0"/>
              <a:t> </a:t>
            </a:r>
            <a:r>
              <a:rPr spc="-5" dirty="0"/>
              <a:t>68</a:t>
            </a: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4021911" y="716"/>
            <a:ext cx="519430" cy="116839"/>
          </a:xfrm>
          <a:prstGeom prst="rect">
            <a:avLst/>
          </a:prstGeom>
        </p:spPr>
        <p:txBody>
          <a:bodyPr vert="horz" wrap="square" lIns="0" tIns="12065" rIns="0" bIns="0" rtlCol="0">
            <a:spAutoFit/>
          </a:bodyPr>
          <a:lstStyle/>
          <a:p>
            <a:pPr marL="12700">
              <a:lnSpc>
                <a:spcPct val="100000"/>
              </a:lnSpc>
              <a:spcBef>
                <a:spcPts val="95"/>
              </a:spcBef>
            </a:pPr>
            <a:r>
              <a:rPr sz="600" spc="-35" dirty="0">
                <a:solidFill>
                  <a:srgbClr val="262685"/>
                </a:solidFill>
                <a:latin typeface="Arial"/>
                <a:cs typeface="Arial"/>
                <a:hlinkClick r:id="rId4" action="ppaction://hlinksldjump"/>
              </a:rPr>
              <a:t>F</a:t>
            </a:r>
            <a:r>
              <a:rPr sz="600" spc="-5" dirty="0">
                <a:solidFill>
                  <a:srgbClr val="262685"/>
                </a:solidFill>
                <a:latin typeface="Arial"/>
                <a:cs typeface="Arial"/>
                <a:hlinkClick r:id="rId4" action="ppaction://hlinksldjump"/>
              </a:rPr>
              <a:t>ailure models</a:t>
            </a:r>
            <a:endParaRPr sz="600">
              <a:latin typeface="Arial"/>
              <a:cs typeface="Arial"/>
            </a:endParaRPr>
          </a:p>
        </p:txBody>
      </p:sp>
      <p:sp>
        <p:nvSpPr>
          <p:cNvPr id="4" name="object 4"/>
          <p:cNvSpPr txBox="1"/>
          <p:nvPr/>
        </p:nvSpPr>
        <p:spPr>
          <a:xfrm>
            <a:off x="95300" y="188846"/>
            <a:ext cx="2073910" cy="77470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Halting</a:t>
            </a:r>
            <a:r>
              <a:rPr sz="1400" spc="-30" dirty="0">
                <a:solidFill>
                  <a:srgbClr val="3333B2"/>
                </a:solidFill>
                <a:latin typeface="Arial"/>
                <a:cs typeface="Arial"/>
              </a:rPr>
              <a:t> </a:t>
            </a:r>
            <a:r>
              <a:rPr sz="1400" spc="5" dirty="0">
                <a:solidFill>
                  <a:srgbClr val="3333B2"/>
                </a:solidFill>
                <a:latin typeface="Arial"/>
                <a:cs typeface="Arial"/>
              </a:rPr>
              <a:t>failures</a:t>
            </a:r>
            <a:endParaRPr sz="1400">
              <a:latin typeface="Arial"/>
              <a:cs typeface="Arial"/>
            </a:endParaRPr>
          </a:p>
          <a:p>
            <a:pPr>
              <a:lnSpc>
                <a:spcPct val="100000"/>
              </a:lnSpc>
              <a:spcBef>
                <a:spcPts val="40"/>
              </a:spcBef>
            </a:pPr>
            <a:endParaRPr sz="2350">
              <a:latin typeface="Arial"/>
              <a:cs typeface="Arial"/>
            </a:endParaRPr>
          </a:p>
          <a:p>
            <a:pPr marL="259079">
              <a:lnSpc>
                <a:spcPct val="100000"/>
              </a:lnSpc>
            </a:pPr>
            <a:r>
              <a:rPr sz="1200" spc="-5" dirty="0">
                <a:solidFill>
                  <a:srgbClr val="3333B2"/>
                </a:solidFill>
                <a:latin typeface="Arial"/>
                <a:cs typeface="Arial"/>
              </a:rPr>
              <a:t>Assumptions</a:t>
            </a:r>
            <a:r>
              <a:rPr sz="1200" spc="-25" dirty="0">
                <a:solidFill>
                  <a:srgbClr val="3333B2"/>
                </a:solidFill>
                <a:latin typeface="Arial"/>
                <a:cs typeface="Arial"/>
              </a:rPr>
              <a:t> </a:t>
            </a:r>
            <a:r>
              <a:rPr sz="1200" spc="-15" dirty="0">
                <a:solidFill>
                  <a:srgbClr val="3333B2"/>
                </a:solidFill>
                <a:latin typeface="Arial"/>
                <a:cs typeface="Arial"/>
              </a:rPr>
              <a:t>we</a:t>
            </a:r>
            <a:r>
              <a:rPr sz="1200" spc="-20" dirty="0">
                <a:solidFill>
                  <a:srgbClr val="3333B2"/>
                </a:solidFill>
                <a:latin typeface="Arial"/>
                <a:cs typeface="Arial"/>
              </a:rPr>
              <a:t> </a:t>
            </a:r>
            <a:r>
              <a:rPr sz="1200" spc="-5" dirty="0">
                <a:solidFill>
                  <a:srgbClr val="3333B2"/>
                </a:solidFill>
                <a:latin typeface="Arial"/>
                <a:cs typeface="Arial"/>
              </a:rPr>
              <a:t>can</a:t>
            </a:r>
            <a:r>
              <a:rPr sz="1200" spc="-20" dirty="0">
                <a:solidFill>
                  <a:srgbClr val="3333B2"/>
                </a:solidFill>
                <a:latin typeface="Arial"/>
                <a:cs typeface="Arial"/>
              </a:rPr>
              <a:t> </a:t>
            </a:r>
            <a:r>
              <a:rPr sz="1200" spc="-10" dirty="0">
                <a:solidFill>
                  <a:srgbClr val="3333B2"/>
                </a:solidFill>
                <a:latin typeface="Arial"/>
                <a:cs typeface="Arial"/>
              </a:rPr>
              <a:t>make</a:t>
            </a:r>
            <a:endParaRPr sz="1200">
              <a:latin typeface="Arial"/>
              <a:cs typeface="Arial"/>
            </a:endParaRPr>
          </a:p>
        </p:txBody>
      </p:sp>
      <p:graphicFrame>
        <p:nvGraphicFramePr>
          <p:cNvPr id="5" name="object 5"/>
          <p:cNvGraphicFramePr>
            <a:graphicFrameLocks noGrp="1"/>
          </p:cNvGraphicFramePr>
          <p:nvPr/>
        </p:nvGraphicFramePr>
        <p:xfrm>
          <a:off x="616115" y="1074674"/>
          <a:ext cx="3369944" cy="1590040"/>
        </p:xfrm>
        <a:graphic>
          <a:graphicData uri="http://schemas.openxmlformats.org/drawingml/2006/table">
            <a:tbl>
              <a:tblPr firstRow="1" bandRow="1">
                <a:tableStyleId>{2D5ABB26-0587-4C30-8999-92F81FD0307C}</a:tableStyleId>
              </a:tblPr>
              <a:tblGrid>
                <a:gridCol w="880744">
                  <a:extLst>
                    <a:ext uri="{9D8B030D-6E8A-4147-A177-3AD203B41FA5}">
                      <a16:colId xmlns:a16="http://schemas.microsoft.com/office/drawing/2014/main" val="20000"/>
                    </a:ext>
                  </a:extLst>
                </a:gridCol>
                <a:gridCol w="2489200">
                  <a:extLst>
                    <a:ext uri="{9D8B030D-6E8A-4147-A177-3AD203B41FA5}">
                      <a16:colId xmlns:a16="http://schemas.microsoft.com/office/drawing/2014/main" val="20001"/>
                    </a:ext>
                  </a:extLst>
                </a:gridCol>
              </a:tblGrid>
              <a:tr h="193675">
                <a:tc>
                  <a:txBody>
                    <a:bodyPr/>
                    <a:lstStyle/>
                    <a:p>
                      <a:pPr marL="78105">
                        <a:lnSpc>
                          <a:spcPct val="100000"/>
                        </a:lnSpc>
                        <a:spcBef>
                          <a:spcPts val="25"/>
                        </a:spcBef>
                      </a:pPr>
                      <a:r>
                        <a:rPr sz="1000" b="1" spc="-5" dirty="0">
                          <a:latin typeface="Arial"/>
                          <a:cs typeface="Arial"/>
                        </a:rPr>
                        <a:t>Halting</a:t>
                      </a:r>
                      <a:r>
                        <a:rPr sz="1000" b="1" spc="-35" dirty="0">
                          <a:latin typeface="Arial"/>
                          <a:cs typeface="Arial"/>
                        </a:rPr>
                        <a:t> </a:t>
                      </a:r>
                      <a:r>
                        <a:rPr sz="1000" b="1" spc="-5" dirty="0">
                          <a:latin typeface="Arial"/>
                          <a:cs typeface="Arial"/>
                        </a:rPr>
                        <a:t>type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5"/>
                        </a:spcBef>
                      </a:pPr>
                      <a:r>
                        <a:rPr sz="1000" b="1" spc="-5" dirty="0">
                          <a:latin typeface="Arial"/>
                          <a:cs typeface="Arial"/>
                        </a:rPr>
                        <a:t>Description</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93675">
                <a:tc>
                  <a:txBody>
                    <a:bodyPr/>
                    <a:lstStyle/>
                    <a:p>
                      <a:pPr marL="78105">
                        <a:lnSpc>
                          <a:spcPct val="100000"/>
                        </a:lnSpc>
                        <a:spcBef>
                          <a:spcPts val="75"/>
                        </a:spcBef>
                      </a:pPr>
                      <a:r>
                        <a:rPr sz="1000" spc="-10" dirty="0">
                          <a:solidFill>
                            <a:srgbClr val="FA0000"/>
                          </a:solidFill>
                          <a:latin typeface="Arial"/>
                          <a:cs typeface="Arial"/>
                        </a:rPr>
                        <a:t>Fail-stop</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75"/>
                        </a:spcBef>
                      </a:pPr>
                      <a:r>
                        <a:rPr sz="1000" spc="-5" dirty="0">
                          <a:latin typeface="Arial"/>
                          <a:cs typeface="Arial"/>
                        </a:rPr>
                        <a:t>Crash</a:t>
                      </a:r>
                      <a:r>
                        <a:rPr sz="1000" spc="-15" dirty="0">
                          <a:latin typeface="Arial"/>
                          <a:cs typeface="Arial"/>
                        </a:rPr>
                        <a:t> </a:t>
                      </a:r>
                      <a:r>
                        <a:rPr sz="1000" spc="-10" dirty="0">
                          <a:latin typeface="Arial"/>
                          <a:cs typeface="Arial"/>
                        </a:rPr>
                        <a:t>failures,</a:t>
                      </a:r>
                      <a:r>
                        <a:rPr sz="1000" spc="-15" dirty="0">
                          <a:latin typeface="Arial"/>
                          <a:cs typeface="Arial"/>
                        </a:rPr>
                        <a:t> </a:t>
                      </a:r>
                      <a:r>
                        <a:rPr sz="1000" spc="-10" dirty="0">
                          <a:latin typeface="Arial"/>
                          <a:cs typeface="Arial"/>
                        </a:rPr>
                        <a:t>but </a:t>
                      </a:r>
                      <a:r>
                        <a:rPr sz="1000" spc="-5" dirty="0">
                          <a:latin typeface="Arial"/>
                          <a:cs typeface="Arial"/>
                        </a:rPr>
                        <a:t>reliably</a:t>
                      </a:r>
                      <a:r>
                        <a:rPr sz="1000" spc="-15" dirty="0">
                          <a:latin typeface="Arial"/>
                          <a:cs typeface="Arial"/>
                        </a:rPr>
                        <a:t> </a:t>
                      </a:r>
                      <a:r>
                        <a:rPr sz="1000" spc="-5" dirty="0">
                          <a:latin typeface="Arial"/>
                          <a:cs typeface="Arial"/>
                        </a:rPr>
                        <a:t>detectable</a:t>
                      </a:r>
                      <a:endParaRPr sz="10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338455">
                <a:tc>
                  <a:txBody>
                    <a:bodyPr/>
                    <a:lstStyle/>
                    <a:p>
                      <a:pPr marL="78105">
                        <a:lnSpc>
                          <a:spcPct val="100000"/>
                        </a:lnSpc>
                        <a:spcBef>
                          <a:spcPts val="25"/>
                        </a:spcBef>
                      </a:pPr>
                      <a:r>
                        <a:rPr sz="1000" spc="-10" dirty="0">
                          <a:solidFill>
                            <a:srgbClr val="FA0000"/>
                          </a:solidFill>
                          <a:latin typeface="Arial"/>
                          <a:cs typeface="Arial"/>
                        </a:rPr>
                        <a:t>Fail-noisy</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49530">
                        <a:lnSpc>
                          <a:spcPct val="100000"/>
                        </a:lnSpc>
                        <a:spcBef>
                          <a:spcPts val="25"/>
                        </a:spcBef>
                      </a:pPr>
                      <a:r>
                        <a:rPr sz="1000" spc="5" dirty="0">
                          <a:latin typeface="Arial"/>
                          <a:cs typeface="Arial"/>
                        </a:rPr>
                        <a:t>Crash</a:t>
                      </a:r>
                      <a:r>
                        <a:rPr sz="1000" spc="185" dirty="0">
                          <a:latin typeface="Arial"/>
                          <a:cs typeface="Arial"/>
                        </a:rPr>
                        <a:t> </a:t>
                      </a:r>
                      <a:r>
                        <a:rPr sz="1000" dirty="0">
                          <a:latin typeface="Arial"/>
                          <a:cs typeface="Arial"/>
                        </a:rPr>
                        <a:t>failures,</a:t>
                      </a:r>
                      <a:r>
                        <a:rPr sz="1000" spc="25" dirty="0">
                          <a:latin typeface="Arial"/>
                          <a:cs typeface="Arial"/>
                        </a:rPr>
                        <a:t> </a:t>
                      </a:r>
                      <a:r>
                        <a:rPr sz="1000" dirty="0">
                          <a:latin typeface="Arial"/>
                          <a:cs typeface="Arial"/>
                        </a:rPr>
                        <a:t>eventually</a:t>
                      </a:r>
                      <a:r>
                        <a:rPr sz="1000" spc="190" dirty="0">
                          <a:latin typeface="Arial"/>
                          <a:cs typeface="Arial"/>
                        </a:rPr>
                        <a:t> </a:t>
                      </a:r>
                      <a:r>
                        <a:rPr sz="1000" dirty="0">
                          <a:latin typeface="Arial"/>
                          <a:cs typeface="Arial"/>
                        </a:rPr>
                        <a:t>reliably</a:t>
                      </a:r>
                      <a:r>
                        <a:rPr sz="1000" spc="190" dirty="0">
                          <a:latin typeface="Arial"/>
                          <a:cs typeface="Arial"/>
                        </a:rPr>
                        <a:t> </a:t>
                      </a:r>
                      <a:r>
                        <a:rPr sz="1000" spc="5" dirty="0">
                          <a:latin typeface="Arial"/>
                          <a:cs typeface="Arial"/>
                        </a:rPr>
                        <a:t>de- </a:t>
                      </a:r>
                      <a:r>
                        <a:rPr sz="1000" spc="-265" dirty="0">
                          <a:latin typeface="Arial"/>
                          <a:cs typeface="Arial"/>
                        </a:rPr>
                        <a:t> </a:t>
                      </a:r>
                      <a:r>
                        <a:rPr sz="1000" spc="-5" dirty="0">
                          <a:latin typeface="Arial"/>
                          <a:cs typeface="Arial"/>
                        </a:rPr>
                        <a:t>tectable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338455">
                <a:tc>
                  <a:txBody>
                    <a:bodyPr/>
                    <a:lstStyle/>
                    <a:p>
                      <a:pPr marL="78105">
                        <a:lnSpc>
                          <a:spcPct val="100000"/>
                        </a:lnSpc>
                        <a:spcBef>
                          <a:spcPts val="25"/>
                        </a:spcBef>
                      </a:pPr>
                      <a:r>
                        <a:rPr sz="1000" spc="-10" dirty="0">
                          <a:solidFill>
                            <a:srgbClr val="FA0000"/>
                          </a:solidFill>
                          <a:latin typeface="Arial"/>
                          <a:cs typeface="Arial"/>
                        </a:rPr>
                        <a:t>Fail-silent</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70485">
                        <a:lnSpc>
                          <a:spcPct val="100000"/>
                        </a:lnSpc>
                        <a:spcBef>
                          <a:spcPts val="25"/>
                        </a:spcBef>
                      </a:pPr>
                      <a:r>
                        <a:rPr sz="1000" dirty="0">
                          <a:latin typeface="Arial"/>
                          <a:cs typeface="Arial"/>
                        </a:rPr>
                        <a:t>Omission</a:t>
                      </a:r>
                      <a:r>
                        <a:rPr sz="1000" spc="-5" dirty="0">
                          <a:latin typeface="Arial"/>
                          <a:cs typeface="Arial"/>
                        </a:rPr>
                        <a:t> </a:t>
                      </a:r>
                      <a:r>
                        <a:rPr sz="1000" dirty="0">
                          <a:latin typeface="Arial"/>
                          <a:cs typeface="Arial"/>
                        </a:rPr>
                        <a:t>or crash</a:t>
                      </a:r>
                      <a:r>
                        <a:rPr sz="1000" spc="-5" dirty="0">
                          <a:latin typeface="Arial"/>
                          <a:cs typeface="Arial"/>
                        </a:rPr>
                        <a:t> failures:</a:t>
                      </a:r>
                      <a:r>
                        <a:rPr sz="1000" spc="65" dirty="0">
                          <a:latin typeface="Arial"/>
                          <a:cs typeface="Arial"/>
                        </a:rPr>
                        <a:t> </a:t>
                      </a:r>
                      <a:r>
                        <a:rPr sz="1000" dirty="0">
                          <a:latin typeface="Arial"/>
                          <a:cs typeface="Arial"/>
                        </a:rPr>
                        <a:t>clients</a:t>
                      </a:r>
                      <a:r>
                        <a:rPr sz="1000" spc="-5" dirty="0">
                          <a:latin typeface="Arial"/>
                          <a:cs typeface="Arial"/>
                        </a:rPr>
                        <a:t> </a:t>
                      </a:r>
                      <a:r>
                        <a:rPr sz="1000" dirty="0">
                          <a:latin typeface="Arial"/>
                          <a:cs typeface="Arial"/>
                        </a:rPr>
                        <a:t>cannot </a:t>
                      </a:r>
                      <a:r>
                        <a:rPr sz="1000" spc="-260" dirty="0">
                          <a:latin typeface="Arial"/>
                          <a:cs typeface="Arial"/>
                        </a:rPr>
                        <a:t> </a:t>
                      </a:r>
                      <a:r>
                        <a:rPr sz="1000" spc="-5" dirty="0">
                          <a:latin typeface="Arial"/>
                          <a:cs typeface="Arial"/>
                        </a:rPr>
                        <a:t>tell</a:t>
                      </a:r>
                      <a:r>
                        <a:rPr sz="1000" spc="-10" dirty="0">
                          <a:latin typeface="Arial"/>
                          <a:cs typeface="Arial"/>
                        </a:rPr>
                        <a:t> </a:t>
                      </a:r>
                      <a:r>
                        <a:rPr sz="1000" spc="-5" dirty="0">
                          <a:latin typeface="Arial"/>
                          <a:cs typeface="Arial"/>
                        </a:rPr>
                        <a:t>what went wrong</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339090">
                <a:tc>
                  <a:txBody>
                    <a:bodyPr/>
                    <a:lstStyle/>
                    <a:p>
                      <a:pPr marL="78105">
                        <a:lnSpc>
                          <a:spcPct val="100000"/>
                        </a:lnSpc>
                        <a:spcBef>
                          <a:spcPts val="25"/>
                        </a:spcBef>
                      </a:pPr>
                      <a:r>
                        <a:rPr sz="1000" spc="-15" dirty="0">
                          <a:solidFill>
                            <a:srgbClr val="FA0000"/>
                          </a:solidFill>
                          <a:latin typeface="Arial"/>
                          <a:cs typeface="Arial"/>
                        </a:rPr>
                        <a:t>Fail-safe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marR="49530">
                        <a:lnSpc>
                          <a:spcPct val="100000"/>
                        </a:lnSpc>
                        <a:spcBef>
                          <a:spcPts val="25"/>
                        </a:spcBef>
                      </a:pPr>
                      <a:r>
                        <a:rPr sz="1000" spc="-20" dirty="0">
                          <a:latin typeface="Arial"/>
                          <a:cs typeface="Arial"/>
                        </a:rPr>
                        <a:t>Arbitrary,</a:t>
                      </a:r>
                      <a:r>
                        <a:rPr sz="1000" spc="-5" dirty="0">
                          <a:latin typeface="Arial"/>
                          <a:cs typeface="Arial"/>
                        </a:rPr>
                        <a:t> </a:t>
                      </a:r>
                      <a:r>
                        <a:rPr sz="1000" spc="-20" dirty="0">
                          <a:latin typeface="Arial"/>
                          <a:cs typeface="Arial"/>
                        </a:rPr>
                        <a:t>yet</a:t>
                      </a:r>
                      <a:r>
                        <a:rPr sz="1000" dirty="0">
                          <a:latin typeface="Arial"/>
                          <a:cs typeface="Arial"/>
                        </a:rPr>
                        <a:t> </a:t>
                      </a:r>
                      <a:r>
                        <a:rPr sz="1000" spc="-15" dirty="0">
                          <a:latin typeface="Arial"/>
                          <a:cs typeface="Arial"/>
                        </a:rPr>
                        <a:t>benign</a:t>
                      </a:r>
                      <a:r>
                        <a:rPr sz="1000" dirty="0">
                          <a:latin typeface="Arial"/>
                          <a:cs typeface="Arial"/>
                        </a:rPr>
                        <a:t> </a:t>
                      </a:r>
                      <a:r>
                        <a:rPr sz="1000" spc="-15" dirty="0">
                          <a:latin typeface="Arial"/>
                          <a:cs typeface="Arial"/>
                        </a:rPr>
                        <a:t>failures</a:t>
                      </a:r>
                      <a:r>
                        <a:rPr sz="1000" dirty="0">
                          <a:latin typeface="Arial"/>
                          <a:cs typeface="Arial"/>
                        </a:rPr>
                        <a:t> </a:t>
                      </a:r>
                      <a:r>
                        <a:rPr sz="1000" spc="-10" dirty="0">
                          <a:latin typeface="Arial"/>
                          <a:cs typeface="Arial"/>
                        </a:rPr>
                        <a:t>(i.e.,</a:t>
                      </a:r>
                      <a:r>
                        <a:rPr sz="1000" dirty="0">
                          <a:latin typeface="Arial"/>
                          <a:cs typeface="Arial"/>
                        </a:rPr>
                        <a:t> </a:t>
                      </a:r>
                      <a:r>
                        <a:rPr sz="1000" spc="-20" dirty="0">
                          <a:latin typeface="Arial"/>
                          <a:cs typeface="Arial"/>
                        </a:rPr>
                        <a:t>they</a:t>
                      </a:r>
                      <a:r>
                        <a:rPr sz="1000" dirty="0">
                          <a:latin typeface="Arial"/>
                          <a:cs typeface="Arial"/>
                        </a:rPr>
                        <a:t> </a:t>
                      </a:r>
                      <a:r>
                        <a:rPr sz="1000" spc="-15" dirty="0">
                          <a:latin typeface="Arial"/>
                          <a:cs typeface="Arial"/>
                        </a:rPr>
                        <a:t>can- </a:t>
                      </a:r>
                      <a:r>
                        <a:rPr sz="1000" spc="-265"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do </a:t>
                      </a:r>
                      <a:r>
                        <a:rPr sz="1000" spc="-10" dirty="0">
                          <a:latin typeface="Arial"/>
                          <a:cs typeface="Arial"/>
                        </a:rPr>
                        <a:t>any</a:t>
                      </a:r>
                      <a:r>
                        <a:rPr sz="1000" spc="-5" dirty="0">
                          <a:latin typeface="Arial"/>
                          <a:cs typeface="Arial"/>
                        </a:rPr>
                        <a:t> </a:t>
                      </a:r>
                      <a:r>
                        <a:rPr sz="1000" dirty="0">
                          <a:latin typeface="Arial"/>
                          <a:cs typeface="Arial"/>
                        </a:rPr>
                        <a:t>harm)</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86690">
                <a:tc>
                  <a:txBody>
                    <a:bodyPr/>
                    <a:lstStyle/>
                    <a:p>
                      <a:pPr marL="78105">
                        <a:lnSpc>
                          <a:spcPct val="100000"/>
                        </a:lnSpc>
                        <a:spcBef>
                          <a:spcPts val="25"/>
                        </a:spcBef>
                      </a:pPr>
                      <a:r>
                        <a:rPr sz="1000" spc="-5" dirty="0">
                          <a:solidFill>
                            <a:srgbClr val="FA0000"/>
                          </a:solidFill>
                          <a:latin typeface="Arial"/>
                          <a:cs typeface="Arial"/>
                        </a:rPr>
                        <a:t>Fail-arbitrary</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5"/>
                        </a:spcBef>
                      </a:pPr>
                      <a:r>
                        <a:rPr sz="1000" spc="-10" dirty="0">
                          <a:latin typeface="Arial"/>
                          <a:cs typeface="Arial"/>
                        </a:rPr>
                        <a:t>Arbitrary,</a:t>
                      </a:r>
                      <a:r>
                        <a:rPr sz="1000" spc="-15" dirty="0">
                          <a:latin typeface="Arial"/>
                          <a:cs typeface="Arial"/>
                        </a:rPr>
                        <a:t> </a:t>
                      </a:r>
                      <a:r>
                        <a:rPr sz="1000" spc="-5" dirty="0">
                          <a:latin typeface="Arial"/>
                          <a:cs typeface="Arial"/>
                        </a:rPr>
                        <a:t>with</a:t>
                      </a:r>
                      <a:r>
                        <a:rPr sz="1000" spc="-10" dirty="0">
                          <a:latin typeface="Arial"/>
                          <a:cs typeface="Arial"/>
                        </a:rPr>
                        <a:t> </a:t>
                      </a:r>
                      <a:r>
                        <a:rPr sz="1000" spc="-5" dirty="0">
                          <a:latin typeface="Arial"/>
                          <a:cs typeface="Arial"/>
                        </a:rPr>
                        <a:t>malicious</a:t>
                      </a:r>
                      <a:r>
                        <a:rPr sz="1000" spc="-10" dirty="0">
                          <a:latin typeface="Arial"/>
                          <a:cs typeface="Arial"/>
                        </a:rPr>
                        <a:t> failures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11</a:t>
            </a:r>
            <a:r>
              <a:rPr spc="-40" dirty="0"/>
              <a:t> </a:t>
            </a:r>
            <a:r>
              <a:rPr spc="-5" dirty="0"/>
              <a:t>/</a:t>
            </a:r>
            <a:r>
              <a:rPr spc="-35" dirty="0"/>
              <a:t> </a:t>
            </a:r>
            <a:r>
              <a:rPr spc="-5" dirty="0"/>
              <a:t>68</a:t>
            </a:r>
          </a:p>
        </p:txBody>
      </p:sp>
      <p:sp>
        <p:nvSpPr>
          <p:cNvPr id="2" name="object 2"/>
          <p:cNvSpPr txBox="1"/>
          <p:nvPr/>
        </p:nvSpPr>
        <p:spPr>
          <a:xfrm>
            <a:off x="66713" y="716"/>
            <a:ext cx="156019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50" dirty="0">
                <a:solidFill>
                  <a:srgbClr val="3333B2"/>
                </a:solidFill>
                <a:latin typeface="Arial"/>
                <a:cs typeface="Arial"/>
              </a:rPr>
              <a:t> </a:t>
            </a:r>
            <a:r>
              <a:rPr sz="600" spc="-5" dirty="0">
                <a:solidFill>
                  <a:srgbClr val="3333B2"/>
                </a:solidFill>
                <a:latin typeface="Arial"/>
                <a:cs typeface="Arial"/>
                <a:hlinkClick r:id="rId3" action="ppaction://hlinksldjump"/>
              </a:rPr>
              <a:t>Introduction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endParaRPr sz="600">
              <a:latin typeface="Arial"/>
              <a:cs typeface="Arial"/>
            </a:endParaRPr>
          </a:p>
        </p:txBody>
      </p:sp>
      <p:sp>
        <p:nvSpPr>
          <p:cNvPr id="3" name="object 3"/>
          <p:cNvSpPr txBox="1"/>
          <p:nvPr/>
        </p:nvSpPr>
        <p:spPr>
          <a:xfrm>
            <a:off x="3466438" y="716"/>
            <a:ext cx="107505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4" action="ppaction://hlinksldjump"/>
              </a:rPr>
              <a:t>Failure </a:t>
            </a:r>
            <a:r>
              <a:rPr sz="600" spc="-5" dirty="0">
                <a:solidFill>
                  <a:srgbClr val="262685"/>
                </a:solidFill>
                <a:latin typeface="Arial"/>
                <a:cs typeface="Arial"/>
                <a:hlinkClick r:id="rId4" action="ppaction://hlinksldjump"/>
              </a:rPr>
              <a:t>masking </a:t>
            </a:r>
            <a:r>
              <a:rPr sz="600" spc="-10" dirty="0">
                <a:solidFill>
                  <a:srgbClr val="262685"/>
                </a:solidFill>
                <a:latin typeface="Arial"/>
                <a:cs typeface="Arial"/>
                <a:hlinkClick r:id="rId4" action="ppaction://hlinksldjump"/>
              </a:rPr>
              <a:t>by</a:t>
            </a:r>
            <a:r>
              <a:rPr sz="600" spc="-5" dirty="0">
                <a:solidFill>
                  <a:srgbClr val="262685"/>
                </a:solidFill>
                <a:latin typeface="Arial"/>
                <a:cs typeface="Arial"/>
                <a:hlinkClick r:id="rId4" action="ppaction://hlinksldjump"/>
              </a:rPr>
              <a:t> redundancy</a:t>
            </a:r>
            <a:endParaRPr sz="600">
              <a:latin typeface="Arial"/>
              <a:cs typeface="Arial"/>
            </a:endParaRPr>
          </a:p>
        </p:txBody>
      </p:sp>
      <p:sp>
        <p:nvSpPr>
          <p:cNvPr id="4" name="object 4"/>
          <p:cNvSpPr txBox="1"/>
          <p:nvPr/>
        </p:nvSpPr>
        <p:spPr>
          <a:xfrm>
            <a:off x="95300" y="188846"/>
            <a:ext cx="257683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Redundancy</a:t>
            </a:r>
            <a:r>
              <a:rPr sz="1400" dirty="0">
                <a:solidFill>
                  <a:srgbClr val="3333B2"/>
                </a:solidFill>
                <a:latin typeface="Arial"/>
                <a:cs typeface="Arial"/>
              </a:rPr>
              <a:t> </a:t>
            </a:r>
            <a:r>
              <a:rPr sz="1400" spc="-5" dirty="0">
                <a:solidFill>
                  <a:srgbClr val="3333B2"/>
                </a:solidFill>
                <a:latin typeface="Arial"/>
                <a:cs typeface="Arial"/>
              </a:rPr>
              <a:t>for</a:t>
            </a:r>
            <a:r>
              <a:rPr sz="1400" dirty="0">
                <a:solidFill>
                  <a:srgbClr val="3333B2"/>
                </a:solidFill>
                <a:latin typeface="Arial"/>
                <a:cs typeface="Arial"/>
              </a:rPr>
              <a:t> </a:t>
            </a:r>
            <a:r>
              <a:rPr sz="1400" spc="5" dirty="0">
                <a:solidFill>
                  <a:srgbClr val="3333B2"/>
                </a:solidFill>
                <a:latin typeface="Arial"/>
                <a:cs typeface="Arial"/>
              </a:rPr>
              <a:t>failure</a:t>
            </a:r>
            <a:r>
              <a:rPr sz="1400" dirty="0">
                <a:solidFill>
                  <a:srgbClr val="3333B2"/>
                </a:solidFill>
                <a:latin typeface="Arial"/>
                <a:cs typeface="Arial"/>
              </a:rPr>
              <a:t> </a:t>
            </a:r>
            <a:r>
              <a:rPr sz="1400" spc="15" dirty="0">
                <a:solidFill>
                  <a:srgbClr val="3333B2"/>
                </a:solidFill>
                <a:latin typeface="Arial"/>
                <a:cs typeface="Arial"/>
              </a:rPr>
              <a:t>masking</a:t>
            </a:r>
            <a:endParaRPr sz="1400">
              <a:latin typeface="Arial"/>
              <a:cs typeface="Arial"/>
            </a:endParaRPr>
          </a:p>
        </p:txBody>
      </p:sp>
      <p:sp>
        <p:nvSpPr>
          <p:cNvPr id="5" name="object 5"/>
          <p:cNvSpPr txBox="1"/>
          <p:nvPr/>
        </p:nvSpPr>
        <p:spPr>
          <a:xfrm>
            <a:off x="317195" y="872728"/>
            <a:ext cx="3969385" cy="1673860"/>
          </a:xfrm>
          <a:prstGeom prst="rect">
            <a:avLst/>
          </a:prstGeom>
        </p:spPr>
        <p:txBody>
          <a:bodyPr vert="horz" wrap="square" lIns="0" tIns="12065" rIns="0" bIns="0" rtlCol="0">
            <a:spAutoFit/>
          </a:bodyPr>
          <a:lstStyle/>
          <a:p>
            <a:pPr marL="38100">
              <a:lnSpc>
                <a:spcPct val="100000"/>
              </a:lnSpc>
              <a:spcBef>
                <a:spcPts val="95"/>
              </a:spcBef>
            </a:pPr>
            <a:r>
              <a:rPr sz="1200" spc="-35" dirty="0">
                <a:solidFill>
                  <a:srgbClr val="3333B2"/>
                </a:solidFill>
                <a:latin typeface="Arial"/>
                <a:cs typeface="Arial"/>
              </a:rPr>
              <a:t>Types</a:t>
            </a:r>
            <a:r>
              <a:rPr sz="1200" spc="-25" dirty="0">
                <a:solidFill>
                  <a:srgbClr val="3333B2"/>
                </a:solidFill>
                <a:latin typeface="Arial"/>
                <a:cs typeface="Arial"/>
              </a:rPr>
              <a:t> </a:t>
            </a:r>
            <a:r>
              <a:rPr sz="1200" spc="-5" dirty="0">
                <a:solidFill>
                  <a:srgbClr val="3333B2"/>
                </a:solidFill>
                <a:latin typeface="Arial"/>
                <a:cs typeface="Arial"/>
              </a:rPr>
              <a:t>of</a:t>
            </a:r>
            <a:r>
              <a:rPr sz="1200" spc="-20" dirty="0">
                <a:solidFill>
                  <a:srgbClr val="3333B2"/>
                </a:solidFill>
                <a:latin typeface="Arial"/>
                <a:cs typeface="Arial"/>
              </a:rPr>
              <a:t> </a:t>
            </a:r>
            <a:r>
              <a:rPr sz="1200" spc="-5" dirty="0">
                <a:solidFill>
                  <a:srgbClr val="3333B2"/>
                </a:solidFill>
                <a:latin typeface="Arial"/>
                <a:cs typeface="Arial"/>
              </a:rPr>
              <a:t>redundancy</a:t>
            </a:r>
            <a:endParaRPr sz="1200">
              <a:latin typeface="Arial"/>
              <a:cs typeface="Arial"/>
            </a:endParaRPr>
          </a:p>
          <a:p>
            <a:pPr marL="319405" marR="30480" indent="-168275">
              <a:lnSpc>
                <a:spcPct val="100000"/>
              </a:lnSpc>
              <a:spcBef>
                <a:spcPts val="780"/>
              </a:spcBef>
              <a:buClr>
                <a:srgbClr val="3333B2"/>
              </a:buClr>
              <a:buChar char="►"/>
              <a:tabLst>
                <a:tab pos="320040" algn="l"/>
              </a:tabLst>
            </a:pPr>
            <a:r>
              <a:rPr sz="1000" spc="-15" dirty="0">
                <a:solidFill>
                  <a:srgbClr val="FA0000"/>
                </a:solidFill>
                <a:latin typeface="Arial"/>
                <a:cs typeface="Arial"/>
              </a:rPr>
              <a:t>Information</a:t>
            </a:r>
            <a:r>
              <a:rPr sz="1000" spc="-5" dirty="0">
                <a:solidFill>
                  <a:srgbClr val="FA0000"/>
                </a:solidFill>
                <a:latin typeface="Arial"/>
                <a:cs typeface="Arial"/>
              </a:rPr>
              <a:t> </a:t>
            </a:r>
            <a:r>
              <a:rPr sz="1000" spc="-15" dirty="0">
                <a:solidFill>
                  <a:srgbClr val="FA0000"/>
                </a:solidFill>
                <a:latin typeface="Arial"/>
                <a:cs typeface="Arial"/>
              </a:rPr>
              <a:t>redundancy</a:t>
            </a:r>
            <a:r>
              <a:rPr sz="1000" spc="-15" dirty="0">
                <a:latin typeface="Arial"/>
                <a:cs typeface="Arial"/>
              </a:rPr>
              <a:t>:</a:t>
            </a:r>
            <a:r>
              <a:rPr sz="1000" spc="65" dirty="0">
                <a:latin typeface="Arial"/>
                <a:cs typeface="Arial"/>
              </a:rPr>
              <a:t> </a:t>
            </a:r>
            <a:r>
              <a:rPr sz="1000" spc="-15" dirty="0">
                <a:latin typeface="Arial"/>
                <a:cs typeface="Arial"/>
              </a:rPr>
              <a:t>Add</a:t>
            </a:r>
            <a:r>
              <a:rPr sz="1000" dirty="0">
                <a:latin typeface="Arial"/>
                <a:cs typeface="Arial"/>
              </a:rPr>
              <a:t> </a:t>
            </a:r>
            <a:r>
              <a:rPr sz="1000" spc="-20" dirty="0">
                <a:latin typeface="Arial"/>
                <a:cs typeface="Arial"/>
              </a:rPr>
              <a:t>extra</a:t>
            </a:r>
            <a:r>
              <a:rPr sz="1000" dirty="0">
                <a:latin typeface="Arial"/>
                <a:cs typeface="Arial"/>
              </a:rPr>
              <a:t> </a:t>
            </a:r>
            <a:r>
              <a:rPr sz="1000" spc="-10" dirty="0">
                <a:latin typeface="Arial"/>
                <a:cs typeface="Arial"/>
              </a:rPr>
              <a:t>bits</a:t>
            </a:r>
            <a:r>
              <a:rPr sz="1000"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data</a:t>
            </a:r>
            <a:r>
              <a:rPr sz="1000" dirty="0">
                <a:latin typeface="Arial"/>
                <a:cs typeface="Arial"/>
              </a:rPr>
              <a:t> </a:t>
            </a:r>
            <a:r>
              <a:rPr sz="1000" spc="-15" dirty="0">
                <a:latin typeface="Arial"/>
                <a:cs typeface="Arial"/>
              </a:rPr>
              <a:t>units</a:t>
            </a:r>
            <a:r>
              <a:rPr sz="1000" dirty="0">
                <a:latin typeface="Arial"/>
                <a:cs typeface="Arial"/>
              </a:rPr>
              <a:t> </a:t>
            </a:r>
            <a:r>
              <a:rPr sz="1000" spc="-15" dirty="0">
                <a:latin typeface="Arial"/>
                <a:cs typeface="Arial"/>
              </a:rPr>
              <a:t>so</a:t>
            </a:r>
            <a:r>
              <a:rPr sz="1000" spc="-5" dirty="0">
                <a:latin typeface="Arial"/>
                <a:cs typeface="Arial"/>
              </a:rPr>
              <a:t> </a:t>
            </a:r>
            <a:r>
              <a:rPr sz="1000" spc="-10" dirty="0">
                <a:latin typeface="Arial"/>
                <a:cs typeface="Arial"/>
              </a:rPr>
              <a:t>that</a:t>
            </a:r>
            <a:r>
              <a:rPr sz="1000" dirty="0">
                <a:latin typeface="Arial"/>
                <a:cs typeface="Arial"/>
              </a:rPr>
              <a:t> </a:t>
            </a:r>
            <a:r>
              <a:rPr sz="1000" spc="-15" dirty="0">
                <a:latin typeface="Arial"/>
                <a:cs typeface="Arial"/>
              </a:rPr>
              <a:t>errors </a:t>
            </a:r>
            <a:r>
              <a:rPr sz="1000" spc="-260" dirty="0">
                <a:latin typeface="Arial"/>
                <a:cs typeface="Arial"/>
              </a:rPr>
              <a:t> </a:t>
            </a:r>
            <a:r>
              <a:rPr sz="1000" spc="-5" dirty="0">
                <a:latin typeface="Arial"/>
                <a:cs typeface="Arial"/>
              </a:rPr>
              <a:t>can</a:t>
            </a:r>
            <a:r>
              <a:rPr sz="1000" spc="-10" dirty="0">
                <a:latin typeface="Arial"/>
                <a:cs typeface="Arial"/>
              </a:rPr>
              <a:t> recovered</a:t>
            </a:r>
            <a:r>
              <a:rPr sz="1000" spc="-5" dirty="0">
                <a:latin typeface="Arial"/>
                <a:cs typeface="Arial"/>
              </a:rPr>
              <a:t> when bits are garbled.</a:t>
            </a:r>
            <a:endParaRPr sz="1000">
              <a:latin typeface="Arial"/>
              <a:cs typeface="Arial"/>
            </a:endParaRPr>
          </a:p>
          <a:p>
            <a:pPr marL="319405" marR="137795" indent="-168275">
              <a:lnSpc>
                <a:spcPct val="100000"/>
              </a:lnSpc>
              <a:spcBef>
                <a:spcPts val="585"/>
              </a:spcBef>
              <a:buClr>
                <a:srgbClr val="3333B2"/>
              </a:buClr>
              <a:buChar char="►"/>
              <a:tabLst>
                <a:tab pos="320040" algn="l"/>
              </a:tabLst>
            </a:pPr>
            <a:r>
              <a:rPr sz="1000" spc="-5" dirty="0">
                <a:solidFill>
                  <a:srgbClr val="FA0000"/>
                </a:solidFill>
                <a:latin typeface="Arial"/>
                <a:cs typeface="Arial"/>
              </a:rPr>
              <a:t>Time redundancy</a:t>
            </a:r>
            <a:r>
              <a:rPr sz="1000" spc="-5" dirty="0">
                <a:latin typeface="Arial"/>
                <a:cs typeface="Arial"/>
              </a:rPr>
              <a:t>:</a:t>
            </a:r>
            <a:r>
              <a:rPr sz="1000" spc="70" dirty="0">
                <a:latin typeface="Arial"/>
                <a:cs typeface="Arial"/>
              </a:rPr>
              <a:t> </a:t>
            </a:r>
            <a:r>
              <a:rPr sz="1000" spc="-5" dirty="0">
                <a:latin typeface="Arial"/>
                <a:cs typeface="Arial"/>
              </a:rPr>
              <a:t>Design</a:t>
            </a:r>
            <a:r>
              <a:rPr sz="1000" dirty="0">
                <a:latin typeface="Arial"/>
                <a:cs typeface="Arial"/>
              </a:rPr>
              <a:t> </a:t>
            </a:r>
            <a:r>
              <a:rPr sz="1000" spc="-5" dirty="0">
                <a:latin typeface="Arial"/>
                <a:cs typeface="Arial"/>
              </a:rPr>
              <a:t>a system</a:t>
            </a:r>
            <a:r>
              <a:rPr sz="1000" dirty="0">
                <a:latin typeface="Arial"/>
                <a:cs typeface="Arial"/>
              </a:rPr>
              <a:t> </a:t>
            </a:r>
            <a:r>
              <a:rPr sz="1000" spc="-5" dirty="0">
                <a:latin typeface="Arial"/>
                <a:cs typeface="Arial"/>
              </a:rPr>
              <a:t>such</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action</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 </a:t>
            </a:r>
            <a:r>
              <a:rPr sz="1000" spc="-265" dirty="0">
                <a:latin typeface="Arial"/>
                <a:cs typeface="Arial"/>
              </a:rPr>
              <a:t> </a:t>
            </a:r>
            <a:r>
              <a:rPr sz="1000" spc="-5" dirty="0">
                <a:latin typeface="Arial"/>
                <a:cs typeface="Arial"/>
              </a:rPr>
              <a:t>performed</a:t>
            </a:r>
            <a:r>
              <a:rPr sz="1000" spc="-10" dirty="0">
                <a:latin typeface="Arial"/>
                <a:cs typeface="Arial"/>
              </a:rPr>
              <a:t> </a:t>
            </a:r>
            <a:r>
              <a:rPr sz="1000" spc="-5" dirty="0">
                <a:latin typeface="Arial"/>
                <a:cs typeface="Arial"/>
              </a:rPr>
              <a:t>again if anything went wrong.</a:t>
            </a:r>
            <a:r>
              <a:rPr sz="1000" spc="60" dirty="0">
                <a:latin typeface="Arial"/>
                <a:cs typeface="Arial"/>
              </a:rPr>
              <a:t> </a:t>
            </a:r>
            <a:r>
              <a:rPr sz="1000" spc="-15" dirty="0">
                <a:latin typeface="Arial"/>
                <a:cs typeface="Arial"/>
              </a:rPr>
              <a:t>Typically</a:t>
            </a:r>
            <a:r>
              <a:rPr sz="1000" spc="-5" dirty="0">
                <a:latin typeface="Arial"/>
                <a:cs typeface="Arial"/>
              </a:rPr>
              <a:t> used</a:t>
            </a:r>
            <a:r>
              <a:rPr sz="1000" spc="-10" dirty="0">
                <a:latin typeface="Arial"/>
                <a:cs typeface="Arial"/>
              </a:rPr>
              <a:t> </a:t>
            </a:r>
            <a:r>
              <a:rPr sz="1000" spc="-5" dirty="0">
                <a:latin typeface="Arial"/>
                <a:cs typeface="Arial"/>
              </a:rPr>
              <a:t>when </a:t>
            </a:r>
            <a:r>
              <a:rPr sz="1000" dirty="0">
                <a:latin typeface="Arial"/>
                <a:cs typeface="Arial"/>
              </a:rPr>
              <a:t> </a:t>
            </a:r>
            <a:r>
              <a:rPr sz="1000" spc="-10" dirty="0">
                <a:latin typeface="Arial"/>
                <a:cs typeface="Arial"/>
              </a:rPr>
              <a:t>faults </a:t>
            </a:r>
            <a:r>
              <a:rPr sz="1000" spc="-5" dirty="0">
                <a:latin typeface="Arial"/>
                <a:cs typeface="Arial"/>
              </a:rPr>
              <a:t>are transient or </a:t>
            </a:r>
            <a:r>
              <a:rPr sz="1000" dirty="0">
                <a:latin typeface="Arial"/>
                <a:cs typeface="Arial"/>
              </a:rPr>
              <a:t>intermittent.</a:t>
            </a:r>
            <a:endParaRPr sz="1000">
              <a:latin typeface="Arial"/>
              <a:cs typeface="Arial"/>
            </a:endParaRPr>
          </a:p>
          <a:p>
            <a:pPr marL="319405" marR="197485" indent="-168275" algn="just">
              <a:lnSpc>
                <a:spcPct val="100000"/>
              </a:lnSpc>
              <a:spcBef>
                <a:spcPts val="585"/>
              </a:spcBef>
              <a:buClr>
                <a:srgbClr val="3333B2"/>
              </a:buClr>
              <a:buChar char="►"/>
              <a:tabLst>
                <a:tab pos="320040" algn="l"/>
              </a:tabLst>
            </a:pPr>
            <a:r>
              <a:rPr sz="1000" spc="-10" dirty="0">
                <a:solidFill>
                  <a:srgbClr val="FA0000"/>
                </a:solidFill>
                <a:latin typeface="Arial"/>
                <a:cs typeface="Arial"/>
              </a:rPr>
              <a:t>Physical </a:t>
            </a:r>
            <a:r>
              <a:rPr sz="1000" spc="-5" dirty="0">
                <a:solidFill>
                  <a:srgbClr val="FA0000"/>
                </a:solidFill>
                <a:latin typeface="Arial"/>
                <a:cs typeface="Arial"/>
              </a:rPr>
              <a:t>redundancy</a:t>
            </a:r>
            <a:r>
              <a:rPr sz="1000" spc="-5" dirty="0">
                <a:latin typeface="Arial"/>
                <a:cs typeface="Arial"/>
              </a:rPr>
              <a:t>: add equipment or processes in order to </a:t>
            </a:r>
            <a:r>
              <a:rPr sz="1000" spc="-265" dirty="0">
                <a:latin typeface="Arial"/>
                <a:cs typeface="Arial"/>
              </a:rPr>
              <a:t> </a:t>
            </a:r>
            <a:r>
              <a:rPr sz="1000" spc="-5" dirty="0">
                <a:latin typeface="Arial"/>
                <a:cs typeface="Arial"/>
              </a:rPr>
              <a:t>allow one or more components to </a:t>
            </a:r>
            <a:r>
              <a:rPr sz="1000" spc="-10" dirty="0">
                <a:latin typeface="Arial"/>
                <a:cs typeface="Arial"/>
              </a:rPr>
              <a:t>fail. </a:t>
            </a:r>
            <a:r>
              <a:rPr sz="1000" spc="-5" dirty="0">
                <a:latin typeface="Arial"/>
                <a:cs typeface="Arial"/>
              </a:rPr>
              <a:t>This type is </a:t>
            </a:r>
            <a:r>
              <a:rPr sz="1000" spc="-10" dirty="0">
                <a:latin typeface="Arial"/>
                <a:cs typeface="Arial"/>
              </a:rPr>
              <a:t>extensively </a:t>
            </a:r>
            <a:r>
              <a:rPr sz="1000" spc="-265" dirty="0">
                <a:latin typeface="Arial"/>
                <a:cs typeface="Arial"/>
              </a:rPr>
              <a:t> </a:t>
            </a:r>
            <a:r>
              <a:rPr sz="1000" spc="-5" dirty="0">
                <a:latin typeface="Arial"/>
                <a:cs typeface="Arial"/>
              </a:rPr>
              <a:t>used</a:t>
            </a:r>
            <a:r>
              <a:rPr sz="1000" spc="-10" dirty="0">
                <a:latin typeface="Arial"/>
                <a:cs typeface="Arial"/>
              </a:rPr>
              <a:t> </a:t>
            </a:r>
            <a:r>
              <a:rPr sz="1000" spc="-5" dirty="0">
                <a:latin typeface="Arial"/>
                <a:cs typeface="Arial"/>
              </a:rPr>
              <a:t>in distributed systems.</a:t>
            </a:r>
            <a:endParaRPr sz="10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526714" y="716"/>
            <a:ext cx="10147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Resilience</a:t>
            </a:r>
            <a:r>
              <a:rPr sz="600" spc="-15"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by </a:t>
            </a:r>
            <a:r>
              <a:rPr sz="600" spc="-5" dirty="0">
                <a:solidFill>
                  <a:srgbClr val="262685"/>
                </a:solidFill>
                <a:latin typeface="Arial"/>
                <a:cs typeface="Arial"/>
                <a:hlinkClick r:id="rId4" action="ppaction://hlinksldjump"/>
              </a:rPr>
              <a:t>process</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groups</a:t>
            </a:r>
            <a:endParaRPr sz="600">
              <a:latin typeface="Arial"/>
              <a:cs typeface="Arial"/>
            </a:endParaRPr>
          </a:p>
        </p:txBody>
      </p:sp>
      <p:sp>
        <p:nvSpPr>
          <p:cNvPr id="4" name="object 4"/>
          <p:cNvSpPr txBox="1"/>
          <p:nvPr/>
        </p:nvSpPr>
        <p:spPr>
          <a:xfrm>
            <a:off x="95300" y="188846"/>
            <a:ext cx="4173220" cy="111823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Process</a:t>
            </a:r>
            <a:r>
              <a:rPr sz="1400" spc="-35" dirty="0">
                <a:solidFill>
                  <a:srgbClr val="3333B2"/>
                </a:solidFill>
                <a:latin typeface="Arial"/>
                <a:cs typeface="Arial"/>
              </a:rPr>
              <a:t> </a:t>
            </a:r>
            <a:r>
              <a:rPr sz="1400" spc="10" dirty="0">
                <a:solidFill>
                  <a:srgbClr val="3333B2"/>
                </a:solidFill>
                <a:latin typeface="Arial"/>
                <a:cs typeface="Arial"/>
              </a:rPr>
              <a:t>resilience</a:t>
            </a:r>
            <a:endParaRPr sz="1400">
              <a:latin typeface="Arial"/>
              <a:cs typeface="Arial"/>
            </a:endParaRPr>
          </a:p>
          <a:p>
            <a:pPr>
              <a:lnSpc>
                <a:spcPct val="100000"/>
              </a:lnSpc>
              <a:spcBef>
                <a:spcPts val="10"/>
              </a:spcBef>
            </a:pPr>
            <a:endParaRPr sz="1650">
              <a:latin typeface="Arial"/>
              <a:cs typeface="Arial"/>
            </a:endParaRPr>
          </a:p>
          <a:p>
            <a:pPr marL="264160">
              <a:lnSpc>
                <a:spcPts val="1410"/>
              </a:lnSpc>
              <a:spcBef>
                <a:spcPts val="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idea</a:t>
            </a:r>
            <a:endParaRPr sz="1200">
              <a:latin typeface="Arial"/>
              <a:cs typeface="Arial"/>
            </a:endParaRPr>
          </a:p>
          <a:p>
            <a:pPr marL="264160" marR="5080">
              <a:lnSpc>
                <a:spcPts val="1200"/>
              </a:lnSpc>
              <a:spcBef>
                <a:spcPts val="10"/>
              </a:spcBef>
            </a:pPr>
            <a:r>
              <a:rPr sz="1000" spc="-5" dirty="0">
                <a:latin typeface="Arial"/>
                <a:cs typeface="Arial"/>
              </a:rPr>
              <a:t>Protect</a:t>
            </a:r>
            <a:r>
              <a:rPr sz="1000" spc="10" dirty="0">
                <a:latin typeface="Arial"/>
                <a:cs typeface="Arial"/>
              </a:rPr>
              <a:t> </a:t>
            </a:r>
            <a:r>
              <a:rPr sz="1000" spc="-5" dirty="0">
                <a:latin typeface="Arial"/>
                <a:cs typeface="Arial"/>
              </a:rPr>
              <a:t>against</a:t>
            </a:r>
            <a:r>
              <a:rPr sz="1000" spc="10" dirty="0">
                <a:latin typeface="Arial"/>
                <a:cs typeface="Arial"/>
              </a:rPr>
              <a:t> </a:t>
            </a:r>
            <a:r>
              <a:rPr sz="1000" spc="-5" dirty="0">
                <a:latin typeface="Arial"/>
                <a:cs typeface="Arial"/>
              </a:rPr>
              <a:t>malfunctioning</a:t>
            </a:r>
            <a:r>
              <a:rPr sz="1000" spc="10" dirty="0">
                <a:latin typeface="Arial"/>
                <a:cs typeface="Arial"/>
              </a:rPr>
              <a:t> </a:t>
            </a:r>
            <a:r>
              <a:rPr sz="1000" spc="-5" dirty="0">
                <a:latin typeface="Arial"/>
                <a:cs typeface="Arial"/>
              </a:rPr>
              <a:t>processes</a:t>
            </a:r>
            <a:r>
              <a:rPr sz="1000" spc="15" dirty="0">
                <a:latin typeface="Arial"/>
                <a:cs typeface="Arial"/>
              </a:rPr>
              <a:t> </a:t>
            </a:r>
            <a:r>
              <a:rPr sz="1000" spc="-5" dirty="0">
                <a:latin typeface="Arial"/>
                <a:cs typeface="Arial"/>
              </a:rPr>
              <a:t>through</a:t>
            </a:r>
            <a:r>
              <a:rPr sz="1000" spc="10" dirty="0">
                <a:latin typeface="Arial"/>
                <a:cs typeface="Arial"/>
              </a:rPr>
              <a:t> </a:t>
            </a:r>
            <a:r>
              <a:rPr sz="1000" spc="-5" dirty="0">
                <a:solidFill>
                  <a:srgbClr val="FA0000"/>
                </a:solidFill>
                <a:latin typeface="Arial"/>
                <a:cs typeface="Arial"/>
              </a:rPr>
              <a:t>process</a:t>
            </a:r>
            <a:r>
              <a:rPr sz="1000" spc="10" dirty="0">
                <a:solidFill>
                  <a:srgbClr val="FA0000"/>
                </a:solidFill>
                <a:latin typeface="Arial"/>
                <a:cs typeface="Arial"/>
              </a:rPr>
              <a:t> </a:t>
            </a:r>
            <a:r>
              <a:rPr sz="1000" spc="-5" dirty="0">
                <a:solidFill>
                  <a:srgbClr val="FA0000"/>
                </a:solidFill>
                <a:latin typeface="Arial"/>
                <a:cs typeface="Arial"/>
              </a:rPr>
              <a:t>replication</a:t>
            </a:r>
            <a:r>
              <a:rPr sz="1000" spc="-5" dirty="0">
                <a:latin typeface="Arial"/>
                <a:cs typeface="Arial"/>
              </a:rPr>
              <a:t>, </a:t>
            </a:r>
            <a:r>
              <a:rPr sz="1000" spc="-260" dirty="0">
                <a:latin typeface="Arial"/>
                <a:cs typeface="Arial"/>
              </a:rPr>
              <a:t> </a:t>
            </a:r>
            <a:r>
              <a:rPr sz="1000" spc="-5" dirty="0">
                <a:latin typeface="Arial"/>
                <a:cs typeface="Arial"/>
              </a:rPr>
              <a:t>organizing multiple</a:t>
            </a:r>
            <a:r>
              <a:rPr sz="1000" dirty="0">
                <a:latin typeface="Arial"/>
                <a:cs typeface="Arial"/>
              </a:rPr>
              <a:t> </a:t>
            </a:r>
            <a:r>
              <a:rPr sz="1000" spc="-5" dirty="0">
                <a:latin typeface="Arial"/>
                <a:cs typeface="Arial"/>
              </a:rPr>
              <a:t>processes into</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process group</a:t>
            </a:r>
            <a:r>
              <a:rPr sz="1000" spc="-5" dirty="0">
                <a:latin typeface="Arial"/>
                <a:cs typeface="Arial"/>
              </a:rPr>
              <a:t>.</a:t>
            </a:r>
            <a:r>
              <a:rPr sz="1000" spc="65" dirty="0">
                <a:latin typeface="Arial"/>
                <a:cs typeface="Arial"/>
              </a:rPr>
              <a:t> </a:t>
            </a:r>
            <a:r>
              <a:rPr sz="1000" spc="-5" dirty="0">
                <a:latin typeface="Arial"/>
                <a:cs typeface="Arial"/>
              </a:rPr>
              <a:t>Distinguish </a:t>
            </a:r>
            <a:r>
              <a:rPr sz="1000" dirty="0">
                <a:latin typeface="Arial"/>
                <a:cs typeface="Arial"/>
              </a:rPr>
              <a:t> </a:t>
            </a:r>
            <a:r>
              <a:rPr sz="1000" spc="-5" dirty="0">
                <a:latin typeface="Arial"/>
                <a:cs typeface="Arial"/>
              </a:rPr>
              <a:t>between</a:t>
            </a:r>
            <a:r>
              <a:rPr sz="1000" spc="-10" dirty="0">
                <a:latin typeface="Arial"/>
                <a:cs typeface="Arial"/>
              </a:rPr>
              <a:t> </a:t>
            </a:r>
            <a:r>
              <a:rPr sz="1000" spc="-5" dirty="0">
                <a:solidFill>
                  <a:srgbClr val="0000FA"/>
                </a:solidFill>
                <a:latin typeface="Arial"/>
                <a:cs typeface="Arial"/>
              </a:rPr>
              <a:t>flat groups </a:t>
            </a:r>
            <a:r>
              <a:rPr sz="1000" spc="-5" dirty="0">
                <a:latin typeface="Arial"/>
                <a:cs typeface="Arial"/>
              </a:rPr>
              <a:t>and </a:t>
            </a:r>
            <a:r>
              <a:rPr sz="1000" spc="-5" dirty="0">
                <a:solidFill>
                  <a:srgbClr val="0000FA"/>
                </a:solidFill>
                <a:latin typeface="Arial"/>
                <a:cs typeface="Arial"/>
              </a:rPr>
              <a:t>hierarchical groups</a:t>
            </a:r>
            <a:r>
              <a:rPr sz="1000" spc="-5" dirty="0">
                <a:latin typeface="Arial"/>
                <a:cs typeface="Arial"/>
              </a:rPr>
              <a:t>.</a:t>
            </a:r>
            <a:endParaRPr sz="1000">
              <a:latin typeface="Arial"/>
              <a:cs typeface="Arial"/>
            </a:endParaRPr>
          </a:p>
        </p:txBody>
      </p:sp>
      <p:grpSp>
        <p:nvGrpSpPr>
          <p:cNvPr id="5" name="object 5"/>
          <p:cNvGrpSpPr/>
          <p:nvPr/>
        </p:nvGrpSpPr>
        <p:grpSpPr>
          <a:xfrm>
            <a:off x="653970" y="1610987"/>
            <a:ext cx="1201420" cy="1201420"/>
            <a:chOff x="653970" y="1610987"/>
            <a:chExt cx="1201420" cy="1201420"/>
          </a:xfrm>
        </p:grpSpPr>
        <p:sp>
          <p:nvSpPr>
            <p:cNvPr id="6" name="object 6"/>
            <p:cNvSpPr/>
            <p:nvPr/>
          </p:nvSpPr>
          <p:spPr>
            <a:xfrm>
              <a:off x="656828" y="1613845"/>
              <a:ext cx="1195705" cy="1195705"/>
            </a:xfrm>
            <a:custGeom>
              <a:avLst/>
              <a:gdLst/>
              <a:ahLst/>
              <a:cxnLst/>
              <a:rect l="l" t="t" r="r" b="b"/>
              <a:pathLst>
                <a:path w="1195705" h="1195705">
                  <a:moveTo>
                    <a:pt x="597601" y="0"/>
                  </a:moveTo>
                  <a:lnTo>
                    <a:pt x="646490" y="1987"/>
                  </a:lnTo>
                  <a:lnTo>
                    <a:pt x="694314" y="7845"/>
                  </a:lnTo>
                  <a:lnTo>
                    <a:pt x="740916" y="17419"/>
                  </a:lnTo>
                  <a:lnTo>
                    <a:pt x="786140" y="30552"/>
                  </a:lnTo>
                  <a:lnTo>
                    <a:pt x="829831" y="47089"/>
                  </a:lnTo>
                  <a:lnTo>
                    <a:pt x="871832" y="66873"/>
                  </a:lnTo>
                  <a:lnTo>
                    <a:pt x="911988" y="89749"/>
                  </a:lnTo>
                  <a:lnTo>
                    <a:pt x="950143" y="115561"/>
                  </a:lnTo>
                  <a:lnTo>
                    <a:pt x="986141" y="144154"/>
                  </a:lnTo>
                  <a:lnTo>
                    <a:pt x="1019826" y="175371"/>
                  </a:lnTo>
                  <a:lnTo>
                    <a:pt x="1051043" y="209056"/>
                  </a:lnTo>
                  <a:lnTo>
                    <a:pt x="1079636" y="245055"/>
                  </a:lnTo>
                  <a:lnTo>
                    <a:pt x="1105448" y="283210"/>
                  </a:lnTo>
                  <a:lnTo>
                    <a:pt x="1128324" y="323366"/>
                  </a:lnTo>
                  <a:lnTo>
                    <a:pt x="1148109" y="365368"/>
                  </a:lnTo>
                  <a:lnTo>
                    <a:pt x="1164645" y="409059"/>
                  </a:lnTo>
                  <a:lnTo>
                    <a:pt x="1177779" y="454284"/>
                  </a:lnTo>
                  <a:lnTo>
                    <a:pt x="1187352" y="500887"/>
                  </a:lnTo>
                  <a:lnTo>
                    <a:pt x="1193211" y="548712"/>
                  </a:lnTo>
                  <a:lnTo>
                    <a:pt x="1195198" y="597602"/>
                  </a:lnTo>
                  <a:lnTo>
                    <a:pt x="1193211" y="646493"/>
                  </a:lnTo>
                  <a:lnTo>
                    <a:pt x="1187352" y="694317"/>
                  </a:lnTo>
                  <a:lnTo>
                    <a:pt x="1177779" y="740919"/>
                  </a:lnTo>
                  <a:lnTo>
                    <a:pt x="1164645" y="786143"/>
                  </a:lnTo>
                  <a:lnTo>
                    <a:pt x="1148109" y="829834"/>
                  </a:lnTo>
                  <a:lnTo>
                    <a:pt x="1128324" y="871835"/>
                  </a:lnTo>
                  <a:lnTo>
                    <a:pt x="1105448" y="911991"/>
                  </a:lnTo>
                  <a:lnTo>
                    <a:pt x="1079636" y="950146"/>
                  </a:lnTo>
                  <a:lnTo>
                    <a:pt x="1051043" y="986144"/>
                  </a:lnTo>
                  <a:lnTo>
                    <a:pt x="1019826" y="1019829"/>
                  </a:lnTo>
                  <a:lnTo>
                    <a:pt x="986141" y="1051046"/>
                  </a:lnTo>
                  <a:lnTo>
                    <a:pt x="950143" y="1079638"/>
                  </a:lnTo>
                  <a:lnTo>
                    <a:pt x="911988" y="1105450"/>
                  </a:lnTo>
                  <a:lnTo>
                    <a:pt x="871832" y="1128326"/>
                  </a:lnTo>
                  <a:lnTo>
                    <a:pt x="829831" y="1148110"/>
                  </a:lnTo>
                  <a:lnTo>
                    <a:pt x="786140" y="1164646"/>
                  </a:lnTo>
                  <a:lnTo>
                    <a:pt x="740916" y="1177779"/>
                  </a:lnTo>
                  <a:lnTo>
                    <a:pt x="694314" y="1187353"/>
                  </a:lnTo>
                  <a:lnTo>
                    <a:pt x="646490" y="1193211"/>
                  </a:lnTo>
                  <a:lnTo>
                    <a:pt x="597601" y="1195199"/>
                  </a:lnTo>
                  <a:lnTo>
                    <a:pt x="548709" y="1193211"/>
                  </a:lnTo>
                  <a:lnTo>
                    <a:pt x="500884" y="1187353"/>
                  </a:lnTo>
                  <a:lnTo>
                    <a:pt x="454281" y="1177779"/>
                  </a:lnTo>
                  <a:lnTo>
                    <a:pt x="409056" y="1164646"/>
                  </a:lnTo>
                  <a:lnTo>
                    <a:pt x="365365" y="1148110"/>
                  </a:lnTo>
                  <a:lnTo>
                    <a:pt x="323363" y="1128326"/>
                  </a:lnTo>
                  <a:lnTo>
                    <a:pt x="283207" y="1105450"/>
                  </a:lnTo>
                  <a:lnTo>
                    <a:pt x="245052" y="1079638"/>
                  </a:lnTo>
                  <a:lnTo>
                    <a:pt x="209054" y="1051046"/>
                  </a:lnTo>
                  <a:lnTo>
                    <a:pt x="175368" y="1019829"/>
                  </a:lnTo>
                  <a:lnTo>
                    <a:pt x="144152" y="986144"/>
                  </a:lnTo>
                  <a:lnTo>
                    <a:pt x="115560" y="950146"/>
                  </a:lnTo>
                  <a:lnTo>
                    <a:pt x="89748" y="911991"/>
                  </a:lnTo>
                  <a:lnTo>
                    <a:pt x="66872" y="871835"/>
                  </a:lnTo>
                  <a:lnTo>
                    <a:pt x="47088" y="829834"/>
                  </a:lnTo>
                  <a:lnTo>
                    <a:pt x="30552" y="786143"/>
                  </a:lnTo>
                  <a:lnTo>
                    <a:pt x="17419" y="740919"/>
                  </a:lnTo>
                  <a:lnTo>
                    <a:pt x="7845" y="694317"/>
                  </a:lnTo>
                  <a:lnTo>
                    <a:pt x="1987" y="646493"/>
                  </a:lnTo>
                  <a:lnTo>
                    <a:pt x="0" y="597602"/>
                  </a:lnTo>
                  <a:lnTo>
                    <a:pt x="1987" y="548712"/>
                  </a:lnTo>
                  <a:lnTo>
                    <a:pt x="7845" y="500887"/>
                  </a:lnTo>
                  <a:lnTo>
                    <a:pt x="17419" y="454284"/>
                  </a:lnTo>
                  <a:lnTo>
                    <a:pt x="30552" y="409059"/>
                  </a:lnTo>
                  <a:lnTo>
                    <a:pt x="47088" y="365368"/>
                  </a:lnTo>
                  <a:lnTo>
                    <a:pt x="66872" y="323366"/>
                  </a:lnTo>
                  <a:lnTo>
                    <a:pt x="89748" y="283210"/>
                  </a:lnTo>
                  <a:lnTo>
                    <a:pt x="115560" y="245055"/>
                  </a:lnTo>
                  <a:lnTo>
                    <a:pt x="144152" y="209056"/>
                  </a:lnTo>
                  <a:lnTo>
                    <a:pt x="175368" y="175371"/>
                  </a:lnTo>
                  <a:lnTo>
                    <a:pt x="209054" y="144154"/>
                  </a:lnTo>
                  <a:lnTo>
                    <a:pt x="245052" y="115561"/>
                  </a:lnTo>
                  <a:lnTo>
                    <a:pt x="283207" y="89749"/>
                  </a:lnTo>
                  <a:lnTo>
                    <a:pt x="323363" y="66873"/>
                  </a:lnTo>
                  <a:lnTo>
                    <a:pt x="365365" y="47089"/>
                  </a:lnTo>
                  <a:lnTo>
                    <a:pt x="409056" y="30552"/>
                  </a:lnTo>
                  <a:lnTo>
                    <a:pt x="454281" y="17419"/>
                  </a:lnTo>
                  <a:lnTo>
                    <a:pt x="500884" y="7845"/>
                  </a:lnTo>
                  <a:lnTo>
                    <a:pt x="548709" y="1987"/>
                  </a:lnTo>
                  <a:lnTo>
                    <a:pt x="597601" y="0"/>
                  </a:lnTo>
                </a:path>
              </a:pathLst>
            </a:custGeom>
            <a:ln w="5270">
              <a:solidFill>
                <a:srgbClr val="231F20"/>
              </a:solidFill>
              <a:prstDash val="lgDash"/>
            </a:ln>
          </p:spPr>
          <p:txBody>
            <a:bodyPr wrap="square" lIns="0" tIns="0" rIns="0" bIns="0" rtlCol="0"/>
            <a:lstStyle/>
            <a:p>
              <a:endParaRPr/>
            </a:p>
          </p:txBody>
        </p:sp>
        <p:sp>
          <p:nvSpPr>
            <p:cNvPr id="7" name="object 7"/>
            <p:cNvSpPr/>
            <p:nvPr/>
          </p:nvSpPr>
          <p:spPr>
            <a:xfrm>
              <a:off x="902133" y="1845062"/>
              <a:ext cx="709295" cy="685800"/>
            </a:xfrm>
            <a:custGeom>
              <a:avLst/>
              <a:gdLst/>
              <a:ahLst/>
              <a:cxnLst/>
              <a:rect l="l" t="t" r="r" b="b"/>
              <a:pathLst>
                <a:path w="709294" h="685800">
                  <a:moveTo>
                    <a:pt x="142217" y="685284"/>
                  </a:moveTo>
                  <a:lnTo>
                    <a:pt x="708668" y="259440"/>
                  </a:lnTo>
                </a:path>
                <a:path w="709294" h="685800">
                  <a:moveTo>
                    <a:pt x="142217" y="685284"/>
                  </a:moveTo>
                  <a:lnTo>
                    <a:pt x="351212" y="4471"/>
                  </a:lnTo>
                </a:path>
                <a:path w="709294" h="685800">
                  <a:moveTo>
                    <a:pt x="581587" y="680058"/>
                  </a:moveTo>
                  <a:lnTo>
                    <a:pt x="354037" y="0"/>
                  </a:lnTo>
                </a:path>
                <a:path w="709294" h="685800">
                  <a:moveTo>
                    <a:pt x="708668" y="259448"/>
                  </a:moveTo>
                  <a:lnTo>
                    <a:pt x="354037" y="0"/>
                  </a:lnTo>
                </a:path>
                <a:path w="709294" h="685800">
                  <a:moveTo>
                    <a:pt x="142217" y="685284"/>
                  </a:moveTo>
                  <a:lnTo>
                    <a:pt x="4" y="260250"/>
                  </a:lnTo>
                </a:path>
                <a:path w="709294" h="685800">
                  <a:moveTo>
                    <a:pt x="581587" y="680063"/>
                  </a:moveTo>
                  <a:lnTo>
                    <a:pt x="4" y="260250"/>
                  </a:lnTo>
                </a:path>
                <a:path w="709294" h="685800">
                  <a:moveTo>
                    <a:pt x="708664" y="259448"/>
                  </a:moveTo>
                  <a:lnTo>
                    <a:pt x="0" y="260243"/>
                  </a:lnTo>
                </a:path>
                <a:path w="709294" h="685800">
                  <a:moveTo>
                    <a:pt x="354037" y="0"/>
                  </a:moveTo>
                  <a:lnTo>
                    <a:pt x="0" y="260250"/>
                  </a:lnTo>
                </a:path>
                <a:path w="709294" h="685800">
                  <a:moveTo>
                    <a:pt x="581587" y="680063"/>
                  </a:moveTo>
                  <a:lnTo>
                    <a:pt x="137571" y="682022"/>
                  </a:lnTo>
                </a:path>
                <a:path w="709294" h="685800">
                  <a:moveTo>
                    <a:pt x="708668" y="259448"/>
                  </a:moveTo>
                  <a:lnTo>
                    <a:pt x="581578" y="680058"/>
                  </a:lnTo>
                </a:path>
              </a:pathLst>
            </a:custGeom>
            <a:ln w="5270">
              <a:solidFill>
                <a:srgbClr val="231F20"/>
              </a:solidFill>
            </a:ln>
          </p:spPr>
          <p:txBody>
            <a:bodyPr wrap="square" lIns="0" tIns="0" rIns="0" bIns="0" rtlCol="0"/>
            <a:lstStyle/>
            <a:p>
              <a:endParaRPr/>
            </a:p>
          </p:txBody>
        </p:sp>
        <p:pic>
          <p:nvPicPr>
            <p:cNvPr id="8" name="object 8"/>
            <p:cNvPicPr/>
            <p:nvPr/>
          </p:nvPicPr>
          <p:blipFill>
            <a:blip r:embed="rId5" cstate="print"/>
            <a:stretch>
              <a:fillRect/>
            </a:stretch>
          </p:blipFill>
          <p:spPr>
            <a:xfrm>
              <a:off x="810136" y="2013313"/>
              <a:ext cx="183997" cy="183992"/>
            </a:xfrm>
            <a:prstGeom prst="rect">
              <a:avLst/>
            </a:prstGeom>
          </p:spPr>
        </p:pic>
        <p:pic>
          <p:nvPicPr>
            <p:cNvPr id="9" name="object 9"/>
            <p:cNvPicPr/>
            <p:nvPr/>
          </p:nvPicPr>
          <p:blipFill>
            <a:blip r:embed="rId6" cstate="print"/>
            <a:stretch>
              <a:fillRect/>
            </a:stretch>
          </p:blipFill>
          <p:spPr>
            <a:xfrm>
              <a:off x="1164173" y="1753064"/>
              <a:ext cx="184000" cy="183997"/>
            </a:xfrm>
            <a:prstGeom prst="rect">
              <a:avLst/>
            </a:prstGeom>
          </p:spPr>
        </p:pic>
        <p:pic>
          <p:nvPicPr>
            <p:cNvPr id="10" name="object 10"/>
            <p:cNvPicPr/>
            <p:nvPr/>
          </p:nvPicPr>
          <p:blipFill>
            <a:blip r:embed="rId7" cstate="print"/>
            <a:stretch>
              <a:fillRect/>
            </a:stretch>
          </p:blipFill>
          <p:spPr>
            <a:xfrm>
              <a:off x="1518802" y="2012505"/>
              <a:ext cx="184003" cy="184000"/>
            </a:xfrm>
            <a:prstGeom prst="rect">
              <a:avLst/>
            </a:prstGeom>
          </p:spPr>
        </p:pic>
        <p:pic>
          <p:nvPicPr>
            <p:cNvPr id="11" name="object 11"/>
            <p:cNvPicPr/>
            <p:nvPr/>
          </p:nvPicPr>
          <p:blipFill>
            <a:blip r:embed="rId8" cstate="print"/>
            <a:stretch>
              <a:fillRect/>
            </a:stretch>
          </p:blipFill>
          <p:spPr>
            <a:xfrm>
              <a:off x="1391720" y="2433123"/>
              <a:ext cx="183998" cy="183998"/>
            </a:xfrm>
            <a:prstGeom prst="rect">
              <a:avLst/>
            </a:prstGeom>
          </p:spPr>
        </p:pic>
        <p:pic>
          <p:nvPicPr>
            <p:cNvPr id="12" name="object 12"/>
            <p:cNvPicPr/>
            <p:nvPr/>
          </p:nvPicPr>
          <p:blipFill>
            <a:blip r:embed="rId9" cstate="print"/>
            <a:stretch>
              <a:fillRect/>
            </a:stretch>
          </p:blipFill>
          <p:spPr>
            <a:xfrm>
              <a:off x="952351" y="2438347"/>
              <a:ext cx="184000" cy="183997"/>
            </a:xfrm>
            <a:prstGeom prst="rect">
              <a:avLst/>
            </a:prstGeom>
          </p:spPr>
        </p:pic>
      </p:grpSp>
      <p:sp>
        <p:nvSpPr>
          <p:cNvPr id="13" name="object 13"/>
          <p:cNvSpPr txBox="1"/>
          <p:nvPr/>
        </p:nvSpPr>
        <p:spPr>
          <a:xfrm>
            <a:off x="813731" y="1396138"/>
            <a:ext cx="405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Flat group</a:t>
            </a:r>
            <a:endParaRPr sz="650">
              <a:latin typeface="Arial"/>
              <a:cs typeface="Arial"/>
            </a:endParaRPr>
          </a:p>
        </p:txBody>
      </p:sp>
      <p:sp>
        <p:nvSpPr>
          <p:cNvPr id="14" name="object 14"/>
          <p:cNvSpPr/>
          <p:nvPr/>
        </p:nvSpPr>
        <p:spPr>
          <a:xfrm>
            <a:off x="940690" y="1524204"/>
            <a:ext cx="85090" cy="133985"/>
          </a:xfrm>
          <a:custGeom>
            <a:avLst/>
            <a:gdLst/>
            <a:ahLst/>
            <a:cxnLst/>
            <a:rect l="l" t="t" r="r" b="b"/>
            <a:pathLst>
              <a:path w="85090" h="133985">
                <a:moveTo>
                  <a:pt x="0" y="0"/>
                </a:moveTo>
                <a:lnTo>
                  <a:pt x="84652" y="133976"/>
                </a:lnTo>
              </a:path>
            </a:pathLst>
          </a:custGeom>
          <a:ln w="5270">
            <a:solidFill>
              <a:srgbClr val="231F20"/>
            </a:solidFill>
          </a:ln>
        </p:spPr>
        <p:txBody>
          <a:bodyPr wrap="square" lIns="0" tIns="0" rIns="0" bIns="0" rtlCol="0"/>
          <a:lstStyle/>
          <a:p>
            <a:endParaRPr/>
          </a:p>
        </p:txBody>
      </p:sp>
      <p:grpSp>
        <p:nvGrpSpPr>
          <p:cNvPr id="15" name="object 15"/>
          <p:cNvGrpSpPr/>
          <p:nvPr/>
        </p:nvGrpSpPr>
        <p:grpSpPr>
          <a:xfrm>
            <a:off x="2282362" y="1610987"/>
            <a:ext cx="1201420" cy="1201420"/>
            <a:chOff x="2282362" y="1610987"/>
            <a:chExt cx="1201420" cy="1201420"/>
          </a:xfrm>
        </p:grpSpPr>
        <p:sp>
          <p:nvSpPr>
            <p:cNvPr id="16" name="object 16"/>
            <p:cNvSpPr/>
            <p:nvPr/>
          </p:nvSpPr>
          <p:spPr>
            <a:xfrm>
              <a:off x="2285220" y="1613845"/>
              <a:ext cx="1195705" cy="1195705"/>
            </a:xfrm>
            <a:custGeom>
              <a:avLst/>
              <a:gdLst/>
              <a:ahLst/>
              <a:cxnLst/>
              <a:rect l="l" t="t" r="r" b="b"/>
              <a:pathLst>
                <a:path w="1195704" h="1195705">
                  <a:moveTo>
                    <a:pt x="597600" y="0"/>
                  </a:moveTo>
                  <a:lnTo>
                    <a:pt x="646490" y="1987"/>
                  </a:lnTo>
                  <a:lnTo>
                    <a:pt x="694314" y="7845"/>
                  </a:lnTo>
                  <a:lnTo>
                    <a:pt x="740916" y="17419"/>
                  </a:lnTo>
                  <a:lnTo>
                    <a:pt x="786140" y="30552"/>
                  </a:lnTo>
                  <a:lnTo>
                    <a:pt x="829830" y="47089"/>
                  </a:lnTo>
                  <a:lnTo>
                    <a:pt x="871831" y="66873"/>
                  </a:lnTo>
                  <a:lnTo>
                    <a:pt x="911987" y="89749"/>
                  </a:lnTo>
                  <a:lnTo>
                    <a:pt x="950142" y="115561"/>
                  </a:lnTo>
                  <a:lnTo>
                    <a:pt x="986140" y="144154"/>
                  </a:lnTo>
                  <a:lnTo>
                    <a:pt x="1019826" y="175371"/>
                  </a:lnTo>
                  <a:lnTo>
                    <a:pt x="1051042" y="209056"/>
                  </a:lnTo>
                  <a:lnTo>
                    <a:pt x="1079635" y="245055"/>
                  </a:lnTo>
                  <a:lnTo>
                    <a:pt x="1105447" y="283210"/>
                  </a:lnTo>
                  <a:lnTo>
                    <a:pt x="1128323" y="323366"/>
                  </a:lnTo>
                  <a:lnTo>
                    <a:pt x="1148108" y="365368"/>
                  </a:lnTo>
                  <a:lnTo>
                    <a:pt x="1164644" y="409059"/>
                  </a:lnTo>
                  <a:lnTo>
                    <a:pt x="1177777" y="454284"/>
                  </a:lnTo>
                  <a:lnTo>
                    <a:pt x="1187351" y="500887"/>
                  </a:lnTo>
                  <a:lnTo>
                    <a:pt x="1193210" y="548712"/>
                  </a:lnTo>
                  <a:lnTo>
                    <a:pt x="1195197" y="597602"/>
                  </a:lnTo>
                  <a:lnTo>
                    <a:pt x="1193210" y="646493"/>
                  </a:lnTo>
                  <a:lnTo>
                    <a:pt x="1187351" y="694317"/>
                  </a:lnTo>
                  <a:lnTo>
                    <a:pt x="1177777" y="740919"/>
                  </a:lnTo>
                  <a:lnTo>
                    <a:pt x="1164644" y="786143"/>
                  </a:lnTo>
                  <a:lnTo>
                    <a:pt x="1148108" y="829834"/>
                  </a:lnTo>
                  <a:lnTo>
                    <a:pt x="1128323" y="871835"/>
                  </a:lnTo>
                  <a:lnTo>
                    <a:pt x="1105447" y="911991"/>
                  </a:lnTo>
                  <a:lnTo>
                    <a:pt x="1079635" y="950146"/>
                  </a:lnTo>
                  <a:lnTo>
                    <a:pt x="1051042" y="986144"/>
                  </a:lnTo>
                  <a:lnTo>
                    <a:pt x="1019826" y="1019829"/>
                  </a:lnTo>
                  <a:lnTo>
                    <a:pt x="986140" y="1051046"/>
                  </a:lnTo>
                  <a:lnTo>
                    <a:pt x="950142" y="1079638"/>
                  </a:lnTo>
                  <a:lnTo>
                    <a:pt x="911987" y="1105450"/>
                  </a:lnTo>
                  <a:lnTo>
                    <a:pt x="871831" y="1128326"/>
                  </a:lnTo>
                  <a:lnTo>
                    <a:pt x="829830" y="1148110"/>
                  </a:lnTo>
                  <a:lnTo>
                    <a:pt x="786140" y="1164646"/>
                  </a:lnTo>
                  <a:lnTo>
                    <a:pt x="740916" y="1177779"/>
                  </a:lnTo>
                  <a:lnTo>
                    <a:pt x="694314" y="1187353"/>
                  </a:lnTo>
                  <a:lnTo>
                    <a:pt x="646490" y="1193211"/>
                  </a:lnTo>
                  <a:lnTo>
                    <a:pt x="597600" y="1195199"/>
                  </a:lnTo>
                  <a:lnTo>
                    <a:pt x="548710" y="1193211"/>
                  </a:lnTo>
                  <a:lnTo>
                    <a:pt x="500885" y="1187353"/>
                  </a:lnTo>
                  <a:lnTo>
                    <a:pt x="454282" y="1177779"/>
                  </a:lnTo>
                  <a:lnTo>
                    <a:pt x="409057" y="1164646"/>
                  </a:lnTo>
                  <a:lnTo>
                    <a:pt x="365366" y="1148110"/>
                  </a:lnTo>
                  <a:lnTo>
                    <a:pt x="323365" y="1128326"/>
                  </a:lnTo>
                  <a:lnTo>
                    <a:pt x="283209" y="1105450"/>
                  </a:lnTo>
                  <a:lnTo>
                    <a:pt x="245053" y="1079638"/>
                  </a:lnTo>
                  <a:lnTo>
                    <a:pt x="209055" y="1051046"/>
                  </a:lnTo>
                  <a:lnTo>
                    <a:pt x="175370" y="1019829"/>
                  </a:lnTo>
                  <a:lnTo>
                    <a:pt x="144153" y="986144"/>
                  </a:lnTo>
                  <a:lnTo>
                    <a:pt x="115561" y="950146"/>
                  </a:lnTo>
                  <a:lnTo>
                    <a:pt x="89749" y="911991"/>
                  </a:lnTo>
                  <a:lnTo>
                    <a:pt x="66873" y="871835"/>
                  </a:lnTo>
                  <a:lnTo>
                    <a:pt x="47088" y="829834"/>
                  </a:lnTo>
                  <a:lnTo>
                    <a:pt x="30552" y="786143"/>
                  </a:lnTo>
                  <a:lnTo>
                    <a:pt x="17419" y="740919"/>
                  </a:lnTo>
                  <a:lnTo>
                    <a:pt x="7845" y="694317"/>
                  </a:lnTo>
                  <a:lnTo>
                    <a:pt x="1987" y="646493"/>
                  </a:lnTo>
                  <a:lnTo>
                    <a:pt x="0" y="597602"/>
                  </a:lnTo>
                  <a:lnTo>
                    <a:pt x="1987" y="548712"/>
                  </a:lnTo>
                  <a:lnTo>
                    <a:pt x="7845" y="500887"/>
                  </a:lnTo>
                  <a:lnTo>
                    <a:pt x="17419" y="454284"/>
                  </a:lnTo>
                  <a:lnTo>
                    <a:pt x="30552" y="409059"/>
                  </a:lnTo>
                  <a:lnTo>
                    <a:pt x="47088" y="365368"/>
                  </a:lnTo>
                  <a:lnTo>
                    <a:pt x="66873" y="323366"/>
                  </a:lnTo>
                  <a:lnTo>
                    <a:pt x="89749" y="283210"/>
                  </a:lnTo>
                  <a:lnTo>
                    <a:pt x="115561" y="245055"/>
                  </a:lnTo>
                  <a:lnTo>
                    <a:pt x="144153" y="209056"/>
                  </a:lnTo>
                  <a:lnTo>
                    <a:pt x="175370" y="175371"/>
                  </a:lnTo>
                  <a:lnTo>
                    <a:pt x="209055" y="144154"/>
                  </a:lnTo>
                  <a:lnTo>
                    <a:pt x="245053" y="115561"/>
                  </a:lnTo>
                  <a:lnTo>
                    <a:pt x="283209" y="89749"/>
                  </a:lnTo>
                  <a:lnTo>
                    <a:pt x="323365" y="66873"/>
                  </a:lnTo>
                  <a:lnTo>
                    <a:pt x="365366" y="47089"/>
                  </a:lnTo>
                  <a:lnTo>
                    <a:pt x="409057" y="30552"/>
                  </a:lnTo>
                  <a:lnTo>
                    <a:pt x="454282" y="17419"/>
                  </a:lnTo>
                  <a:lnTo>
                    <a:pt x="500885" y="7845"/>
                  </a:lnTo>
                  <a:lnTo>
                    <a:pt x="548710" y="1987"/>
                  </a:lnTo>
                  <a:lnTo>
                    <a:pt x="597600" y="0"/>
                  </a:lnTo>
                </a:path>
              </a:pathLst>
            </a:custGeom>
            <a:ln w="5270">
              <a:solidFill>
                <a:srgbClr val="231F20"/>
              </a:solidFill>
              <a:prstDash val="lgDash"/>
            </a:ln>
          </p:spPr>
          <p:txBody>
            <a:bodyPr wrap="square" lIns="0" tIns="0" rIns="0" bIns="0" rtlCol="0"/>
            <a:lstStyle/>
            <a:p>
              <a:endParaRPr/>
            </a:p>
          </p:txBody>
        </p:sp>
        <p:sp>
          <p:nvSpPr>
            <p:cNvPr id="17" name="object 17"/>
            <p:cNvSpPr/>
            <p:nvPr/>
          </p:nvSpPr>
          <p:spPr>
            <a:xfrm>
              <a:off x="2528482" y="1868803"/>
              <a:ext cx="709295" cy="685800"/>
            </a:xfrm>
            <a:custGeom>
              <a:avLst/>
              <a:gdLst/>
              <a:ahLst/>
              <a:cxnLst/>
              <a:rect l="l" t="t" r="r" b="b"/>
              <a:pathLst>
                <a:path w="709294" h="685800">
                  <a:moveTo>
                    <a:pt x="142225" y="685280"/>
                  </a:moveTo>
                  <a:lnTo>
                    <a:pt x="351213" y="4468"/>
                  </a:lnTo>
                </a:path>
                <a:path w="709294" h="685800">
                  <a:moveTo>
                    <a:pt x="581588" y="680055"/>
                  </a:moveTo>
                  <a:lnTo>
                    <a:pt x="354045" y="0"/>
                  </a:lnTo>
                </a:path>
                <a:path w="709294" h="685800">
                  <a:moveTo>
                    <a:pt x="708670" y="259440"/>
                  </a:moveTo>
                  <a:lnTo>
                    <a:pt x="354045" y="0"/>
                  </a:lnTo>
                </a:path>
                <a:path w="709294" h="685800">
                  <a:moveTo>
                    <a:pt x="354045" y="0"/>
                  </a:moveTo>
                  <a:lnTo>
                    <a:pt x="0" y="260247"/>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10" cstate="print"/>
            <a:stretch>
              <a:fillRect/>
            </a:stretch>
          </p:blipFill>
          <p:spPr>
            <a:xfrm>
              <a:off x="2436487" y="2037052"/>
              <a:ext cx="183999" cy="183996"/>
            </a:xfrm>
            <a:prstGeom prst="rect">
              <a:avLst/>
            </a:prstGeom>
          </p:spPr>
        </p:pic>
        <p:pic>
          <p:nvPicPr>
            <p:cNvPr id="19" name="object 19"/>
            <p:cNvPicPr/>
            <p:nvPr/>
          </p:nvPicPr>
          <p:blipFill>
            <a:blip r:embed="rId11" cstate="print"/>
            <a:stretch>
              <a:fillRect/>
            </a:stretch>
          </p:blipFill>
          <p:spPr>
            <a:xfrm>
              <a:off x="2790524" y="1776805"/>
              <a:ext cx="183996" cy="183997"/>
            </a:xfrm>
            <a:prstGeom prst="rect">
              <a:avLst/>
            </a:prstGeom>
          </p:spPr>
        </p:pic>
        <p:pic>
          <p:nvPicPr>
            <p:cNvPr id="20" name="object 20"/>
            <p:cNvPicPr/>
            <p:nvPr/>
          </p:nvPicPr>
          <p:blipFill>
            <a:blip r:embed="rId12" cstate="print"/>
            <a:stretch>
              <a:fillRect/>
            </a:stretch>
          </p:blipFill>
          <p:spPr>
            <a:xfrm>
              <a:off x="3145151" y="2036249"/>
              <a:ext cx="183998" cy="183997"/>
            </a:xfrm>
            <a:prstGeom prst="rect">
              <a:avLst/>
            </a:prstGeom>
          </p:spPr>
        </p:pic>
        <p:pic>
          <p:nvPicPr>
            <p:cNvPr id="21" name="object 21"/>
            <p:cNvPicPr/>
            <p:nvPr/>
          </p:nvPicPr>
          <p:blipFill>
            <a:blip r:embed="rId13" cstate="print"/>
            <a:stretch>
              <a:fillRect/>
            </a:stretch>
          </p:blipFill>
          <p:spPr>
            <a:xfrm>
              <a:off x="3018069" y="2456863"/>
              <a:ext cx="183993" cy="183997"/>
            </a:xfrm>
            <a:prstGeom prst="rect">
              <a:avLst/>
            </a:prstGeom>
          </p:spPr>
        </p:pic>
        <p:pic>
          <p:nvPicPr>
            <p:cNvPr id="22" name="object 22"/>
            <p:cNvPicPr/>
            <p:nvPr/>
          </p:nvPicPr>
          <p:blipFill>
            <a:blip r:embed="rId14" cstate="print"/>
            <a:stretch>
              <a:fillRect/>
            </a:stretch>
          </p:blipFill>
          <p:spPr>
            <a:xfrm>
              <a:off x="2578703" y="2462085"/>
              <a:ext cx="184000" cy="184000"/>
            </a:xfrm>
            <a:prstGeom prst="rect">
              <a:avLst/>
            </a:prstGeom>
          </p:spPr>
        </p:pic>
      </p:grpSp>
      <p:sp>
        <p:nvSpPr>
          <p:cNvPr id="23" name="object 23"/>
          <p:cNvSpPr txBox="1"/>
          <p:nvPr/>
        </p:nvSpPr>
        <p:spPr>
          <a:xfrm>
            <a:off x="1993933" y="1440958"/>
            <a:ext cx="7099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Hierarchical group</a:t>
            </a:r>
            <a:endParaRPr sz="650">
              <a:latin typeface="Arial"/>
              <a:cs typeface="Arial"/>
            </a:endParaRPr>
          </a:p>
        </p:txBody>
      </p:sp>
      <p:sp>
        <p:nvSpPr>
          <p:cNvPr id="24" name="object 24"/>
          <p:cNvSpPr txBox="1"/>
          <p:nvPr/>
        </p:nvSpPr>
        <p:spPr>
          <a:xfrm>
            <a:off x="3099494" y="1470835"/>
            <a:ext cx="4660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Coordinator</a:t>
            </a:r>
            <a:endParaRPr sz="650">
              <a:latin typeface="Arial"/>
              <a:cs typeface="Arial"/>
            </a:endParaRPr>
          </a:p>
        </p:txBody>
      </p:sp>
      <p:sp>
        <p:nvSpPr>
          <p:cNvPr id="25" name="object 25"/>
          <p:cNvSpPr txBox="1"/>
          <p:nvPr/>
        </p:nvSpPr>
        <p:spPr>
          <a:xfrm>
            <a:off x="3667218" y="2053498"/>
            <a:ext cx="29591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a:t>
            </a:r>
            <a:r>
              <a:rPr sz="650" spc="5" dirty="0">
                <a:solidFill>
                  <a:srgbClr val="231F20"/>
                </a:solidFill>
                <a:latin typeface="Arial"/>
                <a:cs typeface="Arial"/>
              </a:rPr>
              <a:t>orker</a:t>
            </a:r>
            <a:endParaRPr sz="650">
              <a:latin typeface="Arial"/>
              <a:cs typeface="Arial"/>
            </a:endParaRPr>
          </a:p>
        </p:txBody>
      </p:sp>
      <p:sp>
        <p:nvSpPr>
          <p:cNvPr id="26" name="object 26"/>
          <p:cNvSpPr/>
          <p:nvPr/>
        </p:nvSpPr>
        <p:spPr>
          <a:xfrm>
            <a:off x="2404737" y="1583961"/>
            <a:ext cx="1240155" cy="538480"/>
          </a:xfrm>
          <a:custGeom>
            <a:avLst/>
            <a:gdLst/>
            <a:ahLst/>
            <a:cxnLst/>
            <a:rect l="l" t="t" r="r" b="b"/>
            <a:pathLst>
              <a:path w="1240154" h="538480">
                <a:moveTo>
                  <a:pt x="0" y="0"/>
                </a:moveTo>
                <a:lnTo>
                  <a:pt x="107624" y="162057"/>
                </a:lnTo>
              </a:path>
              <a:path w="1240154" h="538480">
                <a:moveTo>
                  <a:pt x="821705" y="14947"/>
                </a:moveTo>
                <a:lnTo>
                  <a:pt x="557372" y="235847"/>
                </a:lnTo>
              </a:path>
              <a:path w="1240154" h="538480">
                <a:moveTo>
                  <a:pt x="926314" y="538019"/>
                </a:moveTo>
                <a:lnTo>
                  <a:pt x="1240014" y="537842"/>
                </a:lnTo>
              </a:path>
            </a:pathLst>
          </a:custGeom>
          <a:ln w="5270">
            <a:solidFill>
              <a:srgbClr val="231F20"/>
            </a:solidFill>
          </a:ln>
        </p:spPr>
        <p:txBody>
          <a:bodyPr wrap="square" lIns="0" tIns="0" rIns="0" bIns="0" rtlCol="0"/>
          <a:lstStyle/>
          <a:p>
            <a:endParaRPr/>
          </a:p>
        </p:txBody>
      </p:sp>
      <p:sp>
        <p:nvSpPr>
          <p:cNvPr id="27" name="object 27"/>
          <p:cNvSpPr txBox="1"/>
          <p:nvPr/>
        </p:nvSpPr>
        <p:spPr>
          <a:xfrm>
            <a:off x="66713" y="3331252"/>
            <a:ext cx="6711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4" action="ppaction://hlinksldjump"/>
              </a:rPr>
              <a:t>Group</a:t>
            </a:r>
            <a:r>
              <a:rPr sz="600" spc="-3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organization</a:t>
            </a:r>
            <a:endParaRPr sz="600">
              <a:latin typeface="Arial"/>
              <a:cs typeface="Arial"/>
            </a:endParaRPr>
          </a:p>
        </p:txBody>
      </p:sp>
      <p:sp>
        <p:nvSpPr>
          <p:cNvPr id="28" name="object 2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12</a:t>
            </a:r>
            <a:r>
              <a:rPr spc="-40" dirty="0"/>
              <a:t> </a:t>
            </a:r>
            <a:r>
              <a:rPr spc="-5" dirty="0"/>
              <a:t>/</a:t>
            </a:r>
            <a:r>
              <a:rPr spc="-35" dirty="0"/>
              <a:t> </a:t>
            </a:r>
            <a:r>
              <a:rPr spc="-5" dirty="0"/>
              <a:t>68</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15029" algn="l"/>
              </a:tabLst>
            </a:pPr>
            <a:r>
              <a:rPr sz="600" spc="-10" dirty="0">
                <a:solidFill>
                  <a:srgbClr val="3333B2"/>
                </a:solidFill>
                <a:latin typeface="Arial"/>
                <a:cs typeface="Arial"/>
                <a:hlinkClick r:id="rId2" action="ppaction://hlinksldjump"/>
              </a:rPr>
              <a:t>Fault</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r>
              <a:rPr sz="600" spc="-5" dirty="0">
                <a:solidFill>
                  <a:srgbClr val="3333B2"/>
                </a:solidFill>
                <a:latin typeface="Arial"/>
                <a:cs typeface="Arial"/>
              </a:rPr>
              <a:t>	</a:t>
            </a:r>
            <a:r>
              <a:rPr sz="600" spc="-10" dirty="0">
                <a:solidFill>
                  <a:srgbClr val="262685"/>
                </a:solidFill>
                <a:latin typeface="Arial"/>
                <a:cs typeface="Arial"/>
                <a:hlinkClick r:id="rId4" action="ppaction://hlinksldjump"/>
              </a:rPr>
              <a:t>Failure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masking</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and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replication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Groups</a:t>
            </a:r>
            <a:r>
              <a:rPr spc="-5" dirty="0"/>
              <a:t> </a:t>
            </a:r>
            <a:r>
              <a:rPr spc="15" dirty="0"/>
              <a:t>and</a:t>
            </a:r>
            <a:r>
              <a:rPr spc="-5" dirty="0"/>
              <a:t> </a:t>
            </a:r>
            <a:r>
              <a:rPr spc="5" dirty="0"/>
              <a:t>failure</a:t>
            </a:r>
            <a:r>
              <a:rPr spc="-5" dirty="0"/>
              <a:t> </a:t>
            </a:r>
            <a:r>
              <a:rPr spc="15" dirty="0"/>
              <a:t>masking</a:t>
            </a:r>
          </a:p>
        </p:txBody>
      </p:sp>
      <p:sp>
        <p:nvSpPr>
          <p:cNvPr id="4" name="object 4"/>
          <p:cNvSpPr txBox="1"/>
          <p:nvPr/>
        </p:nvSpPr>
        <p:spPr>
          <a:xfrm>
            <a:off x="341350" y="401337"/>
            <a:ext cx="3918585" cy="566420"/>
          </a:xfrm>
          <a:prstGeom prst="rect">
            <a:avLst/>
          </a:prstGeom>
        </p:spPr>
        <p:txBody>
          <a:bodyPr vert="horz" wrap="square" lIns="0" tIns="41910" rIns="0" bIns="0" rtlCol="0">
            <a:spAutoFit/>
          </a:bodyPr>
          <a:lstStyle/>
          <a:p>
            <a:pPr marL="18415">
              <a:lnSpc>
                <a:spcPct val="100000"/>
              </a:lnSpc>
              <a:spcBef>
                <a:spcPts val="330"/>
              </a:spcBef>
            </a:pPr>
            <a:r>
              <a:rPr sz="1200" i="1" spc="-5" dirty="0">
                <a:solidFill>
                  <a:srgbClr val="3333B2"/>
                </a:solidFill>
                <a:latin typeface="Arial"/>
                <a:cs typeface="Arial"/>
              </a:rPr>
              <a:t>k</a:t>
            </a:r>
            <a:r>
              <a:rPr sz="1200" i="1" spc="-215" dirty="0">
                <a:solidFill>
                  <a:srgbClr val="3333B2"/>
                </a:solidFill>
                <a:latin typeface="Arial"/>
                <a:cs typeface="Arial"/>
              </a:rPr>
              <a:t> </a:t>
            </a:r>
            <a:r>
              <a:rPr sz="1200" spc="-5" dirty="0">
                <a:solidFill>
                  <a:srgbClr val="3333B2"/>
                </a:solidFill>
                <a:latin typeface="Arial"/>
                <a:cs typeface="Arial"/>
              </a:rPr>
              <a:t>-</a:t>
            </a:r>
            <a:r>
              <a:rPr sz="1200" spc="-45" dirty="0">
                <a:solidFill>
                  <a:srgbClr val="3333B2"/>
                </a:solidFill>
                <a:latin typeface="Arial"/>
                <a:cs typeface="Arial"/>
              </a:rPr>
              <a:t>f</a:t>
            </a:r>
            <a:r>
              <a:rPr sz="1200" spc="-5" dirty="0">
                <a:solidFill>
                  <a:srgbClr val="3333B2"/>
                </a:solidFill>
                <a:latin typeface="Arial"/>
                <a:cs typeface="Arial"/>
              </a:rPr>
              <a:t>ault tole</a:t>
            </a:r>
            <a:r>
              <a:rPr sz="1200" spc="-20" dirty="0">
                <a:solidFill>
                  <a:srgbClr val="3333B2"/>
                </a:solidFill>
                <a:latin typeface="Arial"/>
                <a:cs typeface="Arial"/>
              </a:rPr>
              <a:t>r</a:t>
            </a:r>
            <a:r>
              <a:rPr sz="1200" spc="-5" dirty="0">
                <a:solidFill>
                  <a:srgbClr val="3333B2"/>
                </a:solidFill>
                <a:latin typeface="Arial"/>
                <a:cs typeface="Arial"/>
              </a:rPr>
              <a:t>ant </a:t>
            </a:r>
            <a:r>
              <a:rPr sz="1200" spc="-20" dirty="0">
                <a:solidFill>
                  <a:srgbClr val="3333B2"/>
                </a:solidFill>
                <a:latin typeface="Arial"/>
                <a:cs typeface="Arial"/>
              </a:rPr>
              <a:t>g</a:t>
            </a:r>
            <a:r>
              <a:rPr sz="1200" spc="-5" dirty="0">
                <a:solidFill>
                  <a:srgbClr val="3333B2"/>
                </a:solidFill>
                <a:latin typeface="Arial"/>
                <a:cs typeface="Arial"/>
              </a:rPr>
              <a:t>roup</a:t>
            </a:r>
            <a:endParaRPr sz="1200">
              <a:latin typeface="Arial"/>
              <a:cs typeface="Arial"/>
            </a:endParaRPr>
          </a:p>
          <a:p>
            <a:pPr marL="18415" marR="5080" indent="-6350">
              <a:lnSpc>
                <a:spcPct val="100000"/>
              </a:lnSpc>
              <a:spcBef>
                <a:spcPts val="190"/>
              </a:spcBef>
            </a:pPr>
            <a:r>
              <a:rPr sz="1000" spc="-15" dirty="0">
                <a:latin typeface="Arial"/>
                <a:cs typeface="Arial"/>
              </a:rPr>
              <a:t>When</a:t>
            </a:r>
            <a:r>
              <a:rPr sz="1000" spc="-5" dirty="0">
                <a:latin typeface="Arial"/>
                <a:cs typeface="Arial"/>
              </a:rPr>
              <a:t> </a:t>
            </a:r>
            <a:r>
              <a:rPr sz="1000" spc="-10" dirty="0">
                <a:latin typeface="Arial"/>
                <a:cs typeface="Arial"/>
              </a:rPr>
              <a:t>a</a:t>
            </a:r>
            <a:r>
              <a:rPr sz="1000" dirty="0">
                <a:latin typeface="Arial"/>
                <a:cs typeface="Arial"/>
              </a:rPr>
              <a:t> </a:t>
            </a:r>
            <a:r>
              <a:rPr sz="1000" spc="-15" dirty="0">
                <a:latin typeface="Arial"/>
                <a:cs typeface="Arial"/>
              </a:rPr>
              <a:t>group</a:t>
            </a:r>
            <a:r>
              <a:rPr sz="1000" dirty="0">
                <a:latin typeface="Arial"/>
                <a:cs typeface="Arial"/>
              </a:rPr>
              <a:t> </a:t>
            </a:r>
            <a:r>
              <a:rPr sz="1000" spc="-10" dirty="0">
                <a:latin typeface="Arial"/>
                <a:cs typeface="Arial"/>
              </a:rPr>
              <a:t>can</a:t>
            </a:r>
            <a:r>
              <a:rPr sz="1000" dirty="0">
                <a:latin typeface="Arial"/>
                <a:cs typeface="Arial"/>
              </a:rPr>
              <a:t> </a:t>
            </a:r>
            <a:r>
              <a:rPr sz="1000" spc="-10" dirty="0">
                <a:latin typeface="Arial"/>
                <a:cs typeface="Arial"/>
              </a:rPr>
              <a:t>mask</a:t>
            </a:r>
            <a:r>
              <a:rPr sz="1000" dirty="0">
                <a:latin typeface="Arial"/>
                <a:cs typeface="Arial"/>
              </a:rPr>
              <a:t> </a:t>
            </a:r>
            <a:r>
              <a:rPr sz="1000" spc="-20" dirty="0">
                <a:latin typeface="Arial"/>
                <a:cs typeface="Arial"/>
              </a:rPr>
              <a:t>any</a:t>
            </a:r>
            <a:r>
              <a:rPr sz="1000" dirty="0">
                <a:latin typeface="Arial"/>
                <a:cs typeface="Arial"/>
              </a:rPr>
              <a:t> </a:t>
            </a:r>
            <a:r>
              <a:rPr sz="1000" i="1" spc="-10" dirty="0">
                <a:latin typeface="Arial"/>
                <a:cs typeface="Arial"/>
              </a:rPr>
              <a:t>k</a:t>
            </a:r>
            <a:r>
              <a:rPr sz="1000" i="1" spc="100" dirty="0">
                <a:latin typeface="Arial"/>
                <a:cs typeface="Arial"/>
              </a:rPr>
              <a:t> </a:t>
            </a:r>
            <a:r>
              <a:rPr sz="1000" spc="-10" dirty="0">
                <a:latin typeface="Arial"/>
                <a:cs typeface="Arial"/>
              </a:rPr>
              <a:t>concurrent</a:t>
            </a:r>
            <a:r>
              <a:rPr sz="1000" dirty="0">
                <a:latin typeface="Arial"/>
                <a:cs typeface="Arial"/>
              </a:rPr>
              <a:t> </a:t>
            </a:r>
            <a:r>
              <a:rPr sz="1000" spc="-10" dirty="0">
                <a:latin typeface="Arial"/>
                <a:cs typeface="Arial"/>
              </a:rPr>
              <a:t>member</a:t>
            </a:r>
            <a:r>
              <a:rPr sz="1000" dirty="0">
                <a:latin typeface="Arial"/>
                <a:cs typeface="Arial"/>
              </a:rPr>
              <a:t> </a:t>
            </a:r>
            <a:r>
              <a:rPr sz="1000" spc="-15" dirty="0">
                <a:latin typeface="Arial"/>
                <a:cs typeface="Arial"/>
              </a:rPr>
              <a:t>failures</a:t>
            </a:r>
            <a:r>
              <a:rPr sz="1000" dirty="0">
                <a:latin typeface="Arial"/>
                <a:cs typeface="Arial"/>
              </a:rPr>
              <a:t> </a:t>
            </a:r>
            <a:r>
              <a:rPr sz="1000" spc="-10" dirty="0">
                <a:latin typeface="Arial"/>
                <a:cs typeface="Arial"/>
              </a:rPr>
              <a:t>(</a:t>
            </a:r>
            <a:r>
              <a:rPr sz="1000" i="1" spc="-10" dirty="0">
                <a:latin typeface="Arial"/>
                <a:cs typeface="Arial"/>
              </a:rPr>
              <a:t>k</a:t>
            </a:r>
            <a:r>
              <a:rPr sz="1000" i="1" spc="100" dirty="0">
                <a:latin typeface="Arial"/>
                <a:cs typeface="Arial"/>
              </a:rPr>
              <a:t> </a:t>
            </a:r>
            <a:r>
              <a:rPr sz="1000" spc="-10" dirty="0">
                <a:latin typeface="Arial"/>
                <a:cs typeface="Arial"/>
              </a:rPr>
              <a:t>is</a:t>
            </a:r>
            <a:r>
              <a:rPr sz="1000" dirty="0">
                <a:latin typeface="Arial"/>
                <a:cs typeface="Arial"/>
              </a:rPr>
              <a:t> </a:t>
            </a:r>
            <a:r>
              <a:rPr sz="1000" spc="-10" dirty="0">
                <a:latin typeface="Arial"/>
                <a:cs typeface="Arial"/>
              </a:rPr>
              <a:t>called </a:t>
            </a:r>
            <a:r>
              <a:rPr sz="1000" spc="-265" dirty="0">
                <a:latin typeface="Arial"/>
                <a:cs typeface="Arial"/>
              </a:rPr>
              <a:t> </a:t>
            </a:r>
            <a:r>
              <a:rPr sz="1000" spc="-5" dirty="0">
                <a:solidFill>
                  <a:srgbClr val="0000FA"/>
                </a:solidFill>
                <a:latin typeface="Arial"/>
                <a:cs typeface="Arial"/>
              </a:rPr>
              <a:t>degree</a:t>
            </a:r>
            <a:r>
              <a:rPr sz="1000" spc="-10" dirty="0">
                <a:solidFill>
                  <a:srgbClr val="0000FA"/>
                </a:solidFill>
                <a:latin typeface="Arial"/>
                <a:cs typeface="Arial"/>
              </a:rPr>
              <a:t> </a:t>
            </a:r>
            <a:r>
              <a:rPr sz="1000" spc="-5" dirty="0">
                <a:solidFill>
                  <a:srgbClr val="0000FA"/>
                </a:solidFill>
                <a:latin typeface="Arial"/>
                <a:cs typeface="Arial"/>
              </a:rPr>
              <a:t>of </a:t>
            </a:r>
            <a:r>
              <a:rPr sz="1000" spc="-10" dirty="0">
                <a:solidFill>
                  <a:srgbClr val="0000FA"/>
                </a:solidFill>
                <a:latin typeface="Arial"/>
                <a:cs typeface="Arial"/>
              </a:rPr>
              <a:t>fault</a:t>
            </a:r>
            <a:r>
              <a:rPr sz="1000" spc="-5" dirty="0">
                <a:solidFill>
                  <a:srgbClr val="0000FA"/>
                </a:solidFill>
                <a:latin typeface="Arial"/>
                <a:cs typeface="Arial"/>
              </a:rPr>
              <a:t> tolerance</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15029" algn="l"/>
              </a:tabLst>
            </a:pPr>
            <a:r>
              <a:rPr sz="600" spc="-10" dirty="0">
                <a:solidFill>
                  <a:srgbClr val="3333B2"/>
                </a:solidFill>
                <a:latin typeface="Arial"/>
                <a:cs typeface="Arial"/>
                <a:hlinkClick r:id="rId2" action="ppaction://hlinksldjump"/>
              </a:rPr>
              <a:t>Fault</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r>
              <a:rPr sz="600" spc="-5" dirty="0">
                <a:solidFill>
                  <a:srgbClr val="3333B2"/>
                </a:solidFill>
                <a:latin typeface="Arial"/>
                <a:cs typeface="Arial"/>
              </a:rPr>
              <a:t>	</a:t>
            </a:r>
            <a:r>
              <a:rPr sz="600" spc="-10" dirty="0">
                <a:solidFill>
                  <a:srgbClr val="262685"/>
                </a:solidFill>
                <a:latin typeface="Arial"/>
                <a:cs typeface="Arial"/>
                <a:hlinkClick r:id="rId4" action="ppaction://hlinksldjump"/>
              </a:rPr>
              <a:t>Failure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masking</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and</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replication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Groups</a:t>
            </a:r>
            <a:r>
              <a:rPr spc="-5" dirty="0"/>
              <a:t> </a:t>
            </a:r>
            <a:r>
              <a:rPr spc="15" dirty="0"/>
              <a:t>and</a:t>
            </a:r>
            <a:r>
              <a:rPr spc="-5" dirty="0"/>
              <a:t> </a:t>
            </a:r>
            <a:r>
              <a:rPr spc="5" dirty="0"/>
              <a:t>failure</a:t>
            </a:r>
            <a:r>
              <a:rPr spc="-5" dirty="0"/>
              <a:t> </a:t>
            </a:r>
            <a:r>
              <a:rPr spc="15" dirty="0"/>
              <a:t>masking</a:t>
            </a:r>
          </a:p>
        </p:txBody>
      </p:sp>
      <p:sp>
        <p:nvSpPr>
          <p:cNvPr id="4" name="object 4"/>
          <p:cNvSpPr txBox="1"/>
          <p:nvPr/>
        </p:nvSpPr>
        <p:spPr>
          <a:xfrm>
            <a:off x="328650" y="401337"/>
            <a:ext cx="3943985" cy="1737360"/>
          </a:xfrm>
          <a:prstGeom prst="rect">
            <a:avLst/>
          </a:prstGeom>
        </p:spPr>
        <p:txBody>
          <a:bodyPr vert="horz" wrap="square" lIns="0" tIns="41910" rIns="0" bIns="0" rtlCol="0">
            <a:spAutoFit/>
          </a:bodyPr>
          <a:lstStyle/>
          <a:p>
            <a:pPr marL="31115">
              <a:lnSpc>
                <a:spcPct val="100000"/>
              </a:lnSpc>
              <a:spcBef>
                <a:spcPts val="330"/>
              </a:spcBef>
            </a:pPr>
            <a:r>
              <a:rPr sz="1200" i="1" spc="-5" dirty="0">
                <a:solidFill>
                  <a:srgbClr val="3333B2"/>
                </a:solidFill>
                <a:latin typeface="Arial"/>
                <a:cs typeface="Arial"/>
              </a:rPr>
              <a:t>k</a:t>
            </a:r>
            <a:r>
              <a:rPr sz="1200" i="1" spc="-215" dirty="0">
                <a:solidFill>
                  <a:srgbClr val="3333B2"/>
                </a:solidFill>
                <a:latin typeface="Arial"/>
                <a:cs typeface="Arial"/>
              </a:rPr>
              <a:t> </a:t>
            </a:r>
            <a:r>
              <a:rPr sz="1200" spc="-5" dirty="0">
                <a:solidFill>
                  <a:srgbClr val="3333B2"/>
                </a:solidFill>
                <a:latin typeface="Arial"/>
                <a:cs typeface="Arial"/>
              </a:rPr>
              <a:t>-</a:t>
            </a:r>
            <a:r>
              <a:rPr sz="1200" spc="-45" dirty="0">
                <a:solidFill>
                  <a:srgbClr val="3333B2"/>
                </a:solidFill>
                <a:latin typeface="Arial"/>
                <a:cs typeface="Arial"/>
              </a:rPr>
              <a:t>f</a:t>
            </a:r>
            <a:r>
              <a:rPr sz="1200" spc="-5" dirty="0">
                <a:solidFill>
                  <a:srgbClr val="3333B2"/>
                </a:solidFill>
                <a:latin typeface="Arial"/>
                <a:cs typeface="Arial"/>
              </a:rPr>
              <a:t>ault tole</a:t>
            </a:r>
            <a:r>
              <a:rPr sz="1200" spc="-20" dirty="0">
                <a:solidFill>
                  <a:srgbClr val="3333B2"/>
                </a:solidFill>
                <a:latin typeface="Arial"/>
                <a:cs typeface="Arial"/>
              </a:rPr>
              <a:t>r</a:t>
            </a:r>
            <a:r>
              <a:rPr sz="1200" spc="-5" dirty="0">
                <a:solidFill>
                  <a:srgbClr val="3333B2"/>
                </a:solidFill>
                <a:latin typeface="Arial"/>
                <a:cs typeface="Arial"/>
              </a:rPr>
              <a:t>ant </a:t>
            </a:r>
            <a:r>
              <a:rPr sz="1200" spc="-20" dirty="0">
                <a:solidFill>
                  <a:srgbClr val="3333B2"/>
                </a:solidFill>
                <a:latin typeface="Arial"/>
                <a:cs typeface="Arial"/>
              </a:rPr>
              <a:t>g</a:t>
            </a:r>
            <a:r>
              <a:rPr sz="1200" spc="-5" dirty="0">
                <a:solidFill>
                  <a:srgbClr val="3333B2"/>
                </a:solidFill>
                <a:latin typeface="Arial"/>
                <a:cs typeface="Arial"/>
              </a:rPr>
              <a:t>roup</a:t>
            </a:r>
            <a:endParaRPr sz="1200">
              <a:latin typeface="Arial"/>
              <a:cs typeface="Arial"/>
            </a:endParaRPr>
          </a:p>
          <a:p>
            <a:pPr marL="31115" marR="17780" indent="-6350">
              <a:lnSpc>
                <a:spcPct val="100000"/>
              </a:lnSpc>
              <a:spcBef>
                <a:spcPts val="190"/>
              </a:spcBef>
            </a:pPr>
            <a:r>
              <a:rPr sz="1000" spc="-15" dirty="0">
                <a:latin typeface="Arial"/>
                <a:cs typeface="Arial"/>
              </a:rPr>
              <a:t>When</a:t>
            </a:r>
            <a:r>
              <a:rPr sz="1000" spc="-5" dirty="0">
                <a:latin typeface="Arial"/>
                <a:cs typeface="Arial"/>
              </a:rPr>
              <a:t> </a:t>
            </a:r>
            <a:r>
              <a:rPr sz="1000" spc="-10" dirty="0">
                <a:latin typeface="Arial"/>
                <a:cs typeface="Arial"/>
              </a:rPr>
              <a:t>a</a:t>
            </a:r>
            <a:r>
              <a:rPr sz="1000" dirty="0">
                <a:latin typeface="Arial"/>
                <a:cs typeface="Arial"/>
              </a:rPr>
              <a:t> </a:t>
            </a:r>
            <a:r>
              <a:rPr sz="1000" spc="-15" dirty="0">
                <a:latin typeface="Arial"/>
                <a:cs typeface="Arial"/>
              </a:rPr>
              <a:t>group</a:t>
            </a:r>
            <a:r>
              <a:rPr sz="1000" dirty="0">
                <a:latin typeface="Arial"/>
                <a:cs typeface="Arial"/>
              </a:rPr>
              <a:t> </a:t>
            </a:r>
            <a:r>
              <a:rPr sz="1000" spc="-10" dirty="0">
                <a:latin typeface="Arial"/>
                <a:cs typeface="Arial"/>
              </a:rPr>
              <a:t>can</a:t>
            </a:r>
            <a:r>
              <a:rPr sz="1000" dirty="0">
                <a:latin typeface="Arial"/>
                <a:cs typeface="Arial"/>
              </a:rPr>
              <a:t> </a:t>
            </a:r>
            <a:r>
              <a:rPr sz="1000" spc="-10" dirty="0">
                <a:latin typeface="Arial"/>
                <a:cs typeface="Arial"/>
              </a:rPr>
              <a:t>mask</a:t>
            </a:r>
            <a:r>
              <a:rPr sz="1000" dirty="0">
                <a:latin typeface="Arial"/>
                <a:cs typeface="Arial"/>
              </a:rPr>
              <a:t> </a:t>
            </a:r>
            <a:r>
              <a:rPr sz="1000" spc="-20" dirty="0">
                <a:latin typeface="Arial"/>
                <a:cs typeface="Arial"/>
              </a:rPr>
              <a:t>any</a:t>
            </a:r>
            <a:r>
              <a:rPr sz="1000" dirty="0">
                <a:latin typeface="Arial"/>
                <a:cs typeface="Arial"/>
              </a:rPr>
              <a:t> </a:t>
            </a:r>
            <a:r>
              <a:rPr sz="1000" i="1" spc="-10" dirty="0">
                <a:latin typeface="Arial"/>
                <a:cs typeface="Arial"/>
              </a:rPr>
              <a:t>k</a:t>
            </a:r>
            <a:r>
              <a:rPr sz="1000" i="1" spc="100" dirty="0">
                <a:latin typeface="Arial"/>
                <a:cs typeface="Arial"/>
              </a:rPr>
              <a:t> </a:t>
            </a:r>
            <a:r>
              <a:rPr sz="1000" spc="-10" dirty="0">
                <a:latin typeface="Arial"/>
                <a:cs typeface="Arial"/>
              </a:rPr>
              <a:t>concurrent</a:t>
            </a:r>
            <a:r>
              <a:rPr sz="1000" dirty="0">
                <a:latin typeface="Arial"/>
                <a:cs typeface="Arial"/>
              </a:rPr>
              <a:t> </a:t>
            </a:r>
            <a:r>
              <a:rPr sz="1000" spc="-10" dirty="0">
                <a:latin typeface="Arial"/>
                <a:cs typeface="Arial"/>
              </a:rPr>
              <a:t>member</a:t>
            </a:r>
            <a:r>
              <a:rPr sz="1000" dirty="0">
                <a:latin typeface="Arial"/>
                <a:cs typeface="Arial"/>
              </a:rPr>
              <a:t> </a:t>
            </a:r>
            <a:r>
              <a:rPr sz="1000" spc="-15" dirty="0">
                <a:latin typeface="Arial"/>
                <a:cs typeface="Arial"/>
              </a:rPr>
              <a:t>failures</a:t>
            </a:r>
            <a:r>
              <a:rPr sz="1000" dirty="0">
                <a:latin typeface="Arial"/>
                <a:cs typeface="Arial"/>
              </a:rPr>
              <a:t> </a:t>
            </a:r>
            <a:r>
              <a:rPr sz="1000" spc="-10" dirty="0">
                <a:latin typeface="Arial"/>
                <a:cs typeface="Arial"/>
              </a:rPr>
              <a:t>(</a:t>
            </a:r>
            <a:r>
              <a:rPr sz="1000" i="1" spc="-10" dirty="0">
                <a:latin typeface="Arial"/>
                <a:cs typeface="Arial"/>
              </a:rPr>
              <a:t>k</a:t>
            </a:r>
            <a:r>
              <a:rPr sz="1000" i="1" spc="100" dirty="0">
                <a:latin typeface="Arial"/>
                <a:cs typeface="Arial"/>
              </a:rPr>
              <a:t> </a:t>
            </a:r>
            <a:r>
              <a:rPr sz="1000" spc="-10" dirty="0">
                <a:latin typeface="Arial"/>
                <a:cs typeface="Arial"/>
              </a:rPr>
              <a:t>is</a:t>
            </a:r>
            <a:r>
              <a:rPr sz="1000" dirty="0">
                <a:latin typeface="Arial"/>
                <a:cs typeface="Arial"/>
              </a:rPr>
              <a:t> </a:t>
            </a:r>
            <a:r>
              <a:rPr sz="1000" spc="-10" dirty="0">
                <a:latin typeface="Arial"/>
                <a:cs typeface="Arial"/>
              </a:rPr>
              <a:t>called </a:t>
            </a:r>
            <a:r>
              <a:rPr sz="1000" spc="-265" dirty="0">
                <a:latin typeface="Arial"/>
                <a:cs typeface="Arial"/>
              </a:rPr>
              <a:t> </a:t>
            </a:r>
            <a:r>
              <a:rPr sz="1000" spc="-5" dirty="0">
                <a:solidFill>
                  <a:srgbClr val="0000FA"/>
                </a:solidFill>
                <a:latin typeface="Arial"/>
                <a:cs typeface="Arial"/>
              </a:rPr>
              <a:t>degree</a:t>
            </a:r>
            <a:r>
              <a:rPr sz="1000" spc="-10" dirty="0">
                <a:solidFill>
                  <a:srgbClr val="0000FA"/>
                </a:solidFill>
                <a:latin typeface="Arial"/>
                <a:cs typeface="Arial"/>
              </a:rPr>
              <a:t> </a:t>
            </a:r>
            <a:r>
              <a:rPr sz="1000" spc="-5" dirty="0">
                <a:solidFill>
                  <a:srgbClr val="0000FA"/>
                </a:solidFill>
                <a:latin typeface="Arial"/>
                <a:cs typeface="Arial"/>
              </a:rPr>
              <a:t>of </a:t>
            </a:r>
            <a:r>
              <a:rPr sz="1000" spc="-10" dirty="0">
                <a:solidFill>
                  <a:srgbClr val="0000FA"/>
                </a:solidFill>
                <a:latin typeface="Arial"/>
                <a:cs typeface="Arial"/>
              </a:rPr>
              <a:t>fault</a:t>
            </a:r>
            <a:r>
              <a:rPr sz="1000" spc="-5" dirty="0">
                <a:solidFill>
                  <a:srgbClr val="0000FA"/>
                </a:solidFill>
                <a:latin typeface="Arial"/>
                <a:cs typeface="Arial"/>
              </a:rPr>
              <a:t> tolerance</a:t>
            </a:r>
            <a:r>
              <a:rPr sz="1000" spc="-5" dirty="0">
                <a:latin typeface="Arial"/>
                <a:cs typeface="Arial"/>
              </a:rPr>
              <a:t>).</a:t>
            </a:r>
            <a:endParaRPr sz="1000">
              <a:latin typeface="Arial"/>
              <a:cs typeface="Arial"/>
            </a:endParaRPr>
          </a:p>
          <a:p>
            <a:pPr marL="31115">
              <a:lnSpc>
                <a:spcPct val="100000"/>
              </a:lnSpc>
              <a:spcBef>
                <a:spcPts val="409"/>
              </a:spcBef>
            </a:pPr>
            <a:r>
              <a:rPr sz="1200" spc="-5" dirty="0">
                <a:solidFill>
                  <a:srgbClr val="FA0000"/>
                </a:solidFill>
                <a:latin typeface="Arial"/>
                <a:cs typeface="Arial"/>
              </a:rPr>
              <a:t>H</a:t>
            </a:r>
            <a:r>
              <a:rPr sz="1200" spc="-25" dirty="0">
                <a:solidFill>
                  <a:srgbClr val="FA0000"/>
                </a:solidFill>
                <a:latin typeface="Arial"/>
                <a:cs typeface="Arial"/>
              </a:rPr>
              <a:t>o</a:t>
            </a:r>
            <a:r>
              <a:rPr sz="1200" spc="-5" dirty="0">
                <a:solidFill>
                  <a:srgbClr val="FA0000"/>
                </a:solidFill>
                <a:latin typeface="Arial"/>
                <a:cs typeface="Arial"/>
              </a:rPr>
              <a:t>w large does a </a:t>
            </a:r>
            <a:r>
              <a:rPr sz="1200" i="1" spc="-5" dirty="0">
                <a:solidFill>
                  <a:srgbClr val="FA0000"/>
                </a:solidFill>
                <a:latin typeface="Arial"/>
                <a:cs typeface="Arial"/>
              </a:rPr>
              <a:t>k</a:t>
            </a:r>
            <a:r>
              <a:rPr sz="1200" i="1" spc="-215" dirty="0">
                <a:solidFill>
                  <a:srgbClr val="FA0000"/>
                </a:solidFill>
                <a:latin typeface="Arial"/>
                <a:cs typeface="Arial"/>
              </a:rPr>
              <a:t> </a:t>
            </a:r>
            <a:r>
              <a:rPr sz="1200" spc="-5" dirty="0">
                <a:solidFill>
                  <a:srgbClr val="FA0000"/>
                </a:solidFill>
                <a:latin typeface="Arial"/>
                <a:cs typeface="Arial"/>
              </a:rPr>
              <a:t>-</a:t>
            </a:r>
            <a:r>
              <a:rPr sz="1200" spc="-45" dirty="0">
                <a:solidFill>
                  <a:srgbClr val="FA0000"/>
                </a:solidFill>
                <a:latin typeface="Arial"/>
                <a:cs typeface="Arial"/>
              </a:rPr>
              <a:t>f</a:t>
            </a:r>
            <a:r>
              <a:rPr sz="1200" spc="-5" dirty="0">
                <a:solidFill>
                  <a:srgbClr val="FA0000"/>
                </a:solidFill>
                <a:latin typeface="Arial"/>
                <a:cs typeface="Arial"/>
              </a:rPr>
              <a:t>ault tole</a:t>
            </a:r>
            <a:r>
              <a:rPr sz="1200" spc="-20" dirty="0">
                <a:solidFill>
                  <a:srgbClr val="FA0000"/>
                </a:solidFill>
                <a:latin typeface="Arial"/>
                <a:cs typeface="Arial"/>
              </a:rPr>
              <a:t>r</a:t>
            </a:r>
            <a:r>
              <a:rPr sz="1200" spc="-5" dirty="0">
                <a:solidFill>
                  <a:srgbClr val="FA0000"/>
                </a:solidFill>
                <a:latin typeface="Arial"/>
                <a:cs typeface="Arial"/>
              </a:rPr>
              <a:t>ant </a:t>
            </a:r>
            <a:r>
              <a:rPr sz="1200" spc="-20" dirty="0">
                <a:solidFill>
                  <a:srgbClr val="FA0000"/>
                </a:solidFill>
                <a:latin typeface="Arial"/>
                <a:cs typeface="Arial"/>
              </a:rPr>
              <a:t>g</a:t>
            </a:r>
            <a:r>
              <a:rPr sz="1200" spc="-5" dirty="0">
                <a:solidFill>
                  <a:srgbClr val="FA0000"/>
                </a:solidFill>
                <a:latin typeface="Arial"/>
                <a:cs typeface="Arial"/>
              </a:rPr>
              <a:t>roup need to be?</a:t>
            </a:r>
            <a:endParaRPr sz="1200">
              <a:latin typeface="Arial"/>
              <a:cs typeface="Arial"/>
            </a:endParaRPr>
          </a:p>
          <a:p>
            <a:pPr marL="307975" marR="92075" indent="-168275" algn="just">
              <a:lnSpc>
                <a:spcPct val="100000"/>
              </a:lnSpc>
              <a:spcBef>
                <a:spcPts val="790"/>
              </a:spcBef>
              <a:buClr>
                <a:srgbClr val="FA0000"/>
              </a:buClr>
              <a:buChar char="►"/>
              <a:tabLst>
                <a:tab pos="308610" algn="l"/>
              </a:tabLst>
            </a:pPr>
            <a:r>
              <a:rPr sz="1000" spc="-5" dirty="0">
                <a:latin typeface="Arial"/>
                <a:cs typeface="Arial"/>
              </a:rPr>
              <a:t>With </a:t>
            </a:r>
            <a:r>
              <a:rPr sz="1000" spc="-5" dirty="0">
                <a:solidFill>
                  <a:srgbClr val="FA0000"/>
                </a:solidFill>
                <a:latin typeface="Arial"/>
                <a:cs typeface="Arial"/>
              </a:rPr>
              <a:t>halting </a:t>
            </a:r>
            <a:r>
              <a:rPr sz="1000" spc="-10" dirty="0">
                <a:solidFill>
                  <a:srgbClr val="FA0000"/>
                </a:solidFill>
                <a:latin typeface="Arial"/>
                <a:cs typeface="Arial"/>
              </a:rPr>
              <a:t>failures </a:t>
            </a:r>
            <a:r>
              <a:rPr sz="1000" spc="-5" dirty="0">
                <a:latin typeface="Arial"/>
                <a:cs typeface="Arial"/>
              </a:rPr>
              <a:t>(crash/omission/timing failures): </a:t>
            </a:r>
            <a:r>
              <a:rPr sz="1000" spc="-10" dirty="0">
                <a:latin typeface="Arial"/>
                <a:cs typeface="Arial"/>
              </a:rPr>
              <a:t>we </a:t>
            </a:r>
            <a:r>
              <a:rPr sz="1000" spc="-5" dirty="0">
                <a:latin typeface="Arial"/>
                <a:cs typeface="Arial"/>
              </a:rPr>
              <a:t>need a </a:t>
            </a:r>
            <a:r>
              <a:rPr sz="1000" spc="-265" dirty="0">
                <a:latin typeface="Arial"/>
                <a:cs typeface="Arial"/>
              </a:rPr>
              <a:t> </a:t>
            </a:r>
            <a:r>
              <a:rPr sz="1000" spc="-5" dirty="0">
                <a:latin typeface="Arial"/>
                <a:cs typeface="Arial"/>
              </a:rPr>
              <a:t>total of </a:t>
            </a:r>
            <a:r>
              <a:rPr sz="1000" i="1" spc="-5" dirty="0">
                <a:latin typeface="Arial"/>
                <a:cs typeface="Arial"/>
              </a:rPr>
              <a:t>k </a:t>
            </a:r>
            <a:r>
              <a:rPr sz="1000" spc="190" dirty="0">
                <a:latin typeface="Arial"/>
                <a:cs typeface="Arial"/>
              </a:rPr>
              <a:t>+ </a:t>
            </a:r>
            <a:r>
              <a:rPr sz="1000" spc="-5" dirty="0">
                <a:latin typeface="Arial"/>
                <a:cs typeface="Arial"/>
              </a:rPr>
              <a:t>1 members as </a:t>
            </a:r>
            <a:r>
              <a:rPr sz="1000" spc="-5" dirty="0">
                <a:solidFill>
                  <a:srgbClr val="0000FA"/>
                </a:solidFill>
                <a:latin typeface="Arial"/>
                <a:cs typeface="Arial"/>
              </a:rPr>
              <a:t>no member will produce an incorrect </a:t>
            </a:r>
            <a:r>
              <a:rPr sz="1000" spc="-265" dirty="0">
                <a:solidFill>
                  <a:srgbClr val="0000FA"/>
                </a:solidFill>
                <a:latin typeface="Arial"/>
                <a:cs typeface="Arial"/>
              </a:rPr>
              <a:t> </a:t>
            </a:r>
            <a:r>
              <a:rPr sz="1000" spc="-5" dirty="0">
                <a:solidFill>
                  <a:srgbClr val="0000FA"/>
                </a:solidFill>
                <a:latin typeface="Arial"/>
                <a:cs typeface="Arial"/>
              </a:rPr>
              <a:t>result, so the result of</a:t>
            </a:r>
            <a:r>
              <a:rPr sz="1000" dirty="0">
                <a:solidFill>
                  <a:srgbClr val="0000FA"/>
                </a:solidFill>
                <a:latin typeface="Arial"/>
                <a:cs typeface="Arial"/>
              </a:rPr>
              <a:t> </a:t>
            </a:r>
            <a:r>
              <a:rPr sz="1000" spc="-5" dirty="0">
                <a:solidFill>
                  <a:srgbClr val="0000FA"/>
                </a:solidFill>
                <a:latin typeface="Arial"/>
                <a:cs typeface="Arial"/>
              </a:rPr>
              <a:t>one member is good enough</a:t>
            </a:r>
            <a:r>
              <a:rPr sz="1000" spc="-5" dirty="0">
                <a:latin typeface="Arial"/>
                <a:cs typeface="Arial"/>
              </a:rPr>
              <a:t>.</a:t>
            </a:r>
            <a:endParaRPr sz="1000">
              <a:latin typeface="Arial"/>
              <a:cs typeface="Arial"/>
            </a:endParaRPr>
          </a:p>
          <a:p>
            <a:pPr marL="307975" marR="304165" indent="-168275" algn="just">
              <a:lnSpc>
                <a:spcPct val="100000"/>
              </a:lnSpc>
              <a:spcBef>
                <a:spcPts val="585"/>
              </a:spcBef>
              <a:buClr>
                <a:srgbClr val="FA0000"/>
              </a:buClr>
              <a:buChar char="►"/>
              <a:tabLst>
                <a:tab pos="308610" algn="l"/>
              </a:tabLst>
            </a:pPr>
            <a:r>
              <a:rPr sz="1000" spc="-5" dirty="0">
                <a:latin typeface="Arial"/>
                <a:cs typeface="Arial"/>
              </a:rPr>
              <a:t>With </a:t>
            </a:r>
            <a:r>
              <a:rPr sz="1000" spc="-5" dirty="0">
                <a:solidFill>
                  <a:srgbClr val="FA0000"/>
                </a:solidFill>
                <a:latin typeface="Arial"/>
                <a:cs typeface="Arial"/>
              </a:rPr>
              <a:t>arbit</a:t>
            </a:r>
            <a:r>
              <a:rPr sz="1000" spc="-15" dirty="0">
                <a:solidFill>
                  <a:srgbClr val="FA0000"/>
                </a:solidFill>
                <a:latin typeface="Arial"/>
                <a:cs typeface="Arial"/>
              </a:rPr>
              <a:t>r</a:t>
            </a:r>
            <a:r>
              <a:rPr sz="1000" spc="-5" dirty="0">
                <a:solidFill>
                  <a:srgbClr val="FA0000"/>
                </a:solidFill>
                <a:latin typeface="Arial"/>
                <a:cs typeface="Arial"/>
              </a:rPr>
              <a:t>a</a:t>
            </a:r>
            <a:r>
              <a:rPr sz="1000" spc="20" dirty="0">
                <a:solidFill>
                  <a:srgbClr val="FA0000"/>
                </a:solidFill>
                <a:latin typeface="Arial"/>
                <a:cs typeface="Arial"/>
              </a:rPr>
              <a:t>r</a:t>
            </a:r>
            <a:r>
              <a:rPr sz="1000" spc="-5" dirty="0">
                <a:solidFill>
                  <a:srgbClr val="FA0000"/>
                </a:solidFill>
                <a:latin typeface="Arial"/>
                <a:cs typeface="Arial"/>
              </a:rPr>
              <a:t>y </a:t>
            </a:r>
            <a:r>
              <a:rPr sz="1000" spc="-35" dirty="0">
                <a:solidFill>
                  <a:srgbClr val="FA0000"/>
                </a:solidFill>
                <a:latin typeface="Arial"/>
                <a:cs typeface="Arial"/>
              </a:rPr>
              <a:t>f</a:t>
            </a:r>
            <a:r>
              <a:rPr sz="1000" spc="-5" dirty="0">
                <a:solidFill>
                  <a:srgbClr val="FA0000"/>
                </a:solidFill>
                <a:latin typeface="Arial"/>
                <a:cs typeface="Arial"/>
              </a:rPr>
              <a:t>ailures</a:t>
            </a:r>
            <a:r>
              <a:rPr sz="1000" spc="-5" dirty="0">
                <a:latin typeface="Arial"/>
                <a:cs typeface="Arial"/>
              </a:rPr>
              <a:t>:</a:t>
            </a:r>
            <a:r>
              <a:rPr sz="1000" spc="60" dirty="0">
                <a:latin typeface="Arial"/>
                <a:cs typeface="Arial"/>
              </a:rPr>
              <a:t> </a:t>
            </a:r>
            <a:r>
              <a:rPr sz="1000" spc="-15" dirty="0">
                <a:latin typeface="Arial"/>
                <a:cs typeface="Arial"/>
              </a:rPr>
              <a:t>w</a:t>
            </a:r>
            <a:r>
              <a:rPr sz="1000" spc="-5" dirty="0">
                <a:latin typeface="Arial"/>
                <a:cs typeface="Arial"/>
              </a:rPr>
              <a:t>e need </a:t>
            </a:r>
            <a:r>
              <a:rPr sz="1000" spc="-10" dirty="0">
                <a:latin typeface="Arial"/>
                <a:cs typeface="Arial"/>
              </a:rPr>
              <a:t>2</a:t>
            </a:r>
            <a:r>
              <a:rPr sz="1000" i="1" spc="-5" dirty="0">
                <a:latin typeface="Arial"/>
                <a:cs typeface="Arial"/>
              </a:rPr>
              <a:t>k</a:t>
            </a:r>
            <a:r>
              <a:rPr sz="1000" i="1" spc="-40"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 members so that the  correct result</a:t>
            </a:r>
            <a:r>
              <a:rPr sz="1000" dirty="0">
                <a:latin typeface="Arial"/>
                <a:cs typeface="Arial"/>
              </a:rPr>
              <a:t> </a:t>
            </a:r>
            <a:r>
              <a:rPr sz="1000" spc="-5" dirty="0">
                <a:latin typeface="Arial"/>
                <a:cs typeface="Arial"/>
              </a:rPr>
              <a:t>can be</a:t>
            </a:r>
            <a:r>
              <a:rPr sz="1000" dirty="0">
                <a:latin typeface="Arial"/>
                <a:cs typeface="Arial"/>
              </a:rPr>
              <a:t> </a:t>
            </a:r>
            <a:r>
              <a:rPr sz="1000" spc="-5" dirty="0">
                <a:latin typeface="Arial"/>
                <a:cs typeface="Arial"/>
              </a:rPr>
              <a:t>obtained through</a:t>
            </a:r>
            <a:r>
              <a:rPr sz="1000" dirty="0">
                <a:latin typeface="Arial"/>
                <a:cs typeface="Arial"/>
              </a:rPr>
              <a:t> </a:t>
            </a:r>
            <a:r>
              <a:rPr sz="1000" spc="-5" dirty="0">
                <a:latin typeface="Arial"/>
                <a:cs typeface="Arial"/>
              </a:rPr>
              <a:t>a majority</a:t>
            </a:r>
            <a:r>
              <a:rPr sz="1000" dirty="0">
                <a:latin typeface="Arial"/>
                <a:cs typeface="Arial"/>
              </a:rPr>
              <a:t> </a:t>
            </a:r>
            <a:r>
              <a:rPr sz="1000" spc="-10" dirty="0">
                <a:latin typeface="Arial"/>
                <a:cs typeface="Arial"/>
              </a:rPr>
              <a:t>vote.</a:t>
            </a:r>
            <a:endParaRPr sz="10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15029"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10" dirty="0">
                <a:solidFill>
                  <a:srgbClr val="262685"/>
                </a:solidFill>
                <a:latin typeface="Arial"/>
                <a:cs typeface="Arial"/>
                <a:hlinkClick r:id="rId5" action="ppaction://hlinksldjump"/>
              </a:rPr>
              <a:t>Failure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masking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and</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replication</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Groups</a:t>
            </a:r>
            <a:r>
              <a:rPr spc="-5" dirty="0"/>
              <a:t> </a:t>
            </a:r>
            <a:r>
              <a:rPr spc="15" dirty="0"/>
              <a:t>and</a:t>
            </a:r>
            <a:r>
              <a:rPr spc="-5" dirty="0"/>
              <a:t> </a:t>
            </a:r>
            <a:r>
              <a:rPr spc="5" dirty="0"/>
              <a:t>failure</a:t>
            </a:r>
            <a:r>
              <a:rPr spc="-5" dirty="0"/>
              <a:t> </a:t>
            </a:r>
            <a:r>
              <a:rPr spc="15" dirty="0"/>
              <a:t>masking</a:t>
            </a:r>
          </a:p>
        </p:txBody>
      </p:sp>
      <p:sp>
        <p:nvSpPr>
          <p:cNvPr id="4" name="object 4"/>
          <p:cNvSpPr txBox="1"/>
          <p:nvPr/>
        </p:nvSpPr>
        <p:spPr>
          <a:xfrm>
            <a:off x="309194" y="401337"/>
            <a:ext cx="3976370" cy="2858770"/>
          </a:xfrm>
          <a:prstGeom prst="rect">
            <a:avLst/>
          </a:prstGeom>
        </p:spPr>
        <p:txBody>
          <a:bodyPr vert="horz" wrap="square" lIns="0" tIns="41910" rIns="0" bIns="0" rtlCol="0">
            <a:spAutoFit/>
          </a:bodyPr>
          <a:lstStyle/>
          <a:p>
            <a:pPr marL="50800">
              <a:lnSpc>
                <a:spcPct val="100000"/>
              </a:lnSpc>
              <a:spcBef>
                <a:spcPts val="330"/>
              </a:spcBef>
            </a:pPr>
            <a:r>
              <a:rPr sz="1200" i="1" spc="-5" dirty="0">
                <a:solidFill>
                  <a:srgbClr val="3333B2"/>
                </a:solidFill>
                <a:latin typeface="Arial"/>
                <a:cs typeface="Arial"/>
              </a:rPr>
              <a:t>k</a:t>
            </a:r>
            <a:r>
              <a:rPr sz="1200" i="1" spc="-215" dirty="0">
                <a:solidFill>
                  <a:srgbClr val="3333B2"/>
                </a:solidFill>
                <a:latin typeface="Arial"/>
                <a:cs typeface="Arial"/>
              </a:rPr>
              <a:t> </a:t>
            </a:r>
            <a:r>
              <a:rPr sz="1200" spc="-5" dirty="0">
                <a:solidFill>
                  <a:srgbClr val="3333B2"/>
                </a:solidFill>
                <a:latin typeface="Arial"/>
                <a:cs typeface="Arial"/>
              </a:rPr>
              <a:t>-</a:t>
            </a:r>
            <a:r>
              <a:rPr sz="1200" spc="-45" dirty="0">
                <a:solidFill>
                  <a:srgbClr val="3333B2"/>
                </a:solidFill>
                <a:latin typeface="Arial"/>
                <a:cs typeface="Arial"/>
              </a:rPr>
              <a:t>f</a:t>
            </a:r>
            <a:r>
              <a:rPr sz="1200" spc="-5" dirty="0">
                <a:solidFill>
                  <a:srgbClr val="3333B2"/>
                </a:solidFill>
                <a:latin typeface="Arial"/>
                <a:cs typeface="Arial"/>
              </a:rPr>
              <a:t>ault tole</a:t>
            </a:r>
            <a:r>
              <a:rPr sz="1200" spc="-20" dirty="0">
                <a:solidFill>
                  <a:srgbClr val="3333B2"/>
                </a:solidFill>
                <a:latin typeface="Arial"/>
                <a:cs typeface="Arial"/>
              </a:rPr>
              <a:t>r</a:t>
            </a:r>
            <a:r>
              <a:rPr sz="1200" spc="-5" dirty="0">
                <a:solidFill>
                  <a:srgbClr val="3333B2"/>
                </a:solidFill>
                <a:latin typeface="Arial"/>
                <a:cs typeface="Arial"/>
              </a:rPr>
              <a:t>ant </a:t>
            </a:r>
            <a:r>
              <a:rPr sz="1200" spc="-20" dirty="0">
                <a:solidFill>
                  <a:srgbClr val="3333B2"/>
                </a:solidFill>
                <a:latin typeface="Arial"/>
                <a:cs typeface="Arial"/>
              </a:rPr>
              <a:t>g</a:t>
            </a:r>
            <a:r>
              <a:rPr sz="1200" spc="-5" dirty="0">
                <a:solidFill>
                  <a:srgbClr val="3333B2"/>
                </a:solidFill>
                <a:latin typeface="Arial"/>
                <a:cs typeface="Arial"/>
              </a:rPr>
              <a:t>roup</a:t>
            </a:r>
            <a:endParaRPr sz="1200">
              <a:latin typeface="Arial"/>
              <a:cs typeface="Arial"/>
            </a:endParaRPr>
          </a:p>
          <a:p>
            <a:pPr marL="50800" marR="30480" indent="-6350">
              <a:lnSpc>
                <a:spcPct val="100000"/>
              </a:lnSpc>
              <a:spcBef>
                <a:spcPts val="190"/>
              </a:spcBef>
            </a:pPr>
            <a:r>
              <a:rPr sz="1000" spc="-15" dirty="0">
                <a:latin typeface="Arial"/>
                <a:cs typeface="Arial"/>
              </a:rPr>
              <a:t>When</a:t>
            </a:r>
            <a:r>
              <a:rPr sz="1000" spc="-5" dirty="0">
                <a:latin typeface="Arial"/>
                <a:cs typeface="Arial"/>
              </a:rPr>
              <a:t> </a:t>
            </a:r>
            <a:r>
              <a:rPr sz="1000" spc="-10" dirty="0">
                <a:latin typeface="Arial"/>
                <a:cs typeface="Arial"/>
              </a:rPr>
              <a:t>a</a:t>
            </a:r>
            <a:r>
              <a:rPr sz="1000" dirty="0">
                <a:latin typeface="Arial"/>
                <a:cs typeface="Arial"/>
              </a:rPr>
              <a:t> </a:t>
            </a:r>
            <a:r>
              <a:rPr sz="1000" spc="-15" dirty="0">
                <a:latin typeface="Arial"/>
                <a:cs typeface="Arial"/>
              </a:rPr>
              <a:t>group</a:t>
            </a:r>
            <a:r>
              <a:rPr sz="1000" dirty="0">
                <a:latin typeface="Arial"/>
                <a:cs typeface="Arial"/>
              </a:rPr>
              <a:t> </a:t>
            </a:r>
            <a:r>
              <a:rPr sz="1000" spc="-10" dirty="0">
                <a:latin typeface="Arial"/>
                <a:cs typeface="Arial"/>
              </a:rPr>
              <a:t>can</a:t>
            </a:r>
            <a:r>
              <a:rPr sz="1000" dirty="0">
                <a:latin typeface="Arial"/>
                <a:cs typeface="Arial"/>
              </a:rPr>
              <a:t> </a:t>
            </a:r>
            <a:r>
              <a:rPr sz="1000" spc="-10" dirty="0">
                <a:latin typeface="Arial"/>
                <a:cs typeface="Arial"/>
              </a:rPr>
              <a:t>mask</a:t>
            </a:r>
            <a:r>
              <a:rPr sz="1000" dirty="0">
                <a:latin typeface="Arial"/>
                <a:cs typeface="Arial"/>
              </a:rPr>
              <a:t> </a:t>
            </a:r>
            <a:r>
              <a:rPr sz="1000" spc="-20" dirty="0">
                <a:latin typeface="Arial"/>
                <a:cs typeface="Arial"/>
              </a:rPr>
              <a:t>any</a:t>
            </a:r>
            <a:r>
              <a:rPr sz="1000" dirty="0">
                <a:latin typeface="Arial"/>
                <a:cs typeface="Arial"/>
              </a:rPr>
              <a:t> </a:t>
            </a:r>
            <a:r>
              <a:rPr sz="1000" i="1" spc="-10" dirty="0">
                <a:latin typeface="Arial"/>
                <a:cs typeface="Arial"/>
              </a:rPr>
              <a:t>k</a:t>
            </a:r>
            <a:r>
              <a:rPr sz="1000" i="1" spc="100" dirty="0">
                <a:latin typeface="Arial"/>
                <a:cs typeface="Arial"/>
              </a:rPr>
              <a:t> </a:t>
            </a:r>
            <a:r>
              <a:rPr sz="1000" spc="-10" dirty="0">
                <a:latin typeface="Arial"/>
                <a:cs typeface="Arial"/>
              </a:rPr>
              <a:t>concurrent</a:t>
            </a:r>
            <a:r>
              <a:rPr sz="1000" dirty="0">
                <a:latin typeface="Arial"/>
                <a:cs typeface="Arial"/>
              </a:rPr>
              <a:t> </a:t>
            </a:r>
            <a:r>
              <a:rPr sz="1000" spc="-10" dirty="0">
                <a:latin typeface="Arial"/>
                <a:cs typeface="Arial"/>
              </a:rPr>
              <a:t>member</a:t>
            </a:r>
            <a:r>
              <a:rPr sz="1000" dirty="0">
                <a:latin typeface="Arial"/>
                <a:cs typeface="Arial"/>
              </a:rPr>
              <a:t> </a:t>
            </a:r>
            <a:r>
              <a:rPr sz="1000" spc="-15" dirty="0">
                <a:latin typeface="Arial"/>
                <a:cs typeface="Arial"/>
              </a:rPr>
              <a:t>failures</a:t>
            </a:r>
            <a:r>
              <a:rPr sz="1000" dirty="0">
                <a:latin typeface="Arial"/>
                <a:cs typeface="Arial"/>
              </a:rPr>
              <a:t> </a:t>
            </a:r>
            <a:r>
              <a:rPr sz="1000" spc="-10" dirty="0">
                <a:latin typeface="Arial"/>
                <a:cs typeface="Arial"/>
              </a:rPr>
              <a:t>(</a:t>
            </a:r>
            <a:r>
              <a:rPr sz="1000" i="1" spc="-10" dirty="0">
                <a:latin typeface="Arial"/>
                <a:cs typeface="Arial"/>
              </a:rPr>
              <a:t>k</a:t>
            </a:r>
            <a:r>
              <a:rPr sz="1000" i="1" spc="100" dirty="0">
                <a:latin typeface="Arial"/>
                <a:cs typeface="Arial"/>
              </a:rPr>
              <a:t> </a:t>
            </a:r>
            <a:r>
              <a:rPr sz="1000" spc="-10" dirty="0">
                <a:latin typeface="Arial"/>
                <a:cs typeface="Arial"/>
              </a:rPr>
              <a:t>is</a:t>
            </a:r>
            <a:r>
              <a:rPr sz="1000" dirty="0">
                <a:latin typeface="Arial"/>
                <a:cs typeface="Arial"/>
              </a:rPr>
              <a:t> </a:t>
            </a:r>
            <a:r>
              <a:rPr sz="1000" spc="-10" dirty="0">
                <a:latin typeface="Arial"/>
                <a:cs typeface="Arial"/>
              </a:rPr>
              <a:t>called </a:t>
            </a:r>
            <a:r>
              <a:rPr sz="1000" spc="-265" dirty="0">
                <a:latin typeface="Arial"/>
                <a:cs typeface="Arial"/>
              </a:rPr>
              <a:t> </a:t>
            </a:r>
            <a:r>
              <a:rPr sz="1000" spc="-5" dirty="0">
                <a:solidFill>
                  <a:srgbClr val="0000FA"/>
                </a:solidFill>
                <a:latin typeface="Arial"/>
                <a:cs typeface="Arial"/>
              </a:rPr>
              <a:t>degree</a:t>
            </a:r>
            <a:r>
              <a:rPr sz="1000" spc="-10" dirty="0">
                <a:solidFill>
                  <a:srgbClr val="0000FA"/>
                </a:solidFill>
                <a:latin typeface="Arial"/>
                <a:cs typeface="Arial"/>
              </a:rPr>
              <a:t> </a:t>
            </a:r>
            <a:r>
              <a:rPr sz="1000" spc="-5" dirty="0">
                <a:solidFill>
                  <a:srgbClr val="0000FA"/>
                </a:solidFill>
                <a:latin typeface="Arial"/>
                <a:cs typeface="Arial"/>
              </a:rPr>
              <a:t>of </a:t>
            </a:r>
            <a:r>
              <a:rPr sz="1000" spc="-10" dirty="0">
                <a:solidFill>
                  <a:srgbClr val="0000FA"/>
                </a:solidFill>
                <a:latin typeface="Arial"/>
                <a:cs typeface="Arial"/>
              </a:rPr>
              <a:t>fault</a:t>
            </a:r>
            <a:r>
              <a:rPr sz="1000" spc="-5" dirty="0">
                <a:solidFill>
                  <a:srgbClr val="0000FA"/>
                </a:solidFill>
                <a:latin typeface="Arial"/>
                <a:cs typeface="Arial"/>
              </a:rPr>
              <a:t> tolerance</a:t>
            </a:r>
            <a:r>
              <a:rPr sz="1000" spc="-5" dirty="0">
                <a:latin typeface="Arial"/>
                <a:cs typeface="Arial"/>
              </a:rPr>
              <a:t>).</a:t>
            </a:r>
            <a:endParaRPr sz="1000">
              <a:latin typeface="Arial"/>
              <a:cs typeface="Arial"/>
            </a:endParaRPr>
          </a:p>
          <a:p>
            <a:pPr marL="50800">
              <a:lnSpc>
                <a:spcPct val="100000"/>
              </a:lnSpc>
              <a:spcBef>
                <a:spcPts val="409"/>
              </a:spcBef>
            </a:pPr>
            <a:r>
              <a:rPr sz="1200" spc="-5" dirty="0">
                <a:solidFill>
                  <a:srgbClr val="FA0000"/>
                </a:solidFill>
                <a:latin typeface="Arial"/>
                <a:cs typeface="Arial"/>
              </a:rPr>
              <a:t>H</a:t>
            </a:r>
            <a:r>
              <a:rPr sz="1200" spc="-25" dirty="0">
                <a:solidFill>
                  <a:srgbClr val="FA0000"/>
                </a:solidFill>
                <a:latin typeface="Arial"/>
                <a:cs typeface="Arial"/>
              </a:rPr>
              <a:t>o</a:t>
            </a:r>
            <a:r>
              <a:rPr sz="1200" spc="-5" dirty="0">
                <a:solidFill>
                  <a:srgbClr val="FA0000"/>
                </a:solidFill>
                <a:latin typeface="Arial"/>
                <a:cs typeface="Arial"/>
              </a:rPr>
              <a:t>w large does a </a:t>
            </a:r>
            <a:r>
              <a:rPr sz="1200" i="1" spc="-5" dirty="0">
                <a:solidFill>
                  <a:srgbClr val="FA0000"/>
                </a:solidFill>
                <a:latin typeface="Arial"/>
                <a:cs typeface="Arial"/>
              </a:rPr>
              <a:t>k</a:t>
            </a:r>
            <a:r>
              <a:rPr sz="1200" i="1" spc="-215" dirty="0">
                <a:solidFill>
                  <a:srgbClr val="FA0000"/>
                </a:solidFill>
                <a:latin typeface="Arial"/>
                <a:cs typeface="Arial"/>
              </a:rPr>
              <a:t> </a:t>
            </a:r>
            <a:r>
              <a:rPr sz="1200" spc="-5" dirty="0">
                <a:solidFill>
                  <a:srgbClr val="FA0000"/>
                </a:solidFill>
                <a:latin typeface="Arial"/>
                <a:cs typeface="Arial"/>
              </a:rPr>
              <a:t>-</a:t>
            </a:r>
            <a:r>
              <a:rPr sz="1200" spc="-45" dirty="0">
                <a:solidFill>
                  <a:srgbClr val="FA0000"/>
                </a:solidFill>
                <a:latin typeface="Arial"/>
                <a:cs typeface="Arial"/>
              </a:rPr>
              <a:t>f</a:t>
            </a:r>
            <a:r>
              <a:rPr sz="1200" spc="-5" dirty="0">
                <a:solidFill>
                  <a:srgbClr val="FA0000"/>
                </a:solidFill>
                <a:latin typeface="Arial"/>
                <a:cs typeface="Arial"/>
              </a:rPr>
              <a:t>ault tole</a:t>
            </a:r>
            <a:r>
              <a:rPr sz="1200" spc="-20" dirty="0">
                <a:solidFill>
                  <a:srgbClr val="FA0000"/>
                </a:solidFill>
                <a:latin typeface="Arial"/>
                <a:cs typeface="Arial"/>
              </a:rPr>
              <a:t>r</a:t>
            </a:r>
            <a:r>
              <a:rPr sz="1200" spc="-5" dirty="0">
                <a:solidFill>
                  <a:srgbClr val="FA0000"/>
                </a:solidFill>
                <a:latin typeface="Arial"/>
                <a:cs typeface="Arial"/>
              </a:rPr>
              <a:t>ant </a:t>
            </a:r>
            <a:r>
              <a:rPr sz="1200" spc="-20" dirty="0">
                <a:solidFill>
                  <a:srgbClr val="FA0000"/>
                </a:solidFill>
                <a:latin typeface="Arial"/>
                <a:cs typeface="Arial"/>
              </a:rPr>
              <a:t>g</a:t>
            </a:r>
            <a:r>
              <a:rPr sz="1200" spc="-5" dirty="0">
                <a:solidFill>
                  <a:srgbClr val="FA0000"/>
                </a:solidFill>
                <a:latin typeface="Arial"/>
                <a:cs typeface="Arial"/>
              </a:rPr>
              <a:t>roup need to be?</a:t>
            </a:r>
            <a:endParaRPr sz="1200">
              <a:latin typeface="Arial"/>
              <a:cs typeface="Arial"/>
            </a:endParaRPr>
          </a:p>
          <a:p>
            <a:pPr marL="327660" marR="104775" indent="-168275" algn="just">
              <a:lnSpc>
                <a:spcPct val="100000"/>
              </a:lnSpc>
              <a:spcBef>
                <a:spcPts val="790"/>
              </a:spcBef>
              <a:buClr>
                <a:srgbClr val="FA0000"/>
              </a:buClr>
              <a:buChar char="►"/>
              <a:tabLst>
                <a:tab pos="328295" algn="l"/>
              </a:tabLst>
            </a:pPr>
            <a:r>
              <a:rPr sz="1000" spc="-5" dirty="0">
                <a:latin typeface="Arial"/>
                <a:cs typeface="Arial"/>
              </a:rPr>
              <a:t>With </a:t>
            </a:r>
            <a:r>
              <a:rPr sz="1000" spc="-5" dirty="0">
                <a:solidFill>
                  <a:srgbClr val="FA0000"/>
                </a:solidFill>
                <a:latin typeface="Arial"/>
                <a:cs typeface="Arial"/>
              </a:rPr>
              <a:t>halting </a:t>
            </a:r>
            <a:r>
              <a:rPr sz="1000" spc="-10" dirty="0">
                <a:solidFill>
                  <a:srgbClr val="FA0000"/>
                </a:solidFill>
                <a:latin typeface="Arial"/>
                <a:cs typeface="Arial"/>
              </a:rPr>
              <a:t>failures </a:t>
            </a:r>
            <a:r>
              <a:rPr sz="1000" spc="-5" dirty="0">
                <a:latin typeface="Arial"/>
                <a:cs typeface="Arial"/>
              </a:rPr>
              <a:t>(crash/omission/timing failures): </a:t>
            </a:r>
            <a:r>
              <a:rPr sz="1000" spc="-10" dirty="0">
                <a:latin typeface="Arial"/>
                <a:cs typeface="Arial"/>
              </a:rPr>
              <a:t>we </a:t>
            </a:r>
            <a:r>
              <a:rPr sz="1000" spc="-5" dirty="0">
                <a:latin typeface="Arial"/>
                <a:cs typeface="Arial"/>
              </a:rPr>
              <a:t>need a </a:t>
            </a:r>
            <a:r>
              <a:rPr sz="1000" spc="-265" dirty="0">
                <a:latin typeface="Arial"/>
                <a:cs typeface="Arial"/>
              </a:rPr>
              <a:t> </a:t>
            </a:r>
            <a:r>
              <a:rPr sz="1000" spc="-5" dirty="0">
                <a:latin typeface="Arial"/>
                <a:cs typeface="Arial"/>
              </a:rPr>
              <a:t>total of </a:t>
            </a:r>
            <a:r>
              <a:rPr sz="1000" i="1" spc="-5" dirty="0">
                <a:latin typeface="Arial"/>
                <a:cs typeface="Arial"/>
              </a:rPr>
              <a:t>k </a:t>
            </a:r>
            <a:r>
              <a:rPr sz="1000" spc="190" dirty="0">
                <a:latin typeface="Arial"/>
                <a:cs typeface="Arial"/>
              </a:rPr>
              <a:t>+ </a:t>
            </a:r>
            <a:r>
              <a:rPr sz="1000" spc="-5" dirty="0">
                <a:latin typeface="Arial"/>
                <a:cs typeface="Arial"/>
              </a:rPr>
              <a:t>1 members as </a:t>
            </a:r>
            <a:r>
              <a:rPr sz="1000" spc="-5" dirty="0">
                <a:solidFill>
                  <a:srgbClr val="0000FA"/>
                </a:solidFill>
                <a:latin typeface="Arial"/>
                <a:cs typeface="Arial"/>
              </a:rPr>
              <a:t>no member will produce an incorrect </a:t>
            </a:r>
            <a:r>
              <a:rPr sz="1000" spc="-265" dirty="0">
                <a:solidFill>
                  <a:srgbClr val="0000FA"/>
                </a:solidFill>
                <a:latin typeface="Arial"/>
                <a:cs typeface="Arial"/>
              </a:rPr>
              <a:t> </a:t>
            </a:r>
            <a:r>
              <a:rPr sz="1000" spc="-5" dirty="0">
                <a:solidFill>
                  <a:srgbClr val="0000FA"/>
                </a:solidFill>
                <a:latin typeface="Arial"/>
                <a:cs typeface="Arial"/>
              </a:rPr>
              <a:t>result, so the result of</a:t>
            </a:r>
            <a:r>
              <a:rPr sz="1000" dirty="0">
                <a:solidFill>
                  <a:srgbClr val="0000FA"/>
                </a:solidFill>
                <a:latin typeface="Arial"/>
                <a:cs typeface="Arial"/>
              </a:rPr>
              <a:t> </a:t>
            </a:r>
            <a:r>
              <a:rPr sz="1000" spc="-5" dirty="0">
                <a:solidFill>
                  <a:srgbClr val="0000FA"/>
                </a:solidFill>
                <a:latin typeface="Arial"/>
                <a:cs typeface="Arial"/>
              </a:rPr>
              <a:t>one member is good enough</a:t>
            </a:r>
            <a:r>
              <a:rPr sz="1000" spc="-5" dirty="0">
                <a:latin typeface="Arial"/>
                <a:cs typeface="Arial"/>
              </a:rPr>
              <a:t>.</a:t>
            </a:r>
            <a:endParaRPr sz="1000">
              <a:latin typeface="Arial"/>
              <a:cs typeface="Arial"/>
            </a:endParaRPr>
          </a:p>
          <a:p>
            <a:pPr marL="327660" marR="316865" indent="-168275" algn="just">
              <a:lnSpc>
                <a:spcPct val="100000"/>
              </a:lnSpc>
              <a:spcBef>
                <a:spcPts val="585"/>
              </a:spcBef>
              <a:buClr>
                <a:srgbClr val="FA0000"/>
              </a:buClr>
              <a:buChar char="►"/>
              <a:tabLst>
                <a:tab pos="328295" algn="l"/>
              </a:tabLst>
            </a:pPr>
            <a:r>
              <a:rPr sz="1000" spc="-5" dirty="0">
                <a:latin typeface="Arial"/>
                <a:cs typeface="Arial"/>
              </a:rPr>
              <a:t>With </a:t>
            </a:r>
            <a:r>
              <a:rPr sz="1000" spc="-5" dirty="0">
                <a:solidFill>
                  <a:srgbClr val="FA0000"/>
                </a:solidFill>
                <a:latin typeface="Arial"/>
                <a:cs typeface="Arial"/>
              </a:rPr>
              <a:t>arbit</a:t>
            </a:r>
            <a:r>
              <a:rPr sz="1000" spc="-15" dirty="0">
                <a:solidFill>
                  <a:srgbClr val="FA0000"/>
                </a:solidFill>
                <a:latin typeface="Arial"/>
                <a:cs typeface="Arial"/>
              </a:rPr>
              <a:t>r</a:t>
            </a:r>
            <a:r>
              <a:rPr sz="1000" spc="-5" dirty="0">
                <a:solidFill>
                  <a:srgbClr val="FA0000"/>
                </a:solidFill>
                <a:latin typeface="Arial"/>
                <a:cs typeface="Arial"/>
              </a:rPr>
              <a:t>a</a:t>
            </a:r>
            <a:r>
              <a:rPr sz="1000" spc="20" dirty="0">
                <a:solidFill>
                  <a:srgbClr val="FA0000"/>
                </a:solidFill>
                <a:latin typeface="Arial"/>
                <a:cs typeface="Arial"/>
              </a:rPr>
              <a:t>r</a:t>
            </a:r>
            <a:r>
              <a:rPr sz="1000" spc="-5" dirty="0">
                <a:solidFill>
                  <a:srgbClr val="FA0000"/>
                </a:solidFill>
                <a:latin typeface="Arial"/>
                <a:cs typeface="Arial"/>
              </a:rPr>
              <a:t>y </a:t>
            </a:r>
            <a:r>
              <a:rPr sz="1000" spc="-35" dirty="0">
                <a:solidFill>
                  <a:srgbClr val="FA0000"/>
                </a:solidFill>
                <a:latin typeface="Arial"/>
                <a:cs typeface="Arial"/>
              </a:rPr>
              <a:t>f</a:t>
            </a:r>
            <a:r>
              <a:rPr sz="1000" spc="-5" dirty="0">
                <a:solidFill>
                  <a:srgbClr val="FA0000"/>
                </a:solidFill>
                <a:latin typeface="Arial"/>
                <a:cs typeface="Arial"/>
              </a:rPr>
              <a:t>ailures</a:t>
            </a:r>
            <a:r>
              <a:rPr sz="1000" spc="-5" dirty="0">
                <a:latin typeface="Arial"/>
                <a:cs typeface="Arial"/>
              </a:rPr>
              <a:t>:</a:t>
            </a:r>
            <a:r>
              <a:rPr sz="1000" spc="60" dirty="0">
                <a:latin typeface="Arial"/>
                <a:cs typeface="Arial"/>
              </a:rPr>
              <a:t> </a:t>
            </a:r>
            <a:r>
              <a:rPr sz="1000" spc="-15" dirty="0">
                <a:latin typeface="Arial"/>
                <a:cs typeface="Arial"/>
              </a:rPr>
              <a:t>w</a:t>
            </a:r>
            <a:r>
              <a:rPr sz="1000" spc="-5" dirty="0">
                <a:latin typeface="Arial"/>
                <a:cs typeface="Arial"/>
              </a:rPr>
              <a:t>e need </a:t>
            </a:r>
            <a:r>
              <a:rPr sz="1000" spc="-10" dirty="0">
                <a:latin typeface="Arial"/>
                <a:cs typeface="Arial"/>
              </a:rPr>
              <a:t>2</a:t>
            </a:r>
            <a:r>
              <a:rPr sz="1000" i="1" spc="-5" dirty="0">
                <a:latin typeface="Arial"/>
                <a:cs typeface="Arial"/>
              </a:rPr>
              <a:t>k</a:t>
            </a:r>
            <a:r>
              <a:rPr sz="1000" i="1" spc="-40" dirty="0">
                <a:latin typeface="Arial"/>
                <a:cs typeface="Arial"/>
              </a:rPr>
              <a:t> </a:t>
            </a:r>
            <a:r>
              <a:rPr sz="1000" spc="190" dirty="0">
                <a:latin typeface="Arial"/>
                <a:cs typeface="Arial"/>
              </a:rPr>
              <a:t>+</a:t>
            </a:r>
            <a:r>
              <a:rPr sz="1000" spc="-140" dirty="0">
                <a:latin typeface="Arial"/>
                <a:cs typeface="Arial"/>
              </a:rPr>
              <a:t> </a:t>
            </a:r>
            <a:r>
              <a:rPr sz="1000" spc="-5" dirty="0">
                <a:latin typeface="Arial"/>
                <a:cs typeface="Arial"/>
              </a:rPr>
              <a:t>1 members so that the  correct result</a:t>
            </a:r>
            <a:r>
              <a:rPr sz="1000" dirty="0">
                <a:latin typeface="Arial"/>
                <a:cs typeface="Arial"/>
              </a:rPr>
              <a:t> </a:t>
            </a:r>
            <a:r>
              <a:rPr sz="1000" spc="-5" dirty="0">
                <a:latin typeface="Arial"/>
                <a:cs typeface="Arial"/>
              </a:rPr>
              <a:t>can be</a:t>
            </a:r>
            <a:r>
              <a:rPr sz="1000" dirty="0">
                <a:latin typeface="Arial"/>
                <a:cs typeface="Arial"/>
              </a:rPr>
              <a:t> </a:t>
            </a:r>
            <a:r>
              <a:rPr sz="1000" spc="-5" dirty="0">
                <a:latin typeface="Arial"/>
                <a:cs typeface="Arial"/>
              </a:rPr>
              <a:t>obtained through</a:t>
            </a:r>
            <a:r>
              <a:rPr sz="1000" dirty="0">
                <a:latin typeface="Arial"/>
                <a:cs typeface="Arial"/>
              </a:rPr>
              <a:t> </a:t>
            </a:r>
            <a:r>
              <a:rPr sz="1000" spc="-5" dirty="0">
                <a:latin typeface="Arial"/>
                <a:cs typeface="Arial"/>
              </a:rPr>
              <a:t>a majority</a:t>
            </a:r>
            <a:r>
              <a:rPr sz="1000" dirty="0">
                <a:latin typeface="Arial"/>
                <a:cs typeface="Arial"/>
              </a:rPr>
              <a:t> </a:t>
            </a:r>
            <a:r>
              <a:rPr sz="1000" spc="-10" dirty="0">
                <a:latin typeface="Arial"/>
                <a:cs typeface="Arial"/>
              </a:rPr>
              <a:t>vote.</a:t>
            </a:r>
            <a:endParaRPr sz="1000">
              <a:latin typeface="Arial"/>
              <a:cs typeface="Arial"/>
            </a:endParaRPr>
          </a:p>
          <a:p>
            <a:pPr>
              <a:lnSpc>
                <a:spcPct val="100000"/>
              </a:lnSpc>
              <a:spcBef>
                <a:spcPts val="20"/>
              </a:spcBef>
              <a:buFont typeface="Arial"/>
              <a:buChar char="►"/>
            </a:pPr>
            <a:endParaRPr sz="1050">
              <a:latin typeface="Arial"/>
              <a:cs typeface="Arial"/>
            </a:endParaRPr>
          </a:p>
          <a:p>
            <a:pPr marL="50800">
              <a:lnSpc>
                <a:spcPct val="100000"/>
              </a:lnSpc>
            </a:pPr>
            <a:r>
              <a:rPr sz="1200" dirty="0">
                <a:solidFill>
                  <a:srgbClr val="3333B2"/>
                </a:solidFill>
                <a:latin typeface="Arial"/>
                <a:cs typeface="Arial"/>
              </a:rPr>
              <a:t>Important</a:t>
            </a:r>
            <a:r>
              <a:rPr sz="1200" spc="-30" dirty="0">
                <a:solidFill>
                  <a:srgbClr val="3333B2"/>
                </a:solidFill>
                <a:latin typeface="Arial"/>
                <a:cs typeface="Arial"/>
              </a:rPr>
              <a:t> </a:t>
            </a:r>
            <a:r>
              <a:rPr sz="1200" spc="-5" dirty="0">
                <a:solidFill>
                  <a:srgbClr val="3333B2"/>
                </a:solidFill>
                <a:latin typeface="Arial"/>
                <a:cs typeface="Arial"/>
              </a:rPr>
              <a:t>assumptions</a:t>
            </a:r>
            <a:endParaRPr sz="1200">
              <a:latin typeface="Arial"/>
              <a:cs typeface="Arial"/>
            </a:endParaRPr>
          </a:p>
          <a:p>
            <a:pPr marL="327660" indent="-168275">
              <a:lnSpc>
                <a:spcPts val="1200"/>
              </a:lnSpc>
              <a:spcBef>
                <a:spcPts val="770"/>
              </a:spcBef>
              <a:buClr>
                <a:srgbClr val="3333B2"/>
              </a:buClr>
              <a:buChar char="►"/>
              <a:tabLst>
                <a:tab pos="328295" algn="l"/>
              </a:tabLst>
            </a:pPr>
            <a:r>
              <a:rPr sz="1000" spc="-5" dirty="0">
                <a:latin typeface="Arial"/>
                <a:cs typeface="Arial"/>
              </a:rPr>
              <a:t>All</a:t>
            </a:r>
            <a:r>
              <a:rPr sz="1000" spc="-15" dirty="0">
                <a:latin typeface="Arial"/>
                <a:cs typeface="Arial"/>
              </a:rPr>
              <a:t> </a:t>
            </a:r>
            <a:r>
              <a:rPr sz="1000" spc="-5" dirty="0">
                <a:latin typeface="Arial"/>
                <a:cs typeface="Arial"/>
              </a:rPr>
              <a:t>members</a:t>
            </a:r>
            <a:r>
              <a:rPr sz="1000" spc="-10" dirty="0">
                <a:latin typeface="Arial"/>
                <a:cs typeface="Arial"/>
              </a:rPr>
              <a:t> </a:t>
            </a:r>
            <a:r>
              <a:rPr sz="1000" spc="-5" dirty="0">
                <a:latin typeface="Arial"/>
                <a:cs typeface="Arial"/>
              </a:rPr>
              <a:t>are</a:t>
            </a:r>
            <a:r>
              <a:rPr sz="1000" spc="-15" dirty="0">
                <a:latin typeface="Arial"/>
                <a:cs typeface="Arial"/>
              </a:rPr>
              <a:t> </a:t>
            </a:r>
            <a:r>
              <a:rPr sz="1000" spc="-5" dirty="0">
                <a:latin typeface="Arial"/>
                <a:cs typeface="Arial"/>
              </a:rPr>
              <a:t>identical</a:t>
            </a:r>
            <a:endParaRPr sz="1000">
              <a:latin typeface="Arial"/>
              <a:cs typeface="Arial"/>
            </a:endParaRPr>
          </a:p>
          <a:p>
            <a:pPr marL="327660" indent="-168275">
              <a:lnSpc>
                <a:spcPts val="1200"/>
              </a:lnSpc>
              <a:buClr>
                <a:srgbClr val="3333B2"/>
              </a:buClr>
              <a:buChar char="►"/>
              <a:tabLst>
                <a:tab pos="328295" algn="l"/>
              </a:tabLst>
            </a:pPr>
            <a:r>
              <a:rPr sz="1000" spc="-5" dirty="0">
                <a:latin typeface="Arial"/>
                <a:cs typeface="Arial"/>
              </a:rPr>
              <a:t>All members process</a:t>
            </a:r>
            <a:r>
              <a:rPr sz="1000" dirty="0">
                <a:latin typeface="Arial"/>
                <a:cs typeface="Arial"/>
              </a:rPr>
              <a:t> </a:t>
            </a:r>
            <a:r>
              <a:rPr sz="1000" spc="-5" dirty="0">
                <a:latin typeface="Arial"/>
                <a:cs typeface="Arial"/>
              </a:rPr>
              <a:t>commands in the</a:t>
            </a:r>
            <a:r>
              <a:rPr sz="1000" dirty="0">
                <a:latin typeface="Arial"/>
                <a:cs typeface="Arial"/>
              </a:rPr>
              <a:t> </a:t>
            </a:r>
            <a:r>
              <a:rPr sz="1000" spc="-5" dirty="0">
                <a:latin typeface="Arial"/>
                <a:cs typeface="Arial"/>
              </a:rPr>
              <a:t>same order</a:t>
            </a:r>
            <a:endParaRPr sz="1000">
              <a:latin typeface="Arial"/>
              <a:cs typeface="Arial"/>
            </a:endParaRPr>
          </a:p>
          <a:p>
            <a:pPr marL="50800" marR="156210">
              <a:lnSpc>
                <a:spcPct val="100000"/>
              </a:lnSpc>
              <a:spcBef>
                <a:spcPts val="595"/>
              </a:spcBef>
            </a:pPr>
            <a:r>
              <a:rPr sz="1000" spc="-5" dirty="0">
                <a:solidFill>
                  <a:srgbClr val="FA0000"/>
                </a:solidFill>
                <a:latin typeface="Arial"/>
                <a:cs typeface="Arial"/>
              </a:rPr>
              <a:t>Result</a:t>
            </a:r>
            <a:r>
              <a:rPr sz="1000" spc="-5" dirty="0">
                <a:latin typeface="Arial"/>
                <a:cs typeface="Arial"/>
              </a:rPr>
              <a:t>:</a:t>
            </a:r>
            <a:r>
              <a:rPr sz="1000" spc="65" dirty="0">
                <a:latin typeface="Arial"/>
                <a:cs typeface="Arial"/>
              </a:rPr>
              <a:t> </a:t>
            </a:r>
            <a:r>
              <a:rPr sz="1000" spc="-20" dirty="0">
                <a:latin typeface="Arial"/>
                <a:cs typeface="Arial"/>
              </a:rPr>
              <a:t>We</a:t>
            </a:r>
            <a:r>
              <a:rPr sz="1000" dirty="0">
                <a:latin typeface="Arial"/>
                <a:cs typeface="Arial"/>
              </a:rPr>
              <a:t> </a:t>
            </a:r>
            <a:r>
              <a:rPr sz="1000" spc="-5" dirty="0">
                <a:latin typeface="Arial"/>
                <a:cs typeface="Arial"/>
              </a:rPr>
              <a:t>can</a:t>
            </a:r>
            <a:r>
              <a:rPr sz="1000" dirty="0">
                <a:latin typeface="Arial"/>
                <a:cs typeface="Arial"/>
              </a:rPr>
              <a:t> </a:t>
            </a:r>
            <a:r>
              <a:rPr sz="1000" spc="-10" dirty="0">
                <a:latin typeface="Arial"/>
                <a:cs typeface="Arial"/>
              </a:rPr>
              <a:t>now</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sure</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all</a:t>
            </a:r>
            <a:r>
              <a:rPr sz="1000" dirty="0">
                <a:latin typeface="Arial"/>
                <a:cs typeface="Arial"/>
              </a:rPr>
              <a:t> </a:t>
            </a:r>
            <a:r>
              <a:rPr sz="1000" spc="-5" dirty="0">
                <a:latin typeface="Arial"/>
                <a:cs typeface="Arial"/>
              </a:rPr>
              <a:t>processes</a:t>
            </a:r>
            <a:r>
              <a:rPr sz="1000" dirty="0">
                <a:latin typeface="Arial"/>
                <a:cs typeface="Arial"/>
              </a:rPr>
              <a:t> </a:t>
            </a:r>
            <a:r>
              <a:rPr sz="1000" spc="-5" dirty="0">
                <a:latin typeface="Arial"/>
                <a:cs typeface="Arial"/>
              </a:rPr>
              <a:t>do</a:t>
            </a:r>
            <a:r>
              <a:rPr sz="1000" spc="5" dirty="0">
                <a:latin typeface="Arial"/>
                <a:cs typeface="Arial"/>
              </a:rPr>
              <a:t> </a:t>
            </a:r>
            <a:r>
              <a:rPr sz="1000" spc="-10" dirty="0">
                <a:latin typeface="Arial"/>
                <a:cs typeface="Arial"/>
              </a:rPr>
              <a:t>exactly</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 </a:t>
            </a:r>
            <a:r>
              <a:rPr sz="1000" spc="-265" dirty="0">
                <a:latin typeface="Arial"/>
                <a:cs typeface="Arial"/>
              </a:rPr>
              <a:t> </a:t>
            </a:r>
            <a:r>
              <a:rPr sz="1000" spc="-5" dirty="0">
                <a:latin typeface="Arial"/>
                <a:cs typeface="Arial"/>
              </a:rPr>
              <a:t>thing.</a:t>
            </a:r>
            <a:endParaRPr sz="10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14</a:t>
            </a:r>
            <a:r>
              <a:rPr spc="-40" dirty="0"/>
              <a:t> </a:t>
            </a:r>
            <a:r>
              <a:rPr spc="-5" dirty="0"/>
              <a:t>/</a:t>
            </a:r>
            <a:r>
              <a:rPr spc="-35" dirty="0"/>
              <a:t> </a:t>
            </a:r>
            <a:r>
              <a:rPr spc="-5" dirty="0"/>
              <a:t>68</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2930702" y="716"/>
            <a:ext cx="16109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Consensus in faulty systems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with crash failures</a:t>
            </a:r>
            <a:endParaRPr sz="600">
              <a:latin typeface="Arial"/>
              <a:cs typeface="Arial"/>
            </a:endParaRPr>
          </a:p>
        </p:txBody>
      </p:sp>
      <p:sp>
        <p:nvSpPr>
          <p:cNvPr id="4" name="object 4"/>
          <p:cNvSpPr txBox="1"/>
          <p:nvPr/>
        </p:nvSpPr>
        <p:spPr>
          <a:xfrm>
            <a:off x="95300" y="188846"/>
            <a:ext cx="93726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Consensus</a:t>
            </a:r>
            <a:endParaRPr sz="1400">
              <a:latin typeface="Arial"/>
              <a:cs typeface="Arial"/>
            </a:endParaRPr>
          </a:p>
        </p:txBody>
      </p:sp>
      <p:sp>
        <p:nvSpPr>
          <p:cNvPr id="5" name="object 5"/>
          <p:cNvSpPr txBox="1"/>
          <p:nvPr/>
        </p:nvSpPr>
        <p:spPr>
          <a:xfrm>
            <a:off x="347294" y="1053756"/>
            <a:ext cx="3913504" cy="1281430"/>
          </a:xfrm>
          <a:prstGeom prst="rect">
            <a:avLst/>
          </a:prstGeom>
        </p:spPr>
        <p:txBody>
          <a:bodyPr vert="horz" wrap="square" lIns="0" tIns="39370" rIns="0" bIns="0" rtlCol="0">
            <a:spAutoFit/>
          </a:bodyPr>
          <a:lstStyle/>
          <a:p>
            <a:pPr marL="12700">
              <a:lnSpc>
                <a:spcPct val="100000"/>
              </a:lnSpc>
              <a:spcBef>
                <a:spcPts val="310"/>
              </a:spcBef>
            </a:pPr>
            <a:r>
              <a:rPr sz="1200" spc="-5" dirty="0">
                <a:solidFill>
                  <a:srgbClr val="3333B2"/>
                </a:solidFill>
                <a:latin typeface="Arial"/>
                <a:cs typeface="Arial"/>
              </a:rPr>
              <a:t>Prerequisite</a:t>
            </a:r>
            <a:endParaRPr sz="1200">
              <a:latin typeface="Arial"/>
              <a:cs typeface="Arial"/>
            </a:endParaRPr>
          </a:p>
          <a:p>
            <a:pPr marL="12700" marR="5080">
              <a:lnSpc>
                <a:spcPct val="100000"/>
              </a:lnSpc>
              <a:spcBef>
                <a:spcPts val="175"/>
              </a:spcBef>
            </a:pPr>
            <a:r>
              <a:rPr sz="1000" spc="-5" dirty="0">
                <a:latin typeface="Arial"/>
                <a:cs typeface="Arial"/>
              </a:rPr>
              <a:t>In a</a:t>
            </a:r>
            <a:r>
              <a:rPr sz="1000" dirty="0">
                <a:latin typeface="Arial"/>
                <a:cs typeface="Arial"/>
              </a:rPr>
              <a:t> </a:t>
            </a:r>
            <a:r>
              <a:rPr sz="1000" spc="-5" dirty="0">
                <a:latin typeface="Arial"/>
                <a:cs typeface="Arial"/>
              </a:rPr>
              <a:t>fault-tolerant</a:t>
            </a:r>
            <a:r>
              <a:rPr sz="1000" dirty="0">
                <a:latin typeface="Arial"/>
                <a:cs typeface="Arial"/>
              </a:rPr>
              <a:t> </a:t>
            </a:r>
            <a:r>
              <a:rPr sz="1000" spc="-5" dirty="0">
                <a:latin typeface="Arial"/>
                <a:cs typeface="Arial"/>
              </a:rPr>
              <a:t>process</a:t>
            </a:r>
            <a:r>
              <a:rPr sz="1000" dirty="0">
                <a:latin typeface="Arial"/>
                <a:cs typeface="Arial"/>
              </a:rPr>
              <a:t> </a:t>
            </a:r>
            <a:r>
              <a:rPr sz="1000" spc="-10" dirty="0">
                <a:latin typeface="Arial"/>
                <a:cs typeface="Arial"/>
              </a:rPr>
              <a:t>group,</a:t>
            </a:r>
            <a:r>
              <a:rPr sz="1000" spc="-5" dirty="0">
                <a:latin typeface="Arial"/>
                <a:cs typeface="Arial"/>
              </a:rPr>
              <a:t> each</a:t>
            </a:r>
            <a:r>
              <a:rPr sz="1000" dirty="0">
                <a:latin typeface="Arial"/>
                <a:cs typeface="Arial"/>
              </a:rPr>
              <a:t> </a:t>
            </a:r>
            <a:r>
              <a:rPr sz="1000" spc="-10" dirty="0">
                <a:latin typeface="Arial"/>
                <a:cs typeface="Arial"/>
              </a:rPr>
              <a:t>nonfaulty</a:t>
            </a:r>
            <a:r>
              <a:rPr sz="1000" dirty="0">
                <a:latin typeface="Arial"/>
                <a:cs typeface="Arial"/>
              </a:rPr>
              <a:t> </a:t>
            </a:r>
            <a:r>
              <a:rPr sz="1000" spc="-5" dirty="0">
                <a:latin typeface="Arial"/>
                <a:cs typeface="Arial"/>
              </a:rPr>
              <a:t>process</a:t>
            </a:r>
            <a:r>
              <a:rPr sz="1000" dirty="0">
                <a:latin typeface="Arial"/>
                <a:cs typeface="Arial"/>
              </a:rPr>
              <a:t> </a:t>
            </a:r>
            <a:r>
              <a:rPr sz="1000" spc="-10" dirty="0">
                <a:latin typeface="Arial"/>
                <a:cs typeface="Arial"/>
              </a:rPr>
              <a:t>executes</a:t>
            </a:r>
            <a:r>
              <a:rPr sz="1000" spc="-5" dirty="0">
                <a:latin typeface="Arial"/>
                <a:cs typeface="Arial"/>
              </a:rPr>
              <a:t> the </a:t>
            </a:r>
            <a:r>
              <a:rPr sz="1000" spc="-260" dirty="0">
                <a:latin typeface="Arial"/>
                <a:cs typeface="Arial"/>
              </a:rPr>
              <a:t> </a:t>
            </a:r>
            <a:r>
              <a:rPr sz="1000" spc="-5" dirty="0">
                <a:latin typeface="Arial"/>
                <a:cs typeface="Arial"/>
              </a:rPr>
              <a:t>same commands, and</a:t>
            </a:r>
            <a:r>
              <a:rPr sz="1000" dirty="0">
                <a:latin typeface="Arial"/>
                <a:cs typeface="Arial"/>
              </a:rPr>
              <a:t> </a:t>
            </a:r>
            <a:r>
              <a:rPr sz="1000" spc="-5" dirty="0">
                <a:latin typeface="Arial"/>
                <a:cs typeface="Arial"/>
              </a:rPr>
              <a:t>in the</a:t>
            </a:r>
            <a:r>
              <a:rPr sz="1000" dirty="0">
                <a:latin typeface="Arial"/>
                <a:cs typeface="Arial"/>
              </a:rPr>
              <a:t> </a:t>
            </a:r>
            <a:r>
              <a:rPr sz="1000" spc="-5" dirty="0">
                <a:latin typeface="Arial"/>
                <a:cs typeface="Arial"/>
              </a:rPr>
              <a:t>same </a:t>
            </a:r>
            <a:r>
              <a:rPr sz="1000" spc="-10" dirty="0">
                <a:latin typeface="Arial"/>
                <a:cs typeface="Arial"/>
              </a:rPr>
              <a:t>order,</a:t>
            </a:r>
            <a:r>
              <a:rPr sz="1000" spc="-5" dirty="0">
                <a:latin typeface="Arial"/>
                <a:cs typeface="Arial"/>
              </a:rPr>
              <a:t> as</a:t>
            </a:r>
            <a:r>
              <a:rPr sz="1000" dirty="0">
                <a:latin typeface="Arial"/>
                <a:cs typeface="Arial"/>
              </a:rPr>
              <a:t> </a:t>
            </a:r>
            <a:r>
              <a:rPr sz="1000" spc="-10" dirty="0">
                <a:latin typeface="Arial"/>
                <a:cs typeface="Arial"/>
              </a:rPr>
              <a:t>every</a:t>
            </a:r>
            <a:r>
              <a:rPr sz="1000" spc="-5" dirty="0">
                <a:latin typeface="Arial"/>
                <a:cs typeface="Arial"/>
              </a:rPr>
              <a:t> other </a:t>
            </a:r>
            <a:r>
              <a:rPr sz="1000" spc="-10" dirty="0">
                <a:latin typeface="Arial"/>
                <a:cs typeface="Arial"/>
              </a:rPr>
              <a:t>nonfaulty </a:t>
            </a:r>
            <a:r>
              <a:rPr sz="1000" spc="-5" dirty="0">
                <a:latin typeface="Arial"/>
                <a:cs typeface="Arial"/>
              </a:rPr>
              <a:t> process.</a:t>
            </a:r>
            <a:endParaRPr sz="1000">
              <a:latin typeface="Arial"/>
              <a:cs typeface="Arial"/>
            </a:endParaRPr>
          </a:p>
          <a:p>
            <a:pPr marL="12700">
              <a:lnSpc>
                <a:spcPts val="1410"/>
              </a:lnSpc>
              <a:spcBef>
                <a:spcPts val="680"/>
              </a:spcBef>
            </a:pPr>
            <a:r>
              <a:rPr sz="1200" spc="-5" dirty="0">
                <a:solidFill>
                  <a:srgbClr val="FA0000"/>
                </a:solidFill>
                <a:latin typeface="Arial"/>
                <a:cs typeface="Arial"/>
              </a:rPr>
              <a:t>Reformulation</a:t>
            </a:r>
            <a:endParaRPr sz="1200">
              <a:latin typeface="Arial"/>
              <a:cs typeface="Arial"/>
            </a:endParaRPr>
          </a:p>
          <a:p>
            <a:pPr marL="12700" marR="459105">
              <a:lnSpc>
                <a:spcPts val="1200"/>
              </a:lnSpc>
              <a:spcBef>
                <a:spcPts val="15"/>
              </a:spcBef>
            </a:pPr>
            <a:r>
              <a:rPr sz="1000" spc="-10" dirty="0">
                <a:latin typeface="Arial"/>
                <a:cs typeface="Arial"/>
              </a:rPr>
              <a:t>Nonfaulty</a:t>
            </a:r>
            <a:r>
              <a:rPr sz="1000" dirty="0">
                <a:latin typeface="Arial"/>
                <a:cs typeface="Arial"/>
              </a:rPr>
              <a:t> </a:t>
            </a:r>
            <a:r>
              <a:rPr sz="1000" spc="-5" dirty="0">
                <a:latin typeface="Arial"/>
                <a:cs typeface="Arial"/>
              </a:rPr>
              <a:t>group</a:t>
            </a:r>
            <a:r>
              <a:rPr sz="1000" dirty="0">
                <a:latin typeface="Arial"/>
                <a:cs typeface="Arial"/>
              </a:rPr>
              <a:t> </a:t>
            </a:r>
            <a:r>
              <a:rPr sz="1000" spc="-5" dirty="0">
                <a:latin typeface="Arial"/>
                <a:cs typeface="Arial"/>
              </a:rPr>
              <a:t>members</a:t>
            </a:r>
            <a:r>
              <a:rPr sz="1000"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reach</a:t>
            </a:r>
            <a:r>
              <a:rPr sz="1000" dirty="0">
                <a:latin typeface="Arial"/>
                <a:cs typeface="Arial"/>
              </a:rPr>
              <a:t> </a:t>
            </a:r>
            <a:r>
              <a:rPr sz="1000" spc="-5" dirty="0">
                <a:solidFill>
                  <a:srgbClr val="FA0000"/>
                </a:solidFill>
                <a:latin typeface="Arial"/>
                <a:cs typeface="Arial"/>
              </a:rPr>
              <a:t>consensus</a:t>
            </a:r>
            <a:r>
              <a:rPr sz="1000" spc="5" dirty="0">
                <a:solidFill>
                  <a:srgbClr val="FA0000"/>
                </a:solidFill>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which </a:t>
            </a:r>
            <a:r>
              <a:rPr sz="1000" spc="-265" dirty="0">
                <a:latin typeface="Arial"/>
                <a:cs typeface="Arial"/>
              </a:rPr>
              <a:t> </a:t>
            </a:r>
            <a:r>
              <a:rPr sz="1000" spc="-5" dirty="0">
                <a:latin typeface="Arial"/>
                <a:cs typeface="Arial"/>
              </a:rPr>
              <a:t>command</a:t>
            </a:r>
            <a:r>
              <a:rPr sz="1000" spc="-10" dirty="0">
                <a:latin typeface="Arial"/>
                <a:cs typeface="Arial"/>
              </a:rPr>
              <a:t> </a:t>
            </a:r>
            <a:r>
              <a:rPr sz="1000" spc="-5" dirty="0">
                <a:latin typeface="Arial"/>
                <a:cs typeface="Arial"/>
              </a:rPr>
              <a:t>to </a:t>
            </a:r>
            <a:r>
              <a:rPr sz="1000" spc="-15" dirty="0">
                <a:latin typeface="Arial"/>
                <a:cs typeface="Arial"/>
              </a:rPr>
              <a:t>execute</a:t>
            </a:r>
            <a:r>
              <a:rPr sz="1000" spc="-5" dirty="0">
                <a:latin typeface="Arial"/>
                <a:cs typeface="Arial"/>
              </a:rPr>
              <a:t> </a:t>
            </a:r>
            <a:r>
              <a:rPr sz="1000" spc="-10" dirty="0">
                <a:latin typeface="Arial"/>
                <a:cs typeface="Arial"/>
              </a:rPr>
              <a:t>next.</a:t>
            </a:r>
            <a:endParaRPr sz="10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876550" algn="l"/>
              </a:tabLst>
            </a:pPr>
            <a:r>
              <a:rPr sz="600" spc="-10" dirty="0">
                <a:solidFill>
                  <a:srgbClr val="3333B2"/>
                </a:solidFill>
                <a:latin typeface="Arial"/>
                <a:cs typeface="Arial"/>
                <a:hlinkClick r:id="rId2" action="ppaction://hlinksldjump"/>
              </a:rPr>
              <a:t>Fault</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Consensus</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in faulty systems with</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crash failures</a:t>
            </a:r>
            <a:endParaRPr sz="600">
              <a:latin typeface="Arial"/>
              <a:cs typeface="Arial"/>
            </a:endParaRPr>
          </a:p>
        </p:txBody>
      </p:sp>
      <p:sp>
        <p:nvSpPr>
          <p:cNvPr id="3" name="object 3"/>
          <p:cNvSpPr txBox="1">
            <a:spLocks noGrp="1"/>
          </p:cNvSpPr>
          <p:nvPr>
            <p:ph type="title"/>
          </p:nvPr>
        </p:nvSpPr>
        <p:spPr>
          <a:xfrm>
            <a:off x="95300" y="188846"/>
            <a:ext cx="2202815" cy="244475"/>
          </a:xfrm>
          <a:prstGeom prst="rect">
            <a:avLst/>
          </a:prstGeom>
        </p:spPr>
        <p:txBody>
          <a:bodyPr vert="horz" wrap="square" lIns="0" tIns="17145" rIns="0" bIns="0" rtlCol="0">
            <a:spAutoFit/>
          </a:bodyPr>
          <a:lstStyle/>
          <a:p>
            <a:pPr marL="12700">
              <a:lnSpc>
                <a:spcPct val="100000"/>
              </a:lnSpc>
              <a:spcBef>
                <a:spcPts val="135"/>
              </a:spcBef>
            </a:pPr>
            <a:r>
              <a:rPr spc="15" dirty="0"/>
              <a:t>Flooding-based</a:t>
            </a:r>
            <a:r>
              <a:rPr spc="-30" dirty="0"/>
              <a:t> </a:t>
            </a:r>
            <a:r>
              <a:rPr spc="15" dirty="0"/>
              <a:t>consensus</a:t>
            </a:r>
          </a:p>
        </p:txBody>
      </p:sp>
      <p:sp>
        <p:nvSpPr>
          <p:cNvPr id="4" name="object 4"/>
          <p:cNvSpPr txBox="1"/>
          <p:nvPr/>
        </p:nvSpPr>
        <p:spPr>
          <a:xfrm>
            <a:off x="334594" y="463191"/>
            <a:ext cx="3683000" cy="1142365"/>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System</a:t>
            </a:r>
            <a:r>
              <a:rPr sz="1200" spc="-40" dirty="0">
                <a:solidFill>
                  <a:srgbClr val="3333B2"/>
                </a:solidFill>
                <a:latin typeface="Arial"/>
                <a:cs typeface="Arial"/>
              </a:rPr>
              <a:t> </a:t>
            </a:r>
            <a:r>
              <a:rPr sz="1200" spc="-5" dirty="0">
                <a:solidFill>
                  <a:srgbClr val="3333B2"/>
                </a:solidFill>
                <a:latin typeface="Arial"/>
                <a:cs typeface="Arial"/>
              </a:rPr>
              <a:t>model</a:t>
            </a:r>
            <a:endParaRPr sz="1200">
              <a:latin typeface="Arial"/>
              <a:cs typeface="Arial"/>
            </a:endParaRPr>
          </a:p>
          <a:p>
            <a:pPr marL="302260" indent="-168275">
              <a:lnSpc>
                <a:spcPct val="100000"/>
              </a:lnSpc>
              <a:spcBef>
                <a:spcPts val="780"/>
              </a:spcBef>
              <a:buClr>
                <a:srgbClr val="3333B2"/>
              </a:buClr>
              <a:buChar char="►"/>
              <a:tabLst>
                <a:tab pos="302895" algn="l"/>
              </a:tabLst>
            </a:pPr>
            <a:r>
              <a:rPr sz="1000" spc="-5" dirty="0">
                <a:latin typeface="Arial"/>
                <a:cs typeface="Arial"/>
              </a:rPr>
              <a:t>A process </a:t>
            </a:r>
            <a:r>
              <a:rPr sz="1000" spc="-15" dirty="0">
                <a:latin typeface="Arial"/>
                <a:cs typeface="Arial"/>
              </a:rPr>
              <a:t>g</a:t>
            </a:r>
            <a:r>
              <a:rPr sz="1000" spc="-5" dirty="0">
                <a:latin typeface="Arial"/>
                <a:cs typeface="Arial"/>
              </a:rPr>
              <a:t>roup </a:t>
            </a:r>
            <a:r>
              <a:rPr sz="1000" b="1" spc="-5" dirty="0">
                <a:latin typeface="Arial"/>
                <a:cs typeface="Arial"/>
              </a:rPr>
              <a:t>P</a:t>
            </a:r>
            <a:r>
              <a:rPr sz="1000" b="1" spc="-60" dirty="0">
                <a:latin typeface="Arial"/>
                <a:cs typeface="Arial"/>
              </a:rPr>
              <a:t> </a:t>
            </a:r>
            <a:r>
              <a:rPr sz="1000" spc="190" dirty="0">
                <a:latin typeface="Arial"/>
                <a:cs typeface="Arial"/>
              </a:rPr>
              <a:t>=</a:t>
            </a:r>
            <a:r>
              <a:rPr sz="1000" spc="-60" dirty="0">
                <a:latin typeface="Arial"/>
                <a:cs typeface="Arial"/>
              </a:rPr>
              <a:t> </a:t>
            </a:r>
            <a:r>
              <a:rPr sz="1000" i="1" spc="-105" dirty="0">
                <a:latin typeface="メイリオ"/>
                <a:cs typeface="メイリオ"/>
              </a:rPr>
              <a:t>{</a:t>
            </a:r>
            <a:r>
              <a:rPr sz="1000" i="1" spc="-5" dirty="0">
                <a:latin typeface="Arial"/>
                <a:cs typeface="Arial"/>
              </a:rPr>
              <a:t>P</a:t>
            </a:r>
            <a:r>
              <a:rPr sz="1050" i="1" spc="97" baseline="-15873" dirty="0">
                <a:latin typeface="Arial"/>
                <a:cs typeface="Arial"/>
              </a:rPr>
              <a:t>1</a:t>
            </a:r>
            <a:r>
              <a:rPr sz="1000" i="1" spc="105" dirty="0">
                <a:latin typeface="Arial"/>
                <a:cs typeface="Arial"/>
              </a:rPr>
              <a:t>,...</a:t>
            </a:r>
            <a:r>
              <a:rPr sz="1000" i="1" spc="-5" dirty="0">
                <a:latin typeface="Arial"/>
                <a:cs typeface="Arial"/>
              </a:rPr>
              <a:t>,</a:t>
            </a:r>
            <a:r>
              <a:rPr sz="1000" i="1" spc="-170" dirty="0">
                <a:latin typeface="Arial"/>
                <a:cs typeface="Arial"/>
              </a:rPr>
              <a:t> </a:t>
            </a:r>
            <a:r>
              <a:rPr sz="1000" i="1" spc="-5" dirty="0">
                <a:latin typeface="Arial"/>
                <a:cs typeface="Arial"/>
              </a:rPr>
              <a:t>P</a:t>
            </a:r>
            <a:r>
              <a:rPr sz="1050" i="1" spc="120" baseline="-11904" dirty="0">
                <a:latin typeface="Arial"/>
                <a:cs typeface="Arial"/>
              </a:rPr>
              <a:t>n</a:t>
            </a:r>
            <a:r>
              <a:rPr sz="1000" i="1" spc="-105" dirty="0">
                <a:latin typeface="メイリオ"/>
                <a:cs typeface="メイリオ"/>
              </a:rPr>
              <a:t>}</a:t>
            </a:r>
            <a:endParaRPr sz="1000">
              <a:latin typeface="メイリオ"/>
              <a:cs typeface="メイリオ"/>
            </a:endParaRPr>
          </a:p>
          <a:p>
            <a:pPr marL="302260" indent="-168275">
              <a:lnSpc>
                <a:spcPct val="100000"/>
              </a:lnSpc>
              <a:spcBef>
                <a:spcPts val="590"/>
              </a:spcBef>
              <a:buClr>
                <a:srgbClr val="3333B2"/>
              </a:buClr>
              <a:buChar char="►"/>
              <a:tabLst>
                <a:tab pos="302895" algn="l"/>
              </a:tabLst>
            </a:pPr>
            <a:r>
              <a:rPr sz="1000" spc="-10" dirty="0">
                <a:solidFill>
                  <a:srgbClr val="FA0000"/>
                </a:solidFill>
                <a:latin typeface="Arial"/>
                <a:cs typeface="Arial"/>
              </a:rPr>
              <a:t>Fail-stop</a:t>
            </a:r>
            <a:r>
              <a:rPr sz="1000" dirty="0">
                <a:solidFill>
                  <a:srgbClr val="FA0000"/>
                </a:solidFill>
                <a:latin typeface="Arial"/>
                <a:cs typeface="Arial"/>
              </a:rPr>
              <a:t> </a:t>
            </a:r>
            <a:r>
              <a:rPr sz="1000" spc="-10" dirty="0">
                <a:latin typeface="Arial"/>
                <a:cs typeface="Arial"/>
              </a:rPr>
              <a:t>failure</a:t>
            </a:r>
            <a:r>
              <a:rPr sz="1000" dirty="0">
                <a:latin typeface="Arial"/>
                <a:cs typeface="Arial"/>
              </a:rPr>
              <a:t> </a:t>
            </a:r>
            <a:r>
              <a:rPr sz="1000" spc="-5" dirty="0">
                <a:latin typeface="Arial"/>
                <a:cs typeface="Arial"/>
              </a:rPr>
              <a:t>semantics,</a:t>
            </a:r>
            <a:r>
              <a:rPr sz="1000" spc="5" dirty="0">
                <a:latin typeface="Arial"/>
                <a:cs typeface="Arial"/>
              </a:rPr>
              <a:t> </a:t>
            </a:r>
            <a:r>
              <a:rPr sz="1000" spc="-5" dirty="0">
                <a:latin typeface="Arial"/>
                <a:cs typeface="Arial"/>
              </a:rPr>
              <a:t>i.e.,</a:t>
            </a:r>
            <a:r>
              <a:rPr sz="1000" dirty="0">
                <a:latin typeface="Arial"/>
                <a:cs typeface="Arial"/>
              </a:rPr>
              <a:t> </a:t>
            </a:r>
            <a:r>
              <a:rPr sz="1000" spc="-5" dirty="0">
                <a:latin typeface="Arial"/>
                <a:cs typeface="Arial"/>
              </a:rPr>
              <a:t>with</a:t>
            </a:r>
            <a:r>
              <a:rPr sz="1000" dirty="0">
                <a:latin typeface="Arial"/>
                <a:cs typeface="Arial"/>
              </a:rPr>
              <a:t> </a:t>
            </a:r>
            <a:r>
              <a:rPr sz="1000" spc="-5" dirty="0">
                <a:solidFill>
                  <a:srgbClr val="0000FA"/>
                </a:solidFill>
                <a:latin typeface="Arial"/>
                <a:cs typeface="Arial"/>
              </a:rPr>
              <a:t>reliable</a:t>
            </a:r>
            <a:r>
              <a:rPr sz="1000" spc="5" dirty="0">
                <a:solidFill>
                  <a:srgbClr val="0000FA"/>
                </a:solidFill>
                <a:latin typeface="Arial"/>
                <a:cs typeface="Arial"/>
              </a:rPr>
              <a:t> </a:t>
            </a:r>
            <a:r>
              <a:rPr sz="1000" spc="-10" dirty="0">
                <a:solidFill>
                  <a:srgbClr val="0000FA"/>
                </a:solidFill>
                <a:latin typeface="Arial"/>
                <a:cs typeface="Arial"/>
              </a:rPr>
              <a:t>failure</a:t>
            </a:r>
            <a:r>
              <a:rPr sz="1000" dirty="0">
                <a:solidFill>
                  <a:srgbClr val="0000FA"/>
                </a:solidFill>
                <a:latin typeface="Arial"/>
                <a:cs typeface="Arial"/>
              </a:rPr>
              <a:t> </a:t>
            </a:r>
            <a:r>
              <a:rPr sz="1000" spc="-5" dirty="0">
                <a:solidFill>
                  <a:srgbClr val="0000FA"/>
                </a:solidFill>
                <a:latin typeface="Arial"/>
                <a:cs typeface="Arial"/>
              </a:rPr>
              <a:t>detection</a:t>
            </a:r>
            <a:endParaRPr sz="1000">
              <a:latin typeface="Arial"/>
              <a:cs typeface="Arial"/>
            </a:endParaRPr>
          </a:p>
          <a:p>
            <a:pPr marL="302260" indent="-168275">
              <a:lnSpc>
                <a:spcPct val="100000"/>
              </a:lnSpc>
              <a:spcBef>
                <a:spcPts val="595"/>
              </a:spcBef>
              <a:buClr>
                <a:srgbClr val="3333B2"/>
              </a:buClr>
              <a:buChar char="►"/>
              <a:tabLst>
                <a:tab pos="302895" algn="l"/>
              </a:tabLst>
            </a:pPr>
            <a:r>
              <a:rPr sz="1000" spc="-5" dirty="0">
                <a:latin typeface="Arial"/>
                <a:cs typeface="Arial"/>
              </a:rPr>
              <a:t>A client</a:t>
            </a:r>
            <a:r>
              <a:rPr sz="1000" dirty="0">
                <a:latin typeface="Arial"/>
                <a:cs typeface="Arial"/>
              </a:rPr>
              <a:t> </a:t>
            </a:r>
            <a:r>
              <a:rPr sz="1000" spc="-5" dirty="0">
                <a:latin typeface="Arial"/>
                <a:cs typeface="Arial"/>
              </a:rPr>
              <a:t>contacts</a:t>
            </a:r>
            <a:r>
              <a:rPr sz="1000" dirty="0">
                <a:latin typeface="Arial"/>
                <a:cs typeface="Arial"/>
              </a:rPr>
              <a:t> </a:t>
            </a:r>
            <a:r>
              <a:rPr sz="1000" spc="-5" dirty="0">
                <a:latin typeface="Arial"/>
                <a:cs typeface="Arial"/>
              </a:rPr>
              <a:t>a</a:t>
            </a:r>
            <a:r>
              <a:rPr sz="1000" dirty="0">
                <a:latin typeface="Arial"/>
                <a:cs typeface="Arial"/>
              </a:rPr>
              <a:t> </a:t>
            </a:r>
            <a:r>
              <a:rPr sz="1000" i="1" dirty="0">
                <a:latin typeface="Arial"/>
                <a:cs typeface="Arial"/>
              </a:rPr>
              <a:t>P</a:t>
            </a:r>
            <a:r>
              <a:rPr sz="1050" i="1" baseline="-15873" dirty="0">
                <a:latin typeface="Arial"/>
                <a:cs typeface="Arial"/>
              </a:rPr>
              <a:t>i</a:t>
            </a:r>
            <a:r>
              <a:rPr sz="1050" i="1" spc="22" baseline="-15873" dirty="0">
                <a:latin typeface="Arial"/>
                <a:cs typeface="Arial"/>
              </a:rPr>
              <a:t> </a:t>
            </a:r>
            <a:r>
              <a:rPr sz="1000" spc="-5" dirty="0">
                <a:latin typeface="Arial"/>
                <a:cs typeface="Arial"/>
              </a:rPr>
              <a:t>requesting</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to</a:t>
            </a:r>
            <a:r>
              <a:rPr sz="1000" dirty="0">
                <a:latin typeface="Arial"/>
                <a:cs typeface="Arial"/>
              </a:rPr>
              <a:t> </a:t>
            </a:r>
            <a:r>
              <a:rPr sz="1000" spc="-15" dirty="0">
                <a:latin typeface="Arial"/>
                <a:cs typeface="Arial"/>
              </a:rPr>
              <a:t>execute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command</a:t>
            </a:r>
            <a:endParaRPr sz="1000">
              <a:latin typeface="Arial"/>
              <a:cs typeface="Arial"/>
            </a:endParaRPr>
          </a:p>
          <a:p>
            <a:pPr marL="302260" indent="-168275">
              <a:lnSpc>
                <a:spcPct val="100000"/>
              </a:lnSpc>
              <a:spcBef>
                <a:spcPts val="590"/>
              </a:spcBef>
              <a:buClr>
                <a:srgbClr val="3333B2"/>
              </a:buClr>
              <a:buChar char="►"/>
              <a:tabLst>
                <a:tab pos="302895" algn="l"/>
              </a:tabLst>
            </a:pPr>
            <a:r>
              <a:rPr sz="1000" spc="-5" dirty="0">
                <a:latin typeface="Arial"/>
                <a:cs typeface="Arial"/>
              </a:rPr>
              <a:t>Every </a:t>
            </a:r>
            <a:r>
              <a:rPr sz="1000" i="1" dirty="0">
                <a:latin typeface="Arial"/>
                <a:cs typeface="Arial"/>
              </a:rPr>
              <a:t>P</a:t>
            </a:r>
            <a:r>
              <a:rPr sz="1050" i="1" baseline="-15873" dirty="0">
                <a:latin typeface="Arial"/>
                <a:cs typeface="Arial"/>
              </a:rPr>
              <a:t>i</a:t>
            </a:r>
            <a:r>
              <a:rPr sz="1050" i="1" spc="15" baseline="-15873" dirty="0">
                <a:latin typeface="Arial"/>
                <a:cs typeface="Arial"/>
              </a:rPr>
              <a:t> </a:t>
            </a:r>
            <a:r>
              <a:rPr sz="1000" spc="-5" dirty="0">
                <a:latin typeface="Arial"/>
                <a:cs typeface="Arial"/>
              </a:rPr>
              <a:t>maintains a</a:t>
            </a:r>
            <a:r>
              <a:rPr sz="1000" dirty="0">
                <a:latin typeface="Arial"/>
                <a:cs typeface="Arial"/>
              </a:rPr>
              <a:t> </a:t>
            </a:r>
            <a:r>
              <a:rPr sz="1000" spc="-5" dirty="0">
                <a:latin typeface="Arial"/>
                <a:cs typeface="Arial"/>
              </a:rPr>
              <a:t>list of</a:t>
            </a:r>
            <a:r>
              <a:rPr sz="1000" dirty="0">
                <a:latin typeface="Arial"/>
                <a:cs typeface="Arial"/>
              </a:rPr>
              <a:t> </a:t>
            </a:r>
            <a:r>
              <a:rPr sz="1000" spc="-5" dirty="0">
                <a:latin typeface="Arial"/>
                <a:cs typeface="Arial"/>
              </a:rPr>
              <a:t>proposed commands</a:t>
            </a:r>
            <a:endParaRPr sz="100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object 1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876550"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Consensus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 faulty systems with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crash failures</a:t>
            </a:r>
            <a:endParaRPr sz="600">
              <a:latin typeface="Arial"/>
              <a:cs typeface="Arial"/>
            </a:endParaRPr>
          </a:p>
        </p:txBody>
      </p:sp>
      <p:sp>
        <p:nvSpPr>
          <p:cNvPr id="3" name="object 3"/>
          <p:cNvSpPr txBox="1">
            <a:spLocks noGrp="1"/>
          </p:cNvSpPr>
          <p:nvPr>
            <p:ph type="title"/>
          </p:nvPr>
        </p:nvSpPr>
        <p:spPr>
          <a:xfrm>
            <a:off x="95300" y="188846"/>
            <a:ext cx="2202815" cy="244475"/>
          </a:xfrm>
          <a:prstGeom prst="rect">
            <a:avLst/>
          </a:prstGeom>
        </p:spPr>
        <p:txBody>
          <a:bodyPr vert="horz" wrap="square" lIns="0" tIns="17145" rIns="0" bIns="0" rtlCol="0">
            <a:spAutoFit/>
          </a:bodyPr>
          <a:lstStyle/>
          <a:p>
            <a:pPr marL="12700">
              <a:lnSpc>
                <a:spcPct val="100000"/>
              </a:lnSpc>
              <a:spcBef>
                <a:spcPts val="135"/>
              </a:spcBef>
            </a:pPr>
            <a:r>
              <a:rPr spc="15" dirty="0"/>
              <a:t>Flooding-based</a:t>
            </a:r>
            <a:r>
              <a:rPr spc="-30" dirty="0"/>
              <a:t> </a:t>
            </a:r>
            <a:r>
              <a:rPr spc="15" dirty="0"/>
              <a:t>consensus</a:t>
            </a:r>
          </a:p>
        </p:txBody>
      </p:sp>
      <p:sp>
        <p:nvSpPr>
          <p:cNvPr id="4" name="object 4"/>
          <p:cNvSpPr txBox="1"/>
          <p:nvPr/>
        </p:nvSpPr>
        <p:spPr>
          <a:xfrm>
            <a:off x="321894" y="463191"/>
            <a:ext cx="3708400" cy="1516380"/>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System</a:t>
            </a:r>
            <a:r>
              <a:rPr sz="1200" spc="-40" dirty="0">
                <a:solidFill>
                  <a:srgbClr val="3333B2"/>
                </a:solidFill>
                <a:latin typeface="Arial"/>
                <a:cs typeface="Arial"/>
              </a:rPr>
              <a:t> </a:t>
            </a:r>
            <a:r>
              <a:rPr sz="1200" spc="-5" dirty="0">
                <a:solidFill>
                  <a:srgbClr val="3333B2"/>
                </a:solidFill>
                <a:latin typeface="Arial"/>
                <a:cs typeface="Arial"/>
              </a:rPr>
              <a:t>model</a:t>
            </a:r>
            <a:endParaRPr sz="1200">
              <a:latin typeface="Arial"/>
              <a:cs typeface="Arial"/>
            </a:endParaRPr>
          </a:p>
          <a:p>
            <a:pPr marL="314960" indent="-168275">
              <a:lnSpc>
                <a:spcPct val="100000"/>
              </a:lnSpc>
              <a:spcBef>
                <a:spcPts val="780"/>
              </a:spcBef>
              <a:buClr>
                <a:srgbClr val="3333B2"/>
              </a:buClr>
              <a:buChar char="►"/>
              <a:tabLst>
                <a:tab pos="315595" algn="l"/>
              </a:tabLst>
            </a:pPr>
            <a:r>
              <a:rPr sz="1000" spc="-5" dirty="0">
                <a:latin typeface="Arial"/>
                <a:cs typeface="Arial"/>
              </a:rPr>
              <a:t>A process </a:t>
            </a:r>
            <a:r>
              <a:rPr sz="1000" spc="-15" dirty="0">
                <a:latin typeface="Arial"/>
                <a:cs typeface="Arial"/>
              </a:rPr>
              <a:t>g</a:t>
            </a:r>
            <a:r>
              <a:rPr sz="1000" spc="-5" dirty="0">
                <a:latin typeface="Arial"/>
                <a:cs typeface="Arial"/>
              </a:rPr>
              <a:t>roup </a:t>
            </a:r>
            <a:r>
              <a:rPr sz="1000" b="1" spc="-5" dirty="0">
                <a:latin typeface="Arial"/>
                <a:cs typeface="Arial"/>
              </a:rPr>
              <a:t>P</a:t>
            </a:r>
            <a:r>
              <a:rPr sz="1000" b="1" spc="-60" dirty="0">
                <a:latin typeface="Arial"/>
                <a:cs typeface="Arial"/>
              </a:rPr>
              <a:t> </a:t>
            </a:r>
            <a:r>
              <a:rPr sz="1000" spc="190" dirty="0">
                <a:latin typeface="Arial"/>
                <a:cs typeface="Arial"/>
              </a:rPr>
              <a:t>=</a:t>
            </a:r>
            <a:r>
              <a:rPr sz="1000" spc="-60" dirty="0">
                <a:latin typeface="Arial"/>
                <a:cs typeface="Arial"/>
              </a:rPr>
              <a:t> </a:t>
            </a:r>
            <a:r>
              <a:rPr sz="1000" i="1" spc="-105" dirty="0">
                <a:latin typeface="メイリオ"/>
                <a:cs typeface="メイリオ"/>
              </a:rPr>
              <a:t>{</a:t>
            </a:r>
            <a:r>
              <a:rPr sz="1000" i="1" spc="-5" dirty="0">
                <a:latin typeface="Arial"/>
                <a:cs typeface="Arial"/>
              </a:rPr>
              <a:t>P</a:t>
            </a:r>
            <a:r>
              <a:rPr sz="1050" i="1" spc="97" baseline="-15873" dirty="0">
                <a:latin typeface="Arial"/>
                <a:cs typeface="Arial"/>
              </a:rPr>
              <a:t>1</a:t>
            </a:r>
            <a:r>
              <a:rPr sz="1000" i="1" spc="105" dirty="0">
                <a:latin typeface="Arial"/>
                <a:cs typeface="Arial"/>
              </a:rPr>
              <a:t>,...</a:t>
            </a:r>
            <a:r>
              <a:rPr sz="1000" i="1" spc="-5" dirty="0">
                <a:latin typeface="Arial"/>
                <a:cs typeface="Arial"/>
              </a:rPr>
              <a:t>,</a:t>
            </a:r>
            <a:r>
              <a:rPr sz="1000" i="1" spc="-170" dirty="0">
                <a:latin typeface="Arial"/>
                <a:cs typeface="Arial"/>
              </a:rPr>
              <a:t> </a:t>
            </a:r>
            <a:r>
              <a:rPr sz="1000" i="1" spc="-5" dirty="0">
                <a:latin typeface="Arial"/>
                <a:cs typeface="Arial"/>
              </a:rPr>
              <a:t>P</a:t>
            </a:r>
            <a:r>
              <a:rPr sz="1050" i="1" spc="120" baseline="-11904" dirty="0">
                <a:latin typeface="Arial"/>
                <a:cs typeface="Arial"/>
              </a:rPr>
              <a:t>n</a:t>
            </a:r>
            <a:r>
              <a:rPr sz="1000" i="1" spc="-105" dirty="0">
                <a:latin typeface="メイリオ"/>
                <a:cs typeface="メイリオ"/>
              </a:rPr>
              <a:t>}</a:t>
            </a:r>
            <a:endParaRPr sz="1000">
              <a:latin typeface="メイリオ"/>
              <a:cs typeface="メイリオ"/>
            </a:endParaRPr>
          </a:p>
          <a:p>
            <a:pPr marL="314960" indent="-168275">
              <a:lnSpc>
                <a:spcPct val="100000"/>
              </a:lnSpc>
              <a:spcBef>
                <a:spcPts val="590"/>
              </a:spcBef>
              <a:buClr>
                <a:srgbClr val="3333B2"/>
              </a:buClr>
              <a:buChar char="►"/>
              <a:tabLst>
                <a:tab pos="315595" algn="l"/>
              </a:tabLst>
            </a:pPr>
            <a:r>
              <a:rPr sz="1000" spc="-10" dirty="0">
                <a:solidFill>
                  <a:srgbClr val="FA0000"/>
                </a:solidFill>
                <a:latin typeface="Arial"/>
                <a:cs typeface="Arial"/>
              </a:rPr>
              <a:t>Fail-stop</a:t>
            </a:r>
            <a:r>
              <a:rPr sz="1000" dirty="0">
                <a:solidFill>
                  <a:srgbClr val="FA0000"/>
                </a:solidFill>
                <a:latin typeface="Arial"/>
                <a:cs typeface="Arial"/>
              </a:rPr>
              <a:t> </a:t>
            </a:r>
            <a:r>
              <a:rPr sz="1000" spc="-10" dirty="0">
                <a:latin typeface="Arial"/>
                <a:cs typeface="Arial"/>
              </a:rPr>
              <a:t>failure</a:t>
            </a:r>
            <a:r>
              <a:rPr sz="1000" dirty="0">
                <a:latin typeface="Arial"/>
                <a:cs typeface="Arial"/>
              </a:rPr>
              <a:t> </a:t>
            </a:r>
            <a:r>
              <a:rPr sz="1000" spc="-5" dirty="0">
                <a:latin typeface="Arial"/>
                <a:cs typeface="Arial"/>
              </a:rPr>
              <a:t>semantics,</a:t>
            </a:r>
            <a:r>
              <a:rPr sz="1000" dirty="0">
                <a:latin typeface="Arial"/>
                <a:cs typeface="Arial"/>
              </a:rPr>
              <a:t> </a:t>
            </a:r>
            <a:r>
              <a:rPr sz="1000" spc="-5" dirty="0">
                <a:latin typeface="Arial"/>
                <a:cs typeface="Arial"/>
              </a:rPr>
              <a:t>i.e.,</a:t>
            </a:r>
            <a:r>
              <a:rPr sz="1000" spc="5" dirty="0">
                <a:latin typeface="Arial"/>
                <a:cs typeface="Arial"/>
              </a:rPr>
              <a:t> </a:t>
            </a:r>
            <a:r>
              <a:rPr sz="1000" spc="-5" dirty="0">
                <a:latin typeface="Arial"/>
                <a:cs typeface="Arial"/>
              </a:rPr>
              <a:t>with</a:t>
            </a:r>
            <a:r>
              <a:rPr sz="1000" dirty="0">
                <a:latin typeface="Arial"/>
                <a:cs typeface="Arial"/>
              </a:rPr>
              <a:t> </a:t>
            </a:r>
            <a:r>
              <a:rPr sz="1000" spc="-5" dirty="0">
                <a:solidFill>
                  <a:srgbClr val="0000FA"/>
                </a:solidFill>
                <a:latin typeface="Arial"/>
                <a:cs typeface="Arial"/>
              </a:rPr>
              <a:t>reliable</a:t>
            </a:r>
            <a:r>
              <a:rPr sz="1000" dirty="0">
                <a:solidFill>
                  <a:srgbClr val="0000FA"/>
                </a:solidFill>
                <a:latin typeface="Arial"/>
                <a:cs typeface="Arial"/>
              </a:rPr>
              <a:t> </a:t>
            </a:r>
            <a:r>
              <a:rPr sz="1000" spc="-10" dirty="0">
                <a:solidFill>
                  <a:srgbClr val="0000FA"/>
                </a:solidFill>
                <a:latin typeface="Arial"/>
                <a:cs typeface="Arial"/>
              </a:rPr>
              <a:t>failure</a:t>
            </a:r>
            <a:r>
              <a:rPr sz="1000" spc="5" dirty="0">
                <a:solidFill>
                  <a:srgbClr val="0000FA"/>
                </a:solidFill>
                <a:latin typeface="Arial"/>
                <a:cs typeface="Arial"/>
              </a:rPr>
              <a:t> </a:t>
            </a:r>
            <a:r>
              <a:rPr sz="1000" spc="-5" dirty="0">
                <a:solidFill>
                  <a:srgbClr val="0000FA"/>
                </a:solidFill>
                <a:latin typeface="Arial"/>
                <a:cs typeface="Arial"/>
              </a:rPr>
              <a:t>detection</a:t>
            </a:r>
            <a:endParaRPr sz="1000">
              <a:latin typeface="Arial"/>
              <a:cs typeface="Arial"/>
            </a:endParaRPr>
          </a:p>
          <a:p>
            <a:pPr marL="314960" indent="-168275">
              <a:lnSpc>
                <a:spcPct val="100000"/>
              </a:lnSpc>
              <a:spcBef>
                <a:spcPts val="595"/>
              </a:spcBef>
              <a:buClr>
                <a:srgbClr val="3333B2"/>
              </a:buClr>
              <a:buChar char="►"/>
              <a:tabLst>
                <a:tab pos="315595" algn="l"/>
              </a:tabLst>
            </a:pPr>
            <a:r>
              <a:rPr sz="1000" spc="-5" dirty="0">
                <a:latin typeface="Arial"/>
                <a:cs typeface="Arial"/>
              </a:rPr>
              <a:t>A client</a:t>
            </a:r>
            <a:r>
              <a:rPr sz="1000" dirty="0">
                <a:latin typeface="Arial"/>
                <a:cs typeface="Arial"/>
              </a:rPr>
              <a:t> </a:t>
            </a:r>
            <a:r>
              <a:rPr sz="1000" spc="-5" dirty="0">
                <a:latin typeface="Arial"/>
                <a:cs typeface="Arial"/>
              </a:rPr>
              <a:t>contacts</a:t>
            </a:r>
            <a:r>
              <a:rPr sz="1000" dirty="0">
                <a:latin typeface="Arial"/>
                <a:cs typeface="Arial"/>
              </a:rPr>
              <a:t> </a:t>
            </a:r>
            <a:r>
              <a:rPr sz="1000" spc="-5" dirty="0">
                <a:latin typeface="Arial"/>
                <a:cs typeface="Arial"/>
              </a:rPr>
              <a:t>a</a:t>
            </a:r>
            <a:r>
              <a:rPr sz="1000" dirty="0">
                <a:latin typeface="Arial"/>
                <a:cs typeface="Arial"/>
              </a:rPr>
              <a:t> </a:t>
            </a:r>
            <a:r>
              <a:rPr sz="1000" i="1" dirty="0">
                <a:latin typeface="Arial"/>
                <a:cs typeface="Arial"/>
              </a:rPr>
              <a:t>P</a:t>
            </a:r>
            <a:r>
              <a:rPr sz="1050" i="1" baseline="-15873" dirty="0">
                <a:latin typeface="Arial"/>
                <a:cs typeface="Arial"/>
              </a:rPr>
              <a:t>i</a:t>
            </a:r>
            <a:r>
              <a:rPr sz="1050" i="1" spc="22" baseline="-15873" dirty="0">
                <a:latin typeface="Arial"/>
                <a:cs typeface="Arial"/>
              </a:rPr>
              <a:t> </a:t>
            </a:r>
            <a:r>
              <a:rPr sz="1000" spc="-5" dirty="0">
                <a:latin typeface="Arial"/>
                <a:cs typeface="Arial"/>
              </a:rPr>
              <a:t>requesting</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to</a:t>
            </a:r>
            <a:r>
              <a:rPr sz="1000" dirty="0">
                <a:latin typeface="Arial"/>
                <a:cs typeface="Arial"/>
              </a:rPr>
              <a:t> </a:t>
            </a:r>
            <a:r>
              <a:rPr sz="1000" spc="-15" dirty="0">
                <a:latin typeface="Arial"/>
                <a:cs typeface="Arial"/>
              </a:rPr>
              <a:t>execute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command</a:t>
            </a:r>
            <a:endParaRPr sz="1000">
              <a:latin typeface="Arial"/>
              <a:cs typeface="Arial"/>
            </a:endParaRPr>
          </a:p>
          <a:p>
            <a:pPr marL="314960" indent="-168275">
              <a:lnSpc>
                <a:spcPct val="100000"/>
              </a:lnSpc>
              <a:spcBef>
                <a:spcPts val="590"/>
              </a:spcBef>
              <a:buClr>
                <a:srgbClr val="3333B2"/>
              </a:buClr>
              <a:buChar char="►"/>
              <a:tabLst>
                <a:tab pos="315595" algn="l"/>
              </a:tabLst>
            </a:pPr>
            <a:r>
              <a:rPr sz="1000" spc="-5" dirty="0">
                <a:latin typeface="Arial"/>
                <a:cs typeface="Arial"/>
              </a:rPr>
              <a:t>Every </a:t>
            </a:r>
            <a:r>
              <a:rPr sz="1000" i="1" dirty="0">
                <a:latin typeface="Arial"/>
                <a:cs typeface="Arial"/>
              </a:rPr>
              <a:t>P</a:t>
            </a:r>
            <a:r>
              <a:rPr sz="1050" i="1" baseline="-15873" dirty="0">
                <a:latin typeface="Arial"/>
                <a:cs typeface="Arial"/>
              </a:rPr>
              <a:t>i</a:t>
            </a:r>
            <a:r>
              <a:rPr sz="1050" i="1" spc="15" baseline="-15873" dirty="0">
                <a:latin typeface="Arial"/>
                <a:cs typeface="Arial"/>
              </a:rPr>
              <a:t> </a:t>
            </a:r>
            <a:r>
              <a:rPr sz="1000" spc="-5" dirty="0">
                <a:latin typeface="Arial"/>
                <a:cs typeface="Arial"/>
              </a:rPr>
              <a:t>maintains a</a:t>
            </a:r>
            <a:r>
              <a:rPr sz="1000" dirty="0">
                <a:latin typeface="Arial"/>
                <a:cs typeface="Arial"/>
              </a:rPr>
              <a:t> </a:t>
            </a:r>
            <a:r>
              <a:rPr sz="1000" spc="-5" dirty="0">
                <a:latin typeface="Arial"/>
                <a:cs typeface="Arial"/>
              </a:rPr>
              <a:t>list of</a:t>
            </a:r>
            <a:r>
              <a:rPr sz="1000" dirty="0">
                <a:latin typeface="Arial"/>
                <a:cs typeface="Arial"/>
              </a:rPr>
              <a:t> </a:t>
            </a:r>
            <a:r>
              <a:rPr sz="1000" spc="-5" dirty="0">
                <a:latin typeface="Arial"/>
                <a:cs typeface="Arial"/>
              </a:rPr>
              <a:t>proposed commands</a:t>
            </a:r>
            <a:endParaRPr sz="1000">
              <a:latin typeface="Arial"/>
              <a:cs typeface="Arial"/>
            </a:endParaRPr>
          </a:p>
          <a:p>
            <a:pPr>
              <a:lnSpc>
                <a:spcPct val="100000"/>
              </a:lnSpc>
              <a:spcBef>
                <a:spcPts val="10"/>
              </a:spcBef>
            </a:pPr>
            <a:endParaRPr sz="1300">
              <a:latin typeface="Arial"/>
              <a:cs typeface="Arial"/>
            </a:endParaRPr>
          </a:p>
          <a:p>
            <a:pPr marL="38100">
              <a:lnSpc>
                <a:spcPct val="100000"/>
              </a:lnSpc>
            </a:pPr>
            <a:r>
              <a:rPr sz="1200" spc="-5" dirty="0">
                <a:solidFill>
                  <a:srgbClr val="3333B2"/>
                </a:solidFill>
                <a:latin typeface="Arial"/>
                <a:cs typeface="Arial"/>
              </a:rPr>
              <a:t>Basic</a:t>
            </a:r>
            <a:r>
              <a:rPr sz="1200" spc="-10" dirty="0">
                <a:solidFill>
                  <a:srgbClr val="3333B2"/>
                </a:solidFill>
                <a:latin typeface="Arial"/>
                <a:cs typeface="Arial"/>
              </a:rPr>
              <a:t> </a:t>
            </a:r>
            <a:r>
              <a:rPr sz="1200" spc="-5" dirty="0">
                <a:solidFill>
                  <a:srgbClr val="3333B2"/>
                </a:solidFill>
                <a:latin typeface="Arial"/>
                <a:cs typeface="Arial"/>
              </a:rPr>
              <a:t>algorithm (based on rounds)</a:t>
            </a:r>
            <a:endParaRPr sz="1200">
              <a:latin typeface="Arial"/>
              <a:cs typeface="Arial"/>
            </a:endParaRPr>
          </a:p>
        </p:txBody>
      </p:sp>
      <p:sp>
        <p:nvSpPr>
          <p:cNvPr id="5" name="object 5"/>
          <p:cNvSpPr txBox="1"/>
          <p:nvPr/>
        </p:nvSpPr>
        <p:spPr>
          <a:xfrm>
            <a:off x="3652100" y="2129925"/>
            <a:ext cx="51435" cy="137795"/>
          </a:xfrm>
          <a:prstGeom prst="rect">
            <a:avLst/>
          </a:prstGeom>
        </p:spPr>
        <p:txBody>
          <a:bodyPr vert="horz" wrap="square" lIns="0" tIns="17145" rIns="0" bIns="0" rtlCol="0">
            <a:spAutoFit/>
          </a:bodyPr>
          <a:lstStyle/>
          <a:p>
            <a:pPr marL="12700">
              <a:lnSpc>
                <a:spcPct val="100000"/>
              </a:lnSpc>
              <a:spcBef>
                <a:spcPts val="135"/>
              </a:spcBef>
            </a:pPr>
            <a:r>
              <a:rPr sz="700" b="1" spc="10" dirty="0">
                <a:latin typeface="Arial"/>
                <a:cs typeface="Arial"/>
              </a:rPr>
              <a:t>i</a:t>
            </a:r>
            <a:endParaRPr sz="700">
              <a:latin typeface="Arial"/>
              <a:cs typeface="Arial"/>
            </a:endParaRPr>
          </a:p>
        </p:txBody>
      </p:sp>
      <p:sp>
        <p:nvSpPr>
          <p:cNvPr id="6" name="object 6"/>
          <p:cNvSpPr txBox="1"/>
          <p:nvPr/>
        </p:nvSpPr>
        <p:spPr>
          <a:xfrm>
            <a:off x="424192" y="2054407"/>
            <a:ext cx="3623945" cy="177800"/>
          </a:xfrm>
          <a:prstGeom prst="rect">
            <a:avLst/>
          </a:prstGeom>
        </p:spPr>
        <p:txBody>
          <a:bodyPr vert="horz" wrap="square" lIns="0" tIns="12065" rIns="0" bIns="0" rtlCol="0">
            <a:spAutoFit/>
          </a:bodyPr>
          <a:lstStyle/>
          <a:p>
            <a:pPr marL="38100">
              <a:lnSpc>
                <a:spcPct val="100000"/>
              </a:lnSpc>
              <a:spcBef>
                <a:spcPts val="95"/>
              </a:spcBef>
            </a:pPr>
            <a:r>
              <a:rPr sz="1000" spc="-5" dirty="0">
                <a:solidFill>
                  <a:srgbClr val="3333B2"/>
                </a:solidFill>
                <a:latin typeface="Arial"/>
                <a:cs typeface="Arial"/>
              </a:rPr>
              <a:t>1.</a:t>
            </a:r>
            <a:r>
              <a:rPr sz="1000" spc="270" dirty="0">
                <a:solidFill>
                  <a:srgbClr val="3333B2"/>
                </a:solidFill>
                <a:latin typeface="Arial"/>
                <a:cs typeface="Arial"/>
              </a:rPr>
              <a:t> </a:t>
            </a:r>
            <a:r>
              <a:rPr sz="1000" spc="-5" dirty="0">
                <a:latin typeface="Arial"/>
                <a:cs typeface="Arial"/>
              </a:rPr>
              <a:t>In</a:t>
            </a:r>
            <a:r>
              <a:rPr sz="1000" dirty="0">
                <a:latin typeface="Arial"/>
                <a:cs typeface="Arial"/>
              </a:rPr>
              <a:t> </a:t>
            </a:r>
            <a:r>
              <a:rPr sz="1000" spc="-5" dirty="0">
                <a:solidFill>
                  <a:srgbClr val="FA0000"/>
                </a:solidFill>
                <a:latin typeface="Arial"/>
                <a:cs typeface="Arial"/>
              </a:rPr>
              <a:t>round</a:t>
            </a:r>
            <a:r>
              <a:rPr sz="1000" dirty="0">
                <a:solidFill>
                  <a:srgbClr val="FA0000"/>
                </a:solidFill>
                <a:latin typeface="Arial"/>
                <a:cs typeface="Arial"/>
              </a:rPr>
              <a:t> </a:t>
            </a:r>
            <a:r>
              <a:rPr sz="1000" i="1" spc="-5" dirty="0">
                <a:latin typeface="Arial"/>
                <a:cs typeface="Arial"/>
              </a:rPr>
              <a:t>r</a:t>
            </a:r>
            <a:r>
              <a:rPr sz="1000" i="1" spc="-170" dirty="0">
                <a:latin typeface="Arial"/>
                <a:cs typeface="Arial"/>
              </a:rPr>
              <a:t> </a:t>
            </a:r>
            <a:r>
              <a:rPr sz="1000" spc="-5" dirty="0">
                <a:latin typeface="Arial"/>
                <a:cs typeface="Arial"/>
              </a:rPr>
              <a:t>,</a:t>
            </a:r>
            <a:r>
              <a:rPr sz="1000" dirty="0">
                <a:latin typeface="Arial"/>
                <a:cs typeface="Arial"/>
              </a:rPr>
              <a:t> </a:t>
            </a:r>
            <a:r>
              <a:rPr sz="1000" i="1" dirty="0">
                <a:latin typeface="Arial"/>
                <a:cs typeface="Arial"/>
              </a:rPr>
              <a:t>P</a:t>
            </a:r>
            <a:r>
              <a:rPr sz="1050" i="1" baseline="-15873" dirty="0">
                <a:latin typeface="Arial"/>
                <a:cs typeface="Arial"/>
              </a:rPr>
              <a:t>i</a:t>
            </a:r>
            <a:r>
              <a:rPr sz="1050" i="1" spc="292" baseline="-15873" dirty="0">
                <a:latin typeface="Arial"/>
                <a:cs typeface="Arial"/>
              </a:rPr>
              <a:t> </a:t>
            </a:r>
            <a:r>
              <a:rPr sz="1000" spc="-5" dirty="0">
                <a:latin typeface="Arial"/>
                <a:cs typeface="Arial"/>
              </a:rPr>
              <a:t>multicasts</a:t>
            </a:r>
            <a:r>
              <a:rPr sz="1000" dirty="0">
                <a:latin typeface="Arial"/>
                <a:cs typeface="Arial"/>
              </a:rPr>
              <a:t> </a:t>
            </a:r>
            <a:r>
              <a:rPr sz="1000" spc="-5" dirty="0">
                <a:latin typeface="Arial"/>
                <a:cs typeface="Arial"/>
              </a:rPr>
              <a:t>its</a:t>
            </a:r>
            <a:r>
              <a:rPr sz="1000" dirty="0">
                <a:latin typeface="Arial"/>
                <a:cs typeface="Arial"/>
              </a:rPr>
              <a:t> </a:t>
            </a:r>
            <a:r>
              <a:rPr sz="1000" spc="-10" dirty="0">
                <a:latin typeface="Arial"/>
                <a:cs typeface="Arial"/>
              </a:rPr>
              <a:t>known</a:t>
            </a:r>
            <a:r>
              <a:rPr sz="1000" spc="-5" dirty="0">
                <a:latin typeface="Arial"/>
                <a:cs typeface="Arial"/>
              </a:rPr>
              <a:t> set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commands </a:t>
            </a:r>
            <a:r>
              <a:rPr sz="1000" b="1" spc="5" dirty="0">
                <a:latin typeface="Arial"/>
                <a:cs typeface="Arial"/>
              </a:rPr>
              <a:t>C</a:t>
            </a:r>
            <a:r>
              <a:rPr sz="1050" b="1" spc="7" baseline="27777" dirty="0">
                <a:latin typeface="Arial"/>
                <a:cs typeface="Arial"/>
              </a:rPr>
              <a:t>r</a:t>
            </a:r>
            <a:r>
              <a:rPr sz="1050" b="1" spc="202" baseline="27777"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all</a:t>
            </a:r>
            <a:endParaRPr sz="1000">
              <a:latin typeface="Arial"/>
              <a:cs typeface="Arial"/>
            </a:endParaRPr>
          </a:p>
        </p:txBody>
      </p:sp>
      <p:sp>
        <p:nvSpPr>
          <p:cNvPr id="7" name="object 7"/>
          <p:cNvSpPr txBox="1"/>
          <p:nvPr/>
        </p:nvSpPr>
        <p:spPr>
          <a:xfrm>
            <a:off x="411492" y="2130342"/>
            <a:ext cx="3712845" cy="481330"/>
          </a:xfrm>
          <a:prstGeom prst="rect">
            <a:avLst/>
          </a:prstGeom>
        </p:spPr>
        <p:txBody>
          <a:bodyPr vert="horz" wrap="square" lIns="0" tIns="87630" rIns="0" bIns="0" rtlCol="0">
            <a:spAutoFit/>
          </a:bodyPr>
          <a:lstStyle/>
          <a:p>
            <a:pPr marL="225425">
              <a:lnSpc>
                <a:spcPct val="100000"/>
              </a:lnSpc>
              <a:spcBef>
                <a:spcPts val="690"/>
              </a:spcBef>
            </a:pPr>
            <a:r>
              <a:rPr sz="1000" spc="-5" dirty="0">
                <a:latin typeface="Arial"/>
                <a:cs typeface="Arial"/>
              </a:rPr>
              <a:t>others</a:t>
            </a:r>
            <a:endParaRPr sz="1000">
              <a:latin typeface="Arial"/>
              <a:cs typeface="Arial"/>
            </a:endParaRPr>
          </a:p>
          <a:p>
            <a:pPr marL="50800">
              <a:lnSpc>
                <a:spcPct val="100000"/>
              </a:lnSpc>
              <a:spcBef>
                <a:spcPts val="595"/>
              </a:spcBef>
            </a:pPr>
            <a:r>
              <a:rPr sz="1000" spc="-5" dirty="0">
                <a:solidFill>
                  <a:srgbClr val="3333B2"/>
                </a:solidFill>
                <a:latin typeface="Arial"/>
                <a:cs typeface="Arial"/>
              </a:rPr>
              <a:t>2.</a:t>
            </a:r>
            <a:r>
              <a:rPr sz="1000" spc="270" dirty="0">
                <a:solidFill>
                  <a:srgbClr val="3333B2"/>
                </a:solidFill>
                <a:latin typeface="Arial"/>
                <a:cs typeface="Arial"/>
              </a:rPr>
              <a:t> </a:t>
            </a:r>
            <a:r>
              <a:rPr sz="1000" spc="-5" dirty="0">
                <a:latin typeface="Arial"/>
                <a:cs typeface="Arial"/>
              </a:rPr>
              <a:t>At the</a:t>
            </a:r>
            <a:r>
              <a:rPr sz="1000" dirty="0">
                <a:latin typeface="Arial"/>
                <a:cs typeface="Arial"/>
              </a:rPr>
              <a:t> </a:t>
            </a:r>
            <a:r>
              <a:rPr sz="1000" spc="-5" dirty="0">
                <a:latin typeface="Arial"/>
                <a:cs typeface="Arial"/>
              </a:rPr>
              <a:t>end of </a:t>
            </a:r>
            <a:r>
              <a:rPr sz="1000" i="1" spc="-5" dirty="0">
                <a:latin typeface="Arial"/>
                <a:cs typeface="Arial"/>
              </a:rPr>
              <a:t>r</a:t>
            </a:r>
            <a:r>
              <a:rPr sz="1000" i="1" spc="-170" dirty="0">
                <a:latin typeface="Arial"/>
                <a:cs typeface="Arial"/>
              </a:rPr>
              <a:t> </a:t>
            </a:r>
            <a:r>
              <a:rPr sz="1000" spc="-5" dirty="0">
                <a:latin typeface="Arial"/>
                <a:cs typeface="Arial"/>
              </a:rPr>
              <a:t>,</a:t>
            </a:r>
            <a:r>
              <a:rPr sz="1000" dirty="0">
                <a:latin typeface="Arial"/>
                <a:cs typeface="Arial"/>
              </a:rPr>
              <a:t> </a:t>
            </a:r>
            <a:r>
              <a:rPr sz="1000" spc="-5" dirty="0">
                <a:latin typeface="Arial"/>
                <a:cs typeface="Arial"/>
              </a:rPr>
              <a:t>each </a:t>
            </a:r>
            <a:r>
              <a:rPr sz="1000" i="1" dirty="0">
                <a:latin typeface="Arial"/>
                <a:cs typeface="Arial"/>
              </a:rPr>
              <a:t>P</a:t>
            </a:r>
            <a:r>
              <a:rPr sz="1050" i="1" baseline="-15873" dirty="0">
                <a:latin typeface="Arial"/>
                <a:cs typeface="Arial"/>
              </a:rPr>
              <a:t>i</a:t>
            </a:r>
            <a:r>
              <a:rPr sz="1050" i="1" spc="300" baseline="-15873" dirty="0">
                <a:latin typeface="Arial"/>
                <a:cs typeface="Arial"/>
              </a:rPr>
              <a:t> </a:t>
            </a:r>
            <a:r>
              <a:rPr sz="1000" spc="-5" dirty="0">
                <a:latin typeface="Arial"/>
                <a:cs typeface="Arial"/>
              </a:rPr>
              <a:t>merges all received</a:t>
            </a:r>
            <a:r>
              <a:rPr sz="1000" dirty="0">
                <a:latin typeface="Arial"/>
                <a:cs typeface="Arial"/>
              </a:rPr>
              <a:t> </a:t>
            </a:r>
            <a:r>
              <a:rPr sz="1000" spc="-5" dirty="0">
                <a:latin typeface="Arial"/>
                <a:cs typeface="Arial"/>
              </a:rPr>
              <a:t>commands into a</a:t>
            </a:r>
            <a:endParaRPr sz="1000">
              <a:latin typeface="Arial"/>
              <a:cs typeface="Arial"/>
            </a:endParaRPr>
          </a:p>
        </p:txBody>
      </p:sp>
      <p:sp>
        <p:nvSpPr>
          <p:cNvPr id="8" name="object 8"/>
          <p:cNvSpPr txBox="1"/>
          <p:nvPr/>
        </p:nvSpPr>
        <p:spPr>
          <a:xfrm>
            <a:off x="980427" y="2663732"/>
            <a:ext cx="51435" cy="137795"/>
          </a:xfrm>
          <a:prstGeom prst="rect">
            <a:avLst/>
          </a:prstGeom>
        </p:spPr>
        <p:txBody>
          <a:bodyPr vert="horz" wrap="square" lIns="0" tIns="17145" rIns="0" bIns="0" rtlCol="0">
            <a:spAutoFit/>
          </a:bodyPr>
          <a:lstStyle/>
          <a:p>
            <a:pPr marL="12700">
              <a:lnSpc>
                <a:spcPct val="100000"/>
              </a:lnSpc>
              <a:spcBef>
                <a:spcPts val="135"/>
              </a:spcBef>
            </a:pPr>
            <a:r>
              <a:rPr sz="700" b="1" spc="10" dirty="0">
                <a:latin typeface="Arial"/>
                <a:cs typeface="Arial"/>
              </a:rPr>
              <a:t>i</a:t>
            </a:r>
            <a:endParaRPr sz="700">
              <a:latin typeface="Arial"/>
              <a:cs typeface="Arial"/>
            </a:endParaRPr>
          </a:p>
        </p:txBody>
      </p:sp>
      <p:sp>
        <p:nvSpPr>
          <p:cNvPr id="9" name="object 9"/>
          <p:cNvSpPr txBox="1"/>
          <p:nvPr/>
        </p:nvSpPr>
        <p:spPr>
          <a:xfrm>
            <a:off x="598995" y="2585814"/>
            <a:ext cx="635635" cy="177800"/>
          </a:xfrm>
          <a:prstGeom prst="rect">
            <a:avLst/>
          </a:prstGeom>
        </p:spPr>
        <p:txBody>
          <a:bodyPr vert="horz" wrap="square" lIns="0" tIns="12065" rIns="0" bIns="0" rtlCol="0">
            <a:spAutoFit/>
          </a:bodyPr>
          <a:lstStyle/>
          <a:p>
            <a:pPr marL="38100">
              <a:lnSpc>
                <a:spcPct val="100000"/>
              </a:lnSpc>
              <a:spcBef>
                <a:spcPts val="95"/>
              </a:spcBef>
            </a:pPr>
            <a:r>
              <a:rPr sz="1000" spc="-10" dirty="0">
                <a:latin typeface="Arial"/>
                <a:cs typeface="Arial"/>
              </a:rPr>
              <a:t>new</a:t>
            </a:r>
            <a:r>
              <a:rPr sz="1000" spc="-45" dirty="0">
                <a:latin typeface="Arial"/>
                <a:cs typeface="Arial"/>
              </a:rPr>
              <a:t> </a:t>
            </a:r>
            <a:r>
              <a:rPr sz="1000" b="1" spc="45" dirty="0">
                <a:latin typeface="Arial"/>
                <a:cs typeface="Arial"/>
              </a:rPr>
              <a:t>C</a:t>
            </a:r>
            <a:r>
              <a:rPr sz="1050" b="1" spc="67" baseline="31746" dirty="0">
                <a:latin typeface="Arial"/>
                <a:cs typeface="Arial"/>
              </a:rPr>
              <a:t>r</a:t>
            </a:r>
            <a:r>
              <a:rPr sz="1050" spc="67" baseline="31746" dirty="0">
                <a:latin typeface="Arial"/>
                <a:cs typeface="Arial"/>
              </a:rPr>
              <a:t>+</a:t>
            </a:r>
            <a:r>
              <a:rPr sz="1050" b="1" spc="67" baseline="31746" dirty="0">
                <a:latin typeface="Arial"/>
                <a:cs typeface="Arial"/>
              </a:rPr>
              <a:t>1</a:t>
            </a:r>
            <a:r>
              <a:rPr sz="1000" spc="45" dirty="0">
                <a:latin typeface="Arial"/>
                <a:cs typeface="Arial"/>
              </a:rPr>
              <a:t>.</a:t>
            </a:r>
            <a:endParaRPr sz="1000">
              <a:latin typeface="Arial"/>
              <a:cs typeface="Arial"/>
            </a:endParaRPr>
          </a:p>
        </p:txBody>
      </p:sp>
      <p:sp>
        <p:nvSpPr>
          <p:cNvPr id="10" name="object 10"/>
          <p:cNvSpPr txBox="1"/>
          <p:nvPr/>
        </p:nvSpPr>
        <p:spPr>
          <a:xfrm>
            <a:off x="424192" y="2813563"/>
            <a:ext cx="3404870" cy="177800"/>
          </a:xfrm>
          <a:prstGeom prst="rect">
            <a:avLst/>
          </a:prstGeom>
        </p:spPr>
        <p:txBody>
          <a:bodyPr vert="horz" wrap="square" lIns="0" tIns="12065" rIns="0" bIns="0" rtlCol="0">
            <a:spAutoFit/>
          </a:bodyPr>
          <a:lstStyle/>
          <a:p>
            <a:pPr marL="38100">
              <a:lnSpc>
                <a:spcPct val="100000"/>
              </a:lnSpc>
              <a:spcBef>
                <a:spcPts val="95"/>
              </a:spcBef>
            </a:pPr>
            <a:r>
              <a:rPr sz="1000" spc="-5" dirty="0">
                <a:solidFill>
                  <a:srgbClr val="3333B2"/>
                </a:solidFill>
                <a:latin typeface="Arial"/>
                <a:cs typeface="Arial"/>
              </a:rPr>
              <a:t>3.</a:t>
            </a:r>
            <a:r>
              <a:rPr sz="1000" spc="270" dirty="0">
                <a:solidFill>
                  <a:srgbClr val="3333B2"/>
                </a:solidFill>
                <a:latin typeface="Arial"/>
                <a:cs typeface="Arial"/>
              </a:rPr>
              <a:t> </a:t>
            </a:r>
            <a:r>
              <a:rPr sz="1000" spc="-10" dirty="0">
                <a:latin typeface="Arial"/>
                <a:cs typeface="Arial"/>
              </a:rPr>
              <a:t>Next</a:t>
            </a:r>
            <a:r>
              <a:rPr sz="1000" dirty="0">
                <a:latin typeface="Arial"/>
                <a:cs typeface="Arial"/>
              </a:rPr>
              <a:t> </a:t>
            </a:r>
            <a:r>
              <a:rPr sz="1000" spc="-5" dirty="0">
                <a:latin typeface="Arial"/>
                <a:cs typeface="Arial"/>
              </a:rPr>
              <a:t>command </a:t>
            </a:r>
            <a:r>
              <a:rPr sz="1000" i="1" dirty="0">
                <a:latin typeface="Arial"/>
                <a:cs typeface="Arial"/>
              </a:rPr>
              <a:t>cmd</a:t>
            </a:r>
            <a:r>
              <a:rPr sz="1050" i="1" baseline="-15873" dirty="0">
                <a:latin typeface="Arial"/>
                <a:cs typeface="Arial"/>
              </a:rPr>
              <a:t>i</a:t>
            </a:r>
            <a:r>
              <a:rPr sz="1050" i="1" spc="300" baseline="-15873" dirty="0">
                <a:latin typeface="Arial"/>
                <a:cs typeface="Arial"/>
              </a:rPr>
              <a:t> </a:t>
            </a:r>
            <a:r>
              <a:rPr sz="1000" spc="-5" dirty="0">
                <a:latin typeface="Arial"/>
                <a:cs typeface="Arial"/>
              </a:rPr>
              <a:t>selected through</a:t>
            </a:r>
            <a:r>
              <a:rPr sz="1000" dirty="0">
                <a:latin typeface="Arial"/>
                <a:cs typeface="Arial"/>
              </a:rPr>
              <a:t> </a:t>
            </a:r>
            <a:r>
              <a:rPr sz="1000" spc="-5" dirty="0">
                <a:latin typeface="Arial"/>
                <a:cs typeface="Arial"/>
              </a:rPr>
              <a:t>a </a:t>
            </a:r>
            <a:r>
              <a:rPr sz="1000" spc="-5" dirty="0">
                <a:solidFill>
                  <a:srgbClr val="0000FA"/>
                </a:solidFill>
                <a:latin typeface="Arial"/>
                <a:cs typeface="Arial"/>
              </a:rPr>
              <a:t>globally</a:t>
            </a:r>
            <a:r>
              <a:rPr sz="1000" dirty="0">
                <a:solidFill>
                  <a:srgbClr val="0000FA"/>
                </a:solidFill>
                <a:latin typeface="Arial"/>
                <a:cs typeface="Arial"/>
              </a:rPr>
              <a:t> </a:t>
            </a:r>
            <a:r>
              <a:rPr sz="1000" spc="-5" dirty="0">
                <a:solidFill>
                  <a:srgbClr val="0000FA"/>
                </a:solidFill>
                <a:latin typeface="Arial"/>
                <a:cs typeface="Arial"/>
              </a:rPr>
              <a:t>shared,</a:t>
            </a:r>
            <a:endParaRPr sz="1000">
              <a:latin typeface="Arial"/>
              <a:cs typeface="Arial"/>
            </a:endParaRPr>
          </a:p>
        </p:txBody>
      </p:sp>
      <p:sp>
        <p:nvSpPr>
          <p:cNvPr id="11" name="object 11"/>
          <p:cNvSpPr txBox="1"/>
          <p:nvPr/>
        </p:nvSpPr>
        <p:spPr>
          <a:xfrm>
            <a:off x="2133561" y="3022418"/>
            <a:ext cx="46355" cy="137795"/>
          </a:xfrm>
          <a:prstGeom prst="rect">
            <a:avLst/>
          </a:prstGeom>
        </p:spPr>
        <p:txBody>
          <a:bodyPr vert="horz" wrap="square" lIns="0" tIns="17145" rIns="0" bIns="0" rtlCol="0">
            <a:spAutoFit/>
          </a:bodyPr>
          <a:lstStyle/>
          <a:p>
            <a:pPr marL="12700">
              <a:lnSpc>
                <a:spcPct val="100000"/>
              </a:lnSpc>
              <a:spcBef>
                <a:spcPts val="135"/>
              </a:spcBef>
            </a:pPr>
            <a:r>
              <a:rPr sz="700" i="1" spc="5" dirty="0">
                <a:latin typeface="Arial"/>
                <a:cs typeface="Arial"/>
              </a:rPr>
              <a:t>i</a:t>
            </a:r>
            <a:endParaRPr sz="700">
              <a:latin typeface="Arial"/>
              <a:cs typeface="Arial"/>
            </a:endParaRPr>
          </a:p>
        </p:txBody>
      </p:sp>
      <p:sp>
        <p:nvSpPr>
          <p:cNvPr id="12" name="object 12"/>
          <p:cNvSpPr txBox="1"/>
          <p:nvPr/>
        </p:nvSpPr>
        <p:spPr>
          <a:xfrm>
            <a:off x="2833916" y="2945545"/>
            <a:ext cx="187325" cy="137795"/>
          </a:xfrm>
          <a:prstGeom prst="rect">
            <a:avLst/>
          </a:prstGeom>
        </p:spPr>
        <p:txBody>
          <a:bodyPr vert="horz" wrap="square" lIns="0" tIns="17145" rIns="0" bIns="0" rtlCol="0">
            <a:spAutoFit/>
          </a:bodyPr>
          <a:lstStyle/>
          <a:p>
            <a:pPr marL="12700">
              <a:lnSpc>
                <a:spcPct val="100000"/>
              </a:lnSpc>
              <a:spcBef>
                <a:spcPts val="135"/>
              </a:spcBef>
            </a:pPr>
            <a:r>
              <a:rPr sz="700" b="1" spc="5" dirty="0">
                <a:latin typeface="Arial"/>
                <a:cs typeface="Arial"/>
              </a:rPr>
              <a:t>r</a:t>
            </a:r>
            <a:r>
              <a:rPr sz="700" spc="165" dirty="0">
                <a:latin typeface="Arial"/>
                <a:cs typeface="Arial"/>
              </a:rPr>
              <a:t>+</a:t>
            </a:r>
            <a:r>
              <a:rPr sz="700" b="1" spc="20" dirty="0">
                <a:latin typeface="Arial"/>
                <a:cs typeface="Arial"/>
              </a:rPr>
              <a:t>1</a:t>
            </a:r>
            <a:endParaRPr sz="700">
              <a:latin typeface="Arial"/>
              <a:cs typeface="Arial"/>
            </a:endParaRPr>
          </a:p>
        </p:txBody>
      </p:sp>
      <p:sp>
        <p:nvSpPr>
          <p:cNvPr id="13" name="object 13"/>
          <p:cNvSpPr txBox="1"/>
          <p:nvPr/>
        </p:nvSpPr>
        <p:spPr>
          <a:xfrm>
            <a:off x="2833916" y="3043309"/>
            <a:ext cx="51435" cy="137795"/>
          </a:xfrm>
          <a:prstGeom prst="rect">
            <a:avLst/>
          </a:prstGeom>
        </p:spPr>
        <p:txBody>
          <a:bodyPr vert="horz" wrap="square" lIns="0" tIns="17145" rIns="0" bIns="0" rtlCol="0">
            <a:spAutoFit/>
          </a:bodyPr>
          <a:lstStyle/>
          <a:p>
            <a:pPr marL="12700">
              <a:lnSpc>
                <a:spcPct val="100000"/>
              </a:lnSpc>
              <a:spcBef>
                <a:spcPts val="135"/>
              </a:spcBef>
            </a:pPr>
            <a:r>
              <a:rPr sz="700" b="1" spc="10" dirty="0">
                <a:latin typeface="Arial"/>
                <a:cs typeface="Arial"/>
              </a:rPr>
              <a:t>i</a:t>
            </a:r>
            <a:endParaRPr sz="700">
              <a:latin typeface="Arial"/>
              <a:cs typeface="Arial"/>
            </a:endParaRPr>
          </a:p>
        </p:txBody>
      </p:sp>
      <p:sp>
        <p:nvSpPr>
          <p:cNvPr id="14" name="object 14"/>
          <p:cNvSpPr txBox="1"/>
          <p:nvPr/>
        </p:nvSpPr>
        <p:spPr>
          <a:xfrm>
            <a:off x="624395" y="2965391"/>
            <a:ext cx="2487295" cy="177800"/>
          </a:xfrm>
          <a:prstGeom prst="rect">
            <a:avLst/>
          </a:prstGeom>
        </p:spPr>
        <p:txBody>
          <a:bodyPr vert="horz" wrap="square" lIns="0" tIns="12065" rIns="0" bIns="0" rtlCol="0">
            <a:spAutoFit/>
          </a:bodyPr>
          <a:lstStyle/>
          <a:p>
            <a:pPr marL="12700">
              <a:lnSpc>
                <a:spcPct val="100000"/>
              </a:lnSpc>
              <a:spcBef>
                <a:spcPts val="95"/>
              </a:spcBef>
              <a:tabLst>
                <a:tab pos="2390140" algn="l"/>
              </a:tabLst>
            </a:pPr>
            <a:r>
              <a:rPr sz="1000" spc="-5" dirty="0">
                <a:solidFill>
                  <a:srgbClr val="0000FA"/>
                </a:solidFill>
                <a:latin typeface="Arial"/>
                <a:cs typeface="Arial"/>
              </a:rPr>
              <a:t>dete</a:t>
            </a:r>
            <a:r>
              <a:rPr sz="1000" spc="15" dirty="0">
                <a:solidFill>
                  <a:srgbClr val="0000FA"/>
                </a:solidFill>
                <a:latin typeface="Arial"/>
                <a:cs typeface="Arial"/>
              </a:rPr>
              <a:t>r</a:t>
            </a:r>
            <a:r>
              <a:rPr sz="1000" spc="-5" dirty="0">
                <a:solidFill>
                  <a:srgbClr val="0000FA"/>
                </a:solidFill>
                <a:latin typeface="Arial"/>
                <a:cs typeface="Arial"/>
              </a:rPr>
              <a:t>ministic function</a:t>
            </a:r>
            <a:r>
              <a:rPr sz="1000" spc="-5" dirty="0">
                <a:latin typeface="Arial"/>
                <a:cs typeface="Arial"/>
              </a:rPr>
              <a:t>:</a:t>
            </a:r>
            <a:r>
              <a:rPr sz="1000" spc="60" dirty="0">
                <a:latin typeface="Arial"/>
                <a:cs typeface="Arial"/>
              </a:rPr>
              <a:t> </a:t>
            </a:r>
            <a:r>
              <a:rPr sz="1000" i="1" spc="-5" dirty="0">
                <a:latin typeface="Arial"/>
                <a:cs typeface="Arial"/>
              </a:rPr>
              <a:t>cmd</a:t>
            </a:r>
            <a:r>
              <a:rPr sz="1000" i="1" dirty="0">
                <a:latin typeface="Arial"/>
                <a:cs typeface="Arial"/>
              </a:rPr>
              <a:t> </a:t>
            </a:r>
            <a:r>
              <a:rPr sz="1000" i="1" spc="-60"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select</a:t>
            </a:r>
            <a:r>
              <a:rPr sz="1000" i="1" spc="-190" dirty="0">
                <a:latin typeface="Arial"/>
                <a:cs typeface="Arial"/>
              </a:rPr>
              <a:t> </a:t>
            </a:r>
            <a:r>
              <a:rPr sz="1000" spc="50" dirty="0">
                <a:latin typeface="Arial"/>
                <a:cs typeface="Arial"/>
              </a:rPr>
              <a:t>(</a:t>
            </a:r>
            <a:r>
              <a:rPr sz="1000" b="1" spc="-5" dirty="0">
                <a:latin typeface="Arial"/>
                <a:cs typeface="Arial"/>
              </a:rPr>
              <a:t>C</a:t>
            </a:r>
            <a:r>
              <a:rPr sz="1000" b="1" dirty="0">
                <a:latin typeface="Arial"/>
                <a:cs typeface="Arial"/>
              </a:rPr>
              <a:t>	</a:t>
            </a:r>
            <a:r>
              <a:rPr sz="1000" spc="50" dirty="0">
                <a:latin typeface="Arial"/>
                <a:cs typeface="Arial"/>
              </a:rPr>
              <a:t>)</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876550"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Consensus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 faulty systems with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crash failures</a:t>
            </a:r>
            <a:endParaRPr sz="600">
              <a:latin typeface="Arial"/>
              <a:cs typeface="Arial"/>
            </a:endParaRPr>
          </a:p>
        </p:txBody>
      </p:sp>
      <p:sp>
        <p:nvSpPr>
          <p:cNvPr id="3" name="object 3"/>
          <p:cNvSpPr txBox="1">
            <a:spLocks noGrp="1"/>
          </p:cNvSpPr>
          <p:nvPr>
            <p:ph type="title"/>
          </p:nvPr>
        </p:nvSpPr>
        <p:spPr>
          <a:xfrm>
            <a:off x="95300" y="188846"/>
            <a:ext cx="3025140" cy="244475"/>
          </a:xfrm>
          <a:prstGeom prst="rect">
            <a:avLst/>
          </a:prstGeom>
        </p:spPr>
        <p:txBody>
          <a:bodyPr vert="horz" wrap="square" lIns="0" tIns="17145" rIns="0" bIns="0" rtlCol="0">
            <a:spAutoFit/>
          </a:bodyPr>
          <a:lstStyle/>
          <a:p>
            <a:pPr marL="12700">
              <a:lnSpc>
                <a:spcPct val="100000"/>
              </a:lnSpc>
              <a:spcBef>
                <a:spcPts val="135"/>
              </a:spcBef>
            </a:pPr>
            <a:r>
              <a:rPr spc="15" dirty="0"/>
              <a:t>Flooding-based</a:t>
            </a:r>
            <a:r>
              <a:rPr spc="-5" dirty="0"/>
              <a:t> </a:t>
            </a:r>
            <a:r>
              <a:rPr spc="15" dirty="0"/>
              <a:t>consensus:</a:t>
            </a:r>
            <a:r>
              <a:rPr spc="90" dirty="0"/>
              <a:t> </a:t>
            </a:r>
            <a:r>
              <a:rPr spc="15" dirty="0"/>
              <a:t>Example</a:t>
            </a:r>
          </a:p>
        </p:txBody>
      </p:sp>
      <p:grpSp>
        <p:nvGrpSpPr>
          <p:cNvPr id="4" name="object 4"/>
          <p:cNvGrpSpPr/>
          <p:nvPr/>
        </p:nvGrpSpPr>
        <p:grpSpPr>
          <a:xfrm>
            <a:off x="1280773" y="663488"/>
            <a:ext cx="2216150" cy="940435"/>
            <a:chOff x="1280773" y="663488"/>
            <a:chExt cx="2216150" cy="940435"/>
          </a:xfrm>
        </p:grpSpPr>
        <p:sp>
          <p:nvSpPr>
            <p:cNvPr id="5" name="object 5"/>
            <p:cNvSpPr/>
            <p:nvPr/>
          </p:nvSpPr>
          <p:spPr>
            <a:xfrm>
              <a:off x="1285218" y="984135"/>
              <a:ext cx="1748155" cy="598170"/>
            </a:xfrm>
            <a:custGeom>
              <a:avLst/>
              <a:gdLst/>
              <a:ahLst/>
              <a:cxnLst/>
              <a:rect l="l" t="t" r="r" b="b"/>
              <a:pathLst>
                <a:path w="1748155" h="598169">
                  <a:moveTo>
                    <a:pt x="0" y="597607"/>
                  </a:moveTo>
                  <a:lnTo>
                    <a:pt x="1748001" y="597607"/>
                  </a:lnTo>
                </a:path>
                <a:path w="1748155" h="598169">
                  <a:moveTo>
                    <a:pt x="0" y="298803"/>
                  </a:moveTo>
                  <a:lnTo>
                    <a:pt x="1748001" y="298803"/>
                  </a:lnTo>
                </a:path>
                <a:path w="1748155" h="598169">
                  <a:moveTo>
                    <a:pt x="0" y="0"/>
                  </a:moveTo>
                  <a:lnTo>
                    <a:pt x="851590" y="0"/>
                  </a:lnTo>
                </a:path>
              </a:pathLst>
            </a:custGeom>
            <a:ln w="8401">
              <a:solidFill>
                <a:srgbClr val="000000"/>
              </a:solidFill>
            </a:ln>
          </p:spPr>
          <p:txBody>
            <a:bodyPr wrap="square" lIns="0" tIns="0" rIns="0" bIns="0" rtlCol="0"/>
            <a:lstStyle/>
            <a:p>
              <a:endParaRPr/>
            </a:p>
          </p:txBody>
        </p:sp>
        <p:sp>
          <p:nvSpPr>
            <p:cNvPr id="6" name="object 6"/>
            <p:cNvSpPr/>
            <p:nvPr/>
          </p:nvSpPr>
          <p:spPr>
            <a:xfrm>
              <a:off x="1285218" y="685331"/>
              <a:ext cx="271780" cy="0"/>
            </a:xfrm>
            <a:custGeom>
              <a:avLst/>
              <a:gdLst/>
              <a:ahLst/>
              <a:cxnLst/>
              <a:rect l="l" t="t" r="r" b="b"/>
              <a:pathLst>
                <a:path w="271780">
                  <a:moveTo>
                    <a:pt x="0" y="0"/>
                  </a:moveTo>
                  <a:lnTo>
                    <a:pt x="271499" y="0"/>
                  </a:lnTo>
                </a:path>
              </a:pathLst>
            </a:custGeom>
            <a:ln w="8401">
              <a:solidFill>
                <a:srgbClr val="000000"/>
              </a:solidFill>
            </a:ln>
          </p:spPr>
          <p:txBody>
            <a:bodyPr wrap="square" lIns="0" tIns="0" rIns="0" bIns="0" rtlCol="0"/>
            <a:lstStyle/>
            <a:p>
              <a:endParaRPr/>
            </a:p>
          </p:txBody>
        </p:sp>
        <p:sp>
          <p:nvSpPr>
            <p:cNvPr id="7" name="object 7"/>
            <p:cNvSpPr/>
            <p:nvPr/>
          </p:nvSpPr>
          <p:spPr>
            <a:xfrm>
              <a:off x="1540335" y="663488"/>
              <a:ext cx="43815" cy="43815"/>
            </a:xfrm>
            <a:custGeom>
              <a:avLst/>
              <a:gdLst/>
              <a:ahLst/>
              <a:cxnLst/>
              <a:rect l="l" t="t" r="r" b="b"/>
              <a:pathLst>
                <a:path w="43815"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2226450" y="984135"/>
              <a:ext cx="1242695" cy="0"/>
            </a:xfrm>
            <a:custGeom>
              <a:avLst/>
              <a:gdLst/>
              <a:ahLst/>
              <a:cxnLst/>
              <a:rect l="l" t="t" r="r" b="b"/>
              <a:pathLst>
                <a:path w="1242695">
                  <a:moveTo>
                    <a:pt x="0" y="0"/>
                  </a:moveTo>
                  <a:lnTo>
                    <a:pt x="1242609" y="0"/>
                  </a:lnTo>
                </a:path>
              </a:pathLst>
            </a:custGeom>
            <a:ln w="8401">
              <a:solidFill>
                <a:srgbClr val="000000"/>
              </a:solidFill>
            </a:ln>
          </p:spPr>
          <p:txBody>
            <a:bodyPr wrap="square" lIns="0" tIns="0" rIns="0" bIns="0" rtlCol="0"/>
            <a:lstStyle/>
            <a:p>
              <a:endParaRPr/>
            </a:p>
          </p:txBody>
        </p:sp>
        <p:sp>
          <p:nvSpPr>
            <p:cNvPr id="9" name="object 9"/>
            <p:cNvSpPr/>
            <p:nvPr/>
          </p:nvSpPr>
          <p:spPr>
            <a:xfrm>
              <a:off x="3452677" y="962292"/>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0" name="object 10"/>
            <p:cNvSpPr/>
            <p:nvPr/>
          </p:nvSpPr>
          <p:spPr>
            <a:xfrm>
              <a:off x="3122861" y="1282938"/>
              <a:ext cx="346710" cy="0"/>
            </a:xfrm>
            <a:custGeom>
              <a:avLst/>
              <a:gdLst/>
              <a:ahLst/>
              <a:cxnLst/>
              <a:rect l="l" t="t" r="r" b="b"/>
              <a:pathLst>
                <a:path w="346710">
                  <a:moveTo>
                    <a:pt x="0" y="0"/>
                  </a:moveTo>
                  <a:lnTo>
                    <a:pt x="346198" y="0"/>
                  </a:lnTo>
                </a:path>
              </a:pathLst>
            </a:custGeom>
            <a:ln w="8401">
              <a:solidFill>
                <a:srgbClr val="000000"/>
              </a:solidFill>
            </a:ln>
          </p:spPr>
          <p:txBody>
            <a:bodyPr wrap="square" lIns="0" tIns="0" rIns="0" bIns="0" rtlCol="0"/>
            <a:lstStyle/>
            <a:p>
              <a:endParaRPr/>
            </a:p>
          </p:txBody>
        </p:sp>
        <p:sp>
          <p:nvSpPr>
            <p:cNvPr id="11" name="object 11"/>
            <p:cNvSpPr/>
            <p:nvPr/>
          </p:nvSpPr>
          <p:spPr>
            <a:xfrm>
              <a:off x="3452677" y="1261095"/>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2" name="object 12"/>
            <p:cNvSpPr/>
            <p:nvPr/>
          </p:nvSpPr>
          <p:spPr>
            <a:xfrm>
              <a:off x="3122861" y="1581742"/>
              <a:ext cx="346710" cy="0"/>
            </a:xfrm>
            <a:custGeom>
              <a:avLst/>
              <a:gdLst/>
              <a:ahLst/>
              <a:cxnLst/>
              <a:rect l="l" t="t" r="r" b="b"/>
              <a:pathLst>
                <a:path w="346710">
                  <a:moveTo>
                    <a:pt x="0" y="0"/>
                  </a:moveTo>
                  <a:lnTo>
                    <a:pt x="346198" y="0"/>
                  </a:lnTo>
                </a:path>
              </a:pathLst>
            </a:custGeom>
            <a:ln w="8401">
              <a:solidFill>
                <a:srgbClr val="000000"/>
              </a:solidFill>
            </a:ln>
          </p:spPr>
          <p:txBody>
            <a:bodyPr wrap="square" lIns="0" tIns="0" rIns="0" bIns="0" rtlCol="0"/>
            <a:lstStyle/>
            <a:p>
              <a:endParaRPr/>
            </a:p>
          </p:txBody>
        </p:sp>
        <p:sp>
          <p:nvSpPr>
            <p:cNvPr id="13" name="object 13"/>
            <p:cNvSpPr/>
            <p:nvPr/>
          </p:nvSpPr>
          <p:spPr>
            <a:xfrm>
              <a:off x="3452677" y="1559899"/>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14" name="object 14"/>
          <p:cNvSpPr txBox="1"/>
          <p:nvPr/>
        </p:nvSpPr>
        <p:spPr>
          <a:xfrm>
            <a:off x="1107776" y="1490314"/>
            <a:ext cx="171450" cy="151765"/>
          </a:xfrm>
          <a:prstGeom prst="rect">
            <a:avLst/>
          </a:prstGeom>
        </p:spPr>
        <p:txBody>
          <a:bodyPr vert="horz" wrap="square" lIns="0" tIns="15875" rIns="0" bIns="0" rtlCol="0">
            <a:spAutoFit/>
          </a:bodyPr>
          <a:lstStyle/>
          <a:p>
            <a:pPr marL="38100">
              <a:lnSpc>
                <a:spcPct val="100000"/>
              </a:lnSpc>
              <a:spcBef>
                <a:spcPts val="125"/>
              </a:spcBef>
            </a:pPr>
            <a:r>
              <a:rPr sz="800" i="1" spc="-25" dirty="0">
                <a:latin typeface="Times New Roman"/>
                <a:cs typeface="Times New Roman"/>
              </a:rPr>
              <a:t>P</a:t>
            </a:r>
            <a:r>
              <a:rPr sz="900" spc="-37" baseline="-13888" dirty="0">
                <a:latin typeface="Times New Roman"/>
                <a:cs typeface="Times New Roman"/>
              </a:rPr>
              <a:t>4</a:t>
            </a:r>
            <a:endParaRPr sz="900" baseline="-13888">
              <a:latin typeface="Times New Roman"/>
              <a:cs typeface="Times New Roman"/>
            </a:endParaRPr>
          </a:p>
        </p:txBody>
      </p:sp>
      <p:sp>
        <p:nvSpPr>
          <p:cNvPr id="15" name="object 15"/>
          <p:cNvSpPr txBox="1"/>
          <p:nvPr/>
        </p:nvSpPr>
        <p:spPr>
          <a:xfrm>
            <a:off x="1107776" y="1191708"/>
            <a:ext cx="171450" cy="151765"/>
          </a:xfrm>
          <a:prstGeom prst="rect">
            <a:avLst/>
          </a:prstGeom>
        </p:spPr>
        <p:txBody>
          <a:bodyPr vert="horz" wrap="square" lIns="0" tIns="15875" rIns="0" bIns="0" rtlCol="0">
            <a:spAutoFit/>
          </a:bodyPr>
          <a:lstStyle/>
          <a:p>
            <a:pPr marL="38100">
              <a:lnSpc>
                <a:spcPct val="100000"/>
              </a:lnSpc>
              <a:spcBef>
                <a:spcPts val="125"/>
              </a:spcBef>
            </a:pPr>
            <a:r>
              <a:rPr sz="800" i="1" spc="-25" dirty="0">
                <a:latin typeface="Times New Roman"/>
                <a:cs typeface="Times New Roman"/>
              </a:rPr>
              <a:t>P</a:t>
            </a:r>
            <a:r>
              <a:rPr sz="900" spc="-37" baseline="-13888" dirty="0">
                <a:latin typeface="Times New Roman"/>
                <a:cs typeface="Times New Roman"/>
              </a:rPr>
              <a:t>3</a:t>
            </a:r>
            <a:endParaRPr sz="900" baseline="-13888">
              <a:latin typeface="Times New Roman"/>
              <a:cs typeface="Times New Roman"/>
            </a:endParaRPr>
          </a:p>
        </p:txBody>
      </p:sp>
      <p:sp>
        <p:nvSpPr>
          <p:cNvPr id="16" name="object 16"/>
          <p:cNvSpPr txBox="1"/>
          <p:nvPr/>
        </p:nvSpPr>
        <p:spPr>
          <a:xfrm>
            <a:off x="1095076" y="593918"/>
            <a:ext cx="196850" cy="450850"/>
          </a:xfrm>
          <a:prstGeom prst="rect">
            <a:avLst/>
          </a:prstGeom>
        </p:spPr>
        <p:txBody>
          <a:bodyPr vert="horz" wrap="square" lIns="0" tIns="15875" rIns="0" bIns="0" rtlCol="0">
            <a:spAutoFit/>
          </a:bodyPr>
          <a:lstStyle/>
          <a:p>
            <a:pPr marL="50800">
              <a:lnSpc>
                <a:spcPct val="100000"/>
              </a:lnSpc>
              <a:spcBef>
                <a:spcPts val="125"/>
              </a:spcBef>
            </a:pPr>
            <a:r>
              <a:rPr sz="800" i="1" spc="-25" dirty="0">
                <a:latin typeface="Times New Roman"/>
                <a:cs typeface="Times New Roman"/>
              </a:rPr>
              <a:t>P</a:t>
            </a:r>
            <a:r>
              <a:rPr sz="900" spc="-37" baseline="-13888" dirty="0">
                <a:latin typeface="Times New Roman"/>
                <a:cs typeface="Times New Roman"/>
              </a:rPr>
              <a:t>1</a:t>
            </a:r>
            <a:endParaRPr sz="900" baseline="-13888">
              <a:latin typeface="Times New Roman"/>
              <a:cs typeface="Times New Roman"/>
            </a:endParaRPr>
          </a:p>
          <a:p>
            <a:pPr>
              <a:lnSpc>
                <a:spcPct val="100000"/>
              </a:lnSpc>
              <a:spcBef>
                <a:spcPts val="15"/>
              </a:spcBef>
            </a:pPr>
            <a:endParaRPr sz="1200">
              <a:latin typeface="Times New Roman"/>
              <a:cs typeface="Times New Roman"/>
            </a:endParaRPr>
          </a:p>
          <a:p>
            <a:pPr marL="50800">
              <a:lnSpc>
                <a:spcPct val="100000"/>
              </a:lnSpc>
              <a:spcBef>
                <a:spcPts val="5"/>
              </a:spcBef>
            </a:pPr>
            <a:r>
              <a:rPr sz="800" i="1" spc="-25" dirty="0">
                <a:latin typeface="Times New Roman"/>
                <a:cs typeface="Times New Roman"/>
              </a:rPr>
              <a:t>P</a:t>
            </a:r>
            <a:r>
              <a:rPr sz="900" spc="-37" baseline="-13888" dirty="0">
                <a:latin typeface="Times New Roman"/>
                <a:cs typeface="Times New Roman"/>
              </a:rPr>
              <a:t>2</a:t>
            </a:r>
            <a:endParaRPr sz="900" baseline="-13888">
              <a:latin typeface="Times New Roman"/>
              <a:cs typeface="Times New Roman"/>
            </a:endParaRPr>
          </a:p>
        </p:txBody>
      </p:sp>
      <p:grpSp>
        <p:nvGrpSpPr>
          <p:cNvPr id="17" name="object 17"/>
          <p:cNvGrpSpPr/>
          <p:nvPr/>
        </p:nvGrpSpPr>
        <p:grpSpPr>
          <a:xfrm>
            <a:off x="1432397" y="566318"/>
            <a:ext cx="796290" cy="1017905"/>
            <a:chOff x="1432397" y="566318"/>
            <a:chExt cx="796290" cy="1017905"/>
          </a:xfrm>
        </p:grpSpPr>
        <p:sp>
          <p:nvSpPr>
            <p:cNvPr id="18" name="object 18"/>
            <p:cNvSpPr/>
            <p:nvPr/>
          </p:nvSpPr>
          <p:spPr>
            <a:xfrm>
              <a:off x="1452026" y="571715"/>
              <a:ext cx="243204" cy="212090"/>
            </a:xfrm>
            <a:custGeom>
              <a:avLst/>
              <a:gdLst/>
              <a:ahLst/>
              <a:cxnLst/>
              <a:rect l="l" t="t" r="r" b="b"/>
              <a:pathLst>
                <a:path w="243205" h="212090">
                  <a:moveTo>
                    <a:pt x="131995" y="0"/>
                  </a:moveTo>
                  <a:lnTo>
                    <a:pt x="115065" y="67100"/>
                  </a:lnTo>
                  <a:lnTo>
                    <a:pt x="73550" y="43964"/>
                  </a:lnTo>
                  <a:lnTo>
                    <a:pt x="89126" y="88865"/>
                  </a:lnTo>
                  <a:lnTo>
                    <a:pt x="0" y="90341"/>
                  </a:lnTo>
                  <a:lnTo>
                    <a:pt x="83246" y="122211"/>
                  </a:lnTo>
                  <a:lnTo>
                    <a:pt x="44782" y="163967"/>
                  </a:lnTo>
                  <a:lnTo>
                    <a:pt x="100177" y="151534"/>
                  </a:lnTo>
                  <a:lnTo>
                    <a:pt x="96365" y="211506"/>
                  </a:lnTo>
                  <a:lnTo>
                    <a:pt x="131995" y="163116"/>
                  </a:lnTo>
                  <a:lnTo>
                    <a:pt x="164893" y="204002"/>
                  </a:lnTo>
                  <a:lnTo>
                    <a:pt x="163813" y="151534"/>
                  </a:lnTo>
                  <a:lnTo>
                    <a:pt x="242677" y="177517"/>
                  </a:lnTo>
                  <a:lnTo>
                    <a:pt x="180744" y="122211"/>
                  </a:lnTo>
                  <a:lnTo>
                    <a:pt x="211698" y="99562"/>
                  </a:lnTo>
                  <a:lnTo>
                    <a:pt x="174864" y="88865"/>
                  </a:lnTo>
                  <a:lnTo>
                    <a:pt x="212291" y="17923"/>
                  </a:lnTo>
                  <a:lnTo>
                    <a:pt x="148925" y="67100"/>
                  </a:lnTo>
                  <a:lnTo>
                    <a:pt x="131995" y="0"/>
                  </a:lnTo>
                  <a:close/>
                </a:path>
              </a:pathLst>
            </a:custGeom>
            <a:solidFill>
              <a:srgbClr val="A5A5A5"/>
            </a:solidFill>
          </p:spPr>
          <p:txBody>
            <a:bodyPr wrap="square" lIns="0" tIns="0" rIns="0" bIns="0" rtlCol="0"/>
            <a:lstStyle/>
            <a:p>
              <a:endParaRPr/>
            </a:p>
          </p:txBody>
        </p:sp>
        <p:sp>
          <p:nvSpPr>
            <p:cNvPr id="19" name="object 19"/>
            <p:cNvSpPr/>
            <p:nvPr/>
          </p:nvSpPr>
          <p:spPr>
            <a:xfrm>
              <a:off x="1452026" y="571715"/>
              <a:ext cx="243204" cy="212090"/>
            </a:xfrm>
            <a:custGeom>
              <a:avLst/>
              <a:gdLst/>
              <a:ahLst/>
              <a:cxnLst/>
              <a:rect l="l" t="t" r="r" b="b"/>
              <a:pathLst>
                <a:path w="243205" h="212090">
                  <a:moveTo>
                    <a:pt x="131995" y="0"/>
                  </a:moveTo>
                  <a:lnTo>
                    <a:pt x="115065" y="67100"/>
                  </a:lnTo>
                  <a:lnTo>
                    <a:pt x="73550" y="43964"/>
                  </a:lnTo>
                  <a:lnTo>
                    <a:pt x="89126" y="88865"/>
                  </a:lnTo>
                  <a:lnTo>
                    <a:pt x="0" y="90341"/>
                  </a:lnTo>
                  <a:lnTo>
                    <a:pt x="83246" y="122211"/>
                  </a:lnTo>
                  <a:lnTo>
                    <a:pt x="44782" y="163967"/>
                  </a:lnTo>
                  <a:lnTo>
                    <a:pt x="100177" y="151534"/>
                  </a:lnTo>
                  <a:lnTo>
                    <a:pt x="96365" y="211506"/>
                  </a:lnTo>
                  <a:lnTo>
                    <a:pt x="131995" y="163116"/>
                  </a:lnTo>
                  <a:lnTo>
                    <a:pt x="164893" y="204002"/>
                  </a:lnTo>
                  <a:lnTo>
                    <a:pt x="163813" y="151534"/>
                  </a:lnTo>
                  <a:lnTo>
                    <a:pt x="242677" y="177517"/>
                  </a:lnTo>
                  <a:lnTo>
                    <a:pt x="180744" y="122211"/>
                  </a:lnTo>
                  <a:lnTo>
                    <a:pt x="211698" y="99562"/>
                  </a:lnTo>
                  <a:lnTo>
                    <a:pt x="174864" y="88865"/>
                  </a:lnTo>
                  <a:lnTo>
                    <a:pt x="212291" y="17923"/>
                  </a:lnTo>
                  <a:lnTo>
                    <a:pt x="148925" y="67100"/>
                  </a:lnTo>
                  <a:lnTo>
                    <a:pt x="131995" y="0"/>
                  </a:lnTo>
                  <a:close/>
                </a:path>
              </a:pathLst>
            </a:custGeom>
            <a:ln w="10501">
              <a:solidFill>
                <a:srgbClr val="000000"/>
              </a:solidFill>
            </a:ln>
          </p:spPr>
          <p:txBody>
            <a:bodyPr wrap="square" lIns="0" tIns="0" rIns="0" bIns="0" rtlCol="0"/>
            <a:lstStyle/>
            <a:p>
              <a:endParaRPr/>
            </a:p>
          </p:txBody>
        </p:sp>
        <p:sp>
          <p:nvSpPr>
            <p:cNvPr id="20" name="object 20"/>
            <p:cNvSpPr/>
            <p:nvPr/>
          </p:nvSpPr>
          <p:spPr>
            <a:xfrm>
              <a:off x="1434619" y="685331"/>
              <a:ext cx="111760" cy="279400"/>
            </a:xfrm>
            <a:custGeom>
              <a:avLst/>
              <a:gdLst/>
              <a:ahLst/>
              <a:cxnLst/>
              <a:rect l="l" t="t" r="r" b="b"/>
              <a:pathLst>
                <a:path w="111759" h="279400">
                  <a:moveTo>
                    <a:pt x="0" y="0"/>
                  </a:moveTo>
                  <a:lnTo>
                    <a:pt x="1745" y="4363"/>
                  </a:lnTo>
                  <a:lnTo>
                    <a:pt x="13961" y="34904"/>
                  </a:lnTo>
                  <a:lnTo>
                    <a:pt x="47120" y="117802"/>
                  </a:lnTo>
                  <a:lnTo>
                    <a:pt x="111692" y="279236"/>
                  </a:lnTo>
                </a:path>
              </a:pathLst>
            </a:custGeom>
            <a:ln w="4200">
              <a:solidFill>
                <a:srgbClr val="000000"/>
              </a:solidFill>
            </a:ln>
          </p:spPr>
          <p:txBody>
            <a:bodyPr wrap="square" lIns="0" tIns="0" rIns="0" bIns="0" rtlCol="0"/>
            <a:lstStyle/>
            <a:p>
              <a:endParaRPr/>
            </a:p>
          </p:txBody>
        </p:sp>
        <p:sp>
          <p:nvSpPr>
            <p:cNvPr id="21" name="object 21"/>
            <p:cNvSpPr/>
            <p:nvPr/>
          </p:nvSpPr>
          <p:spPr>
            <a:xfrm>
              <a:off x="1525962" y="946565"/>
              <a:ext cx="31750" cy="38100"/>
            </a:xfrm>
            <a:custGeom>
              <a:avLst/>
              <a:gdLst/>
              <a:ahLst/>
              <a:cxnLst/>
              <a:rect l="l" t="t" r="r" b="b"/>
              <a:pathLst>
                <a:path w="31750" h="38100">
                  <a:moveTo>
                    <a:pt x="31308" y="0"/>
                  </a:moveTo>
                  <a:lnTo>
                    <a:pt x="20350" y="18002"/>
                  </a:lnTo>
                  <a:lnTo>
                    <a:pt x="0" y="12522"/>
                  </a:lnTo>
                  <a:lnTo>
                    <a:pt x="28177" y="37569"/>
                  </a:lnTo>
                  <a:lnTo>
                    <a:pt x="31308" y="0"/>
                  </a:lnTo>
                  <a:close/>
                </a:path>
              </a:pathLst>
            </a:custGeom>
            <a:solidFill>
              <a:srgbClr val="000000"/>
            </a:solidFill>
          </p:spPr>
          <p:txBody>
            <a:bodyPr wrap="square" lIns="0" tIns="0" rIns="0" bIns="0" rtlCol="0"/>
            <a:lstStyle/>
            <a:p>
              <a:endParaRPr/>
            </a:p>
          </p:txBody>
        </p:sp>
        <p:sp>
          <p:nvSpPr>
            <p:cNvPr id="22" name="object 22"/>
            <p:cNvSpPr/>
            <p:nvPr/>
          </p:nvSpPr>
          <p:spPr>
            <a:xfrm>
              <a:off x="1434619" y="734621"/>
              <a:ext cx="399415" cy="249554"/>
            </a:xfrm>
            <a:custGeom>
              <a:avLst/>
              <a:gdLst/>
              <a:ahLst/>
              <a:cxnLst/>
              <a:rect l="l" t="t" r="r" b="b"/>
              <a:pathLst>
                <a:path w="399414" h="249555">
                  <a:moveTo>
                    <a:pt x="0" y="249513"/>
                  </a:moveTo>
                  <a:lnTo>
                    <a:pt x="6237" y="245614"/>
                  </a:lnTo>
                  <a:lnTo>
                    <a:pt x="49902" y="218324"/>
                  </a:lnTo>
                  <a:lnTo>
                    <a:pt x="168422" y="144249"/>
                  </a:lnTo>
                  <a:lnTo>
                    <a:pt x="399223" y="0"/>
                  </a:lnTo>
                </a:path>
              </a:pathLst>
            </a:custGeom>
            <a:ln w="4200">
              <a:solidFill>
                <a:srgbClr val="000000"/>
              </a:solidFill>
            </a:ln>
          </p:spPr>
          <p:txBody>
            <a:bodyPr wrap="square" lIns="0" tIns="0" rIns="0" bIns="0" rtlCol="0"/>
            <a:lstStyle/>
            <a:p>
              <a:endParaRPr/>
            </a:p>
          </p:txBody>
        </p:sp>
        <p:sp>
          <p:nvSpPr>
            <p:cNvPr id="23" name="object 23"/>
            <p:cNvSpPr/>
            <p:nvPr/>
          </p:nvSpPr>
          <p:spPr>
            <a:xfrm>
              <a:off x="1820232" y="710858"/>
              <a:ext cx="29209" cy="46990"/>
            </a:xfrm>
            <a:custGeom>
              <a:avLst/>
              <a:gdLst/>
              <a:ahLst/>
              <a:cxnLst/>
              <a:rect l="l" t="t" r="r" b="b"/>
              <a:pathLst>
                <a:path w="29210" h="46990">
                  <a:moveTo>
                    <a:pt x="29007" y="46411"/>
                  </a:moveTo>
                  <a:lnTo>
                    <a:pt x="0" y="0"/>
                  </a:lnTo>
                </a:path>
              </a:pathLst>
            </a:custGeom>
            <a:ln w="4210">
              <a:solidFill>
                <a:srgbClr val="000000"/>
              </a:solidFill>
            </a:ln>
          </p:spPr>
          <p:txBody>
            <a:bodyPr wrap="square" lIns="0" tIns="0" rIns="0" bIns="0" rtlCol="0"/>
            <a:lstStyle/>
            <a:p>
              <a:endParaRPr/>
            </a:p>
          </p:txBody>
        </p:sp>
        <p:sp>
          <p:nvSpPr>
            <p:cNvPr id="24" name="object 24"/>
            <p:cNvSpPr/>
            <p:nvPr/>
          </p:nvSpPr>
          <p:spPr>
            <a:xfrm>
              <a:off x="1434619" y="984135"/>
              <a:ext cx="401320" cy="287020"/>
            </a:xfrm>
            <a:custGeom>
              <a:avLst/>
              <a:gdLst/>
              <a:ahLst/>
              <a:cxnLst/>
              <a:rect l="l" t="t" r="r" b="b"/>
              <a:pathLst>
                <a:path w="401319" h="287019">
                  <a:moveTo>
                    <a:pt x="0" y="0"/>
                  </a:moveTo>
                  <a:lnTo>
                    <a:pt x="6268" y="4477"/>
                  </a:lnTo>
                  <a:lnTo>
                    <a:pt x="50149" y="35821"/>
                  </a:lnTo>
                  <a:lnTo>
                    <a:pt x="169255" y="120897"/>
                  </a:lnTo>
                  <a:lnTo>
                    <a:pt x="401197" y="286571"/>
                  </a:lnTo>
                </a:path>
              </a:pathLst>
            </a:custGeom>
            <a:ln w="4200">
              <a:solidFill>
                <a:srgbClr val="000000"/>
              </a:solidFill>
            </a:ln>
          </p:spPr>
          <p:txBody>
            <a:bodyPr wrap="square" lIns="0" tIns="0" rIns="0" bIns="0" rtlCol="0"/>
            <a:lstStyle/>
            <a:p>
              <a:endParaRPr/>
            </a:p>
          </p:txBody>
        </p:sp>
        <p:sp>
          <p:nvSpPr>
            <p:cNvPr id="25" name="object 25"/>
            <p:cNvSpPr/>
            <p:nvPr/>
          </p:nvSpPr>
          <p:spPr>
            <a:xfrm>
              <a:off x="1815756" y="1249667"/>
              <a:ext cx="37465" cy="33655"/>
            </a:xfrm>
            <a:custGeom>
              <a:avLst/>
              <a:gdLst/>
              <a:ahLst/>
              <a:cxnLst/>
              <a:rect l="l" t="t" r="r" b="b"/>
              <a:pathLst>
                <a:path w="37464" h="33655">
                  <a:moveTo>
                    <a:pt x="19571" y="0"/>
                  </a:moveTo>
                  <a:lnTo>
                    <a:pt x="20061" y="21039"/>
                  </a:lnTo>
                  <a:lnTo>
                    <a:pt x="0" y="27400"/>
                  </a:lnTo>
                  <a:lnTo>
                    <a:pt x="37186" y="33271"/>
                  </a:lnTo>
                  <a:lnTo>
                    <a:pt x="19571" y="0"/>
                  </a:lnTo>
                  <a:close/>
                </a:path>
              </a:pathLst>
            </a:custGeom>
            <a:solidFill>
              <a:srgbClr val="000000"/>
            </a:solidFill>
          </p:spPr>
          <p:txBody>
            <a:bodyPr wrap="square" lIns="0" tIns="0" rIns="0" bIns="0" rtlCol="0"/>
            <a:lstStyle/>
            <a:p>
              <a:endParaRPr/>
            </a:p>
          </p:txBody>
        </p:sp>
        <p:sp>
          <p:nvSpPr>
            <p:cNvPr id="26" name="object 26"/>
            <p:cNvSpPr/>
            <p:nvPr/>
          </p:nvSpPr>
          <p:spPr>
            <a:xfrm>
              <a:off x="1434619" y="984135"/>
              <a:ext cx="347980" cy="579755"/>
            </a:xfrm>
            <a:custGeom>
              <a:avLst/>
              <a:gdLst/>
              <a:ahLst/>
              <a:cxnLst/>
              <a:rect l="l" t="t" r="r" b="b"/>
              <a:pathLst>
                <a:path w="347980" h="579755">
                  <a:moveTo>
                    <a:pt x="0" y="0"/>
                  </a:moveTo>
                  <a:lnTo>
                    <a:pt x="5432" y="9054"/>
                  </a:lnTo>
                  <a:lnTo>
                    <a:pt x="43463" y="72439"/>
                  </a:lnTo>
                  <a:lnTo>
                    <a:pt x="146690" y="244484"/>
                  </a:lnTo>
                  <a:lnTo>
                    <a:pt x="347710" y="579518"/>
                  </a:lnTo>
                </a:path>
              </a:pathLst>
            </a:custGeom>
            <a:ln w="4200">
              <a:solidFill>
                <a:srgbClr val="000000"/>
              </a:solidFill>
            </a:ln>
          </p:spPr>
          <p:txBody>
            <a:bodyPr wrap="square" lIns="0" tIns="0" rIns="0" bIns="0" rtlCol="0"/>
            <a:lstStyle/>
            <a:p>
              <a:endParaRPr/>
            </a:p>
          </p:txBody>
        </p:sp>
        <p:sp>
          <p:nvSpPr>
            <p:cNvPr id="27" name="object 27"/>
            <p:cNvSpPr/>
            <p:nvPr/>
          </p:nvSpPr>
          <p:spPr>
            <a:xfrm>
              <a:off x="1761346" y="1544116"/>
              <a:ext cx="32384" cy="38100"/>
            </a:xfrm>
            <a:custGeom>
              <a:avLst/>
              <a:gdLst/>
              <a:ahLst/>
              <a:cxnLst/>
              <a:rect l="l" t="t" r="r" b="b"/>
              <a:pathLst>
                <a:path w="32385" h="38100">
                  <a:moveTo>
                    <a:pt x="28942" y="0"/>
                  </a:moveTo>
                  <a:lnTo>
                    <a:pt x="20983" y="19536"/>
                  </a:lnTo>
                  <a:lnTo>
                    <a:pt x="0" y="17365"/>
                  </a:lnTo>
                  <a:lnTo>
                    <a:pt x="31836" y="37625"/>
                  </a:lnTo>
                  <a:lnTo>
                    <a:pt x="28942" y="0"/>
                  </a:lnTo>
                  <a:close/>
                </a:path>
              </a:pathLst>
            </a:custGeom>
            <a:solidFill>
              <a:srgbClr val="000000"/>
            </a:solidFill>
          </p:spPr>
          <p:txBody>
            <a:bodyPr wrap="square" lIns="0" tIns="0" rIns="0" bIns="0" rtlCol="0"/>
            <a:lstStyle/>
            <a:p>
              <a:endParaRPr/>
            </a:p>
          </p:txBody>
        </p:sp>
        <p:sp>
          <p:nvSpPr>
            <p:cNvPr id="28" name="object 28"/>
            <p:cNvSpPr/>
            <p:nvPr/>
          </p:nvSpPr>
          <p:spPr>
            <a:xfrm>
              <a:off x="1434619" y="768327"/>
              <a:ext cx="257810" cy="514984"/>
            </a:xfrm>
            <a:custGeom>
              <a:avLst/>
              <a:gdLst/>
              <a:ahLst/>
              <a:cxnLst/>
              <a:rect l="l" t="t" r="r" b="b"/>
              <a:pathLst>
                <a:path w="257810" h="514984">
                  <a:moveTo>
                    <a:pt x="0" y="514611"/>
                  </a:moveTo>
                  <a:lnTo>
                    <a:pt x="4020" y="506570"/>
                  </a:lnTo>
                  <a:lnTo>
                    <a:pt x="32163" y="450285"/>
                  </a:lnTo>
                  <a:lnTo>
                    <a:pt x="108551" y="297509"/>
                  </a:lnTo>
                  <a:lnTo>
                    <a:pt x="257306" y="0"/>
                  </a:lnTo>
                </a:path>
              </a:pathLst>
            </a:custGeom>
            <a:ln w="4200">
              <a:solidFill>
                <a:srgbClr val="000000"/>
              </a:solidFill>
            </a:ln>
          </p:spPr>
          <p:txBody>
            <a:bodyPr wrap="square" lIns="0" tIns="0" rIns="0" bIns="0" rtlCol="0"/>
            <a:lstStyle/>
            <a:p>
              <a:endParaRPr/>
            </a:p>
          </p:txBody>
        </p:sp>
        <p:sp>
          <p:nvSpPr>
            <p:cNvPr id="29" name="object 29"/>
            <p:cNvSpPr/>
            <p:nvPr/>
          </p:nvSpPr>
          <p:spPr>
            <a:xfrm>
              <a:off x="1667974" y="755177"/>
              <a:ext cx="48895" cy="24765"/>
            </a:xfrm>
            <a:custGeom>
              <a:avLst/>
              <a:gdLst/>
              <a:ahLst/>
              <a:cxnLst/>
              <a:rect l="l" t="t" r="r" b="b"/>
              <a:pathLst>
                <a:path w="48894" h="24765">
                  <a:moveTo>
                    <a:pt x="48843" y="24421"/>
                  </a:moveTo>
                  <a:lnTo>
                    <a:pt x="0" y="0"/>
                  </a:lnTo>
                </a:path>
              </a:pathLst>
            </a:custGeom>
            <a:ln w="4200">
              <a:solidFill>
                <a:srgbClr val="000000"/>
              </a:solidFill>
            </a:ln>
          </p:spPr>
          <p:txBody>
            <a:bodyPr wrap="square" lIns="0" tIns="0" rIns="0" bIns="0" rtlCol="0"/>
            <a:lstStyle/>
            <a:p>
              <a:endParaRPr/>
            </a:p>
          </p:txBody>
        </p:sp>
        <p:sp>
          <p:nvSpPr>
            <p:cNvPr id="30" name="object 30"/>
            <p:cNvSpPr/>
            <p:nvPr/>
          </p:nvSpPr>
          <p:spPr>
            <a:xfrm>
              <a:off x="1434619" y="997603"/>
              <a:ext cx="342900" cy="285750"/>
            </a:xfrm>
            <a:custGeom>
              <a:avLst/>
              <a:gdLst/>
              <a:ahLst/>
              <a:cxnLst/>
              <a:rect l="l" t="t" r="r" b="b"/>
              <a:pathLst>
                <a:path w="342900" h="285750">
                  <a:moveTo>
                    <a:pt x="0" y="285335"/>
                  </a:moveTo>
                  <a:lnTo>
                    <a:pt x="5350" y="280876"/>
                  </a:lnTo>
                  <a:lnTo>
                    <a:pt x="42800" y="249668"/>
                  </a:lnTo>
                  <a:lnTo>
                    <a:pt x="144450" y="164959"/>
                  </a:lnTo>
                  <a:lnTo>
                    <a:pt x="342402" y="0"/>
                  </a:lnTo>
                </a:path>
              </a:pathLst>
            </a:custGeom>
            <a:ln w="4200">
              <a:solidFill>
                <a:srgbClr val="000000"/>
              </a:solidFill>
            </a:ln>
          </p:spPr>
          <p:txBody>
            <a:bodyPr wrap="square" lIns="0" tIns="0" rIns="0" bIns="0" rtlCol="0"/>
            <a:lstStyle/>
            <a:p>
              <a:endParaRPr/>
            </a:p>
          </p:txBody>
        </p:sp>
        <p:sp>
          <p:nvSpPr>
            <p:cNvPr id="31" name="object 31"/>
            <p:cNvSpPr/>
            <p:nvPr/>
          </p:nvSpPr>
          <p:spPr>
            <a:xfrm>
              <a:off x="1756550" y="984135"/>
              <a:ext cx="36830" cy="34925"/>
            </a:xfrm>
            <a:custGeom>
              <a:avLst/>
              <a:gdLst/>
              <a:ahLst/>
              <a:cxnLst/>
              <a:rect l="l" t="t" r="r" b="b"/>
              <a:pathLst>
                <a:path w="36830" h="34925">
                  <a:moveTo>
                    <a:pt x="0" y="8620"/>
                  </a:moveTo>
                  <a:lnTo>
                    <a:pt x="20471" y="13468"/>
                  </a:lnTo>
                  <a:lnTo>
                    <a:pt x="21549" y="34479"/>
                  </a:lnTo>
                  <a:lnTo>
                    <a:pt x="36633" y="0"/>
                  </a:lnTo>
                  <a:lnTo>
                    <a:pt x="0" y="8620"/>
                  </a:lnTo>
                  <a:close/>
                </a:path>
              </a:pathLst>
            </a:custGeom>
            <a:solidFill>
              <a:srgbClr val="000000"/>
            </a:solidFill>
          </p:spPr>
          <p:txBody>
            <a:bodyPr wrap="square" lIns="0" tIns="0" rIns="0" bIns="0" rtlCol="0"/>
            <a:lstStyle/>
            <a:p>
              <a:endParaRPr/>
            </a:p>
          </p:txBody>
        </p:sp>
        <p:sp>
          <p:nvSpPr>
            <p:cNvPr id="32" name="object 32"/>
            <p:cNvSpPr/>
            <p:nvPr/>
          </p:nvSpPr>
          <p:spPr>
            <a:xfrm>
              <a:off x="1434619" y="1282938"/>
              <a:ext cx="401320" cy="287020"/>
            </a:xfrm>
            <a:custGeom>
              <a:avLst/>
              <a:gdLst/>
              <a:ahLst/>
              <a:cxnLst/>
              <a:rect l="l" t="t" r="r" b="b"/>
              <a:pathLst>
                <a:path w="401319" h="287019">
                  <a:moveTo>
                    <a:pt x="0" y="0"/>
                  </a:moveTo>
                  <a:lnTo>
                    <a:pt x="6268" y="4477"/>
                  </a:lnTo>
                  <a:lnTo>
                    <a:pt x="50149" y="35821"/>
                  </a:lnTo>
                  <a:lnTo>
                    <a:pt x="169255" y="120897"/>
                  </a:lnTo>
                  <a:lnTo>
                    <a:pt x="401197" y="286571"/>
                  </a:lnTo>
                </a:path>
              </a:pathLst>
            </a:custGeom>
            <a:ln w="4200">
              <a:solidFill>
                <a:srgbClr val="000000"/>
              </a:solidFill>
            </a:ln>
          </p:spPr>
          <p:txBody>
            <a:bodyPr wrap="square" lIns="0" tIns="0" rIns="0" bIns="0" rtlCol="0"/>
            <a:lstStyle/>
            <a:p>
              <a:endParaRPr/>
            </a:p>
          </p:txBody>
        </p:sp>
        <p:sp>
          <p:nvSpPr>
            <p:cNvPr id="33" name="object 33"/>
            <p:cNvSpPr/>
            <p:nvPr/>
          </p:nvSpPr>
          <p:spPr>
            <a:xfrm>
              <a:off x="1815756" y="1548470"/>
              <a:ext cx="37465" cy="33655"/>
            </a:xfrm>
            <a:custGeom>
              <a:avLst/>
              <a:gdLst/>
              <a:ahLst/>
              <a:cxnLst/>
              <a:rect l="l" t="t" r="r" b="b"/>
              <a:pathLst>
                <a:path w="37464" h="33655">
                  <a:moveTo>
                    <a:pt x="19571" y="0"/>
                  </a:moveTo>
                  <a:lnTo>
                    <a:pt x="20061" y="21039"/>
                  </a:lnTo>
                  <a:lnTo>
                    <a:pt x="0" y="27400"/>
                  </a:lnTo>
                  <a:lnTo>
                    <a:pt x="37186" y="33271"/>
                  </a:lnTo>
                  <a:lnTo>
                    <a:pt x="19571" y="0"/>
                  </a:lnTo>
                  <a:close/>
                </a:path>
              </a:pathLst>
            </a:custGeom>
            <a:solidFill>
              <a:srgbClr val="000000"/>
            </a:solidFill>
          </p:spPr>
          <p:txBody>
            <a:bodyPr wrap="square" lIns="0" tIns="0" rIns="0" bIns="0" rtlCol="0"/>
            <a:lstStyle/>
            <a:p>
              <a:endParaRPr/>
            </a:p>
          </p:txBody>
        </p:sp>
        <p:sp>
          <p:nvSpPr>
            <p:cNvPr id="34" name="object 34"/>
            <p:cNvSpPr/>
            <p:nvPr/>
          </p:nvSpPr>
          <p:spPr>
            <a:xfrm>
              <a:off x="1434619" y="771782"/>
              <a:ext cx="324485" cy="810260"/>
            </a:xfrm>
            <a:custGeom>
              <a:avLst/>
              <a:gdLst/>
              <a:ahLst/>
              <a:cxnLst/>
              <a:rect l="l" t="t" r="r" b="b"/>
              <a:pathLst>
                <a:path w="324485" h="810260">
                  <a:moveTo>
                    <a:pt x="0" y="809960"/>
                  </a:moveTo>
                  <a:lnTo>
                    <a:pt x="5062" y="797304"/>
                  </a:lnTo>
                  <a:lnTo>
                    <a:pt x="40497" y="708715"/>
                  </a:lnTo>
                  <a:lnTo>
                    <a:pt x="136680" y="468258"/>
                  </a:lnTo>
                  <a:lnTo>
                    <a:pt x="323983" y="0"/>
                  </a:lnTo>
                </a:path>
              </a:pathLst>
            </a:custGeom>
            <a:ln w="4200">
              <a:solidFill>
                <a:srgbClr val="000000"/>
              </a:solidFill>
            </a:ln>
          </p:spPr>
          <p:txBody>
            <a:bodyPr wrap="square" lIns="0" tIns="0" rIns="0" bIns="0" rtlCol="0"/>
            <a:lstStyle/>
            <a:p>
              <a:endParaRPr/>
            </a:p>
          </p:txBody>
        </p:sp>
        <p:sp>
          <p:nvSpPr>
            <p:cNvPr id="35" name="object 35"/>
            <p:cNvSpPr/>
            <p:nvPr/>
          </p:nvSpPr>
          <p:spPr>
            <a:xfrm>
              <a:off x="1733556" y="760628"/>
              <a:ext cx="51435" cy="20955"/>
            </a:xfrm>
            <a:custGeom>
              <a:avLst/>
              <a:gdLst/>
              <a:ahLst/>
              <a:cxnLst/>
              <a:rect l="l" t="t" r="r" b="b"/>
              <a:pathLst>
                <a:path w="51435" h="20954">
                  <a:moveTo>
                    <a:pt x="50876" y="20351"/>
                  </a:moveTo>
                  <a:lnTo>
                    <a:pt x="0" y="0"/>
                  </a:lnTo>
                </a:path>
              </a:pathLst>
            </a:custGeom>
            <a:ln w="4214">
              <a:solidFill>
                <a:srgbClr val="000000"/>
              </a:solidFill>
            </a:ln>
          </p:spPr>
          <p:txBody>
            <a:bodyPr wrap="square" lIns="0" tIns="0" rIns="0" bIns="0" rtlCol="0"/>
            <a:lstStyle/>
            <a:p>
              <a:endParaRPr/>
            </a:p>
          </p:txBody>
        </p:sp>
        <p:sp>
          <p:nvSpPr>
            <p:cNvPr id="36" name="object 36"/>
            <p:cNvSpPr/>
            <p:nvPr/>
          </p:nvSpPr>
          <p:spPr>
            <a:xfrm>
              <a:off x="1434619" y="1001341"/>
              <a:ext cx="406400" cy="581025"/>
            </a:xfrm>
            <a:custGeom>
              <a:avLst/>
              <a:gdLst/>
              <a:ahLst/>
              <a:cxnLst/>
              <a:rect l="l" t="t" r="r" b="b"/>
              <a:pathLst>
                <a:path w="406400" h="581025">
                  <a:moveTo>
                    <a:pt x="0" y="580401"/>
                  </a:moveTo>
                  <a:lnTo>
                    <a:pt x="6348" y="571332"/>
                  </a:lnTo>
                  <a:lnTo>
                    <a:pt x="50784" y="507851"/>
                  </a:lnTo>
                  <a:lnTo>
                    <a:pt x="171399" y="335544"/>
                  </a:lnTo>
                  <a:lnTo>
                    <a:pt x="406279" y="0"/>
                  </a:lnTo>
                </a:path>
              </a:pathLst>
            </a:custGeom>
            <a:ln w="4200">
              <a:solidFill>
                <a:srgbClr val="000000"/>
              </a:solidFill>
            </a:ln>
          </p:spPr>
          <p:txBody>
            <a:bodyPr wrap="square" lIns="0" tIns="0" rIns="0" bIns="0" rtlCol="0"/>
            <a:lstStyle/>
            <a:p>
              <a:endParaRPr/>
            </a:p>
          </p:txBody>
        </p:sp>
        <p:sp>
          <p:nvSpPr>
            <p:cNvPr id="37" name="object 37"/>
            <p:cNvSpPr/>
            <p:nvPr/>
          </p:nvSpPr>
          <p:spPr>
            <a:xfrm>
              <a:off x="1819907" y="984135"/>
              <a:ext cx="33655" cy="37465"/>
            </a:xfrm>
            <a:custGeom>
              <a:avLst/>
              <a:gdLst/>
              <a:ahLst/>
              <a:cxnLst/>
              <a:rect l="l" t="t" r="r" b="b"/>
              <a:pathLst>
                <a:path w="33655" h="37465">
                  <a:moveTo>
                    <a:pt x="0" y="17894"/>
                  </a:moveTo>
                  <a:lnTo>
                    <a:pt x="20991" y="17206"/>
                  </a:lnTo>
                  <a:lnTo>
                    <a:pt x="27530" y="37165"/>
                  </a:lnTo>
                  <a:lnTo>
                    <a:pt x="33036" y="0"/>
                  </a:lnTo>
                  <a:lnTo>
                    <a:pt x="0" y="17894"/>
                  </a:lnTo>
                  <a:close/>
                </a:path>
              </a:pathLst>
            </a:custGeom>
            <a:solidFill>
              <a:srgbClr val="000000"/>
            </a:solidFill>
          </p:spPr>
          <p:txBody>
            <a:bodyPr wrap="square" lIns="0" tIns="0" rIns="0" bIns="0" rtlCol="0"/>
            <a:lstStyle/>
            <a:p>
              <a:endParaRPr/>
            </a:p>
          </p:txBody>
        </p:sp>
        <p:sp>
          <p:nvSpPr>
            <p:cNvPr id="38" name="object 38"/>
            <p:cNvSpPr/>
            <p:nvPr/>
          </p:nvSpPr>
          <p:spPr>
            <a:xfrm>
              <a:off x="1434619" y="1294095"/>
              <a:ext cx="460375" cy="287655"/>
            </a:xfrm>
            <a:custGeom>
              <a:avLst/>
              <a:gdLst/>
              <a:ahLst/>
              <a:cxnLst/>
              <a:rect l="l" t="t" r="r" b="b"/>
              <a:pathLst>
                <a:path w="460375" h="287655">
                  <a:moveTo>
                    <a:pt x="0" y="287647"/>
                  </a:moveTo>
                  <a:lnTo>
                    <a:pt x="7191" y="283152"/>
                  </a:lnTo>
                  <a:lnTo>
                    <a:pt x="57529" y="251691"/>
                  </a:lnTo>
                  <a:lnTo>
                    <a:pt x="194162" y="166296"/>
                  </a:lnTo>
                  <a:lnTo>
                    <a:pt x="460237" y="0"/>
                  </a:lnTo>
                </a:path>
              </a:pathLst>
            </a:custGeom>
            <a:ln w="4200">
              <a:solidFill>
                <a:srgbClr val="000000"/>
              </a:solidFill>
            </a:ln>
          </p:spPr>
          <p:txBody>
            <a:bodyPr wrap="square" lIns="0" tIns="0" rIns="0" bIns="0" rtlCol="0"/>
            <a:lstStyle/>
            <a:p>
              <a:endParaRPr/>
            </a:p>
          </p:txBody>
        </p:sp>
        <p:sp>
          <p:nvSpPr>
            <p:cNvPr id="39" name="object 39"/>
            <p:cNvSpPr/>
            <p:nvPr/>
          </p:nvSpPr>
          <p:spPr>
            <a:xfrm>
              <a:off x="1875221" y="1282938"/>
              <a:ext cx="38100" cy="32384"/>
            </a:xfrm>
            <a:custGeom>
              <a:avLst/>
              <a:gdLst/>
              <a:ahLst/>
              <a:cxnLst/>
              <a:rect l="l" t="t" r="r" b="b"/>
              <a:pathLst>
                <a:path w="38100" h="32384">
                  <a:moveTo>
                    <a:pt x="0" y="3570"/>
                  </a:moveTo>
                  <a:lnTo>
                    <a:pt x="19635" y="11156"/>
                  </a:lnTo>
                  <a:lnTo>
                    <a:pt x="17850" y="32131"/>
                  </a:lnTo>
                  <a:lnTo>
                    <a:pt x="37486" y="0"/>
                  </a:lnTo>
                  <a:lnTo>
                    <a:pt x="0" y="3570"/>
                  </a:lnTo>
                  <a:close/>
                </a:path>
              </a:pathLst>
            </a:custGeom>
            <a:solidFill>
              <a:srgbClr val="000000"/>
            </a:solidFill>
          </p:spPr>
          <p:txBody>
            <a:bodyPr wrap="square" lIns="0" tIns="0" rIns="0" bIns="0" rtlCol="0"/>
            <a:lstStyle/>
            <a:p>
              <a:endParaRPr/>
            </a:p>
          </p:txBody>
        </p:sp>
        <p:sp>
          <p:nvSpPr>
            <p:cNvPr id="40" name="object 40"/>
            <p:cNvSpPr/>
            <p:nvPr/>
          </p:nvSpPr>
          <p:spPr>
            <a:xfrm>
              <a:off x="2136808" y="947032"/>
              <a:ext cx="90170" cy="74295"/>
            </a:xfrm>
            <a:custGeom>
              <a:avLst/>
              <a:gdLst/>
              <a:ahLst/>
              <a:cxnLst/>
              <a:rect l="l" t="t" r="r" b="b"/>
              <a:pathLst>
                <a:path w="90169" h="74294">
                  <a:moveTo>
                    <a:pt x="89641" y="0"/>
                  </a:moveTo>
                  <a:lnTo>
                    <a:pt x="0" y="0"/>
                  </a:lnTo>
                  <a:lnTo>
                    <a:pt x="0" y="74204"/>
                  </a:lnTo>
                  <a:lnTo>
                    <a:pt x="89641" y="74204"/>
                  </a:lnTo>
                  <a:lnTo>
                    <a:pt x="89641" y="0"/>
                  </a:lnTo>
                  <a:close/>
                </a:path>
              </a:pathLst>
            </a:custGeom>
            <a:solidFill>
              <a:srgbClr val="999999"/>
            </a:solidFill>
          </p:spPr>
          <p:txBody>
            <a:bodyPr wrap="square" lIns="0" tIns="0" rIns="0" bIns="0" rtlCol="0"/>
            <a:lstStyle/>
            <a:p>
              <a:endParaRPr/>
            </a:p>
          </p:txBody>
        </p:sp>
        <p:sp>
          <p:nvSpPr>
            <p:cNvPr id="41" name="object 41"/>
            <p:cNvSpPr/>
            <p:nvPr/>
          </p:nvSpPr>
          <p:spPr>
            <a:xfrm>
              <a:off x="2136808" y="947032"/>
              <a:ext cx="90170" cy="74295"/>
            </a:xfrm>
            <a:custGeom>
              <a:avLst/>
              <a:gdLst/>
              <a:ahLst/>
              <a:cxnLst/>
              <a:rect l="l" t="t" r="r" b="b"/>
              <a:pathLst>
                <a:path w="90169" h="74294">
                  <a:moveTo>
                    <a:pt x="0" y="74204"/>
                  </a:moveTo>
                  <a:lnTo>
                    <a:pt x="89641" y="74204"/>
                  </a:lnTo>
                  <a:lnTo>
                    <a:pt x="89641" y="0"/>
                  </a:lnTo>
                  <a:lnTo>
                    <a:pt x="0" y="0"/>
                  </a:lnTo>
                  <a:lnTo>
                    <a:pt x="0" y="74204"/>
                  </a:lnTo>
                  <a:close/>
                </a:path>
              </a:pathLst>
            </a:custGeom>
            <a:ln w="4200">
              <a:solidFill>
                <a:srgbClr val="000000"/>
              </a:solidFill>
            </a:ln>
          </p:spPr>
          <p:txBody>
            <a:bodyPr wrap="square" lIns="0" tIns="0" rIns="0" bIns="0" rtlCol="0"/>
            <a:lstStyle/>
            <a:p>
              <a:endParaRPr/>
            </a:p>
          </p:txBody>
        </p:sp>
      </p:grpSp>
      <p:sp>
        <p:nvSpPr>
          <p:cNvPr id="42" name="object 42"/>
          <p:cNvSpPr txBox="1"/>
          <p:nvPr/>
        </p:nvSpPr>
        <p:spPr>
          <a:xfrm>
            <a:off x="2045162" y="1024438"/>
            <a:ext cx="273050" cy="126364"/>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decide</a:t>
            </a:r>
            <a:endParaRPr sz="650">
              <a:latin typeface="Arial"/>
              <a:cs typeface="Arial"/>
            </a:endParaRPr>
          </a:p>
        </p:txBody>
      </p:sp>
      <p:grpSp>
        <p:nvGrpSpPr>
          <p:cNvPr id="43" name="object 43"/>
          <p:cNvGrpSpPr/>
          <p:nvPr/>
        </p:nvGrpSpPr>
        <p:grpSpPr>
          <a:xfrm>
            <a:off x="2328808" y="708635"/>
            <a:ext cx="796290" cy="873125"/>
            <a:chOff x="2328808" y="708635"/>
            <a:chExt cx="796290" cy="873125"/>
          </a:xfrm>
        </p:grpSpPr>
        <p:sp>
          <p:nvSpPr>
            <p:cNvPr id="44" name="object 44"/>
            <p:cNvSpPr/>
            <p:nvPr/>
          </p:nvSpPr>
          <p:spPr>
            <a:xfrm>
              <a:off x="2331031" y="734621"/>
              <a:ext cx="399415" cy="249554"/>
            </a:xfrm>
            <a:custGeom>
              <a:avLst/>
              <a:gdLst/>
              <a:ahLst/>
              <a:cxnLst/>
              <a:rect l="l" t="t" r="r" b="b"/>
              <a:pathLst>
                <a:path w="399414" h="249555">
                  <a:moveTo>
                    <a:pt x="0" y="249513"/>
                  </a:moveTo>
                  <a:lnTo>
                    <a:pt x="6237" y="245614"/>
                  </a:lnTo>
                  <a:lnTo>
                    <a:pt x="49902" y="218324"/>
                  </a:lnTo>
                  <a:lnTo>
                    <a:pt x="168422" y="144249"/>
                  </a:lnTo>
                  <a:lnTo>
                    <a:pt x="399223" y="0"/>
                  </a:lnTo>
                </a:path>
              </a:pathLst>
            </a:custGeom>
            <a:ln w="4200">
              <a:solidFill>
                <a:srgbClr val="000000"/>
              </a:solidFill>
            </a:ln>
          </p:spPr>
          <p:txBody>
            <a:bodyPr wrap="square" lIns="0" tIns="0" rIns="0" bIns="0" rtlCol="0"/>
            <a:lstStyle/>
            <a:p>
              <a:endParaRPr/>
            </a:p>
          </p:txBody>
        </p:sp>
        <p:sp>
          <p:nvSpPr>
            <p:cNvPr id="45" name="object 45"/>
            <p:cNvSpPr/>
            <p:nvPr/>
          </p:nvSpPr>
          <p:spPr>
            <a:xfrm>
              <a:off x="2716643" y="710858"/>
              <a:ext cx="29209" cy="46990"/>
            </a:xfrm>
            <a:custGeom>
              <a:avLst/>
              <a:gdLst/>
              <a:ahLst/>
              <a:cxnLst/>
              <a:rect l="l" t="t" r="r" b="b"/>
              <a:pathLst>
                <a:path w="29210" h="46990">
                  <a:moveTo>
                    <a:pt x="29007" y="46411"/>
                  </a:moveTo>
                  <a:lnTo>
                    <a:pt x="0" y="0"/>
                  </a:lnTo>
                </a:path>
              </a:pathLst>
            </a:custGeom>
            <a:ln w="4210">
              <a:solidFill>
                <a:srgbClr val="000000"/>
              </a:solidFill>
            </a:ln>
          </p:spPr>
          <p:txBody>
            <a:bodyPr wrap="square" lIns="0" tIns="0" rIns="0" bIns="0" rtlCol="0"/>
            <a:lstStyle/>
            <a:p>
              <a:endParaRPr/>
            </a:p>
          </p:txBody>
        </p:sp>
        <p:sp>
          <p:nvSpPr>
            <p:cNvPr id="46" name="object 46"/>
            <p:cNvSpPr/>
            <p:nvPr/>
          </p:nvSpPr>
          <p:spPr>
            <a:xfrm>
              <a:off x="2331031" y="984135"/>
              <a:ext cx="401320" cy="287020"/>
            </a:xfrm>
            <a:custGeom>
              <a:avLst/>
              <a:gdLst/>
              <a:ahLst/>
              <a:cxnLst/>
              <a:rect l="l" t="t" r="r" b="b"/>
              <a:pathLst>
                <a:path w="401319" h="287019">
                  <a:moveTo>
                    <a:pt x="0" y="0"/>
                  </a:moveTo>
                  <a:lnTo>
                    <a:pt x="6268" y="4477"/>
                  </a:lnTo>
                  <a:lnTo>
                    <a:pt x="50149" y="35821"/>
                  </a:lnTo>
                  <a:lnTo>
                    <a:pt x="169255" y="120897"/>
                  </a:lnTo>
                  <a:lnTo>
                    <a:pt x="401197" y="286571"/>
                  </a:lnTo>
                </a:path>
              </a:pathLst>
            </a:custGeom>
            <a:ln w="4200">
              <a:solidFill>
                <a:srgbClr val="000000"/>
              </a:solidFill>
            </a:ln>
          </p:spPr>
          <p:txBody>
            <a:bodyPr wrap="square" lIns="0" tIns="0" rIns="0" bIns="0" rtlCol="0"/>
            <a:lstStyle/>
            <a:p>
              <a:endParaRPr/>
            </a:p>
          </p:txBody>
        </p:sp>
        <p:sp>
          <p:nvSpPr>
            <p:cNvPr id="47" name="object 47"/>
            <p:cNvSpPr/>
            <p:nvPr/>
          </p:nvSpPr>
          <p:spPr>
            <a:xfrm>
              <a:off x="2712167" y="1249667"/>
              <a:ext cx="37465" cy="33655"/>
            </a:xfrm>
            <a:custGeom>
              <a:avLst/>
              <a:gdLst/>
              <a:ahLst/>
              <a:cxnLst/>
              <a:rect l="l" t="t" r="r" b="b"/>
              <a:pathLst>
                <a:path w="37464" h="33655">
                  <a:moveTo>
                    <a:pt x="19571" y="0"/>
                  </a:moveTo>
                  <a:lnTo>
                    <a:pt x="20061" y="21039"/>
                  </a:lnTo>
                  <a:lnTo>
                    <a:pt x="0" y="27400"/>
                  </a:lnTo>
                  <a:lnTo>
                    <a:pt x="37186" y="33271"/>
                  </a:lnTo>
                  <a:lnTo>
                    <a:pt x="19571" y="0"/>
                  </a:lnTo>
                  <a:close/>
                </a:path>
              </a:pathLst>
            </a:custGeom>
            <a:solidFill>
              <a:srgbClr val="000000"/>
            </a:solidFill>
          </p:spPr>
          <p:txBody>
            <a:bodyPr wrap="square" lIns="0" tIns="0" rIns="0" bIns="0" rtlCol="0"/>
            <a:lstStyle/>
            <a:p>
              <a:endParaRPr/>
            </a:p>
          </p:txBody>
        </p:sp>
        <p:sp>
          <p:nvSpPr>
            <p:cNvPr id="48" name="object 48"/>
            <p:cNvSpPr/>
            <p:nvPr/>
          </p:nvSpPr>
          <p:spPr>
            <a:xfrm>
              <a:off x="2331031" y="984135"/>
              <a:ext cx="347980" cy="579755"/>
            </a:xfrm>
            <a:custGeom>
              <a:avLst/>
              <a:gdLst/>
              <a:ahLst/>
              <a:cxnLst/>
              <a:rect l="l" t="t" r="r" b="b"/>
              <a:pathLst>
                <a:path w="347980" h="579755">
                  <a:moveTo>
                    <a:pt x="0" y="0"/>
                  </a:moveTo>
                  <a:lnTo>
                    <a:pt x="5432" y="9054"/>
                  </a:lnTo>
                  <a:lnTo>
                    <a:pt x="43463" y="72439"/>
                  </a:lnTo>
                  <a:lnTo>
                    <a:pt x="146690" y="244484"/>
                  </a:lnTo>
                  <a:lnTo>
                    <a:pt x="347710" y="579518"/>
                  </a:lnTo>
                </a:path>
              </a:pathLst>
            </a:custGeom>
            <a:ln w="4200">
              <a:solidFill>
                <a:srgbClr val="000000"/>
              </a:solidFill>
            </a:ln>
          </p:spPr>
          <p:txBody>
            <a:bodyPr wrap="square" lIns="0" tIns="0" rIns="0" bIns="0" rtlCol="0"/>
            <a:lstStyle/>
            <a:p>
              <a:endParaRPr/>
            </a:p>
          </p:txBody>
        </p:sp>
        <p:sp>
          <p:nvSpPr>
            <p:cNvPr id="49" name="object 49"/>
            <p:cNvSpPr/>
            <p:nvPr/>
          </p:nvSpPr>
          <p:spPr>
            <a:xfrm>
              <a:off x="2657757" y="1544117"/>
              <a:ext cx="32384" cy="38100"/>
            </a:xfrm>
            <a:custGeom>
              <a:avLst/>
              <a:gdLst/>
              <a:ahLst/>
              <a:cxnLst/>
              <a:rect l="l" t="t" r="r" b="b"/>
              <a:pathLst>
                <a:path w="32385" h="38100">
                  <a:moveTo>
                    <a:pt x="28942" y="0"/>
                  </a:moveTo>
                  <a:lnTo>
                    <a:pt x="20983" y="19536"/>
                  </a:lnTo>
                  <a:lnTo>
                    <a:pt x="0" y="17365"/>
                  </a:lnTo>
                  <a:lnTo>
                    <a:pt x="31836" y="37625"/>
                  </a:lnTo>
                  <a:lnTo>
                    <a:pt x="28942" y="0"/>
                  </a:lnTo>
                  <a:close/>
                </a:path>
              </a:pathLst>
            </a:custGeom>
            <a:solidFill>
              <a:srgbClr val="000000"/>
            </a:solidFill>
          </p:spPr>
          <p:txBody>
            <a:bodyPr wrap="square" lIns="0" tIns="0" rIns="0" bIns="0" rtlCol="0"/>
            <a:lstStyle/>
            <a:p>
              <a:endParaRPr/>
            </a:p>
          </p:txBody>
        </p:sp>
        <p:sp>
          <p:nvSpPr>
            <p:cNvPr id="50" name="object 50"/>
            <p:cNvSpPr/>
            <p:nvPr/>
          </p:nvSpPr>
          <p:spPr>
            <a:xfrm>
              <a:off x="3033219" y="1245836"/>
              <a:ext cx="90170" cy="74295"/>
            </a:xfrm>
            <a:custGeom>
              <a:avLst/>
              <a:gdLst/>
              <a:ahLst/>
              <a:cxnLst/>
              <a:rect l="l" t="t" r="r" b="b"/>
              <a:pathLst>
                <a:path w="90169" h="74294">
                  <a:moveTo>
                    <a:pt x="89641" y="0"/>
                  </a:moveTo>
                  <a:lnTo>
                    <a:pt x="0" y="0"/>
                  </a:lnTo>
                  <a:lnTo>
                    <a:pt x="0" y="74204"/>
                  </a:lnTo>
                  <a:lnTo>
                    <a:pt x="89641" y="74204"/>
                  </a:lnTo>
                  <a:lnTo>
                    <a:pt x="89641" y="0"/>
                  </a:lnTo>
                  <a:close/>
                </a:path>
              </a:pathLst>
            </a:custGeom>
            <a:solidFill>
              <a:srgbClr val="999999"/>
            </a:solidFill>
          </p:spPr>
          <p:txBody>
            <a:bodyPr wrap="square" lIns="0" tIns="0" rIns="0" bIns="0" rtlCol="0"/>
            <a:lstStyle/>
            <a:p>
              <a:endParaRPr/>
            </a:p>
          </p:txBody>
        </p:sp>
        <p:sp>
          <p:nvSpPr>
            <p:cNvPr id="51" name="object 51"/>
            <p:cNvSpPr/>
            <p:nvPr/>
          </p:nvSpPr>
          <p:spPr>
            <a:xfrm>
              <a:off x="3033219" y="1245836"/>
              <a:ext cx="90170" cy="74295"/>
            </a:xfrm>
            <a:custGeom>
              <a:avLst/>
              <a:gdLst/>
              <a:ahLst/>
              <a:cxnLst/>
              <a:rect l="l" t="t" r="r" b="b"/>
              <a:pathLst>
                <a:path w="90169" h="74294">
                  <a:moveTo>
                    <a:pt x="0" y="74204"/>
                  </a:moveTo>
                  <a:lnTo>
                    <a:pt x="89641" y="74204"/>
                  </a:lnTo>
                  <a:lnTo>
                    <a:pt x="89641" y="0"/>
                  </a:lnTo>
                  <a:lnTo>
                    <a:pt x="0" y="0"/>
                  </a:lnTo>
                  <a:lnTo>
                    <a:pt x="0" y="74204"/>
                  </a:lnTo>
                  <a:close/>
                </a:path>
              </a:pathLst>
            </a:custGeom>
            <a:ln w="4200">
              <a:solidFill>
                <a:srgbClr val="000000"/>
              </a:solidFill>
            </a:ln>
          </p:spPr>
          <p:txBody>
            <a:bodyPr wrap="square" lIns="0" tIns="0" rIns="0" bIns="0" rtlCol="0"/>
            <a:lstStyle/>
            <a:p>
              <a:endParaRPr/>
            </a:p>
          </p:txBody>
        </p:sp>
      </p:grpSp>
      <p:sp>
        <p:nvSpPr>
          <p:cNvPr id="52" name="object 52"/>
          <p:cNvSpPr txBox="1"/>
          <p:nvPr/>
        </p:nvSpPr>
        <p:spPr>
          <a:xfrm>
            <a:off x="2941569" y="1323234"/>
            <a:ext cx="273050" cy="126364"/>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decide</a:t>
            </a:r>
            <a:endParaRPr sz="650">
              <a:latin typeface="Arial"/>
              <a:cs typeface="Arial"/>
            </a:endParaRPr>
          </a:p>
        </p:txBody>
      </p:sp>
      <p:grpSp>
        <p:nvGrpSpPr>
          <p:cNvPr id="53" name="object 53"/>
          <p:cNvGrpSpPr/>
          <p:nvPr/>
        </p:nvGrpSpPr>
        <p:grpSpPr>
          <a:xfrm>
            <a:off x="3031119" y="1542540"/>
            <a:ext cx="93980" cy="78740"/>
            <a:chOff x="3031119" y="1542540"/>
            <a:chExt cx="93980" cy="78740"/>
          </a:xfrm>
        </p:grpSpPr>
        <p:sp>
          <p:nvSpPr>
            <p:cNvPr id="54" name="object 54"/>
            <p:cNvSpPr/>
            <p:nvPr/>
          </p:nvSpPr>
          <p:spPr>
            <a:xfrm>
              <a:off x="3033219" y="1544640"/>
              <a:ext cx="90170" cy="74295"/>
            </a:xfrm>
            <a:custGeom>
              <a:avLst/>
              <a:gdLst/>
              <a:ahLst/>
              <a:cxnLst/>
              <a:rect l="l" t="t" r="r" b="b"/>
              <a:pathLst>
                <a:path w="90169" h="74294">
                  <a:moveTo>
                    <a:pt x="89641" y="0"/>
                  </a:moveTo>
                  <a:lnTo>
                    <a:pt x="0" y="0"/>
                  </a:lnTo>
                  <a:lnTo>
                    <a:pt x="0" y="74204"/>
                  </a:lnTo>
                  <a:lnTo>
                    <a:pt x="89641" y="74204"/>
                  </a:lnTo>
                  <a:lnTo>
                    <a:pt x="89641" y="0"/>
                  </a:lnTo>
                  <a:close/>
                </a:path>
              </a:pathLst>
            </a:custGeom>
            <a:solidFill>
              <a:srgbClr val="999999"/>
            </a:solidFill>
          </p:spPr>
          <p:txBody>
            <a:bodyPr wrap="square" lIns="0" tIns="0" rIns="0" bIns="0" rtlCol="0"/>
            <a:lstStyle/>
            <a:p>
              <a:endParaRPr/>
            </a:p>
          </p:txBody>
        </p:sp>
        <p:sp>
          <p:nvSpPr>
            <p:cNvPr id="55" name="object 55"/>
            <p:cNvSpPr/>
            <p:nvPr/>
          </p:nvSpPr>
          <p:spPr>
            <a:xfrm>
              <a:off x="3033219" y="1544640"/>
              <a:ext cx="90170" cy="74295"/>
            </a:xfrm>
            <a:custGeom>
              <a:avLst/>
              <a:gdLst/>
              <a:ahLst/>
              <a:cxnLst/>
              <a:rect l="l" t="t" r="r" b="b"/>
              <a:pathLst>
                <a:path w="90169" h="74294">
                  <a:moveTo>
                    <a:pt x="0" y="74204"/>
                  </a:moveTo>
                  <a:lnTo>
                    <a:pt x="89641" y="74204"/>
                  </a:lnTo>
                  <a:lnTo>
                    <a:pt x="89641" y="0"/>
                  </a:lnTo>
                  <a:lnTo>
                    <a:pt x="0" y="0"/>
                  </a:lnTo>
                  <a:lnTo>
                    <a:pt x="0" y="74204"/>
                  </a:lnTo>
                  <a:close/>
                </a:path>
              </a:pathLst>
            </a:custGeom>
            <a:ln w="4200">
              <a:solidFill>
                <a:srgbClr val="000000"/>
              </a:solidFill>
            </a:ln>
          </p:spPr>
          <p:txBody>
            <a:bodyPr wrap="square" lIns="0" tIns="0" rIns="0" bIns="0" rtlCol="0"/>
            <a:lstStyle/>
            <a:p>
              <a:endParaRPr/>
            </a:p>
          </p:txBody>
        </p:sp>
      </p:grpSp>
      <p:sp>
        <p:nvSpPr>
          <p:cNvPr id="56" name="object 56"/>
          <p:cNvSpPr txBox="1"/>
          <p:nvPr/>
        </p:nvSpPr>
        <p:spPr>
          <a:xfrm>
            <a:off x="2941569" y="1622039"/>
            <a:ext cx="273050" cy="126364"/>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decide</a:t>
            </a:r>
            <a:endParaRPr sz="650">
              <a:latin typeface="Arial"/>
              <a:cs typeface="Arial"/>
            </a:endParaRPr>
          </a:p>
        </p:txBody>
      </p:sp>
      <p:sp>
        <p:nvSpPr>
          <p:cNvPr id="60" name="object 60"/>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57" name="object 57"/>
          <p:cNvSpPr txBox="1"/>
          <p:nvPr/>
        </p:nvSpPr>
        <p:spPr>
          <a:xfrm>
            <a:off x="347294" y="1818358"/>
            <a:ext cx="920750" cy="20764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Observations</a:t>
            </a:r>
            <a:endParaRPr sz="1200">
              <a:latin typeface="Arial"/>
              <a:cs typeface="Arial"/>
            </a:endParaRPr>
          </a:p>
        </p:txBody>
      </p:sp>
      <p:sp>
        <p:nvSpPr>
          <p:cNvPr id="58" name="object 58"/>
          <p:cNvSpPr txBox="1"/>
          <p:nvPr/>
        </p:nvSpPr>
        <p:spPr>
          <a:xfrm>
            <a:off x="431304" y="2070016"/>
            <a:ext cx="3827779" cy="177800"/>
          </a:xfrm>
          <a:prstGeom prst="rect">
            <a:avLst/>
          </a:prstGeom>
        </p:spPr>
        <p:txBody>
          <a:bodyPr vert="horz" wrap="square" lIns="0" tIns="12065" rIns="0" bIns="0" rtlCol="0">
            <a:spAutoFit/>
          </a:bodyPr>
          <a:lstStyle/>
          <a:p>
            <a:pPr marL="205740" indent="-168275">
              <a:lnSpc>
                <a:spcPct val="100000"/>
              </a:lnSpc>
              <a:spcBef>
                <a:spcPts val="95"/>
              </a:spcBef>
              <a:buClr>
                <a:srgbClr val="3333B2"/>
              </a:buClr>
              <a:buFont typeface="Arial"/>
              <a:buChar char="►"/>
              <a:tabLst>
                <a:tab pos="206375" algn="l"/>
              </a:tabLst>
            </a:pPr>
            <a:r>
              <a:rPr sz="1000" i="1" spc="5" dirty="0">
                <a:latin typeface="Arial"/>
                <a:cs typeface="Arial"/>
              </a:rPr>
              <a:t>P</a:t>
            </a:r>
            <a:r>
              <a:rPr sz="1050" i="1" spc="7" baseline="-15873" dirty="0">
                <a:latin typeface="Arial"/>
                <a:cs typeface="Arial"/>
              </a:rPr>
              <a:t>2</a:t>
            </a:r>
            <a:r>
              <a:rPr sz="1050" i="1" spc="262" baseline="-15873" dirty="0">
                <a:latin typeface="Arial"/>
                <a:cs typeface="Arial"/>
              </a:rPr>
              <a:t> </a:t>
            </a:r>
            <a:r>
              <a:rPr sz="1000" spc="-5" dirty="0">
                <a:latin typeface="Arial"/>
                <a:cs typeface="Arial"/>
              </a:rPr>
              <a:t>received</a:t>
            </a:r>
            <a:r>
              <a:rPr sz="1000" dirty="0">
                <a:latin typeface="Arial"/>
                <a:cs typeface="Arial"/>
              </a:rPr>
              <a:t> </a:t>
            </a:r>
            <a:r>
              <a:rPr sz="1000" spc="-5" dirty="0">
                <a:latin typeface="Arial"/>
                <a:cs typeface="Arial"/>
              </a:rPr>
              <a:t>all proposed</a:t>
            </a:r>
            <a:r>
              <a:rPr sz="1000" dirty="0">
                <a:latin typeface="Arial"/>
                <a:cs typeface="Arial"/>
              </a:rPr>
              <a:t> </a:t>
            </a:r>
            <a:r>
              <a:rPr sz="1000" spc="-5" dirty="0">
                <a:latin typeface="Arial"/>
                <a:cs typeface="Arial"/>
              </a:rPr>
              <a:t>commands</a:t>
            </a:r>
            <a:r>
              <a:rPr sz="1000" dirty="0">
                <a:latin typeface="Arial"/>
                <a:cs typeface="Arial"/>
              </a:rPr>
              <a:t> </a:t>
            </a:r>
            <a:r>
              <a:rPr sz="1000" spc="-5" dirty="0">
                <a:latin typeface="Arial"/>
                <a:cs typeface="Arial"/>
              </a:rPr>
              <a:t>from all</a:t>
            </a:r>
            <a:r>
              <a:rPr sz="1000" dirty="0">
                <a:latin typeface="Arial"/>
                <a:cs typeface="Arial"/>
              </a:rPr>
              <a:t> </a:t>
            </a:r>
            <a:r>
              <a:rPr sz="1000" spc="-5" dirty="0">
                <a:latin typeface="Arial"/>
                <a:cs typeface="Arial"/>
              </a:rPr>
              <a:t>other processes</a:t>
            </a:r>
            <a:r>
              <a:rPr sz="1000" dirty="0">
                <a:latin typeface="Arial"/>
                <a:cs typeface="Arial"/>
              </a:rPr>
              <a:t> </a:t>
            </a:r>
            <a:r>
              <a:rPr sz="1000" i="1" spc="-5" dirty="0">
                <a:latin typeface="メイリオ"/>
                <a:cs typeface="メイリオ"/>
              </a:rPr>
              <a:t>⇒</a:t>
            </a:r>
            <a:endParaRPr sz="1000">
              <a:latin typeface="メイリオ"/>
              <a:cs typeface="メイリオ"/>
            </a:endParaRPr>
          </a:p>
        </p:txBody>
      </p:sp>
      <p:sp>
        <p:nvSpPr>
          <p:cNvPr id="59" name="object 59"/>
          <p:cNvSpPr txBox="1"/>
          <p:nvPr/>
        </p:nvSpPr>
        <p:spPr>
          <a:xfrm>
            <a:off x="431304" y="2145925"/>
            <a:ext cx="3757929" cy="784860"/>
          </a:xfrm>
          <a:prstGeom prst="rect">
            <a:avLst/>
          </a:prstGeom>
        </p:spPr>
        <p:txBody>
          <a:bodyPr vert="horz" wrap="square" lIns="0" tIns="88265" rIns="0" bIns="0" rtlCol="0">
            <a:spAutoFit/>
          </a:bodyPr>
          <a:lstStyle/>
          <a:p>
            <a:pPr marL="205740">
              <a:lnSpc>
                <a:spcPct val="100000"/>
              </a:lnSpc>
              <a:spcBef>
                <a:spcPts val="695"/>
              </a:spcBef>
            </a:pPr>
            <a:r>
              <a:rPr sz="1000" spc="-10" dirty="0">
                <a:solidFill>
                  <a:srgbClr val="FA0000"/>
                </a:solidFill>
                <a:latin typeface="Arial"/>
                <a:cs typeface="Arial"/>
              </a:rPr>
              <a:t>makes</a:t>
            </a:r>
            <a:r>
              <a:rPr sz="1000" spc="-30" dirty="0">
                <a:solidFill>
                  <a:srgbClr val="FA0000"/>
                </a:solidFill>
                <a:latin typeface="Arial"/>
                <a:cs typeface="Arial"/>
              </a:rPr>
              <a:t> </a:t>
            </a:r>
            <a:r>
              <a:rPr sz="1000" spc="-5" dirty="0">
                <a:solidFill>
                  <a:srgbClr val="FA0000"/>
                </a:solidFill>
                <a:latin typeface="Arial"/>
                <a:cs typeface="Arial"/>
              </a:rPr>
              <a:t>decision</a:t>
            </a:r>
            <a:r>
              <a:rPr sz="1000" spc="-5" dirty="0">
                <a:latin typeface="Arial"/>
                <a:cs typeface="Arial"/>
              </a:rPr>
              <a:t>.</a:t>
            </a:r>
            <a:endParaRPr sz="1000">
              <a:latin typeface="Arial"/>
              <a:cs typeface="Arial"/>
            </a:endParaRPr>
          </a:p>
          <a:p>
            <a:pPr marL="205740" marR="30480" indent="-168275">
              <a:lnSpc>
                <a:spcPct val="100000"/>
              </a:lnSpc>
              <a:spcBef>
                <a:spcPts val="590"/>
              </a:spcBef>
              <a:buClr>
                <a:srgbClr val="3333B2"/>
              </a:buClr>
              <a:buFont typeface="Arial"/>
              <a:buChar char="►"/>
              <a:tabLst>
                <a:tab pos="206375" algn="l"/>
              </a:tabLst>
            </a:pPr>
            <a:r>
              <a:rPr sz="1000" i="1" spc="5" dirty="0">
                <a:latin typeface="Arial"/>
                <a:cs typeface="Arial"/>
              </a:rPr>
              <a:t>P</a:t>
            </a:r>
            <a:r>
              <a:rPr sz="1050" i="1" spc="7" baseline="-15873" dirty="0">
                <a:latin typeface="Arial"/>
                <a:cs typeface="Arial"/>
              </a:rPr>
              <a:t>3</a:t>
            </a:r>
            <a:r>
              <a:rPr sz="1050" i="1" spc="15" baseline="-15873" dirty="0">
                <a:latin typeface="Arial"/>
                <a:cs typeface="Arial"/>
              </a:rPr>
              <a:t> </a:t>
            </a:r>
            <a:r>
              <a:rPr sz="1000" spc="-15" dirty="0">
                <a:latin typeface="Arial"/>
                <a:cs typeface="Arial"/>
              </a:rPr>
              <a:t>may have </a:t>
            </a:r>
            <a:r>
              <a:rPr sz="1000" spc="-5" dirty="0">
                <a:latin typeface="Arial"/>
                <a:cs typeface="Arial"/>
              </a:rPr>
              <a:t>detected that </a:t>
            </a:r>
            <a:r>
              <a:rPr sz="1000" i="1" spc="5" dirty="0">
                <a:latin typeface="Arial"/>
                <a:cs typeface="Arial"/>
              </a:rPr>
              <a:t>P</a:t>
            </a:r>
            <a:r>
              <a:rPr sz="1050" i="1" spc="7" baseline="-15873" dirty="0">
                <a:latin typeface="Arial"/>
                <a:cs typeface="Arial"/>
              </a:rPr>
              <a:t>1</a:t>
            </a:r>
            <a:r>
              <a:rPr sz="1050" i="1" spc="15" baseline="-15873" dirty="0">
                <a:latin typeface="Arial"/>
                <a:cs typeface="Arial"/>
              </a:rPr>
              <a:t> </a:t>
            </a:r>
            <a:r>
              <a:rPr sz="1000" spc="-5" dirty="0">
                <a:latin typeface="Arial"/>
                <a:cs typeface="Arial"/>
              </a:rPr>
              <a:t>crashed, </a:t>
            </a:r>
            <a:r>
              <a:rPr sz="1000" spc="-10" dirty="0">
                <a:latin typeface="Arial"/>
                <a:cs typeface="Arial"/>
              </a:rPr>
              <a:t>but </a:t>
            </a:r>
            <a:r>
              <a:rPr sz="1000" spc="-5" dirty="0">
                <a:latin typeface="Arial"/>
                <a:cs typeface="Arial"/>
              </a:rPr>
              <a:t>does not </a:t>
            </a:r>
            <a:r>
              <a:rPr sz="1000" spc="-10" dirty="0">
                <a:latin typeface="Arial"/>
                <a:cs typeface="Arial"/>
              </a:rPr>
              <a:t>know </a:t>
            </a:r>
            <a:r>
              <a:rPr sz="1000" spc="-5" dirty="0">
                <a:latin typeface="Arial"/>
                <a:cs typeface="Arial"/>
              </a:rPr>
              <a:t>if </a:t>
            </a:r>
            <a:r>
              <a:rPr sz="1000" i="1" spc="5" dirty="0">
                <a:latin typeface="Arial"/>
                <a:cs typeface="Arial"/>
              </a:rPr>
              <a:t>P</a:t>
            </a:r>
            <a:r>
              <a:rPr sz="1050" i="1" spc="7" baseline="-15873" dirty="0">
                <a:latin typeface="Arial"/>
                <a:cs typeface="Arial"/>
              </a:rPr>
              <a:t>2 </a:t>
            </a:r>
            <a:r>
              <a:rPr sz="1050" i="1" spc="-270" baseline="-15873" dirty="0">
                <a:latin typeface="Arial"/>
                <a:cs typeface="Arial"/>
              </a:rPr>
              <a:t> </a:t>
            </a:r>
            <a:r>
              <a:rPr sz="1000" spc="-5" dirty="0">
                <a:latin typeface="Arial"/>
                <a:cs typeface="Arial"/>
              </a:rPr>
              <a:t>received anything, i.e., </a:t>
            </a:r>
            <a:r>
              <a:rPr sz="1000" i="1" spc="5" dirty="0">
                <a:latin typeface="Arial"/>
                <a:cs typeface="Arial"/>
              </a:rPr>
              <a:t>P</a:t>
            </a:r>
            <a:r>
              <a:rPr sz="1050" i="1" spc="7" baseline="-15873" dirty="0">
                <a:latin typeface="Arial"/>
                <a:cs typeface="Arial"/>
              </a:rPr>
              <a:t>3</a:t>
            </a:r>
            <a:r>
              <a:rPr sz="1050" i="1" spc="15" baseline="-15873" dirty="0">
                <a:latin typeface="Arial"/>
                <a:cs typeface="Arial"/>
              </a:rPr>
              <a:t> </a:t>
            </a:r>
            <a:r>
              <a:rPr sz="1000" spc="-5" dirty="0">
                <a:latin typeface="Arial"/>
                <a:cs typeface="Arial"/>
              </a:rPr>
              <a:t>cannot </a:t>
            </a:r>
            <a:r>
              <a:rPr sz="1000" spc="-10" dirty="0">
                <a:latin typeface="Arial"/>
                <a:cs typeface="Arial"/>
              </a:rPr>
              <a:t>know </a:t>
            </a:r>
            <a:r>
              <a:rPr sz="1000" spc="-5" dirty="0">
                <a:solidFill>
                  <a:srgbClr val="0000FA"/>
                </a:solidFill>
                <a:latin typeface="Arial"/>
                <a:cs typeface="Arial"/>
              </a:rPr>
              <a:t>if it has the same </a:t>
            </a:r>
            <a:r>
              <a:rPr sz="1000" dirty="0">
                <a:solidFill>
                  <a:srgbClr val="0000FA"/>
                </a:solidFill>
                <a:latin typeface="Arial"/>
                <a:cs typeface="Arial"/>
              </a:rPr>
              <a:t> </a:t>
            </a:r>
            <a:r>
              <a:rPr sz="1000" spc="-5" dirty="0">
                <a:solidFill>
                  <a:srgbClr val="0000FA"/>
                </a:solidFill>
                <a:latin typeface="Arial"/>
                <a:cs typeface="Arial"/>
              </a:rPr>
              <a:t>information </a:t>
            </a:r>
            <a:r>
              <a:rPr sz="1000" spc="-5" dirty="0">
                <a:latin typeface="Arial"/>
                <a:cs typeface="Arial"/>
              </a:rPr>
              <a:t>as </a:t>
            </a:r>
            <a:r>
              <a:rPr sz="1000" i="1" spc="5" dirty="0">
                <a:latin typeface="Arial"/>
                <a:cs typeface="Arial"/>
              </a:rPr>
              <a:t>P</a:t>
            </a:r>
            <a:r>
              <a:rPr sz="1050" i="1" spc="7" baseline="-15873" dirty="0">
                <a:latin typeface="Arial"/>
                <a:cs typeface="Arial"/>
              </a:rPr>
              <a:t>2</a:t>
            </a:r>
            <a:r>
              <a:rPr sz="1050" i="1" spc="270" baseline="-15873"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solidFill>
                  <a:srgbClr val="FA0000"/>
                </a:solidFill>
                <a:latin typeface="Arial"/>
                <a:cs typeface="Arial"/>
              </a:rPr>
              <a:t>cannot</a:t>
            </a:r>
            <a:r>
              <a:rPr sz="1000" dirty="0">
                <a:solidFill>
                  <a:srgbClr val="FA0000"/>
                </a:solidFill>
                <a:latin typeface="Arial"/>
                <a:cs typeface="Arial"/>
              </a:rPr>
              <a:t> </a:t>
            </a:r>
            <a:r>
              <a:rPr sz="1000" spc="-10" dirty="0">
                <a:solidFill>
                  <a:srgbClr val="FA0000"/>
                </a:solidFill>
                <a:latin typeface="Arial"/>
                <a:cs typeface="Arial"/>
              </a:rPr>
              <a:t>make</a:t>
            </a:r>
            <a:r>
              <a:rPr sz="1000" spc="-5" dirty="0">
                <a:solidFill>
                  <a:srgbClr val="FA0000"/>
                </a:solidFill>
                <a:latin typeface="Arial"/>
                <a:cs typeface="Arial"/>
              </a:rPr>
              <a:t> decision </a:t>
            </a:r>
            <a:r>
              <a:rPr sz="1000" spc="-5" dirty="0">
                <a:latin typeface="Arial"/>
                <a:cs typeface="Arial"/>
              </a:rPr>
              <a:t>(same</a:t>
            </a:r>
            <a:r>
              <a:rPr sz="1000" dirty="0">
                <a:latin typeface="Arial"/>
                <a:cs typeface="Arial"/>
              </a:rPr>
              <a:t> </a:t>
            </a:r>
            <a:r>
              <a:rPr sz="1000" spc="-15" dirty="0">
                <a:latin typeface="Arial"/>
                <a:cs typeface="Arial"/>
              </a:rPr>
              <a:t>for</a:t>
            </a:r>
            <a:r>
              <a:rPr sz="1000" spc="-5" dirty="0">
                <a:latin typeface="Arial"/>
                <a:cs typeface="Arial"/>
              </a:rPr>
              <a:t> </a:t>
            </a:r>
            <a:r>
              <a:rPr sz="1000" i="1" spc="5" dirty="0">
                <a:latin typeface="Arial"/>
                <a:cs typeface="Arial"/>
              </a:rPr>
              <a:t>P</a:t>
            </a:r>
            <a:r>
              <a:rPr sz="1050" i="1" spc="7" baseline="-15873" dirty="0">
                <a:latin typeface="Arial"/>
                <a:cs typeface="Arial"/>
              </a:rPr>
              <a:t>4</a:t>
            </a:r>
            <a:r>
              <a:rPr sz="1050" i="1" spc="-202" baseline="-15873" dirty="0">
                <a:latin typeface="Arial"/>
                <a:cs typeface="Arial"/>
              </a:rPr>
              <a:t> </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10965"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Example:</a:t>
            </a:r>
            <a:r>
              <a:rPr sz="600" spc="5"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Realistic</a:t>
            </a:r>
            <a:r>
              <a:rPr spc="-10" dirty="0"/>
              <a:t> </a:t>
            </a:r>
            <a:r>
              <a:rPr spc="15" dirty="0"/>
              <a:t>consensus:</a:t>
            </a:r>
            <a:r>
              <a:rPr spc="85" dirty="0"/>
              <a:t> </a:t>
            </a:r>
            <a:r>
              <a:rPr spc="5" dirty="0"/>
              <a:t>Paxos</a:t>
            </a:r>
          </a:p>
        </p:txBody>
      </p:sp>
      <p:sp>
        <p:nvSpPr>
          <p:cNvPr id="4" name="object 4"/>
          <p:cNvSpPr txBox="1"/>
          <p:nvPr/>
        </p:nvSpPr>
        <p:spPr>
          <a:xfrm>
            <a:off x="54013" y="429321"/>
            <a:ext cx="4219575" cy="3014980"/>
          </a:xfrm>
          <a:prstGeom prst="rect">
            <a:avLst/>
          </a:prstGeom>
        </p:spPr>
        <p:txBody>
          <a:bodyPr vert="horz" wrap="square" lIns="0" tIns="12065" rIns="0" bIns="0" rtlCol="0">
            <a:spAutoFit/>
          </a:bodyPr>
          <a:lstStyle/>
          <a:p>
            <a:pPr marL="300355">
              <a:lnSpc>
                <a:spcPct val="100000"/>
              </a:lnSpc>
              <a:spcBef>
                <a:spcPts val="95"/>
              </a:spcBef>
            </a:pPr>
            <a:r>
              <a:rPr sz="1200" spc="-5" dirty="0">
                <a:solidFill>
                  <a:srgbClr val="3333B2"/>
                </a:solidFill>
                <a:latin typeface="Arial"/>
                <a:cs typeface="Arial"/>
              </a:rPr>
              <a:t>Assumptions (rather </a:t>
            </a:r>
            <a:r>
              <a:rPr sz="1200" spc="-10" dirty="0">
                <a:solidFill>
                  <a:srgbClr val="3333B2"/>
                </a:solidFill>
                <a:latin typeface="Arial"/>
                <a:cs typeface="Arial"/>
              </a:rPr>
              <a:t>weak</a:t>
            </a:r>
            <a:r>
              <a:rPr sz="1200" spc="-5" dirty="0">
                <a:solidFill>
                  <a:srgbClr val="3333B2"/>
                </a:solidFill>
                <a:latin typeface="Arial"/>
                <a:cs typeface="Arial"/>
              </a:rPr>
              <a:t> </a:t>
            </a:r>
            <a:r>
              <a:rPr sz="1200" spc="-10" dirty="0">
                <a:solidFill>
                  <a:srgbClr val="3333B2"/>
                </a:solidFill>
                <a:latin typeface="Arial"/>
                <a:cs typeface="Arial"/>
              </a:rPr>
              <a:t>ones,</a:t>
            </a:r>
            <a:r>
              <a:rPr sz="1200" spc="-5" dirty="0">
                <a:solidFill>
                  <a:srgbClr val="3333B2"/>
                </a:solidFill>
                <a:latin typeface="Arial"/>
                <a:cs typeface="Arial"/>
              </a:rPr>
              <a:t> and</a:t>
            </a:r>
            <a:r>
              <a:rPr sz="1200" dirty="0">
                <a:solidFill>
                  <a:srgbClr val="3333B2"/>
                </a:solidFill>
                <a:latin typeface="Arial"/>
                <a:cs typeface="Arial"/>
              </a:rPr>
              <a:t> </a:t>
            </a:r>
            <a:r>
              <a:rPr sz="1200" spc="-5" dirty="0">
                <a:solidFill>
                  <a:srgbClr val="3333B2"/>
                </a:solidFill>
                <a:latin typeface="Arial"/>
                <a:cs typeface="Arial"/>
              </a:rPr>
              <a:t>realistic)</a:t>
            </a:r>
            <a:endParaRPr sz="1200">
              <a:latin typeface="Arial"/>
              <a:cs typeface="Arial"/>
            </a:endParaRPr>
          </a:p>
          <a:p>
            <a:pPr marL="582930" marR="586105" indent="-168275">
              <a:lnSpc>
                <a:spcPct val="100000"/>
              </a:lnSpc>
              <a:spcBef>
                <a:spcPts val="770"/>
              </a:spcBef>
              <a:buClr>
                <a:srgbClr val="3333B2"/>
              </a:buClr>
              <a:buChar char="►"/>
              <a:tabLst>
                <a:tab pos="583565" algn="l"/>
              </a:tabLst>
            </a:pPr>
            <a:r>
              <a:rPr sz="1000" spc="-5" dirty="0">
                <a:latin typeface="Arial"/>
                <a:cs typeface="Arial"/>
              </a:rPr>
              <a:t>A </a:t>
            </a:r>
            <a:r>
              <a:rPr sz="1000" dirty="0">
                <a:solidFill>
                  <a:srgbClr val="0000FA"/>
                </a:solidFill>
                <a:latin typeface="Arial"/>
                <a:cs typeface="Arial"/>
              </a:rPr>
              <a:t>partially </a:t>
            </a:r>
            <a:r>
              <a:rPr sz="1000" spc="-5" dirty="0">
                <a:solidFill>
                  <a:srgbClr val="0000FA"/>
                </a:solidFill>
                <a:latin typeface="Arial"/>
                <a:cs typeface="Arial"/>
              </a:rPr>
              <a:t>synchronous</a:t>
            </a:r>
            <a:r>
              <a:rPr sz="1000" dirty="0">
                <a:solidFill>
                  <a:srgbClr val="0000FA"/>
                </a:solidFill>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(in </a:t>
            </a:r>
            <a:r>
              <a:rPr sz="1000" spc="-10" dirty="0">
                <a:latin typeface="Arial"/>
                <a:cs typeface="Arial"/>
              </a:rPr>
              <a:t>fact,</a:t>
            </a:r>
            <a:r>
              <a:rPr sz="1000" dirty="0">
                <a:latin typeface="Arial"/>
                <a:cs typeface="Arial"/>
              </a:rPr>
              <a:t> </a:t>
            </a:r>
            <a:r>
              <a:rPr sz="1000" spc="-5" dirty="0">
                <a:latin typeface="Arial"/>
                <a:cs typeface="Arial"/>
              </a:rPr>
              <a:t>it</a:t>
            </a:r>
            <a:r>
              <a:rPr sz="1000" dirty="0">
                <a:latin typeface="Arial"/>
                <a:cs typeface="Arial"/>
              </a:rPr>
              <a:t> </a:t>
            </a:r>
            <a:r>
              <a:rPr sz="1000" spc="-15" dirty="0">
                <a:latin typeface="Arial"/>
                <a:cs typeface="Arial"/>
              </a:rPr>
              <a:t>may</a:t>
            </a:r>
            <a:r>
              <a:rPr sz="1000" dirty="0">
                <a:latin typeface="Arial"/>
                <a:cs typeface="Arial"/>
              </a:rPr>
              <a:t> </a:t>
            </a:r>
            <a:r>
              <a:rPr sz="1000" spc="-20" dirty="0">
                <a:latin typeface="Arial"/>
                <a:cs typeface="Arial"/>
              </a:rPr>
              <a:t>even</a:t>
            </a:r>
            <a:r>
              <a:rPr sz="1000" dirty="0">
                <a:latin typeface="Arial"/>
                <a:cs typeface="Arial"/>
              </a:rPr>
              <a:t> </a:t>
            </a:r>
            <a:r>
              <a:rPr sz="1000" spc="-5" dirty="0">
                <a:latin typeface="Arial"/>
                <a:cs typeface="Arial"/>
              </a:rPr>
              <a:t>be </a:t>
            </a:r>
            <a:r>
              <a:rPr sz="1000" spc="-265" dirty="0">
                <a:latin typeface="Arial"/>
                <a:cs typeface="Arial"/>
              </a:rPr>
              <a:t> </a:t>
            </a:r>
            <a:r>
              <a:rPr sz="1000" spc="-5" dirty="0">
                <a:latin typeface="Arial"/>
                <a:cs typeface="Arial"/>
              </a:rPr>
              <a:t>asynchronous).</a:t>
            </a:r>
            <a:endParaRPr sz="1000">
              <a:latin typeface="Arial"/>
              <a:cs typeface="Arial"/>
            </a:endParaRPr>
          </a:p>
          <a:p>
            <a:pPr marL="582930" marR="17780" indent="-168275">
              <a:lnSpc>
                <a:spcPct val="100000"/>
              </a:lnSpc>
              <a:spcBef>
                <a:spcPts val="590"/>
              </a:spcBef>
              <a:buClr>
                <a:srgbClr val="3333B2"/>
              </a:buClr>
              <a:buChar char="►"/>
              <a:tabLst>
                <a:tab pos="583565" algn="l"/>
              </a:tabLst>
            </a:pPr>
            <a:r>
              <a:rPr sz="1000" spc="-15" dirty="0">
                <a:solidFill>
                  <a:srgbClr val="0000FA"/>
                </a:solidFill>
                <a:latin typeface="Arial"/>
                <a:cs typeface="Arial"/>
              </a:rPr>
              <a:t>Communication</a:t>
            </a:r>
            <a:r>
              <a:rPr sz="1000" spc="-10" dirty="0">
                <a:solidFill>
                  <a:srgbClr val="0000FA"/>
                </a:solidFill>
                <a:latin typeface="Arial"/>
                <a:cs typeface="Arial"/>
              </a:rPr>
              <a:t> </a:t>
            </a:r>
            <a:r>
              <a:rPr sz="1000" spc="-15" dirty="0">
                <a:latin typeface="Arial"/>
                <a:cs typeface="Arial"/>
              </a:rPr>
              <a:t>between</a:t>
            </a:r>
            <a:r>
              <a:rPr sz="1000" spc="-10" dirty="0">
                <a:latin typeface="Arial"/>
                <a:cs typeface="Arial"/>
              </a:rPr>
              <a:t> </a:t>
            </a:r>
            <a:r>
              <a:rPr sz="1000" spc="-15" dirty="0">
                <a:latin typeface="Arial"/>
                <a:cs typeface="Arial"/>
              </a:rPr>
              <a:t>processes</a:t>
            </a:r>
            <a:r>
              <a:rPr sz="1000" spc="-10" dirty="0">
                <a:latin typeface="Arial"/>
                <a:cs typeface="Arial"/>
              </a:rPr>
              <a:t> </a:t>
            </a:r>
            <a:r>
              <a:rPr sz="1000" spc="-30" dirty="0">
                <a:latin typeface="Arial"/>
                <a:cs typeface="Arial"/>
              </a:rPr>
              <a:t>may</a:t>
            </a:r>
            <a:r>
              <a:rPr sz="1000" spc="-10" dirty="0">
                <a:latin typeface="Arial"/>
                <a:cs typeface="Arial"/>
              </a:rPr>
              <a:t> </a:t>
            </a:r>
            <a:r>
              <a:rPr sz="1000" spc="-15" dirty="0">
                <a:latin typeface="Arial"/>
                <a:cs typeface="Arial"/>
              </a:rPr>
              <a:t>be</a:t>
            </a:r>
            <a:r>
              <a:rPr sz="1000" spc="-10" dirty="0">
                <a:latin typeface="Arial"/>
                <a:cs typeface="Arial"/>
              </a:rPr>
              <a:t> </a:t>
            </a:r>
            <a:r>
              <a:rPr sz="1000" spc="-15" dirty="0">
                <a:solidFill>
                  <a:srgbClr val="0000FA"/>
                </a:solidFill>
                <a:latin typeface="Arial"/>
                <a:cs typeface="Arial"/>
              </a:rPr>
              <a:t>unreliable</a:t>
            </a:r>
            <a:r>
              <a:rPr sz="1000" spc="-15" dirty="0">
                <a:latin typeface="Arial"/>
                <a:cs typeface="Arial"/>
              </a:rPr>
              <a:t>:</a:t>
            </a:r>
            <a:r>
              <a:rPr sz="1000" spc="60" dirty="0">
                <a:latin typeface="Arial"/>
                <a:cs typeface="Arial"/>
              </a:rPr>
              <a:t> </a:t>
            </a:r>
            <a:r>
              <a:rPr sz="1000" spc="-15" dirty="0">
                <a:latin typeface="Arial"/>
                <a:cs typeface="Arial"/>
              </a:rPr>
              <a:t>messages </a:t>
            </a:r>
            <a:r>
              <a:rPr sz="1000" spc="-265" dirty="0">
                <a:latin typeface="Arial"/>
                <a:cs typeface="Arial"/>
              </a:rPr>
              <a:t> </a:t>
            </a:r>
            <a:r>
              <a:rPr sz="1000" spc="-15" dirty="0">
                <a:latin typeface="Arial"/>
                <a:cs typeface="Arial"/>
              </a:rPr>
              <a:t>may</a:t>
            </a:r>
            <a:r>
              <a:rPr sz="1000" spc="-5" dirty="0">
                <a:latin typeface="Arial"/>
                <a:cs typeface="Arial"/>
              </a:rPr>
              <a:t> be lost, duplicated, or reordered.</a:t>
            </a:r>
            <a:endParaRPr sz="1000">
              <a:latin typeface="Arial"/>
              <a:cs typeface="Arial"/>
            </a:endParaRPr>
          </a:p>
          <a:p>
            <a:pPr marL="582930" marR="236854" indent="-168275">
              <a:lnSpc>
                <a:spcPct val="100000"/>
              </a:lnSpc>
              <a:spcBef>
                <a:spcPts val="590"/>
              </a:spcBef>
              <a:buClr>
                <a:srgbClr val="3333B2"/>
              </a:buClr>
              <a:buChar char="►"/>
              <a:tabLst>
                <a:tab pos="583565" algn="l"/>
              </a:tabLst>
            </a:pPr>
            <a:r>
              <a:rPr sz="1000" spc="-5" dirty="0">
                <a:solidFill>
                  <a:srgbClr val="0000FA"/>
                </a:solidFill>
                <a:latin typeface="Arial"/>
                <a:cs typeface="Arial"/>
              </a:rPr>
              <a:t>Corrupted</a:t>
            </a:r>
            <a:r>
              <a:rPr sz="1000" dirty="0">
                <a:solidFill>
                  <a:srgbClr val="0000FA"/>
                </a:solidFill>
                <a:latin typeface="Arial"/>
                <a:cs typeface="Arial"/>
              </a:rPr>
              <a:t> </a:t>
            </a:r>
            <a:r>
              <a:rPr sz="1000" spc="-5" dirty="0">
                <a:solidFill>
                  <a:srgbClr val="0000FA"/>
                </a:solidFill>
                <a:latin typeface="Arial"/>
                <a:cs typeface="Arial"/>
              </a:rPr>
              <a:t>message</a:t>
            </a:r>
            <a:r>
              <a:rPr sz="1000" spc="5" dirty="0">
                <a:solidFill>
                  <a:srgbClr val="0000FA"/>
                </a:solidFill>
                <a:latin typeface="Arial"/>
                <a:cs typeface="Arial"/>
              </a:rPr>
              <a:t> </a:t>
            </a:r>
            <a:r>
              <a:rPr sz="1000" spc="-5" dirty="0">
                <a:solidFill>
                  <a:srgbClr val="0000FA"/>
                </a:solidFill>
                <a:latin typeface="Arial"/>
                <a:cs typeface="Arial"/>
              </a:rPr>
              <a:t>can</a:t>
            </a:r>
            <a:r>
              <a:rPr sz="1000" dirty="0">
                <a:solidFill>
                  <a:srgbClr val="0000FA"/>
                </a:solidFill>
                <a:latin typeface="Arial"/>
                <a:cs typeface="Arial"/>
              </a:rPr>
              <a:t> </a:t>
            </a:r>
            <a:r>
              <a:rPr sz="1000" spc="-5" dirty="0">
                <a:solidFill>
                  <a:srgbClr val="0000FA"/>
                </a:solidFill>
                <a:latin typeface="Arial"/>
                <a:cs typeface="Arial"/>
              </a:rPr>
              <a:t>be</a:t>
            </a:r>
            <a:r>
              <a:rPr sz="1000" spc="5" dirty="0">
                <a:solidFill>
                  <a:srgbClr val="0000FA"/>
                </a:solidFill>
                <a:latin typeface="Arial"/>
                <a:cs typeface="Arial"/>
              </a:rPr>
              <a:t> </a:t>
            </a:r>
            <a:r>
              <a:rPr sz="1000" spc="-5" dirty="0">
                <a:solidFill>
                  <a:srgbClr val="0000FA"/>
                </a:solidFill>
                <a:latin typeface="Arial"/>
                <a:cs typeface="Arial"/>
              </a:rPr>
              <a:t>detected</a:t>
            </a:r>
            <a:r>
              <a:rPr sz="1000" spc="5" dirty="0">
                <a:solidFill>
                  <a:srgbClr val="0000FA"/>
                </a:solidFill>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thus</a:t>
            </a:r>
            <a:r>
              <a:rPr sz="1000" spc="5" dirty="0">
                <a:latin typeface="Arial"/>
                <a:cs typeface="Arial"/>
              </a:rPr>
              <a:t> </a:t>
            </a:r>
            <a:r>
              <a:rPr sz="1000" spc="-5" dirty="0">
                <a:latin typeface="Arial"/>
                <a:cs typeface="Arial"/>
              </a:rPr>
              <a:t>subsequently </a:t>
            </a:r>
            <a:r>
              <a:rPr sz="1000" spc="-265" dirty="0">
                <a:latin typeface="Arial"/>
                <a:cs typeface="Arial"/>
              </a:rPr>
              <a:t> </a:t>
            </a:r>
            <a:r>
              <a:rPr sz="1000" spc="-5" dirty="0">
                <a:latin typeface="Arial"/>
                <a:cs typeface="Arial"/>
              </a:rPr>
              <a:t>ignored).</a:t>
            </a:r>
            <a:endParaRPr sz="1000">
              <a:latin typeface="Arial"/>
              <a:cs typeface="Arial"/>
            </a:endParaRPr>
          </a:p>
          <a:p>
            <a:pPr marL="582930" marR="17780" indent="-168275">
              <a:lnSpc>
                <a:spcPct val="100000"/>
              </a:lnSpc>
              <a:spcBef>
                <a:spcPts val="585"/>
              </a:spcBef>
              <a:buClr>
                <a:srgbClr val="3333B2"/>
              </a:buClr>
              <a:buChar char="►"/>
              <a:tabLst>
                <a:tab pos="583565" algn="l"/>
              </a:tabLst>
            </a:pPr>
            <a:r>
              <a:rPr sz="1000" spc="-10" dirty="0">
                <a:latin typeface="Arial"/>
                <a:cs typeface="Arial"/>
              </a:rPr>
              <a:t>All</a:t>
            </a:r>
            <a:r>
              <a:rPr sz="1000" spc="-5" dirty="0">
                <a:latin typeface="Arial"/>
                <a:cs typeface="Arial"/>
              </a:rPr>
              <a:t> </a:t>
            </a:r>
            <a:r>
              <a:rPr sz="1000" spc="-10" dirty="0">
                <a:solidFill>
                  <a:srgbClr val="0000FA"/>
                </a:solidFill>
                <a:latin typeface="Arial"/>
                <a:cs typeface="Arial"/>
              </a:rPr>
              <a:t>operations</a:t>
            </a:r>
            <a:r>
              <a:rPr sz="1000" spc="-5" dirty="0">
                <a:solidFill>
                  <a:srgbClr val="0000FA"/>
                </a:solidFill>
                <a:latin typeface="Arial"/>
                <a:cs typeface="Arial"/>
              </a:rPr>
              <a:t> </a:t>
            </a:r>
            <a:r>
              <a:rPr sz="1000" spc="-10" dirty="0">
                <a:solidFill>
                  <a:srgbClr val="0000FA"/>
                </a:solidFill>
                <a:latin typeface="Arial"/>
                <a:cs typeface="Arial"/>
              </a:rPr>
              <a:t>are</a:t>
            </a:r>
            <a:r>
              <a:rPr sz="1000" dirty="0">
                <a:solidFill>
                  <a:srgbClr val="0000FA"/>
                </a:solidFill>
                <a:latin typeface="Arial"/>
                <a:cs typeface="Arial"/>
              </a:rPr>
              <a:t> </a:t>
            </a:r>
            <a:r>
              <a:rPr sz="1000" spc="-5" dirty="0">
                <a:solidFill>
                  <a:srgbClr val="0000FA"/>
                </a:solidFill>
                <a:latin typeface="Arial"/>
                <a:cs typeface="Arial"/>
              </a:rPr>
              <a:t>deterministic</a:t>
            </a:r>
            <a:r>
              <a:rPr sz="1000" spc="-5" dirty="0">
                <a:latin typeface="Arial"/>
                <a:cs typeface="Arial"/>
              </a:rPr>
              <a:t>:</a:t>
            </a:r>
            <a:r>
              <a:rPr sz="1000" spc="70" dirty="0">
                <a:latin typeface="Arial"/>
                <a:cs typeface="Arial"/>
              </a:rPr>
              <a:t> </a:t>
            </a:r>
            <a:r>
              <a:rPr sz="1000" spc="-10" dirty="0">
                <a:latin typeface="Arial"/>
                <a:cs typeface="Arial"/>
              </a:rPr>
              <a:t>once</a:t>
            </a:r>
            <a:r>
              <a:rPr sz="1000" spc="-5" dirty="0">
                <a:latin typeface="Arial"/>
                <a:cs typeface="Arial"/>
              </a:rPr>
              <a:t> </a:t>
            </a:r>
            <a:r>
              <a:rPr sz="1000" spc="-10" dirty="0">
                <a:latin typeface="Arial"/>
                <a:cs typeface="Arial"/>
              </a:rPr>
              <a:t>an</a:t>
            </a:r>
            <a:r>
              <a:rPr sz="1000" dirty="0">
                <a:latin typeface="Arial"/>
                <a:cs typeface="Arial"/>
              </a:rPr>
              <a:t> </a:t>
            </a:r>
            <a:r>
              <a:rPr sz="1000" spc="-15" dirty="0">
                <a:latin typeface="Arial"/>
                <a:cs typeface="Arial"/>
              </a:rPr>
              <a:t>execution</a:t>
            </a:r>
            <a:r>
              <a:rPr sz="1000" spc="-5" dirty="0">
                <a:latin typeface="Arial"/>
                <a:cs typeface="Arial"/>
              </a:rPr>
              <a:t> is started,</a:t>
            </a:r>
            <a:r>
              <a:rPr sz="1000" dirty="0">
                <a:latin typeface="Arial"/>
                <a:cs typeface="Arial"/>
              </a:rPr>
              <a:t> </a:t>
            </a:r>
            <a:r>
              <a:rPr sz="1000" spc="-5" dirty="0">
                <a:latin typeface="Arial"/>
                <a:cs typeface="Arial"/>
              </a:rPr>
              <a:t>it is </a:t>
            </a:r>
            <a:r>
              <a:rPr sz="1000" spc="-260" dirty="0">
                <a:latin typeface="Arial"/>
                <a:cs typeface="Arial"/>
              </a:rPr>
              <a:t> </a:t>
            </a:r>
            <a:r>
              <a:rPr sz="1000" spc="-10" dirty="0">
                <a:latin typeface="Arial"/>
                <a:cs typeface="Arial"/>
              </a:rPr>
              <a:t>known</a:t>
            </a:r>
            <a:r>
              <a:rPr sz="1000" spc="-5" dirty="0">
                <a:latin typeface="Arial"/>
                <a:cs typeface="Arial"/>
              </a:rPr>
              <a:t> </a:t>
            </a:r>
            <a:r>
              <a:rPr sz="1000" spc="-10" dirty="0">
                <a:latin typeface="Arial"/>
                <a:cs typeface="Arial"/>
              </a:rPr>
              <a:t>exactly</a:t>
            </a:r>
            <a:r>
              <a:rPr sz="1000" spc="-5" dirty="0">
                <a:latin typeface="Arial"/>
                <a:cs typeface="Arial"/>
              </a:rPr>
              <a:t> what it will </a:t>
            </a:r>
            <a:r>
              <a:rPr sz="1000" spc="-20" dirty="0">
                <a:latin typeface="Arial"/>
                <a:cs typeface="Arial"/>
              </a:rPr>
              <a:t>do.</a:t>
            </a:r>
            <a:endParaRPr sz="1000">
              <a:latin typeface="Arial"/>
              <a:cs typeface="Arial"/>
            </a:endParaRPr>
          </a:p>
          <a:p>
            <a:pPr marL="582930" indent="-168275">
              <a:lnSpc>
                <a:spcPct val="100000"/>
              </a:lnSpc>
              <a:spcBef>
                <a:spcPts val="590"/>
              </a:spcBef>
              <a:buClr>
                <a:srgbClr val="3333B2"/>
              </a:buClr>
              <a:buChar char="►"/>
              <a:tabLst>
                <a:tab pos="583565" algn="l"/>
              </a:tabLst>
            </a:pPr>
            <a:r>
              <a:rPr sz="1000" spc="-5" dirty="0">
                <a:latin typeface="Arial"/>
                <a:cs typeface="Arial"/>
              </a:rPr>
              <a:t>Processes</a:t>
            </a:r>
            <a:r>
              <a:rPr sz="1000" spc="-10" dirty="0">
                <a:latin typeface="Arial"/>
                <a:cs typeface="Arial"/>
              </a:rPr>
              <a:t> </a:t>
            </a:r>
            <a:r>
              <a:rPr sz="1000" spc="-15" dirty="0">
                <a:latin typeface="Arial"/>
                <a:cs typeface="Arial"/>
              </a:rPr>
              <a:t>may</a:t>
            </a:r>
            <a:r>
              <a:rPr sz="1000" spc="-5" dirty="0">
                <a:latin typeface="Arial"/>
                <a:cs typeface="Arial"/>
              </a:rPr>
              <a:t> </a:t>
            </a:r>
            <a:r>
              <a:rPr sz="1000" spc="-10" dirty="0">
                <a:latin typeface="Arial"/>
                <a:cs typeface="Arial"/>
              </a:rPr>
              <a:t>exhibit</a:t>
            </a:r>
            <a:r>
              <a:rPr sz="1000" spc="-5" dirty="0">
                <a:latin typeface="Arial"/>
                <a:cs typeface="Arial"/>
              </a:rPr>
              <a:t> </a:t>
            </a:r>
            <a:r>
              <a:rPr sz="1000" spc="-5" dirty="0">
                <a:solidFill>
                  <a:srgbClr val="0000FA"/>
                </a:solidFill>
                <a:latin typeface="Arial"/>
                <a:cs typeface="Arial"/>
              </a:rPr>
              <a:t>crash</a:t>
            </a:r>
            <a:r>
              <a:rPr sz="1000" spc="-10" dirty="0">
                <a:solidFill>
                  <a:srgbClr val="0000FA"/>
                </a:solidFill>
                <a:latin typeface="Arial"/>
                <a:cs typeface="Arial"/>
              </a:rPr>
              <a:t> </a:t>
            </a:r>
            <a:r>
              <a:rPr sz="1000" spc="-5" dirty="0">
                <a:solidFill>
                  <a:srgbClr val="0000FA"/>
                </a:solidFill>
                <a:latin typeface="Arial"/>
                <a:cs typeface="Arial"/>
              </a:rPr>
              <a:t>failures</a:t>
            </a:r>
            <a:r>
              <a:rPr sz="1000" spc="-5" dirty="0">
                <a:latin typeface="Arial"/>
                <a:cs typeface="Arial"/>
              </a:rPr>
              <a:t>, </a:t>
            </a:r>
            <a:r>
              <a:rPr sz="1000" spc="-10" dirty="0">
                <a:latin typeface="Arial"/>
                <a:cs typeface="Arial"/>
              </a:rPr>
              <a:t>but</a:t>
            </a:r>
            <a:r>
              <a:rPr sz="1000" spc="-5" dirty="0">
                <a:latin typeface="Arial"/>
                <a:cs typeface="Arial"/>
              </a:rPr>
              <a:t> </a:t>
            </a:r>
            <a:r>
              <a:rPr sz="1000" spc="-5" dirty="0">
                <a:solidFill>
                  <a:srgbClr val="FA0000"/>
                </a:solidFill>
                <a:latin typeface="Arial"/>
                <a:cs typeface="Arial"/>
              </a:rPr>
              <a:t>not </a:t>
            </a:r>
            <a:r>
              <a:rPr sz="1000" dirty="0">
                <a:solidFill>
                  <a:srgbClr val="FA0000"/>
                </a:solidFill>
                <a:latin typeface="Arial"/>
                <a:cs typeface="Arial"/>
              </a:rPr>
              <a:t>arbitrary</a:t>
            </a:r>
            <a:r>
              <a:rPr sz="1000" spc="-10" dirty="0">
                <a:solidFill>
                  <a:srgbClr val="FA0000"/>
                </a:solidFill>
                <a:latin typeface="Arial"/>
                <a:cs typeface="Arial"/>
              </a:rPr>
              <a:t> </a:t>
            </a:r>
            <a:r>
              <a:rPr sz="1000" spc="-5" dirty="0">
                <a:solidFill>
                  <a:srgbClr val="FA0000"/>
                </a:solidFill>
                <a:latin typeface="Arial"/>
                <a:cs typeface="Arial"/>
              </a:rPr>
              <a:t>failures</a:t>
            </a:r>
            <a:r>
              <a:rPr sz="1000" spc="-5" dirty="0">
                <a:latin typeface="Arial"/>
                <a:cs typeface="Arial"/>
              </a:rPr>
              <a:t>.</a:t>
            </a:r>
            <a:endParaRPr sz="1000">
              <a:latin typeface="Arial"/>
              <a:cs typeface="Arial"/>
            </a:endParaRPr>
          </a:p>
          <a:p>
            <a:pPr marL="582930" indent="-168275">
              <a:lnSpc>
                <a:spcPct val="100000"/>
              </a:lnSpc>
              <a:spcBef>
                <a:spcPts val="595"/>
              </a:spcBef>
              <a:buClr>
                <a:srgbClr val="3333B2"/>
              </a:buClr>
              <a:buChar char="►"/>
              <a:tabLst>
                <a:tab pos="583565" algn="l"/>
              </a:tabLst>
            </a:pPr>
            <a:r>
              <a:rPr sz="1000" spc="-5" dirty="0">
                <a:latin typeface="Arial"/>
                <a:cs typeface="Arial"/>
              </a:rPr>
              <a:t>Processes</a:t>
            </a:r>
            <a:r>
              <a:rPr sz="1000" spc="-15" dirty="0">
                <a:latin typeface="Arial"/>
                <a:cs typeface="Arial"/>
              </a:rPr>
              <a:t> </a:t>
            </a:r>
            <a:r>
              <a:rPr sz="1000" spc="-5" dirty="0">
                <a:solidFill>
                  <a:srgbClr val="FA0000"/>
                </a:solidFill>
                <a:latin typeface="Arial"/>
                <a:cs typeface="Arial"/>
              </a:rPr>
              <a:t>do</a:t>
            </a:r>
            <a:r>
              <a:rPr sz="1000" spc="-10" dirty="0">
                <a:solidFill>
                  <a:srgbClr val="FA0000"/>
                </a:solidFill>
                <a:latin typeface="Arial"/>
                <a:cs typeface="Arial"/>
              </a:rPr>
              <a:t> </a:t>
            </a:r>
            <a:r>
              <a:rPr sz="1000" spc="-5" dirty="0">
                <a:solidFill>
                  <a:srgbClr val="FA0000"/>
                </a:solidFill>
                <a:latin typeface="Arial"/>
                <a:cs typeface="Arial"/>
              </a:rPr>
              <a:t>not</a:t>
            </a:r>
            <a:r>
              <a:rPr sz="1000" spc="-15" dirty="0">
                <a:solidFill>
                  <a:srgbClr val="FA0000"/>
                </a:solidFill>
                <a:latin typeface="Arial"/>
                <a:cs typeface="Arial"/>
              </a:rPr>
              <a:t> </a:t>
            </a:r>
            <a:r>
              <a:rPr sz="1000" spc="-5" dirty="0">
                <a:solidFill>
                  <a:srgbClr val="FA0000"/>
                </a:solidFill>
                <a:latin typeface="Arial"/>
                <a:cs typeface="Arial"/>
              </a:rPr>
              <a:t>collude</a:t>
            </a:r>
            <a:r>
              <a:rPr sz="1000" spc="-5" dirty="0">
                <a:latin typeface="Arial"/>
                <a:cs typeface="Arial"/>
              </a:rPr>
              <a:t>.</a:t>
            </a:r>
            <a:endParaRPr sz="1000">
              <a:latin typeface="Arial"/>
              <a:cs typeface="Arial"/>
            </a:endParaRPr>
          </a:p>
          <a:p>
            <a:pPr marL="305435">
              <a:lnSpc>
                <a:spcPct val="100000"/>
              </a:lnSpc>
              <a:spcBef>
                <a:spcPts val="1005"/>
              </a:spcBef>
            </a:pPr>
            <a:r>
              <a:rPr sz="1200" spc="-5" dirty="0">
                <a:solidFill>
                  <a:srgbClr val="FA0000"/>
                </a:solidFill>
                <a:latin typeface="Arial"/>
                <a:cs typeface="Arial"/>
              </a:rPr>
              <a:t>Understanding</a:t>
            </a:r>
            <a:r>
              <a:rPr sz="1200" spc="-30" dirty="0">
                <a:solidFill>
                  <a:srgbClr val="FA0000"/>
                </a:solidFill>
                <a:latin typeface="Arial"/>
                <a:cs typeface="Arial"/>
              </a:rPr>
              <a:t> </a:t>
            </a:r>
            <a:r>
              <a:rPr sz="1200" spc="-15" dirty="0">
                <a:solidFill>
                  <a:srgbClr val="FA0000"/>
                </a:solidFill>
                <a:latin typeface="Arial"/>
                <a:cs typeface="Arial"/>
              </a:rPr>
              <a:t>Paxos</a:t>
            </a:r>
            <a:endParaRPr sz="1200">
              <a:latin typeface="Arial"/>
              <a:cs typeface="Arial"/>
            </a:endParaRPr>
          </a:p>
          <a:p>
            <a:pPr marL="305435" marR="396240" indent="-6350">
              <a:lnSpc>
                <a:spcPct val="100000"/>
              </a:lnSpc>
              <a:spcBef>
                <a:spcPts val="195"/>
              </a:spcBef>
            </a:pPr>
            <a:r>
              <a:rPr sz="1000" spc="-20" dirty="0">
                <a:latin typeface="Arial"/>
                <a:cs typeface="Arial"/>
              </a:rPr>
              <a:t>We</a:t>
            </a:r>
            <a:r>
              <a:rPr sz="1000" dirty="0">
                <a:latin typeface="Arial"/>
                <a:cs typeface="Arial"/>
              </a:rPr>
              <a:t> </a:t>
            </a:r>
            <a:r>
              <a:rPr sz="1000" spc="-5" dirty="0">
                <a:latin typeface="Arial"/>
                <a:cs typeface="Arial"/>
              </a:rPr>
              <a:t>will</a:t>
            </a:r>
            <a:r>
              <a:rPr sz="1000" dirty="0">
                <a:latin typeface="Arial"/>
                <a:cs typeface="Arial"/>
              </a:rPr>
              <a:t> </a:t>
            </a:r>
            <a:r>
              <a:rPr sz="1000" spc="-10" dirty="0">
                <a:latin typeface="Arial"/>
                <a:cs typeface="Arial"/>
              </a:rPr>
              <a:t>build</a:t>
            </a:r>
            <a:r>
              <a:rPr sz="1000" dirty="0">
                <a:latin typeface="Arial"/>
                <a:cs typeface="Arial"/>
              </a:rPr>
              <a:t> </a:t>
            </a:r>
            <a:r>
              <a:rPr sz="1000" spc="-5" dirty="0">
                <a:latin typeface="Arial"/>
                <a:cs typeface="Arial"/>
              </a:rPr>
              <a:t>up</a:t>
            </a:r>
            <a:r>
              <a:rPr sz="1000" dirty="0">
                <a:latin typeface="Arial"/>
                <a:cs typeface="Arial"/>
              </a:rPr>
              <a:t> </a:t>
            </a:r>
            <a:r>
              <a:rPr sz="1000" spc="-15" dirty="0">
                <a:latin typeface="Arial"/>
                <a:cs typeface="Arial"/>
              </a:rPr>
              <a:t>Paxos</a:t>
            </a:r>
            <a:r>
              <a:rPr sz="1000" spc="5"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scratch</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understand</a:t>
            </a:r>
            <a:r>
              <a:rPr sz="1000" dirty="0">
                <a:latin typeface="Arial"/>
                <a:cs typeface="Arial"/>
              </a:rPr>
              <a:t> </a:t>
            </a:r>
            <a:r>
              <a:rPr sz="1000" spc="-5" dirty="0">
                <a:latin typeface="Arial"/>
                <a:cs typeface="Arial"/>
              </a:rPr>
              <a:t>where</a:t>
            </a:r>
            <a:r>
              <a:rPr sz="1000" spc="5" dirty="0">
                <a:latin typeface="Arial"/>
                <a:cs typeface="Arial"/>
              </a:rPr>
              <a:t> </a:t>
            </a:r>
            <a:r>
              <a:rPr sz="1000" spc="-10" dirty="0">
                <a:latin typeface="Arial"/>
                <a:cs typeface="Arial"/>
              </a:rPr>
              <a:t>many </a:t>
            </a:r>
            <a:r>
              <a:rPr sz="1000" spc="-265" dirty="0">
                <a:latin typeface="Arial"/>
                <a:cs typeface="Arial"/>
              </a:rPr>
              <a:t> </a:t>
            </a:r>
            <a:r>
              <a:rPr sz="1000" spc="-5" dirty="0">
                <a:latin typeface="Arial"/>
                <a:cs typeface="Arial"/>
              </a:rPr>
              <a:t>consensus algorithms actually come from.</a:t>
            </a:r>
            <a:endParaRPr sz="1000">
              <a:latin typeface="Arial"/>
              <a:cs typeface="Arial"/>
            </a:endParaRPr>
          </a:p>
          <a:p>
            <a:pPr marL="25400">
              <a:lnSpc>
                <a:spcPct val="100000"/>
              </a:lnSpc>
              <a:spcBef>
                <a:spcPts val="625"/>
              </a:spcBef>
            </a:pPr>
            <a:r>
              <a:rPr sz="600" spc="-5" dirty="0">
                <a:solidFill>
                  <a:srgbClr val="3333B2"/>
                </a:solidFill>
                <a:latin typeface="Arial"/>
                <a:cs typeface="Arial"/>
                <a:hlinkClick r:id="rId5" action="ppaction://hlinksldjump"/>
              </a:rPr>
              <a:t>Essential</a:t>
            </a:r>
            <a:r>
              <a:rPr sz="600" spc="-30"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5" name="object 5"/>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17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Understanding</a:t>
            </a:r>
            <a:r>
              <a:rPr sz="600" spc="-25" dirty="0">
                <a:solidFill>
                  <a:srgbClr val="3333B2"/>
                </a:solidFill>
                <a:latin typeface="Arial"/>
                <a:cs typeface="Arial"/>
                <a:hlinkClick r:id="rId3" action="ppaction://hlinksldjump"/>
              </a:rPr>
              <a:t> </a:t>
            </a:r>
            <a:r>
              <a:rPr sz="600" spc="-10" dirty="0">
                <a:solidFill>
                  <a:srgbClr val="3333B2"/>
                </a:solidFill>
                <a:latin typeface="Arial"/>
                <a:cs typeface="Arial"/>
                <a:hlinkClick r:id="rId3" action="ppaction://hlinksldjump"/>
              </a:rPr>
              <a:t>Paxos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18</a:t>
            </a:r>
            <a:r>
              <a:rPr spc="-40" dirty="0"/>
              <a:t> </a:t>
            </a:r>
            <a:r>
              <a:rPr spc="-5" dirty="0"/>
              <a:t>/</a:t>
            </a:r>
            <a:r>
              <a:rPr spc="-35" dirty="0"/>
              <a:t> </a:t>
            </a:r>
            <a:r>
              <a:rPr spc="-5" dirty="0"/>
              <a:t>68</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Example:</a:t>
            </a:r>
            <a:r>
              <a:rPr sz="600" dirty="0">
                <a:solidFill>
                  <a:srgbClr val="262685"/>
                </a:solidFill>
                <a:latin typeface="Arial"/>
                <a:cs typeface="Arial"/>
                <a:hlinkClick r:id="rId6" action="ppaction://hlinksldjump"/>
              </a:rPr>
              <a:t> </a:t>
            </a:r>
            <a:r>
              <a:rPr sz="600" spc="-10" dirty="0">
                <a:solidFill>
                  <a:srgbClr val="262685"/>
                </a:solidFill>
                <a:latin typeface="Arial"/>
                <a:cs typeface="Arial"/>
                <a:hlinkClick r:id="rId6" action="ppaction://hlinksldjump"/>
              </a:rPr>
              <a:t>Paxos</a:t>
            </a:r>
            <a:endParaRPr sz="600">
              <a:latin typeface="Arial"/>
              <a:cs typeface="Arial"/>
            </a:endParaRPr>
          </a:p>
        </p:txBody>
      </p:sp>
      <p:sp>
        <p:nvSpPr>
          <p:cNvPr id="4" name="object 4"/>
          <p:cNvSpPr txBox="1"/>
          <p:nvPr/>
        </p:nvSpPr>
        <p:spPr>
          <a:xfrm>
            <a:off x="82600" y="188846"/>
            <a:ext cx="4219575" cy="2494915"/>
          </a:xfrm>
          <a:prstGeom prst="rect">
            <a:avLst/>
          </a:prstGeom>
        </p:spPr>
        <p:txBody>
          <a:bodyPr vert="horz" wrap="square" lIns="0" tIns="17145" rIns="0" bIns="0" rtlCol="0">
            <a:spAutoFit/>
          </a:bodyPr>
          <a:lstStyle/>
          <a:p>
            <a:pPr marR="2800350" algn="ctr">
              <a:lnSpc>
                <a:spcPct val="100000"/>
              </a:lnSpc>
              <a:spcBef>
                <a:spcPts val="135"/>
              </a:spcBef>
            </a:pPr>
            <a:r>
              <a:rPr sz="1400" spc="5" dirty="0">
                <a:solidFill>
                  <a:srgbClr val="3333B2"/>
                </a:solidFill>
                <a:latin typeface="Arial"/>
                <a:cs typeface="Arial"/>
              </a:rPr>
              <a:t>Paxos</a:t>
            </a:r>
            <a:r>
              <a:rPr sz="1400" spc="-40" dirty="0">
                <a:solidFill>
                  <a:srgbClr val="3333B2"/>
                </a:solidFill>
                <a:latin typeface="Arial"/>
                <a:cs typeface="Arial"/>
              </a:rPr>
              <a:t> </a:t>
            </a:r>
            <a:r>
              <a:rPr sz="1400" spc="15" dirty="0">
                <a:solidFill>
                  <a:srgbClr val="3333B2"/>
                </a:solidFill>
                <a:latin typeface="Arial"/>
                <a:cs typeface="Arial"/>
              </a:rPr>
              <a:t>essentials</a:t>
            </a:r>
            <a:endParaRPr sz="1400">
              <a:latin typeface="Arial"/>
              <a:cs typeface="Arial"/>
            </a:endParaRPr>
          </a:p>
          <a:p>
            <a:pPr>
              <a:lnSpc>
                <a:spcPct val="100000"/>
              </a:lnSpc>
              <a:spcBef>
                <a:spcPts val="5"/>
              </a:spcBef>
            </a:pPr>
            <a:endParaRPr sz="2550">
              <a:latin typeface="Arial"/>
              <a:cs typeface="Arial"/>
            </a:endParaRPr>
          </a:p>
          <a:p>
            <a:pPr marR="2755900" algn="ctr">
              <a:lnSpc>
                <a:spcPct val="100000"/>
              </a:lnSpc>
            </a:pPr>
            <a:r>
              <a:rPr sz="1200" dirty="0">
                <a:solidFill>
                  <a:srgbClr val="3333B2"/>
                </a:solidFill>
                <a:latin typeface="Arial"/>
                <a:cs typeface="Arial"/>
              </a:rPr>
              <a:t>Starting</a:t>
            </a:r>
            <a:r>
              <a:rPr sz="1200" spc="-35" dirty="0">
                <a:solidFill>
                  <a:srgbClr val="3333B2"/>
                </a:solidFill>
                <a:latin typeface="Arial"/>
                <a:cs typeface="Arial"/>
              </a:rPr>
              <a:t> </a:t>
            </a:r>
            <a:r>
              <a:rPr sz="1200" spc="-5" dirty="0">
                <a:solidFill>
                  <a:srgbClr val="3333B2"/>
                </a:solidFill>
                <a:latin typeface="Arial"/>
                <a:cs typeface="Arial"/>
              </a:rPr>
              <a:t>point</a:t>
            </a:r>
            <a:endParaRPr sz="1200">
              <a:latin typeface="Arial"/>
              <a:cs typeface="Arial"/>
            </a:endParaRPr>
          </a:p>
          <a:p>
            <a:pPr marL="554355" marR="43180" indent="-168275">
              <a:lnSpc>
                <a:spcPct val="100000"/>
              </a:lnSpc>
              <a:spcBef>
                <a:spcPts val="790"/>
              </a:spcBef>
              <a:buClr>
                <a:srgbClr val="3333B2"/>
              </a:buClr>
              <a:buChar char="►"/>
              <a:tabLst>
                <a:tab pos="554990" algn="l"/>
              </a:tabLst>
            </a:pPr>
            <a:r>
              <a:rPr sz="1000" spc="-35" dirty="0">
                <a:latin typeface="Arial"/>
                <a:cs typeface="Arial"/>
              </a:rPr>
              <a:t>We</a:t>
            </a:r>
            <a:r>
              <a:rPr sz="1000" spc="-10" dirty="0">
                <a:latin typeface="Arial"/>
                <a:cs typeface="Arial"/>
              </a:rPr>
              <a:t> </a:t>
            </a:r>
            <a:r>
              <a:rPr sz="1000" spc="-15" dirty="0">
                <a:latin typeface="Arial"/>
                <a:cs typeface="Arial"/>
              </a:rPr>
              <a:t>assume</a:t>
            </a:r>
            <a:r>
              <a:rPr sz="1000" spc="-5" dirty="0">
                <a:latin typeface="Arial"/>
                <a:cs typeface="Arial"/>
              </a:rPr>
              <a:t> </a:t>
            </a:r>
            <a:r>
              <a:rPr sz="1000" spc="-15" dirty="0">
                <a:latin typeface="Arial"/>
                <a:cs typeface="Arial"/>
              </a:rPr>
              <a:t>a</a:t>
            </a:r>
            <a:r>
              <a:rPr sz="1000" spc="-10" dirty="0">
                <a:latin typeface="Arial"/>
                <a:cs typeface="Arial"/>
              </a:rPr>
              <a:t> client-server</a:t>
            </a:r>
            <a:r>
              <a:rPr sz="1000" spc="-5" dirty="0">
                <a:latin typeface="Arial"/>
                <a:cs typeface="Arial"/>
              </a:rPr>
              <a:t> </a:t>
            </a:r>
            <a:r>
              <a:rPr sz="1000" spc="-10" dirty="0">
                <a:latin typeface="Arial"/>
                <a:cs typeface="Arial"/>
              </a:rPr>
              <a:t>configuration, with</a:t>
            </a:r>
            <a:r>
              <a:rPr sz="1000" spc="-5" dirty="0">
                <a:latin typeface="Arial"/>
                <a:cs typeface="Arial"/>
              </a:rPr>
              <a:t> </a:t>
            </a:r>
            <a:r>
              <a:rPr sz="1000" spc="-10" dirty="0">
                <a:latin typeface="Arial"/>
                <a:cs typeface="Arial"/>
              </a:rPr>
              <a:t>initially </a:t>
            </a:r>
            <a:r>
              <a:rPr sz="1000" spc="-15" dirty="0">
                <a:latin typeface="Arial"/>
                <a:cs typeface="Arial"/>
              </a:rPr>
              <a:t>one</a:t>
            </a:r>
            <a:r>
              <a:rPr sz="1000" spc="-5" dirty="0">
                <a:latin typeface="Arial"/>
                <a:cs typeface="Arial"/>
              </a:rPr>
              <a:t> </a:t>
            </a:r>
            <a:r>
              <a:rPr sz="1000" spc="-5" dirty="0">
                <a:solidFill>
                  <a:srgbClr val="FA0000"/>
                </a:solidFill>
                <a:latin typeface="Arial"/>
                <a:cs typeface="Arial"/>
              </a:rPr>
              <a:t>primary </a:t>
            </a:r>
            <a:r>
              <a:rPr sz="1000" spc="-265" dirty="0">
                <a:solidFill>
                  <a:srgbClr val="FA0000"/>
                </a:solidFill>
                <a:latin typeface="Arial"/>
                <a:cs typeface="Arial"/>
              </a:rPr>
              <a:t> </a:t>
            </a:r>
            <a:r>
              <a:rPr sz="1000" spc="-5" dirty="0">
                <a:solidFill>
                  <a:srgbClr val="FA0000"/>
                </a:solidFill>
                <a:latin typeface="Arial"/>
                <a:cs typeface="Arial"/>
              </a:rPr>
              <a:t>server</a:t>
            </a:r>
            <a:r>
              <a:rPr sz="1000" spc="-5" dirty="0">
                <a:latin typeface="Arial"/>
                <a:cs typeface="Arial"/>
              </a:rPr>
              <a:t>.</a:t>
            </a:r>
            <a:endParaRPr sz="1000">
              <a:latin typeface="Arial"/>
              <a:cs typeface="Arial"/>
            </a:endParaRPr>
          </a:p>
          <a:p>
            <a:pPr marL="554355" marR="137795" indent="-168275">
              <a:lnSpc>
                <a:spcPct val="100000"/>
              </a:lnSpc>
              <a:spcBef>
                <a:spcPts val="590"/>
              </a:spcBef>
              <a:buClr>
                <a:srgbClr val="3333B2"/>
              </a:buClr>
              <a:buChar char="►"/>
              <a:tabLst>
                <a:tab pos="554990" algn="l"/>
              </a:tabLst>
            </a:pPr>
            <a:r>
              <a:rPr sz="1000" spc="-65" dirty="0">
                <a:latin typeface="Arial"/>
                <a:cs typeface="Arial"/>
              </a:rPr>
              <a:t>To</a:t>
            </a:r>
            <a:r>
              <a:rPr sz="1000" spc="-5" dirty="0">
                <a:latin typeface="Arial"/>
                <a:cs typeface="Arial"/>
              </a:rPr>
              <a:t> </a:t>
            </a:r>
            <a:r>
              <a:rPr sz="1000" spc="-10" dirty="0">
                <a:latin typeface="Arial"/>
                <a:cs typeface="Arial"/>
              </a:rPr>
              <a:t>make</a:t>
            </a:r>
            <a:r>
              <a:rPr sz="1000" dirty="0">
                <a:latin typeface="Arial"/>
                <a:cs typeface="Arial"/>
              </a:rPr>
              <a:t> </a:t>
            </a:r>
            <a:r>
              <a:rPr sz="1000" spc="-5" dirty="0">
                <a:latin typeface="Arial"/>
                <a:cs typeface="Arial"/>
              </a:rPr>
              <a:t>the server</a:t>
            </a:r>
            <a:r>
              <a:rPr sz="1000" dirty="0">
                <a:latin typeface="Arial"/>
                <a:cs typeface="Arial"/>
              </a:rPr>
              <a:t> </a:t>
            </a:r>
            <a:r>
              <a:rPr sz="1000" spc="-5" dirty="0">
                <a:latin typeface="Arial"/>
                <a:cs typeface="Arial"/>
              </a:rPr>
              <a:t>more robust,</a:t>
            </a:r>
            <a:r>
              <a:rPr sz="1000" dirty="0">
                <a:latin typeface="Arial"/>
                <a:cs typeface="Arial"/>
              </a:rPr>
              <a:t> </a:t>
            </a:r>
            <a:r>
              <a:rPr sz="1000" spc="-10" dirty="0">
                <a:latin typeface="Arial"/>
                <a:cs typeface="Arial"/>
              </a:rPr>
              <a:t>we</a:t>
            </a:r>
            <a:r>
              <a:rPr sz="1000" spc="-5" dirty="0">
                <a:latin typeface="Arial"/>
                <a:cs typeface="Arial"/>
              </a:rPr>
              <a:t> </a:t>
            </a:r>
            <a:r>
              <a:rPr sz="1000" spc="5" dirty="0">
                <a:latin typeface="Arial"/>
                <a:cs typeface="Arial"/>
              </a:rPr>
              <a:t>start</a:t>
            </a:r>
            <a:r>
              <a:rPr sz="1000" dirty="0">
                <a:latin typeface="Arial"/>
                <a:cs typeface="Arial"/>
              </a:rPr>
              <a:t> </a:t>
            </a:r>
            <a:r>
              <a:rPr sz="1000" spc="-5" dirty="0">
                <a:latin typeface="Arial"/>
                <a:cs typeface="Arial"/>
              </a:rPr>
              <a:t>with adding</a:t>
            </a:r>
            <a:r>
              <a:rPr sz="1000" dirty="0">
                <a:latin typeface="Arial"/>
                <a:cs typeface="Arial"/>
              </a:rPr>
              <a:t> </a:t>
            </a:r>
            <a:r>
              <a:rPr sz="1000" spc="-5" dirty="0">
                <a:latin typeface="Arial"/>
                <a:cs typeface="Arial"/>
              </a:rPr>
              <a:t>a </a:t>
            </a:r>
            <a:r>
              <a:rPr sz="1000" spc="-10" dirty="0">
                <a:solidFill>
                  <a:srgbClr val="FA0000"/>
                </a:solidFill>
                <a:latin typeface="Arial"/>
                <a:cs typeface="Arial"/>
              </a:rPr>
              <a:t>backup </a:t>
            </a:r>
            <a:r>
              <a:rPr sz="1000" spc="-260" dirty="0">
                <a:solidFill>
                  <a:srgbClr val="FA0000"/>
                </a:solidFill>
                <a:latin typeface="Arial"/>
                <a:cs typeface="Arial"/>
              </a:rPr>
              <a:t> </a:t>
            </a:r>
            <a:r>
              <a:rPr sz="1000" spc="-5" dirty="0">
                <a:solidFill>
                  <a:srgbClr val="FA0000"/>
                </a:solidFill>
                <a:latin typeface="Arial"/>
                <a:cs typeface="Arial"/>
              </a:rPr>
              <a:t>server</a:t>
            </a:r>
            <a:r>
              <a:rPr sz="1000" spc="-5" dirty="0">
                <a:latin typeface="Arial"/>
                <a:cs typeface="Arial"/>
              </a:rPr>
              <a:t>.</a:t>
            </a:r>
            <a:endParaRPr sz="1000">
              <a:latin typeface="Arial"/>
              <a:cs typeface="Arial"/>
            </a:endParaRPr>
          </a:p>
          <a:p>
            <a:pPr marL="554355" marR="121285" indent="-168275" algn="just">
              <a:lnSpc>
                <a:spcPct val="100000"/>
              </a:lnSpc>
              <a:spcBef>
                <a:spcPts val="590"/>
              </a:spcBef>
              <a:buClr>
                <a:srgbClr val="3333B2"/>
              </a:buClr>
              <a:buChar char="►"/>
              <a:tabLst>
                <a:tab pos="554990" algn="l"/>
              </a:tabLst>
            </a:pPr>
            <a:r>
              <a:rPr sz="1000" spc="-65" dirty="0">
                <a:latin typeface="Arial"/>
                <a:cs typeface="Arial"/>
              </a:rPr>
              <a:t>To </a:t>
            </a:r>
            <a:r>
              <a:rPr sz="1000" spc="-5" dirty="0">
                <a:latin typeface="Arial"/>
                <a:cs typeface="Arial"/>
              </a:rPr>
              <a:t>ensure that all commands are </a:t>
            </a:r>
            <a:r>
              <a:rPr sz="1000" spc="-10" dirty="0">
                <a:latin typeface="Arial"/>
                <a:cs typeface="Arial"/>
              </a:rPr>
              <a:t>executed </a:t>
            </a:r>
            <a:r>
              <a:rPr sz="1000" spc="-5" dirty="0">
                <a:latin typeface="Arial"/>
                <a:cs typeface="Arial"/>
              </a:rPr>
              <a:t>in the same order at </a:t>
            </a:r>
            <a:r>
              <a:rPr sz="1000" spc="-265" dirty="0">
                <a:latin typeface="Arial"/>
                <a:cs typeface="Arial"/>
              </a:rPr>
              <a:t> </a:t>
            </a:r>
            <a:r>
              <a:rPr sz="1000" spc="-5" dirty="0">
                <a:latin typeface="Arial"/>
                <a:cs typeface="Arial"/>
              </a:rPr>
              <a:t>both servers, the </a:t>
            </a:r>
            <a:r>
              <a:rPr sz="1000" dirty="0">
                <a:latin typeface="Arial"/>
                <a:cs typeface="Arial"/>
              </a:rPr>
              <a:t>primary </a:t>
            </a:r>
            <a:r>
              <a:rPr sz="1000" spc="-5" dirty="0">
                <a:latin typeface="Arial"/>
                <a:cs typeface="Arial"/>
              </a:rPr>
              <a:t>assigns </a:t>
            </a:r>
            <a:r>
              <a:rPr sz="1000" spc="-5" dirty="0">
                <a:solidFill>
                  <a:srgbClr val="0000FA"/>
                </a:solidFill>
                <a:latin typeface="Arial"/>
                <a:cs typeface="Arial"/>
              </a:rPr>
              <a:t>unique sequence numbers </a:t>
            </a:r>
            <a:r>
              <a:rPr sz="1000" spc="-5" dirty="0">
                <a:latin typeface="Arial"/>
                <a:cs typeface="Arial"/>
              </a:rPr>
              <a:t>to </a:t>
            </a:r>
            <a:r>
              <a:rPr sz="1000" spc="-265" dirty="0">
                <a:latin typeface="Arial"/>
                <a:cs typeface="Arial"/>
              </a:rPr>
              <a:t> </a:t>
            </a:r>
            <a:r>
              <a:rPr sz="1000" spc="-5" dirty="0">
                <a:latin typeface="Arial"/>
                <a:cs typeface="Arial"/>
              </a:rPr>
              <a:t>all commands.</a:t>
            </a:r>
            <a:r>
              <a:rPr sz="1000" spc="60" dirty="0">
                <a:latin typeface="Arial"/>
                <a:cs typeface="Arial"/>
              </a:rPr>
              <a:t> </a:t>
            </a:r>
            <a:r>
              <a:rPr sz="1000" spc="-5" dirty="0">
                <a:latin typeface="Arial"/>
                <a:cs typeface="Arial"/>
              </a:rPr>
              <a:t>In</a:t>
            </a:r>
            <a:r>
              <a:rPr sz="1000" dirty="0">
                <a:latin typeface="Arial"/>
                <a:cs typeface="Arial"/>
              </a:rPr>
              <a:t> </a:t>
            </a:r>
            <a:r>
              <a:rPr sz="1000" spc="-15" dirty="0">
                <a:latin typeface="Arial"/>
                <a:cs typeface="Arial"/>
              </a:rPr>
              <a:t>Paxos,</a:t>
            </a:r>
            <a:r>
              <a:rPr sz="1000" spc="-5" dirty="0">
                <a:latin typeface="Arial"/>
                <a:cs typeface="Arial"/>
              </a:rPr>
              <a:t> the</a:t>
            </a:r>
            <a:r>
              <a:rPr sz="1000" dirty="0">
                <a:latin typeface="Arial"/>
                <a:cs typeface="Arial"/>
              </a:rPr>
              <a:t> primary</a:t>
            </a:r>
            <a:r>
              <a:rPr sz="1000" spc="-5" dirty="0">
                <a:latin typeface="Arial"/>
                <a:cs typeface="Arial"/>
              </a:rPr>
              <a:t> is</a:t>
            </a:r>
            <a:r>
              <a:rPr sz="1000" dirty="0">
                <a:latin typeface="Arial"/>
                <a:cs typeface="Arial"/>
              </a:rPr>
              <a:t> </a:t>
            </a:r>
            <a:r>
              <a:rPr sz="1000" spc="-5" dirty="0">
                <a:latin typeface="Arial"/>
                <a:cs typeface="Arial"/>
              </a:rPr>
              <a:t>called the </a:t>
            </a:r>
            <a:r>
              <a:rPr sz="1000" spc="-5" dirty="0">
                <a:solidFill>
                  <a:srgbClr val="FA0000"/>
                </a:solidFill>
                <a:latin typeface="Arial"/>
                <a:cs typeface="Arial"/>
              </a:rPr>
              <a:t>leader</a:t>
            </a:r>
            <a:r>
              <a:rPr sz="1000" spc="-5" dirty="0">
                <a:latin typeface="Arial"/>
                <a:cs typeface="Arial"/>
              </a:rPr>
              <a:t>.</a:t>
            </a:r>
            <a:endParaRPr sz="1000">
              <a:latin typeface="Arial"/>
              <a:cs typeface="Arial"/>
            </a:endParaRPr>
          </a:p>
          <a:p>
            <a:pPr marL="554355" marR="170180" indent="-168275" algn="just">
              <a:lnSpc>
                <a:spcPct val="100000"/>
              </a:lnSpc>
              <a:spcBef>
                <a:spcPts val="580"/>
              </a:spcBef>
              <a:buClr>
                <a:srgbClr val="3333B2"/>
              </a:buClr>
              <a:buChar char="►"/>
              <a:tabLst>
                <a:tab pos="554990" algn="l"/>
              </a:tabLst>
            </a:pPr>
            <a:r>
              <a:rPr sz="1000" spc="-5" dirty="0">
                <a:latin typeface="Arial"/>
                <a:cs typeface="Arial"/>
              </a:rPr>
              <a:t>Assume that actual commands can </a:t>
            </a:r>
            <a:r>
              <a:rPr sz="1000" spc="-10" dirty="0">
                <a:latin typeface="Arial"/>
                <a:cs typeface="Arial"/>
              </a:rPr>
              <a:t>always </a:t>
            </a:r>
            <a:r>
              <a:rPr sz="1000" spc="-5" dirty="0">
                <a:latin typeface="Arial"/>
                <a:cs typeface="Arial"/>
              </a:rPr>
              <a:t>be restored (either </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clients</a:t>
            </a:r>
            <a:r>
              <a:rPr sz="1000" dirty="0">
                <a:latin typeface="Arial"/>
                <a:cs typeface="Arial"/>
              </a:rPr>
              <a:t> </a:t>
            </a:r>
            <a:r>
              <a:rPr sz="1000" spc="-5" dirty="0">
                <a:latin typeface="Arial"/>
                <a:cs typeface="Arial"/>
              </a:rPr>
              <a:t>or</a:t>
            </a:r>
            <a:r>
              <a:rPr sz="1000" spc="5" dirty="0">
                <a:latin typeface="Arial"/>
                <a:cs typeface="Arial"/>
              </a:rPr>
              <a:t> </a:t>
            </a:r>
            <a:r>
              <a:rPr sz="1000" spc="-5" dirty="0">
                <a:latin typeface="Arial"/>
                <a:cs typeface="Arial"/>
              </a:rPr>
              <a:t>servers)</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10" dirty="0">
                <a:latin typeface="Arial"/>
                <a:cs typeface="Arial"/>
              </a:rPr>
              <a:t>we</a:t>
            </a:r>
            <a:r>
              <a:rPr sz="1000" spc="5" dirty="0">
                <a:latin typeface="Arial"/>
                <a:cs typeface="Arial"/>
              </a:rPr>
              <a:t> </a:t>
            </a:r>
            <a:r>
              <a:rPr sz="1000" spc="-5" dirty="0">
                <a:latin typeface="Arial"/>
                <a:cs typeface="Arial"/>
              </a:rPr>
              <a:t>consider</a:t>
            </a:r>
            <a:r>
              <a:rPr sz="1000" dirty="0">
                <a:latin typeface="Arial"/>
                <a:cs typeface="Arial"/>
              </a:rPr>
              <a:t> </a:t>
            </a:r>
            <a:r>
              <a:rPr sz="1000" spc="-5" dirty="0">
                <a:latin typeface="Arial"/>
                <a:cs typeface="Arial"/>
              </a:rPr>
              <a:t>only</a:t>
            </a:r>
            <a:r>
              <a:rPr sz="1000" dirty="0">
                <a:latin typeface="Arial"/>
                <a:cs typeface="Arial"/>
              </a:rPr>
              <a:t> </a:t>
            </a:r>
            <a:r>
              <a:rPr sz="1000" spc="-5" dirty="0">
                <a:solidFill>
                  <a:srgbClr val="0000FA"/>
                </a:solidFill>
                <a:latin typeface="Arial"/>
                <a:cs typeface="Arial"/>
              </a:rPr>
              <a:t>control</a:t>
            </a:r>
            <a:r>
              <a:rPr sz="1000" spc="5" dirty="0">
                <a:solidFill>
                  <a:srgbClr val="0000FA"/>
                </a:solidFill>
                <a:latin typeface="Arial"/>
                <a:cs typeface="Arial"/>
              </a:rPr>
              <a:t> </a:t>
            </a:r>
            <a:r>
              <a:rPr sz="1000" spc="-5" dirty="0">
                <a:solidFill>
                  <a:srgbClr val="0000FA"/>
                </a:solidFill>
                <a:latin typeface="Arial"/>
                <a:cs typeface="Arial"/>
              </a:rPr>
              <a:t>messages</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1643380"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Two-server</a:t>
            </a:r>
            <a:r>
              <a:rPr sz="1400" spc="-20" dirty="0">
                <a:solidFill>
                  <a:srgbClr val="3333B2"/>
                </a:solidFill>
                <a:latin typeface="Arial"/>
                <a:cs typeface="Arial"/>
              </a:rPr>
              <a:t> </a:t>
            </a:r>
            <a:r>
              <a:rPr sz="1400" spc="10" dirty="0">
                <a:solidFill>
                  <a:srgbClr val="3333B2"/>
                </a:solidFill>
                <a:latin typeface="Arial"/>
                <a:cs typeface="Arial"/>
              </a:rPr>
              <a:t>situation</a:t>
            </a:r>
            <a:endParaRPr sz="1400">
              <a:latin typeface="Arial"/>
              <a:cs typeface="Arial"/>
            </a:endParaRPr>
          </a:p>
        </p:txBody>
      </p:sp>
      <p:grpSp>
        <p:nvGrpSpPr>
          <p:cNvPr id="5" name="object 5"/>
          <p:cNvGrpSpPr/>
          <p:nvPr/>
        </p:nvGrpSpPr>
        <p:grpSpPr>
          <a:xfrm>
            <a:off x="977978" y="1830131"/>
            <a:ext cx="2813685" cy="342900"/>
            <a:chOff x="977978" y="1830131"/>
            <a:chExt cx="2813685" cy="342900"/>
          </a:xfrm>
        </p:grpSpPr>
        <p:sp>
          <p:nvSpPr>
            <p:cNvPr id="6" name="object 6"/>
            <p:cNvSpPr/>
            <p:nvPr/>
          </p:nvSpPr>
          <p:spPr>
            <a:xfrm>
              <a:off x="982423" y="2150778"/>
              <a:ext cx="2781935" cy="0"/>
            </a:xfrm>
            <a:custGeom>
              <a:avLst/>
              <a:gdLst/>
              <a:ahLst/>
              <a:cxnLst/>
              <a:rect l="l" t="t" r="r" b="b"/>
              <a:pathLst>
                <a:path w="2781935">
                  <a:moveTo>
                    <a:pt x="0" y="0"/>
                  </a:moveTo>
                  <a:lnTo>
                    <a:pt x="2781449" y="0"/>
                  </a:lnTo>
                </a:path>
              </a:pathLst>
            </a:custGeom>
            <a:ln w="8401">
              <a:solidFill>
                <a:srgbClr val="000000"/>
              </a:solidFill>
            </a:ln>
          </p:spPr>
          <p:txBody>
            <a:bodyPr wrap="square" lIns="0" tIns="0" rIns="0" bIns="0" rtlCol="0"/>
            <a:lstStyle/>
            <a:p>
              <a:endParaRPr/>
            </a:p>
          </p:txBody>
        </p:sp>
        <p:sp>
          <p:nvSpPr>
            <p:cNvPr id="7" name="object 7"/>
            <p:cNvSpPr/>
            <p:nvPr/>
          </p:nvSpPr>
          <p:spPr>
            <a:xfrm>
              <a:off x="3747489" y="2128934"/>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982423" y="1851974"/>
              <a:ext cx="2781935" cy="0"/>
            </a:xfrm>
            <a:custGeom>
              <a:avLst/>
              <a:gdLst/>
              <a:ahLst/>
              <a:cxnLst/>
              <a:rect l="l" t="t" r="r" b="b"/>
              <a:pathLst>
                <a:path w="2781935">
                  <a:moveTo>
                    <a:pt x="0" y="0"/>
                  </a:moveTo>
                  <a:lnTo>
                    <a:pt x="851590" y="0"/>
                  </a:lnTo>
                </a:path>
                <a:path w="2781935">
                  <a:moveTo>
                    <a:pt x="941231" y="0"/>
                  </a:moveTo>
                  <a:lnTo>
                    <a:pt x="1748001" y="0"/>
                  </a:lnTo>
                </a:path>
                <a:path w="2781935">
                  <a:moveTo>
                    <a:pt x="1837643" y="0"/>
                  </a:moveTo>
                  <a:lnTo>
                    <a:pt x="2781449" y="0"/>
                  </a:lnTo>
                </a:path>
              </a:pathLst>
            </a:custGeom>
            <a:ln w="8401">
              <a:solidFill>
                <a:srgbClr val="000000"/>
              </a:solidFill>
            </a:ln>
          </p:spPr>
          <p:txBody>
            <a:bodyPr wrap="square" lIns="0" tIns="0" rIns="0" bIns="0" rtlCol="0"/>
            <a:lstStyle/>
            <a:p>
              <a:endParaRPr/>
            </a:p>
          </p:txBody>
        </p:sp>
        <p:sp>
          <p:nvSpPr>
            <p:cNvPr id="9" name="object 9"/>
            <p:cNvSpPr/>
            <p:nvPr/>
          </p:nvSpPr>
          <p:spPr>
            <a:xfrm>
              <a:off x="3747489" y="1830131"/>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10" name="object 10"/>
          <p:cNvSpPr txBox="1"/>
          <p:nvPr/>
        </p:nvSpPr>
        <p:spPr>
          <a:xfrm>
            <a:off x="813825" y="1768989"/>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sp>
        <p:nvSpPr>
          <p:cNvPr id="11" name="object 11"/>
          <p:cNvSpPr/>
          <p:nvPr/>
        </p:nvSpPr>
        <p:spPr>
          <a:xfrm>
            <a:off x="978222" y="1548969"/>
            <a:ext cx="8890" cy="8890"/>
          </a:xfrm>
          <a:custGeom>
            <a:avLst/>
            <a:gdLst/>
            <a:ahLst/>
            <a:cxnLst/>
            <a:rect l="l" t="t" r="r" b="b"/>
            <a:pathLst>
              <a:path w="8890" h="8890">
                <a:moveTo>
                  <a:pt x="0" y="4200"/>
                </a:moveTo>
                <a:lnTo>
                  <a:pt x="1230" y="1230"/>
                </a:lnTo>
                <a:lnTo>
                  <a:pt x="4200" y="0"/>
                </a:lnTo>
                <a:lnTo>
                  <a:pt x="7170" y="1230"/>
                </a:lnTo>
                <a:lnTo>
                  <a:pt x="8401" y="4200"/>
                </a:lnTo>
                <a:lnTo>
                  <a:pt x="7170" y="7170"/>
                </a:lnTo>
                <a:lnTo>
                  <a:pt x="4200" y="8401"/>
                </a:lnTo>
                <a:lnTo>
                  <a:pt x="1230" y="7170"/>
                </a:lnTo>
                <a:lnTo>
                  <a:pt x="0" y="4200"/>
                </a:lnTo>
                <a:close/>
              </a:path>
            </a:pathLst>
          </a:custGeom>
          <a:solidFill>
            <a:srgbClr val="000000"/>
          </a:solidFill>
        </p:spPr>
        <p:txBody>
          <a:bodyPr wrap="square" lIns="0" tIns="0" rIns="0" bIns="0" rtlCol="0"/>
          <a:lstStyle/>
          <a:p>
            <a:endParaRPr/>
          </a:p>
        </p:txBody>
      </p:sp>
      <p:sp>
        <p:nvSpPr>
          <p:cNvPr id="12" name="object 12"/>
          <p:cNvSpPr txBox="1"/>
          <p:nvPr/>
        </p:nvSpPr>
        <p:spPr>
          <a:xfrm>
            <a:off x="813825" y="1469645"/>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grpSp>
        <p:nvGrpSpPr>
          <p:cNvPr id="13" name="object 13"/>
          <p:cNvGrpSpPr/>
          <p:nvPr/>
        </p:nvGrpSpPr>
        <p:grpSpPr>
          <a:xfrm>
            <a:off x="982374" y="1506914"/>
            <a:ext cx="2809240" cy="92710"/>
            <a:chOff x="982374" y="1506914"/>
            <a:chExt cx="2809240" cy="92710"/>
          </a:xfrm>
        </p:grpSpPr>
        <p:sp>
          <p:nvSpPr>
            <p:cNvPr id="14" name="object 14"/>
            <p:cNvSpPr/>
            <p:nvPr/>
          </p:nvSpPr>
          <p:spPr>
            <a:xfrm>
              <a:off x="991874" y="1553170"/>
              <a:ext cx="842644" cy="0"/>
            </a:xfrm>
            <a:custGeom>
              <a:avLst/>
              <a:gdLst/>
              <a:ahLst/>
              <a:cxnLst/>
              <a:rect l="l" t="t" r="r" b="b"/>
              <a:pathLst>
                <a:path w="842644">
                  <a:moveTo>
                    <a:pt x="0" y="0"/>
                  </a:moveTo>
                  <a:lnTo>
                    <a:pt x="842138" y="0"/>
                  </a:lnTo>
                </a:path>
              </a:pathLst>
            </a:custGeom>
            <a:ln w="12602">
              <a:solidFill>
                <a:srgbClr val="000000"/>
              </a:solidFill>
            </a:ln>
          </p:spPr>
          <p:txBody>
            <a:bodyPr wrap="square" lIns="0" tIns="0" rIns="0" bIns="0" rtlCol="0"/>
            <a:lstStyle/>
            <a:p>
              <a:endParaRPr/>
            </a:p>
          </p:txBody>
        </p:sp>
        <p:sp>
          <p:nvSpPr>
            <p:cNvPr id="15" name="object 15"/>
            <p:cNvSpPr/>
            <p:nvPr/>
          </p:nvSpPr>
          <p:spPr>
            <a:xfrm>
              <a:off x="988724" y="1513264"/>
              <a:ext cx="0" cy="80010"/>
            </a:xfrm>
            <a:custGeom>
              <a:avLst/>
              <a:gdLst/>
              <a:ahLst/>
              <a:cxnLst/>
              <a:rect l="l" t="t" r="r" b="b"/>
              <a:pathLst>
                <a:path h="80009">
                  <a:moveTo>
                    <a:pt x="0" y="0"/>
                  </a:moveTo>
                  <a:lnTo>
                    <a:pt x="0" y="79812"/>
                  </a:lnTo>
                </a:path>
              </a:pathLst>
            </a:custGeom>
            <a:ln w="12602">
              <a:solidFill>
                <a:srgbClr val="000000"/>
              </a:solidFill>
            </a:ln>
          </p:spPr>
          <p:txBody>
            <a:bodyPr wrap="square" lIns="0" tIns="0" rIns="0" bIns="0" rtlCol="0"/>
            <a:lstStyle/>
            <a:p>
              <a:endParaRPr/>
            </a:p>
          </p:txBody>
        </p:sp>
        <p:sp>
          <p:nvSpPr>
            <p:cNvPr id="16" name="object 16"/>
            <p:cNvSpPr/>
            <p:nvPr/>
          </p:nvSpPr>
          <p:spPr>
            <a:xfrm>
              <a:off x="1923654" y="1553170"/>
              <a:ext cx="1834514" cy="0"/>
            </a:xfrm>
            <a:custGeom>
              <a:avLst/>
              <a:gdLst/>
              <a:ahLst/>
              <a:cxnLst/>
              <a:rect l="l" t="t" r="r" b="b"/>
              <a:pathLst>
                <a:path w="1834514">
                  <a:moveTo>
                    <a:pt x="0" y="0"/>
                  </a:moveTo>
                  <a:lnTo>
                    <a:pt x="806769" y="0"/>
                  </a:lnTo>
                </a:path>
                <a:path w="1834514">
                  <a:moveTo>
                    <a:pt x="896411" y="0"/>
                  </a:moveTo>
                  <a:lnTo>
                    <a:pt x="1833915" y="0"/>
                  </a:lnTo>
                </a:path>
              </a:pathLst>
            </a:custGeom>
            <a:ln w="12602">
              <a:solidFill>
                <a:srgbClr val="000000"/>
              </a:solidFill>
            </a:ln>
          </p:spPr>
          <p:txBody>
            <a:bodyPr wrap="square" lIns="0" tIns="0" rIns="0" bIns="0" rtlCol="0"/>
            <a:lstStyle/>
            <a:p>
              <a:endParaRPr/>
            </a:p>
          </p:txBody>
        </p:sp>
        <p:sp>
          <p:nvSpPr>
            <p:cNvPr id="17" name="object 17"/>
            <p:cNvSpPr/>
            <p:nvPr/>
          </p:nvSpPr>
          <p:spPr>
            <a:xfrm>
              <a:off x="3737407" y="1526286"/>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18" name="object 18"/>
          <p:cNvSpPr txBox="1"/>
          <p:nvPr/>
        </p:nvSpPr>
        <p:spPr>
          <a:xfrm>
            <a:off x="887998" y="1563714"/>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19" name="object 19"/>
          <p:cNvGrpSpPr/>
          <p:nvPr/>
        </p:nvGrpSpPr>
        <p:grpSpPr>
          <a:xfrm>
            <a:off x="977978" y="1232523"/>
            <a:ext cx="2813685" cy="43815"/>
            <a:chOff x="977978" y="1232523"/>
            <a:chExt cx="2813685" cy="43815"/>
          </a:xfrm>
        </p:grpSpPr>
        <p:sp>
          <p:nvSpPr>
            <p:cNvPr id="20" name="object 20"/>
            <p:cNvSpPr/>
            <p:nvPr/>
          </p:nvSpPr>
          <p:spPr>
            <a:xfrm>
              <a:off x="982423" y="1254366"/>
              <a:ext cx="2781935" cy="0"/>
            </a:xfrm>
            <a:custGeom>
              <a:avLst/>
              <a:gdLst/>
              <a:ahLst/>
              <a:cxnLst/>
              <a:rect l="l" t="t" r="r" b="b"/>
              <a:pathLst>
                <a:path w="2781935">
                  <a:moveTo>
                    <a:pt x="0" y="0"/>
                  </a:moveTo>
                  <a:lnTo>
                    <a:pt x="2781449" y="0"/>
                  </a:lnTo>
                </a:path>
              </a:pathLst>
            </a:custGeom>
            <a:ln w="8401">
              <a:solidFill>
                <a:srgbClr val="000000"/>
              </a:solidFill>
            </a:ln>
          </p:spPr>
          <p:txBody>
            <a:bodyPr wrap="square" lIns="0" tIns="0" rIns="0" bIns="0" rtlCol="0"/>
            <a:lstStyle/>
            <a:p>
              <a:endParaRPr/>
            </a:p>
          </p:txBody>
        </p:sp>
        <p:sp>
          <p:nvSpPr>
            <p:cNvPr id="21" name="object 21"/>
            <p:cNvSpPr/>
            <p:nvPr/>
          </p:nvSpPr>
          <p:spPr>
            <a:xfrm>
              <a:off x="3747489" y="1232523"/>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22" name="object 22"/>
          <p:cNvSpPr txBox="1"/>
          <p:nvPr/>
        </p:nvSpPr>
        <p:spPr>
          <a:xfrm>
            <a:off x="804760" y="1170839"/>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grpSp>
        <p:nvGrpSpPr>
          <p:cNvPr id="23" name="object 23"/>
          <p:cNvGrpSpPr/>
          <p:nvPr/>
        </p:nvGrpSpPr>
        <p:grpSpPr>
          <a:xfrm>
            <a:off x="1099720" y="1252144"/>
            <a:ext cx="271145" cy="901065"/>
            <a:chOff x="1099720" y="1252144"/>
            <a:chExt cx="271145" cy="901065"/>
          </a:xfrm>
        </p:grpSpPr>
        <p:sp>
          <p:nvSpPr>
            <p:cNvPr id="24" name="object 24"/>
            <p:cNvSpPr/>
            <p:nvPr/>
          </p:nvSpPr>
          <p:spPr>
            <a:xfrm>
              <a:off x="1131824" y="1254366"/>
              <a:ext cx="140335" cy="280035"/>
            </a:xfrm>
            <a:custGeom>
              <a:avLst/>
              <a:gdLst/>
              <a:ahLst/>
              <a:cxnLst/>
              <a:rect l="l" t="t" r="r" b="b"/>
              <a:pathLst>
                <a:path w="140334" h="280034">
                  <a:moveTo>
                    <a:pt x="0" y="0"/>
                  </a:moveTo>
                  <a:lnTo>
                    <a:pt x="2187" y="4375"/>
                  </a:lnTo>
                  <a:lnTo>
                    <a:pt x="17501" y="35002"/>
                  </a:lnTo>
                  <a:lnTo>
                    <a:pt x="59066" y="118132"/>
                  </a:lnTo>
                  <a:lnTo>
                    <a:pt x="140009" y="280017"/>
                  </a:lnTo>
                </a:path>
              </a:pathLst>
            </a:custGeom>
            <a:ln w="4200">
              <a:solidFill>
                <a:srgbClr val="000000"/>
              </a:solidFill>
            </a:ln>
          </p:spPr>
          <p:txBody>
            <a:bodyPr wrap="square" lIns="0" tIns="0" rIns="0" bIns="0" rtlCol="0"/>
            <a:lstStyle/>
            <a:p>
              <a:endParaRPr/>
            </a:p>
          </p:txBody>
        </p:sp>
        <p:sp>
          <p:nvSpPr>
            <p:cNvPr id="25" name="object 25"/>
            <p:cNvSpPr/>
            <p:nvPr/>
          </p:nvSpPr>
          <p:spPr>
            <a:xfrm>
              <a:off x="1251169" y="1515599"/>
              <a:ext cx="30480" cy="38100"/>
            </a:xfrm>
            <a:custGeom>
              <a:avLst/>
              <a:gdLst/>
              <a:ahLst/>
              <a:cxnLst/>
              <a:rect l="l" t="t" r="r" b="b"/>
              <a:pathLst>
                <a:path w="30480" h="38100">
                  <a:moveTo>
                    <a:pt x="30056" y="0"/>
                  </a:moveTo>
                  <a:lnTo>
                    <a:pt x="20664" y="18785"/>
                  </a:lnTo>
                  <a:lnTo>
                    <a:pt x="0" y="15028"/>
                  </a:lnTo>
                  <a:lnTo>
                    <a:pt x="30056" y="37571"/>
                  </a:lnTo>
                  <a:lnTo>
                    <a:pt x="30056" y="0"/>
                  </a:lnTo>
                  <a:close/>
                </a:path>
              </a:pathLst>
            </a:custGeom>
            <a:solidFill>
              <a:srgbClr val="000000"/>
            </a:solidFill>
          </p:spPr>
          <p:txBody>
            <a:bodyPr wrap="square" lIns="0" tIns="0" rIns="0" bIns="0" rtlCol="0"/>
            <a:lstStyle/>
            <a:p>
              <a:endParaRPr/>
            </a:p>
          </p:txBody>
        </p:sp>
        <p:sp>
          <p:nvSpPr>
            <p:cNvPr id="26" name="object 26"/>
            <p:cNvSpPr/>
            <p:nvPr/>
          </p:nvSpPr>
          <p:spPr>
            <a:xfrm>
              <a:off x="1131824" y="1254366"/>
              <a:ext cx="144780" cy="577850"/>
            </a:xfrm>
            <a:custGeom>
              <a:avLst/>
              <a:gdLst/>
              <a:ahLst/>
              <a:cxnLst/>
              <a:rect l="l" t="t" r="r" b="b"/>
              <a:pathLst>
                <a:path w="144780" h="577850">
                  <a:moveTo>
                    <a:pt x="0" y="0"/>
                  </a:moveTo>
                  <a:lnTo>
                    <a:pt x="2254" y="9019"/>
                  </a:lnTo>
                  <a:lnTo>
                    <a:pt x="18038" y="72153"/>
                  </a:lnTo>
                  <a:lnTo>
                    <a:pt x="60880" y="243519"/>
                  </a:lnTo>
                  <a:lnTo>
                    <a:pt x="144308" y="577231"/>
                  </a:lnTo>
                </a:path>
              </a:pathLst>
            </a:custGeom>
            <a:ln w="4200">
              <a:solidFill>
                <a:srgbClr val="000000"/>
              </a:solidFill>
            </a:ln>
          </p:spPr>
          <p:txBody>
            <a:bodyPr wrap="square" lIns="0" tIns="0" rIns="0" bIns="0" rtlCol="0"/>
            <a:lstStyle/>
            <a:p>
              <a:endParaRPr/>
            </a:p>
          </p:txBody>
        </p:sp>
        <p:sp>
          <p:nvSpPr>
            <p:cNvPr id="27" name="object 27"/>
            <p:cNvSpPr/>
            <p:nvPr/>
          </p:nvSpPr>
          <p:spPr>
            <a:xfrm>
              <a:off x="1256776" y="1815297"/>
              <a:ext cx="33020" cy="36830"/>
            </a:xfrm>
            <a:custGeom>
              <a:avLst/>
              <a:gdLst/>
              <a:ahLst/>
              <a:cxnLst/>
              <a:rect l="l" t="t" r="r" b="b"/>
              <a:pathLst>
                <a:path w="33019" h="36830">
                  <a:moveTo>
                    <a:pt x="32601" y="0"/>
                  </a:moveTo>
                  <a:lnTo>
                    <a:pt x="19356" y="16300"/>
                  </a:lnTo>
                  <a:lnTo>
                    <a:pt x="0" y="8149"/>
                  </a:lnTo>
                  <a:lnTo>
                    <a:pt x="24450" y="36676"/>
                  </a:lnTo>
                  <a:lnTo>
                    <a:pt x="32601" y="0"/>
                  </a:lnTo>
                  <a:close/>
                </a:path>
              </a:pathLst>
            </a:custGeom>
            <a:solidFill>
              <a:srgbClr val="000000"/>
            </a:solidFill>
          </p:spPr>
          <p:txBody>
            <a:bodyPr wrap="square" lIns="0" tIns="0" rIns="0" bIns="0" rtlCol="0"/>
            <a:lstStyle/>
            <a:p>
              <a:endParaRPr/>
            </a:p>
          </p:txBody>
        </p:sp>
        <p:sp>
          <p:nvSpPr>
            <p:cNvPr id="28" name="object 28"/>
            <p:cNvSpPr/>
            <p:nvPr/>
          </p:nvSpPr>
          <p:spPr>
            <a:xfrm>
              <a:off x="1101942" y="1867663"/>
              <a:ext cx="255270" cy="283210"/>
            </a:xfrm>
            <a:custGeom>
              <a:avLst/>
              <a:gdLst/>
              <a:ahLst/>
              <a:cxnLst/>
              <a:rect l="l" t="t" r="r" b="b"/>
              <a:pathLst>
                <a:path w="255269" h="283210">
                  <a:moveTo>
                    <a:pt x="0" y="283114"/>
                  </a:moveTo>
                  <a:lnTo>
                    <a:pt x="3981" y="278690"/>
                  </a:lnTo>
                  <a:lnTo>
                    <a:pt x="31850" y="247725"/>
                  </a:lnTo>
                  <a:lnTo>
                    <a:pt x="107494" y="163675"/>
                  </a:lnTo>
                  <a:lnTo>
                    <a:pt x="254801" y="0"/>
                  </a:lnTo>
                </a:path>
              </a:pathLst>
            </a:custGeom>
            <a:ln w="4200">
              <a:solidFill>
                <a:srgbClr val="000000"/>
              </a:solidFill>
            </a:ln>
          </p:spPr>
          <p:txBody>
            <a:bodyPr wrap="square" lIns="0" tIns="0" rIns="0" bIns="0" rtlCol="0"/>
            <a:lstStyle/>
            <a:p>
              <a:endParaRPr/>
            </a:p>
          </p:txBody>
        </p:sp>
        <p:sp>
          <p:nvSpPr>
            <p:cNvPr id="29" name="object 29"/>
            <p:cNvSpPr/>
            <p:nvPr/>
          </p:nvSpPr>
          <p:spPr>
            <a:xfrm>
              <a:off x="1335720" y="1851974"/>
              <a:ext cx="35560" cy="36830"/>
            </a:xfrm>
            <a:custGeom>
              <a:avLst/>
              <a:gdLst/>
              <a:ahLst/>
              <a:cxnLst/>
              <a:rect l="l" t="t" r="r" b="b"/>
              <a:pathLst>
                <a:path w="35559" h="36830">
                  <a:moveTo>
                    <a:pt x="0" y="13806"/>
                  </a:moveTo>
                  <a:lnTo>
                    <a:pt x="21023" y="15689"/>
                  </a:lnTo>
                  <a:lnTo>
                    <a:pt x="25102" y="36399"/>
                  </a:lnTo>
                  <a:lnTo>
                    <a:pt x="35143" y="0"/>
                  </a:lnTo>
                  <a:lnTo>
                    <a:pt x="0" y="13806"/>
                  </a:lnTo>
                  <a:close/>
                </a:path>
              </a:pathLst>
            </a:custGeom>
            <a:solidFill>
              <a:srgbClr val="000000"/>
            </a:solidFill>
          </p:spPr>
          <p:txBody>
            <a:bodyPr wrap="square" lIns="0" tIns="0" rIns="0" bIns="0" rtlCol="0"/>
            <a:lstStyle/>
            <a:p>
              <a:endParaRPr/>
            </a:p>
          </p:txBody>
        </p:sp>
      </p:grpSp>
      <p:sp>
        <p:nvSpPr>
          <p:cNvPr id="30" name="object 30"/>
          <p:cNvSpPr txBox="1"/>
          <p:nvPr/>
        </p:nvSpPr>
        <p:spPr>
          <a:xfrm>
            <a:off x="804760" y="2067794"/>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31" name="object 31"/>
          <p:cNvSpPr txBox="1"/>
          <p:nvPr/>
        </p:nvSpPr>
        <p:spPr>
          <a:xfrm>
            <a:off x="1010720" y="1085493"/>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32" name="object 32"/>
          <p:cNvGrpSpPr/>
          <p:nvPr/>
        </p:nvGrpSpPr>
        <p:grpSpPr>
          <a:xfrm>
            <a:off x="1099720" y="1550947"/>
            <a:ext cx="576580" cy="602615"/>
            <a:chOff x="1099720" y="1550947"/>
            <a:chExt cx="576580" cy="602615"/>
          </a:xfrm>
        </p:grpSpPr>
        <p:sp>
          <p:nvSpPr>
            <p:cNvPr id="33" name="object 33"/>
            <p:cNvSpPr/>
            <p:nvPr/>
          </p:nvSpPr>
          <p:spPr>
            <a:xfrm>
              <a:off x="1101942" y="1574089"/>
              <a:ext cx="57785" cy="577215"/>
            </a:xfrm>
            <a:custGeom>
              <a:avLst/>
              <a:gdLst/>
              <a:ahLst/>
              <a:cxnLst/>
              <a:rect l="l" t="t" r="r" b="b"/>
              <a:pathLst>
                <a:path w="57784" h="577214">
                  <a:moveTo>
                    <a:pt x="0" y="576688"/>
                  </a:moveTo>
                  <a:lnTo>
                    <a:pt x="901" y="567678"/>
                  </a:lnTo>
                  <a:lnTo>
                    <a:pt x="7208" y="504602"/>
                  </a:lnTo>
                  <a:lnTo>
                    <a:pt x="24328" y="333398"/>
                  </a:lnTo>
                  <a:lnTo>
                    <a:pt x="57668" y="0"/>
                  </a:lnTo>
                </a:path>
              </a:pathLst>
            </a:custGeom>
            <a:ln w="4200">
              <a:solidFill>
                <a:srgbClr val="000000"/>
              </a:solidFill>
            </a:ln>
          </p:spPr>
          <p:txBody>
            <a:bodyPr wrap="square" lIns="0" tIns="0" rIns="0" bIns="0" rtlCol="0"/>
            <a:lstStyle/>
            <a:p>
              <a:endParaRPr/>
            </a:p>
          </p:txBody>
        </p:sp>
        <p:sp>
          <p:nvSpPr>
            <p:cNvPr id="34" name="object 34"/>
            <p:cNvSpPr/>
            <p:nvPr/>
          </p:nvSpPr>
          <p:spPr>
            <a:xfrm>
              <a:off x="1141621" y="1553170"/>
              <a:ext cx="33655" cy="35560"/>
            </a:xfrm>
            <a:custGeom>
              <a:avLst/>
              <a:gdLst/>
              <a:ahLst/>
              <a:cxnLst/>
              <a:rect l="l" t="t" r="r" b="b"/>
              <a:pathLst>
                <a:path w="33655"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5" name="object 35"/>
            <p:cNvSpPr/>
            <p:nvPr/>
          </p:nvSpPr>
          <p:spPr>
            <a:xfrm>
              <a:off x="1580030" y="1553170"/>
              <a:ext cx="83820" cy="278765"/>
            </a:xfrm>
            <a:custGeom>
              <a:avLst/>
              <a:gdLst/>
              <a:ahLst/>
              <a:cxnLst/>
              <a:rect l="l" t="t" r="r" b="b"/>
              <a:pathLst>
                <a:path w="83819" h="278764">
                  <a:moveTo>
                    <a:pt x="0" y="0"/>
                  </a:moveTo>
                  <a:lnTo>
                    <a:pt x="1306" y="4353"/>
                  </a:lnTo>
                  <a:lnTo>
                    <a:pt x="10448" y="34828"/>
                  </a:lnTo>
                  <a:lnTo>
                    <a:pt x="35264" y="117547"/>
                  </a:lnTo>
                  <a:lnTo>
                    <a:pt x="83590" y="278631"/>
                  </a:lnTo>
                </a:path>
              </a:pathLst>
            </a:custGeom>
            <a:ln w="4200">
              <a:solidFill>
                <a:srgbClr val="000000"/>
              </a:solidFill>
            </a:ln>
          </p:spPr>
          <p:txBody>
            <a:bodyPr wrap="square" lIns="0" tIns="0" rIns="0" bIns="0" rtlCol="0"/>
            <a:lstStyle/>
            <a:p>
              <a:endParaRPr/>
            </a:p>
          </p:txBody>
        </p:sp>
        <p:sp>
          <p:nvSpPr>
            <p:cNvPr id="36" name="object 36"/>
            <p:cNvSpPr/>
            <p:nvPr/>
          </p:nvSpPr>
          <p:spPr>
            <a:xfrm>
              <a:off x="1643853" y="1814858"/>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37" name="object 37"/>
          <p:cNvSpPr txBox="1"/>
          <p:nvPr/>
        </p:nvSpPr>
        <p:spPr>
          <a:xfrm>
            <a:off x="1318591" y="1384299"/>
            <a:ext cx="52324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30" dirty="0">
                <a:latin typeface="Times New Roman"/>
                <a:cs typeface="Times New Roman"/>
              </a:rPr>
              <a:t>S</a:t>
            </a:r>
            <a:r>
              <a:rPr sz="750" spc="55" dirty="0">
                <a:latin typeface="Times New Roman"/>
                <a:cs typeface="Times New Roman"/>
              </a:rPr>
              <a:t>eq</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2</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38" name="object 38"/>
          <p:cNvGrpSpPr/>
          <p:nvPr/>
        </p:nvGrpSpPr>
        <p:grpSpPr>
          <a:xfrm>
            <a:off x="1831790" y="1517345"/>
            <a:ext cx="94615" cy="71755"/>
            <a:chOff x="1831790" y="1517345"/>
            <a:chExt cx="94615" cy="71755"/>
          </a:xfrm>
        </p:grpSpPr>
        <p:sp>
          <p:nvSpPr>
            <p:cNvPr id="39" name="object 39"/>
            <p:cNvSpPr/>
            <p:nvPr/>
          </p:nvSpPr>
          <p:spPr>
            <a:xfrm>
              <a:off x="1834013" y="1519568"/>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40" name="object 40"/>
            <p:cNvSpPr/>
            <p:nvPr/>
          </p:nvSpPr>
          <p:spPr>
            <a:xfrm>
              <a:off x="1834013" y="1519568"/>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41" name="object 41"/>
          <p:cNvSpPr txBox="1"/>
          <p:nvPr/>
        </p:nvSpPr>
        <p:spPr>
          <a:xfrm>
            <a:off x="1803277" y="1568808"/>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2</a:t>
            </a:r>
            <a:endParaRPr sz="500">
              <a:latin typeface="Times New Roman"/>
              <a:cs typeface="Times New Roman"/>
            </a:endParaRPr>
          </a:p>
        </p:txBody>
      </p:sp>
      <p:grpSp>
        <p:nvGrpSpPr>
          <p:cNvPr id="42" name="object 42"/>
          <p:cNvGrpSpPr/>
          <p:nvPr/>
        </p:nvGrpSpPr>
        <p:grpSpPr>
          <a:xfrm>
            <a:off x="1831790" y="1816149"/>
            <a:ext cx="94615" cy="71755"/>
            <a:chOff x="1831790" y="1816149"/>
            <a:chExt cx="94615" cy="71755"/>
          </a:xfrm>
        </p:grpSpPr>
        <p:sp>
          <p:nvSpPr>
            <p:cNvPr id="43" name="object 43"/>
            <p:cNvSpPr/>
            <p:nvPr/>
          </p:nvSpPr>
          <p:spPr>
            <a:xfrm>
              <a:off x="1834013" y="1818372"/>
              <a:ext cx="90170" cy="67310"/>
            </a:xfrm>
            <a:custGeom>
              <a:avLst/>
              <a:gdLst/>
              <a:ahLst/>
              <a:cxnLst/>
              <a:rect l="l" t="t" r="r" b="b"/>
              <a:pathLst>
                <a:path w="90169"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44" name="object 44"/>
            <p:cNvSpPr/>
            <p:nvPr/>
          </p:nvSpPr>
          <p:spPr>
            <a:xfrm>
              <a:off x="1834013" y="1818372"/>
              <a:ext cx="90170" cy="67310"/>
            </a:xfrm>
            <a:custGeom>
              <a:avLst/>
              <a:gdLst/>
              <a:ahLst/>
              <a:cxnLst/>
              <a:rect l="l" t="t" r="r" b="b"/>
              <a:pathLst>
                <a:path w="90169"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45" name="object 45"/>
          <p:cNvSpPr txBox="1"/>
          <p:nvPr/>
        </p:nvSpPr>
        <p:spPr>
          <a:xfrm>
            <a:off x="1803277" y="1867613"/>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2</a:t>
            </a:r>
            <a:endParaRPr sz="500">
              <a:latin typeface="Times New Roman"/>
              <a:cs typeface="Times New Roman"/>
            </a:endParaRPr>
          </a:p>
        </p:txBody>
      </p:sp>
      <p:grpSp>
        <p:nvGrpSpPr>
          <p:cNvPr id="46" name="object 46"/>
          <p:cNvGrpSpPr/>
          <p:nvPr/>
        </p:nvGrpSpPr>
        <p:grpSpPr>
          <a:xfrm>
            <a:off x="2175415" y="1550947"/>
            <a:ext cx="187960" cy="600075"/>
            <a:chOff x="2175415" y="1550947"/>
            <a:chExt cx="187960" cy="600075"/>
          </a:xfrm>
        </p:grpSpPr>
        <p:sp>
          <p:nvSpPr>
            <p:cNvPr id="47" name="object 47"/>
            <p:cNvSpPr/>
            <p:nvPr/>
          </p:nvSpPr>
          <p:spPr>
            <a:xfrm>
              <a:off x="2177637" y="1553170"/>
              <a:ext cx="173355" cy="577850"/>
            </a:xfrm>
            <a:custGeom>
              <a:avLst/>
              <a:gdLst/>
              <a:ahLst/>
              <a:cxnLst/>
              <a:rect l="l" t="t" r="r" b="b"/>
              <a:pathLst>
                <a:path w="173355" h="577850">
                  <a:moveTo>
                    <a:pt x="0" y="0"/>
                  </a:moveTo>
                  <a:lnTo>
                    <a:pt x="2706" y="9022"/>
                  </a:lnTo>
                  <a:lnTo>
                    <a:pt x="21654" y="72179"/>
                  </a:lnTo>
                  <a:lnTo>
                    <a:pt x="73082" y="243605"/>
                  </a:lnTo>
                  <a:lnTo>
                    <a:pt x="173232" y="577435"/>
                  </a:lnTo>
                </a:path>
              </a:pathLst>
            </a:custGeom>
            <a:ln w="4200">
              <a:solidFill>
                <a:srgbClr val="000000"/>
              </a:solidFill>
            </a:ln>
          </p:spPr>
          <p:txBody>
            <a:bodyPr wrap="square" lIns="0" tIns="0" rIns="0" bIns="0" rtlCol="0"/>
            <a:lstStyle/>
            <a:p>
              <a:endParaRPr/>
            </a:p>
          </p:txBody>
        </p:sp>
        <p:sp>
          <p:nvSpPr>
            <p:cNvPr id="48" name="object 48"/>
            <p:cNvSpPr/>
            <p:nvPr/>
          </p:nvSpPr>
          <p:spPr>
            <a:xfrm>
              <a:off x="2331102" y="2113662"/>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49" name="object 49"/>
          <p:cNvSpPr txBox="1"/>
          <p:nvPr/>
        </p:nvSpPr>
        <p:spPr>
          <a:xfrm>
            <a:off x="2351226" y="214837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50" name="object 50"/>
          <p:cNvSpPr txBox="1"/>
          <p:nvPr/>
        </p:nvSpPr>
        <p:spPr>
          <a:xfrm>
            <a:off x="2343668" y="2215259"/>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grpSp>
        <p:nvGrpSpPr>
          <p:cNvPr id="51" name="object 51"/>
          <p:cNvGrpSpPr/>
          <p:nvPr/>
        </p:nvGrpSpPr>
        <p:grpSpPr>
          <a:xfrm>
            <a:off x="2055895" y="1849751"/>
            <a:ext cx="98425" cy="301625"/>
            <a:chOff x="2055895" y="1849751"/>
            <a:chExt cx="98425" cy="301625"/>
          </a:xfrm>
        </p:grpSpPr>
        <p:sp>
          <p:nvSpPr>
            <p:cNvPr id="52" name="object 52"/>
            <p:cNvSpPr/>
            <p:nvPr/>
          </p:nvSpPr>
          <p:spPr>
            <a:xfrm>
              <a:off x="2058118" y="1851974"/>
              <a:ext cx="83820" cy="278765"/>
            </a:xfrm>
            <a:custGeom>
              <a:avLst/>
              <a:gdLst/>
              <a:ahLst/>
              <a:cxnLst/>
              <a:rect l="l" t="t" r="r" b="b"/>
              <a:pathLst>
                <a:path w="83819"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53" name="object 53"/>
            <p:cNvSpPr/>
            <p:nvPr/>
          </p:nvSpPr>
          <p:spPr>
            <a:xfrm>
              <a:off x="2121940" y="2113662"/>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54" name="object 54"/>
          <p:cNvSpPr txBox="1"/>
          <p:nvPr/>
        </p:nvSpPr>
        <p:spPr>
          <a:xfrm>
            <a:off x="2142061" y="214837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55" name="object 55"/>
          <p:cNvSpPr txBox="1"/>
          <p:nvPr/>
        </p:nvSpPr>
        <p:spPr>
          <a:xfrm>
            <a:off x="2134503" y="2214152"/>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56" name="object 56"/>
          <p:cNvSpPr txBox="1"/>
          <p:nvPr/>
        </p:nvSpPr>
        <p:spPr>
          <a:xfrm>
            <a:off x="2046654" y="2157713"/>
            <a:ext cx="411480"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110" dirty="0">
                <a:latin typeface="Arial"/>
                <a:cs typeface="Arial"/>
              </a:rPr>
              <a:t> </a:t>
            </a:r>
            <a:r>
              <a:rPr sz="750" i="1" spc="-30" dirty="0">
                <a:latin typeface="メイリオ"/>
                <a:cs typeface="メイリオ"/>
              </a:rPr>
              <a:t>)</a:t>
            </a:r>
            <a:r>
              <a:rPr sz="750" i="1" spc="-25" dirty="0">
                <a:latin typeface="メイリオ"/>
                <a:cs typeface="メイリオ"/>
              </a:rPr>
              <a:t> (</a:t>
            </a:r>
            <a:r>
              <a:rPr sz="750" i="1" spc="-25" dirty="0">
                <a:latin typeface="Arial"/>
                <a:cs typeface="Arial"/>
              </a:rPr>
              <a:t>σ</a:t>
            </a:r>
            <a:r>
              <a:rPr sz="750" i="1" spc="114"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57" name="object 57"/>
          <p:cNvGrpSpPr/>
          <p:nvPr/>
        </p:nvGrpSpPr>
        <p:grpSpPr>
          <a:xfrm>
            <a:off x="2474219" y="1550947"/>
            <a:ext cx="98425" cy="301625"/>
            <a:chOff x="2474219" y="1550947"/>
            <a:chExt cx="98425" cy="301625"/>
          </a:xfrm>
        </p:grpSpPr>
        <p:sp>
          <p:nvSpPr>
            <p:cNvPr id="58" name="object 58"/>
            <p:cNvSpPr/>
            <p:nvPr/>
          </p:nvSpPr>
          <p:spPr>
            <a:xfrm>
              <a:off x="2476441" y="1553170"/>
              <a:ext cx="83820" cy="278765"/>
            </a:xfrm>
            <a:custGeom>
              <a:avLst/>
              <a:gdLst/>
              <a:ahLst/>
              <a:cxnLst/>
              <a:rect l="l" t="t" r="r" b="b"/>
              <a:pathLst>
                <a:path w="83819" h="278764">
                  <a:moveTo>
                    <a:pt x="0" y="0"/>
                  </a:moveTo>
                  <a:lnTo>
                    <a:pt x="1306" y="4353"/>
                  </a:lnTo>
                  <a:lnTo>
                    <a:pt x="10448" y="34828"/>
                  </a:lnTo>
                  <a:lnTo>
                    <a:pt x="35264" y="117547"/>
                  </a:lnTo>
                  <a:lnTo>
                    <a:pt x="83590" y="278631"/>
                  </a:lnTo>
                </a:path>
              </a:pathLst>
            </a:custGeom>
            <a:ln w="4200">
              <a:solidFill>
                <a:srgbClr val="000000"/>
              </a:solidFill>
            </a:ln>
          </p:spPr>
          <p:txBody>
            <a:bodyPr wrap="square" lIns="0" tIns="0" rIns="0" bIns="0" rtlCol="0"/>
            <a:lstStyle/>
            <a:p>
              <a:endParaRPr/>
            </a:p>
          </p:txBody>
        </p:sp>
        <p:sp>
          <p:nvSpPr>
            <p:cNvPr id="59" name="object 59"/>
            <p:cNvSpPr/>
            <p:nvPr/>
          </p:nvSpPr>
          <p:spPr>
            <a:xfrm>
              <a:off x="2540264" y="1814858"/>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60" name="object 60"/>
          <p:cNvSpPr txBox="1"/>
          <p:nvPr/>
        </p:nvSpPr>
        <p:spPr>
          <a:xfrm>
            <a:off x="2214998" y="1384299"/>
            <a:ext cx="52324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30" dirty="0">
                <a:latin typeface="Times New Roman"/>
                <a:cs typeface="Times New Roman"/>
              </a:rPr>
              <a:t>S</a:t>
            </a:r>
            <a:r>
              <a:rPr sz="750" spc="55" dirty="0">
                <a:latin typeface="Times New Roman"/>
                <a:cs typeface="Times New Roman"/>
              </a:rPr>
              <a:t>eq</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2</a:t>
            </a:r>
            <a:r>
              <a:rPr sz="750" i="1" spc="-30" dirty="0">
                <a:latin typeface="メイリオ"/>
                <a:cs typeface="メイリオ"/>
              </a:rPr>
              <a:t>)</a:t>
            </a:r>
            <a:endParaRPr sz="750">
              <a:latin typeface="メイリオ"/>
              <a:cs typeface="メイリオ"/>
            </a:endParaRPr>
          </a:p>
        </p:txBody>
      </p:sp>
      <p:grpSp>
        <p:nvGrpSpPr>
          <p:cNvPr id="61" name="object 61"/>
          <p:cNvGrpSpPr/>
          <p:nvPr/>
        </p:nvGrpSpPr>
        <p:grpSpPr>
          <a:xfrm>
            <a:off x="2728201" y="1517345"/>
            <a:ext cx="94615" cy="71755"/>
            <a:chOff x="2728201" y="1517345"/>
            <a:chExt cx="94615" cy="71755"/>
          </a:xfrm>
        </p:grpSpPr>
        <p:sp>
          <p:nvSpPr>
            <p:cNvPr id="62" name="object 62"/>
            <p:cNvSpPr/>
            <p:nvPr/>
          </p:nvSpPr>
          <p:spPr>
            <a:xfrm>
              <a:off x="2730424" y="1519568"/>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63" name="object 63"/>
            <p:cNvSpPr/>
            <p:nvPr/>
          </p:nvSpPr>
          <p:spPr>
            <a:xfrm>
              <a:off x="2730424" y="1519568"/>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64" name="object 64"/>
          <p:cNvSpPr txBox="1"/>
          <p:nvPr/>
        </p:nvSpPr>
        <p:spPr>
          <a:xfrm>
            <a:off x="2699673" y="1569756"/>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p:txBody>
      </p:sp>
      <p:grpSp>
        <p:nvGrpSpPr>
          <p:cNvPr id="65" name="object 65"/>
          <p:cNvGrpSpPr/>
          <p:nvPr/>
        </p:nvGrpSpPr>
        <p:grpSpPr>
          <a:xfrm>
            <a:off x="2728201" y="1816149"/>
            <a:ext cx="94615" cy="71755"/>
            <a:chOff x="2728201" y="1816149"/>
            <a:chExt cx="94615" cy="71755"/>
          </a:xfrm>
        </p:grpSpPr>
        <p:sp>
          <p:nvSpPr>
            <p:cNvPr id="66" name="object 66"/>
            <p:cNvSpPr/>
            <p:nvPr/>
          </p:nvSpPr>
          <p:spPr>
            <a:xfrm>
              <a:off x="2730424" y="1818372"/>
              <a:ext cx="90170" cy="67310"/>
            </a:xfrm>
            <a:custGeom>
              <a:avLst/>
              <a:gdLst/>
              <a:ahLst/>
              <a:cxnLst/>
              <a:rect l="l" t="t" r="r" b="b"/>
              <a:pathLst>
                <a:path w="90169"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67" name="object 67"/>
            <p:cNvSpPr/>
            <p:nvPr/>
          </p:nvSpPr>
          <p:spPr>
            <a:xfrm>
              <a:off x="2730424" y="1818372"/>
              <a:ext cx="90170" cy="67310"/>
            </a:xfrm>
            <a:custGeom>
              <a:avLst/>
              <a:gdLst/>
              <a:ahLst/>
              <a:cxnLst/>
              <a:rect l="l" t="t" r="r" b="b"/>
              <a:pathLst>
                <a:path w="90169"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68" name="object 68"/>
          <p:cNvSpPr txBox="1"/>
          <p:nvPr/>
        </p:nvSpPr>
        <p:spPr>
          <a:xfrm>
            <a:off x="2699673" y="1868551"/>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p:txBody>
      </p:sp>
      <p:grpSp>
        <p:nvGrpSpPr>
          <p:cNvPr id="69" name="object 69"/>
          <p:cNvGrpSpPr/>
          <p:nvPr/>
        </p:nvGrpSpPr>
        <p:grpSpPr>
          <a:xfrm>
            <a:off x="2952306" y="1254366"/>
            <a:ext cx="98425" cy="301625"/>
            <a:chOff x="2952306" y="1254366"/>
            <a:chExt cx="98425" cy="301625"/>
          </a:xfrm>
        </p:grpSpPr>
        <p:sp>
          <p:nvSpPr>
            <p:cNvPr id="70" name="object 70"/>
            <p:cNvSpPr/>
            <p:nvPr/>
          </p:nvSpPr>
          <p:spPr>
            <a:xfrm>
              <a:off x="2954529" y="1274538"/>
              <a:ext cx="83820" cy="278765"/>
            </a:xfrm>
            <a:custGeom>
              <a:avLst/>
              <a:gdLst/>
              <a:ahLst/>
              <a:cxnLst/>
              <a:rect l="l" t="t" r="r" b="b"/>
              <a:pathLst>
                <a:path w="83819" h="278765">
                  <a:moveTo>
                    <a:pt x="0" y="278631"/>
                  </a:moveTo>
                  <a:lnTo>
                    <a:pt x="1306" y="274278"/>
                  </a:lnTo>
                  <a:lnTo>
                    <a:pt x="10448" y="243802"/>
                  </a:lnTo>
                  <a:lnTo>
                    <a:pt x="35265" y="161084"/>
                  </a:lnTo>
                  <a:lnTo>
                    <a:pt x="83591" y="0"/>
                  </a:lnTo>
                </a:path>
              </a:pathLst>
            </a:custGeom>
            <a:ln w="4200">
              <a:solidFill>
                <a:srgbClr val="000000"/>
              </a:solidFill>
            </a:ln>
          </p:spPr>
          <p:txBody>
            <a:bodyPr wrap="square" lIns="0" tIns="0" rIns="0" bIns="0" rtlCol="0"/>
            <a:lstStyle/>
            <a:p>
              <a:endParaRPr/>
            </a:p>
          </p:txBody>
        </p:sp>
        <p:sp>
          <p:nvSpPr>
            <p:cNvPr id="71" name="object 71"/>
            <p:cNvSpPr/>
            <p:nvPr/>
          </p:nvSpPr>
          <p:spPr>
            <a:xfrm>
              <a:off x="3018352" y="1254366"/>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72" name="object 72"/>
          <p:cNvSpPr txBox="1"/>
          <p:nvPr/>
        </p:nvSpPr>
        <p:spPr>
          <a:xfrm>
            <a:off x="3020084" y="1067259"/>
            <a:ext cx="9906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21</a:t>
            </a:r>
            <a:endParaRPr sz="550">
              <a:latin typeface="Times New Roman"/>
              <a:cs typeface="Times New Roman"/>
            </a:endParaRPr>
          </a:p>
        </p:txBody>
      </p:sp>
      <p:sp>
        <p:nvSpPr>
          <p:cNvPr id="73" name="object 73"/>
          <p:cNvSpPr txBox="1"/>
          <p:nvPr/>
        </p:nvSpPr>
        <p:spPr>
          <a:xfrm>
            <a:off x="3012526" y="1134131"/>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grpSp>
        <p:nvGrpSpPr>
          <p:cNvPr id="74" name="object 74"/>
          <p:cNvGrpSpPr/>
          <p:nvPr/>
        </p:nvGrpSpPr>
        <p:grpSpPr>
          <a:xfrm>
            <a:off x="3131708" y="1254366"/>
            <a:ext cx="187960" cy="600075"/>
            <a:chOff x="3131708" y="1254366"/>
            <a:chExt cx="187960" cy="600075"/>
          </a:xfrm>
        </p:grpSpPr>
        <p:sp>
          <p:nvSpPr>
            <p:cNvPr id="75" name="object 75"/>
            <p:cNvSpPr/>
            <p:nvPr/>
          </p:nvSpPr>
          <p:spPr>
            <a:xfrm>
              <a:off x="3133808" y="1274538"/>
              <a:ext cx="173355" cy="577850"/>
            </a:xfrm>
            <a:custGeom>
              <a:avLst/>
              <a:gdLst/>
              <a:ahLst/>
              <a:cxnLst/>
              <a:rect l="l" t="t" r="r" b="b"/>
              <a:pathLst>
                <a:path w="173354" h="577850">
                  <a:moveTo>
                    <a:pt x="0" y="577435"/>
                  </a:moveTo>
                  <a:lnTo>
                    <a:pt x="2706" y="568413"/>
                  </a:lnTo>
                  <a:lnTo>
                    <a:pt x="21654" y="505256"/>
                  </a:lnTo>
                  <a:lnTo>
                    <a:pt x="73082" y="333829"/>
                  </a:lnTo>
                  <a:lnTo>
                    <a:pt x="173232" y="0"/>
                  </a:lnTo>
                </a:path>
              </a:pathLst>
            </a:custGeom>
            <a:ln w="4200">
              <a:solidFill>
                <a:srgbClr val="000000"/>
              </a:solidFill>
            </a:ln>
          </p:spPr>
          <p:txBody>
            <a:bodyPr wrap="square" lIns="0" tIns="0" rIns="0" bIns="0" rtlCol="0"/>
            <a:lstStyle/>
            <a:p>
              <a:endParaRPr/>
            </a:p>
          </p:txBody>
        </p:sp>
        <p:sp>
          <p:nvSpPr>
            <p:cNvPr id="76" name="object 76"/>
            <p:cNvSpPr/>
            <p:nvPr/>
          </p:nvSpPr>
          <p:spPr>
            <a:xfrm>
              <a:off x="3287273" y="1254366"/>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77" name="object 77"/>
          <p:cNvSpPr txBox="1"/>
          <p:nvPr/>
        </p:nvSpPr>
        <p:spPr>
          <a:xfrm>
            <a:off x="3289006" y="1068356"/>
            <a:ext cx="9906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21</a:t>
            </a:r>
            <a:endParaRPr sz="550">
              <a:latin typeface="Times New Roman"/>
              <a:cs typeface="Times New Roman"/>
            </a:endParaRPr>
          </a:p>
        </p:txBody>
      </p:sp>
      <p:sp>
        <p:nvSpPr>
          <p:cNvPr id="80" name="object 80"/>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81" name="object 8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19</a:t>
            </a:r>
            <a:r>
              <a:rPr spc="-40" dirty="0"/>
              <a:t> </a:t>
            </a:r>
            <a:r>
              <a:rPr spc="-5" dirty="0"/>
              <a:t>/</a:t>
            </a:r>
            <a:r>
              <a:rPr spc="-35" dirty="0"/>
              <a:t> </a:t>
            </a:r>
            <a:r>
              <a:rPr spc="-5" dirty="0"/>
              <a:t>68</a:t>
            </a:r>
          </a:p>
        </p:txBody>
      </p:sp>
      <p:sp>
        <p:nvSpPr>
          <p:cNvPr id="78" name="object 78"/>
          <p:cNvSpPr txBox="1"/>
          <p:nvPr/>
        </p:nvSpPr>
        <p:spPr>
          <a:xfrm>
            <a:off x="3281448" y="1134131"/>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79" name="object 79"/>
          <p:cNvSpPr txBox="1"/>
          <p:nvPr/>
        </p:nvSpPr>
        <p:spPr>
          <a:xfrm>
            <a:off x="2924678" y="1077693"/>
            <a:ext cx="508000"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395" dirty="0">
                <a:latin typeface="Arial"/>
                <a:cs typeface="Arial"/>
              </a:rPr>
              <a:t> </a:t>
            </a:r>
            <a:r>
              <a:rPr sz="750" i="1" spc="-30" dirty="0">
                <a:latin typeface="メイリオ"/>
                <a:cs typeface="メイリオ"/>
              </a:rPr>
              <a:t>)</a:t>
            </a:r>
            <a:r>
              <a:rPr sz="750" i="1" spc="160" dirty="0">
                <a:latin typeface="メイリオ"/>
                <a:cs typeface="メイリオ"/>
              </a:rPr>
              <a:t> </a:t>
            </a:r>
            <a:r>
              <a:rPr sz="750" i="1" spc="-25" dirty="0">
                <a:latin typeface="メイリオ"/>
                <a:cs typeface="メイリオ"/>
              </a:rPr>
              <a:t>(</a:t>
            </a:r>
            <a:r>
              <a:rPr sz="750" i="1" spc="-25" dirty="0">
                <a:latin typeface="Arial"/>
                <a:cs typeface="Arial"/>
              </a:rPr>
              <a:t>σ</a:t>
            </a:r>
            <a:r>
              <a:rPr sz="750" i="1" spc="400" dirty="0">
                <a:latin typeface="Arial"/>
                <a:cs typeface="Arial"/>
              </a:rPr>
              <a:t> </a:t>
            </a:r>
            <a:r>
              <a:rPr sz="750" i="1" spc="-30" dirty="0">
                <a:latin typeface="メイリオ"/>
                <a:cs typeface="メイリオ"/>
              </a:rPr>
              <a:t>)</a:t>
            </a:r>
            <a:endParaRPr sz="750">
              <a:latin typeface="メイリオ"/>
              <a:cs typeface="メイリオ"/>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Understanding</a:t>
            </a:r>
            <a:r>
              <a:rPr sz="600" spc="-25" dirty="0">
                <a:solidFill>
                  <a:srgbClr val="3333B2"/>
                </a:solidFill>
                <a:latin typeface="Arial"/>
                <a:cs typeface="Arial"/>
                <a:hlinkClick r:id="rId3" action="ppaction://hlinksldjump"/>
              </a:rPr>
              <a:t> </a:t>
            </a:r>
            <a:r>
              <a:rPr sz="600" spc="-10" dirty="0">
                <a:solidFill>
                  <a:srgbClr val="3333B2"/>
                </a:solidFill>
                <a:latin typeface="Arial"/>
                <a:cs typeface="Arial"/>
                <a:hlinkClick r:id="rId3" action="ppaction://hlinksldjump"/>
              </a:rPr>
              <a:t>Paxos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20</a:t>
            </a:r>
            <a:r>
              <a:rPr spc="-40" dirty="0"/>
              <a:t> </a:t>
            </a:r>
            <a:r>
              <a:rPr spc="-5" dirty="0"/>
              <a:t>/</a:t>
            </a:r>
            <a:r>
              <a:rPr spc="-35" dirty="0"/>
              <a:t> </a:t>
            </a:r>
            <a:r>
              <a:rPr spc="-5" dirty="0"/>
              <a:t>68</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Example:</a:t>
            </a:r>
            <a:r>
              <a:rPr sz="600" dirty="0">
                <a:solidFill>
                  <a:srgbClr val="262685"/>
                </a:solidFill>
                <a:latin typeface="Arial"/>
                <a:cs typeface="Arial"/>
                <a:hlinkClick r:id="rId6" action="ppaction://hlinksldjump"/>
              </a:rPr>
              <a:t> </a:t>
            </a:r>
            <a:r>
              <a:rPr sz="600" spc="-10" dirty="0">
                <a:solidFill>
                  <a:srgbClr val="262685"/>
                </a:solidFill>
                <a:latin typeface="Arial"/>
                <a:cs typeface="Arial"/>
                <a:hlinkClick r:id="rId6" action="ppaction://hlinksldjump"/>
              </a:rPr>
              <a:t>Paxos</a:t>
            </a:r>
            <a:endParaRPr sz="600">
              <a:latin typeface="Arial"/>
              <a:cs typeface="Arial"/>
            </a:endParaRPr>
          </a:p>
        </p:txBody>
      </p:sp>
      <p:sp>
        <p:nvSpPr>
          <p:cNvPr id="4" name="object 4"/>
          <p:cNvSpPr txBox="1"/>
          <p:nvPr/>
        </p:nvSpPr>
        <p:spPr>
          <a:xfrm>
            <a:off x="95300" y="188846"/>
            <a:ext cx="195961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Handling</a:t>
            </a:r>
            <a:r>
              <a:rPr sz="1400" spc="-15" dirty="0">
                <a:solidFill>
                  <a:srgbClr val="3333B2"/>
                </a:solidFill>
                <a:latin typeface="Arial"/>
                <a:cs typeface="Arial"/>
              </a:rPr>
              <a:t> </a:t>
            </a:r>
            <a:r>
              <a:rPr sz="1400" spc="10" dirty="0">
                <a:solidFill>
                  <a:srgbClr val="3333B2"/>
                </a:solidFill>
                <a:latin typeface="Arial"/>
                <a:cs typeface="Arial"/>
              </a:rPr>
              <a:t>lost</a:t>
            </a:r>
            <a:r>
              <a:rPr sz="1400" spc="-10" dirty="0">
                <a:solidFill>
                  <a:srgbClr val="3333B2"/>
                </a:solidFill>
                <a:latin typeface="Arial"/>
                <a:cs typeface="Arial"/>
              </a:rPr>
              <a:t> </a:t>
            </a:r>
            <a:r>
              <a:rPr sz="1400" spc="15" dirty="0">
                <a:solidFill>
                  <a:srgbClr val="3333B2"/>
                </a:solidFill>
                <a:latin typeface="Arial"/>
                <a:cs typeface="Arial"/>
              </a:rPr>
              <a:t>messages</a:t>
            </a:r>
            <a:endParaRPr sz="1400">
              <a:latin typeface="Arial"/>
              <a:cs typeface="Arial"/>
            </a:endParaRPr>
          </a:p>
        </p:txBody>
      </p:sp>
      <p:sp>
        <p:nvSpPr>
          <p:cNvPr id="5" name="object 5"/>
          <p:cNvSpPr txBox="1"/>
          <p:nvPr/>
        </p:nvSpPr>
        <p:spPr>
          <a:xfrm>
            <a:off x="321894" y="1052586"/>
            <a:ext cx="3885565" cy="121983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Some</a:t>
            </a:r>
            <a:r>
              <a:rPr sz="1200" spc="-30" dirty="0">
                <a:solidFill>
                  <a:srgbClr val="3333B2"/>
                </a:solidFill>
                <a:latin typeface="Arial"/>
                <a:cs typeface="Arial"/>
              </a:rPr>
              <a:t> </a:t>
            </a:r>
            <a:r>
              <a:rPr sz="1200" spc="-15" dirty="0">
                <a:solidFill>
                  <a:srgbClr val="3333B2"/>
                </a:solidFill>
                <a:latin typeface="Arial"/>
                <a:cs typeface="Arial"/>
              </a:rPr>
              <a:t>Paxos</a:t>
            </a:r>
            <a:r>
              <a:rPr sz="1200" spc="-30" dirty="0">
                <a:solidFill>
                  <a:srgbClr val="3333B2"/>
                </a:solidFill>
                <a:latin typeface="Arial"/>
                <a:cs typeface="Arial"/>
              </a:rPr>
              <a:t> </a:t>
            </a:r>
            <a:r>
              <a:rPr sz="1200" dirty="0">
                <a:solidFill>
                  <a:srgbClr val="3333B2"/>
                </a:solidFill>
                <a:latin typeface="Arial"/>
                <a:cs typeface="Arial"/>
              </a:rPr>
              <a:t>terminology</a:t>
            </a:r>
            <a:endParaRPr sz="1200">
              <a:latin typeface="Arial"/>
              <a:cs typeface="Arial"/>
            </a:endParaRPr>
          </a:p>
          <a:p>
            <a:pPr marL="310515" marR="59690" indent="-163195">
              <a:lnSpc>
                <a:spcPct val="100000"/>
              </a:lnSpc>
              <a:spcBef>
                <a:spcPts val="790"/>
              </a:spcBef>
              <a:buClr>
                <a:srgbClr val="3333B2"/>
              </a:buClr>
              <a:buChar char="►"/>
              <a:tabLst>
                <a:tab pos="315595" algn="l"/>
              </a:tabLst>
            </a:pPr>
            <a:r>
              <a:rPr sz="1000" spc="-5" dirty="0">
                <a:latin typeface="Arial"/>
                <a:cs typeface="Arial"/>
              </a:rPr>
              <a:t>The leader sends</a:t>
            </a:r>
            <a:r>
              <a:rPr sz="1000" dirty="0">
                <a:latin typeface="Arial"/>
                <a:cs typeface="Arial"/>
              </a:rPr>
              <a:t> </a:t>
            </a:r>
            <a:r>
              <a:rPr sz="1000" spc="-5" dirty="0">
                <a:latin typeface="Arial"/>
                <a:cs typeface="Arial"/>
              </a:rPr>
              <a:t>an </a:t>
            </a:r>
            <a:r>
              <a:rPr sz="1000" spc="-5" dirty="0">
                <a:solidFill>
                  <a:srgbClr val="FA0000"/>
                </a:solidFill>
                <a:latin typeface="Arial"/>
                <a:cs typeface="Arial"/>
              </a:rPr>
              <a:t>accept </a:t>
            </a:r>
            <a:r>
              <a:rPr sz="1000" spc="-5" dirty="0">
                <a:latin typeface="Arial"/>
                <a:cs typeface="Arial"/>
              </a:rPr>
              <a:t>message</a:t>
            </a:r>
            <a:r>
              <a:rPr sz="1000" spc="25" dirty="0">
                <a:latin typeface="Arial"/>
                <a:cs typeface="Arial"/>
              </a:rPr>
              <a:t> </a:t>
            </a:r>
            <a:r>
              <a:rPr sz="800" spc="30" dirty="0">
                <a:latin typeface="Arial"/>
                <a:cs typeface="Arial"/>
              </a:rPr>
              <a:t>ACCEPT</a:t>
            </a:r>
            <a:r>
              <a:rPr sz="1000" spc="30" dirty="0">
                <a:latin typeface="Arial"/>
                <a:cs typeface="Arial"/>
              </a:rPr>
              <a:t>(</a:t>
            </a:r>
            <a:r>
              <a:rPr sz="1000" i="1" spc="30" dirty="0">
                <a:latin typeface="Arial"/>
                <a:cs typeface="Arial"/>
              </a:rPr>
              <a:t>o,</a:t>
            </a:r>
            <a:r>
              <a:rPr sz="1000" i="1" spc="-170" dirty="0">
                <a:latin typeface="Arial"/>
                <a:cs typeface="Arial"/>
              </a:rPr>
              <a:t> </a:t>
            </a:r>
            <a:r>
              <a:rPr sz="1000" i="1" spc="-5" dirty="0">
                <a:latin typeface="Arial"/>
                <a:cs typeface="Arial"/>
              </a:rPr>
              <a:t>t</a:t>
            </a:r>
            <a:r>
              <a:rPr sz="1000" i="1" spc="-190" dirty="0">
                <a:latin typeface="Arial"/>
                <a:cs typeface="Arial"/>
              </a:rPr>
              <a:t> </a:t>
            </a:r>
            <a:r>
              <a:rPr sz="1000" spc="50" dirty="0">
                <a:latin typeface="Arial"/>
                <a:cs typeface="Arial"/>
              </a:rPr>
              <a: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backups </a:t>
            </a:r>
            <a:r>
              <a:rPr sz="1000" spc="-265" dirty="0">
                <a:latin typeface="Arial"/>
                <a:cs typeface="Arial"/>
              </a:rPr>
              <a:t> </a:t>
            </a:r>
            <a:r>
              <a:rPr sz="1000" spc="-5" dirty="0">
                <a:latin typeface="Arial"/>
                <a:cs typeface="Arial"/>
              </a:rPr>
              <a:t>when assigning a timestamp </a:t>
            </a:r>
            <a:r>
              <a:rPr sz="1000" i="1" spc="-5" dirty="0">
                <a:latin typeface="Arial"/>
                <a:cs typeface="Arial"/>
              </a:rPr>
              <a:t>t</a:t>
            </a:r>
            <a:r>
              <a:rPr sz="1000" i="1" spc="85" dirty="0">
                <a:latin typeface="Arial"/>
                <a:cs typeface="Arial"/>
              </a:rPr>
              <a:t> </a:t>
            </a:r>
            <a:r>
              <a:rPr sz="1000" spc="-5" dirty="0">
                <a:latin typeface="Arial"/>
                <a:cs typeface="Arial"/>
              </a:rPr>
              <a:t>to command </a:t>
            </a:r>
            <a:r>
              <a:rPr sz="1000" i="1" spc="10" dirty="0">
                <a:latin typeface="Arial"/>
                <a:cs typeface="Arial"/>
              </a:rPr>
              <a:t>o</a:t>
            </a:r>
            <a:r>
              <a:rPr sz="1000" spc="10" dirty="0">
                <a:latin typeface="Arial"/>
                <a:cs typeface="Arial"/>
              </a:rPr>
              <a:t>.</a:t>
            </a:r>
            <a:endParaRPr sz="1000">
              <a:latin typeface="Arial"/>
              <a:cs typeface="Arial"/>
            </a:endParaRPr>
          </a:p>
          <a:p>
            <a:pPr marL="314960" indent="-168275">
              <a:lnSpc>
                <a:spcPct val="100000"/>
              </a:lnSpc>
              <a:spcBef>
                <a:spcPts val="585"/>
              </a:spcBef>
              <a:buClr>
                <a:srgbClr val="3333B2"/>
              </a:buClr>
              <a:buChar char="►"/>
              <a:tabLst>
                <a:tab pos="315595" algn="l"/>
              </a:tabLst>
            </a:pPr>
            <a:r>
              <a:rPr sz="1000" spc="-5" dirty="0">
                <a:latin typeface="Arial"/>
                <a:cs typeface="Arial"/>
              </a:rPr>
              <a:t>A</a:t>
            </a:r>
            <a:r>
              <a:rPr sz="1000" dirty="0">
                <a:latin typeface="Arial"/>
                <a:cs typeface="Arial"/>
              </a:rPr>
              <a:t> </a:t>
            </a:r>
            <a:r>
              <a:rPr sz="1000" spc="-10" dirty="0">
                <a:latin typeface="Arial"/>
                <a:cs typeface="Arial"/>
              </a:rPr>
              <a:t>backup</a:t>
            </a:r>
            <a:r>
              <a:rPr sz="1000" dirty="0">
                <a:latin typeface="Arial"/>
                <a:cs typeface="Arial"/>
              </a:rPr>
              <a:t> </a:t>
            </a:r>
            <a:r>
              <a:rPr sz="1000" spc="-5" dirty="0">
                <a:latin typeface="Arial"/>
                <a:cs typeface="Arial"/>
              </a:rPr>
              <a:t>responds</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sending</a:t>
            </a:r>
            <a:r>
              <a:rPr sz="1000" dirty="0">
                <a:latin typeface="Arial"/>
                <a:cs typeface="Arial"/>
              </a:rPr>
              <a:t> </a:t>
            </a:r>
            <a:r>
              <a:rPr sz="1000" spc="-5" dirty="0">
                <a:latin typeface="Arial"/>
                <a:cs typeface="Arial"/>
              </a:rPr>
              <a:t>a</a:t>
            </a:r>
            <a:r>
              <a:rPr sz="1000" dirty="0">
                <a:latin typeface="Arial"/>
                <a:cs typeface="Arial"/>
              </a:rPr>
              <a:t> </a:t>
            </a:r>
            <a:r>
              <a:rPr sz="1000" dirty="0">
                <a:solidFill>
                  <a:srgbClr val="FA0000"/>
                </a:solidFill>
                <a:latin typeface="Arial"/>
                <a:cs typeface="Arial"/>
              </a:rPr>
              <a:t>learn </a:t>
            </a:r>
            <a:r>
              <a:rPr sz="1000" spc="-5" dirty="0">
                <a:latin typeface="Arial"/>
                <a:cs typeface="Arial"/>
              </a:rPr>
              <a:t>message:</a:t>
            </a:r>
            <a:r>
              <a:rPr sz="1000" spc="95" dirty="0">
                <a:latin typeface="Arial"/>
                <a:cs typeface="Arial"/>
              </a:rPr>
              <a:t> </a:t>
            </a:r>
            <a:r>
              <a:rPr sz="800" spc="30" dirty="0">
                <a:latin typeface="Arial"/>
                <a:cs typeface="Arial"/>
              </a:rPr>
              <a:t>LEARN</a:t>
            </a:r>
            <a:r>
              <a:rPr sz="1000" spc="30" dirty="0">
                <a:latin typeface="Arial"/>
                <a:cs typeface="Arial"/>
              </a:rPr>
              <a:t>(</a:t>
            </a:r>
            <a:r>
              <a:rPr sz="1000" i="1" spc="30" dirty="0">
                <a:latin typeface="Arial"/>
                <a:cs typeface="Arial"/>
              </a:rPr>
              <a:t>o,</a:t>
            </a:r>
            <a:r>
              <a:rPr sz="1000" i="1" spc="-170" dirty="0">
                <a:latin typeface="Arial"/>
                <a:cs typeface="Arial"/>
              </a:rPr>
              <a:t> </a:t>
            </a:r>
            <a:r>
              <a:rPr sz="1000" i="1" spc="-5" dirty="0">
                <a:latin typeface="Arial"/>
                <a:cs typeface="Arial"/>
              </a:rPr>
              <a:t>t</a:t>
            </a:r>
            <a:r>
              <a:rPr sz="1000" i="1" spc="-185" dirty="0">
                <a:latin typeface="Arial"/>
                <a:cs typeface="Arial"/>
              </a:rPr>
              <a:t> </a:t>
            </a:r>
            <a:r>
              <a:rPr sz="1000" spc="50" dirty="0">
                <a:latin typeface="Arial"/>
                <a:cs typeface="Arial"/>
              </a:rPr>
              <a:t>)</a:t>
            </a:r>
            <a:endParaRPr sz="1000">
              <a:latin typeface="Arial"/>
              <a:cs typeface="Arial"/>
            </a:endParaRPr>
          </a:p>
          <a:p>
            <a:pPr marL="314960" marR="30480" indent="-168275">
              <a:lnSpc>
                <a:spcPct val="100000"/>
              </a:lnSpc>
              <a:spcBef>
                <a:spcPts val="595"/>
              </a:spcBef>
              <a:buClr>
                <a:srgbClr val="3333B2"/>
              </a:buClr>
              <a:buChar char="►"/>
              <a:tabLst>
                <a:tab pos="315595" algn="l"/>
              </a:tabLst>
            </a:pPr>
            <a:r>
              <a:rPr sz="1000" spc="-5" dirty="0">
                <a:latin typeface="Arial"/>
                <a:cs typeface="Arial"/>
              </a:rPr>
              <a:t>When the leader</a:t>
            </a:r>
            <a:r>
              <a:rPr sz="1000" dirty="0">
                <a:latin typeface="Arial"/>
                <a:cs typeface="Arial"/>
              </a:rPr>
              <a:t> </a:t>
            </a:r>
            <a:r>
              <a:rPr sz="1000" spc="-5" dirty="0">
                <a:latin typeface="Arial"/>
                <a:cs typeface="Arial"/>
              </a:rPr>
              <a:t>notices that operation </a:t>
            </a:r>
            <a:r>
              <a:rPr sz="1000" i="1" spc="-5" dirty="0">
                <a:latin typeface="Arial"/>
                <a:cs typeface="Arial"/>
              </a:rPr>
              <a:t>o</a:t>
            </a:r>
            <a:r>
              <a:rPr sz="1000" i="1" spc="30" dirty="0">
                <a:latin typeface="Arial"/>
                <a:cs typeface="Arial"/>
              </a:rPr>
              <a:t> </a:t>
            </a:r>
            <a:r>
              <a:rPr sz="1000" spc="-5" dirty="0">
                <a:latin typeface="Arial"/>
                <a:cs typeface="Arial"/>
              </a:rPr>
              <a:t>has not</a:t>
            </a:r>
            <a:r>
              <a:rPr sz="1000" dirty="0">
                <a:latin typeface="Arial"/>
                <a:cs typeface="Arial"/>
              </a:rPr>
              <a:t> </a:t>
            </a:r>
            <a:r>
              <a:rPr sz="1000" spc="-10" dirty="0">
                <a:latin typeface="Arial"/>
                <a:cs typeface="Arial"/>
              </a:rPr>
              <a:t>yet</a:t>
            </a:r>
            <a:r>
              <a:rPr sz="1000" spc="-5" dirty="0">
                <a:latin typeface="Arial"/>
                <a:cs typeface="Arial"/>
              </a:rPr>
              <a:t> been </a:t>
            </a:r>
            <a:r>
              <a:rPr sz="1000" dirty="0">
                <a:latin typeface="Arial"/>
                <a:cs typeface="Arial"/>
              </a:rPr>
              <a:t> learned, </a:t>
            </a:r>
            <a:r>
              <a:rPr sz="1000" spc="-5" dirty="0">
                <a:latin typeface="Arial"/>
                <a:cs typeface="Arial"/>
              </a:rPr>
              <a:t>it</a:t>
            </a:r>
            <a:r>
              <a:rPr sz="1000" spc="5" dirty="0">
                <a:latin typeface="Arial"/>
                <a:cs typeface="Arial"/>
              </a:rPr>
              <a:t> </a:t>
            </a:r>
            <a:r>
              <a:rPr sz="1000" spc="-5" dirty="0">
                <a:latin typeface="Arial"/>
                <a:cs typeface="Arial"/>
              </a:rPr>
              <a:t>retransmits</a:t>
            </a:r>
            <a:r>
              <a:rPr sz="1000" spc="30" dirty="0">
                <a:latin typeface="Arial"/>
                <a:cs typeface="Arial"/>
              </a:rPr>
              <a:t> </a:t>
            </a:r>
            <a:r>
              <a:rPr sz="800" spc="30" dirty="0">
                <a:latin typeface="Arial"/>
                <a:cs typeface="Arial"/>
              </a:rPr>
              <a:t>ACCEPT</a:t>
            </a:r>
            <a:r>
              <a:rPr sz="1000" spc="30" dirty="0">
                <a:latin typeface="Arial"/>
                <a:cs typeface="Arial"/>
              </a:rPr>
              <a:t>(</a:t>
            </a:r>
            <a:r>
              <a:rPr sz="1000" i="1" spc="30" dirty="0">
                <a:latin typeface="Arial"/>
                <a:cs typeface="Arial"/>
              </a:rPr>
              <a:t>o,</a:t>
            </a:r>
            <a:r>
              <a:rPr sz="1000" i="1" spc="-165" dirty="0">
                <a:latin typeface="Arial"/>
                <a:cs typeface="Arial"/>
              </a:rPr>
              <a:t> </a:t>
            </a:r>
            <a:r>
              <a:rPr sz="1000" i="1" spc="-5" dirty="0">
                <a:latin typeface="Arial"/>
                <a:cs typeface="Arial"/>
              </a:rPr>
              <a:t>t</a:t>
            </a:r>
            <a:r>
              <a:rPr sz="1000" i="1" spc="-185" dirty="0">
                <a:latin typeface="Arial"/>
                <a:cs typeface="Arial"/>
              </a:rPr>
              <a:t> </a:t>
            </a:r>
            <a:r>
              <a:rPr sz="1000" spc="50" dirty="0">
                <a:latin typeface="Arial"/>
                <a:cs typeface="Arial"/>
              </a:rPr>
              <a:t>)</a:t>
            </a:r>
            <a:r>
              <a:rPr sz="1000" spc="5"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original</a:t>
            </a:r>
            <a:r>
              <a:rPr sz="1000" spc="5" dirty="0">
                <a:latin typeface="Arial"/>
                <a:cs typeface="Arial"/>
              </a:rPr>
              <a:t> </a:t>
            </a:r>
            <a:r>
              <a:rPr sz="1000" spc="-10" dirty="0">
                <a:latin typeface="Arial"/>
                <a:cs typeface="Arial"/>
              </a:rPr>
              <a:t>timestamp.</a:t>
            </a:r>
            <a:endParaRPr sz="10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2966085" cy="244475"/>
          </a:xfrm>
          <a:prstGeom prst="rect">
            <a:avLst/>
          </a:prstGeom>
        </p:spPr>
        <p:txBody>
          <a:bodyPr vert="horz" wrap="square" lIns="0" tIns="17145" rIns="0" bIns="0" rtlCol="0">
            <a:spAutoFit/>
          </a:bodyPr>
          <a:lstStyle/>
          <a:p>
            <a:pPr marL="12700">
              <a:lnSpc>
                <a:spcPct val="100000"/>
              </a:lnSpc>
              <a:spcBef>
                <a:spcPts val="135"/>
              </a:spcBef>
            </a:pPr>
            <a:r>
              <a:rPr sz="1400" spc="-45" dirty="0">
                <a:solidFill>
                  <a:srgbClr val="3333B2"/>
                </a:solidFill>
                <a:latin typeface="Arial"/>
                <a:cs typeface="Arial"/>
              </a:rPr>
              <a:t>Two</a:t>
            </a:r>
            <a:r>
              <a:rPr sz="1400" dirty="0">
                <a:solidFill>
                  <a:srgbClr val="3333B2"/>
                </a:solidFill>
                <a:latin typeface="Arial"/>
                <a:cs typeface="Arial"/>
              </a:rPr>
              <a:t> </a:t>
            </a:r>
            <a:r>
              <a:rPr sz="1400" spc="15" dirty="0">
                <a:solidFill>
                  <a:srgbClr val="3333B2"/>
                </a:solidFill>
                <a:latin typeface="Arial"/>
                <a:cs typeface="Arial"/>
              </a:rPr>
              <a:t>servers</a:t>
            </a:r>
            <a:r>
              <a:rPr sz="1400" dirty="0">
                <a:solidFill>
                  <a:srgbClr val="3333B2"/>
                </a:solidFill>
                <a:latin typeface="Arial"/>
                <a:cs typeface="Arial"/>
              </a:rPr>
              <a:t> </a:t>
            </a:r>
            <a:r>
              <a:rPr sz="1400" spc="15" dirty="0">
                <a:solidFill>
                  <a:srgbClr val="3333B2"/>
                </a:solidFill>
                <a:latin typeface="Arial"/>
                <a:cs typeface="Arial"/>
              </a:rPr>
              <a:t>and</a:t>
            </a:r>
            <a:r>
              <a:rPr sz="1400" spc="5" dirty="0">
                <a:solidFill>
                  <a:srgbClr val="3333B2"/>
                </a:solidFill>
                <a:latin typeface="Arial"/>
                <a:cs typeface="Arial"/>
              </a:rPr>
              <a:t> </a:t>
            </a:r>
            <a:r>
              <a:rPr sz="1400" spc="15" dirty="0">
                <a:solidFill>
                  <a:srgbClr val="3333B2"/>
                </a:solidFill>
                <a:latin typeface="Arial"/>
                <a:cs typeface="Arial"/>
              </a:rPr>
              <a:t>one</a:t>
            </a:r>
            <a:r>
              <a:rPr sz="1400" dirty="0">
                <a:solidFill>
                  <a:srgbClr val="3333B2"/>
                </a:solidFill>
                <a:latin typeface="Arial"/>
                <a:cs typeface="Arial"/>
              </a:rPr>
              <a:t> </a:t>
            </a:r>
            <a:r>
              <a:rPr sz="1400" spc="10" dirty="0">
                <a:solidFill>
                  <a:srgbClr val="3333B2"/>
                </a:solidFill>
                <a:latin typeface="Arial"/>
                <a:cs typeface="Arial"/>
              </a:rPr>
              <a:t>crash:</a:t>
            </a:r>
            <a:r>
              <a:rPr sz="1400" spc="100" dirty="0">
                <a:solidFill>
                  <a:srgbClr val="3333B2"/>
                </a:solidFill>
                <a:latin typeface="Arial"/>
                <a:cs typeface="Arial"/>
              </a:rPr>
              <a:t> </a:t>
            </a:r>
            <a:r>
              <a:rPr sz="1400" spc="10" dirty="0">
                <a:solidFill>
                  <a:srgbClr val="3333B2"/>
                </a:solidFill>
                <a:latin typeface="Arial"/>
                <a:cs typeface="Arial"/>
              </a:rPr>
              <a:t>problem</a:t>
            </a:r>
            <a:endParaRPr sz="1400">
              <a:latin typeface="Arial"/>
              <a:cs typeface="Arial"/>
            </a:endParaRPr>
          </a:p>
        </p:txBody>
      </p:sp>
      <p:grpSp>
        <p:nvGrpSpPr>
          <p:cNvPr id="5" name="object 5"/>
          <p:cNvGrpSpPr/>
          <p:nvPr/>
        </p:nvGrpSpPr>
        <p:grpSpPr>
          <a:xfrm>
            <a:off x="977978" y="971743"/>
            <a:ext cx="2813685" cy="940435"/>
            <a:chOff x="977978" y="971743"/>
            <a:chExt cx="2813685" cy="940435"/>
          </a:xfrm>
        </p:grpSpPr>
        <p:sp>
          <p:nvSpPr>
            <p:cNvPr id="6" name="object 6"/>
            <p:cNvSpPr/>
            <p:nvPr/>
          </p:nvSpPr>
          <p:spPr>
            <a:xfrm>
              <a:off x="982423" y="1889998"/>
              <a:ext cx="2781935" cy="0"/>
            </a:xfrm>
            <a:custGeom>
              <a:avLst/>
              <a:gdLst/>
              <a:ahLst/>
              <a:cxnLst/>
              <a:rect l="l" t="t" r="r" b="b"/>
              <a:pathLst>
                <a:path w="2781935">
                  <a:moveTo>
                    <a:pt x="0" y="0"/>
                  </a:moveTo>
                  <a:lnTo>
                    <a:pt x="2781449" y="0"/>
                  </a:lnTo>
                </a:path>
              </a:pathLst>
            </a:custGeom>
            <a:ln w="8401">
              <a:solidFill>
                <a:srgbClr val="000000"/>
              </a:solidFill>
            </a:ln>
          </p:spPr>
          <p:txBody>
            <a:bodyPr wrap="square" lIns="0" tIns="0" rIns="0" bIns="0" rtlCol="0"/>
            <a:lstStyle/>
            <a:p>
              <a:endParaRPr/>
            </a:p>
          </p:txBody>
        </p:sp>
        <p:sp>
          <p:nvSpPr>
            <p:cNvPr id="7" name="object 7"/>
            <p:cNvSpPr/>
            <p:nvPr/>
          </p:nvSpPr>
          <p:spPr>
            <a:xfrm>
              <a:off x="3747489" y="1868154"/>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982423" y="1591194"/>
              <a:ext cx="1494155" cy="0"/>
            </a:xfrm>
            <a:custGeom>
              <a:avLst/>
              <a:gdLst/>
              <a:ahLst/>
              <a:cxnLst/>
              <a:rect l="l" t="t" r="r" b="b"/>
              <a:pathLst>
                <a:path w="1494155">
                  <a:moveTo>
                    <a:pt x="0" y="0"/>
                  </a:moveTo>
                  <a:lnTo>
                    <a:pt x="1494018" y="0"/>
                  </a:lnTo>
                </a:path>
              </a:pathLst>
            </a:custGeom>
            <a:ln w="8401">
              <a:solidFill>
                <a:srgbClr val="000000"/>
              </a:solidFill>
            </a:ln>
          </p:spPr>
          <p:txBody>
            <a:bodyPr wrap="square" lIns="0" tIns="0" rIns="0" bIns="0" rtlCol="0"/>
            <a:lstStyle/>
            <a:p>
              <a:endParaRPr/>
            </a:p>
          </p:txBody>
        </p:sp>
        <p:sp>
          <p:nvSpPr>
            <p:cNvPr id="9" name="object 9"/>
            <p:cNvSpPr/>
            <p:nvPr/>
          </p:nvSpPr>
          <p:spPr>
            <a:xfrm>
              <a:off x="2485893" y="1591194"/>
              <a:ext cx="633095" cy="0"/>
            </a:xfrm>
            <a:custGeom>
              <a:avLst/>
              <a:gdLst/>
              <a:ahLst/>
              <a:cxnLst/>
              <a:rect l="l" t="t" r="r" b="b"/>
              <a:pathLst>
                <a:path w="633094">
                  <a:moveTo>
                    <a:pt x="0" y="0"/>
                  </a:moveTo>
                  <a:lnTo>
                    <a:pt x="632976" y="0"/>
                  </a:lnTo>
                </a:path>
              </a:pathLst>
            </a:custGeom>
            <a:ln w="12602">
              <a:solidFill>
                <a:srgbClr val="000000"/>
              </a:solidFill>
            </a:ln>
          </p:spPr>
          <p:txBody>
            <a:bodyPr wrap="square" lIns="0" tIns="0" rIns="0" bIns="0" rtlCol="0"/>
            <a:lstStyle/>
            <a:p>
              <a:endParaRPr/>
            </a:p>
          </p:txBody>
        </p:sp>
        <p:sp>
          <p:nvSpPr>
            <p:cNvPr id="10" name="object 10"/>
            <p:cNvSpPr/>
            <p:nvPr/>
          </p:nvSpPr>
          <p:spPr>
            <a:xfrm>
              <a:off x="2482742" y="1551287"/>
              <a:ext cx="0" cy="80010"/>
            </a:xfrm>
            <a:custGeom>
              <a:avLst/>
              <a:gdLst/>
              <a:ahLst/>
              <a:cxnLst/>
              <a:rect l="l" t="t" r="r" b="b"/>
              <a:pathLst>
                <a:path h="80010">
                  <a:moveTo>
                    <a:pt x="0" y="0"/>
                  </a:moveTo>
                  <a:lnTo>
                    <a:pt x="0" y="79812"/>
                  </a:lnTo>
                </a:path>
              </a:pathLst>
            </a:custGeom>
            <a:ln w="12602">
              <a:solidFill>
                <a:srgbClr val="000000"/>
              </a:solidFill>
            </a:ln>
          </p:spPr>
          <p:txBody>
            <a:bodyPr wrap="square" lIns="0" tIns="0" rIns="0" bIns="0" rtlCol="0"/>
            <a:lstStyle/>
            <a:p>
              <a:endParaRPr/>
            </a:p>
          </p:txBody>
        </p:sp>
        <p:sp>
          <p:nvSpPr>
            <p:cNvPr id="11" name="object 11"/>
            <p:cNvSpPr/>
            <p:nvPr/>
          </p:nvSpPr>
          <p:spPr>
            <a:xfrm>
              <a:off x="2177638" y="1292390"/>
              <a:ext cx="299085" cy="299085"/>
            </a:xfrm>
            <a:custGeom>
              <a:avLst/>
              <a:gdLst/>
              <a:ahLst/>
              <a:cxnLst/>
              <a:rect l="l" t="t" r="r" b="b"/>
              <a:pathLst>
                <a:path w="299085" h="299084">
                  <a:moveTo>
                    <a:pt x="0" y="0"/>
                  </a:moveTo>
                  <a:lnTo>
                    <a:pt x="298803" y="298803"/>
                  </a:lnTo>
                </a:path>
              </a:pathLst>
            </a:custGeom>
            <a:ln w="4200">
              <a:solidFill>
                <a:srgbClr val="999999"/>
              </a:solidFill>
              <a:prstDash val="dash"/>
            </a:ln>
          </p:spPr>
          <p:txBody>
            <a:bodyPr wrap="square" lIns="0" tIns="0" rIns="0" bIns="0" rtlCol="0"/>
            <a:lstStyle/>
            <a:p>
              <a:endParaRPr/>
            </a:p>
          </p:txBody>
        </p:sp>
        <p:sp>
          <p:nvSpPr>
            <p:cNvPr id="12" name="object 12"/>
            <p:cNvSpPr/>
            <p:nvPr/>
          </p:nvSpPr>
          <p:spPr>
            <a:xfrm>
              <a:off x="982423" y="1292390"/>
              <a:ext cx="1168400" cy="0"/>
            </a:xfrm>
            <a:custGeom>
              <a:avLst/>
              <a:gdLst/>
              <a:ahLst/>
              <a:cxnLst/>
              <a:rect l="l" t="t" r="r" b="b"/>
              <a:pathLst>
                <a:path w="1168400">
                  <a:moveTo>
                    <a:pt x="0" y="0"/>
                  </a:moveTo>
                  <a:lnTo>
                    <a:pt x="851590" y="0"/>
                  </a:lnTo>
                </a:path>
                <a:path w="1168400">
                  <a:moveTo>
                    <a:pt x="941231" y="0"/>
                  </a:moveTo>
                  <a:lnTo>
                    <a:pt x="1167910" y="0"/>
                  </a:lnTo>
                </a:path>
              </a:pathLst>
            </a:custGeom>
            <a:ln w="8401">
              <a:solidFill>
                <a:srgbClr val="000000"/>
              </a:solidFill>
            </a:ln>
          </p:spPr>
          <p:txBody>
            <a:bodyPr wrap="square" lIns="0" tIns="0" rIns="0" bIns="0" rtlCol="0"/>
            <a:lstStyle/>
            <a:p>
              <a:endParaRPr/>
            </a:p>
          </p:txBody>
        </p:sp>
        <p:sp>
          <p:nvSpPr>
            <p:cNvPr id="13" name="object 13"/>
            <p:cNvSpPr/>
            <p:nvPr/>
          </p:nvSpPr>
          <p:spPr>
            <a:xfrm>
              <a:off x="2133951" y="1270547"/>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4" name="object 14"/>
            <p:cNvSpPr/>
            <p:nvPr/>
          </p:nvSpPr>
          <p:spPr>
            <a:xfrm>
              <a:off x="2050517" y="1183725"/>
              <a:ext cx="233679" cy="201930"/>
            </a:xfrm>
            <a:custGeom>
              <a:avLst/>
              <a:gdLst/>
              <a:ahLst/>
              <a:cxnLst/>
              <a:rect l="l" t="t" r="r" b="b"/>
              <a:pathLst>
                <a:path w="233680" h="201930">
                  <a:moveTo>
                    <a:pt x="127120" y="0"/>
                  </a:moveTo>
                  <a:lnTo>
                    <a:pt x="111883" y="66801"/>
                  </a:lnTo>
                  <a:lnTo>
                    <a:pt x="71857" y="42806"/>
                  </a:lnTo>
                  <a:lnTo>
                    <a:pt x="88538" y="86390"/>
                  </a:lnTo>
                  <a:lnTo>
                    <a:pt x="0" y="86251"/>
                  </a:lnTo>
                  <a:lnTo>
                    <a:pt x="83246" y="116401"/>
                  </a:lnTo>
                  <a:lnTo>
                    <a:pt x="44194" y="156542"/>
                  </a:lnTo>
                  <a:lnTo>
                    <a:pt x="98484"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5" name="object 15"/>
            <p:cNvSpPr/>
            <p:nvPr/>
          </p:nvSpPr>
          <p:spPr>
            <a:xfrm>
              <a:off x="2050517" y="1183725"/>
              <a:ext cx="233679" cy="201930"/>
            </a:xfrm>
            <a:custGeom>
              <a:avLst/>
              <a:gdLst/>
              <a:ahLst/>
              <a:cxnLst/>
              <a:rect l="l" t="t" r="r" b="b"/>
              <a:pathLst>
                <a:path w="233680" h="201930">
                  <a:moveTo>
                    <a:pt x="127120" y="0"/>
                  </a:moveTo>
                  <a:lnTo>
                    <a:pt x="111883" y="66801"/>
                  </a:lnTo>
                  <a:lnTo>
                    <a:pt x="71857" y="42806"/>
                  </a:lnTo>
                  <a:lnTo>
                    <a:pt x="88538" y="86390"/>
                  </a:lnTo>
                  <a:lnTo>
                    <a:pt x="0" y="86251"/>
                  </a:lnTo>
                  <a:lnTo>
                    <a:pt x="83246" y="116401"/>
                  </a:lnTo>
                  <a:lnTo>
                    <a:pt x="44194" y="156542"/>
                  </a:lnTo>
                  <a:lnTo>
                    <a:pt x="98484"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16" name="object 16"/>
            <p:cNvSpPr/>
            <p:nvPr/>
          </p:nvSpPr>
          <p:spPr>
            <a:xfrm>
              <a:off x="982423" y="993586"/>
              <a:ext cx="2781935" cy="0"/>
            </a:xfrm>
            <a:custGeom>
              <a:avLst/>
              <a:gdLst/>
              <a:ahLst/>
              <a:cxnLst/>
              <a:rect l="l" t="t" r="r" b="b"/>
              <a:pathLst>
                <a:path w="2781935">
                  <a:moveTo>
                    <a:pt x="0" y="0"/>
                  </a:moveTo>
                  <a:lnTo>
                    <a:pt x="2781449" y="0"/>
                  </a:lnTo>
                </a:path>
              </a:pathLst>
            </a:custGeom>
            <a:ln w="8401">
              <a:solidFill>
                <a:srgbClr val="000000"/>
              </a:solidFill>
            </a:ln>
          </p:spPr>
          <p:txBody>
            <a:bodyPr wrap="square" lIns="0" tIns="0" rIns="0" bIns="0" rtlCol="0"/>
            <a:lstStyle/>
            <a:p>
              <a:endParaRPr/>
            </a:p>
          </p:txBody>
        </p:sp>
        <p:sp>
          <p:nvSpPr>
            <p:cNvPr id="17" name="object 17"/>
            <p:cNvSpPr/>
            <p:nvPr/>
          </p:nvSpPr>
          <p:spPr>
            <a:xfrm>
              <a:off x="3747489" y="971743"/>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8" name="object 18"/>
            <p:cNvSpPr/>
            <p:nvPr/>
          </p:nvSpPr>
          <p:spPr>
            <a:xfrm>
              <a:off x="1131824" y="993586"/>
              <a:ext cx="140335" cy="280035"/>
            </a:xfrm>
            <a:custGeom>
              <a:avLst/>
              <a:gdLst/>
              <a:ahLst/>
              <a:cxnLst/>
              <a:rect l="l" t="t" r="r" b="b"/>
              <a:pathLst>
                <a:path w="140334" h="280034">
                  <a:moveTo>
                    <a:pt x="0" y="0"/>
                  </a:moveTo>
                  <a:lnTo>
                    <a:pt x="2187" y="4375"/>
                  </a:lnTo>
                  <a:lnTo>
                    <a:pt x="17501" y="35002"/>
                  </a:lnTo>
                  <a:lnTo>
                    <a:pt x="59066" y="118132"/>
                  </a:lnTo>
                  <a:lnTo>
                    <a:pt x="140009" y="280017"/>
                  </a:lnTo>
                </a:path>
              </a:pathLst>
            </a:custGeom>
            <a:ln w="4200">
              <a:solidFill>
                <a:srgbClr val="000000"/>
              </a:solidFill>
            </a:ln>
          </p:spPr>
          <p:txBody>
            <a:bodyPr wrap="square" lIns="0" tIns="0" rIns="0" bIns="0" rtlCol="0"/>
            <a:lstStyle/>
            <a:p>
              <a:endParaRPr/>
            </a:p>
          </p:txBody>
        </p:sp>
        <p:sp>
          <p:nvSpPr>
            <p:cNvPr id="19" name="object 19"/>
            <p:cNvSpPr/>
            <p:nvPr/>
          </p:nvSpPr>
          <p:spPr>
            <a:xfrm>
              <a:off x="1251169" y="1254819"/>
              <a:ext cx="30480" cy="38100"/>
            </a:xfrm>
            <a:custGeom>
              <a:avLst/>
              <a:gdLst/>
              <a:ahLst/>
              <a:cxnLst/>
              <a:rect l="l" t="t" r="r" b="b"/>
              <a:pathLst>
                <a:path w="30480" h="38100">
                  <a:moveTo>
                    <a:pt x="30056" y="0"/>
                  </a:moveTo>
                  <a:lnTo>
                    <a:pt x="20664" y="18785"/>
                  </a:lnTo>
                  <a:lnTo>
                    <a:pt x="0" y="15028"/>
                  </a:lnTo>
                  <a:lnTo>
                    <a:pt x="30056" y="37571"/>
                  </a:lnTo>
                  <a:lnTo>
                    <a:pt x="30056" y="0"/>
                  </a:lnTo>
                  <a:close/>
                </a:path>
              </a:pathLst>
            </a:custGeom>
            <a:solidFill>
              <a:srgbClr val="000000"/>
            </a:solidFill>
          </p:spPr>
          <p:txBody>
            <a:bodyPr wrap="square" lIns="0" tIns="0" rIns="0" bIns="0" rtlCol="0"/>
            <a:lstStyle/>
            <a:p>
              <a:endParaRPr/>
            </a:p>
          </p:txBody>
        </p:sp>
        <p:sp>
          <p:nvSpPr>
            <p:cNvPr id="20" name="object 20"/>
            <p:cNvSpPr/>
            <p:nvPr/>
          </p:nvSpPr>
          <p:spPr>
            <a:xfrm>
              <a:off x="1131824" y="993586"/>
              <a:ext cx="144780" cy="577850"/>
            </a:xfrm>
            <a:custGeom>
              <a:avLst/>
              <a:gdLst/>
              <a:ahLst/>
              <a:cxnLst/>
              <a:rect l="l" t="t" r="r" b="b"/>
              <a:pathLst>
                <a:path w="144780" h="577850">
                  <a:moveTo>
                    <a:pt x="0" y="0"/>
                  </a:moveTo>
                  <a:lnTo>
                    <a:pt x="2254" y="9019"/>
                  </a:lnTo>
                  <a:lnTo>
                    <a:pt x="18038" y="72153"/>
                  </a:lnTo>
                  <a:lnTo>
                    <a:pt x="60880" y="243519"/>
                  </a:lnTo>
                  <a:lnTo>
                    <a:pt x="144308" y="577231"/>
                  </a:lnTo>
                </a:path>
              </a:pathLst>
            </a:custGeom>
            <a:ln w="4200">
              <a:solidFill>
                <a:srgbClr val="000000"/>
              </a:solidFill>
            </a:ln>
          </p:spPr>
          <p:txBody>
            <a:bodyPr wrap="square" lIns="0" tIns="0" rIns="0" bIns="0" rtlCol="0"/>
            <a:lstStyle/>
            <a:p>
              <a:endParaRPr/>
            </a:p>
          </p:txBody>
        </p:sp>
        <p:sp>
          <p:nvSpPr>
            <p:cNvPr id="21" name="object 21"/>
            <p:cNvSpPr/>
            <p:nvPr/>
          </p:nvSpPr>
          <p:spPr>
            <a:xfrm>
              <a:off x="1256776" y="1554518"/>
              <a:ext cx="33020" cy="36830"/>
            </a:xfrm>
            <a:custGeom>
              <a:avLst/>
              <a:gdLst/>
              <a:ahLst/>
              <a:cxnLst/>
              <a:rect l="l" t="t" r="r" b="b"/>
              <a:pathLst>
                <a:path w="33019" h="36830">
                  <a:moveTo>
                    <a:pt x="32601" y="0"/>
                  </a:moveTo>
                  <a:lnTo>
                    <a:pt x="19356" y="16300"/>
                  </a:lnTo>
                  <a:lnTo>
                    <a:pt x="0" y="8149"/>
                  </a:lnTo>
                  <a:lnTo>
                    <a:pt x="24450" y="36676"/>
                  </a:lnTo>
                  <a:lnTo>
                    <a:pt x="32601" y="0"/>
                  </a:lnTo>
                  <a:close/>
                </a:path>
              </a:pathLst>
            </a:custGeom>
            <a:solidFill>
              <a:srgbClr val="000000"/>
            </a:solidFill>
          </p:spPr>
          <p:txBody>
            <a:bodyPr wrap="square" lIns="0" tIns="0" rIns="0" bIns="0" rtlCol="0"/>
            <a:lstStyle/>
            <a:p>
              <a:endParaRPr/>
            </a:p>
          </p:txBody>
        </p:sp>
        <p:sp>
          <p:nvSpPr>
            <p:cNvPr id="22" name="object 22"/>
            <p:cNvSpPr/>
            <p:nvPr/>
          </p:nvSpPr>
          <p:spPr>
            <a:xfrm>
              <a:off x="1101942" y="1606883"/>
              <a:ext cx="255270" cy="283210"/>
            </a:xfrm>
            <a:custGeom>
              <a:avLst/>
              <a:gdLst/>
              <a:ahLst/>
              <a:cxnLst/>
              <a:rect l="l" t="t" r="r" b="b"/>
              <a:pathLst>
                <a:path w="255269" h="283210">
                  <a:moveTo>
                    <a:pt x="0" y="283114"/>
                  </a:moveTo>
                  <a:lnTo>
                    <a:pt x="3981" y="278690"/>
                  </a:lnTo>
                  <a:lnTo>
                    <a:pt x="31850" y="247725"/>
                  </a:lnTo>
                  <a:lnTo>
                    <a:pt x="107494" y="163675"/>
                  </a:lnTo>
                  <a:lnTo>
                    <a:pt x="254801" y="0"/>
                  </a:lnTo>
                </a:path>
              </a:pathLst>
            </a:custGeom>
            <a:ln w="4200">
              <a:solidFill>
                <a:srgbClr val="000000"/>
              </a:solidFill>
            </a:ln>
          </p:spPr>
          <p:txBody>
            <a:bodyPr wrap="square" lIns="0" tIns="0" rIns="0" bIns="0" rtlCol="0"/>
            <a:lstStyle/>
            <a:p>
              <a:endParaRPr/>
            </a:p>
          </p:txBody>
        </p:sp>
        <p:sp>
          <p:nvSpPr>
            <p:cNvPr id="23" name="object 23"/>
            <p:cNvSpPr/>
            <p:nvPr/>
          </p:nvSpPr>
          <p:spPr>
            <a:xfrm>
              <a:off x="1335720" y="1591194"/>
              <a:ext cx="35560" cy="36830"/>
            </a:xfrm>
            <a:custGeom>
              <a:avLst/>
              <a:gdLst/>
              <a:ahLst/>
              <a:cxnLst/>
              <a:rect l="l" t="t" r="r" b="b"/>
              <a:pathLst>
                <a:path w="35559" h="36830">
                  <a:moveTo>
                    <a:pt x="0" y="13806"/>
                  </a:moveTo>
                  <a:lnTo>
                    <a:pt x="21023" y="15689"/>
                  </a:lnTo>
                  <a:lnTo>
                    <a:pt x="25102" y="36399"/>
                  </a:lnTo>
                  <a:lnTo>
                    <a:pt x="35143" y="0"/>
                  </a:lnTo>
                  <a:lnTo>
                    <a:pt x="0" y="13806"/>
                  </a:lnTo>
                  <a:close/>
                </a:path>
              </a:pathLst>
            </a:custGeom>
            <a:solidFill>
              <a:srgbClr val="000000"/>
            </a:solidFill>
          </p:spPr>
          <p:txBody>
            <a:bodyPr wrap="square" lIns="0" tIns="0" rIns="0" bIns="0" rtlCol="0"/>
            <a:lstStyle/>
            <a:p>
              <a:endParaRPr/>
            </a:p>
          </p:txBody>
        </p:sp>
        <p:sp>
          <p:nvSpPr>
            <p:cNvPr id="24" name="object 24"/>
            <p:cNvSpPr/>
            <p:nvPr/>
          </p:nvSpPr>
          <p:spPr>
            <a:xfrm>
              <a:off x="3208511" y="1591194"/>
              <a:ext cx="549275" cy="0"/>
            </a:xfrm>
            <a:custGeom>
              <a:avLst/>
              <a:gdLst/>
              <a:ahLst/>
              <a:cxnLst/>
              <a:rect l="l" t="t" r="r" b="b"/>
              <a:pathLst>
                <a:path w="549275">
                  <a:moveTo>
                    <a:pt x="0" y="0"/>
                  </a:moveTo>
                  <a:lnTo>
                    <a:pt x="549058" y="0"/>
                  </a:lnTo>
                </a:path>
              </a:pathLst>
            </a:custGeom>
            <a:ln w="12602">
              <a:solidFill>
                <a:srgbClr val="000000"/>
              </a:solidFill>
            </a:ln>
          </p:spPr>
          <p:txBody>
            <a:bodyPr wrap="square" lIns="0" tIns="0" rIns="0" bIns="0" rtlCol="0"/>
            <a:lstStyle/>
            <a:p>
              <a:endParaRPr/>
            </a:p>
          </p:txBody>
        </p:sp>
        <p:sp>
          <p:nvSpPr>
            <p:cNvPr id="25" name="object 25"/>
            <p:cNvSpPr/>
            <p:nvPr/>
          </p:nvSpPr>
          <p:spPr>
            <a:xfrm>
              <a:off x="3737407" y="1564309"/>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6" name="object 26"/>
          <p:cNvSpPr txBox="1"/>
          <p:nvPr/>
        </p:nvSpPr>
        <p:spPr>
          <a:xfrm>
            <a:off x="804760" y="1807004"/>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27" name="object 27"/>
          <p:cNvSpPr txBox="1"/>
          <p:nvPr/>
        </p:nvSpPr>
        <p:spPr>
          <a:xfrm>
            <a:off x="804760" y="910060"/>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sp>
        <p:nvSpPr>
          <p:cNvPr id="28" name="object 28"/>
          <p:cNvSpPr txBox="1"/>
          <p:nvPr/>
        </p:nvSpPr>
        <p:spPr>
          <a:xfrm>
            <a:off x="1010720" y="824713"/>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29" name="object 29"/>
          <p:cNvGrpSpPr/>
          <p:nvPr/>
        </p:nvGrpSpPr>
        <p:grpSpPr>
          <a:xfrm>
            <a:off x="1099720" y="1256565"/>
            <a:ext cx="826769" cy="636270"/>
            <a:chOff x="1099720" y="1256565"/>
            <a:chExt cx="826769" cy="636270"/>
          </a:xfrm>
        </p:grpSpPr>
        <p:sp>
          <p:nvSpPr>
            <p:cNvPr id="30" name="object 30"/>
            <p:cNvSpPr/>
            <p:nvPr/>
          </p:nvSpPr>
          <p:spPr>
            <a:xfrm>
              <a:off x="1101942" y="1313309"/>
              <a:ext cx="57785" cy="577215"/>
            </a:xfrm>
            <a:custGeom>
              <a:avLst/>
              <a:gdLst/>
              <a:ahLst/>
              <a:cxnLst/>
              <a:rect l="l" t="t" r="r" b="b"/>
              <a:pathLst>
                <a:path w="57784" h="577214">
                  <a:moveTo>
                    <a:pt x="0" y="576688"/>
                  </a:moveTo>
                  <a:lnTo>
                    <a:pt x="901" y="567678"/>
                  </a:lnTo>
                  <a:lnTo>
                    <a:pt x="7208" y="504602"/>
                  </a:lnTo>
                  <a:lnTo>
                    <a:pt x="24328" y="333398"/>
                  </a:lnTo>
                  <a:lnTo>
                    <a:pt x="57668" y="0"/>
                  </a:lnTo>
                </a:path>
              </a:pathLst>
            </a:custGeom>
            <a:ln w="4200">
              <a:solidFill>
                <a:srgbClr val="000000"/>
              </a:solidFill>
            </a:ln>
          </p:spPr>
          <p:txBody>
            <a:bodyPr wrap="square" lIns="0" tIns="0" rIns="0" bIns="0" rtlCol="0"/>
            <a:lstStyle/>
            <a:p>
              <a:endParaRPr/>
            </a:p>
          </p:txBody>
        </p:sp>
        <p:sp>
          <p:nvSpPr>
            <p:cNvPr id="31" name="object 31"/>
            <p:cNvSpPr/>
            <p:nvPr/>
          </p:nvSpPr>
          <p:spPr>
            <a:xfrm>
              <a:off x="1141621" y="1292390"/>
              <a:ext cx="33655" cy="35560"/>
            </a:xfrm>
            <a:custGeom>
              <a:avLst/>
              <a:gdLst/>
              <a:ahLst/>
              <a:cxnLst/>
              <a:rect l="l" t="t" r="r" b="b"/>
              <a:pathLst>
                <a:path w="33655"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2" name="object 32"/>
            <p:cNvSpPr/>
            <p:nvPr/>
          </p:nvSpPr>
          <p:spPr>
            <a:xfrm>
              <a:off x="1580030" y="1292390"/>
              <a:ext cx="63500" cy="210185"/>
            </a:xfrm>
            <a:custGeom>
              <a:avLst/>
              <a:gdLst/>
              <a:ahLst/>
              <a:cxnLst/>
              <a:rect l="l" t="t" r="r" b="b"/>
              <a:pathLst>
                <a:path w="63500" h="210184">
                  <a:moveTo>
                    <a:pt x="0" y="0"/>
                  </a:moveTo>
                  <a:lnTo>
                    <a:pt x="982" y="3276"/>
                  </a:lnTo>
                  <a:lnTo>
                    <a:pt x="7863" y="26210"/>
                  </a:lnTo>
                  <a:lnTo>
                    <a:pt x="26539" y="88460"/>
                  </a:lnTo>
                  <a:lnTo>
                    <a:pt x="62908" y="209684"/>
                  </a:lnTo>
                </a:path>
              </a:pathLst>
            </a:custGeom>
            <a:ln w="4200">
              <a:solidFill>
                <a:srgbClr val="000000"/>
              </a:solidFill>
            </a:ln>
          </p:spPr>
          <p:txBody>
            <a:bodyPr wrap="square" lIns="0" tIns="0" rIns="0" bIns="0" rtlCol="0"/>
            <a:lstStyle/>
            <a:p>
              <a:endParaRPr/>
            </a:p>
          </p:txBody>
        </p:sp>
        <p:sp>
          <p:nvSpPr>
            <p:cNvPr id="33" name="object 33"/>
            <p:cNvSpPr/>
            <p:nvPr/>
          </p:nvSpPr>
          <p:spPr>
            <a:xfrm>
              <a:off x="1617017" y="1495216"/>
              <a:ext cx="52705" cy="15875"/>
            </a:xfrm>
            <a:custGeom>
              <a:avLst/>
              <a:gdLst/>
              <a:ahLst/>
              <a:cxnLst/>
              <a:rect l="l" t="t" r="r" b="b"/>
              <a:pathLst>
                <a:path w="52705" h="15875">
                  <a:moveTo>
                    <a:pt x="0" y="15732"/>
                  </a:moveTo>
                  <a:lnTo>
                    <a:pt x="52447" y="0"/>
                  </a:lnTo>
                </a:path>
              </a:pathLst>
            </a:custGeom>
            <a:ln w="4211">
              <a:solidFill>
                <a:srgbClr val="000000"/>
              </a:solidFill>
            </a:ln>
          </p:spPr>
          <p:txBody>
            <a:bodyPr wrap="square" lIns="0" tIns="0" rIns="0" bIns="0" rtlCol="0"/>
            <a:lstStyle/>
            <a:p>
              <a:endParaRPr/>
            </a:p>
          </p:txBody>
        </p:sp>
        <p:sp>
          <p:nvSpPr>
            <p:cNvPr id="34" name="object 34"/>
            <p:cNvSpPr/>
            <p:nvPr/>
          </p:nvSpPr>
          <p:spPr>
            <a:xfrm>
              <a:off x="1834013" y="1258788"/>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35" name="object 35"/>
            <p:cNvSpPr/>
            <p:nvPr/>
          </p:nvSpPr>
          <p:spPr>
            <a:xfrm>
              <a:off x="1834013" y="1258788"/>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36" name="object 36"/>
          <p:cNvSpPr txBox="1"/>
          <p:nvPr/>
        </p:nvSpPr>
        <p:spPr>
          <a:xfrm>
            <a:off x="775725" y="1123509"/>
            <a:ext cx="1200150" cy="523875"/>
          </a:xfrm>
          <a:prstGeom prst="rect">
            <a:avLst/>
          </a:prstGeom>
        </p:spPr>
        <p:txBody>
          <a:bodyPr vert="horz" wrap="square" lIns="0" tIns="15875" rIns="0" bIns="0" rtlCol="0">
            <a:spAutoFit/>
          </a:bodyPr>
          <a:lstStyle/>
          <a:p>
            <a:pPr marL="571500">
              <a:lnSpc>
                <a:spcPts val="77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a:p>
            <a:pPr marL="76200">
              <a:lnSpc>
                <a:spcPts val="725"/>
              </a:lnSpc>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a:p>
            <a:pPr marR="55880" algn="r">
              <a:lnSpc>
                <a:spcPts val="735"/>
              </a:lnSpc>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a:p>
            <a:pPr marL="76200">
              <a:lnSpc>
                <a:spcPct val="100000"/>
              </a:lnSpc>
              <a:spcBef>
                <a:spcPts val="770"/>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grpSp>
        <p:nvGrpSpPr>
          <p:cNvPr id="37" name="object 37"/>
          <p:cNvGrpSpPr/>
          <p:nvPr/>
        </p:nvGrpSpPr>
        <p:grpSpPr>
          <a:xfrm>
            <a:off x="1996131" y="993586"/>
            <a:ext cx="98425" cy="301625"/>
            <a:chOff x="1996131" y="993586"/>
            <a:chExt cx="98425" cy="301625"/>
          </a:xfrm>
        </p:grpSpPr>
        <p:sp>
          <p:nvSpPr>
            <p:cNvPr id="38" name="object 38"/>
            <p:cNvSpPr/>
            <p:nvPr/>
          </p:nvSpPr>
          <p:spPr>
            <a:xfrm>
              <a:off x="1998353" y="1013758"/>
              <a:ext cx="83820" cy="278765"/>
            </a:xfrm>
            <a:custGeom>
              <a:avLst/>
              <a:gdLst/>
              <a:ahLst/>
              <a:cxnLst/>
              <a:rect l="l" t="t" r="r" b="b"/>
              <a:pathLst>
                <a:path w="83819" h="278765">
                  <a:moveTo>
                    <a:pt x="0" y="278631"/>
                  </a:moveTo>
                  <a:lnTo>
                    <a:pt x="1306" y="274278"/>
                  </a:lnTo>
                  <a:lnTo>
                    <a:pt x="10448" y="243802"/>
                  </a:lnTo>
                  <a:lnTo>
                    <a:pt x="35264" y="161084"/>
                  </a:lnTo>
                  <a:lnTo>
                    <a:pt x="83590" y="0"/>
                  </a:lnTo>
                </a:path>
              </a:pathLst>
            </a:custGeom>
            <a:ln w="4200">
              <a:solidFill>
                <a:srgbClr val="000000"/>
              </a:solidFill>
            </a:ln>
          </p:spPr>
          <p:txBody>
            <a:bodyPr wrap="square" lIns="0" tIns="0" rIns="0" bIns="0" rtlCol="0"/>
            <a:lstStyle/>
            <a:p>
              <a:endParaRPr/>
            </a:p>
          </p:txBody>
        </p:sp>
        <p:sp>
          <p:nvSpPr>
            <p:cNvPr id="39" name="object 39"/>
            <p:cNvSpPr/>
            <p:nvPr/>
          </p:nvSpPr>
          <p:spPr>
            <a:xfrm>
              <a:off x="2062176" y="993586"/>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40" name="object 40"/>
          <p:cNvSpPr txBox="1"/>
          <p:nvPr/>
        </p:nvSpPr>
        <p:spPr>
          <a:xfrm>
            <a:off x="2082304" y="806469"/>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41" name="object 41"/>
          <p:cNvSpPr txBox="1"/>
          <p:nvPr/>
        </p:nvSpPr>
        <p:spPr>
          <a:xfrm>
            <a:off x="2074736" y="873341"/>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42" name="object 42"/>
          <p:cNvSpPr txBox="1"/>
          <p:nvPr/>
        </p:nvSpPr>
        <p:spPr>
          <a:xfrm>
            <a:off x="1986887" y="815806"/>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43" name="object 43"/>
          <p:cNvGrpSpPr/>
          <p:nvPr/>
        </p:nvGrpSpPr>
        <p:grpSpPr>
          <a:xfrm>
            <a:off x="2862664" y="1370412"/>
            <a:ext cx="348615" cy="257175"/>
            <a:chOff x="2862664" y="1370412"/>
            <a:chExt cx="348615" cy="257175"/>
          </a:xfrm>
        </p:grpSpPr>
        <p:sp>
          <p:nvSpPr>
            <p:cNvPr id="44" name="object 44"/>
            <p:cNvSpPr/>
            <p:nvPr/>
          </p:nvSpPr>
          <p:spPr>
            <a:xfrm>
              <a:off x="2864887" y="1381509"/>
              <a:ext cx="63500" cy="210185"/>
            </a:xfrm>
            <a:custGeom>
              <a:avLst/>
              <a:gdLst/>
              <a:ahLst/>
              <a:cxnLst/>
              <a:rect l="l" t="t" r="r" b="b"/>
              <a:pathLst>
                <a:path w="63500" h="210184">
                  <a:moveTo>
                    <a:pt x="0" y="209684"/>
                  </a:moveTo>
                  <a:lnTo>
                    <a:pt x="982" y="206407"/>
                  </a:lnTo>
                  <a:lnTo>
                    <a:pt x="7863" y="183473"/>
                  </a:lnTo>
                  <a:lnTo>
                    <a:pt x="26539" y="121223"/>
                  </a:lnTo>
                  <a:lnTo>
                    <a:pt x="62908" y="0"/>
                  </a:lnTo>
                </a:path>
              </a:pathLst>
            </a:custGeom>
            <a:ln w="4200">
              <a:solidFill>
                <a:srgbClr val="000000"/>
              </a:solidFill>
            </a:ln>
          </p:spPr>
          <p:txBody>
            <a:bodyPr wrap="square" lIns="0" tIns="0" rIns="0" bIns="0" rtlCol="0"/>
            <a:lstStyle/>
            <a:p>
              <a:endParaRPr/>
            </a:p>
          </p:txBody>
        </p:sp>
        <p:sp>
          <p:nvSpPr>
            <p:cNvPr id="45" name="object 45"/>
            <p:cNvSpPr/>
            <p:nvPr/>
          </p:nvSpPr>
          <p:spPr>
            <a:xfrm>
              <a:off x="2901874" y="1372635"/>
              <a:ext cx="52705" cy="15875"/>
            </a:xfrm>
            <a:custGeom>
              <a:avLst/>
              <a:gdLst/>
              <a:ahLst/>
              <a:cxnLst/>
              <a:rect l="l" t="t" r="r" b="b"/>
              <a:pathLst>
                <a:path w="52705" h="15875">
                  <a:moveTo>
                    <a:pt x="52447" y="15732"/>
                  </a:moveTo>
                  <a:lnTo>
                    <a:pt x="0" y="0"/>
                  </a:lnTo>
                </a:path>
              </a:pathLst>
            </a:custGeom>
            <a:ln w="4211">
              <a:solidFill>
                <a:srgbClr val="000000"/>
              </a:solidFill>
            </a:ln>
          </p:spPr>
          <p:txBody>
            <a:bodyPr wrap="square" lIns="0" tIns="0" rIns="0" bIns="0" rtlCol="0"/>
            <a:lstStyle/>
            <a:p>
              <a:endParaRPr/>
            </a:p>
          </p:txBody>
        </p:sp>
        <p:sp>
          <p:nvSpPr>
            <p:cNvPr id="46" name="object 46"/>
            <p:cNvSpPr/>
            <p:nvPr/>
          </p:nvSpPr>
          <p:spPr>
            <a:xfrm>
              <a:off x="3118870" y="1557592"/>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47" name="object 47"/>
            <p:cNvSpPr/>
            <p:nvPr/>
          </p:nvSpPr>
          <p:spPr>
            <a:xfrm>
              <a:off x="3118870" y="1557592"/>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48" name="object 48"/>
          <p:cNvSpPr txBox="1"/>
          <p:nvPr/>
        </p:nvSpPr>
        <p:spPr>
          <a:xfrm>
            <a:off x="2356595" y="1588801"/>
            <a:ext cx="878840" cy="153035"/>
          </a:xfrm>
          <a:prstGeom prst="rect">
            <a:avLst/>
          </a:prstGeom>
        </p:spPr>
        <p:txBody>
          <a:bodyPr vert="horz" wrap="square" lIns="0" tIns="15875" rIns="0" bIns="0" rtlCol="0">
            <a:spAutoFit/>
          </a:bodyPr>
          <a:lstStyle/>
          <a:p>
            <a:pPr marL="38100">
              <a:lnSpc>
                <a:spcPts val="365"/>
              </a:lnSpc>
              <a:spcBef>
                <a:spcPts val="125"/>
              </a:spcBef>
              <a:tabLst>
                <a:tab pos="572770" algn="l"/>
              </a:tabLst>
            </a:pPr>
            <a:r>
              <a:rPr sz="600" spc="7" baseline="6944" dirty="0">
                <a:latin typeface="Arial"/>
                <a:cs typeface="Arial"/>
              </a:rPr>
              <a:t>Leader	</a:t>
            </a:r>
            <a:r>
              <a:rPr sz="550" spc="10" dirty="0">
                <a:latin typeface="Times New Roman"/>
                <a:cs typeface="Times New Roman"/>
              </a:rPr>
              <a:t>2</a:t>
            </a:r>
            <a:endParaRPr sz="550">
              <a:latin typeface="Times New Roman"/>
              <a:cs typeface="Times New Roman"/>
            </a:endParaRPr>
          </a:p>
          <a:p>
            <a:pPr marL="274955">
              <a:lnSpc>
                <a:spcPts val="605"/>
              </a:lnSpc>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45" dirty="0">
                <a:latin typeface="Times New Roman"/>
                <a:cs typeface="Times New Roman"/>
              </a:rPr>
              <a:t>o</a:t>
            </a:r>
            <a:r>
              <a:rPr sz="750" i="1" dirty="0">
                <a:latin typeface="Times New Roman"/>
                <a:cs typeface="Times New Roman"/>
              </a:rPr>
              <a:t> </a:t>
            </a:r>
            <a:r>
              <a:rPr sz="750" i="1" spc="-30" dirty="0">
                <a:latin typeface="Times New Roman"/>
                <a:cs typeface="Times New Roman"/>
              </a:rPr>
              <a:t> </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 </a:t>
            </a:r>
            <a:r>
              <a:rPr sz="975" i="1" spc="-30"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49" name="object 49"/>
          <p:cNvGrpSpPr/>
          <p:nvPr/>
        </p:nvGrpSpPr>
        <p:grpSpPr>
          <a:xfrm>
            <a:off x="3370752" y="1589093"/>
            <a:ext cx="98425" cy="300990"/>
            <a:chOff x="3370752" y="1589093"/>
            <a:chExt cx="98425" cy="300990"/>
          </a:xfrm>
        </p:grpSpPr>
        <p:sp>
          <p:nvSpPr>
            <p:cNvPr id="50" name="object 50"/>
            <p:cNvSpPr/>
            <p:nvPr/>
          </p:nvSpPr>
          <p:spPr>
            <a:xfrm>
              <a:off x="3372852" y="1591194"/>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51" name="object 51"/>
            <p:cNvSpPr/>
            <p:nvPr/>
          </p:nvSpPr>
          <p:spPr>
            <a:xfrm>
              <a:off x="3436675" y="1852882"/>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52" name="object 52"/>
          <p:cNvSpPr txBox="1"/>
          <p:nvPr/>
        </p:nvSpPr>
        <p:spPr>
          <a:xfrm>
            <a:off x="3456787" y="188759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56" name="object 56"/>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57" name="object 5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21</a:t>
            </a:r>
            <a:r>
              <a:rPr spc="-40" dirty="0"/>
              <a:t> </a:t>
            </a:r>
            <a:r>
              <a:rPr spc="-5" dirty="0"/>
              <a:t>/</a:t>
            </a:r>
            <a:r>
              <a:rPr spc="-35" dirty="0"/>
              <a:t> </a:t>
            </a:r>
            <a:r>
              <a:rPr spc="-5" dirty="0"/>
              <a:t>68</a:t>
            </a:r>
          </a:p>
        </p:txBody>
      </p:sp>
      <p:sp>
        <p:nvSpPr>
          <p:cNvPr id="53" name="object 53"/>
          <p:cNvSpPr txBox="1"/>
          <p:nvPr/>
        </p:nvSpPr>
        <p:spPr>
          <a:xfrm>
            <a:off x="3449219" y="1953372"/>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54" name="object 54"/>
          <p:cNvSpPr txBox="1"/>
          <p:nvPr/>
        </p:nvSpPr>
        <p:spPr>
          <a:xfrm>
            <a:off x="3361370" y="1896933"/>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sp>
        <p:nvSpPr>
          <p:cNvPr id="55" name="object 55"/>
          <p:cNvSpPr txBox="1"/>
          <p:nvPr/>
        </p:nvSpPr>
        <p:spPr>
          <a:xfrm>
            <a:off x="347294" y="2134740"/>
            <a:ext cx="3778885" cy="504825"/>
          </a:xfrm>
          <a:prstGeom prst="rect">
            <a:avLst/>
          </a:prstGeom>
        </p:spPr>
        <p:txBody>
          <a:bodyPr vert="horz" wrap="square" lIns="0" tIns="12065" rIns="0" bIns="0" rtlCol="0">
            <a:spAutoFit/>
          </a:bodyPr>
          <a:lstStyle/>
          <a:p>
            <a:pPr marL="12700">
              <a:lnSpc>
                <a:spcPts val="1410"/>
              </a:lnSpc>
              <a:spcBef>
                <a:spcPts val="95"/>
              </a:spcBef>
            </a:pPr>
            <a:r>
              <a:rPr sz="1200" spc="-10" dirty="0">
                <a:solidFill>
                  <a:srgbClr val="3333B2"/>
                </a:solidFill>
                <a:latin typeface="Arial"/>
                <a:cs typeface="Arial"/>
              </a:rPr>
              <a:t>Problem</a:t>
            </a:r>
            <a:endParaRPr sz="1200">
              <a:latin typeface="Arial"/>
              <a:cs typeface="Arial"/>
            </a:endParaRPr>
          </a:p>
          <a:p>
            <a:pPr marL="12700" marR="5080">
              <a:lnSpc>
                <a:spcPts val="1200"/>
              </a:lnSpc>
              <a:spcBef>
                <a:spcPts val="10"/>
              </a:spcBef>
            </a:pPr>
            <a:r>
              <a:rPr sz="1000" dirty="0">
                <a:latin typeface="Arial"/>
                <a:cs typeface="Arial"/>
              </a:rPr>
              <a:t>Primary</a:t>
            </a:r>
            <a:r>
              <a:rPr sz="1000" spc="-5" dirty="0">
                <a:latin typeface="Arial"/>
                <a:cs typeface="Arial"/>
              </a:rPr>
              <a:t> crashes</a:t>
            </a:r>
            <a:r>
              <a:rPr sz="1000" dirty="0">
                <a:latin typeface="Arial"/>
                <a:cs typeface="Arial"/>
              </a:rPr>
              <a:t> </a:t>
            </a:r>
            <a:r>
              <a:rPr sz="1000" spc="-5" dirty="0">
                <a:latin typeface="Arial"/>
                <a:cs typeface="Arial"/>
              </a:rPr>
              <a:t>after</a:t>
            </a:r>
            <a:r>
              <a:rPr sz="1000" dirty="0">
                <a:latin typeface="Arial"/>
                <a:cs typeface="Arial"/>
              </a:rPr>
              <a:t> </a:t>
            </a:r>
            <a:r>
              <a:rPr sz="1000" spc="-10" dirty="0">
                <a:latin typeface="Arial"/>
                <a:cs typeface="Arial"/>
              </a:rPr>
              <a:t>executing</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operation,</a:t>
            </a:r>
            <a:r>
              <a:rPr sz="1000" dirty="0">
                <a:latin typeface="Arial"/>
                <a:cs typeface="Arial"/>
              </a:rPr>
              <a:t> </a:t>
            </a:r>
            <a:r>
              <a:rPr sz="1000" spc="-10" dirty="0">
                <a:latin typeface="Arial"/>
                <a:cs typeface="Arial"/>
              </a:rPr>
              <a:t>but</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backup</a:t>
            </a:r>
            <a:r>
              <a:rPr sz="1000" dirty="0">
                <a:latin typeface="Arial"/>
                <a:cs typeface="Arial"/>
              </a:rPr>
              <a:t> </a:t>
            </a:r>
            <a:r>
              <a:rPr sz="1000" spc="-15" dirty="0">
                <a:latin typeface="Arial"/>
                <a:cs typeface="Arial"/>
              </a:rPr>
              <a:t>never </a:t>
            </a:r>
            <a:r>
              <a:rPr sz="1000" spc="-260" dirty="0">
                <a:latin typeface="Arial"/>
                <a:cs typeface="Arial"/>
              </a:rPr>
              <a:t> </a:t>
            </a:r>
            <a:r>
              <a:rPr sz="1000" spc="-5" dirty="0">
                <a:latin typeface="Arial"/>
                <a:cs typeface="Arial"/>
              </a:rPr>
              <a:t>received</a:t>
            </a:r>
            <a:r>
              <a:rPr sz="1000" spc="-10" dirty="0">
                <a:latin typeface="Arial"/>
                <a:cs typeface="Arial"/>
              </a:rPr>
              <a:t> </a:t>
            </a:r>
            <a:r>
              <a:rPr sz="1000" spc="-5" dirty="0">
                <a:latin typeface="Arial"/>
                <a:cs typeface="Arial"/>
              </a:rPr>
              <a:t>the accept message.</a:t>
            </a:r>
            <a:endParaRPr sz="100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2939415" cy="244475"/>
          </a:xfrm>
          <a:prstGeom prst="rect">
            <a:avLst/>
          </a:prstGeom>
        </p:spPr>
        <p:txBody>
          <a:bodyPr vert="horz" wrap="square" lIns="0" tIns="17145" rIns="0" bIns="0" rtlCol="0">
            <a:spAutoFit/>
          </a:bodyPr>
          <a:lstStyle/>
          <a:p>
            <a:pPr marL="12700">
              <a:lnSpc>
                <a:spcPct val="100000"/>
              </a:lnSpc>
              <a:spcBef>
                <a:spcPts val="135"/>
              </a:spcBef>
            </a:pPr>
            <a:r>
              <a:rPr sz="1400" spc="-45" dirty="0">
                <a:solidFill>
                  <a:srgbClr val="3333B2"/>
                </a:solidFill>
                <a:latin typeface="Arial"/>
                <a:cs typeface="Arial"/>
              </a:rPr>
              <a:t>Two</a:t>
            </a:r>
            <a:r>
              <a:rPr sz="1400" spc="5" dirty="0">
                <a:solidFill>
                  <a:srgbClr val="3333B2"/>
                </a:solidFill>
                <a:latin typeface="Arial"/>
                <a:cs typeface="Arial"/>
              </a:rPr>
              <a:t> </a:t>
            </a:r>
            <a:r>
              <a:rPr sz="1400" spc="15" dirty="0">
                <a:solidFill>
                  <a:srgbClr val="3333B2"/>
                </a:solidFill>
                <a:latin typeface="Arial"/>
                <a:cs typeface="Arial"/>
              </a:rPr>
              <a:t>servers</a:t>
            </a:r>
            <a:r>
              <a:rPr sz="1400" spc="5" dirty="0">
                <a:solidFill>
                  <a:srgbClr val="3333B2"/>
                </a:solidFill>
                <a:latin typeface="Arial"/>
                <a:cs typeface="Arial"/>
              </a:rPr>
              <a:t> </a:t>
            </a:r>
            <a:r>
              <a:rPr sz="1400" spc="15" dirty="0">
                <a:solidFill>
                  <a:srgbClr val="3333B2"/>
                </a:solidFill>
                <a:latin typeface="Arial"/>
                <a:cs typeface="Arial"/>
              </a:rPr>
              <a:t>and</a:t>
            </a:r>
            <a:r>
              <a:rPr sz="1400" spc="5" dirty="0">
                <a:solidFill>
                  <a:srgbClr val="3333B2"/>
                </a:solidFill>
                <a:latin typeface="Arial"/>
                <a:cs typeface="Arial"/>
              </a:rPr>
              <a:t> </a:t>
            </a:r>
            <a:r>
              <a:rPr sz="1400" spc="15" dirty="0">
                <a:solidFill>
                  <a:srgbClr val="3333B2"/>
                </a:solidFill>
                <a:latin typeface="Arial"/>
                <a:cs typeface="Arial"/>
              </a:rPr>
              <a:t>one</a:t>
            </a:r>
            <a:r>
              <a:rPr sz="1400" spc="5" dirty="0">
                <a:solidFill>
                  <a:srgbClr val="3333B2"/>
                </a:solidFill>
                <a:latin typeface="Arial"/>
                <a:cs typeface="Arial"/>
              </a:rPr>
              <a:t> </a:t>
            </a:r>
            <a:r>
              <a:rPr sz="1400" spc="10" dirty="0">
                <a:solidFill>
                  <a:srgbClr val="3333B2"/>
                </a:solidFill>
                <a:latin typeface="Arial"/>
                <a:cs typeface="Arial"/>
              </a:rPr>
              <a:t>crash:</a:t>
            </a:r>
            <a:r>
              <a:rPr sz="1400" spc="95" dirty="0">
                <a:solidFill>
                  <a:srgbClr val="3333B2"/>
                </a:solidFill>
                <a:latin typeface="Arial"/>
                <a:cs typeface="Arial"/>
              </a:rPr>
              <a:t> </a:t>
            </a:r>
            <a:r>
              <a:rPr sz="1400" spc="10" dirty="0">
                <a:solidFill>
                  <a:srgbClr val="3333B2"/>
                </a:solidFill>
                <a:latin typeface="Arial"/>
                <a:cs typeface="Arial"/>
              </a:rPr>
              <a:t>solution</a:t>
            </a:r>
            <a:endParaRPr sz="1400">
              <a:latin typeface="Arial"/>
              <a:cs typeface="Arial"/>
            </a:endParaRPr>
          </a:p>
        </p:txBody>
      </p:sp>
      <p:grpSp>
        <p:nvGrpSpPr>
          <p:cNvPr id="5" name="object 5"/>
          <p:cNvGrpSpPr/>
          <p:nvPr/>
        </p:nvGrpSpPr>
        <p:grpSpPr>
          <a:xfrm>
            <a:off x="679185" y="1032181"/>
            <a:ext cx="3411220" cy="940435"/>
            <a:chOff x="679185" y="1032181"/>
            <a:chExt cx="3411220" cy="940435"/>
          </a:xfrm>
        </p:grpSpPr>
        <p:sp>
          <p:nvSpPr>
            <p:cNvPr id="6" name="object 6"/>
            <p:cNvSpPr/>
            <p:nvPr/>
          </p:nvSpPr>
          <p:spPr>
            <a:xfrm>
              <a:off x="683630" y="1950435"/>
              <a:ext cx="3379470" cy="0"/>
            </a:xfrm>
            <a:custGeom>
              <a:avLst/>
              <a:gdLst/>
              <a:ahLst/>
              <a:cxnLst/>
              <a:rect l="l" t="t" r="r" b="b"/>
              <a:pathLst>
                <a:path w="3379470">
                  <a:moveTo>
                    <a:pt x="0" y="0"/>
                  </a:moveTo>
                  <a:lnTo>
                    <a:pt x="3379056" y="0"/>
                  </a:lnTo>
                </a:path>
              </a:pathLst>
            </a:custGeom>
            <a:ln w="8401">
              <a:solidFill>
                <a:srgbClr val="000000"/>
              </a:solidFill>
            </a:ln>
          </p:spPr>
          <p:txBody>
            <a:bodyPr wrap="square" lIns="0" tIns="0" rIns="0" bIns="0" rtlCol="0"/>
            <a:lstStyle/>
            <a:p>
              <a:endParaRPr/>
            </a:p>
          </p:txBody>
        </p:sp>
        <p:sp>
          <p:nvSpPr>
            <p:cNvPr id="7" name="object 7"/>
            <p:cNvSpPr/>
            <p:nvPr/>
          </p:nvSpPr>
          <p:spPr>
            <a:xfrm>
              <a:off x="4046304" y="1928592"/>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683630" y="1352827"/>
              <a:ext cx="1150620" cy="299085"/>
            </a:xfrm>
            <a:custGeom>
              <a:avLst/>
              <a:gdLst/>
              <a:ahLst/>
              <a:cxnLst/>
              <a:rect l="l" t="t" r="r" b="b"/>
              <a:pathLst>
                <a:path w="1150620" h="299085">
                  <a:moveTo>
                    <a:pt x="0" y="298803"/>
                  </a:moveTo>
                  <a:lnTo>
                    <a:pt x="1150393" y="298803"/>
                  </a:lnTo>
                </a:path>
                <a:path w="1150620" h="299085">
                  <a:moveTo>
                    <a:pt x="0" y="0"/>
                  </a:moveTo>
                  <a:lnTo>
                    <a:pt x="1150393" y="0"/>
                  </a:lnTo>
                </a:path>
              </a:pathLst>
            </a:custGeom>
            <a:ln w="8401">
              <a:solidFill>
                <a:srgbClr val="000000"/>
              </a:solidFill>
            </a:ln>
          </p:spPr>
          <p:txBody>
            <a:bodyPr wrap="square" lIns="0" tIns="0" rIns="0" bIns="0" rtlCol="0"/>
            <a:lstStyle/>
            <a:p>
              <a:endParaRPr/>
            </a:p>
          </p:txBody>
        </p:sp>
        <p:sp>
          <p:nvSpPr>
            <p:cNvPr id="9" name="object 9"/>
            <p:cNvSpPr/>
            <p:nvPr/>
          </p:nvSpPr>
          <p:spPr>
            <a:xfrm>
              <a:off x="683630" y="1054024"/>
              <a:ext cx="3379470" cy="0"/>
            </a:xfrm>
            <a:custGeom>
              <a:avLst/>
              <a:gdLst/>
              <a:ahLst/>
              <a:cxnLst/>
              <a:rect l="l" t="t" r="r" b="b"/>
              <a:pathLst>
                <a:path w="3379470">
                  <a:moveTo>
                    <a:pt x="0" y="0"/>
                  </a:moveTo>
                  <a:lnTo>
                    <a:pt x="3379056" y="0"/>
                  </a:lnTo>
                </a:path>
              </a:pathLst>
            </a:custGeom>
            <a:ln w="8401">
              <a:solidFill>
                <a:srgbClr val="000000"/>
              </a:solidFill>
            </a:ln>
          </p:spPr>
          <p:txBody>
            <a:bodyPr wrap="square" lIns="0" tIns="0" rIns="0" bIns="0" rtlCol="0"/>
            <a:lstStyle/>
            <a:p>
              <a:endParaRPr/>
            </a:p>
          </p:txBody>
        </p:sp>
        <p:sp>
          <p:nvSpPr>
            <p:cNvPr id="10" name="object 10"/>
            <p:cNvSpPr/>
            <p:nvPr/>
          </p:nvSpPr>
          <p:spPr>
            <a:xfrm>
              <a:off x="4046304" y="1032181"/>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1" name="object 11"/>
            <p:cNvSpPr/>
            <p:nvPr/>
          </p:nvSpPr>
          <p:spPr>
            <a:xfrm>
              <a:off x="833031" y="1054024"/>
              <a:ext cx="140335" cy="280035"/>
            </a:xfrm>
            <a:custGeom>
              <a:avLst/>
              <a:gdLst/>
              <a:ahLst/>
              <a:cxnLst/>
              <a:rect l="l" t="t" r="r" b="b"/>
              <a:pathLst>
                <a:path w="140334" h="280034">
                  <a:moveTo>
                    <a:pt x="0" y="0"/>
                  </a:moveTo>
                  <a:lnTo>
                    <a:pt x="2187" y="4375"/>
                  </a:lnTo>
                  <a:lnTo>
                    <a:pt x="17501" y="35002"/>
                  </a:lnTo>
                  <a:lnTo>
                    <a:pt x="59066" y="118132"/>
                  </a:lnTo>
                  <a:lnTo>
                    <a:pt x="140009" y="280017"/>
                  </a:lnTo>
                </a:path>
              </a:pathLst>
            </a:custGeom>
            <a:ln w="4200">
              <a:solidFill>
                <a:srgbClr val="000000"/>
              </a:solidFill>
            </a:ln>
          </p:spPr>
          <p:txBody>
            <a:bodyPr wrap="square" lIns="0" tIns="0" rIns="0" bIns="0" rtlCol="0"/>
            <a:lstStyle/>
            <a:p>
              <a:endParaRPr/>
            </a:p>
          </p:txBody>
        </p:sp>
        <p:sp>
          <p:nvSpPr>
            <p:cNvPr id="12" name="object 12"/>
            <p:cNvSpPr/>
            <p:nvPr/>
          </p:nvSpPr>
          <p:spPr>
            <a:xfrm>
              <a:off x="952377" y="1315256"/>
              <a:ext cx="30480" cy="38100"/>
            </a:xfrm>
            <a:custGeom>
              <a:avLst/>
              <a:gdLst/>
              <a:ahLst/>
              <a:cxnLst/>
              <a:rect l="l" t="t" r="r" b="b"/>
              <a:pathLst>
                <a:path w="30480" h="38100">
                  <a:moveTo>
                    <a:pt x="30056" y="0"/>
                  </a:moveTo>
                  <a:lnTo>
                    <a:pt x="20664" y="18785"/>
                  </a:lnTo>
                  <a:lnTo>
                    <a:pt x="0" y="15028"/>
                  </a:lnTo>
                  <a:lnTo>
                    <a:pt x="30056" y="37571"/>
                  </a:lnTo>
                  <a:lnTo>
                    <a:pt x="30056" y="0"/>
                  </a:lnTo>
                  <a:close/>
                </a:path>
              </a:pathLst>
            </a:custGeom>
            <a:solidFill>
              <a:srgbClr val="000000"/>
            </a:solidFill>
          </p:spPr>
          <p:txBody>
            <a:bodyPr wrap="square" lIns="0" tIns="0" rIns="0" bIns="0" rtlCol="0"/>
            <a:lstStyle/>
            <a:p>
              <a:endParaRPr/>
            </a:p>
          </p:txBody>
        </p:sp>
        <p:sp>
          <p:nvSpPr>
            <p:cNvPr id="13" name="object 13"/>
            <p:cNvSpPr/>
            <p:nvPr/>
          </p:nvSpPr>
          <p:spPr>
            <a:xfrm>
              <a:off x="833031" y="1054024"/>
              <a:ext cx="144780" cy="577850"/>
            </a:xfrm>
            <a:custGeom>
              <a:avLst/>
              <a:gdLst/>
              <a:ahLst/>
              <a:cxnLst/>
              <a:rect l="l" t="t" r="r" b="b"/>
              <a:pathLst>
                <a:path w="144780" h="577850">
                  <a:moveTo>
                    <a:pt x="0" y="0"/>
                  </a:moveTo>
                  <a:lnTo>
                    <a:pt x="2254" y="9019"/>
                  </a:lnTo>
                  <a:lnTo>
                    <a:pt x="18038" y="72153"/>
                  </a:lnTo>
                  <a:lnTo>
                    <a:pt x="60880" y="243519"/>
                  </a:lnTo>
                  <a:lnTo>
                    <a:pt x="144308" y="577231"/>
                  </a:lnTo>
                </a:path>
              </a:pathLst>
            </a:custGeom>
            <a:ln w="4200">
              <a:solidFill>
                <a:srgbClr val="000000"/>
              </a:solidFill>
            </a:ln>
          </p:spPr>
          <p:txBody>
            <a:bodyPr wrap="square" lIns="0" tIns="0" rIns="0" bIns="0" rtlCol="0"/>
            <a:lstStyle/>
            <a:p>
              <a:endParaRPr/>
            </a:p>
          </p:txBody>
        </p:sp>
        <p:sp>
          <p:nvSpPr>
            <p:cNvPr id="14" name="object 14"/>
            <p:cNvSpPr/>
            <p:nvPr/>
          </p:nvSpPr>
          <p:spPr>
            <a:xfrm>
              <a:off x="957983" y="1614955"/>
              <a:ext cx="33020" cy="36830"/>
            </a:xfrm>
            <a:custGeom>
              <a:avLst/>
              <a:gdLst/>
              <a:ahLst/>
              <a:cxnLst/>
              <a:rect l="l" t="t" r="r" b="b"/>
              <a:pathLst>
                <a:path w="33019" h="36830">
                  <a:moveTo>
                    <a:pt x="32601" y="0"/>
                  </a:moveTo>
                  <a:lnTo>
                    <a:pt x="19356" y="16300"/>
                  </a:lnTo>
                  <a:lnTo>
                    <a:pt x="0" y="8149"/>
                  </a:lnTo>
                  <a:lnTo>
                    <a:pt x="24450" y="36676"/>
                  </a:lnTo>
                  <a:lnTo>
                    <a:pt x="32601" y="0"/>
                  </a:lnTo>
                  <a:close/>
                </a:path>
              </a:pathLst>
            </a:custGeom>
            <a:solidFill>
              <a:srgbClr val="000000"/>
            </a:solidFill>
          </p:spPr>
          <p:txBody>
            <a:bodyPr wrap="square" lIns="0" tIns="0" rIns="0" bIns="0" rtlCol="0"/>
            <a:lstStyle/>
            <a:p>
              <a:endParaRPr/>
            </a:p>
          </p:txBody>
        </p:sp>
        <p:sp>
          <p:nvSpPr>
            <p:cNvPr id="15" name="object 15"/>
            <p:cNvSpPr/>
            <p:nvPr/>
          </p:nvSpPr>
          <p:spPr>
            <a:xfrm>
              <a:off x="803149" y="1667320"/>
              <a:ext cx="255270" cy="283210"/>
            </a:xfrm>
            <a:custGeom>
              <a:avLst/>
              <a:gdLst/>
              <a:ahLst/>
              <a:cxnLst/>
              <a:rect l="l" t="t" r="r" b="b"/>
              <a:pathLst>
                <a:path w="255269" h="283210">
                  <a:moveTo>
                    <a:pt x="0" y="283114"/>
                  </a:moveTo>
                  <a:lnTo>
                    <a:pt x="3981" y="278690"/>
                  </a:lnTo>
                  <a:lnTo>
                    <a:pt x="31850" y="247725"/>
                  </a:lnTo>
                  <a:lnTo>
                    <a:pt x="107494" y="163675"/>
                  </a:lnTo>
                  <a:lnTo>
                    <a:pt x="254801" y="0"/>
                  </a:lnTo>
                </a:path>
              </a:pathLst>
            </a:custGeom>
            <a:ln w="4200">
              <a:solidFill>
                <a:srgbClr val="000000"/>
              </a:solidFill>
            </a:ln>
          </p:spPr>
          <p:txBody>
            <a:bodyPr wrap="square" lIns="0" tIns="0" rIns="0" bIns="0" rtlCol="0"/>
            <a:lstStyle/>
            <a:p>
              <a:endParaRPr/>
            </a:p>
          </p:txBody>
        </p:sp>
        <p:sp>
          <p:nvSpPr>
            <p:cNvPr id="16" name="object 16"/>
            <p:cNvSpPr/>
            <p:nvPr/>
          </p:nvSpPr>
          <p:spPr>
            <a:xfrm>
              <a:off x="1036927" y="1651631"/>
              <a:ext cx="35560" cy="36830"/>
            </a:xfrm>
            <a:custGeom>
              <a:avLst/>
              <a:gdLst/>
              <a:ahLst/>
              <a:cxnLst/>
              <a:rect l="l" t="t" r="r" b="b"/>
              <a:pathLst>
                <a:path w="35559" h="36830">
                  <a:moveTo>
                    <a:pt x="0" y="13806"/>
                  </a:moveTo>
                  <a:lnTo>
                    <a:pt x="21023" y="15689"/>
                  </a:lnTo>
                  <a:lnTo>
                    <a:pt x="25102" y="36399"/>
                  </a:lnTo>
                  <a:lnTo>
                    <a:pt x="35143" y="0"/>
                  </a:lnTo>
                  <a:lnTo>
                    <a:pt x="0" y="13806"/>
                  </a:lnTo>
                  <a:close/>
                </a:path>
              </a:pathLst>
            </a:custGeom>
            <a:solidFill>
              <a:srgbClr val="000000"/>
            </a:solidFill>
          </p:spPr>
          <p:txBody>
            <a:bodyPr wrap="square" lIns="0" tIns="0" rIns="0" bIns="0" rtlCol="0"/>
            <a:lstStyle/>
            <a:p>
              <a:endParaRPr/>
            </a:p>
          </p:txBody>
        </p:sp>
        <p:sp>
          <p:nvSpPr>
            <p:cNvPr id="17" name="object 17"/>
            <p:cNvSpPr/>
            <p:nvPr/>
          </p:nvSpPr>
          <p:spPr>
            <a:xfrm>
              <a:off x="1923665" y="1651631"/>
              <a:ext cx="852169" cy="0"/>
            </a:xfrm>
            <a:custGeom>
              <a:avLst/>
              <a:gdLst/>
              <a:ahLst/>
              <a:cxnLst/>
              <a:rect l="l" t="t" r="r" b="b"/>
              <a:pathLst>
                <a:path w="852169">
                  <a:moveTo>
                    <a:pt x="0" y="0"/>
                  </a:moveTo>
                  <a:lnTo>
                    <a:pt x="851590" y="0"/>
                  </a:lnTo>
                </a:path>
              </a:pathLst>
            </a:custGeom>
            <a:ln w="8401">
              <a:solidFill>
                <a:srgbClr val="000000"/>
              </a:solidFill>
            </a:ln>
          </p:spPr>
          <p:txBody>
            <a:bodyPr wrap="square" lIns="0" tIns="0" rIns="0" bIns="0" rtlCol="0"/>
            <a:lstStyle/>
            <a:p>
              <a:endParaRPr/>
            </a:p>
          </p:txBody>
        </p:sp>
        <p:sp>
          <p:nvSpPr>
            <p:cNvPr id="18" name="object 18"/>
            <p:cNvSpPr/>
            <p:nvPr/>
          </p:nvSpPr>
          <p:spPr>
            <a:xfrm>
              <a:off x="2784707" y="1651631"/>
              <a:ext cx="633095" cy="0"/>
            </a:xfrm>
            <a:custGeom>
              <a:avLst/>
              <a:gdLst/>
              <a:ahLst/>
              <a:cxnLst/>
              <a:rect l="l" t="t" r="r" b="b"/>
              <a:pathLst>
                <a:path w="633095">
                  <a:moveTo>
                    <a:pt x="0" y="0"/>
                  </a:moveTo>
                  <a:lnTo>
                    <a:pt x="632976" y="0"/>
                  </a:lnTo>
                </a:path>
              </a:pathLst>
            </a:custGeom>
            <a:ln w="12602">
              <a:solidFill>
                <a:srgbClr val="000000"/>
              </a:solidFill>
            </a:ln>
          </p:spPr>
          <p:txBody>
            <a:bodyPr wrap="square" lIns="0" tIns="0" rIns="0" bIns="0" rtlCol="0"/>
            <a:lstStyle/>
            <a:p>
              <a:endParaRPr/>
            </a:p>
          </p:txBody>
        </p:sp>
        <p:sp>
          <p:nvSpPr>
            <p:cNvPr id="19" name="object 19"/>
            <p:cNvSpPr/>
            <p:nvPr/>
          </p:nvSpPr>
          <p:spPr>
            <a:xfrm>
              <a:off x="2781557" y="1611725"/>
              <a:ext cx="0" cy="80010"/>
            </a:xfrm>
            <a:custGeom>
              <a:avLst/>
              <a:gdLst/>
              <a:ahLst/>
              <a:cxnLst/>
              <a:rect l="l" t="t" r="r" b="b"/>
              <a:pathLst>
                <a:path h="80010">
                  <a:moveTo>
                    <a:pt x="0" y="0"/>
                  </a:moveTo>
                  <a:lnTo>
                    <a:pt x="0" y="79812"/>
                  </a:lnTo>
                </a:path>
              </a:pathLst>
            </a:custGeom>
            <a:ln w="12602">
              <a:solidFill>
                <a:srgbClr val="000000"/>
              </a:solidFill>
            </a:ln>
          </p:spPr>
          <p:txBody>
            <a:bodyPr wrap="square" lIns="0" tIns="0" rIns="0" bIns="0" rtlCol="0"/>
            <a:lstStyle/>
            <a:p>
              <a:endParaRPr/>
            </a:p>
          </p:txBody>
        </p:sp>
        <p:sp>
          <p:nvSpPr>
            <p:cNvPr id="20" name="object 20"/>
            <p:cNvSpPr/>
            <p:nvPr/>
          </p:nvSpPr>
          <p:spPr>
            <a:xfrm>
              <a:off x="2476452" y="1352827"/>
              <a:ext cx="299085" cy="299085"/>
            </a:xfrm>
            <a:custGeom>
              <a:avLst/>
              <a:gdLst/>
              <a:ahLst/>
              <a:cxnLst/>
              <a:rect l="l" t="t" r="r" b="b"/>
              <a:pathLst>
                <a:path w="299085" h="299085">
                  <a:moveTo>
                    <a:pt x="0" y="0"/>
                  </a:moveTo>
                  <a:lnTo>
                    <a:pt x="298803" y="298803"/>
                  </a:lnTo>
                </a:path>
              </a:pathLst>
            </a:custGeom>
            <a:ln w="4200">
              <a:solidFill>
                <a:srgbClr val="999999"/>
              </a:solidFill>
              <a:prstDash val="dash"/>
            </a:ln>
          </p:spPr>
          <p:txBody>
            <a:bodyPr wrap="square" lIns="0" tIns="0" rIns="0" bIns="0" rtlCol="0"/>
            <a:lstStyle/>
            <a:p>
              <a:endParaRPr/>
            </a:p>
          </p:txBody>
        </p:sp>
        <p:sp>
          <p:nvSpPr>
            <p:cNvPr id="21" name="object 21"/>
            <p:cNvSpPr/>
            <p:nvPr/>
          </p:nvSpPr>
          <p:spPr>
            <a:xfrm>
              <a:off x="1923665" y="1352827"/>
              <a:ext cx="525780" cy="0"/>
            </a:xfrm>
            <a:custGeom>
              <a:avLst/>
              <a:gdLst/>
              <a:ahLst/>
              <a:cxnLst/>
              <a:rect l="l" t="t" r="r" b="b"/>
              <a:pathLst>
                <a:path w="525780">
                  <a:moveTo>
                    <a:pt x="0" y="0"/>
                  </a:moveTo>
                  <a:lnTo>
                    <a:pt x="525482" y="0"/>
                  </a:lnTo>
                </a:path>
              </a:pathLst>
            </a:custGeom>
            <a:ln w="8401">
              <a:solidFill>
                <a:srgbClr val="000000"/>
              </a:solidFill>
            </a:ln>
          </p:spPr>
          <p:txBody>
            <a:bodyPr wrap="square" lIns="0" tIns="0" rIns="0" bIns="0" rtlCol="0"/>
            <a:lstStyle/>
            <a:p>
              <a:endParaRPr/>
            </a:p>
          </p:txBody>
        </p:sp>
        <p:sp>
          <p:nvSpPr>
            <p:cNvPr id="22" name="object 22"/>
            <p:cNvSpPr/>
            <p:nvPr/>
          </p:nvSpPr>
          <p:spPr>
            <a:xfrm>
              <a:off x="2432766" y="1330984"/>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23" name="object 23"/>
            <p:cNvSpPr/>
            <p:nvPr/>
          </p:nvSpPr>
          <p:spPr>
            <a:xfrm>
              <a:off x="2349331" y="1244162"/>
              <a:ext cx="233679" cy="201930"/>
            </a:xfrm>
            <a:custGeom>
              <a:avLst/>
              <a:gdLst/>
              <a:ahLst/>
              <a:cxnLst/>
              <a:rect l="l" t="t" r="r" b="b"/>
              <a:pathLst>
                <a:path w="233680" h="201930">
                  <a:moveTo>
                    <a:pt x="127120" y="0"/>
                  </a:moveTo>
                  <a:lnTo>
                    <a:pt x="111883" y="66801"/>
                  </a:lnTo>
                  <a:lnTo>
                    <a:pt x="71857" y="42806"/>
                  </a:lnTo>
                  <a:lnTo>
                    <a:pt x="88538" y="86390"/>
                  </a:lnTo>
                  <a:lnTo>
                    <a:pt x="0" y="86251"/>
                  </a:lnTo>
                  <a:lnTo>
                    <a:pt x="83246" y="116401"/>
                  </a:lnTo>
                  <a:lnTo>
                    <a:pt x="44194" y="156542"/>
                  </a:lnTo>
                  <a:lnTo>
                    <a:pt x="98484"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24" name="object 24"/>
            <p:cNvSpPr/>
            <p:nvPr/>
          </p:nvSpPr>
          <p:spPr>
            <a:xfrm>
              <a:off x="2349331" y="1244162"/>
              <a:ext cx="233679" cy="201930"/>
            </a:xfrm>
            <a:custGeom>
              <a:avLst/>
              <a:gdLst/>
              <a:ahLst/>
              <a:cxnLst/>
              <a:rect l="l" t="t" r="r" b="b"/>
              <a:pathLst>
                <a:path w="233680" h="201930">
                  <a:moveTo>
                    <a:pt x="127120" y="0"/>
                  </a:moveTo>
                  <a:lnTo>
                    <a:pt x="111883" y="66801"/>
                  </a:lnTo>
                  <a:lnTo>
                    <a:pt x="71857" y="42806"/>
                  </a:lnTo>
                  <a:lnTo>
                    <a:pt x="88538" y="86390"/>
                  </a:lnTo>
                  <a:lnTo>
                    <a:pt x="0" y="86251"/>
                  </a:lnTo>
                  <a:lnTo>
                    <a:pt x="83246" y="116401"/>
                  </a:lnTo>
                  <a:lnTo>
                    <a:pt x="44194" y="156542"/>
                  </a:lnTo>
                  <a:lnTo>
                    <a:pt x="98484"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25" name="object 25"/>
            <p:cNvSpPr/>
            <p:nvPr/>
          </p:nvSpPr>
          <p:spPr>
            <a:xfrm>
              <a:off x="3507326" y="1651631"/>
              <a:ext cx="549275" cy="0"/>
            </a:xfrm>
            <a:custGeom>
              <a:avLst/>
              <a:gdLst/>
              <a:ahLst/>
              <a:cxnLst/>
              <a:rect l="l" t="t" r="r" b="b"/>
              <a:pathLst>
                <a:path w="549275">
                  <a:moveTo>
                    <a:pt x="0" y="0"/>
                  </a:moveTo>
                  <a:lnTo>
                    <a:pt x="549058" y="0"/>
                  </a:lnTo>
                </a:path>
              </a:pathLst>
            </a:custGeom>
            <a:ln w="12602">
              <a:solidFill>
                <a:srgbClr val="000000"/>
              </a:solidFill>
            </a:ln>
          </p:spPr>
          <p:txBody>
            <a:bodyPr wrap="square" lIns="0" tIns="0" rIns="0" bIns="0" rtlCol="0"/>
            <a:lstStyle/>
            <a:p>
              <a:endParaRPr/>
            </a:p>
          </p:txBody>
        </p:sp>
        <p:sp>
          <p:nvSpPr>
            <p:cNvPr id="26" name="object 26"/>
            <p:cNvSpPr/>
            <p:nvPr/>
          </p:nvSpPr>
          <p:spPr>
            <a:xfrm>
              <a:off x="4036221" y="1624747"/>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7" name="object 27"/>
          <p:cNvSpPr txBox="1"/>
          <p:nvPr/>
        </p:nvSpPr>
        <p:spPr>
          <a:xfrm>
            <a:off x="505967" y="1867452"/>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28" name="object 28"/>
          <p:cNvSpPr txBox="1"/>
          <p:nvPr/>
        </p:nvSpPr>
        <p:spPr>
          <a:xfrm>
            <a:off x="505967" y="970497"/>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sp>
        <p:nvSpPr>
          <p:cNvPr id="29" name="object 29"/>
          <p:cNvSpPr txBox="1"/>
          <p:nvPr/>
        </p:nvSpPr>
        <p:spPr>
          <a:xfrm>
            <a:off x="711927" y="885151"/>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30" name="object 30"/>
          <p:cNvGrpSpPr/>
          <p:nvPr/>
        </p:nvGrpSpPr>
        <p:grpSpPr>
          <a:xfrm>
            <a:off x="800927" y="1317003"/>
            <a:ext cx="1125220" cy="636270"/>
            <a:chOff x="800927" y="1317003"/>
            <a:chExt cx="1125220" cy="636270"/>
          </a:xfrm>
        </p:grpSpPr>
        <p:sp>
          <p:nvSpPr>
            <p:cNvPr id="31" name="object 31"/>
            <p:cNvSpPr/>
            <p:nvPr/>
          </p:nvSpPr>
          <p:spPr>
            <a:xfrm>
              <a:off x="803149" y="1373746"/>
              <a:ext cx="57785" cy="577215"/>
            </a:xfrm>
            <a:custGeom>
              <a:avLst/>
              <a:gdLst/>
              <a:ahLst/>
              <a:cxnLst/>
              <a:rect l="l" t="t" r="r" b="b"/>
              <a:pathLst>
                <a:path w="57784" h="577214">
                  <a:moveTo>
                    <a:pt x="0" y="576688"/>
                  </a:moveTo>
                  <a:lnTo>
                    <a:pt x="901" y="567678"/>
                  </a:lnTo>
                  <a:lnTo>
                    <a:pt x="7208" y="504602"/>
                  </a:lnTo>
                  <a:lnTo>
                    <a:pt x="24328" y="333398"/>
                  </a:lnTo>
                  <a:lnTo>
                    <a:pt x="57668" y="0"/>
                  </a:lnTo>
                </a:path>
              </a:pathLst>
            </a:custGeom>
            <a:ln w="4200">
              <a:solidFill>
                <a:srgbClr val="000000"/>
              </a:solidFill>
            </a:ln>
          </p:spPr>
          <p:txBody>
            <a:bodyPr wrap="square" lIns="0" tIns="0" rIns="0" bIns="0" rtlCol="0"/>
            <a:lstStyle/>
            <a:p>
              <a:endParaRPr/>
            </a:p>
          </p:txBody>
        </p:sp>
        <p:sp>
          <p:nvSpPr>
            <p:cNvPr id="32" name="object 32"/>
            <p:cNvSpPr/>
            <p:nvPr/>
          </p:nvSpPr>
          <p:spPr>
            <a:xfrm>
              <a:off x="842828" y="1352828"/>
              <a:ext cx="33655" cy="35560"/>
            </a:xfrm>
            <a:custGeom>
              <a:avLst/>
              <a:gdLst/>
              <a:ahLst/>
              <a:cxnLst/>
              <a:rect l="l" t="t" r="r" b="b"/>
              <a:pathLst>
                <a:path w="33655"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3" name="object 33"/>
            <p:cNvSpPr/>
            <p:nvPr/>
          </p:nvSpPr>
          <p:spPr>
            <a:xfrm>
              <a:off x="1281237" y="1352828"/>
              <a:ext cx="83820" cy="278765"/>
            </a:xfrm>
            <a:custGeom>
              <a:avLst/>
              <a:gdLst/>
              <a:ahLst/>
              <a:cxnLst/>
              <a:rect l="l" t="t" r="r" b="b"/>
              <a:pathLst>
                <a:path w="83819" h="278764">
                  <a:moveTo>
                    <a:pt x="0" y="0"/>
                  </a:moveTo>
                  <a:lnTo>
                    <a:pt x="1306" y="4353"/>
                  </a:lnTo>
                  <a:lnTo>
                    <a:pt x="10448" y="34828"/>
                  </a:lnTo>
                  <a:lnTo>
                    <a:pt x="35264" y="117547"/>
                  </a:lnTo>
                  <a:lnTo>
                    <a:pt x="83590" y="278631"/>
                  </a:lnTo>
                </a:path>
              </a:pathLst>
            </a:custGeom>
            <a:ln w="4200">
              <a:solidFill>
                <a:srgbClr val="000000"/>
              </a:solidFill>
            </a:ln>
          </p:spPr>
          <p:txBody>
            <a:bodyPr wrap="square" lIns="0" tIns="0" rIns="0" bIns="0" rtlCol="0"/>
            <a:lstStyle/>
            <a:p>
              <a:endParaRPr/>
            </a:p>
          </p:txBody>
        </p:sp>
        <p:sp>
          <p:nvSpPr>
            <p:cNvPr id="34" name="object 34"/>
            <p:cNvSpPr/>
            <p:nvPr/>
          </p:nvSpPr>
          <p:spPr>
            <a:xfrm>
              <a:off x="1345060" y="1614515"/>
              <a:ext cx="32384" cy="37465"/>
            </a:xfrm>
            <a:custGeom>
              <a:avLst/>
              <a:gdLst/>
              <a:ahLst/>
              <a:cxnLst/>
              <a:rect l="l" t="t" r="r" b="b"/>
              <a:pathLst>
                <a:path w="32384"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sp>
          <p:nvSpPr>
            <p:cNvPr id="35" name="object 35"/>
            <p:cNvSpPr/>
            <p:nvPr/>
          </p:nvSpPr>
          <p:spPr>
            <a:xfrm>
              <a:off x="1580041" y="1372999"/>
              <a:ext cx="83820" cy="278765"/>
            </a:xfrm>
            <a:custGeom>
              <a:avLst/>
              <a:gdLst/>
              <a:ahLst/>
              <a:cxnLst/>
              <a:rect l="l" t="t" r="r" b="b"/>
              <a:pathLst>
                <a:path w="83819" h="278764">
                  <a:moveTo>
                    <a:pt x="0" y="278631"/>
                  </a:moveTo>
                  <a:lnTo>
                    <a:pt x="1306" y="274278"/>
                  </a:lnTo>
                  <a:lnTo>
                    <a:pt x="10448" y="243802"/>
                  </a:lnTo>
                  <a:lnTo>
                    <a:pt x="35264" y="161084"/>
                  </a:lnTo>
                  <a:lnTo>
                    <a:pt x="83590" y="0"/>
                  </a:lnTo>
                </a:path>
              </a:pathLst>
            </a:custGeom>
            <a:ln w="4200">
              <a:solidFill>
                <a:srgbClr val="000000"/>
              </a:solidFill>
            </a:ln>
          </p:spPr>
          <p:txBody>
            <a:bodyPr wrap="square" lIns="0" tIns="0" rIns="0" bIns="0" rtlCol="0"/>
            <a:lstStyle/>
            <a:p>
              <a:endParaRPr/>
            </a:p>
          </p:txBody>
        </p:sp>
        <p:sp>
          <p:nvSpPr>
            <p:cNvPr id="36" name="object 36"/>
            <p:cNvSpPr/>
            <p:nvPr/>
          </p:nvSpPr>
          <p:spPr>
            <a:xfrm>
              <a:off x="1643864" y="1352827"/>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37" name="object 37"/>
            <p:cNvSpPr/>
            <p:nvPr/>
          </p:nvSpPr>
          <p:spPr>
            <a:xfrm>
              <a:off x="1834024" y="1319225"/>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38" name="object 38"/>
            <p:cNvSpPr/>
            <p:nvPr/>
          </p:nvSpPr>
          <p:spPr>
            <a:xfrm>
              <a:off x="1834024" y="1319225"/>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39" name="object 39"/>
          <p:cNvSpPr txBox="1"/>
          <p:nvPr/>
        </p:nvSpPr>
        <p:spPr>
          <a:xfrm>
            <a:off x="476932" y="1183956"/>
            <a:ext cx="1499235" cy="523875"/>
          </a:xfrm>
          <a:prstGeom prst="rect">
            <a:avLst/>
          </a:prstGeom>
        </p:spPr>
        <p:txBody>
          <a:bodyPr vert="horz" wrap="square" lIns="0" tIns="15875" rIns="0" bIns="0" rtlCol="0">
            <a:spAutoFit/>
          </a:bodyPr>
          <a:lstStyle/>
          <a:p>
            <a:pPr marL="571500">
              <a:lnSpc>
                <a:spcPts val="77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a:p>
            <a:pPr marL="76200">
              <a:lnSpc>
                <a:spcPts val="725"/>
              </a:lnSpc>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a:p>
            <a:pPr marR="55880" algn="r">
              <a:lnSpc>
                <a:spcPts val="735"/>
              </a:lnSpc>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a:p>
            <a:pPr marL="76200">
              <a:lnSpc>
                <a:spcPct val="100000"/>
              </a:lnSpc>
              <a:spcBef>
                <a:spcPts val="770"/>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grpSp>
        <p:nvGrpSpPr>
          <p:cNvPr id="40" name="object 40"/>
          <p:cNvGrpSpPr/>
          <p:nvPr/>
        </p:nvGrpSpPr>
        <p:grpSpPr>
          <a:xfrm>
            <a:off x="1831801" y="1615807"/>
            <a:ext cx="94615" cy="71755"/>
            <a:chOff x="1831801" y="1615807"/>
            <a:chExt cx="94615" cy="71755"/>
          </a:xfrm>
        </p:grpSpPr>
        <p:sp>
          <p:nvSpPr>
            <p:cNvPr id="41" name="object 41"/>
            <p:cNvSpPr/>
            <p:nvPr/>
          </p:nvSpPr>
          <p:spPr>
            <a:xfrm>
              <a:off x="1834024" y="1618029"/>
              <a:ext cx="90170" cy="67310"/>
            </a:xfrm>
            <a:custGeom>
              <a:avLst/>
              <a:gdLst/>
              <a:ahLst/>
              <a:cxnLst/>
              <a:rect l="l" t="t" r="r" b="b"/>
              <a:pathLst>
                <a:path w="90169"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42" name="object 42"/>
            <p:cNvSpPr/>
            <p:nvPr/>
          </p:nvSpPr>
          <p:spPr>
            <a:xfrm>
              <a:off x="1834024" y="1618029"/>
              <a:ext cx="90170" cy="67310"/>
            </a:xfrm>
            <a:custGeom>
              <a:avLst/>
              <a:gdLst/>
              <a:ahLst/>
              <a:cxnLst/>
              <a:rect l="l" t="t" r="r" b="b"/>
              <a:pathLst>
                <a:path w="90169"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43" name="object 43"/>
          <p:cNvSpPr txBox="1"/>
          <p:nvPr/>
        </p:nvSpPr>
        <p:spPr>
          <a:xfrm>
            <a:off x="1352567" y="1659672"/>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1</a:t>
            </a:r>
            <a:endParaRPr sz="750" baseline="5555">
              <a:latin typeface="Times New Roman"/>
              <a:cs typeface="Times New Roman"/>
            </a:endParaRPr>
          </a:p>
        </p:txBody>
      </p:sp>
      <p:grpSp>
        <p:nvGrpSpPr>
          <p:cNvPr id="44" name="object 44"/>
          <p:cNvGrpSpPr/>
          <p:nvPr/>
        </p:nvGrpSpPr>
        <p:grpSpPr>
          <a:xfrm>
            <a:off x="1996142" y="1054024"/>
            <a:ext cx="397510" cy="600075"/>
            <a:chOff x="1996142" y="1054024"/>
            <a:chExt cx="397510" cy="600075"/>
          </a:xfrm>
        </p:grpSpPr>
        <p:sp>
          <p:nvSpPr>
            <p:cNvPr id="45" name="object 45"/>
            <p:cNvSpPr/>
            <p:nvPr/>
          </p:nvSpPr>
          <p:spPr>
            <a:xfrm>
              <a:off x="1998364" y="1074196"/>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46" name="object 46"/>
            <p:cNvSpPr/>
            <p:nvPr/>
          </p:nvSpPr>
          <p:spPr>
            <a:xfrm>
              <a:off x="2151829" y="1054024"/>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47" name="object 47"/>
            <p:cNvSpPr/>
            <p:nvPr/>
          </p:nvSpPr>
          <p:spPr>
            <a:xfrm>
              <a:off x="2297168" y="1074196"/>
              <a:ext cx="83820" cy="278765"/>
            </a:xfrm>
            <a:custGeom>
              <a:avLst/>
              <a:gdLst/>
              <a:ahLst/>
              <a:cxnLst/>
              <a:rect l="l" t="t" r="r" b="b"/>
              <a:pathLst>
                <a:path w="83819" h="278765">
                  <a:moveTo>
                    <a:pt x="0" y="278631"/>
                  </a:moveTo>
                  <a:lnTo>
                    <a:pt x="1306" y="274278"/>
                  </a:lnTo>
                  <a:lnTo>
                    <a:pt x="10448" y="243802"/>
                  </a:lnTo>
                  <a:lnTo>
                    <a:pt x="35264" y="161084"/>
                  </a:lnTo>
                  <a:lnTo>
                    <a:pt x="83590" y="0"/>
                  </a:lnTo>
                </a:path>
              </a:pathLst>
            </a:custGeom>
            <a:ln w="4200">
              <a:solidFill>
                <a:srgbClr val="000000"/>
              </a:solidFill>
            </a:ln>
          </p:spPr>
          <p:txBody>
            <a:bodyPr wrap="square" lIns="0" tIns="0" rIns="0" bIns="0" rtlCol="0"/>
            <a:lstStyle/>
            <a:p>
              <a:endParaRPr/>
            </a:p>
          </p:txBody>
        </p:sp>
        <p:sp>
          <p:nvSpPr>
            <p:cNvPr id="48" name="object 48"/>
            <p:cNvSpPr/>
            <p:nvPr/>
          </p:nvSpPr>
          <p:spPr>
            <a:xfrm>
              <a:off x="2360991" y="1054024"/>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49" name="object 49"/>
          <p:cNvSpPr txBox="1"/>
          <p:nvPr/>
        </p:nvSpPr>
        <p:spPr>
          <a:xfrm>
            <a:off x="2171947" y="868013"/>
            <a:ext cx="271780" cy="113664"/>
          </a:xfrm>
          <a:prstGeom prst="rect">
            <a:avLst/>
          </a:prstGeom>
        </p:spPr>
        <p:txBody>
          <a:bodyPr vert="horz" wrap="square" lIns="0" tIns="15875" rIns="0" bIns="0" rtlCol="0">
            <a:spAutoFit/>
          </a:bodyPr>
          <a:lstStyle/>
          <a:p>
            <a:pPr marL="12700">
              <a:lnSpc>
                <a:spcPct val="100000"/>
              </a:lnSpc>
              <a:spcBef>
                <a:spcPts val="125"/>
              </a:spcBef>
              <a:tabLst>
                <a:tab pos="221615" algn="l"/>
              </a:tabLst>
            </a:pPr>
            <a:r>
              <a:rPr sz="550" spc="10" dirty="0">
                <a:latin typeface="Times New Roman"/>
                <a:cs typeface="Times New Roman"/>
              </a:rPr>
              <a:t>1	1</a:t>
            </a:r>
            <a:endParaRPr sz="550">
              <a:latin typeface="Times New Roman"/>
              <a:cs typeface="Times New Roman"/>
            </a:endParaRPr>
          </a:p>
        </p:txBody>
      </p:sp>
      <p:sp>
        <p:nvSpPr>
          <p:cNvPr id="50" name="object 50"/>
          <p:cNvSpPr txBox="1"/>
          <p:nvPr/>
        </p:nvSpPr>
        <p:spPr>
          <a:xfrm>
            <a:off x="2164389" y="933789"/>
            <a:ext cx="271780" cy="113664"/>
          </a:xfrm>
          <a:prstGeom prst="rect">
            <a:avLst/>
          </a:prstGeom>
        </p:spPr>
        <p:txBody>
          <a:bodyPr vert="horz" wrap="square" lIns="0" tIns="15875" rIns="0" bIns="0" rtlCol="0">
            <a:spAutoFit/>
          </a:bodyPr>
          <a:lstStyle/>
          <a:p>
            <a:pPr marL="12700">
              <a:lnSpc>
                <a:spcPct val="100000"/>
              </a:lnSpc>
              <a:spcBef>
                <a:spcPts val="125"/>
              </a:spcBef>
              <a:tabLst>
                <a:tab pos="221615" algn="l"/>
              </a:tabLst>
            </a:pPr>
            <a:r>
              <a:rPr sz="550" spc="10" dirty="0">
                <a:latin typeface="Times New Roman"/>
                <a:cs typeface="Times New Roman"/>
              </a:rPr>
              <a:t>2	1</a:t>
            </a:r>
            <a:endParaRPr sz="550">
              <a:latin typeface="Times New Roman"/>
              <a:cs typeface="Times New Roman"/>
            </a:endParaRPr>
          </a:p>
        </p:txBody>
      </p:sp>
      <p:sp>
        <p:nvSpPr>
          <p:cNvPr id="51" name="object 51"/>
          <p:cNvSpPr txBox="1"/>
          <p:nvPr/>
        </p:nvSpPr>
        <p:spPr>
          <a:xfrm>
            <a:off x="2076540" y="877350"/>
            <a:ext cx="411480"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110" dirty="0">
                <a:latin typeface="Arial"/>
                <a:cs typeface="Arial"/>
              </a:rPr>
              <a:t> </a:t>
            </a:r>
            <a:r>
              <a:rPr sz="750" i="1" spc="-30" dirty="0">
                <a:latin typeface="メイリオ"/>
                <a:cs typeface="メイリオ"/>
              </a:rPr>
              <a:t>)</a:t>
            </a:r>
            <a:r>
              <a:rPr sz="750" i="1" spc="-25" dirty="0">
                <a:latin typeface="メイリオ"/>
                <a:cs typeface="メイリオ"/>
              </a:rPr>
              <a:t> (</a:t>
            </a:r>
            <a:r>
              <a:rPr sz="750" i="1" spc="-25" dirty="0">
                <a:latin typeface="Arial"/>
                <a:cs typeface="Arial"/>
              </a:rPr>
              <a:t>σ</a:t>
            </a:r>
            <a:r>
              <a:rPr sz="750" i="1" spc="114"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52" name="object 52"/>
          <p:cNvGrpSpPr/>
          <p:nvPr/>
        </p:nvGrpSpPr>
        <p:grpSpPr>
          <a:xfrm>
            <a:off x="3161479" y="1430850"/>
            <a:ext cx="348615" cy="257175"/>
            <a:chOff x="3161479" y="1430850"/>
            <a:chExt cx="348615" cy="257175"/>
          </a:xfrm>
        </p:grpSpPr>
        <p:sp>
          <p:nvSpPr>
            <p:cNvPr id="53" name="object 53"/>
            <p:cNvSpPr/>
            <p:nvPr/>
          </p:nvSpPr>
          <p:spPr>
            <a:xfrm>
              <a:off x="3163701" y="1441947"/>
              <a:ext cx="63500" cy="210185"/>
            </a:xfrm>
            <a:custGeom>
              <a:avLst/>
              <a:gdLst/>
              <a:ahLst/>
              <a:cxnLst/>
              <a:rect l="l" t="t" r="r" b="b"/>
              <a:pathLst>
                <a:path w="63500" h="210185">
                  <a:moveTo>
                    <a:pt x="0" y="209684"/>
                  </a:moveTo>
                  <a:lnTo>
                    <a:pt x="982" y="206407"/>
                  </a:lnTo>
                  <a:lnTo>
                    <a:pt x="7863" y="183473"/>
                  </a:lnTo>
                  <a:lnTo>
                    <a:pt x="26539" y="121223"/>
                  </a:lnTo>
                  <a:lnTo>
                    <a:pt x="62908" y="0"/>
                  </a:lnTo>
                </a:path>
              </a:pathLst>
            </a:custGeom>
            <a:ln w="4200">
              <a:solidFill>
                <a:srgbClr val="000000"/>
              </a:solidFill>
            </a:ln>
          </p:spPr>
          <p:txBody>
            <a:bodyPr wrap="square" lIns="0" tIns="0" rIns="0" bIns="0" rtlCol="0"/>
            <a:lstStyle/>
            <a:p>
              <a:endParaRPr/>
            </a:p>
          </p:txBody>
        </p:sp>
        <p:sp>
          <p:nvSpPr>
            <p:cNvPr id="54" name="object 54"/>
            <p:cNvSpPr/>
            <p:nvPr/>
          </p:nvSpPr>
          <p:spPr>
            <a:xfrm>
              <a:off x="3200688" y="1433072"/>
              <a:ext cx="52705" cy="15875"/>
            </a:xfrm>
            <a:custGeom>
              <a:avLst/>
              <a:gdLst/>
              <a:ahLst/>
              <a:cxnLst/>
              <a:rect l="l" t="t" r="r" b="b"/>
              <a:pathLst>
                <a:path w="52704" h="15875">
                  <a:moveTo>
                    <a:pt x="52447" y="15732"/>
                  </a:moveTo>
                  <a:lnTo>
                    <a:pt x="0" y="0"/>
                  </a:lnTo>
                </a:path>
              </a:pathLst>
            </a:custGeom>
            <a:ln w="4211">
              <a:solidFill>
                <a:srgbClr val="000000"/>
              </a:solidFill>
            </a:ln>
          </p:spPr>
          <p:txBody>
            <a:bodyPr wrap="square" lIns="0" tIns="0" rIns="0" bIns="0" rtlCol="0"/>
            <a:lstStyle/>
            <a:p>
              <a:endParaRPr/>
            </a:p>
          </p:txBody>
        </p:sp>
        <p:sp>
          <p:nvSpPr>
            <p:cNvPr id="55" name="object 55"/>
            <p:cNvSpPr/>
            <p:nvPr/>
          </p:nvSpPr>
          <p:spPr>
            <a:xfrm>
              <a:off x="3417684" y="1618029"/>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6" name="object 56"/>
            <p:cNvSpPr/>
            <p:nvPr/>
          </p:nvSpPr>
          <p:spPr>
            <a:xfrm>
              <a:off x="3417684" y="1618029"/>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57" name="object 57"/>
          <p:cNvSpPr txBox="1"/>
          <p:nvPr/>
        </p:nvSpPr>
        <p:spPr>
          <a:xfrm>
            <a:off x="2655403" y="1649238"/>
            <a:ext cx="878840" cy="153035"/>
          </a:xfrm>
          <a:prstGeom prst="rect">
            <a:avLst/>
          </a:prstGeom>
        </p:spPr>
        <p:txBody>
          <a:bodyPr vert="horz" wrap="square" lIns="0" tIns="15875" rIns="0" bIns="0" rtlCol="0">
            <a:spAutoFit/>
          </a:bodyPr>
          <a:lstStyle/>
          <a:p>
            <a:pPr marL="38100">
              <a:lnSpc>
                <a:spcPts val="365"/>
              </a:lnSpc>
              <a:spcBef>
                <a:spcPts val="125"/>
              </a:spcBef>
              <a:tabLst>
                <a:tab pos="572770" algn="l"/>
              </a:tabLst>
            </a:pPr>
            <a:r>
              <a:rPr sz="600" spc="7" baseline="6944" dirty="0">
                <a:latin typeface="Arial"/>
                <a:cs typeface="Arial"/>
              </a:rPr>
              <a:t>Leader	</a:t>
            </a:r>
            <a:r>
              <a:rPr sz="550" spc="10" dirty="0">
                <a:latin typeface="Times New Roman"/>
                <a:cs typeface="Times New Roman"/>
              </a:rPr>
              <a:t>2</a:t>
            </a:r>
            <a:endParaRPr sz="550">
              <a:latin typeface="Times New Roman"/>
              <a:cs typeface="Times New Roman"/>
            </a:endParaRPr>
          </a:p>
          <a:p>
            <a:pPr marL="274955">
              <a:lnSpc>
                <a:spcPts val="605"/>
              </a:lnSpc>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45" dirty="0">
                <a:latin typeface="Times New Roman"/>
                <a:cs typeface="Times New Roman"/>
              </a:rPr>
              <a:t>o</a:t>
            </a:r>
            <a:r>
              <a:rPr sz="750" i="1" dirty="0">
                <a:latin typeface="Times New Roman"/>
                <a:cs typeface="Times New Roman"/>
              </a:rPr>
              <a:t> </a:t>
            </a:r>
            <a:r>
              <a:rPr sz="750" i="1" spc="-30" dirty="0">
                <a:latin typeface="Times New Roman"/>
                <a:cs typeface="Times New Roman"/>
              </a:rPr>
              <a:t> </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2</a:t>
            </a:r>
            <a:r>
              <a:rPr sz="750" i="1" spc="-30"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58" name="object 58"/>
          <p:cNvGrpSpPr/>
          <p:nvPr/>
        </p:nvGrpSpPr>
        <p:grpSpPr>
          <a:xfrm>
            <a:off x="3669567" y="1649531"/>
            <a:ext cx="98425" cy="300990"/>
            <a:chOff x="3669567" y="1649531"/>
            <a:chExt cx="98425" cy="300990"/>
          </a:xfrm>
        </p:grpSpPr>
        <p:sp>
          <p:nvSpPr>
            <p:cNvPr id="59" name="object 59"/>
            <p:cNvSpPr/>
            <p:nvPr/>
          </p:nvSpPr>
          <p:spPr>
            <a:xfrm>
              <a:off x="3671667" y="1651631"/>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60" name="object 60"/>
            <p:cNvSpPr/>
            <p:nvPr/>
          </p:nvSpPr>
          <p:spPr>
            <a:xfrm>
              <a:off x="3735490" y="1913319"/>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61" name="object 61"/>
          <p:cNvSpPr txBox="1"/>
          <p:nvPr/>
        </p:nvSpPr>
        <p:spPr>
          <a:xfrm>
            <a:off x="3737212" y="1949140"/>
            <a:ext cx="9906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12</a:t>
            </a:r>
            <a:endParaRPr sz="550">
              <a:latin typeface="Times New Roman"/>
              <a:cs typeface="Times New Roman"/>
            </a:endParaRPr>
          </a:p>
        </p:txBody>
      </p:sp>
      <p:sp>
        <p:nvSpPr>
          <p:cNvPr id="65" name="object 65"/>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66" name="object 6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22</a:t>
            </a:r>
            <a:r>
              <a:rPr spc="-40" dirty="0"/>
              <a:t> </a:t>
            </a:r>
            <a:r>
              <a:rPr spc="-5" dirty="0"/>
              <a:t>/</a:t>
            </a:r>
            <a:r>
              <a:rPr spc="-35" dirty="0"/>
              <a:t> </a:t>
            </a:r>
            <a:r>
              <a:rPr spc="-5" dirty="0"/>
              <a:t>68</a:t>
            </a:r>
          </a:p>
        </p:txBody>
      </p:sp>
      <p:sp>
        <p:nvSpPr>
          <p:cNvPr id="62" name="object 62"/>
          <p:cNvSpPr txBox="1"/>
          <p:nvPr/>
        </p:nvSpPr>
        <p:spPr>
          <a:xfrm>
            <a:off x="3729654" y="201491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63" name="object 63"/>
          <p:cNvSpPr txBox="1"/>
          <p:nvPr/>
        </p:nvSpPr>
        <p:spPr>
          <a:xfrm>
            <a:off x="3641805" y="1958477"/>
            <a:ext cx="23939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350" dirty="0">
                <a:latin typeface="Arial"/>
                <a:cs typeface="Arial"/>
              </a:rPr>
              <a:t> </a:t>
            </a:r>
            <a:r>
              <a:rPr sz="750" i="1" spc="-30" dirty="0">
                <a:latin typeface="メイリオ"/>
                <a:cs typeface="メイリオ"/>
              </a:rPr>
              <a:t>)</a:t>
            </a:r>
            <a:endParaRPr sz="750">
              <a:latin typeface="メイリオ"/>
              <a:cs typeface="メイリオ"/>
            </a:endParaRPr>
          </a:p>
        </p:txBody>
      </p:sp>
      <p:sp>
        <p:nvSpPr>
          <p:cNvPr id="64" name="object 64"/>
          <p:cNvSpPr txBox="1"/>
          <p:nvPr/>
        </p:nvSpPr>
        <p:spPr>
          <a:xfrm>
            <a:off x="347294" y="2196284"/>
            <a:ext cx="3912235" cy="354965"/>
          </a:xfrm>
          <a:prstGeom prst="rect">
            <a:avLst/>
          </a:prstGeom>
        </p:spPr>
        <p:txBody>
          <a:bodyPr vert="horz" wrap="square" lIns="0" tIns="12065" rIns="0" bIns="0" rtlCol="0">
            <a:spAutoFit/>
          </a:bodyPr>
          <a:lstStyle/>
          <a:p>
            <a:pPr marL="12700">
              <a:lnSpc>
                <a:spcPts val="1420"/>
              </a:lnSpc>
              <a:spcBef>
                <a:spcPts val="95"/>
              </a:spcBef>
            </a:pPr>
            <a:r>
              <a:rPr sz="1200" spc="-5" dirty="0">
                <a:solidFill>
                  <a:srgbClr val="3333B2"/>
                </a:solidFill>
                <a:latin typeface="Arial"/>
                <a:cs typeface="Arial"/>
              </a:rPr>
              <a:t>Solution</a:t>
            </a:r>
            <a:endParaRPr sz="1200">
              <a:latin typeface="Arial"/>
              <a:cs typeface="Arial"/>
            </a:endParaRPr>
          </a:p>
          <a:p>
            <a:pPr marL="12700">
              <a:lnSpc>
                <a:spcPts val="1180"/>
              </a:lnSpc>
            </a:pPr>
            <a:r>
              <a:rPr sz="1000" spc="-15" dirty="0">
                <a:latin typeface="Arial"/>
                <a:cs typeface="Arial"/>
              </a:rPr>
              <a:t>Never</a:t>
            </a:r>
            <a:r>
              <a:rPr sz="1000" spc="-5" dirty="0">
                <a:latin typeface="Arial"/>
                <a:cs typeface="Arial"/>
              </a:rPr>
              <a:t> </a:t>
            </a:r>
            <a:r>
              <a:rPr sz="1000" spc="-15" dirty="0">
                <a:latin typeface="Arial"/>
                <a:cs typeface="Arial"/>
              </a:rPr>
              <a:t>execute</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operation</a:t>
            </a:r>
            <a:r>
              <a:rPr sz="1000" dirty="0">
                <a:latin typeface="Arial"/>
                <a:cs typeface="Arial"/>
              </a:rPr>
              <a:t> </a:t>
            </a:r>
            <a:r>
              <a:rPr sz="1000" spc="-10" dirty="0">
                <a:latin typeface="Arial"/>
                <a:cs typeface="Arial"/>
              </a:rPr>
              <a:t>before</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clear</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been</a:t>
            </a:r>
            <a:r>
              <a:rPr sz="1000" dirty="0">
                <a:latin typeface="Arial"/>
                <a:cs typeface="Arial"/>
              </a:rPr>
              <a:t> learned.</a:t>
            </a:r>
            <a:endParaRPr sz="100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385889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Three</a:t>
            </a:r>
            <a:r>
              <a:rPr sz="1400" spc="10" dirty="0">
                <a:solidFill>
                  <a:srgbClr val="3333B2"/>
                </a:solidFill>
                <a:latin typeface="Arial"/>
                <a:cs typeface="Arial"/>
              </a:rPr>
              <a:t> </a:t>
            </a:r>
            <a:r>
              <a:rPr sz="1400" spc="15" dirty="0">
                <a:solidFill>
                  <a:srgbClr val="3333B2"/>
                </a:solidFill>
                <a:latin typeface="Arial"/>
                <a:cs typeface="Arial"/>
              </a:rPr>
              <a:t>servers</a:t>
            </a:r>
            <a:r>
              <a:rPr sz="1400" spc="10" dirty="0">
                <a:solidFill>
                  <a:srgbClr val="3333B2"/>
                </a:solidFill>
                <a:latin typeface="Arial"/>
                <a:cs typeface="Arial"/>
              </a:rPr>
              <a:t> </a:t>
            </a:r>
            <a:r>
              <a:rPr sz="1400" spc="15" dirty="0">
                <a:solidFill>
                  <a:srgbClr val="3333B2"/>
                </a:solidFill>
                <a:latin typeface="Arial"/>
                <a:cs typeface="Arial"/>
              </a:rPr>
              <a:t>and</a:t>
            </a:r>
            <a:r>
              <a:rPr sz="1400" spc="10" dirty="0">
                <a:solidFill>
                  <a:srgbClr val="3333B2"/>
                </a:solidFill>
                <a:latin typeface="Arial"/>
                <a:cs typeface="Arial"/>
              </a:rPr>
              <a:t> two crashes:</a:t>
            </a:r>
            <a:r>
              <a:rPr sz="1400" spc="105" dirty="0">
                <a:solidFill>
                  <a:srgbClr val="3333B2"/>
                </a:solidFill>
                <a:latin typeface="Arial"/>
                <a:cs typeface="Arial"/>
              </a:rPr>
              <a:t> </a:t>
            </a:r>
            <a:r>
              <a:rPr sz="1400" spc="5" dirty="0">
                <a:solidFill>
                  <a:srgbClr val="3333B2"/>
                </a:solidFill>
                <a:latin typeface="Arial"/>
                <a:cs typeface="Arial"/>
              </a:rPr>
              <a:t>still</a:t>
            </a:r>
            <a:r>
              <a:rPr sz="1400" spc="10" dirty="0">
                <a:solidFill>
                  <a:srgbClr val="3333B2"/>
                </a:solidFill>
                <a:latin typeface="Arial"/>
                <a:cs typeface="Arial"/>
              </a:rPr>
              <a:t> </a:t>
            </a:r>
            <a:r>
              <a:rPr sz="1400" spc="15" dirty="0">
                <a:solidFill>
                  <a:srgbClr val="3333B2"/>
                </a:solidFill>
                <a:latin typeface="Arial"/>
                <a:cs typeface="Arial"/>
              </a:rPr>
              <a:t>a</a:t>
            </a:r>
            <a:r>
              <a:rPr sz="1400" spc="10" dirty="0">
                <a:solidFill>
                  <a:srgbClr val="3333B2"/>
                </a:solidFill>
                <a:latin typeface="Arial"/>
                <a:cs typeface="Arial"/>
              </a:rPr>
              <a:t> problem?</a:t>
            </a:r>
            <a:endParaRPr sz="1400">
              <a:latin typeface="Arial"/>
              <a:cs typeface="Arial"/>
            </a:endParaRPr>
          </a:p>
        </p:txBody>
      </p:sp>
      <p:grpSp>
        <p:nvGrpSpPr>
          <p:cNvPr id="5" name="object 5"/>
          <p:cNvGrpSpPr/>
          <p:nvPr/>
        </p:nvGrpSpPr>
        <p:grpSpPr>
          <a:xfrm>
            <a:off x="529782" y="769522"/>
            <a:ext cx="3709670" cy="1239520"/>
            <a:chOff x="529782" y="769522"/>
            <a:chExt cx="3709670" cy="1239520"/>
          </a:xfrm>
        </p:grpSpPr>
        <p:sp>
          <p:nvSpPr>
            <p:cNvPr id="6" name="object 6"/>
            <p:cNvSpPr/>
            <p:nvPr/>
          </p:nvSpPr>
          <p:spPr>
            <a:xfrm>
              <a:off x="534227" y="1986580"/>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7" name="object 7"/>
            <p:cNvSpPr/>
            <p:nvPr/>
          </p:nvSpPr>
          <p:spPr>
            <a:xfrm>
              <a:off x="4195705" y="1964737"/>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534227" y="1687776"/>
              <a:ext cx="2390775" cy="0"/>
            </a:xfrm>
            <a:custGeom>
              <a:avLst/>
              <a:gdLst/>
              <a:ahLst/>
              <a:cxnLst/>
              <a:rect l="l" t="t" r="r" b="b"/>
              <a:pathLst>
                <a:path w="2390775">
                  <a:moveTo>
                    <a:pt x="0" y="0"/>
                  </a:moveTo>
                  <a:lnTo>
                    <a:pt x="2390429" y="0"/>
                  </a:lnTo>
                </a:path>
              </a:pathLst>
            </a:custGeom>
            <a:ln w="8401">
              <a:solidFill>
                <a:srgbClr val="000000"/>
              </a:solidFill>
            </a:ln>
          </p:spPr>
          <p:txBody>
            <a:bodyPr wrap="square" lIns="0" tIns="0" rIns="0" bIns="0" rtlCol="0"/>
            <a:lstStyle/>
            <a:p>
              <a:endParaRPr/>
            </a:p>
          </p:txBody>
        </p:sp>
        <p:sp>
          <p:nvSpPr>
            <p:cNvPr id="9" name="object 9"/>
            <p:cNvSpPr/>
            <p:nvPr/>
          </p:nvSpPr>
          <p:spPr>
            <a:xfrm>
              <a:off x="2934108" y="1687776"/>
              <a:ext cx="633095" cy="0"/>
            </a:xfrm>
            <a:custGeom>
              <a:avLst/>
              <a:gdLst/>
              <a:ahLst/>
              <a:cxnLst/>
              <a:rect l="l" t="t" r="r" b="b"/>
              <a:pathLst>
                <a:path w="633095">
                  <a:moveTo>
                    <a:pt x="0" y="0"/>
                  </a:moveTo>
                  <a:lnTo>
                    <a:pt x="632976" y="0"/>
                  </a:lnTo>
                </a:path>
              </a:pathLst>
            </a:custGeom>
            <a:ln w="12602">
              <a:solidFill>
                <a:srgbClr val="000000"/>
              </a:solidFill>
            </a:ln>
          </p:spPr>
          <p:txBody>
            <a:bodyPr wrap="square" lIns="0" tIns="0" rIns="0" bIns="0" rtlCol="0"/>
            <a:lstStyle/>
            <a:p>
              <a:endParaRPr/>
            </a:p>
          </p:txBody>
        </p:sp>
        <p:sp>
          <p:nvSpPr>
            <p:cNvPr id="10" name="object 10"/>
            <p:cNvSpPr/>
            <p:nvPr/>
          </p:nvSpPr>
          <p:spPr>
            <a:xfrm>
              <a:off x="2930958" y="1647869"/>
              <a:ext cx="0" cy="80010"/>
            </a:xfrm>
            <a:custGeom>
              <a:avLst/>
              <a:gdLst/>
              <a:ahLst/>
              <a:cxnLst/>
              <a:rect l="l" t="t" r="r" b="b"/>
              <a:pathLst>
                <a:path h="80010">
                  <a:moveTo>
                    <a:pt x="0" y="0"/>
                  </a:moveTo>
                  <a:lnTo>
                    <a:pt x="0" y="79812"/>
                  </a:lnTo>
                </a:path>
              </a:pathLst>
            </a:custGeom>
            <a:ln w="12602">
              <a:solidFill>
                <a:srgbClr val="000000"/>
              </a:solidFill>
            </a:ln>
          </p:spPr>
          <p:txBody>
            <a:bodyPr wrap="square" lIns="0" tIns="0" rIns="0" bIns="0" rtlCol="0"/>
            <a:lstStyle/>
            <a:p>
              <a:endParaRPr/>
            </a:p>
          </p:txBody>
        </p:sp>
        <p:sp>
          <p:nvSpPr>
            <p:cNvPr id="11" name="object 11"/>
            <p:cNvSpPr/>
            <p:nvPr/>
          </p:nvSpPr>
          <p:spPr>
            <a:xfrm>
              <a:off x="2625853" y="1090169"/>
              <a:ext cx="299085" cy="598170"/>
            </a:xfrm>
            <a:custGeom>
              <a:avLst/>
              <a:gdLst/>
              <a:ahLst/>
              <a:cxnLst/>
              <a:rect l="l" t="t" r="r" b="b"/>
              <a:pathLst>
                <a:path w="299085" h="598169">
                  <a:moveTo>
                    <a:pt x="0" y="0"/>
                  </a:moveTo>
                  <a:lnTo>
                    <a:pt x="298803" y="597607"/>
                  </a:lnTo>
                </a:path>
              </a:pathLst>
            </a:custGeom>
            <a:ln w="4200">
              <a:solidFill>
                <a:srgbClr val="999999"/>
              </a:solidFill>
              <a:prstDash val="dash"/>
            </a:ln>
          </p:spPr>
          <p:txBody>
            <a:bodyPr wrap="square" lIns="0" tIns="0" rIns="0" bIns="0" rtlCol="0"/>
            <a:lstStyle/>
            <a:p>
              <a:endParaRPr/>
            </a:p>
          </p:txBody>
        </p:sp>
        <p:sp>
          <p:nvSpPr>
            <p:cNvPr id="12" name="object 12"/>
            <p:cNvSpPr/>
            <p:nvPr/>
          </p:nvSpPr>
          <p:spPr>
            <a:xfrm>
              <a:off x="534227" y="1388972"/>
              <a:ext cx="2064385" cy="0"/>
            </a:xfrm>
            <a:custGeom>
              <a:avLst/>
              <a:gdLst/>
              <a:ahLst/>
              <a:cxnLst/>
              <a:rect l="l" t="t" r="r" b="b"/>
              <a:pathLst>
                <a:path w="2064385">
                  <a:moveTo>
                    <a:pt x="0" y="0"/>
                  </a:moveTo>
                  <a:lnTo>
                    <a:pt x="1299795" y="0"/>
                  </a:lnTo>
                </a:path>
                <a:path w="2064385">
                  <a:moveTo>
                    <a:pt x="1389437" y="0"/>
                  </a:moveTo>
                  <a:lnTo>
                    <a:pt x="2064321" y="0"/>
                  </a:lnTo>
                </a:path>
              </a:pathLst>
            </a:custGeom>
            <a:ln w="8401">
              <a:solidFill>
                <a:srgbClr val="000000"/>
              </a:solidFill>
            </a:ln>
          </p:spPr>
          <p:txBody>
            <a:bodyPr wrap="square" lIns="0" tIns="0" rIns="0" bIns="0" rtlCol="0"/>
            <a:lstStyle/>
            <a:p>
              <a:endParaRPr/>
            </a:p>
          </p:txBody>
        </p:sp>
        <p:sp>
          <p:nvSpPr>
            <p:cNvPr id="13" name="object 13"/>
            <p:cNvSpPr/>
            <p:nvPr/>
          </p:nvSpPr>
          <p:spPr>
            <a:xfrm>
              <a:off x="2582167" y="1367129"/>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4" name="object 14"/>
            <p:cNvSpPr/>
            <p:nvPr/>
          </p:nvSpPr>
          <p:spPr>
            <a:xfrm>
              <a:off x="2498732" y="1280307"/>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5" name="object 15"/>
            <p:cNvSpPr/>
            <p:nvPr/>
          </p:nvSpPr>
          <p:spPr>
            <a:xfrm>
              <a:off x="2498732" y="1280307"/>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16" name="object 16"/>
            <p:cNvSpPr/>
            <p:nvPr/>
          </p:nvSpPr>
          <p:spPr>
            <a:xfrm>
              <a:off x="534227" y="1090169"/>
              <a:ext cx="2064385" cy="0"/>
            </a:xfrm>
            <a:custGeom>
              <a:avLst/>
              <a:gdLst/>
              <a:ahLst/>
              <a:cxnLst/>
              <a:rect l="l" t="t" r="r" b="b"/>
              <a:pathLst>
                <a:path w="2064385">
                  <a:moveTo>
                    <a:pt x="0" y="0"/>
                  </a:moveTo>
                  <a:lnTo>
                    <a:pt x="1299795" y="0"/>
                  </a:lnTo>
                </a:path>
                <a:path w="2064385">
                  <a:moveTo>
                    <a:pt x="1389437" y="0"/>
                  </a:moveTo>
                  <a:lnTo>
                    <a:pt x="2064321" y="0"/>
                  </a:lnTo>
                </a:path>
              </a:pathLst>
            </a:custGeom>
            <a:ln w="8401">
              <a:solidFill>
                <a:srgbClr val="000000"/>
              </a:solidFill>
            </a:ln>
          </p:spPr>
          <p:txBody>
            <a:bodyPr wrap="square" lIns="0" tIns="0" rIns="0" bIns="0" rtlCol="0"/>
            <a:lstStyle/>
            <a:p>
              <a:endParaRPr/>
            </a:p>
          </p:txBody>
        </p:sp>
        <p:sp>
          <p:nvSpPr>
            <p:cNvPr id="17" name="object 17"/>
            <p:cNvSpPr/>
            <p:nvPr/>
          </p:nvSpPr>
          <p:spPr>
            <a:xfrm>
              <a:off x="2582167" y="1068325"/>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8" name="object 18"/>
            <p:cNvSpPr/>
            <p:nvPr/>
          </p:nvSpPr>
          <p:spPr>
            <a:xfrm>
              <a:off x="2498732" y="981503"/>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3"/>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9" name="object 19"/>
            <p:cNvSpPr/>
            <p:nvPr/>
          </p:nvSpPr>
          <p:spPr>
            <a:xfrm>
              <a:off x="2498732" y="981503"/>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3"/>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20" name="object 20"/>
            <p:cNvSpPr/>
            <p:nvPr/>
          </p:nvSpPr>
          <p:spPr>
            <a:xfrm>
              <a:off x="534227" y="791365"/>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21" name="object 21"/>
            <p:cNvSpPr/>
            <p:nvPr/>
          </p:nvSpPr>
          <p:spPr>
            <a:xfrm>
              <a:off x="4195705" y="769522"/>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22" name="object 22"/>
            <p:cNvSpPr/>
            <p:nvPr/>
          </p:nvSpPr>
          <p:spPr>
            <a:xfrm>
              <a:off x="773271" y="791365"/>
              <a:ext cx="284480" cy="284480"/>
            </a:xfrm>
            <a:custGeom>
              <a:avLst/>
              <a:gdLst/>
              <a:ahLst/>
              <a:cxnLst/>
              <a:rect l="l" t="t" r="r" b="b"/>
              <a:pathLst>
                <a:path w="284480" h="284480">
                  <a:moveTo>
                    <a:pt x="0" y="0"/>
                  </a:moveTo>
                  <a:lnTo>
                    <a:pt x="4436" y="4436"/>
                  </a:lnTo>
                  <a:lnTo>
                    <a:pt x="35493" y="35494"/>
                  </a:lnTo>
                  <a:lnTo>
                    <a:pt x="119792" y="119792"/>
                  </a:lnTo>
                  <a:lnTo>
                    <a:pt x="283951" y="283952"/>
                  </a:lnTo>
                </a:path>
              </a:pathLst>
            </a:custGeom>
            <a:ln w="4200">
              <a:solidFill>
                <a:srgbClr val="000000"/>
              </a:solidFill>
            </a:ln>
          </p:spPr>
          <p:txBody>
            <a:bodyPr wrap="square" lIns="0" tIns="0" rIns="0" bIns="0" rtlCol="0"/>
            <a:lstStyle/>
            <a:p>
              <a:endParaRPr/>
            </a:p>
          </p:txBody>
        </p:sp>
        <p:sp>
          <p:nvSpPr>
            <p:cNvPr id="23" name="object 23"/>
            <p:cNvSpPr/>
            <p:nvPr/>
          </p:nvSpPr>
          <p:spPr>
            <a:xfrm>
              <a:off x="1036430" y="1054525"/>
              <a:ext cx="36195" cy="36195"/>
            </a:xfrm>
            <a:custGeom>
              <a:avLst/>
              <a:gdLst/>
              <a:ahLst/>
              <a:cxnLst/>
              <a:rect l="l" t="t" r="r" b="b"/>
              <a:pathLst>
                <a:path w="36194" h="36194">
                  <a:moveTo>
                    <a:pt x="23762" y="0"/>
                  </a:moveTo>
                  <a:lnTo>
                    <a:pt x="20792" y="20792"/>
                  </a:lnTo>
                  <a:lnTo>
                    <a:pt x="0" y="23762"/>
                  </a:lnTo>
                  <a:lnTo>
                    <a:pt x="35643" y="35643"/>
                  </a:lnTo>
                  <a:lnTo>
                    <a:pt x="23762" y="0"/>
                  </a:lnTo>
                  <a:close/>
                </a:path>
              </a:pathLst>
            </a:custGeom>
            <a:solidFill>
              <a:srgbClr val="000000"/>
            </a:solidFill>
          </p:spPr>
          <p:txBody>
            <a:bodyPr wrap="square" lIns="0" tIns="0" rIns="0" bIns="0" rtlCol="0"/>
            <a:lstStyle/>
            <a:p>
              <a:endParaRPr/>
            </a:p>
          </p:txBody>
        </p:sp>
        <p:sp>
          <p:nvSpPr>
            <p:cNvPr id="24" name="object 24"/>
            <p:cNvSpPr/>
            <p:nvPr/>
          </p:nvSpPr>
          <p:spPr>
            <a:xfrm>
              <a:off x="773271" y="791365"/>
              <a:ext cx="260350" cy="578485"/>
            </a:xfrm>
            <a:custGeom>
              <a:avLst/>
              <a:gdLst/>
              <a:ahLst/>
              <a:cxnLst/>
              <a:rect l="l" t="t" r="r" b="b"/>
              <a:pathLst>
                <a:path w="260350" h="578485">
                  <a:moveTo>
                    <a:pt x="0" y="0"/>
                  </a:moveTo>
                  <a:lnTo>
                    <a:pt x="4066" y="9037"/>
                  </a:lnTo>
                  <a:lnTo>
                    <a:pt x="32533" y="72297"/>
                  </a:lnTo>
                  <a:lnTo>
                    <a:pt x="109801" y="244005"/>
                  </a:lnTo>
                  <a:lnTo>
                    <a:pt x="260270" y="578382"/>
                  </a:lnTo>
                </a:path>
              </a:pathLst>
            </a:custGeom>
            <a:ln w="4200">
              <a:solidFill>
                <a:srgbClr val="000000"/>
              </a:solidFill>
            </a:ln>
          </p:spPr>
          <p:txBody>
            <a:bodyPr wrap="square" lIns="0" tIns="0" rIns="0" bIns="0" rtlCol="0"/>
            <a:lstStyle/>
            <a:p>
              <a:endParaRPr/>
            </a:p>
          </p:txBody>
        </p:sp>
        <p:sp>
          <p:nvSpPr>
            <p:cNvPr id="25" name="object 25"/>
            <p:cNvSpPr/>
            <p:nvPr/>
          </p:nvSpPr>
          <p:spPr>
            <a:xfrm>
              <a:off x="1012971" y="1351293"/>
              <a:ext cx="31115" cy="38100"/>
            </a:xfrm>
            <a:custGeom>
              <a:avLst/>
              <a:gdLst/>
              <a:ahLst/>
              <a:cxnLst/>
              <a:rect l="l" t="t" r="r" b="b"/>
              <a:pathLst>
                <a:path w="31115" h="38100">
                  <a:moveTo>
                    <a:pt x="30758" y="0"/>
                  </a:moveTo>
                  <a:lnTo>
                    <a:pt x="20569" y="18455"/>
                  </a:lnTo>
                  <a:lnTo>
                    <a:pt x="0" y="13841"/>
                  </a:lnTo>
                  <a:lnTo>
                    <a:pt x="29220" y="37679"/>
                  </a:lnTo>
                  <a:lnTo>
                    <a:pt x="30758" y="0"/>
                  </a:lnTo>
                  <a:close/>
                </a:path>
              </a:pathLst>
            </a:custGeom>
            <a:solidFill>
              <a:srgbClr val="000000"/>
            </a:solidFill>
          </p:spPr>
          <p:txBody>
            <a:bodyPr wrap="square" lIns="0" tIns="0" rIns="0" bIns="0" rtlCol="0"/>
            <a:lstStyle/>
            <a:p>
              <a:endParaRPr/>
            </a:p>
          </p:txBody>
        </p:sp>
        <p:sp>
          <p:nvSpPr>
            <p:cNvPr id="26" name="object 26"/>
            <p:cNvSpPr/>
            <p:nvPr/>
          </p:nvSpPr>
          <p:spPr>
            <a:xfrm>
              <a:off x="773271" y="791365"/>
              <a:ext cx="175260" cy="876300"/>
            </a:xfrm>
            <a:custGeom>
              <a:avLst/>
              <a:gdLst/>
              <a:ahLst/>
              <a:cxnLst/>
              <a:rect l="l" t="t" r="r" b="b"/>
              <a:pathLst>
                <a:path w="175259" h="876300">
                  <a:moveTo>
                    <a:pt x="0" y="0"/>
                  </a:moveTo>
                  <a:lnTo>
                    <a:pt x="2736" y="13684"/>
                  </a:lnTo>
                  <a:lnTo>
                    <a:pt x="21894" y="109472"/>
                  </a:lnTo>
                  <a:lnTo>
                    <a:pt x="73894" y="369468"/>
                  </a:lnTo>
                  <a:lnTo>
                    <a:pt x="175157" y="875777"/>
                  </a:lnTo>
                </a:path>
              </a:pathLst>
            </a:custGeom>
            <a:ln w="4200">
              <a:solidFill>
                <a:srgbClr val="000000"/>
              </a:solidFill>
            </a:ln>
          </p:spPr>
          <p:txBody>
            <a:bodyPr wrap="square" lIns="0" tIns="0" rIns="0" bIns="0" rtlCol="0"/>
            <a:lstStyle/>
            <a:p>
              <a:endParaRPr/>
            </a:p>
          </p:txBody>
        </p:sp>
        <p:sp>
          <p:nvSpPr>
            <p:cNvPr id="27" name="object 27"/>
            <p:cNvSpPr/>
            <p:nvPr/>
          </p:nvSpPr>
          <p:spPr>
            <a:xfrm>
              <a:off x="929445" y="1651461"/>
              <a:ext cx="33020" cy="36830"/>
            </a:xfrm>
            <a:custGeom>
              <a:avLst/>
              <a:gdLst/>
              <a:ahLst/>
              <a:cxnLst/>
              <a:rect l="l" t="t" r="r" b="b"/>
              <a:pathLst>
                <a:path w="33019" h="36830">
                  <a:moveTo>
                    <a:pt x="33014" y="0"/>
                  </a:moveTo>
                  <a:lnTo>
                    <a:pt x="18982" y="15681"/>
                  </a:lnTo>
                  <a:lnTo>
                    <a:pt x="0" y="6602"/>
                  </a:lnTo>
                  <a:lnTo>
                    <a:pt x="23109" y="36315"/>
                  </a:lnTo>
                  <a:lnTo>
                    <a:pt x="33014" y="0"/>
                  </a:lnTo>
                  <a:close/>
                </a:path>
              </a:pathLst>
            </a:custGeom>
            <a:solidFill>
              <a:srgbClr val="000000"/>
            </a:solidFill>
          </p:spPr>
          <p:txBody>
            <a:bodyPr wrap="square" lIns="0" tIns="0" rIns="0" bIns="0" rtlCol="0"/>
            <a:lstStyle/>
            <a:p>
              <a:endParaRPr/>
            </a:p>
          </p:txBody>
        </p:sp>
        <p:sp>
          <p:nvSpPr>
            <p:cNvPr id="28" name="object 28"/>
            <p:cNvSpPr/>
            <p:nvPr/>
          </p:nvSpPr>
          <p:spPr>
            <a:xfrm>
              <a:off x="653747" y="1111087"/>
              <a:ext cx="87630" cy="875665"/>
            </a:xfrm>
            <a:custGeom>
              <a:avLst/>
              <a:gdLst/>
              <a:ahLst/>
              <a:cxnLst/>
              <a:rect l="l" t="t" r="r" b="b"/>
              <a:pathLst>
                <a:path w="87629" h="875664">
                  <a:moveTo>
                    <a:pt x="0" y="875492"/>
                  </a:moveTo>
                  <a:lnTo>
                    <a:pt x="1367" y="861813"/>
                  </a:lnTo>
                  <a:lnTo>
                    <a:pt x="10943" y="766056"/>
                  </a:lnTo>
                  <a:lnTo>
                    <a:pt x="36935" y="506144"/>
                  </a:lnTo>
                  <a:lnTo>
                    <a:pt x="87550" y="0"/>
                  </a:lnTo>
                </a:path>
              </a:pathLst>
            </a:custGeom>
            <a:ln w="4200">
              <a:solidFill>
                <a:srgbClr val="000000"/>
              </a:solidFill>
            </a:ln>
          </p:spPr>
          <p:txBody>
            <a:bodyPr wrap="square" lIns="0" tIns="0" rIns="0" bIns="0" rtlCol="0"/>
            <a:lstStyle/>
            <a:p>
              <a:endParaRPr/>
            </a:p>
          </p:txBody>
        </p:sp>
        <p:sp>
          <p:nvSpPr>
            <p:cNvPr id="29" name="object 29"/>
            <p:cNvSpPr/>
            <p:nvPr/>
          </p:nvSpPr>
          <p:spPr>
            <a:xfrm>
              <a:off x="723307" y="1090169"/>
              <a:ext cx="33655" cy="35560"/>
            </a:xfrm>
            <a:custGeom>
              <a:avLst/>
              <a:gdLst/>
              <a:ahLst/>
              <a:cxnLst/>
              <a:rect l="l" t="t" r="r" b="b"/>
              <a:pathLst>
                <a:path w="33654"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0" name="object 30"/>
            <p:cNvSpPr/>
            <p:nvPr/>
          </p:nvSpPr>
          <p:spPr>
            <a:xfrm>
              <a:off x="653747" y="1409144"/>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31" name="object 31"/>
            <p:cNvSpPr/>
            <p:nvPr/>
          </p:nvSpPr>
          <p:spPr>
            <a:xfrm>
              <a:off x="807211" y="1388972"/>
              <a:ext cx="32384" cy="37465"/>
            </a:xfrm>
            <a:custGeom>
              <a:avLst/>
              <a:gdLst/>
              <a:ahLst/>
              <a:cxnLst/>
              <a:rect l="l" t="t" r="r" b="b"/>
              <a:pathLst>
                <a:path w="32384"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32" name="object 32"/>
            <p:cNvSpPr/>
            <p:nvPr/>
          </p:nvSpPr>
          <p:spPr>
            <a:xfrm>
              <a:off x="653747" y="1701245"/>
              <a:ext cx="342900" cy="285750"/>
            </a:xfrm>
            <a:custGeom>
              <a:avLst/>
              <a:gdLst/>
              <a:ahLst/>
              <a:cxnLst/>
              <a:rect l="l" t="t" r="r" b="b"/>
              <a:pathLst>
                <a:path w="342900" h="285750">
                  <a:moveTo>
                    <a:pt x="0" y="285335"/>
                  </a:moveTo>
                  <a:lnTo>
                    <a:pt x="5350" y="280876"/>
                  </a:lnTo>
                  <a:lnTo>
                    <a:pt x="42800" y="249668"/>
                  </a:lnTo>
                  <a:lnTo>
                    <a:pt x="144450" y="164959"/>
                  </a:lnTo>
                  <a:lnTo>
                    <a:pt x="342401" y="0"/>
                  </a:lnTo>
                </a:path>
              </a:pathLst>
            </a:custGeom>
            <a:ln w="4200">
              <a:solidFill>
                <a:srgbClr val="000000"/>
              </a:solidFill>
            </a:ln>
          </p:spPr>
          <p:txBody>
            <a:bodyPr wrap="square" lIns="0" tIns="0" rIns="0" bIns="0" rtlCol="0"/>
            <a:lstStyle/>
            <a:p>
              <a:endParaRPr/>
            </a:p>
          </p:txBody>
        </p:sp>
        <p:sp>
          <p:nvSpPr>
            <p:cNvPr id="33" name="object 33"/>
            <p:cNvSpPr/>
            <p:nvPr/>
          </p:nvSpPr>
          <p:spPr>
            <a:xfrm>
              <a:off x="975676" y="1687776"/>
              <a:ext cx="36830" cy="34925"/>
            </a:xfrm>
            <a:custGeom>
              <a:avLst/>
              <a:gdLst/>
              <a:ahLst/>
              <a:cxnLst/>
              <a:rect l="l" t="t" r="r" b="b"/>
              <a:pathLst>
                <a:path w="36830" h="34925">
                  <a:moveTo>
                    <a:pt x="0" y="8620"/>
                  </a:moveTo>
                  <a:lnTo>
                    <a:pt x="20471" y="13468"/>
                  </a:lnTo>
                  <a:lnTo>
                    <a:pt x="21549" y="34479"/>
                  </a:lnTo>
                  <a:lnTo>
                    <a:pt x="36633" y="0"/>
                  </a:lnTo>
                  <a:lnTo>
                    <a:pt x="0" y="8620"/>
                  </a:lnTo>
                  <a:close/>
                </a:path>
              </a:pathLst>
            </a:custGeom>
            <a:solidFill>
              <a:srgbClr val="000000"/>
            </a:solidFill>
          </p:spPr>
          <p:txBody>
            <a:bodyPr wrap="square" lIns="0" tIns="0" rIns="0" bIns="0" rtlCol="0"/>
            <a:lstStyle/>
            <a:p>
              <a:endParaRPr/>
            </a:p>
          </p:txBody>
        </p:sp>
        <p:sp>
          <p:nvSpPr>
            <p:cNvPr id="34" name="object 34"/>
            <p:cNvSpPr/>
            <p:nvPr/>
          </p:nvSpPr>
          <p:spPr>
            <a:xfrm>
              <a:off x="3656727" y="1687776"/>
              <a:ext cx="549275" cy="0"/>
            </a:xfrm>
            <a:custGeom>
              <a:avLst/>
              <a:gdLst/>
              <a:ahLst/>
              <a:cxnLst/>
              <a:rect l="l" t="t" r="r" b="b"/>
              <a:pathLst>
                <a:path w="549275">
                  <a:moveTo>
                    <a:pt x="0" y="0"/>
                  </a:moveTo>
                  <a:lnTo>
                    <a:pt x="549058" y="0"/>
                  </a:lnTo>
                </a:path>
              </a:pathLst>
            </a:custGeom>
            <a:ln w="12602">
              <a:solidFill>
                <a:srgbClr val="000000"/>
              </a:solidFill>
            </a:ln>
          </p:spPr>
          <p:txBody>
            <a:bodyPr wrap="square" lIns="0" tIns="0" rIns="0" bIns="0" rtlCol="0"/>
            <a:lstStyle/>
            <a:p>
              <a:endParaRPr/>
            </a:p>
          </p:txBody>
        </p:sp>
        <p:sp>
          <p:nvSpPr>
            <p:cNvPr id="35" name="object 35"/>
            <p:cNvSpPr/>
            <p:nvPr/>
          </p:nvSpPr>
          <p:spPr>
            <a:xfrm>
              <a:off x="4185622" y="1660892"/>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36" name="object 36"/>
          <p:cNvSpPr txBox="1"/>
          <p:nvPr/>
        </p:nvSpPr>
        <p:spPr>
          <a:xfrm>
            <a:off x="356564" y="1903597"/>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37" name="object 37"/>
          <p:cNvSpPr txBox="1"/>
          <p:nvPr/>
        </p:nvSpPr>
        <p:spPr>
          <a:xfrm>
            <a:off x="365629" y="1604422"/>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3</a:t>
            </a:r>
            <a:endParaRPr sz="825" baseline="-15151">
              <a:latin typeface="Times New Roman"/>
              <a:cs typeface="Times New Roman"/>
            </a:endParaRPr>
          </a:p>
        </p:txBody>
      </p:sp>
      <p:sp>
        <p:nvSpPr>
          <p:cNvPr id="38" name="object 38"/>
          <p:cNvSpPr txBox="1"/>
          <p:nvPr/>
        </p:nvSpPr>
        <p:spPr>
          <a:xfrm>
            <a:off x="365629" y="1305996"/>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sp>
        <p:nvSpPr>
          <p:cNvPr id="39" name="object 39"/>
          <p:cNvSpPr txBox="1"/>
          <p:nvPr/>
        </p:nvSpPr>
        <p:spPr>
          <a:xfrm>
            <a:off x="365629" y="1006642"/>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sp>
        <p:nvSpPr>
          <p:cNvPr id="40" name="object 40"/>
          <p:cNvSpPr txBox="1"/>
          <p:nvPr/>
        </p:nvSpPr>
        <p:spPr>
          <a:xfrm>
            <a:off x="356564" y="707847"/>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sp>
        <p:nvSpPr>
          <p:cNvPr id="41" name="object 41"/>
          <p:cNvSpPr txBox="1"/>
          <p:nvPr/>
        </p:nvSpPr>
        <p:spPr>
          <a:xfrm>
            <a:off x="652165" y="622500"/>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42" name="object 42"/>
          <p:cNvGrpSpPr/>
          <p:nvPr/>
        </p:nvGrpSpPr>
        <p:grpSpPr>
          <a:xfrm>
            <a:off x="1279013" y="1087946"/>
            <a:ext cx="151765" cy="301625"/>
            <a:chOff x="1279013" y="1087946"/>
            <a:chExt cx="151765" cy="301625"/>
          </a:xfrm>
        </p:grpSpPr>
        <p:sp>
          <p:nvSpPr>
            <p:cNvPr id="43" name="object 43"/>
            <p:cNvSpPr/>
            <p:nvPr/>
          </p:nvSpPr>
          <p:spPr>
            <a:xfrm>
              <a:off x="1281236" y="1090168"/>
              <a:ext cx="140335" cy="280035"/>
            </a:xfrm>
            <a:custGeom>
              <a:avLst/>
              <a:gdLst/>
              <a:ahLst/>
              <a:cxnLst/>
              <a:rect l="l" t="t" r="r" b="b"/>
              <a:pathLst>
                <a:path w="140334" h="280034">
                  <a:moveTo>
                    <a:pt x="0" y="0"/>
                  </a:moveTo>
                  <a:lnTo>
                    <a:pt x="2187" y="4375"/>
                  </a:lnTo>
                  <a:lnTo>
                    <a:pt x="17501" y="35002"/>
                  </a:lnTo>
                  <a:lnTo>
                    <a:pt x="59066" y="118132"/>
                  </a:lnTo>
                  <a:lnTo>
                    <a:pt x="140009" y="280017"/>
                  </a:lnTo>
                </a:path>
              </a:pathLst>
            </a:custGeom>
            <a:ln w="4200">
              <a:solidFill>
                <a:srgbClr val="000000"/>
              </a:solidFill>
            </a:ln>
          </p:spPr>
          <p:txBody>
            <a:bodyPr wrap="square" lIns="0" tIns="0" rIns="0" bIns="0" rtlCol="0"/>
            <a:lstStyle/>
            <a:p>
              <a:endParaRPr/>
            </a:p>
          </p:txBody>
        </p:sp>
        <p:sp>
          <p:nvSpPr>
            <p:cNvPr id="44" name="object 44"/>
            <p:cNvSpPr/>
            <p:nvPr/>
          </p:nvSpPr>
          <p:spPr>
            <a:xfrm>
              <a:off x="1400581" y="1351401"/>
              <a:ext cx="30480" cy="38100"/>
            </a:xfrm>
            <a:custGeom>
              <a:avLst/>
              <a:gdLst/>
              <a:ahLst/>
              <a:cxnLst/>
              <a:rect l="l" t="t" r="r" b="b"/>
              <a:pathLst>
                <a:path w="30480" h="38100">
                  <a:moveTo>
                    <a:pt x="30056" y="0"/>
                  </a:moveTo>
                  <a:lnTo>
                    <a:pt x="20664" y="18785"/>
                  </a:lnTo>
                  <a:lnTo>
                    <a:pt x="0" y="15028"/>
                  </a:lnTo>
                  <a:lnTo>
                    <a:pt x="30056" y="37571"/>
                  </a:lnTo>
                  <a:lnTo>
                    <a:pt x="30056" y="0"/>
                  </a:lnTo>
                  <a:close/>
                </a:path>
              </a:pathLst>
            </a:custGeom>
            <a:solidFill>
              <a:srgbClr val="000000"/>
            </a:solidFill>
          </p:spPr>
          <p:txBody>
            <a:bodyPr wrap="square" lIns="0" tIns="0" rIns="0" bIns="0" rtlCol="0"/>
            <a:lstStyle/>
            <a:p>
              <a:endParaRPr/>
            </a:p>
          </p:txBody>
        </p:sp>
      </p:grpSp>
      <p:sp>
        <p:nvSpPr>
          <p:cNvPr id="45" name="object 45"/>
          <p:cNvSpPr txBox="1"/>
          <p:nvPr/>
        </p:nvSpPr>
        <p:spPr>
          <a:xfrm>
            <a:off x="1010391" y="921295"/>
            <a:ext cx="54229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a:t>
            </a:r>
            <a:r>
              <a:rPr sz="750" spc="75" dirty="0">
                <a:latin typeface="Times New Roman"/>
                <a:cs typeface="Times New Roman"/>
              </a:rPr>
              <a:t>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46" name="object 46"/>
          <p:cNvGrpSpPr/>
          <p:nvPr/>
        </p:nvGrpSpPr>
        <p:grpSpPr>
          <a:xfrm>
            <a:off x="1279013" y="1054344"/>
            <a:ext cx="647065" cy="553720"/>
            <a:chOff x="1279013" y="1054344"/>
            <a:chExt cx="647065" cy="553720"/>
          </a:xfrm>
        </p:grpSpPr>
        <p:sp>
          <p:nvSpPr>
            <p:cNvPr id="47" name="object 47"/>
            <p:cNvSpPr/>
            <p:nvPr/>
          </p:nvSpPr>
          <p:spPr>
            <a:xfrm>
              <a:off x="1281236" y="1090169"/>
              <a:ext cx="127000" cy="508000"/>
            </a:xfrm>
            <a:custGeom>
              <a:avLst/>
              <a:gdLst/>
              <a:ahLst/>
              <a:cxnLst/>
              <a:rect l="l" t="t" r="r" b="b"/>
              <a:pathLst>
                <a:path w="127000" h="508000">
                  <a:moveTo>
                    <a:pt x="0" y="0"/>
                  </a:moveTo>
                  <a:lnTo>
                    <a:pt x="1982" y="7931"/>
                  </a:lnTo>
                  <a:lnTo>
                    <a:pt x="15862" y="63448"/>
                  </a:lnTo>
                  <a:lnTo>
                    <a:pt x="53535" y="214137"/>
                  </a:lnTo>
                  <a:lnTo>
                    <a:pt x="126899" y="507586"/>
                  </a:lnTo>
                </a:path>
              </a:pathLst>
            </a:custGeom>
            <a:ln w="4200">
              <a:solidFill>
                <a:srgbClr val="000000"/>
              </a:solidFill>
            </a:ln>
          </p:spPr>
          <p:txBody>
            <a:bodyPr wrap="square" lIns="0" tIns="0" rIns="0" bIns="0" rtlCol="0"/>
            <a:lstStyle/>
            <a:p>
              <a:endParaRPr/>
            </a:p>
          </p:txBody>
        </p:sp>
        <p:sp>
          <p:nvSpPr>
            <p:cNvPr id="48" name="object 48"/>
            <p:cNvSpPr/>
            <p:nvPr/>
          </p:nvSpPr>
          <p:spPr>
            <a:xfrm>
              <a:off x="1381901" y="1592152"/>
              <a:ext cx="53340" cy="13335"/>
            </a:xfrm>
            <a:custGeom>
              <a:avLst/>
              <a:gdLst/>
              <a:ahLst/>
              <a:cxnLst/>
              <a:rect l="l" t="t" r="r" b="b"/>
              <a:pathLst>
                <a:path w="53340" h="13334">
                  <a:moveTo>
                    <a:pt x="0" y="13243"/>
                  </a:moveTo>
                  <a:lnTo>
                    <a:pt x="52978" y="0"/>
                  </a:lnTo>
                </a:path>
              </a:pathLst>
            </a:custGeom>
            <a:ln w="4200">
              <a:solidFill>
                <a:srgbClr val="000000"/>
              </a:solidFill>
            </a:ln>
          </p:spPr>
          <p:txBody>
            <a:bodyPr wrap="square" lIns="0" tIns="0" rIns="0" bIns="0" rtlCol="0"/>
            <a:lstStyle/>
            <a:p>
              <a:endParaRPr/>
            </a:p>
          </p:txBody>
        </p:sp>
        <p:sp>
          <p:nvSpPr>
            <p:cNvPr id="49" name="object 49"/>
            <p:cNvSpPr/>
            <p:nvPr/>
          </p:nvSpPr>
          <p:spPr>
            <a:xfrm>
              <a:off x="1580040" y="1110341"/>
              <a:ext cx="83820" cy="278765"/>
            </a:xfrm>
            <a:custGeom>
              <a:avLst/>
              <a:gdLst/>
              <a:ahLst/>
              <a:cxnLst/>
              <a:rect l="l" t="t" r="r" b="b"/>
              <a:pathLst>
                <a:path w="83819" h="278765">
                  <a:moveTo>
                    <a:pt x="0" y="278631"/>
                  </a:moveTo>
                  <a:lnTo>
                    <a:pt x="1306" y="274278"/>
                  </a:lnTo>
                  <a:lnTo>
                    <a:pt x="10448" y="243802"/>
                  </a:lnTo>
                  <a:lnTo>
                    <a:pt x="35264" y="161084"/>
                  </a:lnTo>
                  <a:lnTo>
                    <a:pt x="83590" y="0"/>
                  </a:lnTo>
                </a:path>
              </a:pathLst>
            </a:custGeom>
            <a:ln w="4200">
              <a:solidFill>
                <a:srgbClr val="000000"/>
              </a:solidFill>
            </a:ln>
          </p:spPr>
          <p:txBody>
            <a:bodyPr wrap="square" lIns="0" tIns="0" rIns="0" bIns="0" rtlCol="0"/>
            <a:lstStyle/>
            <a:p>
              <a:endParaRPr/>
            </a:p>
          </p:txBody>
        </p:sp>
        <p:sp>
          <p:nvSpPr>
            <p:cNvPr id="50" name="object 50"/>
            <p:cNvSpPr/>
            <p:nvPr/>
          </p:nvSpPr>
          <p:spPr>
            <a:xfrm>
              <a:off x="1643863" y="1090169"/>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51" name="object 51"/>
            <p:cNvSpPr/>
            <p:nvPr/>
          </p:nvSpPr>
          <p:spPr>
            <a:xfrm>
              <a:off x="1834023" y="1056567"/>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2" name="object 52"/>
            <p:cNvSpPr/>
            <p:nvPr/>
          </p:nvSpPr>
          <p:spPr>
            <a:xfrm>
              <a:off x="1834023" y="1056567"/>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53" name="object 53"/>
          <p:cNvSpPr txBox="1"/>
          <p:nvPr/>
        </p:nvSpPr>
        <p:spPr>
          <a:xfrm>
            <a:off x="1803274" y="1106753"/>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p:txBody>
      </p:sp>
      <p:grpSp>
        <p:nvGrpSpPr>
          <p:cNvPr id="54" name="object 54"/>
          <p:cNvGrpSpPr/>
          <p:nvPr/>
        </p:nvGrpSpPr>
        <p:grpSpPr>
          <a:xfrm>
            <a:off x="1831800" y="1353148"/>
            <a:ext cx="94615" cy="71755"/>
            <a:chOff x="1831800" y="1353148"/>
            <a:chExt cx="94615" cy="71755"/>
          </a:xfrm>
        </p:grpSpPr>
        <p:sp>
          <p:nvSpPr>
            <p:cNvPr id="55" name="object 55"/>
            <p:cNvSpPr/>
            <p:nvPr/>
          </p:nvSpPr>
          <p:spPr>
            <a:xfrm>
              <a:off x="1834023" y="1355370"/>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6" name="object 56"/>
            <p:cNvSpPr/>
            <p:nvPr/>
          </p:nvSpPr>
          <p:spPr>
            <a:xfrm>
              <a:off x="1834023" y="1355370"/>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57" name="object 57"/>
          <p:cNvSpPr txBox="1"/>
          <p:nvPr/>
        </p:nvSpPr>
        <p:spPr>
          <a:xfrm>
            <a:off x="1352562" y="1397021"/>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1</a:t>
            </a:r>
            <a:endParaRPr sz="750" baseline="5555">
              <a:latin typeface="Times New Roman"/>
              <a:cs typeface="Times New Roman"/>
            </a:endParaRPr>
          </a:p>
        </p:txBody>
      </p:sp>
      <p:grpSp>
        <p:nvGrpSpPr>
          <p:cNvPr id="58" name="object 58"/>
          <p:cNvGrpSpPr/>
          <p:nvPr/>
        </p:nvGrpSpPr>
        <p:grpSpPr>
          <a:xfrm>
            <a:off x="1996140" y="791365"/>
            <a:ext cx="187960" cy="600075"/>
            <a:chOff x="1996140" y="791365"/>
            <a:chExt cx="187960" cy="600075"/>
          </a:xfrm>
        </p:grpSpPr>
        <p:sp>
          <p:nvSpPr>
            <p:cNvPr id="59" name="object 59"/>
            <p:cNvSpPr/>
            <p:nvPr/>
          </p:nvSpPr>
          <p:spPr>
            <a:xfrm>
              <a:off x="1998363" y="811537"/>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60" name="object 60"/>
            <p:cNvSpPr/>
            <p:nvPr/>
          </p:nvSpPr>
          <p:spPr>
            <a:xfrm>
              <a:off x="2151828" y="791365"/>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61" name="object 61"/>
          <p:cNvSpPr txBox="1"/>
          <p:nvPr/>
        </p:nvSpPr>
        <p:spPr>
          <a:xfrm>
            <a:off x="2171942" y="605363"/>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2" name="object 62"/>
          <p:cNvSpPr txBox="1"/>
          <p:nvPr/>
        </p:nvSpPr>
        <p:spPr>
          <a:xfrm>
            <a:off x="2164384" y="67112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grpSp>
        <p:nvGrpSpPr>
          <p:cNvPr id="63" name="object 63"/>
          <p:cNvGrpSpPr/>
          <p:nvPr/>
        </p:nvGrpSpPr>
        <p:grpSpPr>
          <a:xfrm>
            <a:off x="2294944" y="791365"/>
            <a:ext cx="98425" cy="301625"/>
            <a:chOff x="2294944" y="791365"/>
            <a:chExt cx="98425" cy="301625"/>
          </a:xfrm>
        </p:grpSpPr>
        <p:sp>
          <p:nvSpPr>
            <p:cNvPr id="64" name="object 64"/>
            <p:cNvSpPr/>
            <p:nvPr/>
          </p:nvSpPr>
          <p:spPr>
            <a:xfrm>
              <a:off x="2297167" y="811537"/>
              <a:ext cx="83820" cy="278765"/>
            </a:xfrm>
            <a:custGeom>
              <a:avLst/>
              <a:gdLst/>
              <a:ahLst/>
              <a:cxnLst/>
              <a:rect l="l" t="t" r="r" b="b"/>
              <a:pathLst>
                <a:path w="83819" h="278765">
                  <a:moveTo>
                    <a:pt x="0" y="278631"/>
                  </a:moveTo>
                  <a:lnTo>
                    <a:pt x="1306" y="274278"/>
                  </a:lnTo>
                  <a:lnTo>
                    <a:pt x="10448" y="243802"/>
                  </a:lnTo>
                  <a:lnTo>
                    <a:pt x="35265" y="161084"/>
                  </a:lnTo>
                  <a:lnTo>
                    <a:pt x="83591" y="0"/>
                  </a:lnTo>
                </a:path>
              </a:pathLst>
            </a:custGeom>
            <a:ln w="4200">
              <a:solidFill>
                <a:srgbClr val="000000"/>
              </a:solidFill>
            </a:ln>
          </p:spPr>
          <p:txBody>
            <a:bodyPr wrap="square" lIns="0" tIns="0" rIns="0" bIns="0" rtlCol="0"/>
            <a:lstStyle/>
            <a:p>
              <a:endParaRPr/>
            </a:p>
          </p:txBody>
        </p:sp>
        <p:sp>
          <p:nvSpPr>
            <p:cNvPr id="65" name="object 65"/>
            <p:cNvSpPr/>
            <p:nvPr/>
          </p:nvSpPr>
          <p:spPr>
            <a:xfrm>
              <a:off x="2360990" y="791365"/>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66" name="object 66"/>
          <p:cNvSpPr txBox="1"/>
          <p:nvPr/>
        </p:nvSpPr>
        <p:spPr>
          <a:xfrm>
            <a:off x="2381107" y="60425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7" name="object 67"/>
          <p:cNvSpPr txBox="1"/>
          <p:nvPr/>
        </p:nvSpPr>
        <p:spPr>
          <a:xfrm>
            <a:off x="2373549" y="67112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8" name="object 68"/>
          <p:cNvSpPr txBox="1"/>
          <p:nvPr/>
        </p:nvSpPr>
        <p:spPr>
          <a:xfrm>
            <a:off x="2076535" y="614700"/>
            <a:ext cx="411480"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110" dirty="0">
                <a:latin typeface="Arial"/>
                <a:cs typeface="Arial"/>
              </a:rPr>
              <a:t> </a:t>
            </a:r>
            <a:r>
              <a:rPr sz="750" i="1" spc="-30" dirty="0">
                <a:latin typeface="メイリオ"/>
                <a:cs typeface="メイリオ"/>
              </a:rPr>
              <a:t>)</a:t>
            </a:r>
            <a:r>
              <a:rPr sz="750" i="1" spc="-25" dirty="0">
                <a:latin typeface="メイリオ"/>
                <a:cs typeface="メイリオ"/>
              </a:rPr>
              <a:t> (</a:t>
            </a:r>
            <a:r>
              <a:rPr sz="750" i="1" spc="-25" dirty="0">
                <a:latin typeface="Arial"/>
                <a:cs typeface="Arial"/>
              </a:rPr>
              <a:t>σ</a:t>
            </a:r>
            <a:r>
              <a:rPr sz="750" i="1" spc="114"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69" name="object 69"/>
          <p:cNvGrpSpPr/>
          <p:nvPr/>
        </p:nvGrpSpPr>
        <p:grpSpPr>
          <a:xfrm>
            <a:off x="3310880" y="1170327"/>
            <a:ext cx="348615" cy="553720"/>
            <a:chOff x="3310880" y="1170327"/>
            <a:chExt cx="348615" cy="553720"/>
          </a:xfrm>
        </p:grpSpPr>
        <p:sp>
          <p:nvSpPr>
            <p:cNvPr id="70" name="object 70"/>
            <p:cNvSpPr/>
            <p:nvPr/>
          </p:nvSpPr>
          <p:spPr>
            <a:xfrm>
              <a:off x="3313102" y="1180190"/>
              <a:ext cx="127000" cy="508000"/>
            </a:xfrm>
            <a:custGeom>
              <a:avLst/>
              <a:gdLst/>
              <a:ahLst/>
              <a:cxnLst/>
              <a:rect l="l" t="t" r="r" b="b"/>
              <a:pathLst>
                <a:path w="127000" h="508000">
                  <a:moveTo>
                    <a:pt x="0" y="507585"/>
                  </a:moveTo>
                  <a:lnTo>
                    <a:pt x="1982" y="499654"/>
                  </a:lnTo>
                  <a:lnTo>
                    <a:pt x="15862" y="444137"/>
                  </a:lnTo>
                  <a:lnTo>
                    <a:pt x="53535" y="293448"/>
                  </a:lnTo>
                  <a:lnTo>
                    <a:pt x="126898" y="0"/>
                  </a:lnTo>
                </a:path>
              </a:pathLst>
            </a:custGeom>
            <a:ln w="4200">
              <a:solidFill>
                <a:srgbClr val="000000"/>
              </a:solidFill>
            </a:ln>
          </p:spPr>
          <p:txBody>
            <a:bodyPr wrap="square" lIns="0" tIns="0" rIns="0" bIns="0" rtlCol="0"/>
            <a:lstStyle/>
            <a:p>
              <a:endParaRPr/>
            </a:p>
          </p:txBody>
        </p:sp>
        <p:sp>
          <p:nvSpPr>
            <p:cNvPr id="71" name="object 71"/>
            <p:cNvSpPr/>
            <p:nvPr/>
          </p:nvSpPr>
          <p:spPr>
            <a:xfrm>
              <a:off x="3413767" y="1172550"/>
              <a:ext cx="53340" cy="13335"/>
            </a:xfrm>
            <a:custGeom>
              <a:avLst/>
              <a:gdLst/>
              <a:ahLst/>
              <a:cxnLst/>
              <a:rect l="l" t="t" r="r" b="b"/>
              <a:pathLst>
                <a:path w="53339" h="13334">
                  <a:moveTo>
                    <a:pt x="52978" y="13243"/>
                  </a:moveTo>
                  <a:lnTo>
                    <a:pt x="0" y="0"/>
                  </a:lnTo>
                </a:path>
              </a:pathLst>
            </a:custGeom>
            <a:ln w="4200">
              <a:solidFill>
                <a:srgbClr val="000000"/>
              </a:solidFill>
            </a:ln>
          </p:spPr>
          <p:txBody>
            <a:bodyPr wrap="square" lIns="0" tIns="0" rIns="0" bIns="0" rtlCol="0"/>
            <a:lstStyle/>
            <a:p>
              <a:endParaRPr/>
            </a:p>
          </p:txBody>
        </p:sp>
        <p:sp>
          <p:nvSpPr>
            <p:cNvPr id="72" name="object 72"/>
            <p:cNvSpPr/>
            <p:nvPr/>
          </p:nvSpPr>
          <p:spPr>
            <a:xfrm>
              <a:off x="3313102" y="1471968"/>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73" name="object 73"/>
            <p:cNvSpPr/>
            <p:nvPr/>
          </p:nvSpPr>
          <p:spPr>
            <a:xfrm>
              <a:off x="3397055" y="1458818"/>
              <a:ext cx="48895" cy="24765"/>
            </a:xfrm>
            <a:custGeom>
              <a:avLst/>
              <a:gdLst/>
              <a:ahLst/>
              <a:cxnLst/>
              <a:rect l="l" t="t" r="r" b="b"/>
              <a:pathLst>
                <a:path w="48895" h="24765">
                  <a:moveTo>
                    <a:pt x="48843" y="24421"/>
                  </a:moveTo>
                  <a:lnTo>
                    <a:pt x="0" y="0"/>
                  </a:lnTo>
                </a:path>
              </a:pathLst>
            </a:custGeom>
            <a:ln w="4200">
              <a:solidFill>
                <a:srgbClr val="000000"/>
              </a:solidFill>
            </a:ln>
          </p:spPr>
          <p:txBody>
            <a:bodyPr wrap="square" lIns="0" tIns="0" rIns="0" bIns="0" rtlCol="0"/>
            <a:lstStyle/>
            <a:p>
              <a:endParaRPr/>
            </a:p>
          </p:txBody>
        </p:sp>
        <p:sp>
          <p:nvSpPr>
            <p:cNvPr id="74" name="object 74"/>
            <p:cNvSpPr/>
            <p:nvPr/>
          </p:nvSpPr>
          <p:spPr>
            <a:xfrm>
              <a:off x="3567085" y="1654174"/>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75" name="object 75"/>
            <p:cNvSpPr/>
            <p:nvPr/>
          </p:nvSpPr>
          <p:spPr>
            <a:xfrm>
              <a:off x="3567085" y="1654174"/>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76" name="object 76"/>
          <p:cNvSpPr txBox="1"/>
          <p:nvPr/>
        </p:nvSpPr>
        <p:spPr>
          <a:xfrm>
            <a:off x="2804796" y="1685383"/>
            <a:ext cx="878840" cy="153035"/>
          </a:xfrm>
          <a:prstGeom prst="rect">
            <a:avLst/>
          </a:prstGeom>
        </p:spPr>
        <p:txBody>
          <a:bodyPr vert="horz" wrap="square" lIns="0" tIns="15875" rIns="0" bIns="0" rtlCol="0">
            <a:spAutoFit/>
          </a:bodyPr>
          <a:lstStyle/>
          <a:p>
            <a:pPr marL="38100">
              <a:lnSpc>
                <a:spcPts val="365"/>
              </a:lnSpc>
              <a:spcBef>
                <a:spcPts val="125"/>
              </a:spcBef>
              <a:tabLst>
                <a:tab pos="572770" algn="l"/>
              </a:tabLst>
            </a:pPr>
            <a:r>
              <a:rPr sz="600" spc="7" baseline="6944" dirty="0">
                <a:latin typeface="Arial"/>
                <a:cs typeface="Arial"/>
              </a:rPr>
              <a:t>Leader	</a:t>
            </a:r>
            <a:r>
              <a:rPr sz="550" spc="10" dirty="0">
                <a:latin typeface="Times New Roman"/>
                <a:cs typeface="Times New Roman"/>
              </a:rPr>
              <a:t>2</a:t>
            </a:r>
            <a:endParaRPr sz="550">
              <a:latin typeface="Times New Roman"/>
              <a:cs typeface="Times New Roman"/>
            </a:endParaRPr>
          </a:p>
          <a:p>
            <a:pPr marL="274955">
              <a:lnSpc>
                <a:spcPts val="605"/>
              </a:lnSpc>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a:t>
            </a:r>
            <a:r>
              <a:rPr sz="750" spc="75" dirty="0">
                <a:latin typeface="Times New Roman"/>
                <a:cs typeface="Times New Roman"/>
              </a:rPr>
              <a:t>c</a:t>
            </a:r>
            <a:r>
              <a:rPr sz="750" spc="-5" dirty="0">
                <a:latin typeface="Times New Roman"/>
                <a:cs typeface="Times New Roman"/>
              </a:rPr>
              <a:t>,</a:t>
            </a:r>
            <a:r>
              <a:rPr sz="750" spc="-55" dirty="0">
                <a:latin typeface="Times New Roman"/>
                <a:cs typeface="Times New Roman"/>
              </a:rPr>
              <a:t> </a:t>
            </a:r>
            <a:r>
              <a:rPr sz="750" i="1" spc="-45" dirty="0">
                <a:latin typeface="Times New Roman"/>
                <a:cs typeface="Times New Roman"/>
              </a:rPr>
              <a:t>o</a:t>
            </a:r>
            <a:r>
              <a:rPr sz="750" i="1" dirty="0">
                <a:latin typeface="Times New Roman"/>
                <a:cs typeface="Times New Roman"/>
              </a:rPr>
              <a:t> </a:t>
            </a:r>
            <a:r>
              <a:rPr sz="750" i="1" spc="-30" dirty="0">
                <a:latin typeface="Times New Roman"/>
                <a:cs typeface="Times New Roman"/>
              </a:rPr>
              <a:t> </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77" name="object 77"/>
          <p:cNvGrpSpPr/>
          <p:nvPr/>
        </p:nvGrpSpPr>
        <p:grpSpPr>
          <a:xfrm>
            <a:off x="3818968" y="1685676"/>
            <a:ext cx="98425" cy="300990"/>
            <a:chOff x="3818968" y="1685676"/>
            <a:chExt cx="98425" cy="300990"/>
          </a:xfrm>
        </p:grpSpPr>
        <p:sp>
          <p:nvSpPr>
            <p:cNvPr id="78" name="object 78"/>
            <p:cNvSpPr/>
            <p:nvPr/>
          </p:nvSpPr>
          <p:spPr>
            <a:xfrm>
              <a:off x="3821068" y="1687776"/>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79" name="object 79"/>
            <p:cNvSpPr/>
            <p:nvPr/>
          </p:nvSpPr>
          <p:spPr>
            <a:xfrm>
              <a:off x="3884891" y="1949464"/>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80" name="object 80"/>
          <p:cNvSpPr txBox="1"/>
          <p:nvPr/>
        </p:nvSpPr>
        <p:spPr>
          <a:xfrm>
            <a:off x="3904988" y="198417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83" name="object 83"/>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84" name="object 84"/>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81" name="object 81"/>
          <p:cNvSpPr txBox="1"/>
          <p:nvPr/>
        </p:nvSpPr>
        <p:spPr>
          <a:xfrm>
            <a:off x="3897430" y="2049954"/>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82" name="object 82"/>
          <p:cNvSpPr txBox="1"/>
          <p:nvPr/>
        </p:nvSpPr>
        <p:spPr>
          <a:xfrm>
            <a:off x="3809570" y="1993516"/>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385889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Three</a:t>
            </a:r>
            <a:r>
              <a:rPr sz="1400" spc="10" dirty="0">
                <a:solidFill>
                  <a:srgbClr val="3333B2"/>
                </a:solidFill>
                <a:latin typeface="Arial"/>
                <a:cs typeface="Arial"/>
              </a:rPr>
              <a:t> </a:t>
            </a:r>
            <a:r>
              <a:rPr sz="1400" spc="15" dirty="0">
                <a:solidFill>
                  <a:srgbClr val="3333B2"/>
                </a:solidFill>
                <a:latin typeface="Arial"/>
                <a:cs typeface="Arial"/>
              </a:rPr>
              <a:t>servers</a:t>
            </a:r>
            <a:r>
              <a:rPr sz="1400" spc="10" dirty="0">
                <a:solidFill>
                  <a:srgbClr val="3333B2"/>
                </a:solidFill>
                <a:latin typeface="Arial"/>
                <a:cs typeface="Arial"/>
              </a:rPr>
              <a:t> </a:t>
            </a:r>
            <a:r>
              <a:rPr sz="1400" spc="15" dirty="0">
                <a:solidFill>
                  <a:srgbClr val="3333B2"/>
                </a:solidFill>
                <a:latin typeface="Arial"/>
                <a:cs typeface="Arial"/>
              </a:rPr>
              <a:t>and</a:t>
            </a:r>
            <a:r>
              <a:rPr sz="1400" spc="10" dirty="0">
                <a:solidFill>
                  <a:srgbClr val="3333B2"/>
                </a:solidFill>
                <a:latin typeface="Arial"/>
                <a:cs typeface="Arial"/>
              </a:rPr>
              <a:t> two crashes:</a:t>
            </a:r>
            <a:r>
              <a:rPr sz="1400" spc="105" dirty="0">
                <a:solidFill>
                  <a:srgbClr val="3333B2"/>
                </a:solidFill>
                <a:latin typeface="Arial"/>
                <a:cs typeface="Arial"/>
              </a:rPr>
              <a:t> </a:t>
            </a:r>
            <a:r>
              <a:rPr sz="1400" spc="5" dirty="0">
                <a:solidFill>
                  <a:srgbClr val="3333B2"/>
                </a:solidFill>
                <a:latin typeface="Arial"/>
                <a:cs typeface="Arial"/>
              </a:rPr>
              <a:t>still</a:t>
            </a:r>
            <a:r>
              <a:rPr sz="1400" spc="10" dirty="0">
                <a:solidFill>
                  <a:srgbClr val="3333B2"/>
                </a:solidFill>
                <a:latin typeface="Arial"/>
                <a:cs typeface="Arial"/>
              </a:rPr>
              <a:t> </a:t>
            </a:r>
            <a:r>
              <a:rPr sz="1400" spc="15" dirty="0">
                <a:solidFill>
                  <a:srgbClr val="3333B2"/>
                </a:solidFill>
                <a:latin typeface="Arial"/>
                <a:cs typeface="Arial"/>
              </a:rPr>
              <a:t>a</a:t>
            </a:r>
            <a:r>
              <a:rPr sz="1400" spc="10" dirty="0">
                <a:solidFill>
                  <a:srgbClr val="3333B2"/>
                </a:solidFill>
                <a:latin typeface="Arial"/>
                <a:cs typeface="Arial"/>
              </a:rPr>
              <a:t> problem?</a:t>
            </a:r>
            <a:endParaRPr sz="1400">
              <a:latin typeface="Arial"/>
              <a:cs typeface="Arial"/>
            </a:endParaRPr>
          </a:p>
        </p:txBody>
      </p:sp>
      <p:grpSp>
        <p:nvGrpSpPr>
          <p:cNvPr id="5" name="object 5"/>
          <p:cNvGrpSpPr/>
          <p:nvPr/>
        </p:nvGrpSpPr>
        <p:grpSpPr>
          <a:xfrm>
            <a:off x="529782" y="769522"/>
            <a:ext cx="3709670" cy="1239520"/>
            <a:chOff x="529782" y="769522"/>
            <a:chExt cx="3709670" cy="1239520"/>
          </a:xfrm>
        </p:grpSpPr>
        <p:sp>
          <p:nvSpPr>
            <p:cNvPr id="6" name="object 6"/>
            <p:cNvSpPr/>
            <p:nvPr/>
          </p:nvSpPr>
          <p:spPr>
            <a:xfrm>
              <a:off x="534227" y="1986580"/>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7" name="object 7"/>
            <p:cNvSpPr/>
            <p:nvPr/>
          </p:nvSpPr>
          <p:spPr>
            <a:xfrm>
              <a:off x="4195705" y="1964737"/>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534227" y="1687776"/>
              <a:ext cx="2390775" cy="0"/>
            </a:xfrm>
            <a:custGeom>
              <a:avLst/>
              <a:gdLst/>
              <a:ahLst/>
              <a:cxnLst/>
              <a:rect l="l" t="t" r="r" b="b"/>
              <a:pathLst>
                <a:path w="2390775">
                  <a:moveTo>
                    <a:pt x="0" y="0"/>
                  </a:moveTo>
                  <a:lnTo>
                    <a:pt x="2390429" y="0"/>
                  </a:lnTo>
                </a:path>
              </a:pathLst>
            </a:custGeom>
            <a:ln w="8401">
              <a:solidFill>
                <a:srgbClr val="000000"/>
              </a:solidFill>
            </a:ln>
          </p:spPr>
          <p:txBody>
            <a:bodyPr wrap="square" lIns="0" tIns="0" rIns="0" bIns="0" rtlCol="0"/>
            <a:lstStyle/>
            <a:p>
              <a:endParaRPr/>
            </a:p>
          </p:txBody>
        </p:sp>
        <p:sp>
          <p:nvSpPr>
            <p:cNvPr id="9" name="object 9"/>
            <p:cNvSpPr/>
            <p:nvPr/>
          </p:nvSpPr>
          <p:spPr>
            <a:xfrm>
              <a:off x="2934108" y="1687776"/>
              <a:ext cx="633095" cy="0"/>
            </a:xfrm>
            <a:custGeom>
              <a:avLst/>
              <a:gdLst/>
              <a:ahLst/>
              <a:cxnLst/>
              <a:rect l="l" t="t" r="r" b="b"/>
              <a:pathLst>
                <a:path w="633095">
                  <a:moveTo>
                    <a:pt x="0" y="0"/>
                  </a:moveTo>
                  <a:lnTo>
                    <a:pt x="632976" y="0"/>
                  </a:lnTo>
                </a:path>
              </a:pathLst>
            </a:custGeom>
            <a:ln w="12602">
              <a:solidFill>
                <a:srgbClr val="000000"/>
              </a:solidFill>
            </a:ln>
          </p:spPr>
          <p:txBody>
            <a:bodyPr wrap="square" lIns="0" tIns="0" rIns="0" bIns="0" rtlCol="0"/>
            <a:lstStyle/>
            <a:p>
              <a:endParaRPr/>
            </a:p>
          </p:txBody>
        </p:sp>
        <p:sp>
          <p:nvSpPr>
            <p:cNvPr id="10" name="object 10"/>
            <p:cNvSpPr/>
            <p:nvPr/>
          </p:nvSpPr>
          <p:spPr>
            <a:xfrm>
              <a:off x="2930958" y="1647869"/>
              <a:ext cx="0" cy="80010"/>
            </a:xfrm>
            <a:custGeom>
              <a:avLst/>
              <a:gdLst/>
              <a:ahLst/>
              <a:cxnLst/>
              <a:rect l="l" t="t" r="r" b="b"/>
              <a:pathLst>
                <a:path h="80010">
                  <a:moveTo>
                    <a:pt x="0" y="0"/>
                  </a:moveTo>
                  <a:lnTo>
                    <a:pt x="0" y="79812"/>
                  </a:lnTo>
                </a:path>
              </a:pathLst>
            </a:custGeom>
            <a:ln w="12602">
              <a:solidFill>
                <a:srgbClr val="000000"/>
              </a:solidFill>
            </a:ln>
          </p:spPr>
          <p:txBody>
            <a:bodyPr wrap="square" lIns="0" tIns="0" rIns="0" bIns="0" rtlCol="0"/>
            <a:lstStyle/>
            <a:p>
              <a:endParaRPr/>
            </a:p>
          </p:txBody>
        </p:sp>
        <p:sp>
          <p:nvSpPr>
            <p:cNvPr id="11" name="object 11"/>
            <p:cNvSpPr/>
            <p:nvPr/>
          </p:nvSpPr>
          <p:spPr>
            <a:xfrm>
              <a:off x="2625853" y="1090169"/>
              <a:ext cx="299085" cy="598170"/>
            </a:xfrm>
            <a:custGeom>
              <a:avLst/>
              <a:gdLst/>
              <a:ahLst/>
              <a:cxnLst/>
              <a:rect l="l" t="t" r="r" b="b"/>
              <a:pathLst>
                <a:path w="299085" h="598169">
                  <a:moveTo>
                    <a:pt x="0" y="0"/>
                  </a:moveTo>
                  <a:lnTo>
                    <a:pt x="298803" y="597607"/>
                  </a:lnTo>
                </a:path>
              </a:pathLst>
            </a:custGeom>
            <a:ln w="4200">
              <a:solidFill>
                <a:srgbClr val="999999"/>
              </a:solidFill>
              <a:prstDash val="dash"/>
            </a:ln>
          </p:spPr>
          <p:txBody>
            <a:bodyPr wrap="square" lIns="0" tIns="0" rIns="0" bIns="0" rtlCol="0"/>
            <a:lstStyle/>
            <a:p>
              <a:endParaRPr/>
            </a:p>
          </p:txBody>
        </p:sp>
        <p:sp>
          <p:nvSpPr>
            <p:cNvPr id="12" name="object 12"/>
            <p:cNvSpPr/>
            <p:nvPr/>
          </p:nvSpPr>
          <p:spPr>
            <a:xfrm>
              <a:off x="534227" y="1388972"/>
              <a:ext cx="2064385" cy="0"/>
            </a:xfrm>
            <a:custGeom>
              <a:avLst/>
              <a:gdLst/>
              <a:ahLst/>
              <a:cxnLst/>
              <a:rect l="l" t="t" r="r" b="b"/>
              <a:pathLst>
                <a:path w="2064385">
                  <a:moveTo>
                    <a:pt x="0" y="0"/>
                  </a:moveTo>
                  <a:lnTo>
                    <a:pt x="1299795" y="0"/>
                  </a:lnTo>
                </a:path>
                <a:path w="2064385">
                  <a:moveTo>
                    <a:pt x="1389437" y="0"/>
                  </a:moveTo>
                  <a:lnTo>
                    <a:pt x="2064321" y="0"/>
                  </a:lnTo>
                </a:path>
              </a:pathLst>
            </a:custGeom>
            <a:ln w="8401">
              <a:solidFill>
                <a:srgbClr val="000000"/>
              </a:solidFill>
            </a:ln>
          </p:spPr>
          <p:txBody>
            <a:bodyPr wrap="square" lIns="0" tIns="0" rIns="0" bIns="0" rtlCol="0"/>
            <a:lstStyle/>
            <a:p>
              <a:endParaRPr/>
            </a:p>
          </p:txBody>
        </p:sp>
        <p:sp>
          <p:nvSpPr>
            <p:cNvPr id="13" name="object 13"/>
            <p:cNvSpPr/>
            <p:nvPr/>
          </p:nvSpPr>
          <p:spPr>
            <a:xfrm>
              <a:off x="2582167" y="1367129"/>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4" name="object 14"/>
            <p:cNvSpPr/>
            <p:nvPr/>
          </p:nvSpPr>
          <p:spPr>
            <a:xfrm>
              <a:off x="2498732" y="1280307"/>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5" name="object 15"/>
            <p:cNvSpPr/>
            <p:nvPr/>
          </p:nvSpPr>
          <p:spPr>
            <a:xfrm>
              <a:off x="2498732" y="1280307"/>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16" name="object 16"/>
            <p:cNvSpPr/>
            <p:nvPr/>
          </p:nvSpPr>
          <p:spPr>
            <a:xfrm>
              <a:off x="534227" y="1090169"/>
              <a:ext cx="2064385" cy="0"/>
            </a:xfrm>
            <a:custGeom>
              <a:avLst/>
              <a:gdLst/>
              <a:ahLst/>
              <a:cxnLst/>
              <a:rect l="l" t="t" r="r" b="b"/>
              <a:pathLst>
                <a:path w="2064385">
                  <a:moveTo>
                    <a:pt x="0" y="0"/>
                  </a:moveTo>
                  <a:lnTo>
                    <a:pt x="1299795" y="0"/>
                  </a:lnTo>
                </a:path>
                <a:path w="2064385">
                  <a:moveTo>
                    <a:pt x="1389437" y="0"/>
                  </a:moveTo>
                  <a:lnTo>
                    <a:pt x="2064321" y="0"/>
                  </a:lnTo>
                </a:path>
              </a:pathLst>
            </a:custGeom>
            <a:ln w="8401">
              <a:solidFill>
                <a:srgbClr val="000000"/>
              </a:solidFill>
            </a:ln>
          </p:spPr>
          <p:txBody>
            <a:bodyPr wrap="square" lIns="0" tIns="0" rIns="0" bIns="0" rtlCol="0"/>
            <a:lstStyle/>
            <a:p>
              <a:endParaRPr/>
            </a:p>
          </p:txBody>
        </p:sp>
        <p:sp>
          <p:nvSpPr>
            <p:cNvPr id="17" name="object 17"/>
            <p:cNvSpPr/>
            <p:nvPr/>
          </p:nvSpPr>
          <p:spPr>
            <a:xfrm>
              <a:off x="2582167" y="1068325"/>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8" name="object 18"/>
            <p:cNvSpPr/>
            <p:nvPr/>
          </p:nvSpPr>
          <p:spPr>
            <a:xfrm>
              <a:off x="2498732" y="981503"/>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3"/>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9" name="object 19"/>
            <p:cNvSpPr/>
            <p:nvPr/>
          </p:nvSpPr>
          <p:spPr>
            <a:xfrm>
              <a:off x="2498732" y="981503"/>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3"/>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20" name="object 20"/>
            <p:cNvSpPr/>
            <p:nvPr/>
          </p:nvSpPr>
          <p:spPr>
            <a:xfrm>
              <a:off x="534227" y="791365"/>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21" name="object 21"/>
            <p:cNvSpPr/>
            <p:nvPr/>
          </p:nvSpPr>
          <p:spPr>
            <a:xfrm>
              <a:off x="4195705" y="769522"/>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22" name="object 22"/>
            <p:cNvSpPr/>
            <p:nvPr/>
          </p:nvSpPr>
          <p:spPr>
            <a:xfrm>
              <a:off x="773271" y="791365"/>
              <a:ext cx="284480" cy="284480"/>
            </a:xfrm>
            <a:custGeom>
              <a:avLst/>
              <a:gdLst/>
              <a:ahLst/>
              <a:cxnLst/>
              <a:rect l="l" t="t" r="r" b="b"/>
              <a:pathLst>
                <a:path w="284480" h="284480">
                  <a:moveTo>
                    <a:pt x="0" y="0"/>
                  </a:moveTo>
                  <a:lnTo>
                    <a:pt x="4436" y="4436"/>
                  </a:lnTo>
                  <a:lnTo>
                    <a:pt x="35493" y="35494"/>
                  </a:lnTo>
                  <a:lnTo>
                    <a:pt x="119792" y="119792"/>
                  </a:lnTo>
                  <a:lnTo>
                    <a:pt x="283951" y="283952"/>
                  </a:lnTo>
                </a:path>
              </a:pathLst>
            </a:custGeom>
            <a:ln w="4200">
              <a:solidFill>
                <a:srgbClr val="000000"/>
              </a:solidFill>
            </a:ln>
          </p:spPr>
          <p:txBody>
            <a:bodyPr wrap="square" lIns="0" tIns="0" rIns="0" bIns="0" rtlCol="0"/>
            <a:lstStyle/>
            <a:p>
              <a:endParaRPr/>
            </a:p>
          </p:txBody>
        </p:sp>
        <p:sp>
          <p:nvSpPr>
            <p:cNvPr id="23" name="object 23"/>
            <p:cNvSpPr/>
            <p:nvPr/>
          </p:nvSpPr>
          <p:spPr>
            <a:xfrm>
              <a:off x="1036430" y="1054525"/>
              <a:ext cx="36195" cy="36195"/>
            </a:xfrm>
            <a:custGeom>
              <a:avLst/>
              <a:gdLst/>
              <a:ahLst/>
              <a:cxnLst/>
              <a:rect l="l" t="t" r="r" b="b"/>
              <a:pathLst>
                <a:path w="36194" h="36194">
                  <a:moveTo>
                    <a:pt x="23762" y="0"/>
                  </a:moveTo>
                  <a:lnTo>
                    <a:pt x="20792" y="20792"/>
                  </a:lnTo>
                  <a:lnTo>
                    <a:pt x="0" y="23762"/>
                  </a:lnTo>
                  <a:lnTo>
                    <a:pt x="35643" y="35643"/>
                  </a:lnTo>
                  <a:lnTo>
                    <a:pt x="23762" y="0"/>
                  </a:lnTo>
                  <a:close/>
                </a:path>
              </a:pathLst>
            </a:custGeom>
            <a:solidFill>
              <a:srgbClr val="000000"/>
            </a:solidFill>
          </p:spPr>
          <p:txBody>
            <a:bodyPr wrap="square" lIns="0" tIns="0" rIns="0" bIns="0" rtlCol="0"/>
            <a:lstStyle/>
            <a:p>
              <a:endParaRPr/>
            </a:p>
          </p:txBody>
        </p:sp>
        <p:sp>
          <p:nvSpPr>
            <p:cNvPr id="24" name="object 24"/>
            <p:cNvSpPr/>
            <p:nvPr/>
          </p:nvSpPr>
          <p:spPr>
            <a:xfrm>
              <a:off x="773271" y="791365"/>
              <a:ext cx="260350" cy="578485"/>
            </a:xfrm>
            <a:custGeom>
              <a:avLst/>
              <a:gdLst/>
              <a:ahLst/>
              <a:cxnLst/>
              <a:rect l="l" t="t" r="r" b="b"/>
              <a:pathLst>
                <a:path w="260350" h="578485">
                  <a:moveTo>
                    <a:pt x="0" y="0"/>
                  </a:moveTo>
                  <a:lnTo>
                    <a:pt x="4066" y="9037"/>
                  </a:lnTo>
                  <a:lnTo>
                    <a:pt x="32533" y="72297"/>
                  </a:lnTo>
                  <a:lnTo>
                    <a:pt x="109801" y="244005"/>
                  </a:lnTo>
                  <a:lnTo>
                    <a:pt x="260270" y="578382"/>
                  </a:lnTo>
                </a:path>
              </a:pathLst>
            </a:custGeom>
            <a:ln w="4200">
              <a:solidFill>
                <a:srgbClr val="000000"/>
              </a:solidFill>
            </a:ln>
          </p:spPr>
          <p:txBody>
            <a:bodyPr wrap="square" lIns="0" tIns="0" rIns="0" bIns="0" rtlCol="0"/>
            <a:lstStyle/>
            <a:p>
              <a:endParaRPr/>
            </a:p>
          </p:txBody>
        </p:sp>
        <p:sp>
          <p:nvSpPr>
            <p:cNvPr id="25" name="object 25"/>
            <p:cNvSpPr/>
            <p:nvPr/>
          </p:nvSpPr>
          <p:spPr>
            <a:xfrm>
              <a:off x="1012971" y="1351293"/>
              <a:ext cx="31115" cy="38100"/>
            </a:xfrm>
            <a:custGeom>
              <a:avLst/>
              <a:gdLst/>
              <a:ahLst/>
              <a:cxnLst/>
              <a:rect l="l" t="t" r="r" b="b"/>
              <a:pathLst>
                <a:path w="31115" h="38100">
                  <a:moveTo>
                    <a:pt x="30758" y="0"/>
                  </a:moveTo>
                  <a:lnTo>
                    <a:pt x="20569" y="18455"/>
                  </a:lnTo>
                  <a:lnTo>
                    <a:pt x="0" y="13841"/>
                  </a:lnTo>
                  <a:lnTo>
                    <a:pt x="29220" y="37679"/>
                  </a:lnTo>
                  <a:lnTo>
                    <a:pt x="30758" y="0"/>
                  </a:lnTo>
                  <a:close/>
                </a:path>
              </a:pathLst>
            </a:custGeom>
            <a:solidFill>
              <a:srgbClr val="000000"/>
            </a:solidFill>
          </p:spPr>
          <p:txBody>
            <a:bodyPr wrap="square" lIns="0" tIns="0" rIns="0" bIns="0" rtlCol="0"/>
            <a:lstStyle/>
            <a:p>
              <a:endParaRPr/>
            </a:p>
          </p:txBody>
        </p:sp>
        <p:sp>
          <p:nvSpPr>
            <p:cNvPr id="26" name="object 26"/>
            <p:cNvSpPr/>
            <p:nvPr/>
          </p:nvSpPr>
          <p:spPr>
            <a:xfrm>
              <a:off x="773271" y="791365"/>
              <a:ext cx="175260" cy="876300"/>
            </a:xfrm>
            <a:custGeom>
              <a:avLst/>
              <a:gdLst/>
              <a:ahLst/>
              <a:cxnLst/>
              <a:rect l="l" t="t" r="r" b="b"/>
              <a:pathLst>
                <a:path w="175259" h="876300">
                  <a:moveTo>
                    <a:pt x="0" y="0"/>
                  </a:moveTo>
                  <a:lnTo>
                    <a:pt x="2736" y="13684"/>
                  </a:lnTo>
                  <a:lnTo>
                    <a:pt x="21894" y="109472"/>
                  </a:lnTo>
                  <a:lnTo>
                    <a:pt x="73894" y="369468"/>
                  </a:lnTo>
                  <a:lnTo>
                    <a:pt x="175157" y="875777"/>
                  </a:lnTo>
                </a:path>
              </a:pathLst>
            </a:custGeom>
            <a:ln w="4200">
              <a:solidFill>
                <a:srgbClr val="000000"/>
              </a:solidFill>
            </a:ln>
          </p:spPr>
          <p:txBody>
            <a:bodyPr wrap="square" lIns="0" tIns="0" rIns="0" bIns="0" rtlCol="0"/>
            <a:lstStyle/>
            <a:p>
              <a:endParaRPr/>
            </a:p>
          </p:txBody>
        </p:sp>
        <p:sp>
          <p:nvSpPr>
            <p:cNvPr id="27" name="object 27"/>
            <p:cNvSpPr/>
            <p:nvPr/>
          </p:nvSpPr>
          <p:spPr>
            <a:xfrm>
              <a:off x="929445" y="1651461"/>
              <a:ext cx="33020" cy="36830"/>
            </a:xfrm>
            <a:custGeom>
              <a:avLst/>
              <a:gdLst/>
              <a:ahLst/>
              <a:cxnLst/>
              <a:rect l="l" t="t" r="r" b="b"/>
              <a:pathLst>
                <a:path w="33019" h="36830">
                  <a:moveTo>
                    <a:pt x="33014" y="0"/>
                  </a:moveTo>
                  <a:lnTo>
                    <a:pt x="18982" y="15681"/>
                  </a:lnTo>
                  <a:lnTo>
                    <a:pt x="0" y="6602"/>
                  </a:lnTo>
                  <a:lnTo>
                    <a:pt x="23109" y="36315"/>
                  </a:lnTo>
                  <a:lnTo>
                    <a:pt x="33014" y="0"/>
                  </a:lnTo>
                  <a:close/>
                </a:path>
              </a:pathLst>
            </a:custGeom>
            <a:solidFill>
              <a:srgbClr val="000000"/>
            </a:solidFill>
          </p:spPr>
          <p:txBody>
            <a:bodyPr wrap="square" lIns="0" tIns="0" rIns="0" bIns="0" rtlCol="0"/>
            <a:lstStyle/>
            <a:p>
              <a:endParaRPr/>
            </a:p>
          </p:txBody>
        </p:sp>
        <p:sp>
          <p:nvSpPr>
            <p:cNvPr id="28" name="object 28"/>
            <p:cNvSpPr/>
            <p:nvPr/>
          </p:nvSpPr>
          <p:spPr>
            <a:xfrm>
              <a:off x="653747" y="1111087"/>
              <a:ext cx="87630" cy="875665"/>
            </a:xfrm>
            <a:custGeom>
              <a:avLst/>
              <a:gdLst/>
              <a:ahLst/>
              <a:cxnLst/>
              <a:rect l="l" t="t" r="r" b="b"/>
              <a:pathLst>
                <a:path w="87629" h="875664">
                  <a:moveTo>
                    <a:pt x="0" y="875492"/>
                  </a:moveTo>
                  <a:lnTo>
                    <a:pt x="1367" y="861813"/>
                  </a:lnTo>
                  <a:lnTo>
                    <a:pt x="10943" y="766056"/>
                  </a:lnTo>
                  <a:lnTo>
                    <a:pt x="36935" y="506144"/>
                  </a:lnTo>
                  <a:lnTo>
                    <a:pt x="87550" y="0"/>
                  </a:lnTo>
                </a:path>
              </a:pathLst>
            </a:custGeom>
            <a:ln w="4200">
              <a:solidFill>
                <a:srgbClr val="000000"/>
              </a:solidFill>
            </a:ln>
          </p:spPr>
          <p:txBody>
            <a:bodyPr wrap="square" lIns="0" tIns="0" rIns="0" bIns="0" rtlCol="0"/>
            <a:lstStyle/>
            <a:p>
              <a:endParaRPr/>
            </a:p>
          </p:txBody>
        </p:sp>
        <p:sp>
          <p:nvSpPr>
            <p:cNvPr id="29" name="object 29"/>
            <p:cNvSpPr/>
            <p:nvPr/>
          </p:nvSpPr>
          <p:spPr>
            <a:xfrm>
              <a:off x="723307" y="1090169"/>
              <a:ext cx="33655" cy="35560"/>
            </a:xfrm>
            <a:custGeom>
              <a:avLst/>
              <a:gdLst/>
              <a:ahLst/>
              <a:cxnLst/>
              <a:rect l="l" t="t" r="r" b="b"/>
              <a:pathLst>
                <a:path w="33654"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0" name="object 30"/>
            <p:cNvSpPr/>
            <p:nvPr/>
          </p:nvSpPr>
          <p:spPr>
            <a:xfrm>
              <a:off x="653747" y="1409144"/>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31" name="object 31"/>
            <p:cNvSpPr/>
            <p:nvPr/>
          </p:nvSpPr>
          <p:spPr>
            <a:xfrm>
              <a:off x="807211" y="1388972"/>
              <a:ext cx="32384" cy="37465"/>
            </a:xfrm>
            <a:custGeom>
              <a:avLst/>
              <a:gdLst/>
              <a:ahLst/>
              <a:cxnLst/>
              <a:rect l="l" t="t" r="r" b="b"/>
              <a:pathLst>
                <a:path w="32384"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32" name="object 32"/>
            <p:cNvSpPr/>
            <p:nvPr/>
          </p:nvSpPr>
          <p:spPr>
            <a:xfrm>
              <a:off x="653747" y="1701245"/>
              <a:ext cx="342900" cy="285750"/>
            </a:xfrm>
            <a:custGeom>
              <a:avLst/>
              <a:gdLst/>
              <a:ahLst/>
              <a:cxnLst/>
              <a:rect l="l" t="t" r="r" b="b"/>
              <a:pathLst>
                <a:path w="342900" h="285750">
                  <a:moveTo>
                    <a:pt x="0" y="285335"/>
                  </a:moveTo>
                  <a:lnTo>
                    <a:pt x="5350" y="280876"/>
                  </a:lnTo>
                  <a:lnTo>
                    <a:pt x="42800" y="249668"/>
                  </a:lnTo>
                  <a:lnTo>
                    <a:pt x="144450" y="164959"/>
                  </a:lnTo>
                  <a:lnTo>
                    <a:pt x="342401" y="0"/>
                  </a:lnTo>
                </a:path>
              </a:pathLst>
            </a:custGeom>
            <a:ln w="4200">
              <a:solidFill>
                <a:srgbClr val="000000"/>
              </a:solidFill>
            </a:ln>
          </p:spPr>
          <p:txBody>
            <a:bodyPr wrap="square" lIns="0" tIns="0" rIns="0" bIns="0" rtlCol="0"/>
            <a:lstStyle/>
            <a:p>
              <a:endParaRPr/>
            </a:p>
          </p:txBody>
        </p:sp>
        <p:sp>
          <p:nvSpPr>
            <p:cNvPr id="33" name="object 33"/>
            <p:cNvSpPr/>
            <p:nvPr/>
          </p:nvSpPr>
          <p:spPr>
            <a:xfrm>
              <a:off x="975676" y="1687776"/>
              <a:ext cx="36830" cy="34925"/>
            </a:xfrm>
            <a:custGeom>
              <a:avLst/>
              <a:gdLst/>
              <a:ahLst/>
              <a:cxnLst/>
              <a:rect l="l" t="t" r="r" b="b"/>
              <a:pathLst>
                <a:path w="36830" h="34925">
                  <a:moveTo>
                    <a:pt x="0" y="8620"/>
                  </a:moveTo>
                  <a:lnTo>
                    <a:pt x="20471" y="13468"/>
                  </a:lnTo>
                  <a:lnTo>
                    <a:pt x="21549" y="34479"/>
                  </a:lnTo>
                  <a:lnTo>
                    <a:pt x="36633" y="0"/>
                  </a:lnTo>
                  <a:lnTo>
                    <a:pt x="0" y="8620"/>
                  </a:lnTo>
                  <a:close/>
                </a:path>
              </a:pathLst>
            </a:custGeom>
            <a:solidFill>
              <a:srgbClr val="000000"/>
            </a:solidFill>
          </p:spPr>
          <p:txBody>
            <a:bodyPr wrap="square" lIns="0" tIns="0" rIns="0" bIns="0" rtlCol="0"/>
            <a:lstStyle/>
            <a:p>
              <a:endParaRPr/>
            </a:p>
          </p:txBody>
        </p:sp>
        <p:sp>
          <p:nvSpPr>
            <p:cNvPr id="34" name="object 34"/>
            <p:cNvSpPr/>
            <p:nvPr/>
          </p:nvSpPr>
          <p:spPr>
            <a:xfrm>
              <a:off x="3656727" y="1687776"/>
              <a:ext cx="549275" cy="0"/>
            </a:xfrm>
            <a:custGeom>
              <a:avLst/>
              <a:gdLst/>
              <a:ahLst/>
              <a:cxnLst/>
              <a:rect l="l" t="t" r="r" b="b"/>
              <a:pathLst>
                <a:path w="549275">
                  <a:moveTo>
                    <a:pt x="0" y="0"/>
                  </a:moveTo>
                  <a:lnTo>
                    <a:pt x="549058" y="0"/>
                  </a:lnTo>
                </a:path>
              </a:pathLst>
            </a:custGeom>
            <a:ln w="12602">
              <a:solidFill>
                <a:srgbClr val="000000"/>
              </a:solidFill>
            </a:ln>
          </p:spPr>
          <p:txBody>
            <a:bodyPr wrap="square" lIns="0" tIns="0" rIns="0" bIns="0" rtlCol="0"/>
            <a:lstStyle/>
            <a:p>
              <a:endParaRPr/>
            </a:p>
          </p:txBody>
        </p:sp>
        <p:sp>
          <p:nvSpPr>
            <p:cNvPr id="35" name="object 35"/>
            <p:cNvSpPr/>
            <p:nvPr/>
          </p:nvSpPr>
          <p:spPr>
            <a:xfrm>
              <a:off x="4185622" y="1660892"/>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36" name="object 36"/>
          <p:cNvSpPr txBox="1"/>
          <p:nvPr/>
        </p:nvSpPr>
        <p:spPr>
          <a:xfrm>
            <a:off x="356564" y="1903597"/>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37" name="object 37"/>
          <p:cNvSpPr txBox="1"/>
          <p:nvPr/>
        </p:nvSpPr>
        <p:spPr>
          <a:xfrm>
            <a:off x="365629" y="1604422"/>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3</a:t>
            </a:r>
            <a:endParaRPr sz="825" baseline="-15151">
              <a:latin typeface="Times New Roman"/>
              <a:cs typeface="Times New Roman"/>
            </a:endParaRPr>
          </a:p>
        </p:txBody>
      </p:sp>
      <p:sp>
        <p:nvSpPr>
          <p:cNvPr id="38" name="object 38"/>
          <p:cNvSpPr txBox="1"/>
          <p:nvPr/>
        </p:nvSpPr>
        <p:spPr>
          <a:xfrm>
            <a:off x="365629" y="1305996"/>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sp>
        <p:nvSpPr>
          <p:cNvPr id="39" name="object 39"/>
          <p:cNvSpPr txBox="1"/>
          <p:nvPr/>
        </p:nvSpPr>
        <p:spPr>
          <a:xfrm>
            <a:off x="365629" y="1006642"/>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sp>
        <p:nvSpPr>
          <p:cNvPr id="40" name="object 40"/>
          <p:cNvSpPr txBox="1"/>
          <p:nvPr/>
        </p:nvSpPr>
        <p:spPr>
          <a:xfrm>
            <a:off x="356564" y="707847"/>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sp>
        <p:nvSpPr>
          <p:cNvPr id="41" name="object 41"/>
          <p:cNvSpPr txBox="1"/>
          <p:nvPr/>
        </p:nvSpPr>
        <p:spPr>
          <a:xfrm>
            <a:off x="652165" y="622500"/>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42" name="object 42"/>
          <p:cNvGrpSpPr/>
          <p:nvPr/>
        </p:nvGrpSpPr>
        <p:grpSpPr>
          <a:xfrm>
            <a:off x="1279013" y="1087946"/>
            <a:ext cx="151765" cy="301625"/>
            <a:chOff x="1279013" y="1087946"/>
            <a:chExt cx="151765" cy="301625"/>
          </a:xfrm>
        </p:grpSpPr>
        <p:sp>
          <p:nvSpPr>
            <p:cNvPr id="43" name="object 43"/>
            <p:cNvSpPr/>
            <p:nvPr/>
          </p:nvSpPr>
          <p:spPr>
            <a:xfrm>
              <a:off x="1281236" y="1090168"/>
              <a:ext cx="140335" cy="280035"/>
            </a:xfrm>
            <a:custGeom>
              <a:avLst/>
              <a:gdLst/>
              <a:ahLst/>
              <a:cxnLst/>
              <a:rect l="l" t="t" r="r" b="b"/>
              <a:pathLst>
                <a:path w="140334" h="280034">
                  <a:moveTo>
                    <a:pt x="0" y="0"/>
                  </a:moveTo>
                  <a:lnTo>
                    <a:pt x="2187" y="4375"/>
                  </a:lnTo>
                  <a:lnTo>
                    <a:pt x="17501" y="35002"/>
                  </a:lnTo>
                  <a:lnTo>
                    <a:pt x="59066" y="118132"/>
                  </a:lnTo>
                  <a:lnTo>
                    <a:pt x="140009" y="280017"/>
                  </a:lnTo>
                </a:path>
              </a:pathLst>
            </a:custGeom>
            <a:ln w="4200">
              <a:solidFill>
                <a:srgbClr val="000000"/>
              </a:solidFill>
            </a:ln>
          </p:spPr>
          <p:txBody>
            <a:bodyPr wrap="square" lIns="0" tIns="0" rIns="0" bIns="0" rtlCol="0"/>
            <a:lstStyle/>
            <a:p>
              <a:endParaRPr/>
            </a:p>
          </p:txBody>
        </p:sp>
        <p:sp>
          <p:nvSpPr>
            <p:cNvPr id="44" name="object 44"/>
            <p:cNvSpPr/>
            <p:nvPr/>
          </p:nvSpPr>
          <p:spPr>
            <a:xfrm>
              <a:off x="1400581" y="1351401"/>
              <a:ext cx="30480" cy="38100"/>
            </a:xfrm>
            <a:custGeom>
              <a:avLst/>
              <a:gdLst/>
              <a:ahLst/>
              <a:cxnLst/>
              <a:rect l="l" t="t" r="r" b="b"/>
              <a:pathLst>
                <a:path w="30480" h="38100">
                  <a:moveTo>
                    <a:pt x="30056" y="0"/>
                  </a:moveTo>
                  <a:lnTo>
                    <a:pt x="20664" y="18785"/>
                  </a:lnTo>
                  <a:lnTo>
                    <a:pt x="0" y="15028"/>
                  </a:lnTo>
                  <a:lnTo>
                    <a:pt x="30056" y="37571"/>
                  </a:lnTo>
                  <a:lnTo>
                    <a:pt x="30056" y="0"/>
                  </a:lnTo>
                  <a:close/>
                </a:path>
              </a:pathLst>
            </a:custGeom>
            <a:solidFill>
              <a:srgbClr val="000000"/>
            </a:solidFill>
          </p:spPr>
          <p:txBody>
            <a:bodyPr wrap="square" lIns="0" tIns="0" rIns="0" bIns="0" rtlCol="0"/>
            <a:lstStyle/>
            <a:p>
              <a:endParaRPr/>
            </a:p>
          </p:txBody>
        </p:sp>
      </p:grpSp>
      <p:sp>
        <p:nvSpPr>
          <p:cNvPr id="45" name="object 45"/>
          <p:cNvSpPr txBox="1"/>
          <p:nvPr/>
        </p:nvSpPr>
        <p:spPr>
          <a:xfrm>
            <a:off x="1010391" y="921295"/>
            <a:ext cx="54229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a:t>
            </a:r>
            <a:r>
              <a:rPr sz="750" spc="75" dirty="0">
                <a:latin typeface="Times New Roman"/>
                <a:cs typeface="Times New Roman"/>
              </a:rPr>
              <a:t>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46" name="object 46"/>
          <p:cNvGrpSpPr/>
          <p:nvPr/>
        </p:nvGrpSpPr>
        <p:grpSpPr>
          <a:xfrm>
            <a:off x="1279013" y="1054344"/>
            <a:ext cx="647065" cy="553720"/>
            <a:chOff x="1279013" y="1054344"/>
            <a:chExt cx="647065" cy="553720"/>
          </a:xfrm>
        </p:grpSpPr>
        <p:sp>
          <p:nvSpPr>
            <p:cNvPr id="47" name="object 47"/>
            <p:cNvSpPr/>
            <p:nvPr/>
          </p:nvSpPr>
          <p:spPr>
            <a:xfrm>
              <a:off x="1281236" y="1090169"/>
              <a:ext cx="127000" cy="508000"/>
            </a:xfrm>
            <a:custGeom>
              <a:avLst/>
              <a:gdLst/>
              <a:ahLst/>
              <a:cxnLst/>
              <a:rect l="l" t="t" r="r" b="b"/>
              <a:pathLst>
                <a:path w="127000" h="508000">
                  <a:moveTo>
                    <a:pt x="0" y="0"/>
                  </a:moveTo>
                  <a:lnTo>
                    <a:pt x="1982" y="7931"/>
                  </a:lnTo>
                  <a:lnTo>
                    <a:pt x="15862" y="63448"/>
                  </a:lnTo>
                  <a:lnTo>
                    <a:pt x="53535" y="214137"/>
                  </a:lnTo>
                  <a:lnTo>
                    <a:pt x="126899" y="507586"/>
                  </a:lnTo>
                </a:path>
              </a:pathLst>
            </a:custGeom>
            <a:ln w="4200">
              <a:solidFill>
                <a:srgbClr val="000000"/>
              </a:solidFill>
            </a:ln>
          </p:spPr>
          <p:txBody>
            <a:bodyPr wrap="square" lIns="0" tIns="0" rIns="0" bIns="0" rtlCol="0"/>
            <a:lstStyle/>
            <a:p>
              <a:endParaRPr/>
            </a:p>
          </p:txBody>
        </p:sp>
        <p:sp>
          <p:nvSpPr>
            <p:cNvPr id="48" name="object 48"/>
            <p:cNvSpPr/>
            <p:nvPr/>
          </p:nvSpPr>
          <p:spPr>
            <a:xfrm>
              <a:off x="1381901" y="1592152"/>
              <a:ext cx="53340" cy="13335"/>
            </a:xfrm>
            <a:custGeom>
              <a:avLst/>
              <a:gdLst/>
              <a:ahLst/>
              <a:cxnLst/>
              <a:rect l="l" t="t" r="r" b="b"/>
              <a:pathLst>
                <a:path w="53340" h="13334">
                  <a:moveTo>
                    <a:pt x="0" y="13243"/>
                  </a:moveTo>
                  <a:lnTo>
                    <a:pt x="52978" y="0"/>
                  </a:lnTo>
                </a:path>
              </a:pathLst>
            </a:custGeom>
            <a:ln w="4200">
              <a:solidFill>
                <a:srgbClr val="000000"/>
              </a:solidFill>
            </a:ln>
          </p:spPr>
          <p:txBody>
            <a:bodyPr wrap="square" lIns="0" tIns="0" rIns="0" bIns="0" rtlCol="0"/>
            <a:lstStyle/>
            <a:p>
              <a:endParaRPr/>
            </a:p>
          </p:txBody>
        </p:sp>
        <p:sp>
          <p:nvSpPr>
            <p:cNvPr id="49" name="object 49"/>
            <p:cNvSpPr/>
            <p:nvPr/>
          </p:nvSpPr>
          <p:spPr>
            <a:xfrm>
              <a:off x="1580040" y="1110341"/>
              <a:ext cx="83820" cy="278765"/>
            </a:xfrm>
            <a:custGeom>
              <a:avLst/>
              <a:gdLst/>
              <a:ahLst/>
              <a:cxnLst/>
              <a:rect l="l" t="t" r="r" b="b"/>
              <a:pathLst>
                <a:path w="83819" h="278765">
                  <a:moveTo>
                    <a:pt x="0" y="278631"/>
                  </a:moveTo>
                  <a:lnTo>
                    <a:pt x="1306" y="274278"/>
                  </a:lnTo>
                  <a:lnTo>
                    <a:pt x="10448" y="243802"/>
                  </a:lnTo>
                  <a:lnTo>
                    <a:pt x="35264" y="161084"/>
                  </a:lnTo>
                  <a:lnTo>
                    <a:pt x="83590" y="0"/>
                  </a:lnTo>
                </a:path>
              </a:pathLst>
            </a:custGeom>
            <a:ln w="4200">
              <a:solidFill>
                <a:srgbClr val="000000"/>
              </a:solidFill>
            </a:ln>
          </p:spPr>
          <p:txBody>
            <a:bodyPr wrap="square" lIns="0" tIns="0" rIns="0" bIns="0" rtlCol="0"/>
            <a:lstStyle/>
            <a:p>
              <a:endParaRPr/>
            </a:p>
          </p:txBody>
        </p:sp>
        <p:sp>
          <p:nvSpPr>
            <p:cNvPr id="50" name="object 50"/>
            <p:cNvSpPr/>
            <p:nvPr/>
          </p:nvSpPr>
          <p:spPr>
            <a:xfrm>
              <a:off x="1643863" y="1090169"/>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51" name="object 51"/>
            <p:cNvSpPr/>
            <p:nvPr/>
          </p:nvSpPr>
          <p:spPr>
            <a:xfrm>
              <a:off x="1834023" y="1056567"/>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2" name="object 52"/>
            <p:cNvSpPr/>
            <p:nvPr/>
          </p:nvSpPr>
          <p:spPr>
            <a:xfrm>
              <a:off x="1834023" y="1056567"/>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53" name="object 53"/>
          <p:cNvSpPr txBox="1"/>
          <p:nvPr/>
        </p:nvSpPr>
        <p:spPr>
          <a:xfrm>
            <a:off x="1803274" y="1106753"/>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p:txBody>
      </p:sp>
      <p:grpSp>
        <p:nvGrpSpPr>
          <p:cNvPr id="54" name="object 54"/>
          <p:cNvGrpSpPr/>
          <p:nvPr/>
        </p:nvGrpSpPr>
        <p:grpSpPr>
          <a:xfrm>
            <a:off x="1831800" y="1353148"/>
            <a:ext cx="94615" cy="71755"/>
            <a:chOff x="1831800" y="1353148"/>
            <a:chExt cx="94615" cy="71755"/>
          </a:xfrm>
        </p:grpSpPr>
        <p:sp>
          <p:nvSpPr>
            <p:cNvPr id="55" name="object 55"/>
            <p:cNvSpPr/>
            <p:nvPr/>
          </p:nvSpPr>
          <p:spPr>
            <a:xfrm>
              <a:off x="1834023" y="1355370"/>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6" name="object 56"/>
            <p:cNvSpPr/>
            <p:nvPr/>
          </p:nvSpPr>
          <p:spPr>
            <a:xfrm>
              <a:off x="1834023" y="1355370"/>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57" name="object 57"/>
          <p:cNvSpPr txBox="1"/>
          <p:nvPr/>
        </p:nvSpPr>
        <p:spPr>
          <a:xfrm>
            <a:off x="1352562" y="1397021"/>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1</a:t>
            </a:r>
            <a:endParaRPr sz="750" baseline="5555">
              <a:latin typeface="Times New Roman"/>
              <a:cs typeface="Times New Roman"/>
            </a:endParaRPr>
          </a:p>
        </p:txBody>
      </p:sp>
      <p:grpSp>
        <p:nvGrpSpPr>
          <p:cNvPr id="58" name="object 58"/>
          <p:cNvGrpSpPr/>
          <p:nvPr/>
        </p:nvGrpSpPr>
        <p:grpSpPr>
          <a:xfrm>
            <a:off x="1996140" y="791365"/>
            <a:ext cx="187960" cy="600075"/>
            <a:chOff x="1996140" y="791365"/>
            <a:chExt cx="187960" cy="600075"/>
          </a:xfrm>
        </p:grpSpPr>
        <p:sp>
          <p:nvSpPr>
            <p:cNvPr id="59" name="object 59"/>
            <p:cNvSpPr/>
            <p:nvPr/>
          </p:nvSpPr>
          <p:spPr>
            <a:xfrm>
              <a:off x="1998363" y="811537"/>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60" name="object 60"/>
            <p:cNvSpPr/>
            <p:nvPr/>
          </p:nvSpPr>
          <p:spPr>
            <a:xfrm>
              <a:off x="2151828" y="791365"/>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61" name="object 61"/>
          <p:cNvSpPr txBox="1"/>
          <p:nvPr/>
        </p:nvSpPr>
        <p:spPr>
          <a:xfrm>
            <a:off x="2171942" y="605363"/>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2" name="object 62"/>
          <p:cNvSpPr txBox="1"/>
          <p:nvPr/>
        </p:nvSpPr>
        <p:spPr>
          <a:xfrm>
            <a:off x="2164384" y="67112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grpSp>
        <p:nvGrpSpPr>
          <p:cNvPr id="63" name="object 63"/>
          <p:cNvGrpSpPr/>
          <p:nvPr/>
        </p:nvGrpSpPr>
        <p:grpSpPr>
          <a:xfrm>
            <a:off x="2294944" y="791365"/>
            <a:ext cx="98425" cy="301625"/>
            <a:chOff x="2294944" y="791365"/>
            <a:chExt cx="98425" cy="301625"/>
          </a:xfrm>
        </p:grpSpPr>
        <p:sp>
          <p:nvSpPr>
            <p:cNvPr id="64" name="object 64"/>
            <p:cNvSpPr/>
            <p:nvPr/>
          </p:nvSpPr>
          <p:spPr>
            <a:xfrm>
              <a:off x="2297167" y="811537"/>
              <a:ext cx="83820" cy="278765"/>
            </a:xfrm>
            <a:custGeom>
              <a:avLst/>
              <a:gdLst/>
              <a:ahLst/>
              <a:cxnLst/>
              <a:rect l="l" t="t" r="r" b="b"/>
              <a:pathLst>
                <a:path w="83819" h="278765">
                  <a:moveTo>
                    <a:pt x="0" y="278631"/>
                  </a:moveTo>
                  <a:lnTo>
                    <a:pt x="1306" y="274278"/>
                  </a:lnTo>
                  <a:lnTo>
                    <a:pt x="10448" y="243802"/>
                  </a:lnTo>
                  <a:lnTo>
                    <a:pt x="35265" y="161084"/>
                  </a:lnTo>
                  <a:lnTo>
                    <a:pt x="83591" y="0"/>
                  </a:lnTo>
                </a:path>
              </a:pathLst>
            </a:custGeom>
            <a:ln w="4200">
              <a:solidFill>
                <a:srgbClr val="000000"/>
              </a:solidFill>
            </a:ln>
          </p:spPr>
          <p:txBody>
            <a:bodyPr wrap="square" lIns="0" tIns="0" rIns="0" bIns="0" rtlCol="0"/>
            <a:lstStyle/>
            <a:p>
              <a:endParaRPr/>
            </a:p>
          </p:txBody>
        </p:sp>
        <p:sp>
          <p:nvSpPr>
            <p:cNvPr id="65" name="object 65"/>
            <p:cNvSpPr/>
            <p:nvPr/>
          </p:nvSpPr>
          <p:spPr>
            <a:xfrm>
              <a:off x="2360990" y="791365"/>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66" name="object 66"/>
          <p:cNvSpPr txBox="1"/>
          <p:nvPr/>
        </p:nvSpPr>
        <p:spPr>
          <a:xfrm>
            <a:off x="2381107" y="60425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7" name="object 67"/>
          <p:cNvSpPr txBox="1"/>
          <p:nvPr/>
        </p:nvSpPr>
        <p:spPr>
          <a:xfrm>
            <a:off x="2373549" y="67112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8" name="object 68"/>
          <p:cNvSpPr txBox="1"/>
          <p:nvPr/>
        </p:nvSpPr>
        <p:spPr>
          <a:xfrm>
            <a:off x="2076535" y="614700"/>
            <a:ext cx="411480"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110" dirty="0">
                <a:latin typeface="Arial"/>
                <a:cs typeface="Arial"/>
              </a:rPr>
              <a:t> </a:t>
            </a:r>
            <a:r>
              <a:rPr sz="750" i="1" spc="-30" dirty="0">
                <a:latin typeface="メイリオ"/>
                <a:cs typeface="メイリオ"/>
              </a:rPr>
              <a:t>)</a:t>
            </a:r>
            <a:r>
              <a:rPr sz="750" i="1" spc="-25" dirty="0">
                <a:latin typeface="メイリオ"/>
                <a:cs typeface="メイリオ"/>
              </a:rPr>
              <a:t> (</a:t>
            </a:r>
            <a:r>
              <a:rPr sz="750" i="1" spc="-25" dirty="0">
                <a:latin typeface="Arial"/>
                <a:cs typeface="Arial"/>
              </a:rPr>
              <a:t>σ</a:t>
            </a:r>
            <a:r>
              <a:rPr sz="750" i="1" spc="114"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69" name="object 69"/>
          <p:cNvGrpSpPr/>
          <p:nvPr/>
        </p:nvGrpSpPr>
        <p:grpSpPr>
          <a:xfrm>
            <a:off x="3310880" y="1170327"/>
            <a:ext cx="348615" cy="553720"/>
            <a:chOff x="3310880" y="1170327"/>
            <a:chExt cx="348615" cy="553720"/>
          </a:xfrm>
        </p:grpSpPr>
        <p:sp>
          <p:nvSpPr>
            <p:cNvPr id="70" name="object 70"/>
            <p:cNvSpPr/>
            <p:nvPr/>
          </p:nvSpPr>
          <p:spPr>
            <a:xfrm>
              <a:off x="3313102" y="1180190"/>
              <a:ext cx="127000" cy="508000"/>
            </a:xfrm>
            <a:custGeom>
              <a:avLst/>
              <a:gdLst/>
              <a:ahLst/>
              <a:cxnLst/>
              <a:rect l="l" t="t" r="r" b="b"/>
              <a:pathLst>
                <a:path w="127000" h="508000">
                  <a:moveTo>
                    <a:pt x="0" y="507585"/>
                  </a:moveTo>
                  <a:lnTo>
                    <a:pt x="1982" y="499654"/>
                  </a:lnTo>
                  <a:lnTo>
                    <a:pt x="15862" y="444137"/>
                  </a:lnTo>
                  <a:lnTo>
                    <a:pt x="53535" y="293448"/>
                  </a:lnTo>
                  <a:lnTo>
                    <a:pt x="126898" y="0"/>
                  </a:lnTo>
                </a:path>
              </a:pathLst>
            </a:custGeom>
            <a:ln w="4200">
              <a:solidFill>
                <a:srgbClr val="000000"/>
              </a:solidFill>
            </a:ln>
          </p:spPr>
          <p:txBody>
            <a:bodyPr wrap="square" lIns="0" tIns="0" rIns="0" bIns="0" rtlCol="0"/>
            <a:lstStyle/>
            <a:p>
              <a:endParaRPr/>
            </a:p>
          </p:txBody>
        </p:sp>
        <p:sp>
          <p:nvSpPr>
            <p:cNvPr id="71" name="object 71"/>
            <p:cNvSpPr/>
            <p:nvPr/>
          </p:nvSpPr>
          <p:spPr>
            <a:xfrm>
              <a:off x="3413767" y="1172550"/>
              <a:ext cx="53340" cy="13335"/>
            </a:xfrm>
            <a:custGeom>
              <a:avLst/>
              <a:gdLst/>
              <a:ahLst/>
              <a:cxnLst/>
              <a:rect l="l" t="t" r="r" b="b"/>
              <a:pathLst>
                <a:path w="53339" h="13334">
                  <a:moveTo>
                    <a:pt x="52978" y="13243"/>
                  </a:moveTo>
                  <a:lnTo>
                    <a:pt x="0" y="0"/>
                  </a:lnTo>
                </a:path>
              </a:pathLst>
            </a:custGeom>
            <a:ln w="4200">
              <a:solidFill>
                <a:srgbClr val="000000"/>
              </a:solidFill>
            </a:ln>
          </p:spPr>
          <p:txBody>
            <a:bodyPr wrap="square" lIns="0" tIns="0" rIns="0" bIns="0" rtlCol="0"/>
            <a:lstStyle/>
            <a:p>
              <a:endParaRPr/>
            </a:p>
          </p:txBody>
        </p:sp>
        <p:sp>
          <p:nvSpPr>
            <p:cNvPr id="72" name="object 72"/>
            <p:cNvSpPr/>
            <p:nvPr/>
          </p:nvSpPr>
          <p:spPr>
            <a:xfrm>
              <a:off x="3313102" y="1471968"/>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73" name="object 73"/>
            <p:cNvSpPr/>
            <p:nvPr/>
          </p:nvSpPr>
          <p:spPr>
            <a:xfrm>
              <a:off x="3397055" y="1458818"/>
              <a:ext cx="48895" cy="24765"/>
            </a:xfrm>
            <a:custGeom>
              <a:avLst/>
              <a:gdLst/>
              <a:ahLst/>
              <a:cxnLst/>
              <a:rect l="l" t="t" r="r" b="b"/>
              <a:pathLst>
                <a:path w="48895" h="24765">
                  <a:moveTo>
                    <a:pt x="48843" y="24421"/>
                  </a:moveTo>
                  <a:lnTo>
                    <a:pt x="0" y="0"/>
                  </a:lnTo>
                </a:path>
              </a:pathLst>
            </a:custGeom>
            <a:ln w="4200">
              <a:solidFill>
                <a:srgbClr val="000000"/>
              </a:solidFill>
            </a:ln>
          </p:spPr>
          <p:txBody>
            <a:bodyPr wrap="square" lIns="0" tIns="0" rIns="0" bIns="0" rtlCol="0"/>
            <a:lstStyle/>
            <a:p>
              <a:endParaRPr/>
            </a:p>
          </p:txBody>
        </p:sp>
        <p:sp>
          <p:nvSpPr>
            <p:cNvPr id="74" name="object 74"/>
            <p:cNvSpPr/>
            <p:nvPr/>
          </p:nvSpPr>
          <p:spPr>
            <a:xfrm>
              <a:off x="3567085" y="1654174"/>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75" name="object 75"/>
            <p:cNvSpPr/>
            <p:nvPr/>
          </p:nvSpPr>
          <p:spPr>
            <a:xfrm>
              <a:off x="3567085" y="1654174"/>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76" name="object 76"/>
          <p:cNvSpPr txBox="1"/>
          <p:nvPr/>
        </p:nvSpPr>
        <p:spPr>
          <a:xfrm>
            <a:off x="2804796" y="1685383"/>
            <a:ext cx="878840" cy="153035"/>
          </a:xfrm>
          <a:prstGeom prst="rect">
            <a:avLst/>
          </a:prstGeom>
        </p:spPr>
        <p:txBody>
          <a:bodyPr vert="horz" wrap="square" lIns="0" tIns="15875" rIns="0" bIns="0" rtlCol="0">
            <a:spAutoFit/>
          </a:bodyPr>
          <a:lstStyle/>
          <a:p>
            <a:pPr marL="38100">
              <a:lnSpc>
                <a:spcPts val="365"/>
              </a:lnSpc>
              <a:spcBef>
                <a:spcPts val="125"/>
              </a:spcBef>
              <a:tabLst>
                <a:tab pos="572770" algn="l"/>
              </a:tabLst>
            </a:pPr>
            <a:r>
              <a:rPr sz="600" spc="7" baseline="6944" dirty="0">
                <a:latin typeface="Arial"/>
                <a:cs typeface="Arial"/>
              </a:rPr>
              <a:t>Leader	</a:t>
            </a:r>
            <a:r>
              <a:rPr sz="550" spc="10" dirty="0">
                <a:latin typeface="Times New Roman"/>
                <a:cs typeface="Times New Roman"/>
              </a:rPr>
              <a:t>2</a:t>
            </a:r>
            <a:endParaRPr sz="550">
              <a:latin typeface="Times New Roman"/>
              <a:cs typeface="Times New Roman"/>
            </a:endParaRPr>
          </a:p>
          <a:p>
            <a:pPr marL="274955">
              <a:lnSpc>
                <a:spcPts val="605"/>
              </a:lnSpc>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a:t>
            </a:r>
            <a:r>
              <a:rPr sz="750" spc="75" dirty="0">
                <a:latin typeface="Times New Roman"/>
                <a:cs typeface="Times New Roman"/>
              </a:rPr>
              <a:t>c</a:t>
            </a:r>
            <a:r>
              <a:rPr sz="750" spc="-5" dirty="0">
                <a:latin typeface="Times New Roman"/>
                <a:cs typeface="Times New Roman"/>
              </a:rPr>
              <a:t>,</a:t>
            </a:r>
            <a:r>
              <a:rPr sz="750" spc="-55" dirty="0">
                <a:latin typeface="Times New Roman"/>
                <a:cs typeface="Times New Roman"/>
              </a:rPr>
              <a:t> </a:t>
            </a:r>
            <a:r>
              <a:rPr sz="750" i="1" spc="-45" dirty="0">
                <a:latin typeface="Times New Roman"/>
                <a:cs typeface="Times New Roman"/>
              </a:rPr>
              <a:t>o</a:t>
            </a:r>
            <a:r>
              <a:rPr sz="750" i="1" dirty="0">
                <a:latin typeface="Times New Roman"/>
                <a:cs typeface="Times New Roman"/>
              </a:rPr>
              <a:t> </a:t>
            </a:r>
            <a:r>
              <a:rPr sz="750" i="1" spc="-30" dirty="0">
                <a:latin typeface="Times New Roman"/>
                <a:cs typeface="Times New Roman"/>
              </a:rPr>
              <a:t> </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77" name="object 77"/>
          <p:cNvGrpSpPr/>
          <p:nvPr/>
        </p:nvGrpSpPr>
        <p:grpSpPr>
          <a:xfrm>
            <a:off x="3818968" y="1685676"/>
            <a:ext cx="98425" cy="300990"/>
            <a:chOff x="3818968" y="1685676"/>
            <a:chExt cx="98425" cy="300990"/>
          </a:xfrm>
        </p:grpSpPr>
        <p:sp>
          <p:nvSpPr>
            <p:cNvPr id="78" name="object 78"/>
            <p:cNvSpPr/>
            <p:nvPr/>
          </p:nvSpPr>
          <p:spPr>
            <a:xfrm>
              <a:off x="3821068" y="1687776"/>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79" name="object 79"/>
            <p:cNvSpPr/>
            <p:nvPr/>
          </p:nvSpPr>
          <p:spPr>
            <a:xfrm>
              <a:off x="3884891" y="1949464"/>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80" name="object 80"/>
          <p:cNvSpPr txBox="1"/>
          <p:nvPr/>
        </p:nvSpPr>
        <p:spPr>
          <a:xfrm>
            <a:off x="3904988" y="198417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84" name="object 84"/>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85" name="object 8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81" name="object 81"/>
          <p:cNvSpPr txBox="1"/>
          <p:nvPr/>
        </p:nvSpPr>
        <p:spPr>
          <a:xfrm>
            <a:off x="3897430" y="2049954"/>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82" name="object 82"/>
          <p:cNvSpPr txBox="1"/>
          <p:nvPr/>
        </p:nvSpPr>
        <p:spPr>
          <a:xfrm>
            <a:off x="3809570" y="1993516"/>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sp>
        <p:nvSpPr>
          <p:cNvPr id="83" name="object 83"/>
          <p:cNvSpPr txBox="1"/>
          <p:nvPr/>
        </p:nvSpPr>
        <p:spPr>
          <a:xfrm>
            <a:off x="315950" y="2345941"/>
            <a:ext cx="3404870" cy="354965"/>
          </a:xfrm>
          <a:prstGeom prst="rect">
            <a:avLst/>
          </a:prstGeom>
        </p:spPr>
        <p:txBody>
          <a:bodyPr vert="horz" wrap="square" lIns="0" tIns="12065" rIns="0" bIns="0" rtlCol="0">
            <a:spAutoFit/>
          </a:bodyPr>
          <a:lstStyle/>
          <a:p>
            <a:pPr marL="43815">
              <a:lnSpc>
                <a:spcPts val="1420"/>
              </a:lnSpc>
              <a:spcBef>
                <a:spcPts val="95"/>
              </a:spcBef>
            </a:pPr>
            <a:r>
              <a:rPr sz="1200" spc="-5" dirty="0">
                <a:solidFill>
                  <a:srgbClr val="007C00"/>
                </a:solidFill>
                <a:latin typeface="Arial"/>
                <a:cs typeface="Arial"/>
              </a:rPr>
              <a:t>Scenario</a:t>
            </a:r>
            <a:endParaRPr sz="1200">
              <a:latin typeface="Arial"/>
              <a:cs typeface="Arial"/>
            </a:endParaRPr>
          </a:p>
          <a:p>
            <a:pPr marL="38100">
              <a:lnSpc>
                <a:spcPts val="1180"/>
              </a:lnSpc>
            </a:pPr>
            <a:r>
              <a:rPr sz="1000" spc="-5" dirty="0">
                <a:latin typeface="Arial"/>
                <a:cs typeface="Arial"/>
              </a:rPr>
              <a:t>What happens</a:t>
            </a:r>
            <a:r>
              <a:rPr sz="1000" dirty="0">
                <a:latin typeface="Arial"/>
                <a:cs typeface="Arial"/>
              </a:rPr>
              <a:t> </a:t>
            </a:r>
            <a:r>
              <a:rPr sz="1000" spc="-5" dirty="0">
                <a:latin typeface="Arial"/>
                <a:cs typeface="Arial"/>
              </a:rPr>
              <a:t>when</a:t>
            </a:r>
            <a:r>
              <a:rPr sz="1000" spc="20" dirty="0">
                <a:latin typeface="Arial"/>
                <a:cs typeface="Arial"/>
              </a:rPr>
              <a:t> </a:t>
            </a:r>
            <a:r>
              <a:rPr sz="800" spc="40" dirty="0">
                <a:latin typeface="Arial"/>
                <a:cs typeface="Arial"/>
              </a:rPr>
              <a:t>LEARN</a:t>
            </a:r>
            <a:r>
              <a:rPr sz="1000" spc="40" dirty="0">
                <a:latin typeface="Arial"/>
                <a:cs typeface="Arial"/>
              </a:rPr>
              <a:t>(</a:t>
            </a:r>
            <a:r>
              <a:rPr sz="1000" i="1" spc="40" dirty="0">
                <a:latin typeface="Arial"/>
                <a:cs typeface="Arial"/>
              </a:rPr>
              <a:t>o</a:t>
            </a:r>
            <a:r>
              <a:rPr sz="1050" i="1" spc="60" baseline="27777" dirty="0">
                <a:latin typeface="Arial"/>
                <a:cs typeface="Arial"/>
              </a:rPr>
              <a:t>1</a:t>
            </a:r>
            <a:r>
              <a:rPr sz="1000" spc="40" dirty="0">
                <a:latin typeface="Arial"/>
                <a:cs typeface="Arial"/>
              </a:rPr>
              <a:t>)</a:t>
            </a:r>
            <a:r>
              <a:rPr sz="1000" spc="5"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sent </a:t>
            </a:r>
            <a:r>
              <a:rPr sz="1000" spc="-15" dirty="0">
                <a:latin typeface="Arial"/>
                <a:cs typeface="Arial"/>
              </a:rPr>
              <a:t>by</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262" baseline="-15873" dirty="0">
                <a:latin typeface="Arial"/>
                <a:cs typeface="Arial"/>
              </a:rPr>
              <a:t> </a:t>
            </a:r>
            <a:r>
              <a:rPr sz="1000" spc="-5" dirty="0">
                <a:latin typeface="Arial"/>
                <a:cs typeface="Arial"/>
              </a:rPr>
              <a:t>to</a:t>
            </a:r>
            <a:r>
              <a:rPr sz="1000" dirty="0">
                <a:latin typeface="Arial"/>
                <a:cs typeface="Arial"/>
              </a:rPr>
              <a:t> </a:t>
            </a:r>
            <a:r>
              <a:rPr sz="1000" i="1" spc="5" dirty="0">
                <a:latin typeface="Arial"/>
                <a:cs typeface="Arial"/>
              </a:rPr>
              <a:t>S</a:t>
            </a:r>
            <a:r>
              <a:rPr sz="1050" i="1" spc="7" baseline="-15873" dirty="0">
                <a:latin typeface="Arial"/>
                <a:cs typeface="Arial"/>
              </a:rPr>
              <a:t>1</a:t>
            </a:r>
            <a:r>
              <a:rPr sz="1050" i="1" spc="202" baseline="-15873" dirty="0">
                <a:latin typeface="Arial"/>
                <a:cs typeface="Arial"/>
              </a:rPr>
              <a:t> </a:t>
            </a:r>
            <a:r>
              <a:rPr sz="1000" spc="-5" dirty="0">
                <a:latin typeface="Arial"/>
                <a:cs typeface="Arial"/>
              </a:rPr>
              <a:t>is lost?</a:t>
            </a:r>
            <a:endParaRPr sz="100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385889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Three</a:t>
            </a:r>
            <a:r>
              <a:rPr sz="1400" spc="10" dirty="0">
                <a:solidFill>
                  <a:srgbClr val="3333B2"/>
                </a:solidFill>
                <a:latin typeface="Arial"/>
                <a:cs typeface="Arial"/>
              </a:rPr>
              <a:t> </a:t>
            </a:r>
            <a:r>
              <a:rPr sz="1400" spc="15" dirty="0">
                <a:solidFill>
                  <a:srgbClr val="3333B2"/>
                </a:solidFill>
                <a:latin typeface="Arial"/>
                <a:cs typeface="Arial"/>
              </a:rPr>
              <a:t>servers</a:t>
            </a:r>
            <a:r>
              <a:rPr sz="1400" spc="10" dirty="0">
                <a:solidFill>
                  <a:srgbClr val="3333B2"/>
                </a:solidFill>
                <a:latin typeface="Arial"/>
                <a:cs typeface="Arial"/>
              </a:rPr>
              <a:t> </a:t>
            </a:r>
            <a:r>
              <a:rPr sz="1400" spc="15" dirty="0">
                <a:solidFill>
                  <a:srgbClr val="3333B2"/>
                </a:solidFill>
                <a:latin typeface="Arial"/>
                <a:cs typeface="Arial"/>
              </a:rPr>
              <a:t>and</a:t>
            </a:r>
            <a:r>
              <a:rPr sz="1400" spc="10" dirty="0">
                <a:solidFill>
                  <a:srgbClr val="3333B2"/>
                </a:solidFill>
                <a:latin typeface="Arial"/>
                <a:cs typeface="Arial"/>
              </a:rPr>
              <a:t> two crashes:</a:t>
            </a:r>
            <a:r>
              <a:rPr sz="1400" spc="105" dirty="0">
                <a:solidFill>
                  <a:srgbClr val="3333B2"/>
                </a:solidFill>
                <a:latin typeface="Arial"/>
                <a:cs typeface="Arial"/>
              </a:rPr>
              <a:t> </a:t>
            </a:r>
            <a:r>
              <a:rPr sz="1400" spc="5" dirty="0">
                <a:solidFill>
                  <a:srgbClr val="3333B2"/>
                </a:solidFill>
                <a:latin typeface="Arial"/>
                <a:cs typeface="Arial"/>
              </a:rPr>
              <a:t>still</a:t>
            </a:r>
            <a:r>
              <a:rPr sz="1400" spc="10" dirty="0">
                <a:solidFill>
                  <a:srgbClr val="3333B2"/>
                </a:solidFill>
                <a:latin typeface="Arial"/>
                <a:cs typeface="Arial"/>
              </a:rPr>
              <a:t> </a:t>
            </a:r>
            <a:r>
              <a:rPr sz="1400" spc="15" dirty="0">
                <a:solidFill>
                  <a:srgbClr val="3333B2"/>
                </a:solidFill>
                <a:latin typeface="Arial"/>
                <a:cs typeface="Arial"/>
              </a:rPr>
              <a:t>a</a:t>
            </a:r>
            <a:r>
              <a:rPr sz="1400" spc="10" dirty="0">
                <a:solidFill>
                  <a:srgbClr val="3333B2"/>
                </a:solidFill>
                <a:latin typeface="Arial"/>
                <a:cs typeface="Arial"/>
              </a:rPr>
              <a:t> problem?</a:t>
            </a:r>
            <a:endParaRPr sz="1400">
              <a:latin typeface="Arial"/>
              <a:cs typeface="Arial"/>
            </a:endParaRPr>
          </a:p>
        </p:txBody>
      </p:sp>
      <p:grpSp>
        <p:nvGrpSpPr>
          <p:cNvPr id="5" name="object 5"/>
          <p:cNvGrpSpPr/>
          <p:nvPr/>
        </p:nvGrpSpPr>
        <p:grpSpPr>
          <a:xfrm>
            <a:off x="529782" y="769522"/>
            <a:ext cx="3709670" cy="1239520"/>
            <a:chOff x="529782" y="769522"/>
            <a:chExt cx="3709670" cy="1239520"/>
          </a:xfrm>
        </p:grpSpPr>
        <p:sp>
          <p:nvSpPr>
            <p:cNvPr id="6" name="object 6"/>
            <p:cNvSpPr/>
            <p:nvPr/>
          </p:nvSpPr>
          <p:spPr>
            <a:xfrm>
              <a:off x="534227" y="1986580"/>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7" name="object 7"/>
            <p:cNvSpPr/>
            <p:nvPr/>
          </p:nvSpPr>
          <p:spPr>
            <a:xfrm>
              <a:off x="4195705" y="1964737"/>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534227" y="1687776"/>
              <a:ext cx="2390775" cy="0"/>
            </a:xfrm>
            <a:custGeom>
              <a:avLst/>
              <a:gdLst/>
              <a:ahLst/>
              <a:cxnLst/>
              <a:rect l="l" t="t" r="r" b="b"/>
              <a:pathLst>
                <a:path w="2390775">
                  <a:moveTo>
                    <a:pt x="0" y="0"/>
                  </a:moveTo>
                  <a:lnTo>
                    <a:pt x="2390429" y="0"/>
                  </a:lnTo>
                </a:path>
              </a:pathLst>
            </a:custGeom>
            <a:ln w="8401">
              <a:solidFill>
                <a:srgbClr val="000000"/>
              </a:solidFill>
            </a:ln>
          </p:spPr>
          <p:txBody>
            <a:bodyPr wrap="square" lIns="0" tIns="0" rIns="0" bIns="0" rtlCol="0"/>
            <a:lstStyle/>
            <a:p>
              <a:endParaRPr/>
            </a:p>
          </p:txBody>
        </p:sp>
        <p:sp>
          <p:nvSpPr>
            <p:cNvPr id="9" name="object 9"/>
            <p:cNvSpPr/>
            <p:nvPr/>
          </p:nvSpPr>
          <p:spPr>
            <a:xfrm>
              <a:off x="2934108" y="1687776"/>
              <a:ext cx="633095" cy="0"/>
            </a:xfrm>
            <a:custGeom>
              <a:avLst/>
              <a:gdLst/>
              <a:ahLst/>
              <a:cxnLst/>
              <a:rect l="l" t="t" r="r" b="b"/>
              <a:pathLst>
                <a:path w="633095">
                  <a:moveTo>
                    <a:pt x="0" y="0"/>
                  </a:moveTo>
                  <a:lnTo>
                    <a:pt x="632976" y="0"/>
                  </a:lnTo>
                </a:path>
              </a:pathLst>
            </a:custGeom>
            <a:ln w="12602">
              <a:solidFill>
                <a:srgbClr val="000000"/>
              </a:solidFill>
            </a:ln>
          </p:spPr>
          <p:txBody>
            <a:bodyPr wrap="square" lIns="0" tIns="0" rIns="0" bIns="0" rtlCol="0"/>
            <a:lstStyle/>
            <a:p>
              <a:endParaRPr/>
            </a:p>
          </p:txBody>
        </p:sp>
        <p:sp>
          <p:nvSpPr>
            <p:cNvPr id="10" name="object 10"/>
            <p:cNvSpPr/>
            <p:nvPr/>
          </p:nvSpPr>
          <p:spPr>
            <a:xfrm>
              <a:off x="2930958" y="1647869"/>
              <a:ext cx="0" cy="80010"/>
            </a:xfrm>
            <a:custGeom>
              <a:avLst/>
              <a:gdLst/>
              <a:ahLst/>
              <a:cxnLst/>
              <a:rect l="l" t="t" r="r" b="b"/>
              <a:pathLst>
                <a:path h="80010">
                  <a:moveTo>
                    <a:pt x="0" y="0"/>
                  </a:moveTo>
                  <a:lnTo>
                    <a:pt x="0" y="79812"/>
                  </a:lnTo>
                </a:path>
              </a:pathLst>
            </a:custGeom>
            <a:ln w="12602">
              <a:solidFill>
                <a:srgbClr val="000000"/>
              </a:solidFill>
            </a:ln>
          </p:spPr>
          <p:txBody>
            <a:bodyPr wrap="square" lIns="0" tIns="0" rIns="0" bIns="0" rtlCol="0"/>
            <a:lstStyle/>
            <a:p>
              <a:endParaRPr/>
            </a:p>
          </p:txBody>
        </p:sp>
        <p:sp>
          <p:nvSpPr>
            <p:cNvPr id="11" name="object 11"/>
            <p:cNvSpPr/>
            <p:nvPr/>
          </p:nvSpPr>
          <p:spPr>
            <a:xfrm>
              <a:off x="2625853" y="1090169"/>
              <a:ext cx="299085" cy="598170"/>
            </a:xfrm>
            <a:custGeom>
              <a:avLst/>
              <a:gdLst/>
              <a:ahLst/>
              <a:cxnLst/>
              <a:rect l="l" t="t" r="r" b="b"/>
              <a:pathLst>
                <a:path w="299085" h="598169">
                  <a:moveTo>
                    <a:pt x="0" y="0"/>
                  </a:moveTo>
                  <a:lnTo>
                    <a:pt x="298803" y="597607"/>
                  </a:lnTo>
                </a:path>
              </a:pathLst>
            </a:custGeom>
            <a:ln w="4200">
              <a:solidFill>
                <a:srgbClr val="999999"/>
              </a:solidFill>
              <a:prstDash val="dash"/>
            </a:ln>
          </p:spPr>
          <p:txBody>
            <a:bodyPr wrap="square" lIns="0" tIns="0" rIns="0" bIns="0" rtlCol="0"/>
            <a:lstStyle/>
            <a:p>
              <a:endParaRPr/>
            </a:p>
          </p:txBody>
        </p:sp>
        <p:sp>
          <p:nvSpPr>
            <p:cNvPr id="12" name="object 12"/>
            <p:cNvSpPr/>
            <p:nvPr/>
          </p:nvSpPr>
          <p:spPr>
            <a:xfrm>
              <a:off x="534227" y="1388972"/>
              <a:ext cx="2064385" cy="0"/>
            </a:xfrm>
            <a:custGeom>
              <a:avLst/>
              <a:gdLst/>
              <a:ahLst/>
              <a:cxnLst/>
              <a:rect l="l" t="t" r="r" b="b"/>
              <a:pathLst>
                <a:path w="2064385">
                  <a:moveTo>
                    <a:pt x="0" y="0"/>
                  </a:moveTo>
                  <a:lnTo>
                    <a:pt x="1299795" y="0"/>
                  </a:lnTo>
                </a:path>
                <a:path w="2064385">
                  <a:moveTo>
                    <a:pt x="1389437" y="0"/>
                  </a:moveTo>
                  <a:lnTo>
                    <a:pt x="2064321" y="0"/>
                  </a:lnTo>
                </a:path>
              </a:pathLst>
            </a:custGeom>
            <a:ln w="8401">
              <a:solidFill>
                <a:srgbClr val="000000"/>
              </a:solidFill>
            </a:ln>
          </p:spPr>
          <p:txBody>
            <a:bodyPr wrap="square" lIns="0" tIns="0" rIns="0" bIns="0" rtlCol="0"/>
            <a:lstStyle/>
            <a:p>
              <a:endParaRPr/>
            </a:p>
          </p:txBody>
        </p:sp>
        <p:sp>
          <p:nvSpPr>
            <p:cNvPr id="13" name="object 13"/>
            <p:cNvSpPr/>
            <p:nvPr/>
          </p:nvSpPr>
          <p:spPr>
            <a:xfrm>
              <a:off x="2582167" y="1367129"/>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4" name="object 14"/>
            <p:cNvSpPr/>
            <p:nvPr/>
          </p:nvSpPr>
          <p:spPr>
            <a:xfrm>
              <a:off x="2498732" y="1280307"/>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5" name="object 15"/>
            <p:cNvSpPr/>
            <p:nvPr/>
          </p:nvSpPr>
          <p:spPr>
            <a:xfrm>
              <a:off x="2498732" y="1280307"/>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16" name="object 16"/>
            <p:cNvSpPr/>
            <p:nvPr/>
          </p:nvSpPr>
          <p:spPr>
            <a:xfrm>
              <a:off x="534227" y="1090169"/>
              <a:ext cx="2064385" cy="0"/>
            </a:xfrm>
            <a:custGeom>
              <a:avLst/>
              <a:gdLst/>
              <a:ahLst/>
              <a:cxnLst/>
              <a:rect l="l" t="t" r="r" b="b"/>
              <a:pathLst>
                <a:path w="2064385">
                  <a:moveTo>
                    <a:pt x="0" y="0"/>
                  </a:moveTo>
                  <a:lnTo>
                    <a:pt x="1299795" y="0"/>
                  </a:lnTo>
                </a:path>
                <a:path w="2064385">
                  <a:moveTo>
                    <a:pt x="1389437" y="0"/>
                  </a:moveTo>
                  <a:lnTo>
                    <a:pt x="2064321" y="0"/>
                  </a:lnTo>
                </a:path>
              </a:pathLst>
            </a:custGeom>
            <a:ln w="8401">
              <a:solidFill>
                <a:srgbClr val="000000"/>
              </a:solidFill>
            </a:ln>
          </p:spPr>
          <p:txBody>
            <a:bodyPr wrap="square" lIns="0" tIns="0" rIns="0" bIns="0" rtlCol="0"/>
            <a:lstStyle/>
            <a:p>
              <a:endParaRPr/>
            </a:p>
          </p:txBody>
        </p:sp>
        <p:sp>
          <p:nvSpPr>
            <p:cNvPr id="17" name="object 17"/>
            <p:cNvSpPr/>
            <p:nvPr/>
          </p:nvSpPr>
          <p:spPr>
            <a:xfrm>
              <a:off x="2582167" y="1068325"/>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18" name="object 18"/>
            <p:cNvSpPr/>
            <p:nvPr/>
          </p:nvSpPr>
          <p:spPr>
            <a:xfrm>
              <a:off x="2498732" y="981503"/>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3"/>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9" name="object 19"/>
            <p:cNvSpPr/>
            <p:nvPr/>
          </p:nvSpPr>
          <p:spPr>
            <a:xfrm>
              <a:off x="2498732" y="981503"/>
              <a:ext cx="233679" cy="201930"/>
            </a:xfrm>
            <a:custGeom>
              <a:avLst/>
              <a:gdLst/>
              <a:ahLst/>
              <a:cxnLst/>
              <a:rect l="l" t="t" r="r" b="b"/>
              <a:pathLst>
                <a:path w="233680" h="201930">
                  <a:moveTo>
                    <a:pt x="127120" y="0"/>
                  </a:moveTo>
                  <a:lnTo>
                    <a:pt x="111883" y="66801"/>
                  </a:lnTo>
                  <a:lnTo>
                    <a:pt x="71856" y="42806"/>
                  </a:lnTo>
                  <a:lnTo>
                    <a:pt x="88538" y="86390"/>
                  </a:lnTo>
                  <a:lnTo>
                    <a:pt x="0" y="86251"/>
                  </a:lnTo>
                  <a:lnTo>
                    <a:pt x="83246" y="116401"/>
                  </a:lnTo>
                  <a:lnTo>
                    <a:pt x="44194" y="156543"/>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sp>
          <p:nvSpPr>
            <p:cNvPr id="20" name="object 20"/>
            <p:cNvSpPr/>
            <p:nvPr/>
          </p:nvSpPr>
          <p:spPr>
            <a:xfrm>
              <a:off x="534227" y="791365"/>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21" name="object 21"/>
            <p:cNvSpPr/>
            <p:nvPr/>
          </p:nvSpPr>
          <p:spPr>
            <a:xfrm>
              <a:off x="4195705" y="769522"/>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22" name="object 22"/>
            <p:cNvSpPr/>
            <p:nvPr/>
          </p:nvSpPr>
          <p:spPr>
            <a:xfrm>
              <a:off x="773271" y="791365"/>
              <a:ext cx="284480" cy="284480"/>
            </a:xfrm>
            <a:custGeom>
              <a:avLst/>
              <a:gdLst/>
              <a:ahLst/>
              <a:cxnLst/>
              <a:rect l="l" t="t" r="r" b="b"/>
              <a:pathLst>
                <a:path w="284480" h="284480">
                  <a:moveTo>
                    <a:pt x="0" y="0"/>
                  </a:moveTo>
                  <a:lnTo>
                    <a:pt x="4436" y="4436"/>
                  </a:lnTo>
                  <a:lnTo>
                    <a:pt x="35493" y="35494"/>
                  </a:lnTo>
                  <a:lnTo>
                    <a:pt x="119792" y="119792"/>
                  </a:lnTo>
                  <a:lnTo>
                    <a:pt x="283951" y="283952"/>
                  </a:lnTo>
                </a:path>
              </a:pathLst>
            </a:custGeom>
            <a:ln w="4200">
              <a:solidFill>
                <a:srgbClr val="000000"/>
              </a:solidFill>
            </a:ln>
          </p:spPr>
          <p:txBody>
            <a:bodyPr wrap="square" lIns="0" tIns="0" rIns="0" bIns="0" rtlCol="0"/>
            <a:lstStyle/>
            <a:p>
              <a:endParaRPr/>
            </a:p>
          </p:txBody>
        </p:sp>
        <p:sp>
          <p:nvSpPr>
            <p:cNvPr id="23" name="object 23"/>
            <p:cNvSpPr/>
            <p:nvPr/>
          </p:nvSpPr>
          <p:spPr>
            <a:xfrm>
              <a:off x="1036430" y="1054525"/>
              <a:ext cx="36195" cy="36195"/>
            </a:xfrm>
            <a:custGeom>
              <a:avLst/>
              <a:gdLst/>
              <a:ahLst/>
              <a:cxnLst/>
              <a:rect l="l" t="t" r="r" b="b"/>
              <a:pathLst>
                <a:path w="36194" h="36194">
                  <a:moveTo>
                    <a:pt x="23762" y="0"/>
                  </a:moveTo>
                  <a:lnTo>
                    <a:pt x="20792" y="20792"/>
                  </a:lnTo>
                  <a:lnTo>
                    <a:pt x="0" y="23762"/>
                  </a:lnTo>
                  <a:lnTo>
                    <a:pt x="35643" y="35643"/>
                  </a:lnTo>
                  <a:lnTo>
                    <a:pt x="23762" y="0"/>
                  </a:lnTo>
                  <a:close/>
                </a:path>
              </a:pathLst>
            </a:custGeom>
            <a:solidFill>
              <a:srgbClr val="000000"/>
            </a:solidFill>
          </p:spPr>
          <p:txBody>
            <a:bodyPr wrap="square" lIns="0" tIns="0" rIns="0" bIns="0" rtlCol="0"/>
            <a:lstStyle/>
            <a:p>
              <a:endParaRPr/>
            </a:p>
          </p:txBody>
        </p:sp>
        <p:sp>
          <p:nvSpPr>
            <p:cNvPr id="24" name="object 24"/>
            <p:cNvSpPr/>
            <p:nvPr/>
          </p:nvSpPr>
          <p:spPr>
            <a:xfrm>
              <a:off x="773271" y="791365"/>
              <a:ext cx="260350" cy="578485"/>
            </a:xfrm>
            <a:custGeom>
              <a:avLst/>
              <a:gdLst/>
              <a:ahLst/>
              <a:cxnLst/>
              <a:rect l="l" t="t" r="r" b="b"/>
              <a:pathLst>
                <a:path w="260350" h="578485">
                  <a:moveTo>
                    <a:pt x="0" y="0"/>
                  </a:moveTo>
                  <a:lnTo>
                    <a:pt x="4066" y="9037"/>
                  </a:lnTo>
                  <a:lnTo>
                    <a:pt x="32533" y="72297"/>
                  </a:lnTo>
                  <a:lnTo>
                    <a:pt x="109801" y="244005"/>
                  </a:lnTo>
                  <a:lnTo>
                    <a:pt x="260270" y="578382"/>
                  </a:lnTo>
                </a:path>
              </a:pathLst>
            </a:custGeom>
            <a:ln w="4200">
              <a:solidFill>
                <a:srgbClr val="000000"/>
              </a:solidFill>
            </a:ln>
          </p:spPr>
          <p:txBody>
            <a:bodyPr wrap="square" lIns="0" tIns="0" rIns="0" bIns="0" rtlCol="0"/>
            <a:lstStyle/>
            <a:p>
              <a:endParaRPr/>
            </a:p>
          </p:txBody>
        </p:sp>
        <p:sp>
          <p:nvSpPr>
            <p:cNvPr id="25" name="object 25"/>
            <p:cNvSpPr/>
            <p:nvPr/>
          </p:nvSpPr>
          <p:spPr>
            <a:xfrm>
              <a:off x="1012971" y="1351293"/>
              <a:ext cx="31115" cy="38100"/>
            </a:xfrm>
            <a:custGeom>
              <a:avLst/>
              <a:gdLst/>
              <a:ahLst/>
              <a:cxnLst/>
              <a:rect l="l" t="t" r="r" b="b"/>
              <a:pathLst>
                <a:path w="31115" h="38100">
                  <a:moveTo>
                    <a:pt x="30758" y="0"/>
                  </a:moveTo>
                  <a:lnTo>
                    <a:pt x="20569" y="18455"/>
                  </a:lnTo>
                  <a:lnTo>
                    <a:pt x="0" y="13841"/>
                  </a:lnTo>
                  <a:lnTo>
                    <a:pt x="29220" y="37679"/>
                  </a:lnTo>
                  <a:lnTo>
                    <a:pt x="30758" y="0"/>
                  </a:lnTo>
                  <a:close/>
                </a:path>
              </a:pathLst>
            </a:custGeom>
            <a:solidFill>
              <a:srgbClr val="000000"/>
            </a:solidFill>
          </p:spPr>
          <p:txBody>
            <a:bodyPr wrap="square" lIns="0" tIns="0" rIns="0" bIns="0" rtlCol="0"/>
            <a:lstStyle/>
            <a:p>
              <a:endParaRPr/>
            </a:p>
          </p:txBody>
        </p:sp>
        <p:sp>
          <p:nvSpPr>
            <p:cNvPr id="26" name="object 26"/>
            <p:cNvSpPr/>
            <p:nvPr/>
          </p:nvSpPr>
          <p:spPr>
            <a:xfrm>
              <a:off x="773271" y="791365"/>
              <a:ext cx="175260" cy="876300"/>
            </a:xfrm>
            <a:custGeom>
              <a:avLst/>
              <a:gdLst/>
              <a:ahLst/>
              <a:cxnLst/>
              <a:rect l="l" t="t" r="r" b="b"/>
              <a:pathLst>
                <a:path w="175259" h="876300">
                  <a:moveTo>
                    <a:pt x="0" y="0"/>
                  </a:moveTo>
                  <a:lnTo>
                    <a:pt x="2736" y="13684"/>
                  </a:lnTo>
                  <a:lnTo>
                    <a:pt x="21894" y="109472"/>
                  </a:lnTo>
                  <a:lnTo>
                    <a:pt x="73894" y="369468"/>
                  </a:lnTo>
                  <a:lnTo>
                    <a:pt x="175157" y="875777"/>
                  </a:lnTo>
                </a:path>
              </a:pathLst>
            </a:custGeom>
            <a:ln w="4200">
              <a:solidFill>
                <a:srgbClr val="000000"/>
              </a:solidFill>
            </a:ln>
          </p:spPr>
          <p:txBody>
            <a:bodyPr wrap="square" lIns="0" tIns="0" rIns="0" bIns="0" rtlCol="0"/>
            <a:lstStyle/>
            <a:p>
              <a:endParaRPr/>
            </a:p>
          </p:txBody>
        </p:sp>
        <p:sp>
          <p:nvSpPr>
            <p:cNvPr id="27" name="object 27"/>
            <p:cNvSpPr/>
            <p:nvPr/>
          </p:nvSpPr>
          <p:spPr>
            <a:xfrm>
              <a:off x="929445" y="1651461"/>
              <a:ext cx="33020" cy="36830"/>
            </a:xfrm>
            <a:custGeom>
              <a:avLst/>
              <a:gdLst/>
              <a:ahLst/>
              <a:cxnLst/>
              <a:rect l="l" t="t" r="r" b="b"/>
              <a:pathLst>
                <a:path w="33019" h="36830">
                  <a:moveTo>
                    <a:pt x="33014" y="0"/>
                  </a:moveTo>
                  <a:lnTo>
                    <a:pt x="18982" y="15681"/>
                  </a:lnTo>
                  <a:lnTo>
                    <a:pt x="0" y="6602"/>
                  </a:lnTo>
                  <a:lnTo>
                    <a:pt x="23109" y="36315"/>
                  </a:lnTo>
                  <a:lnTo>
                    <a:pt x="33014" y="0"/>
                  </a:lnTo>
                  <a:close/>
                </a:path>
              </a:pathLst>
            </a:custGeom>
            <a:solidFill>
              <a:srgbClr val="000000"/>
            </a:solidFill>
          </p:spPr>
          <p:txBody>
            <a:bodyPr wrap="square" lIns="0" tIns="0" rIns="0" bIns="0" rtlCol="0"/>
            <a:lstStyle/>
            <a:p>
              <a:endParaRPr/>
            </a:p>
          </p:txBody>
        </p:sp>
        <p:sp>
          <p:nvSpPr>
            <p:cNvPr id="28" name="object 28"/>
            <p:cNvSpPr/>
            <p:nvPr/>
          </p:nvSpPr>
          <p:spPr>
            <a:xfrm>
              <a:off x="653747" y="1111087"/>
              <a:ext cx="87630" cy="875665"/>
            </a:xfrm>
            <a:custGeom>
              <a:avLst/>
              <a:gdLst/>
              <a:ahLst/>
              <a:cxnLst/>
              <a:rect l="l" t="t" r="r" b="b"/>
              <a:pathLst>
                <a:path w="87629" h="875664">
                  <a:moveTo>
                    <a:pt x="0" y="875492"/>
                  </a:moveTo>
                  <a:lnTo>
                    <a:pt x="1367" y="861813"/>
                  </a:lnTo>
                  <a:lnTo>
                    <a:pt x="10943" y="766056"/>
                  </a:lnTo>
                  <a:lnTo>
                    <a:pt x="36935" y="506144"/>
                  </a:lnTo>
                  <a:lnTo>
                    <a:pt x="87550" y="0"/>
                  </a:lnTo>
                </a:path>
              </a:pathLst>
            </a:custGeom>
            <a:ln w="4200">
              <a:solidFill>
                <a:srgbClr val="000000"/>
              </a:solidFill>
            </a:ln>
          </p:spPr>
          <p:txBody>
            <a:bodyPr wrap="square" lIns="0" tIns="0" rIns="0" bIns="0" rtlCol="0"/>
            <a:lstStyle/>
            <a:p>
              <a:endParaRPr/>
            </a:p>
          </p:txBody>
        </p:sp>
        <p:sp>
          <p:nvSpPr>
            <p:cNvPr id="29" name="object 29"/>
            <p:cNvSpPr/>
            <p:nvPr/>
          </p:nvSpPr>
          <p:spPr>
            <a:xfrm>
              <a:off x="723307" y="1090169"/>
              <a:ext cx="33655" cy="35560"/>
            </a:xfrm>
            <a:custGeom>
              <a:avLst/>
              <a:gdLst/>
              <a:ahLst/>
              <a:cxnLst/>
              <a:rect l="l" t="t" r="r" b="b"/>
              <a:pathLst>
                <a:path w="33654"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0" name="object 30"/>
            <p:cNvSpPr/>
            <p:nvPr/>
          </p:nvSpPr>
          <p:spPr>
            <a:xfrm>
              <a:off x="653747" y="1409144"/>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31" name="object 31"/>
            <p:cNvSpPr/>
            <p:nvPr/>
          </p:nvSpPr>
          <p:spPr>
            <a:xfrm>
              <a:off x="807211" y="1388972"/>
              <a:ext cx="32384" cy="37465"/>
            </a:xfrm>
            <a:custGeom>
              <a:avLst/>
              <a:gdLst/>
              <a:ahLst/>
              <a:cxnLst/>
              <a:rect l="l" t="t" r="r" b="b"/>
              <a:pathLst>
                <a:path w="32384"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32" name="object 32"/>
            <p:cNvSpPr/>
            <p:nvPr/>
          </p:nvSpPr>
          <p:spPr>
            <a:xfrm>
              <a:off x="653747" y="1701245"/>
              <a:ext cx="342900" cy="285750"/>
            </a:xfrm>
            <a:custGeom>
              <a:avLst/>
              <a:gdLst/>
              <a:ahLst/>
              <a:cxnLst/>
              <a:rect l="l" t="t" r="r" b="b"/>
              <a:pathLst>
                <a:path w="342900" h="285750">
                  <a:moveTo>
                    <a:pt x="0" y="285335"/>
                  </a:moveTo>
                  <a:lnTo>
                    <a:pt x="5350" y="280876"/>
                  </a:lnTo>
                  <a:lnTo>
                    <a:pt x="42800" y="249668"/>
                  </a:lnTo>
                  <a:lnTo>
                    <a:pt x="144450" y="164959"/>
                  </a:lnTo>
                  <a:lnTo>
                    <a:pt x="342401" y="0"/>
                  </a:lnTo>
                </a:path>
              </a:pathLst>
            </a:custGeom>
            <a:ln w="4200">
              <a:solidFill>
                <a:srgbClr val="000000"/>
              </a:solidFill>
            </a:ln>
          </p:spPr>
          <p:txBody>
            <a:bodyPr wrap="square" lIns="0" tIns="0" rIns="0" bIns="0" rtlCol="0"/>
            <a:lstStyle/>
            <a:p>
              <a:endParaRPr/>
            </a:p>
          </p:txBody>
        </p:sp>
        <p:sp>
          <p:nvSpPr>
            <p:cNvPr id="33" name="object 33"/>
            <p:cNvSpPr/>
            <p:nvPr/>
          </p:nvSpPr>
          <p:spPr>
            <a:xfrm>
              <a:off x="975676" y="1687776"/>
              <a:ext cx="36830" cy="34925"/>
            </a:xfrm>
            <a:custGeom>
              <a:avLst/>
              <a:gdLst/>
              <a:ahLst/>
              <a:cxnLst/>
              <a:rect l="l" t="t" r="r" b="b"/>
              <a:pathLst>
                <a:path w="36830" h="34925">
                  <a:moveTo>
                    <a:pt x="0" y="8620"/>
                  </a:moveTo>
                  <a:lnTo>
                    <a:pt x="20471" y="13468"/>
                  </a:lnTo>
                  <a:lnTo>
                    <a:pt x="21549" y="34479"/>
                  </a:lnTo>
                  <a:lnTo>
                    <a:pt x="36633" y="0"/>
                  </a:lnTo>
                  <a:lnTo>
                    <a:pt x="0" y="8620"/>
                  </a:lnTo>
                  <a:close/>
                </a:path>
              </a:pathLst>
            </a:custGeom>
            <a:solidFill>
              <a:srgbClr val="000000"/>
            </a:solidFill>
          </p:spPr>
          <p:txBody>
            <a:bodyPr wrap="square" lIns="0" tIns="0" rIns="0" bIns="0" rtlCol="0"/>
            <a:lstStyle/>
            <a:p>
              <a:endParaRPr/>
            </a:p>
          </p:txBody>
        </p:sp>
        <p:sp>
          <p:nvSpPr>
            <p:cNvPr id="34" name="object 34"/>
            <p:cNvSpPr/>
            <p:nvPr/>
          </p:nvSpPr>
          <p:spPr>
            <a:xfrm>
              <a:off x="3656727" y="1687776"/>
              <a:ext cx="549275" cy="0"/>
            </a:xfrm>
            <a:custGeom>
              <a:avLst/>
              <a:gdLst/>
              <a:ahLst/>
              <a:cxnLst/>
              <a:rect l="l" t="t" r="r" b="b"/>
              <a:pathLst>
                <a:path w="549275">
                  <a:moveTo>
                    <a:pt x="0" y="0"/>
                  </a:moveTo>
                  <a:lnTo>
                    <a:pt x="549058" y="0"/>
                  </a:lnTo>
                </a:path>
              </a:pathLst>
            </a:custGeom>
            <a:ln w="12602">
              <a:solidFill>
                <a:srgbClr val="000000"/>
              </a:solidFill>
            </a:ln>
          </p:spPr>
          <p:txBody>
            <a:bodyPr wrap="square" lIns="0" tIns="0" rIns="0" bIns="0" rtlCol="0"/>
            <a:lstStyle/>
            <a:p>
              <a:endParaRPr/>
            </a:p>
          </p:txBody>
        </p:sp>
        <p:sp>
          <p:nvSpPr>
            <p:cNvPr id="35" name="object 35"/>
            <p:cNvSpPr/>
            <p:nvPr/>
          </p:nvSpPr>
          <p:spPr>
            <a:xfrm>
              <a:off x="4185622" y="1660892"/>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36" name="object 36"/>
          <p:cNvSpPr txBox="1"/>
          <p:nvPr/>
        </p:nvSpPr>
        <p:spPr>
          <a:xfrm>
            <a:off x="356564" y="1903597"/>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37" name="object 37"/>
          <p:cNvSpPr txBox="1"/>
          <p:nvPr/>
        </p:nvSpPr>
        <p:spPr>
          <a:xfrm>
            <a:off x="365629" y="1604422"/>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3</a:t>
            </a:r>
            <a:endParaRPr sz="825" baseline="-15151">
              <a:latin typeface="Times New Roman"/>
              <a:cs typeface="Times New Roman"/>
            </a:endParaRPr>
          </a:p>
        </p:txBody>
      </p:sp>
      <p:sp>
        <p:nvSpPr>
          <p:cNvPr id="38" name="object 38"/>
          <p:cNvSpPr txBox="1"/>
          <p:nvPr/>
        </p:nvSpPr>
        <p:spPr>
          <a:xfrm>
            <a:off x="365629" y="1305996"/>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sp>
        <p:nvSpPr>
          <p:cNvPr id="39" name="object 39"/>
          <p:cNvSpPr txBox="1"/>
          <p:nvPr/>
        </p:nvSpPr>
        <p:spPr>
          <a:xfrm>
            <a:off x="365629" y="1006642"/>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sp>
        <p:nvSpPr>
          <p:cNvPr id="40" name="object 40"/>
          <p:cNvSpPr txBox="1"/>
          <p:nvPr/>
        </p:nvSpPr>
        <p:spPr>
          <a:xfrm>
            <a:off x="356564" y="707847"/>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sp>
        <p:nvSpPr>
          <p:cNvPr id="41" name="object 41"/>
          <p:cNvSpPr txBox="1"/>
          <p:nvPr/>
        </p:nvSpPr>
        <p:spPr>
          <a:xfrm>
            <a:off x="652165" y="622500"/>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42" name="object 42"/>
          <p:cNvGrpSpPr/>
          <p:nvPr/>
        </p:nvGrpSpPr>
        <p:grpSpPr>
          <a:xfrm>
            <a:off x="1279013" y="1087946"/>
            <a:ext cx="151765" cy="301625"/>
            <a:chOff x="1279013" y="1087946"/>
            <a:chExt cx="151765" cy="301625"/>
          </a:xfrm>
        </p:grpSpPr>
        <p:sp>
          <p:nvSpPr>
            <p:cNvPr id="43" name="object 43"/>
            <p:cNvSpPr/>
            <p:nvPr/>
          </p:nvSpPr>
          <p:spPr>
            <a:xfrm>
              <a:off x="1281236" y="1090168"/>
              <a:ext cx="140335" cy="280035"/>
            </a:xfrm>
            <a:custGeom>
              <a:avLst/>
              <a:gdLst/>
              <a:ahLst/>
              <a:cxnLst/>
              <a:rect l="l" t="t" r="r" b="b"/>
              <a:pathLst>
                <a:path w="140334" h="280034">
                  <a:moveTo>
                    <a:pt x="0" y="0"/>
                  </a:moveTo>
                  <a:lnTo>
                    <a:pt x="2187" y="4375"/>
                  </a:lnTo>
                  <a:lnTo>
                    <a:pt x="17501" y="35002"/>
                  </a:lnTo>
                  <a:lnTo>
                    <a:pt x="59066" y="118132"/>
                  </a:lnTo>
                  <a:lnTo>
                    <a:pt x="140009" y="280017"/>
                  </a:lnTo>
                </a:path>
              </a:pathLst>
            </a:custGeom>
            <a:ln w="4200">
              <a:solidFill>
                <a:srgbClr val="000000"/>
              </a:solidFill>
            </a:ln>
          </p:spPr>
          <p:txBody>
            <a:bodyPr wrap="square" lIns="0" tIns="0" rIns="0" bIns="0" rtlCol="0"/>
            <a:lstStyle/>
            <a:p>
              <a:endParaRPr/>
            </a:p>
          </p:txBody>
        </p:sp>
        <p:sp>
          <p:nvSpPr>
            <p:cNvPr id="44" name="object 44"/>
            <p:cNvSpPr/>
            <p:nvPr/>
          </p:nvSpPr>
          <p:spPr>
            <a:xfrm>
              <a:off x="1400581" y="1351401"/>
              <a:ext cx="30480" cy="38100"/>
            </a:xfrm>
            <a:custGeom>
              <a:avLst/>
              <a:gdLst/>
              <a:ahLst/>
              <a:cxnLst/>
              <a:rect l="l" t="t" r="r" b="b"/>
              <a:pathLst>
                <a:path w="30480" h="38100">
                  <a:moveTo>
                    <a:pt x="30056" y="0"/>
                  </a:moveTo>
                  <a:lnTo>
                    <a:pt x="20664" y="18785"/>
                  </a:lnTo>
                  <a:lnTo>
                    <a:pt x="0" y="15028"/>
                  </a:lnTo>
                  <a:lnTo>
                    <a:pt x="30056" y="37571"/>
                  </a:lnTo>
                  <a:lnTo>
                    <a:pt x="30056" y="0"/>
                  </a:lnTo>
                  <a:close/>
                </a:path>
              </a:pathLst>
            </a:custGeom>
            <a:solidFill>
              <a:srgbClr val="000000"/>
            </a:solidFill>
          </p:spPr>
          <p:txBody>
            <a:bodyPr wrap="square" lIns="0" tIns="0" rIns="0" bIns="0" rtlCol="0"/>
            <a:lstStyle/>
            <a:p>
              <a:endParaRPr/>
            </a:p>
          </p:txBody>
        </p:sp>
      </p:grpSp>
      <p:sp>
        <p:nvSpPr>
          <p:cNvPr id="45" name="object 45"/>
          <p:cNvSpPr txBox="1"/>
          <p:nvPr/>
        </p:nvSpPr>
        <p:spPr>
          <a:xfrm>
            <a:off x="1010391" y="921295"/>
            <a:ext cx="54229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a:t>
            </a:r>
            <a:r>
              <a:rPr sz="750" spc="75" dirty="0">
                <a:latin typeface="Times New Roman"/>
                <a:cs typeface="Times New Roman"/>
              </a:rPr>
              <a:t>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46" name="object 46"/>
          <p:cNvGrpSpPr/>
          <p:nvPr/>
        </p:nvGrpSpPr>
        <p:grpSpPr>
          <a:xfrm>
            <a:off x="1279013" y="1054344"/>
            <a:ext cx="647065" cy="553720"/>
            <a:chOff x="1279013" y="1054344"/>
            <a:chExt cx="647065" cy="553720"/>
          </a:xfrm>
        </p:grpSpPr>
        <p:sp>
          <p:nvSpPr>
            <p:cNvPr id="47" name="object 47"/>
            <p:cNvSpPr/>
            <p:nvPr/>
          </p:nvSpPr>
          <p:spPr>
            <a:xfrm>
              <a:off x="1281236" y="1090169"/>
              <a:ext cx="127000" cy="508000"/>
            </a:xfrm>
            <a:custGeom>
              <a:avLst/>
              <a:gdLst/>
              <a:ahLst/>
              <a:cxnLst/>
              <a:rect l="l" t="t" r="r" b="b"/>
              <a:pathLst>
                <a:path w="127000" h="508000">
                  <a:moveTo>
                    <a:pt x="0" y="0"/>
                  </a:moveTo>
                  <a:lnTo>
                    <a:pt x="1982" y="7931"/>
                  </a:lnTo>
                  <a:lnTo>
                    <a:pt x="15862" y="63448"/>
                  </a:lnTo>
                  <a:lnTo>
                    <a:pt x="53535" y="214137"/>
                  </a:lnTo>
                  <a:lnTo>
                    <a:pt x="126899" y="507586"/>
                  </a:lnTo>
                </a:path>
              </a:pathLst>
            </a:custGeom>
            <a:ln w="4200">
              <a:solidFill>
                <a:srgbClr val="000000"/>
              </a:solidFill>
            </a:ln>
          </p:spPr>
          <p:txBody>
            <a:bodyPr wrap="square" lIns="0" tIns="0" rIns="0" bIns="0" rtlCol="0"/>
            <a:lstStyle/>
            <a:p>
              <a:endParaRPr/>
            </a:p>
          </p:txBody>
        </p:sp>
        <p:sp>
          <p:nvSpPr>
            <p:cNvPr id="48" name="object 48"/>
            <p:cNvSpPr/>
            <p:nvPr/>
          </p:nvSpPr>
          <p:spPr>
            <a:xfrm>
              <a:off x="1381901" y="1592152"/>
              <a:ext cx="53340" cy="13335"/>
            </a:xfrm>
            <a:custGeom>
              <a:avLst/>
              <a:gdLst/>
              <a:ahLst/>
              <a:cxnLst/>
              <a:rect l="l" t="t" r="r" b="b"/>
              <a:pathLst>
                <a:path w="53340" h="13334">
                  <a:moveTo>
                    <a:pt x="0" y="13243"/>
                  </a:moveTo>
                  <a:lnTo>
                    <a:pt x="52978" y="0"/>
                  </a:lnTo>
                </a:path>
              </a:pathLst>
            </a:custGeom>
            <a:ln w="4200">
              <a:solidFill>
                <a:srgbClr val="000000"/>
              </a:solidFill>
            </a:ln>
          </p:spPr>
          <p:txBody>
            <a:bodyPr wrap="square" lIns="0" tIns="0" rIns="0" bIns="0" rtlCol="0"/>
            <a:lstStyle/>
            <a:p>
              <a:endParaRPr/>
            </a:p>
          </p:txBody>
        </p:sp>
        <p:sp>
          <p:nvSpPr>
            <p:cNvPr id="49" name="object 49"/>
            <p:cNvSpPr/>
            <p:nvPr/>
          </p:nvSpPr>
          <p:spPr>
            <a:xfrm>
              <a:off x="1580040" y="1110341"/>
              <a:ext cx="83820" cy="278765"/>
            </a:xfrm>
            <a:custGeom>
              <a:avLst/>
              <a:gdLst/>
              <a:ahLst/>
              <a:cxnLst/>
              <a:rect l="l" t="t" r="r" b="b"/>
              <a:pathLst>
                <a:path w="83819" h="278765">
                  <a:moveTo>
                    <a:pt x="0" y="278631"/>
                  </a:moveTo>
                  <a:lnTo>
                    <a:pt x="1306" y="274278"/>
                  </a:lnTo>
                  <a:lnTo>
                    <a:pt x="10448" y="243802"/>
                  </a:lnTo>
                  <a:lnTo>
                    <a:pt x="35264" y="161084"/>
                  </a:lnTo>
                  <a:lnTo>
                    <a:pt x="83590" y="0"/>
                  </a:lnTo>
                </a:path>
              </a:pathLst>
            </a:custGeom>
            <a:ln w="4200">
              <a:solidFill>
                <a:srgbClr val="000000"/>
              </a:solidFill>
            </a:ln>
          </p:spPr>
          <p:txBody>
            <a:bodyPr wrap="square" lIns="0" tIns="0" rIns="0" bIns="0" rtlCol="0"/>
            <a:lstStyle/>
            <a:p>
              <a:endParaRPr/>
            </a:p>
          </p:txBody>
        </p:sp>
        <p:sp>
          <p:nvSpPr>
            <p:cNvPr id="50" name="object 50"/>
            <p:cNvSpPr/>
            <p:nvPr/>
          </p:nvSpPr>
          <p:spPr>
            <a:xfrm>
              <a:off x="1643863" y="1090169"/>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51" name="object 51"/>
            <p:cNvSpPr/>
            <p:nvPr/>
          </p:nvSpPr>
          <p:spPr>
            <a:xfrm>
              <a:off x="1834023" y="1056567"/>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2" name="object 52"/>
            <p:cNvSpPr/>
            <p:nvPr/>
          </p:nvSpPr>
          <p:spPr>
            <a:xfrm>
              <a:off x="1834023" y="1056567"/>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53" name="object 53"/>
          <p:cNvSpPr txBox="1"/>
          <p:nvPr/>
        </p:nvSpPr>
        <p:spPr>
          <a:xfrm>
            <a:off x="1803274" y="1106753"/>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p:txBody>
      </p:sp>
      <p:grpSp>
        <p:nvGrpSpPr>
          <p:cNvPr id="54" name="object 54"/>
          <p:cNvGrpSpPr/>
          <p:nvPr/>
        </p:nvGrpSpPr>
        <p:grpSpPr>
          <a:xfrm>
            <a:off x="1831800" y="1353148"/>
            <a:ext cx="94615" cy="71755"/>
            <a:chOff x="1831800" y="1353148"/>
            <a:chExt cx="94615" cy="71755"/>
          </a:xfrm>
        </p:grpSpPr>
        <p:sp>
          <p:nvSpPr>
            <p:cNvPr id="55" name="object 55"/>
            <p:cNvSpPr/>
            <p:nvPr/>
          </p:nvSpPr>
          <p:spPr>
            <a:xfrm>
              <a:off x="1834023" y="1355370"/>
              <a:ext cx="90170" cy="67310"/>
            </a:xfrm>
            <a:custGeom>
              <a:avLst/>
              <a:gdLst/>
              <a:ahLst/>
              <a:cxnLst/>
              <a:rect l="l" t="t" r="r" b="b"/>
              <a:pathLst>
                <a:path w="90169"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6" name="object 56"/>
            <p:cNvSpPr/>
            <p:nvPr/>
          </p:nvSpPr>
          <p:spPr>
            <a:xfrm>
              <a:off x="1834023" y="1355370"/>
              <a:ext cx="90170" cy="67310"/>
            </a:xfrm>
            <a:custGeom>
              <a:avLst/>
              <a:gdLst/>
              <a:ahLst/>
              <a:cxnLst/>
              <a:rect l="l" t="t" r="r" b="b"/>
              <a:pathLst>
                <a:path w="90169"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57" name="object 57"/>
          <p:cNvSpPr txBox="1"/>
          <p:nvPr/>
        </p:nvSpPr>
        <p:spPr>
          <a:xfrm>
            <a:off x="1352562" y="1397021"/>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1</a:t>
            </a:r>
            <a:endParaRPr sz="750" baseline="5555">
              <a:latin typeface="Times New Roman"/>
              <a:cs typeface="Times New Roman"/>
            </a:endParaRPr>
          </a:p>
        </p:txBody>
      </p:sp>
      <p:grpSp>
        <p:nvGrpSpPr>
          <p:cNvPr id="58" name="object 58"/>
          <p:cNvGrpSpPr/>
          <p:nvPr/>
        </p:nvGrpSpPr>
        <p:grpSpPr>
          <a:xfrm>
            <a:off x="1996140" y="791365"/>
            <a:ext cx="187960" cy="600075"/>
            <a:chOff x="1996140" y="791365"/>
            <a:chExt cx="187960" cy="600075"/>
          </a:xfrm>
        </p:grpSpPr>
        <p:sp>
          <p:nvSpPr>
            <p:cNvPr id="59" name="object 59"/>
            <p:cNvSpPr/>
            <p:nvPr/>
          </p:nvSpPr>
          <p:spPr>
            <a:xfrm>
              <a:off x="1998363" y="811537"/>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60" name="object 60"/>
            <p:cNvSpPr/>
            <p:nvPr/>
          </p:nvSpPr>
          <p:spPr>
            <a:xfrm>
              <a:off x="2151828" y="791365"/>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61" name="object 61"/>
          <p:cNvSpPr txBox="1"/>
          <p:nvPr/>
        </p:nvSpPr>
        <p:spPr>
          <a:xfrm>
            <a:off x="2171942" y="605363"/>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2" name="object 62"/>
          <p:cNvSpPr txBox="1"/>
          <p:nvPr/>
        </p:nvSpPr>
        <p:spPr>
          <a:xfrm>
            <a:off x="2164384" y="67112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grpSp>
        <p:nvGrpSpPr>
          <p:cNvPr id="63" name="object 63"/>
          <p:cNvGrpSpPr/>
          <p:nvPr/>
        </p:nvGrpSpPr>
        <p:grpSpPr>
          <a:xfrm>
            <a:off x="2294944" y="791365"/>
            <a:ext cx="98425" cy="301625"/>
            <a:chOff x="2294944" y="791365"/>
            <a:chExt cx="98425" cy="301625"/>
          </a:xfrm>
        </p:grpSpPr>
        <p:sp>
          <p:nvSpPr>
            <p:cNvPr id="64" name="object 64"/>
            <p:cNvSpPr/>
            <p:nvPr/>
          </p:nvSpPr>
          <p:spPr>
            <a:xfrm>
              <a:off x="2297167" y="811537"/>
              <a:ext cx="83820" cy="278765"/>
            </a:xfrm>
            <a:custGeom>
              <a:avLst/>
              <a:gdLst/>
              <a:ahLst/>
              <a:cxnLst/>
              <a:rect l="l" t="t" r="r" b="b"/>
              <a:pathLst>
                <a:path w="83819" h="278765">
                  <a:moveTo>
                    <a:pt x="0" y="278631"/>
                  </a:moveTo>
                  <a:lnTo>
                    <a:pt x="1306" y="274278"/>
                  </a:lnTo>
                  <a:lnTo>
                    <a:pt x="10448" y="243802"/>
                  </a:lnTo>
                  <a:lnTo>
                    <a:pt x="35265" y="161084"/>
                  </a:lnTo>
                  <a:lnTo>
                    <a:pt x="83591" y="0"/>
                  </a:lnTo>
                </a:path>
              </a:pathLst>
            </a:custGeom>
            <a:ln w="4200">
              <a:solidFill>
                <a:srgbClr val="000000"/>
              </a:solidFill>
            </a:ln>
          </p:spPr>
          <p:txBody>
            <a:bodyPr wrap="square" lIns="0" tIns="0" rIns="0" bIns="0" rtlCol="0"/>
            <a:lstStyle/>
            <a:p>
              <a:endParaRPr/>
            </a:p>
          </p:txBody>
        </p:sp>
        <p:sp>
          <p:nvSpPr>
            <p:cNvPr id="65" name="object 65"/>
            <p:cNvSpPr/>
            <p:nvPr/>
          </p:nvSpPr>
          <p:spPr>
            <a:xfrm>
              <a:off x="2360990" y="791365"/>
              <a:ext cx="32384" cy="37465"/>
            </a:xfrm>
            <a:custGeom>
              <a:avLst/>
              <a:gdLst/>
              <a:ahLst/>
              <a:cxnLst/>
              <a:rect l="l" t="t" r="r" b="b"/>
              <a:pathLst>
                <a:path w="32385"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66" name="object 66"/>
          <p:cNvSpPr txBox="1"/>
          <p:nvPr/>
        </p:nvSpPr>
        <p:spPr>
          <a:xfrm>
            <a:off x="2381107" y="60425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7" name="object 67"/>
          <p:cNvSpPr txBox="1"/>
          <p:nvPr/>
        </p:nvSpPr>
        <p:spPr>
          <a:xfrm>
            <a:off x="2373549" y="67112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8" name="object 68"/>
          <p:cNvSpPr txBox="1"/>
          <p:nvPr/>
        </p:nvSpPr>
        <p:spPr>
          <a:xfrm>
            <a:off x="2076535" y="614700"/>
            <a:ext cx="411480"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110" dirty="0">
                <a:latin typeface="Arial"/>
                <a:cs typeface="Arial"/>
              </a:rPr>
              <a:t> </a:t>
            </a:r>
            <a:r>
              <a:rPr sz="750" i="1" spc="-30" dirty="0">
                <a:latin typeface="メイリオ"/>
                <a:cs typeface="メイリオ"/>
              </a:rPr>
              <a:t>)</a:t>
            </a:r>
            <a:r>
              <a:rPr sz="750" i="1" spc="-25" dirty="0">
                <a:latin typeface="メイリオ"/>
                <a:cs typeface="メイリオ"/>
              </a:rPr>
              <a:t> (</a:t>
            </a:r>
            <a:r>
              <a:rPr sz="750" i="1" spc="-25" dirty="0">
                <a:latin typeface="Arial"/>
                <a:cs typeface="Arial"/>
              </a:rPr>
              <a:t>σ</a:t>
            </a:r>
            <a:r>
              <a:rPr sz="750" i="1" spc="114"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69" name="object 69"/>
          <p:cNvGrpSpPr/>
          <p:nvPr/>
        </p:nvGrpSpPr>
        <p:grpSpPr>
          <a:xfrm>
            <a:off x="3310880" y="1170327"/>
            <a:ext cx="348615" cy="553720"/>
            <a:chOff x="3310880" y="1170327"/>
            <a:chExt cx="348615" cy="553720"/>
          </a:xfrm>
        </p:grpSpPr>
        <p:sp>
          <p:nvSpPr>
            <p:cNvPr id="70" name="object 70"/>
            <p:cNvSpPr/>
            <p:nvPr/>
          </p:nvSpPr>
          <p:spPr>
            <a:xfrm>
              <a:off x="3313102" y="1180190"/>
              <a:ext cx="127000" cy="508000"/>
            </a:xfrm>
            <a:custGeom>
              <a:avLst/>
              <a:gdLst/>
              <a:ahLst/>
              <a:cxnLst/>
              <a:rect l="l" t="t" r="r" b="b"/>
              <a:pathLst>
                <a:path w="127000" h="508000">
                  <a:moveTo>
                    <a:pt x="0" y="507585"/>
                  </a:moveTo>
                  <a:lnTo>
                    <a:pt x="1982" y="499654"/>
                  </a:lnTo>
                  <a:lnTo>
                    <a:pt x="15862" y="444137"/>
                  </a:lnTo>
                  <a:lnTo>
                    <a:pt x="53535" y="293448"/>
                  </a:lnTo>
                  <a:lnTo>
                    <a:pt x="126898" y="0"/>
                  </a:lnTo>
                </a:path>
              </a:pathLst>
            </a:custGeom>
            <a:ln w="4200">
              <a:solidFill>
                <a:srgbClr val="000000"/>
              </a:solidFill>
            </a:ln>
          </p:spPr>
          <p:txBody>
            <a:bodyPr wrap="square" lIns="0" tIns="0" rIns="0" bIns="0" rtlCol="0"/>
            <a:lstStyle/>
            <a:p>
              <a:endParaRPr/>
            </a:p>
          </p:txBody>
        </p:sp>
        <p:sp>
          <p:nvSpPr>
            <p:cNvPr id="71" name="object 71"/>
            <p:cNvSpPr/>
            <p:nvPr/>
          </p:nvSpPr>
          <p:spPr>
            <a:xfrm>
              <a:off x="3413767" y="1172550"/>
              <a:ext cx="53340" cy="13335"/>
            </a:xfrm>
            <a:custGeom>
              <a:avLst/>
              <a:gdLst/>
              <a:ahLst/>
              <a:cxnLst/>
              <a:rect l="l" t="t" r="r" b="b"/>
              <a:pathLst>
                <a:path w="53339" h="13334">
                  <a:moveTo>
                    <a:pt x="52978" y="13243"/>
                  </a:moveTo>
                  <a:lnTo>
                    <a:pt x="0" y="0"/>
                  </a:lnTo>
                </a:path>
              </a:pathLst>
            </a:custGeom>
            <a:ln w="4200">
              <a:solidFill>
                <a:srgbClr val="000000"/>
              </a:solidFill>
            </a:ln>
          </p:spPr>
          <p:txBody>
            <a:bodyPr wrap="square" lIns="0" tIns="0" rIns="0" bIns="0" rtlCol="0"/>
            <a:lstStyle/>
            <a:p>
              <a:endParaRPr/>
            </a:p>
          </p:txBody>
        </p:sp>
        <p:sp>
          <p:nvSpPr>
            <p:cNvPr id="72" name="object 72"/>
            <p:cNvSpPr/>
            <p:nvPr/>
          </p:nvSpPr>
          <p:spPr>
            <a:xfrm>
              <a:off x="3313102" y="1471968"/>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73" name="object 73"/>
            <p:cNvSpPr/>
            <p:nvPr/>
          </p:nvSpPr>
          <p:spPr>
            <a:xfrm>
              <a:off x="3397055" y="1458818"/>
              <a:ext cx="48895" cy="24765"/>
            </a:xfrm>
            <a:custGeom>
              <a:avLst/>
              <a:gdLst/>
              <a:ahLst/>
              <a:cxnLst/>
              <a:rect l="l" t="t" r="r" b="b"/>
              <a:pathLst>
                <a:path w="48895" h="24765">
                  <a:moveTo>
                    <a:pt x="48843" y="24421"/>
                  </a:moveTo>
                  <a:lnTo>
                    <a:pt x="0" y="0"/>
                  </a:lnTo>
                </a:path>
              </a:pathLst>
            </a:custGeom>
            <a:ln w="4200">
              <a:solidFill>
                <a:srgbClr val="000000"/>
              </a:solidFill>
            </a:ln>
          </p:spPr>
          <p:txBody>
            <a:bodyPr wrap="square" lIns="0" tIns="0" rIns="0" bIns="0" rtlCol="0"/>
            <a:lstStyle/>
            <a:p>
              <a:endParaRPr/>
            </a:p>
          </p:txBody>
        </p:sp>
        <p:sp>
          <p:nvSpPr>
            <p:cNvPr id="74" name="object 74"/>
            <p:cNvSpPr/>
            <p:nvPr/>
          </p:nvSpPr>
          <p:spPr>
            <a:xfrm>
              <a:off x="3567085" y="1654174"/>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75" name="object 75"/>
            <p:cNvSpPr/>
            <p:nvPr/>
          </p:nvSpPr>
          <p:spPr>
            <a:xfrm>
              <a:off x="3567085" y="1654174"/>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76" name="object 76"/>
          <p:cNvSpPr txBox="1"/>
          <p:nvPr/>
        </p:nvSpPr>
        <p:spPr>
          <a:xfrm>
            <a:off x="2804796" y="1685383"/>
            <a:ext cx="878840" cy="153035"/>
          </a:xfrm>
          <a:prstGeom prst="rect">
            <a:avLst/>
          </a:prstGeom>
        </p:spPr>
        <p:txBody>
          <a:bodyPr vert="horz" wrap="square" lIns="0" tIns="15875" rIns="0" bIns="0" rtlCol="0">
            <a:spAutoFit/>
          </a:bodyPr>
          <a:lstStyle/>
          <a:p>
            <a:pPr marL="38100">
              <a:lnSpc>
                <a:spcPts val="365"/>
              </a:lnSpc>
              <a:spcBef>
                <a:spcPts val="125"/>
              </a:spcBef>
              <a:tabLst>
                <a:tab pos="572770" algn="l"/>
              </a:tabLst>
            </a:pPr>
            <a:r>
              <a:rPr sz="600" spc="7" baseline="6944" dirty="0">
                <a:latin typeface="Arial"/>
                <a:cs typeface="Arial"/>
              </a:rPr>
              <a:t>Leader	</a:t>
            </a:r>
            <a:r>
              <a:rPr sz="550" spc="10" dirty="0">
                <a:latin typeface="Times New Roman"/>
                <a:cs typeface="Times New Roman"/>
              </a:rPr>
              <a:t>2</a:t>
            </a:r>
            <a:endParaRPr sz="550">
              <a:latin typeface="Times New Roman"/>
              <a:cs typeface="Times New Roman"/>
            </a:endParaRPr>
          </a:p>
          <a:p>
            <a:pPr marL="274955">
              <a:lnSpc>
                <a:spcPts val="605"/>
              </a:lnSpc>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a:t>
            </a:r>
            <a:r>
              <a:rPr sz="750" spc="75" dirty="0">
                <a:latin typeface="Times New Roman"/>
                <a:cs typeface="Times New Roman"/>
              </a:rPr>
              <a:t>c</a:t>
            </a:r>
            <a:r>
              <a:rPr sz="750" spc="-5" dirty="0">
                <a:latin typeface="Times New Roman"/>
                <a:cs typeface="Times New Roman"/>
              </a:rPr>
              <a:t>,</a:t>
            </a:r>
            <a:r>
              <a:rPr sz="750" spc="-55" dirty="0">
                <a:latin typeface="Times New Roman"/>
                <a:cs typeface="Times New Roman"/>
              </a:rPr>
              <a:t> </a:t>
            </a:r>
            <a:r>
              <a:rPr sz="750" i="1" spc="-45" dirty="0">
                <a:latin typeface="Times New Roman"/>
                <a:cs typeface="Times New Roman"/>
              </a:rPr>
              <a:t>o</a:t>
            </a:r>
            <a:r>
              <a:rPr sz="750" i="1" dirty="0">
                <a:latin typeface="Times New Roman"/>
                <a:cs typeface="Times New Roman"/>
              </a:rPr>
              <a:t> </a:t>
            </a:r>
            <a:r>
              <a:rPr sz="750" i="1" spc="-30" dirty="0">
                <a:latin typeface="Times New Roman"/>
                <a:cs typeface="Times New Roman"/>
              </a:rPr>
              <a:t> </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77" name="object 77"/>
          <p:cNvGrpSpPr/>
          <p:nvPr/>
        </p:nvGrpSpPr>
        <p:grpSpPr>
          <a:xfrm>
            <a:off x="3818968" y="1685676"/>
            <a:ext cx="98425" cy="300990"/>
            <a:chOff x="3818968" y="1685676"/>
            <a:chExt cx="98425" cy="300990"/>
          </a:xfrm>
        </p:grpSpPr>
        <p:sp>
          <p:nvSpPr>
            <p:cNvPr id="78" name="object 78"/>
            <p:cNvSpPr/>
            <p:nvPr/>
          </p:nvSpPr>
          <p:spPr>
            <a:xfrm>
              <a:off x="3821068" y="1687776"/>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79" name="object 79"/>
            <p:cNvSpPr/>
            <p:nvPr/>
          </p:nvSpPr>
          <p:spPr>
            <a:xfrm>
              <a:off x="3884891" y="1949464"/>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80" name="object 80"/>
          <p:cNvSpPr txBox="1"/>
          <p:nvPr/>
        </p:nvSpPr>
        <p:spPr>
          <a:xfrm>
            <a:off x="3904988" y="198417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84" name="object 84"/>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85" name="object 8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81" name="object 81"/>
          <p:cNvSpPr txBox="1"/>
          <p:nvPr/>
        </p:nvSpPr>
        <p:spPr>
          <a:xfrm>
            <a:off x="3897430" y="2049954"/>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82" name="object 82"/>
          <p:cNvSpPr txBox="1"/>
          <p:nvPr/>
        </p:nvSpPr>
        <p:spPr>
          <a:xfrm>
            <a:off x="3809570" y="1993516"/>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sp>
        <p:nvSpPr>
          <p:cNvPr id="83" name="object 83"/>
          <p:cNvSpPr txBox="1"/>
          <p:nvPr/>
        </p:nvSpPr>
        <p:spPr>
          <a:xfrm>
            <a:off x="315950" y="2345941"/>
            <a:ext cx="3500754" cy="772160"/>
          </a:xfrm>
          <a:prstGeom prst="rect">
            <a:avLst/>
          </a:prstGeom>
        </p:spPr>
        <p:txBody>
          <a:bodyPr vert="horz" wrap="square" lIns="0" tIns="12065" rIns="0" bIns="0" rtlCol="0">
            <a:spAutoFit/>
          </a:bodyPr>
          <a:lstStyle/>
          <a:p>
            <a:pPr marL="43815">
              <a:lnSpc>
                <a:spcPts val="1420"/>
              </a:lnSpc>
              <a:spcBef>
                <a:spcPts val="95"/>
              </a:spcBef>
            </a:pPr>
            <a:r>
              <a:rPr sz="1200" spc="-5" dirty="0">
                <a:solidFill>
                  <a:srgbClr val="007C00"/>
                </a:solidFill>
                <a:latin typeface="Arial"/>
                <a:cs typeface="Arial"/>
              </a:rPr>
              <a:t>Scenario</a:t>
            </a:r>
            <a:endParaRPr sz="1200">
              <a:latin typeface="Arial"/>
              <a:cs typeface="Arial"/>
            </a:endParaRPr>
          </a:p>
          <a:p>
            <a:pPr marL="38100">
              <a:lnSpc>
                <a:spcPts val="1180"/>
              </a:lnSpc>
            </a:pPr>
            <a:r>
              <a:rPr sz="1000" spc="-5" dirty="0">
                <a:latin typeface="Arial"/>
                <a:cs typeface="Arial"/>
              </a:rPr>
              <a:t>What happens</a:t>
            </a:r>
            <a:r>
              <a:rPr sz="1000" dirty="0">
                <a:latin typeface="Arial"/>
                <a:cs typeface="Arial"/>
              </a:rPr>
              <a:t> </a:t>
            </a:r>
            <a:r>
              <a:rPr sz="1000" spc="-5" dirty="0">
                <a:latin typeface="Arial"/>
                <a:cs typeface="Arial"/>
              </a:rPr>
              <a:t>when</a:t>
            </a:r>
            <a:r>
              <a:rPr sz="1000" spc="20" dirty="0">
                <a:latin typeface="Arial"/>
                <a:cs typeface="Arial"/>
              </a:rPr>
              <a:t> </a:t>
            </a:r>
            <a:r>
              <a:rPr sz="800" spc="40" dirty="0">
                <a:latin typeface="Arial"/>
                <a:cs typeface="Arial"/>
              </a:rPr>
              <a:t>LEARN</a:t>
            </a:r>
            <a:r>
              <a:rPr sz="1000" spc="40" dirty="0">
                <a:latin typeface="Arial"/>
                <a:cs typeface="Arial"/>
              </a:rPr>
              <a:t>(</a:t>
            </a:r>
            <a:r>
              <a:rPr sz="1000" i="1" spc="40" dirty="0">
                <a:latin typeface="Arial"/>
                <a:cs typeface="Arial"/>
              </a:rPr>
              <a:t>o</a:t>
            </a:r>
            <a:r>
              <a:rPr sz="1050" i="1" spc="60" baseline="27777" dirty="0">
                <a:latin typeface="Arial"/>
                <a:cs typeface="Arial"/>
              </a:rPr>
              <a:t>1</a:t>
            </a:r>
            <a:r>
              <a:rPr sz="1000" spc="40" dirty="0">
                <a:latin typeface="Arial"/>
                <a:cs typeface="Arial"/>
              </a:rPr>
              <a:t>)</a:t>
            </a:r>
            <a:r>
              <a:rPr sz="1000" spc="5"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sent </a:t>
            </a:r>
            <a:r>
              <a:rPr sz="1000" spc="-15" dirty="0">
                <a:latin typeface="Arial"/>
                <a:cs typeface="Arial"/>
              </a:rPr>
              <a:t>by</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262" baseline="-15873" dirty="0">
                <a:latin typeface="Arial"/>
                <a:cs typeface="Arial"/>
              </a:rPr>
              <a:t> </a:t>
            </a:r>
            <a:r>
              <a:rPr sz="1000" spc="-5" dirty="0">
                <a:latin typeface="Arial"/>
                <a:cs typeface="Arial"/>
              </a:rPr>
              <a:t>to</a:t>
            </a:r>
            <a:r>
              <a:rPr sz="1000" dirty="0">
                <a:latin typeface="Arial"/>
                <a:cs typeface="Arial"/>
              </a:rPr>
              <a:t> </a:t>
            </a:r>
            <a:r>
              <a:rPr sz="1000" i="1" spc="5" dirty="0">
                <a:latin typeface="Arial"/>
                <a:cs typeface="Arial"/>
              </a:rPr>
              <a:t>S</a:t>
            </a:r>
            <a:r>
              <a:rPr sz="1050" i="1" spc="7" baseline="-15873" dirty="0">
                <a:latin typeface="Arial"/>
                <a:cs typeface="Arial"/>
              </a:rPr>
              <a:t>1</a:t>
            </a:r>
            <a:r>
              <a:rPr sz="1050" i="1" spc="202" baseline="-15873" dirty="0">
                <a:latin typeface="Arial"/>
                <a:cs typeface="Arial"/>
              </a:rPr>
              <a:t> </a:t>
            </a:r>
            <a:r>
              <a:rPr sz="1000" spc="-5" dirty="0">
                <a:latin typeface="Arial"/>
                <a:cs typeface="Arial"/>
              </a:rPr>
              <a:t>is lost?</a:t>
            </a:r>
            <a:endParaRPr sz="1000">
              <a:latin typeface="Arial"/>
              <a:cs typeface="Arial"/>
            </a:endParaRPr>
          </a:p>
          <a:p>
            <a:pPr marL="43815">
              <a:lnSpc>
                <a:spcPts val="1420"/>
              </a:lnSpc>
              <a:spcBef>
                <a:spcPts val="690"/>
              </a:spcBef>
            </a:pPr>
            <a:r>
              <a:rPr sz="1200" spc="-5" dirty="0">
                <a:solidFill>
                  <a:srgbClr val="3333B2"/>
                </a:solidFill>
                <a:latin typeface="Arial"/>
                <a:cs typeface="Arial"/>
              </a:rPr>
              <a:t>Solution</a:t>
            </a:r>
            <a:endParaRPr sz="1200">
              <a:latin typeface="Arial"/>
              <a:cs typeface="Arial"/>
            </a:endParaRPr>
          </a:p>
          <a:p>
            <a:pPr marL="43815">
              <a:lnSpc>
                <a:spcPts val="1180"/>
              </a:lnSpc>
            </a:pP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5" dirty="0">
                <a:latin typeface="Arial"/>
                <a:cs typeface="Arial"/>
              </a:rPr>
              <a:t>will also</a:t>
            </a:r>
            <a:r>
              <a:rPr sz="1000"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wait</a:t>
            </a:r>
            <a:r>
              <a:rPr sz="1000" dirty="0">
                <a:latin typeface="Arial"/>
                <a:cs typeface="Arial"/>
              </a:rPr>
              <a:t> </a:t>
            </a:r>
            <a:r>
              <a:rPr sz="1000" spc="-5" dirty="0">
                <a:latin typeface="Arial"/>
                <a:cs typeface="Arial"/>
              </a:rPr>
              <a:t>until</a:t>
            </a:r>
            <a:r>
              <a:rPr sz="1000" dirty="0">
                <a:latin typeface="Arial"/>
                <a:cs typeface="Arial"/>
              </a:rPr>
              <a:t> </a:t>
            </a:r>
            <a:r>
              <a:rPr sz="1000" spc="-5" dirty="0">
                <a:latin typeface="Arial"/>
                <a:cs typeface="Arial"/>
              </a:rPr>
              <a:t>it</a:t>
            </a:r>
            <a:r>
              <a:rPr sz="1000" dirty="0">
                <a:latin typeface="Arial"/>
                <a:cs typeface="Arial"/>
              </a:rPr>
              <a:t> </a:t>
            </a:r>
            <a:r>
              <a:rPr sz="1000" spc="-10" dirty="0">
                <a:latin typeface="Arial"/>
                <a:cs typeface="Arial"/>
              </a:rPr>
              <a:t>knows</a:t>
            </a:r>
            <a:r>
              <a:rPr sz="1000" dirty="0">
                <a:latin typeface="Arial"/>
                <a:cs typeface="Arial"/>
              </a:rPr>
              <a:t> </a:t>
            </a:r>
            <a:r>
              <a:rPr sz="1000" spc="-5" dirty="0">
                <a:latin typeface="Arial"/>
                <a:cs typeface="Arial"/>
              </a:rPr>
              <a:t>that </a:t>
            </a:r>
            <a:r>
              <a:rPr sz="1000" i="1" spc="5" dirty="0">
                <a:latin typeface="Arial"/>
                <a:cs typeface="Arial"/>
              </a:rPr>
              <a:t>S</a:t>
            </a:r>
            <a:r>
              <a:rPr sz="1050" i="1" spc="7" baseline="-15873" dirty="0">
                <a:latin typeface="Arial"/>
                <a:cs typeface="Arial"/>
              </a:rPr>
              <a:t>3</a:t>
            </a:r>
            <a:r>
              <a:rPr sz="1050" i="1" spc="270" baseline="-15873" dirty="0">
                <a:latin typeface="Arial"/>
                <a:cs typeface="Arial"/>
              </a:rPr>
              <a:t> </a:t>
            </a:r>
            <a:r>
              <a:rPr sz="1000" spc="-5" dirty="0">
                <a:latin typeface="Arial"/>
                <a:cs typeface="Arial"/>
              </a:rPr>
              <a:t>has </a:t>
            </a:r>
            <a:r>
              <a:rPr sz="1000" dirty="0">
                <a:latin typeface="Arial"/>
                <a:cs typeface="Arial"/>
              </a:rPr>
              <a:t>learned </a:t>
            </a:r>
            <a:r>
              <a:rPr sz="1000" i="1" spc="25" dirty="0">
                <a:latin typeface="Arial"/>
                <a:cs typeface="Arial"/>
              </a:rPr>
              <a:t>o</a:t>
            </a:r>
            <a:r>
              <a:rPr sz="1050" i="1" spc="37" baseline="27777" dirty="0">
                <a:latin typeface="Arial"/>
                <a:cs typeface="Arial"/>
              </a:rPr>
              <a:t>1</a:t>
            </a:r>
            <a:r>
              <a:rPr sz="1000" spc="25" dirty="0">
                <a:latin typeface="Arial"/>
                <a:cs typeface="Arial"/>
              </a:rPr>
              <a:t>.</a:t>
            </a:r>
            <a:endParaRPr sz="10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Understanding</a:t>
            </a:r>
            <a:r>
              <a:rPr sz="600" spc="-25" dirty="0">
                <a:solidFill>
                  <a:srgbClr val="3333B2"/>
                </a:solidFill>
                <a:latin typeface="Arial"/>
                <a:cs typeface="Arial"/>
                <a:hlinkClick r:id="rId3" action="ppaction://hlinksldjump"/>
              </a:rPr>
              <a:t> </a:t>
            </a:r>
            <a:r>
              <a:rPr sz="600" spc="-10" dirty="0">
                <a:solidFill>
                  <a:srgbClr val="3333B2"/>
                </a:solidFill>
                <a:latin typeface="Arial"/>
                <a:cs typeface="Arial"/>
                <a:hlinkClick r:id="rId3" action="ppaction://hlinksldjump"/>
              </a:rPr>
              <a:t>Paxos</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24</a:t>
            </a:r>
            <a:r>
              <a:rPr spc="-40" dirty="0"/>
              <a:t> </a:t>
            </a:r>
            <a:r>
              <a:rPr spc="-5" dirty="0"/>
              <a:t>/</a:t>
            </a:r>
            <a:r>
              <a:rPr spc="-35" dirty="0"/>
              <a:t> </a:t>
            </a:r>
            <a:r>
              <a:rPr spc="-5" dirty="0"/>
              <a:t>68</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Example:</a:t>
            </a:r>
            <a:r>
              <a:rPr sz="600" dirty="0">
                <a:solidFill>
                  <a:srgbClr val="262685"/>
                </a:solidFill>
                <a:latin typeface="Arial"/>
                <a:cs typeface="Arial"/>
                <a:hlinkClick r:id="rId6" action="ppaction://hlinksldjump"/>
              </a:rPr>
              <a:t> </a:t>
            </a:r>
            <a:r>
              <a:rPr sz="600" spc="-10" dirty="0">
                <a:solidFill>
                  <a:srgbClr val="262685"/>
                </a:solidFill>
                <a:latin typeface="Arial"/>
                <a:cs typeface="Arial"/>
                <a:hlinkClick r:id="rId6" action="ppaction://hlinksldjump"/>
              </a:rPr>
              <a:t>Paxos</a:t>
            </a:r>
            <a:endParaRPr sz="600">
              <a:latin typeface="Arial"/>
              <a:cs typeface="Arial"/>
            </a:endParaRPr>
          </a:p>
        </p:txBody>
      </p:sp>
      <p:sp>
        <p:nvSpPr>
          <p:cNvPr id="4" name="object 4"/>
          <p:cNvSpPr txBox="1"/>
          <p:nvPr/>
        </p:nvSpPr>
        <p:spPr>
          <a:xfrm>
            <a:off x="95300" y="188846"/>
            <a:ext cx="1997710"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Paxos:</a:t>
            </a:r>
            <a:r>
              <a:rPr sz="1400" spc="75" dirty="0">
                <a:solidFill>
                  <a:srgbClr val="3333B2"/>
                </a:solidFill>
                <a:latin typeface="Arial"/>
                <a:cs typeface="Arial"/>
              </a:rPr>
              <a:t> </a:t>
            </a:r>
            <a:r>
              <a:rPr sz="1400" spc="15" dirty="0">
                <a:solidFill>
                  <a:srgbClr val="3333B2"/>
                </a:solidFill>
                <a:latin typeface="Arial"/>
                <a:cs typeface="Arial"/>
              </a:rPr>
              <a:t>fundamental</a:t>
            </a:r>
            <a:r>
              <a:rPr sz="1400" spc="-10" dirty="0">
                <a:solidFill>
                  <a:srgbClr val="3333B2"/>
                </a:solidFill>
                <a:latin typeface="Arial"/>
                <a:cs typeface="Arial"/>
              </a:rPr>
              <a:t> </a:t>
            </a:r>
            <a:r>
              <a:rPr sz="1400" spc="15" dirty="0">
                <a:solidFill>
                  <a:srgbClr val="3333B2"/>
                </a:solidFill>
                <a:latin typeface="Arial"/>
                <a:cs typeface="Arial"/>
              </a:rPr>
              <a:t>rule</a:t>
            </a:r>
            <a:endParaRPr sz="1400">
              <a:latin typeface="Arial"/>
              <a:cs typeface="Arial"/>
            </a:endParaRPr>
          </a:p>
        </p:txBody>
      </p:sp>
      <p:sp>
        <p:nvSpPr>
          <p:cNvPr id="5" name="object 5"/>
          <p:cNvSpPr txBox="1"/>
          <p:nvPr/>
        </p:nvSpPr>
        <p:spPr>
          <a:xfrm>
            <a:off x="347294" y="1368765"/>
            <a:ext cx="3501390" cy="5048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FA0000"/>
                </a:solidFill>
                <a:latin typeface="Arial"/>
                <a:cs typeface="Arial"/>
              </a:rPr>
              <a:t>General</a:t>
            </a:r>
            <a:r>
              <a:rPr sz="1200" spc="-50" dirty="0">
                <a:solidFill>
                  <a:srgbClr val="FA0000"/>
                </a:solidFill>
                <a:latin typeface="Arial"/>
                <a:cs typeface="Arial"/>
              </a:rPr>
              <a:t> </a:t>
            </a:r>
            <a:r>
              <a:rPr sz="1200" dirty="0">
                <a:solidFill>
                  <a:srgbClr val="FA0000"/>
                </a:solidFill>
                <a:latin typeface="Arial"/>
                <a:cs typeface="Arial"/>
              </a:rPr>
              <a:t>rule</a:t>
            </a:r>
            <a:endParaRPr sz="1200">
              <a:latin typeface="Arial"/>
              <a:cs typeface="Arial"/>
            </a:endParaRPr>
          </a:p>
          <a:p>
            <a:pPr marL="12700" marR="5080">
              <a:lnSpc>
                <a:spcPts val="1200"/>
              </a:lnSpc>
              <a:spcBef>
                <a:spcPts val="10"/>
              </a:spcBef>
            </a:pPr>
            <a:r>
              <a:rPr sz="1000" spc="-5" dirty="0">
                <a:latin typeface="Arial"/>
                <a:cs typeface="Arial"/>
              </a:rPr>
              <a:t>In</a:t>
            </a:r>
            <a:r>
              <a:rPr sz="1000" dirty="0">
                <a:latin typeface="Arial"/>
                <a:cs typeface="Arial"/>
              </a:rPr>
              <a:t> </a:t>
            </a:r>
            <a:r>
              <a:rPr sz="1000" spc="-15" dirty="0">
                <a:latin typeface="Arial"/>
                <a:cs typeface="Arial"/>
              </a:rPr>
              <a:t>Paxos,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server</a:t>
            </a:r>
            <a:r>
              <a:rPr sz="1000" dirty="0">
                <a:latin typeface="Arial"/>
                <a:cs typeface="Arial"/>
              </a:rPr>
              <a:t> </a:t>
            </a:r>
            <a:r>
              <a:rPr sz="1000" i="1" spc="-5" dirty="0">
                <a:latin typeface="Arial"/>
                <a:cs typeface="Arial"/>
              </a:rPr>
              <a:t>S</a:t>
            </a:r>
            <a:r>
              <a:rPr sz="1000" i="1" spc="50" dirty="0">
                <a:latin typeface="Arial"/>
                <a:cs typeface="Arial"/>
              </a:rPr>
              <a:t> </a:t>
            </a:r>
            <a:r>
              <a:rPr sz="1000" spc="-5" dirty="0">
                <a:latin typeface="Arial"/>
                <a:cs typeface="Arial"/>
              </a:rPr>
              <a:t>cannot</a:t>
            </a:r>
            <a:r>
              <a:rPr sz="1000" dirty="0">
                <a:latin typeface="Arial"/>
                <a:cs typeface="Arial"/>
              </a:rPr>
              <a:t> </a:t>
            </a:r>
            <a:r>
              <a:rPr sz="1000" spc="-15" dirty="0">
                <a:latin typeface="Arial"/>
                <a:cs typeface="Arial"/>
              </a:rPr>
              <a:t>execute</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operation</a:t>
            </a:r>
            <a:r>
              <a:rPr sz="1000" dirty="0">
                <a:latin typeface="Arial"/>
                <a:cs typeface="Arial"/>
              </a:rPr>
              <a:t> </a:t>
            </a:r>
            <a:r>
              <a:rPr sz="1000" i="1" spc="-5" dirty="0">
                <a:latin typeface="Arial"/>
                <a:cs typeface="Arial"/>
              </a:rPr>
              <a:t>o</a:t>
            </a:r>
            <a:r>
              <a:rPr sz="1000" i="1" spc="30" dirty="0">
                <a:latin typeface="Arial"/>
                <a:cs typeface="Arial"/>
              </a:rPr>
              <a:t> </a:t>
            </a:r>
            <a:r>
              <a:rPr sz="1000" spc="-5" dirty="0">
                <a:latin typeface="Arial"/>
                <a:cs typeface="Arial"/>
              </a:rPr>
              <a:t>until</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has </a:t>
            </a:r>
            <a:r>
              <a:rPr sz="1000" spc="-260" dirty="0">
                <a:latin typeface="Arial"/>
                <a:cs typeface="Arial"/>
              </a:rPr>
              <a:t> </a:t>
            </a:r>
            <a:r>
              <a:rPr sz="1000" spc="-5" dirty="0">
                <a:latin typeface="Arial"/>
                <a:cs typeface="Arial"/>
              </a:rPr>
              <a:t>received a</a:t>
            </a:r>
            <a:r>
              <a:rPr sz="1000" spc="20" dirty="0">
                <a:latin typeface="Arial"/>
                <a:cs typeface="Arial"/>
              </a:rPr>
              <a:t> </a:t>
            </a:r>
            <a:r>
              <a:rPr sz="800" spc="35" dirty="0">
                <a:latin typeface="Arial"/>
                <a:cs typeface="Arial"/>
              </a:rPr>
              <a:t>LEARN</a:t>
            </a:r>
            <a:r>
              <a:rPr sz="1000" spc="35" dirty="0">
                <a:latin typeface="Arial"/>
                <a:cs typeface="Arial"/>
              </a:rPr>
              <a:t>(</a:t>
            </a:r>
            <a:r>
              <a:rPr sz="1000" i="1" spc="35" dirty="0">
                <a:latin typeface="Arial"/>
                <a:cs typeface="Arial"/>
              </a:rPr>
              <a:t>o</a:t>
            </a:r>
            <a:r>
              <a:rPr sz="1000" spc="35" dirty="0">
                <a:latin typeface="Arial"/>
                <a:cs typeface="Arial"/>
              </a:rPr>
              <a:t>)</a:t>
            </a:r>
            <a:r>
              <a:rPr sz="1000" spc="5" dirty="0">
                <a:latin typeface="Arial"/>
                <a:cs typeface="Arial"/>
              </a:rPr>
              <a:t> </a:t>
            </a:r>
            <a:r>
              <a:rPr sz="1000" spc="-5" dirty="0">
                <a:latin typeface="Arial"/>
                <a:cs typeface="Arial"/>
              </a:rPr>
              <a:t>from all other</a:t>
            </a:r>
            <a:r>
              <a:rPr sz="1000" dirty="0">
                <a:latin typeface="Arial"/>
                <a:cs typeface="Arial"/>
              </a:rPr>
              <a:t> </a:t>
            </a:r>
            <a:r>
              <a:rPr sz="1000" spc="-10" dirty="0">
                <a:latin typeface="Arial"/>
                <a:cs typeface="Arial"/>
              </a:rPr>
              <a:t>nonfaulty</a:t>
            </a:r>
            <a:r>
              <a:rPr sz="1000" spc="-5" dirty="0">
                <a:latin typeface="Arial"/>
                <a:cs typeface="Arial"/>
              </a:rPr>
              <a:t> servers.</a:t>
            </a:r>
            <a:endParaRPr sz="10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Understanding</a:t>
            </a:r>
            <a:r>
              <a:rPr sz="600" spc="-25" dirty="0">
                <a:solidFill>
                  <a:srgbClr val="3333B2"/>
                </a:solidFill>
                <a:latin typeface="Arial"/>
                <a:cs typeface="Arial"/>
                <a:hlinkClick r:id="rId2" action="ppaction://hlinksldjump"/>
              </a:rPr>
              <a:t> </a:t>
            </a:r>
            <a:r>
              <a:rPr sz="600" spc="-10" dirty="0">
                <a:solidFill>
                  <a:srgbClr val="3333B2"/>
                </a:solidFill>
                <a:latin typeface="Arial"/>
                <a:cs typeface="Arial"/>
                <a:hlinkClick r:id="rId2" action="ppaction://hlinksldjump"/>
              </a:rPr>
              <a:t>Paxos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
        <p:nvSpPr>
          <p:cNvPr id="4" name="object 4"/>
          <p:cNvSpPr txBox="1"/>
          <p:nvPr/>
        </p:nvSpPr>
        <p:spPr>
          <a:xfrm>
            <a:off x="95300" y="188846"/>
            <a:ext cx="4113529" cy="1101090"/>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Failure</a:t>
            </a:r>
            <a:r>
              <a:rPr sz="1400" spc="-25" dirty="0">
                <a:solidFill>
                  <a:srgbClr val="3333B2"/>
                </a:solidFill>
                <a:latin typeface="Arial"/>
                <a:cs typeface="Arial"/>
              </a:rPr>
              <a:t> </a:t>
            </a:r>
            <a:r>
              <a:rPr sz="1400" spc="15" dirty="0">
                <a:solidFill>
                  <a:srgbClr val="3333B2"/>
                </a:solidFill>
                <a:latin typeface="Arial"/>
                <a:cs typeface="Arial"/>
              </a:rPr>
              <a:t>detection</a:t>
            </a:r>
            <a:endParaRPr sz="1400">
              <a:latin typeface="Arial"/>
              <a:cs typeface="Arial"/>
            </a:endParaRPr>
          </a:p>
          <a:p>
            <a:pPr>
              <a:lnSpc>
                <a:spcPct val="100000"/>
              </a:lnSpc>
              <a:spcBef>
                <a:spcPts val="40"/>
              </a:spcBef>
            </a:pPr>
            <a:endParaRPr sz="2550">
              <a:latin typeface="Arial"/>
              <a:cs typeface="Arial"/>
            </a:endParaRPr>
          </a:p>
          <a:p>
            <a:pPr marL="264160">
              <a:lnSpc>
                <a:spcPts val="1410"/>
              </a:lnSpc>
            </a:pPr>
            <a:r>
              <a:rPr sz="1200" spc="-5" dirty="0">
                <a:solidFill>
                  <a:srgbClr val="3333B2"/>
                </a:solidFill>
                <a:latin typeface="Arial"/>
                <a:cs typeface="Arial"/>
              </a:rPr>
              <a:t>Practice</a:t>
            </a:r>
            <a:endParaRPr sz="1200">
              <a:latin typeface="Arial"/>
              <a:cs typeface="Arial"/>
            </a:endParaRPr>
          </a:p>
          <a:p>
            <a:pPr marL="264160" marR="5080">
              <a:lnSpc>
                <a:spcPts val="1200"/>
              </a:lnSpc>
              <a:spcBef>
                <a:spcPts val="15"/>
              </a:spcBef>
            </a:pPr>
            <a:r>
              <a:rPr sz="1000" spc="-5" dirty="0">
                <a:solidFill>
                  <a:srgbClr val="0000FA"/>
                </a:solidFill>
                <a:latin typeface="Arial"/>
                <a:cs typeface="Arial"/>
              </a:rPr>
              <a:t>Reliable </a:t>
            </a:r>
            <a:r>
              <a:rPr sz="1000" spc="-10" dirty="0">
                <a:solidFill>
                  <a:srgbClr val="0000FA"/>
                </a:solidFill>
                <a:latin typeface="Arial"/>
                <a:cs typeface="Arial"/>
              </a:rPr>
              <a:t>failure</a:t>
            </a:r>
            <a:r>
              <a:rPr sz="1000" dirty="0">
                <a:solidFill>
                  <a:srgbClr val="0000FA"/>
                </a:solidFill>
                <a:latin typeface="Arial"/>
                <a:cs typeface="Arial"/>
              </a:rPr>
              <a:t> </a:t>
            </a:r>
            <a:r>
              <a:rPr sz="1000" spc="-5" dirty="0">
                <a:solidFill>
                  <a:srgbClr val="0000FA"/>
                </a:solidFill>
                <a:latin typeface="Arial"/>
                <a:cs typeface="Arial"/>
              </a:rPr>
              <a:t>detection</a:t>
            </a:r>
            <a:r>
              <a:rPr sz="1000" dirty="0">
                <a:solidFill>
                  <a:srgbClr val="0000FA"/>
                </a:solidFill>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practically</a:t>
            </a:r>
            <a:r>
              <a:rPr sz="1000" dirty="0">
                <a:latin typeface="Arial"/>
                <a:cs typeface="Arial"/>
              </a:rPr>
              <a:t> </a:t>
            </a:r>
            <a:r>
              <a:rPr sz="1000" spc="-5" dirty="0">
                <a:latin typeface="Arial"/>
                <a:cs typeface="Arial"/>
              </a:rPr>
              <a:t>impossible.</a:t>
            </a:r>
            <a:r>
              <a:rPr sz="1000" spc="70"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solution</a:t>
            </a:r>
            <a:r>
              <a:rPr sz="1000" dirty="0">
                <a:solidFill>
                  <a:srgbClr val="FA0000"/>
                </a:solidFill>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set </a:t>
            </a:r>
            <a:r>
              <a:rPr sz="1000" spc="-265" dirty="0">
                <a:latin typeface="Arial"/>
                <a:cs typeface="Arial"/>
              </a:rPr>
              <a:t> </a:t>
            </a:r>
            <a:r>
              <a:rPr sz="1000" spc="-5" dirty="0">
                <a:latin typeface="Arial"/>
                <a:cs typeface="Arial"/>
              </a:rPr>
              <a:t>timeouts,</a:t>
            </a:r>
            <a:r>
              <a:rPr sz="1000" dirty="0">
                <a:latin typeface="Arial"/>
                <a:cs typeface="Arial"/>
              </a:rPr>
              <a:t> </a:t>
            </a:r>
            <a:r>
              <a:rPr sz="1000" spc="-10" dirty="0">
                <a:latin typeface="Arial"/>
                <a:cs typeface="Arial"/>
              </a:rPr>
              <a:t>but</a:t>
            </a:r>
            <a:r>
              <a:rPr sz="1000" dirty="0">
                <a:latin typeface="Arial"/>
                <a:cs typeface="Arial"/>
              </a:rPr>
              <a:t> </a:t>
            </a:r>
            <a:r>
              <a:rPr sz="1000" spc="-10" dirty="0">
                <a:latin typeface="Arial"/>
                <a:cs typeface="Arial"/>
              </a:rPr>
              <a:t>take</a:t>
            </a:r>
            <a:r>
              <a:rPr sz="1000" dirty="0">
                <a:latin typeface="Arial"/>
                <a:cs typeface="Arial"/>
              </a:rPr>
              <a:t> </a:t>
            </a:r>
            <a:r>
              <a:rPr sz="1000" spc="-5" dirty="0">
                <a:latin typeface="Arial"/>
                <a:cs typeface="Arial"/>
              </a:rPr>
              <a:t>into</a:t>
            </a:r>
            <a:r>
              <a:rPr sz="1000" dirty="0">
                <a:latin typeface="Arial"/>
                <a:cs typeface="Arial"/>
              </a:rPr>
              <a:t> </a:t>
            </a:r>
            <a:r>
              <a:rPr sz="1000" spc="-5" dirty="0">
                <a:latin typeface="Arial"/>
                <a:cs typeface="Arial"/>
              </a:rPr>
              <a:t>account</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detected</a:t>
            </a:r>
            <a:r>
              <a:rPr sz="1000" dirty="0">
                <a:latin typeface="Arial"/>
                <a:cs typeface="Arial"/>
              </a:rPr>
              <a:t> </a:t>
            </a:r>
            <a:r>
              <a:rPr sz="1000" spc="-10" dirty="0">
                <a:latin typeface="Arial"/>
                <a:cs typeface="Arial"/>
              </a:rPr>
              <a:t>failure</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be</a:t>
            </a:r>
            <a:r>
              <a:rPr sz="1000" dirty="0">
                <a:latin typeface="Arial"/>
                <a:cs typeface="Arial"/>
              </a:rPr>
              <a:t> </a:t>
            </a:r>
            <a:r>
              <a:rPr sz="1000" spc="-10" dirty="0">
                <a:solidFill>
                  <a:srgbClr val="0000FA"/>
                </a:solidFill>
                <a:latin typeface="Arial"/>
                <a:cs typeface="Arial"/>
              </a:rPr>
              <a:t>false</a:t>
            </a:r>
            <a:r>
              <a:rPr sz="1000" spc="-10" dirty="0">
                <a:latin typeface="Arial"/>
                <a:cs typeface="Arial"/>
              </a:rPr>
              <a:t>.</a:t>
            </a:r>
            <a:endParaRPr sz="10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
        <p:nvSpPr>
          <p:cNvPr id="4" name="object 4"/>
          <p:cNvSpPr txBox="1"/>
          <p:nvPr/>
        </p:nvSpPr>
        <p:spPr>
          <a:xfrm>
            <a:off x="95300" y="188846"/>
            <a:ext cx="4113529" cy="1101090"/>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Failure</a:t>
            </a:r>
            <a:r>
              <a:rPr sz="1400" spc="-25" dirty="0">
                <a:solidFill>
                  <a:srgbClr val="3333B2"/>
                </a:solidFill>
                <a:latin typeface="Arial"/>
                <a:cs typeface="Arial"/>
              </a:rPr>
              <a:t> </a:t>
            </a:r>
            <a:r>
              <a:rPr sz="1400" spc="15" dirty="0">
                <a:solidFill>
                  <a:srgbClr val="3333B2"/>
                </a:solidFill>
                <a:latin typeface="Arial"/>
                <a:cs typeface="Arial"/>
              </a:rPr>
              <a:t>detection</a:t>
            </a:r>
            <a:endParaRPr sz="1400">
              <a:latin typeface="Arial"/>
              <a:cs typeface="Arial"/>
            </a:endParaRPr>
          </a:p>
          <a:p>
            <a:pPr>
              <a:lnSpc>
                <a:spcPct val="100000"/>
              </a:lnSpc>
              <a:spcBef>
                <a:spcPts val="40"/>
              </a:spcBef>
            </a:pPr>
            <a:endParaRPr sz="2550">
              <a:latin typeface="Arial"/>
              <a:cs typeface="Arial"/>
            </a:endParaRPr>
          </a:p>
          <a:p>
            <a:pPr marL="264160">
              <a:lnSpc>
                <a:spcPts val="1410"/>
              </a:lnSpc>
            </a:pPr>
            <a:r>
              <a:rPr sz="1200" spc="-5" dirty="0">
                <a:solidFill>
                  <a:srgbClr val="3333B2"/>
                </a:solidFill>
                <a:latin typeface="Arial"/>
                <a:cs typeface="Arial"/>
              </a:rPr>
              <a:t>Practice</a:t>
            </a:r>
            <a:endParaRPr sz="1200">
              <a:latin typeface="Arial"/>
              <a:cs typeface="Arial"/>
            </a:endParaRPr>
          </a:p>
          <a:p>
            <a:pPr marL="264160" marR="5080">
              <a:lnSpc>
                <a:spcPts val="1200"/>
              </a:lnSpc>
              <a:spcBef>
                <a:spcPts val="15"/>
              </a:spcBef>
            </a:pPr>
            <a:r>
              <a:rPr sz="1000" spc="-5" dirty="0">
                <a:solidFill>
                  <a:srgbClr val="0000FA"/>
                </a:solidFill>
                <a:latin typeface="Arial"/>
                <a:cs typeface="Arial"/>
              </a:rPr>
              <a:t>Reliable </a:t>
            </a:r>
            <a:r>
              <a:rPr sz="1000" spc="-10" dirty="0">
                <a:solidFill>
                  <a:srgbClr val="0000FA"/>
                </a:solidFill>
                <a:latin typeface="Arial"/>
                <a:cs typeface="Arial"/>
              </a:rPr>
              <a:t>failure</a:t>
            </a:r>
            <a:r>
              <a:rPr sz="1000" dirty="0">
                <a:solidFill>
                  <a:srgbClr val="0000FA"/>
                </a:solidFill>
                <a:latin typeface="Arial"/>
                <a:cs typeface="Arial"/>
              </a:rPr>
              <a:t> </a:t>
            </a:r>
            <a:r>
              <a:rPr sz="1000" spc="-5" dirty="0">
                <a:solidFill>
                  <a:srgbClr val="0000FA"/>
                </a:solidFill>
                <a:latin typeface="Arial"/>
                <a:cs typeface="Arial"/>
              </a:rPr>
              <a:t>detection</a:t>
            </a:r>
            <a:r>
              <a:rPr sz="1000" dirty="0">
                <a:solidFill>
                  <a:srgbClr val="0000FA"/>
                </a:solidFill>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practically</a:t>
            </a:r>
            <a:r>
              <a:rPr sz="1000" dirty="0">
                <a:latin typeface="Arial"/>
                <a:cs typeface="Arial"/>
              </a:rPr>
              <a:t> </a:t>
            </a:r>
            <a:r>
              <a:rPr sz="1000" spc="-5" dirty="0">
                <a:latin typeface="Arial"/>
                <a:cs typeface="Arial"/>
              </a:rPr>
              <a:t>impossible.</a:t>
            </a:r>
            <a:r>
              <a:rPr sz="1000" spc="70"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solution</a:t>
            </a:r>
            <a:r>
              <a:rPr sz="1000" dirty="0">
                <a:solidFill>
                  <a:srgbClr val="FA0000"/>
                </a:solidFill>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set </a:t>
            </a:r>
            <a:r>
              <a:rPr sz="1000" spc="-265" dirty="0">
                <a:latin typeface="Arial"/>
                <a:cs typeface="Arial"/>
              </a:rPr>
              <a:t> </a:t>
            </a:r>
            <a:r>
              <a:rPr sz="1000" spc="-5" dirty="0">
                <a:latin typeface="Arial"/>
                <a:cs typeface="Arial"/>
              </a:rPr>
              <a:t>timeouts,</a:t>
            </a:r>
            <a:r>
              <a:rPr sz="1000" dirty="0">
                <a:latin typeface="Arial"/>
                <a:cs typeface="Arial"/>
              </a:rPr>
              <a:t> </a:t>
            </a:r>
            <a:r>
              <a:rPr sz="1000" spc="-10" dirty="0">
                <a:latin typeface="Arial"/>
                <a:cs typeface="Arial"/>
              </a:rPr>
              <a:t>but</a:t>
            </a:r>
            <a:r>
              <a:rPr sz="1000" dirty="0">
                <a:latin typeface="Arial"/>
                <a:cs typeface="Arial"/>
              </a:rPr>
              <a:t> </a:t>
            </a:r>
            <a:r>
              <a:rPr sz="1000" spc="-10" dirty="0">
                <a:latin typeface="Arial"/>
                <a:cs typeface="Arial"/>
              </a:rPr>
              <a:t>take</a:t>
            </a:r>
            <a:r>
              <a:rPr sz="1000" dirty="0">
                <a:latin typeface="Arial"/>
                <a:cs typeface="Arial"/>
              </a:rPr>
              <a:t> </a:t>
            </a:r>
            <a:r>
              <a:rPr sz="1000" spc="-5" dirty="0">
                <a:latin typeface="Arial"/>
                <a:cs typeface="Arial"/>
              </a:rPr>
              <a:t>into</a:t>
            </a:r>
            <a:r>
              <a:rPr sz="1000" dirty="0">
                <a:latin typeface="Arial"/>
                <a:cs typeface="Arial"/>
              </a:rPr>
              <a:t> </a:t>
            </a:r>
            <a:r>
              <a:rPr sz="1000" spc="-5" dirty="0">
                <a:latin typeface="Arial"/>
                <a:cs typeface="Arial"/>
              </a:rPr>
              <a:t>account</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detected</a:t>
            </a:r>
            <a:r>
              <a:rPr sz="1000" dirty="0">
                <a:latin typeface="Arial"/>
                <a:cs typeface="Arial"/>
              </a:rPr>
              <a:t> </a:t>
            </a:r>
            <a:r>
              <a:rPr sz="1000" spc="-10" dirty="0">
                <a:latin typeface="Arial"/>
                <a:cs typeface="Arial"/>
              </a:rPr>
              <a:t>failure</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be</a:t>
            </a:r>
            <a:r>
              <a:rPr sz="1000" dirty="0">
                <a:latin typeface="Arial"/>
                <a:cs typeface="Arial"/>
              </a:rPr>
              <a:t> </a:t>
            </a:r>
            <a:r>
              <a:rPr sz="1000" spc="-10" dirty="0">
                <a:solidFill>
                  <a:srgbClr val="0000FA"/>
                </a:solidFill>
                <a:latin typeface="Arial"/>
                <a:cs typeface="Arial"/>
              </a:rPr>
              <a:t>false</a:t>
            </a:r>
            <a:r>
              <a:rPr sz="1000" spc="-10" dirty="0">
                <a:latin typeface="Arial"/>
                <a:cs typeface="Arial"/>
              </a:rPr>
              <a:t>.</a:t>
            </a:r>
            <a:endParaRPr sz="1000">
              <a:latin typeface="Arial"/>
              <a:cs typeface="Arial"/>
            </a:endParaRPr>
          </a:p>
        </p:txBody>
      </p:sp>
      <p:grpSp>
        <p:nvGrpSpPr>
          <p:cNvPr id="5" name="object 5"/>
          <p:cNvGrpSpPr/>
          <p:nvPr/>
        </p:nvGrpSpPr>
        <p:grpSpPr>
          <a:xfrm>
            <a:off x="828575" y="2182226"/>
            <a:ext cx="3112135" cy="325120"/>
            <a:chOff x="828575" y="2182226"/>
            <a:chExt cx="3112135" cy="325120"/>
          </a:xfrm>
        </p:grpSpPr>
        <p:sp>
          <p:nvSpPr>
            <p:cNvPr id="6" name="object 6"/>
            <p:cNvSpPr/>
            <p:nvPr/>
          </p:nvSpPr>
          <p:spPr>
            <a:xfrm>
              <a:off x="833020" y="2485475"/>
              <a:ext cx="3080385" cy="0"/>
            </a:xfrm>
            <a:custGeom>
              <a:avLst/>
              <a:gdLst/>
              <a:ahLst/>
              <a:cxnLst/>
              <a:rect l="l" t="t" r="r" b="b"/>
              <a:pathLst>
                <a:path w="3080385">
                  <a:moveTo>
                    <a:pt x="0" y="0"/>
                  </a:moveTo>
                  <a:lnTo>
                    <a:pt x="3080252" y="0"/>
                  </a:lnTo>
                </a:path>
              </a:pathLst>
            </a:custGeom>
            <a:ln w="8401">
              <a:solidFill>
                <a:srgbClr val="000000"/>
              </a:solidFill>
            </a:ln>
          </p:spPr>
          <p:txBody>
            <a:bodyPr wrap="square" lIns="0" tIns="0" rIns="0" bIns="0" rtlCol="0"/>
            <a:lstStyle/>
            <a:p>
              <a:endParaRPr/>
            </a:p>
          </p:txBody>
        </p:sp>
        <p:sp>
          <p:nvSpPr>
            <p:cNvPr id="7" name="object 7"/>
            <p:cNvSpPr/>
            <p:nvPr/>
          </p:nvSpPr>
          <p:spPr>
            <a:xfrm>
              <a:off x="3896890" y="2463632"/>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833020" y="2186671"/>
              <a:ext cx="1494155" cy="0"/>
            </a:xfrm>
            <a:custGeom>
              <a:avLst/>
              <a:gdLst/>
              <a:ahLst/>
              <a:cxnLst/>
              <a:rect l="l" t="t" r="r" b="b"/>
              <a:pathLst>
                <a:path w="1494155">
                  <a:moveTo>
                    <a:pt x="0" y="0"/>
                  </a:moveTo>
                  <a:lnTo>
                    <a:pt x="1494018" y="0"/>
                  </a:lnTo>
                </a:path>
              </a:pathLst>
            </a:custGeom>
            <a:ln w="8401">
              <a:solidFill>
                <a:srgbClr val="000000"/>
              </a:solidFill>
            </a:ln>
          </p:spPr>
          <p:txBody>
            <a:bodyPr wrap="square" lIns="0" tIns="0" rIns="0" bIns="0" rtlCol="0"/>
            <a:lstStyle/>
            <a:p>
              <a:endParaRPr/>
            </a:p>
          </p:txBody>
        </p:sp>
      </p:grpSp>
      <p:sp>
        <p:nvSpPr>
          <p:cNvPr id="9" name="object 9"/>
          <p:cNvSpPr txBox="1"/>
          <p:nvPr/>
        </p:nvSpPr>
        <p:spPr>
          <a:xfrm>
            <a:off x="664422" y="2103686"/>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grpSp>
        <p:nvGrpSpPr>
          <p:cNvPr id="10" name="object 10"/>
          <p:cNvGrpSpPr/>
          <p:nvPr/>
        </p:nvGrpSpPr>
        <p:grpSpPr>
          <a:xfrm>
            <a:off x="2326990" y="2140415"/>
            <a:ext cx="1614170" cy="92710"/>
            <a:chOff x="2326990" y="2140415"/>
            <a:chExt cx="1614170" cy="92710"/>
          </a:xfrm>
        </p:grpSpPr>
        <p:sp>
          <p:nvSpPr>
            <p:cNvPr id="11" name="object 11"/>
            <p:cNvSpPr/>
            <p:nvPr/>
          </p:nvSpPr>
          <p:spPr>
            <a:xfrm>
              <a:off x="2336490" y="2186671"/>
              <a:ext cx="842644" cy="0"/>
            </a:xfrm>
            <a:custGeom>
              <a:avLst/>
              <a:gdLst/>
              <a:ahLst/>
              <a:cxnLst/>
              <a:rect l="l" t="t" r="r" b="b"/>
              <a:pathLst>
                <a:path w="842644">
                  <a:moveTo>
                    <a:pt x="0" y="0"/>
                  </a:moveTo>
                  <a:lnTo>
                    <a:pt x="842138" y="0"/>
                  </a:lnTo>
                </a:path>
              </a:pathLst>
            </a:custGeom>
            <a:ln w="12602">
              <a:solidFill>
                <a:srgbClr val="000000"/>
              </a:solidFill>
            </a:ln>
          </p:spPr>
          <p:txBody>
            <a:bodyPr wrap="square" lIns="0" tIns="0" rIns="0" bIns="0" rtlCol="0"/>
            <a:lstStyle/>
            <a:p>
              <a:endParaRPr/>
            </a:p>
          </p:txBody>
        </p:sp>
        <p:sp>
          <p:nvSpPr>
            <p:cNvPr id="12" name="object 12"/>
            <p:cNvSpPr/>
            <p:nvPr/>
          </p:nvSpPr>
          <p:spPr>
            <a:xfrm>
              <a:off x="2333340" y="2146765"/>
              <a:ext cx="0" cy="80010"/>
            </a:xfrm>
            <a:custGeom>
              <a:avLst/>
              <a:gdLst/>
              <a:ahLst/>
              <a:cxnLst/>
              <a:rect l="l" t="t" r="r" b="b"/>
              <a:pathLst>
                <a:path h="80010">
                  <a:moveTo>
                    <a:pt x="0" y="0"/>
                  </a:moveTo>
                  <a:lnTo>
                    <a:pt x="0" y="79812"/>
                  </a:lnTo>
                </a:path>
              </a:pathLst>
            </a:custGeom>
            <a:ln w="12602">
              <a:solidFill>
                <a:srgbClr val="000000"/>
              </a:solidFill>
            </a:ln>
          </p:spPr>
          <p:txBody>
            <a:bodyPr wrap="square" lIns="0" tIns="0" rIns="0" bIns="0" rtlCol="0"/>
            <a:lstStyle/>
            <a:p>
              <a:endParaRPr/>
            </a:p>
          </p:txBody>
        </p:sp>
        <p:sp>
          <p:nvSpPr>
            <p:cNvPr id="13" name="object 13"/>
            <p:cNvSpPr/>
            <p:nvPr/>
          </p:nvSpPr>
          <p:spPr>
            <a:xfrm>
              <a:off x="3268270" y="2186671"/>
              <a:ext cx="638810" cy="0"/>
            </a:xfrm>
            <a:custGeom>
              <a:avLst/>
              <a:gdLst/>
              <a:ahLst/>
              <a:cxnLst/>
              <a:rect l="l" t="t" r="r" b="b"/>
              <a:pathLst>
                <a:path w="638810">
                  <a:moveTo>
                    <a:pt x="0" y="0"/>
                  </a:moveTo>
                  <a:lnTo>
                    <a:pt x="638700" y="0"/>
                  </a:lnTo>
                </a:path>
              </a:pathLst>
            </a:custGeom>
            <a:ln w="12602">
              <a:solidFill>
                <a:srgbClr val="000000"/>
              </a:solidFill>
            </a:ln>
          </p:spPr>
          <p:txBody>
            <a:bodyPr wrap="square" lIns="0" tIns="0" rIns="0" bIns="0" rtlCol="0"/>
            <a:lstStyle/>
            <a:p>
              <a:endParaRPr/>
            </a:p>
          </p:txBody>
        </p:sp>
        <p:sp>
          <p:nvSpPr>
            <p:cNvPr id="14" name="object 14"/>
            <p:cNvSpPr/>
            <p:nvPr/>
          </p:nvSpPr>
          <p:spPr>
            <a:xfrm>
              <a:off x="3886808" y="2159787"/>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15" name="object 15"/>
          <p:cNvSpPr txBox="1"/>
          <p:nvPr/>
        </p:nvSpPr>
        <p:spPr>
          <a:xfrm>
            <a:off x="2232592" y="2197207"/>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16" name="object 16"/>
          <p:cNvGrpSpPr/>
          <p:nvPr/>
        </p:nvGrpSpPr>
        <p:grpSpPr>
          <a:xfrm>
            <a:off x="828819" y="1841611"/>
            <a:ext cx="3112135" cy="347345"/>
            <a:chOff x="828819" y="1841611"/>
            <a:chExt cx="3112135" cy="347345"/>
          </a:xfrm>
        </p:grpSpPr>
        <p:sp>
          <p:nvSpPr>
            <p:cNvPr id="17" name="object 17"/>
            <p:cNvSpPr/>
            <p:nvPr/>
          </p:nvSpPr>
          <p:spPr>
            <a:xfrm>
              <a:off x="2028235" y="1887868"/>
              <a:ext cx="299085" cy="299085"/>
            </a:xfrm>
            <a:custGeom>
              <a:avLst/>
              <a:gdLst/>
              <a:ahLst/>
              <a:cxnLst/>
              <a:rect l="l" t="t" r="r" b="b"/>
              <a:pathLst>
                <a:path w="299085" h="299085">
                  <a:moveTo>
                    <a:pt x="0" y="0"/>
                  </a:moveTo>
                  <a:lnTo>
                    <a:pt x="298803" y="298803"/>
                  </a:lnTo>
                </a:path>
              </a:pathLst>
            </a:custGeom>
            <a:ln w="4200">
              <a:solidFill>
                <a:srgbClr val="999999"/>
              </a:solidFill>
              <a:prstDash val="dash"/>
            </a:ln>
          </p:spPr>
          <p:txBody>
            <a:bodyPr wrap="square" lIns="0" tIns="0" rIns="0" bIns="0" rtlCol="0"/>
            <a:lstStyle/>
            <a:p>
              <a:endParaRPr/>
            </a:p>
          </p:txBody>
        </p:sp>
        <p:sp>
          <p:nvSpPr>
            <p:cNvPr id="18" name="object 18"/>
            <p:cNvSpPr/>
            <p:nvPr/>
          </p:nvSpPr>
          <p:spPr>
            <a:xfrm>
              <a:off x="828819" y="1883667"/>
              <a:ext cx="8890" cy="8890"/>
            </a:xfrm>
            <a:custGeom>
              <a:avLst/>
              <a:gdLst/>
              <a:ahLst/>
              <a:cxnLst/>
              <a:rect l="l" t="t" r="r" b="b"/>
              <a:pathLst>
                <a:path w="8890" h="8889">
                  <a:moveTo>
                    <a:pt x="0" y="4200"/>
                  </a:moveTo>
                  <a:lnTo>
                    <a:pt x="1230" y="1230"/>
                  </a:lnTo>
                  <a:lnTo>
                    <a:pt x="4200" y="0"/>
                  </a:lnTo>
                  <a:lnTo>
                    <a:pt x="7170" y="1230"/>
                  </a:lnTo>
                  <a:lnTo>
                    <a:pt x="8401" y="4200"/>
                  </a:lnTo>
                  <a:lnTo>
                    <a:pt x="7170" y="7170"/>
                  </a:lnTo>
                  <a:lnTo>
                    <a:pt x="4200" y="8401"/>
                  </a:lnTo>
                  <a:lnTo>
                    <a:pt x="1230" y="7170"/>
                  </a:lnTo>
                  <a:lnTo>
                    <a:pt x="0" y="4200"/>
                  </a:lnTo>
                  <a:close/>
                </a:path>
              </a:pathLst>
            </a:custGeom>
            <a:solidFill>
              <a:srgbClr val="000000"/>
            </a:solidFill>
          </p:spPr>
          <p:txBody>
            <a:bodyPr wrap="square" lIns="0" tIns="0" rIns="0" bIns="0" rtlCol="0"/>
            <a:lstStyle/>
            <a:p>
              <a:endParaRPr/>
            </a:p>
          </p:txBody>
        </p:sp>
        <p:sp>
          <p:nvSpPr>
            <p:cNvPr id="19" name="object 19"/>
            <p:cNvSpPr/>
            <p:nvPr/>
          </p:nvSpPr>
          <p:spPr>
            <a:xfrm>
              <a:off x="842471" y="1887868"/>
              <a:ext cx="3064510" cy="0"/>
            </a:xfrm>
            <a:custGeom>
              <a:avLst/>
              <a:gdLst/>
              <a:ahLst/>
              <a:cxnLst/>
              <a:rect l="l" t="t" r="r" b="b"/>
              <a:pathLst>
                <a:path w="3064510">
                  <a:moveTo>
                    <a:pt x="0" y="0"/>
                  </a:moveTo>
                  <a:lnTo>
                    <a:pt x="1738549" y="0"/>
                  </a:lnTo>
                </a:path>
                <a:path w="3064510">
                  <a:moveTo>
                    <a:pt x="1828191" y="0"/>
                  </a:moveTo>
                  <a:lnTo>
                    <a:pt x="3064499" y="0"/>
                  </a:lnTo>
                </a:path>
              </a:pathLst>
            </a:custGeom>
            <a:ln w="12602">
              <a:solidFill>
                <a:srgbClr val="000000"/>
              </a:solidFill>
            </a:ln>
          </p:spPr>
          <p:txBody>
            <a:bodyPr wrap="square" lIns="0" tIns="0" rIns="0" bIns="0" rtlCol="0"/>
            <a:lstStyle/>
            <a:p>
              <a:endParaRPr/>
            </a:p>
          </p:txBody>
        </p:sp>
        <p:sp>
          <p:nvSpPr>
            <p:cNvPr id="20" name="object 20"/>
            <p:cNvSpPr/>
            <p:nvPr/>
          </p:nvSpPr>
          <p:spPr>
            <a:xfrm>
              <a:off x="839321" y="1847961"/>
              <a:ext cx="0" cy="80010"/>
            </a:xfrm>
            <a:custGeom>
              <a:avLst/>
              <a:gdLst/>
              <a:ahLst/>
              <a:cxnLst/>
              <a:rect l="l" t="t" r="r" b="b"/>
              <a:pathLst>
                <a:path h="80010">
                  <a:moveTo>
                    <a:pt x="0" y="0"/>
                  </a:moveTo>
                  <a:lnTo>
                    <a:pt x="0" y="79812"/>
                  </a:lnTo>
                </a:path>
              </a:pathLst>
            </a:custGeom>
            <a:ln w="12602">
              <a:solidFill>
                <a:srgbClr val="000000"/>
              </a:solidFill>
            </a:ln>
          </p:spPr>
          <p:txBody>
            <a:bodyPr wrap="square" lIns="0" tIns="0" rIns="0" bIns="0" rtlCol="0"/>
            <a:lstStyle/>
            <a:p>
              <a:endParaRPr/>
            </a:p>
          </p:txBody>
        </p:sp>
        <p:sp>
          <p:nvSpPr>
            <p:cNvPr id="21" name="object 21"/>
            <p:cNvSpPr/>
            <p:nvPr/>
          </p:nvSpPr>
          <p:spPr>
            <a:xfrm>
              <a:off x="3886808" y="1860983"/>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2" name="object 22"/>
          <p:cNvSpPr txBox="1"/>
          <p:nvPr/>
        </p:nvSpPr>
        <p:spPr>
          <a:xfrm>
            <a:off x="738595" y="1898412"/>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23" name="object 23"/>
          <p:cNvGrpSpPr/>
          <p:nvPr/>
        </p:nvGrpSpPr>
        <p:grpSpPr>
          <a:xfrm>
            <a:off x="828575" y="1567221"/>
            <a:ext cx="3112135" cy="43815"/>
            <a:chOff x="828575" y="1567221"/>
            <a:chExt cx="3112135" cy="43815"/>
          </a:xfrm>
        </p:grpSpPr>
        <p:sp>
          <p:nvSpPr>
            <p:cNvPr id="24" name="object 24"/>
            <p:cNvSpPr/>
            <p:nvPr/>
          </p:nvSpPr>
          <p:spPr>
            <a:xfrm>
              <a:off x="833020" y="1589064"/>
              <a:ext cx="3080385" cy="0"/>
            </a:xfrm>
            <a:custGeom>
              <a:avLst/>
              <a:gdLst/>
              <a:ahLst/>
              <a:cxnLst/>
              <a:rect l="l" t="t" r="r" b="b"/>
              <a:pathLst>
                <a:path w="3080385">
                  <a:moveTo>
                    <a:pt x="0" y="0"/>
                  </a:moveTo>
                  <a:lnTo>
                    <a:pt x="3080252" y="0"/>
                  </a:lnTo>
                </a:path>
              </a:pathLst>
            </a:custGeom>
            <a:ln w="8401">
              <a:solidFill>
                <a:srgbClr val="000000"/>
              </a:solidFill>
            </a:ln>
          </p:spPr>
          <p:txBody>
            <a:bodyPr wrap="square" lIns="0" tIns="0" rIns="0" bIns="0" rtlCol="0"/>
            <a:lstStyle/>
            <a:p>
              <a:endParaRPr/>
            </a:p>
          </p:txBody>
        </p:sp>
        <p:sp>
          <p:nvSpPr>
            <p:cNvPr id="25" name="object 25"/>
            <p:cNvSpPr/>
            <p:nvPr/>
          </p:nvSpPr>
          <p:spPr>
            <a:xfrm>
              <a:off x="3896890" y="1567221"/>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26" name="object 26"/>
          <p:cNvSpPr txBox="1"/>
          <p:nvPr/>
        </p:nvSpPr>
        <p:spPr>
          <a:xfrm>
            <a:off x="655357" y="1505537"/>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grpSp>
        <p:nvGrpSpPr>
          <p:cNvPr id="27" name="object 27"/>
          <p:cNvGrpSpPr/>
          <p:nvPr/>
        </p:nvGrpSpPr>
        <p:grpSpPr>
          <a:xfrm>
            <a:off x="950317" y="1586841"/>
            <a:ext cx="271145" cy="901065"/>
            <a:chOff x="950317" y="1586841"/>
            <a:chExt cx="271145" cy="901065"/>
          </a:xfrm>
        </p:grpSpPr>
        <p:sp>
          <p:nvSpPr>
            <p:cNvPr id="28" name="object 28"/>
            <p:cNvSpPr/>
            <p:nvPr/>
          </p:nvSpPr>
          <p:spPr>
            <a:xfrm>
              <a:off x="982422" y="1589064"/>
              <a:ext cx="140335" cy="280035"/>
            </a:xfrm>
            <a:custGeom>
              <a:avLst/>
              <a:gdLst/>
              <a:ahLst/>
              <a:cxnLst/>
              <a:rect l="l" t="t" r="r" b="b"/>
              <a:pathLst>
                <a:path w="140334" h="280035">
                  <a:moveTo>
                    <a:pt x="0" y="0"/>
                  </a:moveTo>
                  <a:lnTo>
                    <a:pt x="2187" y="4375"/>
                  </a:lnTo>
                  <a:lnTo>
                    <a:pt x="17501" y="35002"/>
                  </a:lnTo>
                  <a:lnTo>
                    <a:pt x="59066" y="118132"/>
                  </a:lnTo>
                  <a:lnTo>
                    <a:pt x="140009" y="280017"/>
                  </a:lnTo>
                </a:path>
              </a:pathLst>
            </a:custGeom>
            <a:ln w="4200">
              <a:solidFill>
                <a:srgbClr val="000000"/>
              </a:solidFill>
            </a:ln>
          </p:spPr>
          <p:txBody>
            <a:bodyPr wrap="square" lIns="0" tIns="0" rIns="0" bIns="0" rtlCol="0"/>
            <a:lstStyle/>
            <a:p>
              <a:endParaRPr/>
            </a:p>
          </p:txBody>
        </p:sp>
        <p:sp>
          <p:nvSpPr>
            <p:cNvPr id="29" name="object 29"/>
            <p:cNvSpPr/>
            <p:nvPr/>
          </p:nvSpPr>
          <p:spPr>
            <a:xfrm>
              <a:off x="1101767" y="1850296"/>
              <a:ext cx="30480" cy="38100"/>
            </a:xfrm>
            <a:custGeom>
              <a:avLst/>
              <a:gdLst/>
              <a:ahLst/>
              <a:cxnLst/>
              <a:rect l="l" t="t" r="r" b="b"/>
              <a:pathLst>
                <a:path w="30480" h="38100">
                  <a:moveTo>
                    <a:pt x="30056" y="0"/>
                  </a:moveTo>
                  <a:lnTo>
                    <a:pt x="20664" y="18785"/>
                  </a:lnTo>
                  <a:lnTo>
                    <a:pt x="0" y="15028"/>
                  </a:lnTo>
                  <a:lnTo>
                    <a:pt x="30056" y="37571"/>
                  </a:lnTo>
                  <a:lnTo>
                    <a:pt x="30056" y="0"/>
                  </a:lnTo>
                  <a:close/>
                </a:path>
              </a:pathLst>
            </a:custGeom>
            <a:solidFill>
              <a:srgbClr val="000000"/>
            </a:solidFill>
          </p:spPr>
          <p:txBody>
            <a:bodyPr wrap="square" lIns="0" tIns="0" rIns="0" bIns="0" rtlCol="0"/>
            <a:lstStyle/>
            <a:p>
              <a:endParaRPr/>
            </a:p>
          </p:txBody>
        </p:sp>
        <p:sp>
          <p:nvSpPr>
            <p:cNvPr id="30" name="object 30"/>
            <p:cNvSpPr/>
            <p:nvPr/>
          </p:nvSpPr>
          <p:spPr>
            <a:xfrm>
              <a:off x="982422" y="1589064"/>
              <a:ext cx="144780" cy="577850"/>
            </a:xfrm>
            <a:custGeom>
              <a:avLst/>
              <a:gdLst/>
              <a:ahLst/>
              <a:cxnLst/>
              <a:rect l="l" t="t" r="r" b="b"/>
              <a:pathLst>
                <a:path w="144780" h="577850">
                  <a:moveTo>
                    <a:pt x="0" y="0"/>
                  </a:moveTo>
                  <a:lnTo>
                    <a:pt x="2254" y="9019"/>
                  </a:lnTo>
                  <a:lnTo>
                    <a:pt x="18038" y="72153"/>
                  </a:lnTo>
                  <a:lnTo>
                    <a:pt x="60880" y="243519"/>
                  </a:lnTo>
                  <a:lnTo>
                    <a:pt x="144308" y="577231"/>
                  </a:lnTo>
                </a:path>
              </a:pathLst>
            </a:custGeom>
            <a:ln w="4200">
              <a:solidFill>
                <a:srgbClr val="000000"/>
              </a:solidFill>
            </a:ln>
          </p:spPr>
          <p:txBody>
            <a:bodyPr wrap="square" lIns="0" tIns="0" rIns="0" bIns="0" rtlCol="0"/>
            <a:lstStyle/>
            <a:p>
              <a:endParaRPr/>
            </a:p>
          </p:txBody>
        </p:sp>
        <p:sp>
          <p:nvSpPr>
            <p:cNvPr id="31" name="object 31"/>
            <p:cNvSpPr/>
            <p:nvPr/>
          </p:nvSpPr>
          <p:spPr>
            <a:xfrm>
              <a:off x="1107373" y="2149995"/>
              <a:ext cx="33020" cy="36830"/>
            </a:xfrm>
            <a:custGeom>
              <a:avLst/>
              <a:gdLst/>
              <a:ahLst/>
              <a:cxnLst/>
              <a:rect l="l" t="t" r="r" b="b"/>
              <a:pathLst>
                <a:path w="33019" h="36830">
                  <a:moveTo>
                    <a:pt x="32601" y="0"/>
                  </a:moveTo>
                  <a:lnTo>
                    <a:pt x="19356" y="16300"/>
                  </a:lnTo>
                  <a:lnTo>
                    <a:pt x="0" y="8149"/>
                  </a:lnTo>
                  <a:lnTo>
                    <a:pt x="24450" y="36676"/>
                  </a:lnTo>
                  <a:lnTo>
                    <a:pt x="32601" y="0"/>
                  </a:lnTo>
                  <a:close/>
                </a:path>
              </a:pathLst>
            </a:custGeom>
            <a:solidFill>
              <a:srgbClr val="000000"/>
            </a:solidFill>
          </p:spPr>
          <p:txBody>
            <a:bodyPr wrap="square" lIns="0" tIns="0" rIns="0" bIns="0" rtlCol="0"/>
            <a:lstStyle/>
            <a:p>
              <a:endParaRPr/>
            </a:p>
          </p:txBody>
        </p:sp>
        <p:sp>
          <p:nvSpPr>
            <p:cNvPr id="32" name="object 32"/>
            <p:cNvSpPr/>
            <p:nvPr/>
          </p:nvSpPr>
          <p:spPr>
            <a:xfrm>
              <a:off x="952539" y="2202361"/>
              <a:ext cx="255270" cy="283210"/>
            </a:xfrm>
            <a:custGeom>
              <a:avLst/>
              <a:gdLst/>
              <a:ahLst/>
              <a:cxnLst/>
              <a:rect l="l" t="t" r="r" b="b"/>
              <a:pathLst>
                <a:path w="255269" h="283210">
                  <a:moveTo>
                    <a:pt x="0" y="283114"/>
                  </a:moveTo>
                  <a:lnTo>
                    <a:pt x="3981" y="278690"/>
                  </a:lnTo>
                  <a:lnTo>
                    <a:pt x="31850" y="247725"/>
                  </a:lnTo>
                  <a:lnTo>
                    <a:pt x="107494" y="163675"/>
                  </a:lnTo>
                  <a:lnTo>
                    <a:pt x="254801" y="0"/>
                  </a:lnTo>
                </a:path>
              </a:pathLst>
            </a:custGeom>
            <a:ln w="4200">
              <a:solidFill>
                <a:srgbClr val="000000"/>
              </a:solidFill>
            </a:ln>
          </p:spPr>
          <p:txBody>
            <a:bodyPr wrap="square" lIns="0" tIns="0" rIns="0" bIns="0" rtlCol="0"/>
            <a:lstStyle/>
            <a:p>
              <a:endParaRPr/>
            </a:p>
          </p:txBody>
        </p:sp>
        <p:sp>
          <p:nvSpPr>
            <p:cNvPr id="33" name="object 33"/>
            <p:cNvSpPr/>
            <p:nvPr/>
          </p:nvSpPr>
          <p:spPr>
            <a:xfrm>
              <a:off x="1186317" y="2186671"/>
              <a:ext cx="35560" cy="36830"/>
            </a:xfrm>
            <a:custGeom>
              <a:avLst/>
              <a:gdLst/>
              <a:ahLst/>
              <a:cxnLst/>
              <a:rect l="l" t="t" r="r" b="b"/>
              <a:pathLst>
                <a:path w="35559" h="36830">
                  <a:moveTo>
                    <a:pt x="0" y="13806"/>
                  </a:moveTo>
                  <a:lnTo>
                    <a:pt x="21023" y="15689"/>
                  </a:lnTo>
                  <a:lnTo>
                    <a:pt x="25102" y="36399"/>
                  </a:lnTo>
                  <a:lnTo>
                    <a:pt x="35143" y="0"/>
                  </a:lnTo>
                  <a:lnTo>
                    <a:pt x="0" y="13806"/>
                  </a:lnTo>
                  <a:close/>
                </a:path>
              </a:pathLst>
            </a:custGeom>
            <a:solidFill>
              <a:srgbClr val="000000"/>
            </a:solidFill>
          </p:spPr>
          <p:txBody>
            <a:bodyPr wrap="square" lIns="0" tIns="0" rIns="0" bIns="0" rtlCol="0"/>
            <a:lstStyle/>
            <a:p>
              <a:endParaRPr/>
            </a:p>
          </p:txBody>
        </p:sp>
      </p:grpSp>
      <p:sp>
        <p:nvSpPr>
          <p:cNvPr id="34" name="object 34"/>
          <p:cNvSpPr txBox="1"/>
          <p:nvPr/>
        </p:nvSpPr>
        <p:spPr>
          <a:xfrm>
            <a:off x="655357" y="2402481"/>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35" name="object 35"/>
          <p:cNvGrpSpPr/>
          <p:nvPr/>
        </p:nvGrpSpPr>
        <p:grpSpPr>
          <a:xfrm>
            <a:off x="950317" y="1885645"/>
            <a:ext cx="572135" cy="602615"/>
            <a:chOff x="950317" y="1885645"/>
            <a:chExt cx="572135" cy="602615"/>
          </a:xfrm>
        </p:grpSpPr>
        <p:sp>
          <p:nvSpPr>
            <p:cNvPr id="36" name="object 36"/>
            <p:cNvSpPr/>
            <p:nvPr/>
          </p:nvSpPr>
          <p:spPr>
            <a:xfrm>
              <a:off x="952539" y="1908786"/>
              <a:ext cx="57785" cy="577215"/>
            </a:xfrm>
            <a:custGeom>
              <a:avLst/>
              <a:gdLst/>
              <a:ahLst/>
              <a:cxnLst/>
              <a:rect l="l" t="t" r="r" b="b"/>
              <a:pathLst>
                <a:path w="57784" h="577214">
                  <a:moveTo>
                    <a:pt x="0" y="576688"/>
                  </a:moveTo>
                  <a:lnTo>
                    <a:pt x="901" y="567678"/>
                  </a:lnTo>
                  <a:lnTo>
                    <a:pt x="7208" y="504602"/>
                  </a:lnTo>
                  <a:lnTo>
                    <a:pt x="24328" y="333398"/>
                  </a:lnTo>
                  <a:lnTo>
                    <a:pt x="57668" y="0"/>
                  </a:lnTo>
                </a:path>
              </a:pathLst>
            </a:custGeom>
            <a:ln w="4200">
              <a:solidFill>
                <a:srgbClr val="000000"/>
              </a:solidFill>
            </a:ln>
          </p:spPr>
          <p:txBody>
            <a:bodyPr wrap="square" lIns="0" tIns="0" rIns="0" bIns="0" rtlCol="0"/>
            <a:lstStyle/>
            <a:p>
              <a:endParaRPr/>
            </a:p>
          </p:txBody>
        </p:sp>
        <p:sp>
          <p:nvSpPr>
            <p:cNvPr id="37" name="object 37"/>
            <p:cNvSpPr/>
            <p:nvPr/>
          </p:nvSpPr>
          <p:spPr>
            <a:xfrm>
              <a:off x="992218" y="1887868"/>
              <a:ext cx="33655" cy="35560"/>
            </a:xfrm>
            <a:custGeom>
              <a:avLst/>
              <a:gdLst/>
              <a:ahLst/>
              <a:cxnLst/>
              <a:rect l="l" t="t" r="r" b="b"/>
              <a:pathLst>
                <a:path w="33655" h="35560">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8" name="object 38"/>
            <p:cNvSpPr/>
            <p:nvPr/>
          </p:nvSpPr>
          <p:spPr>
            <a:xfrm>
              <a:off x="1430627" y="1887868"/>
              <a:ext cx="63500" cy="210185"/>
            </a:xfrm>
            <a:custGeom>
              <a:avLst/>
              <a:gdLst/>
              <a:ahLst/>
              <a:cxnLst/>
              <a:rect l="l" t="t" r="r" b="b"/>
              <a:pathLst>
                <a:path w="63500" h="210185">
                  <a:moveTo>
                    <a:pt x="0" y="0"/>
                  </a:moveTo>
                  <a:lnTo>
                    <a:pt x="982" y="3276"/>
                  </a:lnTo>
                  <a:lnTo>
                    <a:pt x="7863" y="26210"/>
                  </a:lnTo>
                  <a:lnTo>
                    <a:pt x="26539" y="88460"/>
                  </a:lnTo>
                  <a:lnTo>
                    <a:pt x="62908" y="209684"/>
                  </a:lnTo>
                </a:path>
              </a:pathLst>
            </a:custGeom>
            <a:ln w="4200">
              <a:solidFill>
                <a:srgbClr val="000000"/>
              </a:solidFill>
            </a:ln>
          </p:spPr>
          <p:txBody>
            <a:bodyPr wrap="square" lIns="0" tIns="0" rIns="0" bIns="0" rtlCol="0"/>
            <a:lstStyle/>
            <a:p>
              <a:endParaRPr/>
            </a:p>
          </p:txBody>
        </p:sp>
        <p:sp>
          <p:nvSpPr>
            <p:cNvPr id="39" name="object 39"/>
            <p:cNvSpPr/>
            <p:nvPr/>
          </p:nvSpPr>
          <p:spPr>
            <a:xfrm>
              <a:off x="1467614" y="2090694"/>
              <a:ext cx="52705" cy="15875"/>
            </a:xfrm>
            <a:custGeom>
              <a:avLst/>
              <a:gdLst/>
              <a:ahLst/>
              <a:cxnLst/>
              <a:rect l="l" t="t" r="r" b="b"/>
              <a:pathLst>
                <a:path w="52705" h="15875">
                  <a:moveTo>
                    <a:pt x="0" y="15732"/>
                  </a:moveTo>
                  <a:lnTo>
                    <a:pt x="52447" y="0"/>
                  </a:lnTo>
                </a:path>
              </a:pathLst>
            </a:custGeom>
            <a:ln w="4211">
              <a:solidFill>
                <a:srgbClr val="000000"/>
              </a:solidFill>
            </a:ln>
          </p:spPr>
          <p:txBody>
            <a:bodyPr wrap="square" lIns="0" tIns="0" rIns="0" bIns="0" rtlCol="0"/>
            <a:lstStyle/>
            <a:p>
              <a:endParaRPr/>
            </a:p>
          </p:txBody>
        </p:sp>
      </p:grpSp>
      <p:sp>
        <p:nvSpPr>
          <p:cNvPr id="40" name="object 40"/>
          <p:cNvSpPr txBox="1"/>
          <p:nvPr/>
        </p:nvSpPr>
        <p:spPr>
          <a:xfrm>
            <a:off x="651722" y="1718986"/>
            <a:ext cx="1062990" cy="224790"/>
          </a:xfrm>
          <a:prstGeom prst="rect">
            <a:avLst/>
          </a:prstGeom>
        </p:spPr>
        <p:txBody>
          <a:bodyPr vert="horz" wrap="square" lIns="0" tIns="15875" rIns="0" bIns="0" rtlCol="0">
            <a:spAutoFit/>
          </a:bodyPr>
          <a:lstStyle/>
          <a:p>
            <a:pPr marL="546100">
              <a:lnSpc>
                <a:spcPts val="77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a:p>
            <a:pPr marL="50800">
              <a:lnSpc>
                <a:spcPts val="770"/>
              </a:lnSpc>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grpSp>
        <p:nvGrpSpPr>
          <p:cNvPr id="41" name="object 41"/>
          <p:cNvGrpSpPr/>
          <p:nvPr/>
        </p:nvGrpSpPr>
        <p:grpSpPr>
          <a:xfrm>
            <a:off x="1727208" y="1965890"/>
            <a:ext cx="93980" cy="223520"/>
            <a:chOff x="1727208" y="1965890"/>
            <a:chExt cx="93980" cy="223520"/>
          </a:xfrm>
        </p:grpSpPr>
        <p:sp>
          <p:nvSpPr>
            <p:cNvPr id="42" name="object 42"/>
            <p:cNvSpPr/>
            <p:nvPr/>
          </p:nvSpPr>
          <p:spPr>
            <a:xfrm>
              <a:off x="1729431" y="1976987"/>
              <a:ext cx="63500" cy="210185"/>
            </a:xfrm>
            <a:custGeom>
              <a:avLst/>
              <a:gdLst/>
              <a:ahLst/>
              <a:cxnLst/>
              <a:rect l="l" t="t" r="r" b="b"/>
              <a:pathLst>
                <a:path w="63500" h="210185">
                  <a:moveTo>
                    <a:pt x="0" y="209684"/>
                  </a:moveTo>
                  <a:lnTo>
                    <a:pt x="982" y="206407"/>
                  </a:lnTo>
                  <a:lnTo>
                    <a:pt x="7863" y="183473"/>
                  </a:lnTo>
                  <a:lnTo>
                    <a:pt x="26539" y="121223"/>
                  </a:lnTo>
                  <a:lnTo>
                    <a:pt x="62908" y="0"/>
                  </a:lnTo>
                </a:path>
              </a:pathLst>
            </a:custGeom>
            <a:ln w="4200">
              <a:solidFill>
                <a:srgbClr val="000000"/>
              </a:solidFill>
            </a:ln>
          </p:spPr>
          <p:txBody>
            <a:bodyPr wrap="square" lIns="0" tIns="0" rIns="0" bIns="0" rtlCol="0"/>
            <a:lstStyle/>
            <a:p>
              <a:endParaRPr/>
            </a:p>
          </p:txBody>
        </p:sp>
        <p:sp>
          <p:nvSpPr>
            <p:cNvPr id="43" name="object 43"/>
            <p:cNvSpPr/>
            <p:nvPr/>
          </p:nvSpPr>
          <p:spPr>
            <a:xfrm>
              <a:off x="1766418" y="1968112"/>
              <a:ext cx="52705" cy="15875"/>
            </a:xfrm>
            <a:custGeom>
              <a:avLst/>
              <a:gdLst/>
              <a:ahLst/>
              <a:cxnLst/>
              <a:rect l="l" t="t" r="r" b="b"/>
              <a:pathLst>
                <a:path w="52705" h="15875">
                  <a:moveTo>
                    <a:pt x="52447" y="15732"/>
                  </a:moveTo>
                  <a:lnTo>
                    <a:pt x="0" y="0"/>
                  </a:lnTo>
                </a:path>
              </a:pathLst>
            </a:custGeom>
            <a:ln w="4211">
              <a:solidFill>
                <a:srgbClr val="000000"/>
              </a:solidFill>
            </a:ln>
          </p:spPr>
          <p:txBody>
            <a:bodyPr wrap="square" lIns="0" tIns="0" rIns="0" bIns="0" rtlCol="0"/>
            <a:lstStyle/>
            <a:p>
              <a:endParaRPr/>
            </a:p>
          </p:txBody>
        </p:sp>
      </p:grpSp>
      <p:sp>
        <p:nvSpPr>
          <p:cNvPr id="44" name="object 44"/>
          <p:cNvSpPr txBox="1"/>
          <p:nvPr/>
        </p:nvSpPr>
        <p:spPr>
          <a:xfrm>
            <a:off x="1462587" y="2194712"/>
            <a:ext cx="534035"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35" dirty="0">
                <a:latin typeface="Times New Roman"/>
                <a:cs typeface="Times New Roman"/>
              </a:rPr>
              <a:t>A</a:t>
            </a:r>
            <a:r>
              <a:rPr sz="750" spc="70" dirty="0">
                <a:latin typeface="Times New Roman"/>
                <a:cs typeface="Times New Roman"/>
              </a:rPr>
              <a:t>live</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45" name="object 45"/>
          <p:cNvGrpSpPr/>
          <p:nvPr/>
        </p:nvGrpSpPr>
        <p:grpSpPr>
          <a:xfrm>
            <a:off x="2578799" y="1852043"/>
            <a:ext cx="94615" cy="71755"/>
            <a:chOff x="2578799" y="1852043"/>
            <a:chExt cx="94615" cy="71755"/>
          </a:xfrm>
        </p:grpSpPr>
        <p:sp>
          <p:nvSpPr>
            <p:cNvPr id="46" name="object 46"/>
            <p:cNvSpPr/>
            <p:nvPr/>
          </p:nvSpPr>
          <p:spPr>
            <a:xfrm>
              <a:off x="2581021" y="1854266"/>
              <a:ext cx="90170" cy="67310"/>
            </a:xfrm>
            <a:custGeom>
              <a:avLst/>
              <a:gdLst/>
              <a:ahLst/>
              <a:cxnLst/>
              <a:rect l="l" t="t" r="r" b="b"/>
              <a:pathLst>
                <a:path w="90169"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47" name="object 47"/>
            <p:cNvSpPr/>
            <p:nvPr/>
          </p:nvSpPr>
          <p:spPr>
            <a:xfrm>
              <a:off x="2581021" y="1854266"/>
              <a:ext cx="90170" cy="67310"/>
            </a:xfrm>
            <a:custGeom>
              <a:avLst/>
              <a:gdLst/>
              <a:ahLst/>
              <a:cxnLst/>
              <a:rect l="l" t="t" r="r" b="b"/>
              <a:pathLst>
                <a:path w="90169"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48" name="object 48"/>
          <p:cNvSpPr txBox="1"/>
          <p:nvPr/>
        </p:nvSpPr>
        <p:spPr>
          <a:xfrm>
            <a:off x="2550270" y="1904454"/>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1</a:t>
            </a:r>
            <a:endParaRPr sz="500">
              <a:latin typeface="Times New Roman"/>
              <a:cs typeface="Times New Roman"/>
            </a:endParaRPr>
          </a:p>
        </p:txBody>
      </p:sp>
      <p:grpSp>
        <p:nvGrpSpPr>
          <p:cNvPr id="49" name="object 49"/>
          <p:cNvGrpSpPr/>
          <p:nvPr/>
        </p:nvGrpSpPr>
        <p:grpSpPr>
          <a:xfrm>
            <a:off x="2773021" y="1589064"/>
            <a:ext cx="98425" cy="301625"/>
            <a:chOff x="2773021" y="1589064"/>
            <a:chExt cx="98425" cy="301625"/>
          </a:xfrm>
        </p:grpSpPr>
        <p:sp>
          <p:nvSpPr>
            <p:cNvPr id="50" name="object 50"/>
            <p:cNvSpPr/>
            <p:nvPr/>
          </p:nvSpPr>
          <p:spPr>
            <a:xfrm>
              <a:off x="2775244" y="1609236"/>
              <a:ext cx="83820" cy="278765"/>
            </a:xfrm>
            <a:custGeom>
              <a:avLst/>
              <a:gdLst/>
              <a:ahLst/>
              <a:cxnLst/>
              <a:rect l="l" t="t" r="r" b="b"/>
              <a:pathLst>
                <a:path w="83819" h="278764">
                  <a:moveTo>
                    <a:pt x="0" y="278631"/>
                  </a:moveTo>
                  <a:lnTo>
                    <a:pt x="1306" y="274278"/>
                  </a:lnTo>
                  <a:lnTo>
                    <a:pt x="10448" y="243802"/>
                  </a:lnTo>
                  <a:lnTo>
                    <a:pt x="35264" y="161084"/>
                  </a:lnTo>
                  <a:lnTo>
                    <a:pt x="83591" y="0"/>
                  </a:lnTo>
                </a:path>
              </a:pathLst>
            </a:custGeom>
            <a:ln w="4200">
              <a:solidFill>
                <a:srgbClr val="000000"/>
              </a:solidFill>
            </a:ln>
          </p:spPr>
          <p:txBody>
            <a:bodyPr wrap="square" lIns="0" tIns="0" rIns="0" bIns="0" rtlCol="0"/>
            <a:lstStyle/>
            <a:p>
              <a:endParaRPr/>
            </a:p>
          </p:txBody>
        </p:sp>
        <p:sp>
          <p:nvSpPr>
            <p:cNvPr id="51" name="object 51"/>
            <p:cNvSpPr/>
            <p:nvPr/>
          </p:nvSpPr>
          <p:spPr>
            <a:xfrm>
              <a:off x="2839067" y="1589064"/>
              <a:ext cx="32384" cy="37465"/>
            </a:xfrm>
            <a:custGeom>
              <a:avLst/>
              <a:gdLst/>
              <a:ahLst/>
              <a:cxnLst/>
              <a:rect l="l" t="t" r="r" b="b"/>
              <a:pathLst>
                <a:path w="32385" h="37464">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grpSp>
      <p:sp>
        <p:nvSpPr>
          <p:cNvPr id="52" name="object 52"/>
          <p:cNvSpPr txBox="1"/>
          <p:nvPr/>
        </p:nvSpPr>
        <p:spPr>
          <a:xfrm>
            <a:off x="2859181" y="1401946"/>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53" name="object 53"/>
          <p:cNvSpPr txBox="1"/>
          <p:nvPr/>
        </p:nvSpPr>
        <p:spPr>
          <a:xfrm>
            <a:off x="2851623" y="1468819"/>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54" name="object 54"/>
          <p:cNvSpPr txBox="1"/>
          <p:nvPr/>
        </p:nvSpPr>
        <p:spPr>
          <a:xfrm>
            <a:off x="848618" y="1420191"/>
            <a:ext cx="2143125" cy="144145"/>
          </a:xfrm>
          <a:prstGeom prst="rect">
            <a:avLst/>
          </a:prstGeom>
        </p:spPr>
        <p:txBody>
          <a:bodyPr vert="horz" wrap="square" lIns="0" tIns="15875" rIns="0" bIns="0" rtlCol="0">
            <a:spAutoFit/>
          </a:bodyPr>
          <a:lstStyle/>
          <a:p>
            <a:pPr marL="50800">
              <a:lnSpc>
                <a:spcPct val="100000"/>
              </a:lnSpc>
              <a:spcBef>
                <a:spcPts val="125"/>
              </a:spcBef>
              <a:tabLst>
                <a:tab pos="1927225" algn="l"/>
              </a:tabLst>
            </a:pPr>
            <a:r>
              <a:rPr sz="750" i="1" spc="-10" dirty="0">
                <a:latin typeface="メイリオ"/>
                <a:cs typeface="メイリオ"/>
              </a:rPr>
              <a:t>(</a:t>
            </a:r>
            <a:r>
              <a:rPr sz="750" i="1" spc="-1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	</a:t>
            </a:r>
            <a:r>
              <a:rPr sz="1125" i="1" spc="-37" baseline="3703" dirty="0">
                <a:latin typeface="メイリオ"/>
                <a:cs typeface="メイリオ"/>
              </a:rPr>
              <a:t>(</a:t>
            </a:r>
            <a:r>
              <a:rPr sz="1125" i="1" spc="-37" baseline="3703" dirty="0">
                <a:latin typeface="Arial"/>
                <a:cs typeface="Arial"/>
              </a:rPr>
              <a:t>σ</a:t>
            </a:r>
            <a:r>
              <a:rPr sz="1125" i="1" spc="127" baseline="3703" dirty="0">
                <a:latin typeface="Arial"/>
                <a:cs typeface="Arial"/>
              </a:rPr>
              <a:t> </a:t>
            </a:r>
            <a:r>
              <a:rPr sz="1125" i="1" spc="-44" baseline="3703" dirty="0">
                <a:latin typeface="メイリオ"/>
                <a:cs typeface="メイリオ"/>
              </a:rPr>
              <a:t>)</a:t>
            </a:r>
            <a:endParaRPr sz="1125" baseline="3703">
              <a:latin typeface="メイリオ"/>
              <a:cs typeface="メイリオ"/>
            </a:endParaRPr>
          </a:p>
        </p:txBody>
      </p:sp>
      <p:grpSp>
        <p:nvGrpSpPr>
          <p:cNvPr id="55" name="object 55"/>
          <p:cNvGrpSpPr/>
          <p:nvPr/>
        </p:nvGrpSpPr>
        <p:grpSpPr>
          <a:xfrm>
            <a:off x="2862663" y="1965890"/>
            <a:ext cx="408305" cy="257175"/>
            <a:chOff x="2862663" y="1965890"/>
            <a:chExt cx="408305" cy="257175"/>
          </a:xfrm>
        </p:grpSpPr>
        <p:sp>
          <p:nvSpPr>
            <p:cNvPr id="56" name="object 56"/>
            <p:cNvSpPr/>
            <p:nvPr/>
          </p:nvSpPr>
          <p:spPr>
            <a:xfrm>
              <a:off x="2864886" y="1976987"/>
              <a:ext cx="63500" cy="210185"/>
            </a:xfrm>
            <a:custGeom>
              <a:avLst/>
              <a:gdLst/>
              <a:ahLst/>
              <a:cxnLst/>
              <a:rect l="l" t="t" r="r" b="b"/>
              <a:pathLst>
                <a:path w="63500" h="210185">
                  <a:moveTo>
                    <a:pt x="0" y="209684"/>
                  </a:moveTo>
                  <a:lnTo>
                    <a:pt x="982" y="206407"/>
                  </a:lnTo>
                  <a:lnTo>
                    <a:pt x="7863" y="183473"/>
                  </a:lnTo>
                  <a:lnTo>
                    <a:pt x="26539" y="121223"/>
                  </a:lnTo>
                  <a:lnTo>
                    <a:pt x="62908" y="0"/>
                  </a:lnTo>
                </a:path>
              </a:pathLst>
            </a:custGeom>
            <a:ln w="4200">
              <a:solidFill>
                <a:srgbClr val="000000"/>
              </a:solidFill>
            </a:ln>
          </p:spPr>
          <p:txBody>
            <a:bodyPr wrap="square" lIns="0" tIns="0" rIns="0" bIns="0" rtlCol="0"/>
            <a:lstStyle/>
            <a:p>
              <a:endParaRPr/>
            </a:p>
          </p:txBody>
        </p:sp>
        <p:sp>
          <p:nvSpPr>
            <p:cNvPr id="57" name="object 57"/>
            <p:cNvSpPr/>
            <p:nvPr/>
          </p:nvSpPr>
          <p:spPr>
            <a:xfrm>
              <a:off x="2901873" y="1968112"/>
              <a:ext cx="52705" cy="15875"/>
            </a:xfrm>
            <a:custGeom>
              <a:avLst/>
              <a:gdLst/>
              <a:ahLst/>
              <a:cxnLst/>
              <a:rect l="l" t="t" r="r" b="b"/>
              <a:pathLst>
                <a:path w="52705" h="15875">
                  <a:moveTo>
                    <a:pt x="52447" y="15732"/>
                  </a:moveTo>
                  <a:lnTo>
                    <a:pt x="0" y="0"/>
                  </a:lnTo>
                </a:path>
              </a:pathLst>
            </a:custGeom>
            <a:ln w="4211">
              <a:solidFill>
                <a:srgbClr val="000000"/>
              </a:solidFill>
            </a:ln>
          </p:spPr>
          <p:txBody>
            <a:bodyPr wrap="square" lIns="0" tIns="0" rIns="0" bIns="0" rtlCol="0"/>
            <a:lstStyle/>
            <a:p>
              <a:endParaRPr/>
            </a:p>
          </p:txBody>
        </p:sp>
        <p:sp>
          <p:nvSpPr>
            <p:cNvPr id="58" name="object 58"/>
            <p:cNvSpPr/>
            <p:nvPr/>
          </p:nvSpPr>
          <p:spPr>
            <a:xfrm>
              <a:off x="3178629" y="2153069"/>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59" name="object 59"/>
            <p:cNvSpPr/>
            <p:nvPr/>
          </p:nvSpPr>
          <p:spPr>
            <a:xfrm>
              <a:off x="3178629" y="2153069"/>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60" name="object 60"/>
          <p:cNvSpPr txBox="1"/>
          <p:nvPr/>
        </p:nvSpPr>
        <p:spPr>
          <a:xfrm>
            <a:off x="2594026" y="2193616"/>
            <a:ext cx="70104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2</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r>
              <a:rPr sz="750" i="1" dirty="0">
                <a:latin typeface="メイリオ"/>
                <a:cs typeface="メイリオ"/>
              </a:rPr>
              <a:t>  </a:t>
            </a:r>
            <a:r>
              <a:rPr sz="750" i="1" spc="-70"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61" name="object 61"/>
          <p:cNvGrpSpPr/>
          <p:nvPr/>
        </p:nvGrpSpPr>
        <p:grpSpPr>
          <a:xfrm>
            <a:off x="3370751" y="2184571"/>
            <a:ext cx="98425" cy="300990"/>
            <a:chOff x="3370751" y="2184571"/>
            <a:chExt cx="98425" cy="300990"/>
          </a:xfrm>
        </p:grpSpPr>
        <p:sp>
          <p:nvSpPr>
            <p:cNvPr id="62" name="object 62"/>
            <p:cNvSpPr/>
            <p:nvPr/>
          </p:nvSpPr>
          <p:spPr>
            <a:xfrm>
              <a:off x="3372851" y="2186671"/>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63" name="object 63"/>
            <p:cNvSpPr/>
            <p:nvPr/>
          </p:nvSpPr>
          <p:spPr>
            <a:xfrm>
              <a:off x="3436674" y="2448359"/>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64" name="object 64"/>
          <p:cNvSpPr txBox="1"/>
          <p:nvPr/>
        </p:nvSpPr>
        <p:spPr>
          <a:xfrm>
            <a:off x="3456782" y="2483074"/>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67" name="object 67"/>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Understanding</a:t>
            </a:r>
            <a:r>
              <a:rPr sz="600" spc="-25" dirty="0">
                <a:solidFill>
                  <a:srgbClr val="3333B2"/>
                </a:solidFill>
                <a:latin typeface="Arial"/>
                <a:cs typeface="Arial"/>
                <a:hlinkClick r:id="rId6" action="ppaction://hlinksldjump"/>
              </a:rPr>
              <a:t> </a:t>
            </a:r>
            <a:r>
              <a:rPr sz="600" spc="-10" dirty="0">
                <a:solidFill>
                  <a:srgbClr val="3333B2"/>
                </a:solidFill>
                <a:latin typeface="Arial"/>
                <a:cs typeface="Arial"/>
                <a:hlinkClick r:id="rId6" action="ppaction://hlinksldjump"/>
              </a:rPr>
              <a:t>Paxos</a:t>
            </a:r>
            <a:endParaRPr sz="600">
              <a:latin typeface="Arial"/>
              <a:cs typeface="Arial"/>
            </a:endParaRPr>
          </a:p>
        </p:txBody>
      </p:sp>
      <p:sp>
        <p:nvSpPr>
          <p:cNvPr id="68" name="object 68"/>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65" name="object 65"/>
          <p:cNvSpPr txBox="1"/>
          <p:nvPr/>
        </p:nvSpPr>
        <p:spPr>
          <a:xfrm>
            <a:off x="3449224" y="2548850"/>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66" name="object 66"/>
          <p:cNvSpPr txBox="1"/>
          <p:nvPr/>
        </p:nvSpPr>
        <p:spPr>
          <a:xfrm>
            <a:off x="3361365" y="2492411"/>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Understanding</a:t>
            </a:r>
            <a:r>
              <a:rPr sz="600" spc="-25" dirty="0">
                <a:solidFill>
                  <a:srgbClr val="3333B2"/>
                </a:solidFill>
                <a:latin typeface="Arial"/>
                <a:cs typeface="Arial"/>
                <a:hlinkClick r:id="rId2" action="ppaction://hlinksldjump"/>
              </a:rPr>
              <a:t> </a:t>
            </a:r>
            <a:r>
              <a:rPr sz="600" spc="-10" dirty="0">
                <a:solidFill>
                  <a:srgbClr val="3333B2"/>
                </a:solidFill>
                <a:latin typeface="Arial"/>
                <a:cs typeface="Arial"/>
                <a:hlinkClick r:id="rId2" action="ppaction://hlinksldjump"/>
              </a:rPr>
              <a:t>Paxos</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
        <p:nvSpPr>
          <p:cNvPr id="4" name="object 4"/>
          <p:cNvSpPr txBox="1"/>
          <p:nvPr/>
        </p:nvSpPr>
        <p:spPr>
          <a:xfrm>
            <a:off x="95300" y="188846"/>
            <a:ext cx="228282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Required</a:t>
            </a:r>
            <a:r>
              <a:rPr sz="1400" spc="-15" dirty="0">
                <a:solidFill>
                  <a:srgbClr val="3333B2"/>
                </a:solidFill>
                <a:latin typeface="Arial"/>
                <a:cs typeface="Arial"/>
              </a:rPr>
              <a:t> </a:t>
            </a:r>
            <a:r>
              <a:rPr sz="1400" spc="15" dirty="0">
                <a:solidFill>
                  <a:srgbClr val="3333B2"/>
                </a:solidFill>
                <a:latin typeface="Arial"/>
                <a:cs typeface="Arial"/>
              </a:rPr>
              <a:t>number</a:t>
            </a:r>
            <a:r>
              <a:rPr sz="1400" spc="-10" dirty="0">
                <a:solidFill>
                  <a:srgbClr val="3333B2"/>
                </a:solidFill>
                <a:latin typeface="Arial"/>
                <a:cs typeface="Arial"/>
              </a:rPr>
              <a:t> </a:t>
            </a:r>
            <a:r>
              <a:rPr sz="1400" spc="10" dirty="0">
                <a:solidFill>
                  <a:srgbClr val="3333B2"/>
                </a:solidFill>
                <a:latin typeface="Arial"/>
                <a:cs typeface="Arial"/>
              </a:rPr>
              <a:t>of</a:t>
            </a:r>
            <a:r>
              <a:rPr sz="1400" spc="-10" dirty="0">
                <a:solidFill>
                  <a:srgbClr val="3333B2"/>
                </a:solidFill>
                <a:latin typeface="Arial"/>
                <a:cs typeface="Arial"/>
              </a:rPr>
              <a:t> </a:t>
            </a:r>
            <a:r>
              <a:rPr sz="1400" spc="15" dirty="0">
                <a:solidFill>
                  <a:srgbClr val="3333B2"/>
                </a:solidFill>
                <a:latin typeface="Arial"/>
                <a:cs typeface="Arial"/>
              </a:rPr>
              <a:t>servers</a:t>
            </a:r>
            <a:endParaRPr sz="1400">
              <a:latin typeface="Arial"/>
              <a:cs typeface="Arial"/>
            </a:endParaRPr>
          </a:p>
        </p:txBody>
      </p:sp>
      <p:sp>
        <p:nvSpPr>
          <p:cNvPr id="5" name="object 5"/>
          <p:cNvSpPr txBox="1"/>
          <p:nvPr/>
        </p:nvSpPr>
        <p:spPr>
          <a:xfrm>
            <a:off x="347294" y="1131173"/>
            <a:ext cx="1969135" cy="354965"/>
          </a:xfrm>
          <a:prstGeom prst="rect">
            <a:avLst/>
          </a:prstGeom>
        </p:spPr>
        <p:txBody>
          <a:bodyPr vert="horz" wrap="square" lIns="0" tIns="12065" rIns="0" bIns="0" rtlCol="0">
            <a:spAutoFit/>
          </a:bodyPr>
          <a:lstStyle/>
          <a:p>
            <a:pPr marL="12700">
              <a:lnSpc>
                <a:spcPts val="1420"/>
              </a:lnSpc>
              <a:spcBef>
                <a:spcPts val="95"/>
              </a:spcBef>
            </a:pPr>
            <a:r>
              <a:rPr sz="1200" spc="-5" dirty="0">
                <a:solidFill>
                  <a:srgbClr val="FA0000"/>
                </a:solidFill>
                <a:latin typeface="Arial"/>
                <a:cs typeface="Arial"/>
              </a:rPr>
              <a:t>Observation</a:t>
            </a:r>
            <a:endParaRPr sz="1200">
              <a:latin typeface="Arial"/>
              <a:cs typeface="Arial"/>
            </a:endParaRPr>
          </a:p>
          <a:p>
            <a:pPr marL="12700">
              <a:lnSpc>
                <a:spcPts val="1180"/>
              </a:lnSpc>
            </a:pPr>
            <a:r>
              <a:rPr sz="1000" spc="-15" dirty="0">
                <a:latin typeface="Arial"/>
                <a:cs typeface="Arial"/>
              </a:rPr>
              <a:t>Paxos</a:t>
            </a:r>
            <a:r>
              <a:rPr sz="1000" spc="-5" dirty="0">
                <a:latin typeface="Arial"/>
                <a:cs typeface="Arial"/>
              </a:rPr>
              <a:t> needs at least three servers</a:t>
            </a:r>
            <a:endParaRPr sz="100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Understanding</a:t>
            </a:r>
            <a:r>
              <a:rPr sz="600" spc="-25" dirty="0">
                <a:solidFill>
                  <a:srgbClr val="3333B2"/>
                </a:solidFill>
                <a:latin typeface="Arial"/>
                <a:cs typeface="Arial"/>
                <a:hlinkClick r:id="rId3" action="ppaction://hlinksldjump"/>
              </a:rPr>
              <a:t> </a:t>
            </a:r>
            <a:r>
              <a:rPr sz="600" spc="-10" dirty="0">
                <a:solidFill>
                  <a:srgbClr val="3333B2"/>
                </a:solidFill>
                <a:latin typeface="Arial"/>
                <a:cs typeface="Arial"/>
                <a:hlinkClick r:id="rId3" action="ppaction://hlinksldjump"/>
              </a:rPr>
              <a:t>Paxos</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Example:</a:t>
            </a:r>
            <a:r>
              <a:rPr sz="600" dirty="0">
                <a:solidFill>
                  <a:srgbClr val="262685"/>
                </a:solidFill>
                <a:latin typeface="Arial"/>
                <a:cs typeface="Arial"/>
                <a:hlinkClick r:id="rId6" action="ppaction://hlinksldjump"/>
              </a:rPr>
              <a:t> </a:t>
            </a:r>
            <a:r>
              <a:rPr sz="600" spc="-10" dirty="0">
                <a:solidFill>
                  <a:srgbClr val="262685"/>
                </a:solidFill>
                <a:latin typeface="Arial"/>
                <a:cs typeface="Arial"/>
                <a:hlinkClick r:id="rId6" action="ppaction://hlinksldjump"/>
              </a:rPr>
              <a:t>Paxos</a:t>
            </a:r>
            <a:endParaRPr sz="600">
              <a:latin typeface="Arial"/>
              <a:cs typeface="Arial"/>
            </a:endParaRPr>
          </a:p>
        </p:txBody>
      </p:sp>
      <p:sp>
        <p:nvSpPr>
          <p:cNvPr id="4" name="object 4"/>
          <p:cNvSpPr txBox="1"/>
          <p:nvPr/>
        </p:nvSpPr>
        <p:spPr>
          <a:xfrm>
            <a:off x="95300" y="188846"/>
            <a:ext cx="228282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Required</a:t>
            </a:r>
            <a:r>
              <a:rPr sz="1400" spc="-15" dirty="0">
                <a:solidFill>
                  <a:srgbClr val="3333B2"/>
                </a:solidFill>
                <a:latin typeface="Arial"/>
                <a:cs typeface="Arial"/>
              </a:rPr>
              <a:t> </a:t>
            </a:r>
            <a:r>
              <a:rPr sz="1400" spc="15" dirty="0">
                <a:solidFill>
                  <a:srgbClr val="3333B2"/>
                </a:solidFill>
                <a:latin typeface="Arial"/>
                <a:cs typeface="Arial"/>
              </a:rPr>
              <a:t>number</a:t>
            </a:r>
            <a:r>
              <a:rPr sz="1400" spc="-10" dirty="0">
                <a:solidFill>
                  <a:srgbClr val="3333B2"/>
                </a:solidFill>
                <a:latin typeface="Arial"/>
                <a:cs typeface="Arial"/>
              </a:rPr>
              <a:t> </a:t>
            </a:r>
            <a:r>
              <a:rPr sz="1400" spc="10" dirty="0">
                <a:solidFill>
                  <a:srgbClr val="3333B2"/>
                </a:solidFill>
                <a:latin typeface="Arial"/>
                <a:cs typeface="Arial"/>
              </a:rPr>
              <a:t>of</a:t>
            </a:r>
            <a:r>
              <a:rPr sz="1400" spc="-10" dirty="0">
                <a:solidFill>
                  <a:srgbClr val="3333B2"/>
                </a:solidFill>
                <a:latin typeface="Arial"/>
                <a:cs typeface="Arial"/>
              </a:rPr>
              <a:t> </a:t>
            </a:r>
            <a:r>
              <a:rPr sz="1400" spc="15" dirty="0">
                <a:solidFill>
                  <a:srgbClr val="3333B2"/>
                </a:solidFill>
                <a:latin typeface="Arial"/>
                <a:cs typeface="Arial"/>
              </a:rPr>
              <a:t>servers</a:t>
            </a:r>
            <a:endParaRPr sz="1400">
              <a:latin typeface="Arial"/>
              <a:cs typeface="Arial"/>
            </a:endParaRPr>
          </a:p>
        </p:txBody>
      </p:sp>
      <p:sp>
        <p:nvSpPr>
          <p:cNvPr id="5" name="object 5"/>
          <p:cNvSpPr txBox="1"/>
          <p:nvPr/>
        </p:nvSpPr>
        <p:spPr>
          <a:xfrm>
            <a:off x="342290" y="1131173"/>
            <a:ext cx="3914775" cy="1103630"/>
          </a:xfrm>
          <a:prstGeom prst="rect">
            <a:avLst/>
          </a:prstGeom>
        </p:spPr>
        <p:txBody>
          <a:bodyPr vert="horz" wrap="square" lIns="0" tIns="12065" rIns="0" bIns="0" rtlCol="0">
            <a:spAutoFit/>
          </a:bodyPr>
          <a:lstStyle/>
          <a:p>
            <a:pPr marL="17145">
              <a:lnSpc>
                <a:spcPts val="1420"/>
              </a:lnSpc>
              <a:spcBef>
                <a:spcPts val="95"/>
              </a:spcBef>
            </a:pPr>
            <a:r>
              <a:rPr sz="1200" spc="-5" dirty="0">
                <a:solidFill>
                  <a:srgbClr val="FA0000"/>
                </a:solidFill>
                <a:latin typeface="Arial"/>
                <a:cs typeface="Arial"/>
              </a:rPr>
              <a:t>Observation</a:t>
            </a:r>
            <a:endParaRPr sz="1200">
              <a:latin typeface="Arial"/>
              <a:cs typeface="Arial"/>
            </a:endParaRPr>
          </a:p>
          <a:p>
            <a:pPr marL="17145" algn="just">
              <a:lnSpc>
                <a:spcPts val="1180"/>
              </a:lnSpc>
            </a:pPr>
            <a:r>
              <a:rPr sz="1000" spc="-15" dirty="0">
                <a:latin typeface="Arial"/>
                <a:cs typeface="Arial"/>
              </a:rPr>
              <a:t>Paxos</a:t>
            </a:r>
            <a:r>
              <a:rPr sz="1000" spc="-5" dirty="0">
                <a:latin typeface="Arial"/>
                <a:cs typeface="Arial"/>
              </a:rPr>
              <a:t> needs at least three servers</a:t>
            </a:r>
            <a:endParaRPr sz="1000">
              <a:latin typeface="Arial"/>
              <a:cs typeface="Arial"/>
            </a:endParaRPr>
          </a:p>
          <a:p>
            <a:pPr marL="12700">
              <a:lnSpc>
                <a:spcPct val="100000"/>
              </a:lnSpc>
              <a:spcBef>
                <a:spcPts val="690"/>
              </a:spcBef>
            </a:pPr>
            <a:r>
              <a:rPr sz="1200" spc="-5" dirty="0">
                <a:solidFill>
                  <a:srgbClr val="FA0000"/>
                </a:solidFill>
                <a:latin typeface="Arial"/>
                <a:cs typeface="Arial"/>
              </a:rPr>
              <a:t>Adapted</a:t>
            </a:r>
            <a:r>
              <a:rPr sz="1200" spc="-20" dirty="0">
                <a:solidFill>
                  <a:srgbClr val="FA0000"/>
                </a:solidFill>
                <a:latin typeface="Arial"/>
                <a:cs typeface="Arial"/>
              </a:rPr>
              <a:t> </a:t>
            </a:r>
            <a:r>
              <a:rPr sz="1200" spc="-5" dirty="0">
                <a:solidFill>
                  <a:srgbClr val="FA0000"/>
                </a:solidFill>
                <a:latin typeface="Arial"/>
                <a:cs typeface="Arial"/>
              </a:rPr>
              <a:t>fundamental</a:t>
            </a:r>
            <a:r>
              <a:rPr sz="1200" spc="-20" dirty="0">
                <a:solidFill>
                  <a:srgbClr val="FA0000"/>
                </a:solidFill>
                <a:latin typeface="Arial"/>
                <a:cs typeface="Arial"/>
              </a:rPr>
              <a:t> </a:t>
            </a:r>
            <a:r>
              <a:rPr sz="1200" dirty="0">
                <a:solidFill>
                  <a:srgbClr val="FA0000"/>
                </a:solidFill>
                <a:latin typeface="Arial"/>
                <a:cs typeface="Arial"/>
              </a:rPr>
              <a:t>rule</a:t>
            </a:r>
            <a:endParaRPr sz="1200">
              <a:latin typeface="Arial"/>
              <a:cs typeface="Arial"/>
            </a:endParaRPr>
          </a:p>
          <a:p>
            <a:pPr marL="17145" marR="5080" algn="just">
              <a:lnSpc>
                <a:spcPct val="100000"/>
              </a:lnSpc>
              <a:spcBef>
                <a:spcPts val="175"/>
              </a:spcBef>
            </a:pPr>
            <a:r>
              <a:rPr sz="1000" spc="-5" dirty="0">
                <a:latin typeface="Arial"/>
                <a:cs typeface="Arial"/>
              </a:rPr>
              <a:t>In </a:t>
            </a:r>
            <a:r>
              <a:rPr sz="1000" spc="-15" dirty="0">
                <a:latin typeface="Arial"/>
                <a:cs typeface="Arial"/>
              </a:rPr>
              <a:t>Paxos </a:t>
            </a:r>
            <a:r>
              <a:rPr sz="1000" spc="-5" dirty="0">
                <a:latin typeface="Arial"/>
                <a:cs typeface="Arial"/>
              </a:rPr>
              <a:t>with three </a:t>
            </a:r>
            <a:r>
              <a:rPr sz="1000" spc="-10" dirty="0">
                <a:latin typeface="Arial"/>
                <a:cs typeface="Arial"/>
              </a:rPr>
              <a:t>servers, </a:t>
            </a:r>
            <a:r>
              <a:rPr sz="1000" spc="-5" dirty="0">
                <a:latin typeface="Arial"/>
                <a:cs typeface="Arial"/>
              </a:rPr>
              <a:t>a server </a:t>
            </a:r>
            <a:r>
              <a:rPr sz="1000" i="1" spc="-5" dirty="0">
                <a:latin typeface="Arial"/>
                <a:cs typeface="Arial"/>
              </a:rPr>
              <a:t>S </a:t>
            </a:r>
            <a:r>
              <a:rPr sz="1000" spc="-5" dirty="0">
                <a:latin typeface="Arial"/>
                <a:cs typeface="Arial"/>
              </a:rPr>
              <a:t>cannot </a:t>
            </a:r>
            <a:r>
              <a:rPr sz="1000" spc="-15" dirty="0">
                <a:latin typeface="Arial"/>
                <a:cs typeface="Arial"/>
              </a:rPr>
              <a:t>execute </a:t>
            </a:r>
            <a:r>
              <a:rPr sz="1000" spc="-5" dirty="0">
                <a:latin typeface="Arial"/>
                <a:cs typeface="Arial"/>
              </a:rPr>
              <a:t>an </a:t>
            </a:r>
            <a:r>
              <a:rPr sz="1000" spc="-10" dirty="0">
                <a:latin typeface="Arial"/>
                <a:cs typeface="Arial"/>
              </a:rPr>
              <a:t>operation </a:t>
            </a:r>
            <a:r>
              <a:rPr sz="1000" i="1" spc="-5" dirty="0">
                <a:latin typeface="Arial"/>
                <a:cs typeface="Arial"/>
              </a:rPr>
              <a:t>o </a:t>
            </a:r>
            <a:r>
              <a:rPr sz="1000" i="1" spc="-265" dirty="0">
                <a:latin typeface="Arial"/>
                <a:cs typeface="Arial"/>
              </a:rPr>
              <a:t> </a:t>
            </a:r>
            <a:r>
              <a:rPr sz="1000" spc="-5" dirty="0">
                <a:latin typeface="Arial"/>
                <a:cs typeface="Arial"/>
              </a:rPr>
              <a:t>until it has received at least one (other) </a:t>
            </a:r>
            <a:r>
              <a:rPr sz="800" spc="35" dirty="0">
                <a:latin typeface="Arial"/>
                <a:cs typeface="Arial"/>
              </a:rPr>
              <a:t>LEARN</a:t>
            </a:r>
            <a:r>
              <a:rPr sz="1000" spc="35" dirty="0">
                <a:latin typeface="Arial"/>
                <a:cs typeface="Arial"/>
              </a:rPr>
              <a:t>(</a:t>
            </a:r>
            <a:r>
              <a:rPr sz="1000" i="1" spc="35" dirty="0">
                <a:latin typeface="Arial"/>
                <a:cs typeface="Arial"/>
              </a:rPr>
              <a:t>o</a:t>
            </a:r>
            <a:r>
              <a:rPr sz="1000" spc="35" dirty="0">
                <a:latin typeface="Arial"/>
                <a:cs typeface="Arial"/>
              </a:rPr>
              <a:t>) </a:t>
            </a:r>
            <a:r>
              <a:rPr sz="1000" spc="-5" dirty="0">
                <a:latin typeface="Arial"/>
                <a:cs typeface="Arial"/>
              </a:rPr>
              <a:t>message, so that it </a:t>
            </a:r>
            <a:r>
              <a:rPr sz="1000" dirty="0">
                <a:latin typeface="Arial"/>
                <a:cs typeface="Arial"/>
              </a:rPr>
              <a:t> </a:t>
            </a:r>
            <a:r>
              <a:rPr sz="1000" spc="-10" dirty="0">
                <a:latin typeface="Arial"/>
                <a:cs typeface="Arial"/>
              </a:rPr>
              <a:t>knows</a:t>
            </a:r>
            <a:r>
              <a:rPr sz="1000" spc="-5" dirty="0">
                <a:latin typeface="Arial"/>
                <a:cs typeface="Arial"/>
              </a:rPr>
              <a:t> that a majority of</a:t>
            </a:r>
            <a:r>
              <a:rPr sz="1000" dirty="0">
                <a:latin typeface="Arial"/>
                <a:cs typeface="Arial"/>
              </a:rPr>
              <a:t> </a:t>
            </a:r>
            <a:r>
              <a:rPr sz="1000" spc="-5" dirty="0">
                <a:latin typeface="Arial"/>
                <a:cs typeface="Arial"/>
              </a:rPr>
              <a:t>servers will </a:t>
            </a:r>
            <a:r>
              <a:rPr sz="1000" spc="-15" dirty="0">
                <a:latin typeface="Arial"/>
                <a:cs typeface="Arial"/>
              </a:rPr>
              <a:t>execute</a:t>
            </a:r>
            <a:r>
              <a:rPr sz="1000" spc="-5" dirty="0">
                <a:latin typeface="Arial"/>
                <a:cs typeface="Arial"/>
              </a:rPr>
              <a:t> </a:t>
            </a:r>
            <a:r>
              <a:rPr sz="1000" i="1" spc="10" dirty="0">
                <a:latin typeface="Arial"/>
                <a:cs typeface="Arial"/>
              </a:rPr>
              <a:t>o</a:t>
            </a:r>
            <a:r>
              <a:rPr sz="1000" spc="10" dirty="0">
                <a:latin typeface="Arial"/>
                <a:cs typeface="Arial"/>
              </a:rPr>
              <a:t>.</a:t>
            </a:r>
            <a:endParaRPr sz="10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9" name="object 9"/>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Understanding</a:t>
            </a:r>
            <a:r>
              <a:rPr sz="600" spc="-25" dirty="0">
                <a:solidFill>
                  <a:srgbClr val="3333B2"/>
                </a:solidFill>
                <a:latin typeface="Arial"/>
                <a:cs typeface="Arial"/>
                <a:hlinkClick r:id="rId2" action="ppaction://hlinksldjump"/>
              </a:rPr>
              <a:t> </a:t>
            </a:r>
            <a:r>
              <a:rPr sz="600" spc="-10" dirty="0">
                <a:solidFill>
                  <a:srgbClr val="3333B2"/>
                </a:solidFill>
                <a:latin typeface="Arial"/>
                <a:cs typeface="Arial"/>
                <a:hlinkClick r:id="rId2" action="ppaction://hlinksldjump"/>
              </a:rPr>
              <a:t>Paxos</a:t>
            </a:r>
            <a:endParaRPr sz="600">
              <a:latin typeface="Arial"/>
              <a:cs typeface="Arial"/>
            </a:endParaRPr>
          </a:p>
        </p:txBody>
      </p:sp>
      <p:sp>
        <p:nvSpPr>
          <p:cNvPr id="10" name="object 10"/>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
        <p:nvSpPr>
          <p:cNvPr id="4" name="object 4"/>
          <p:cNvSpPr txBox="1"/>
          <p:nvPr/>
        </p:nvSpPr>
        <p:spPr>
          <a:xfrm>
            <a:off x="82600" y="188846"/>
            <a:ext cx="4218940" cy="149288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Required</a:t>
            </a:r>
            <a:r>
              <a:rPr sz="1400" spc="-10" dirty="0">
                <a:solidFill>
                  <a:srgbClr val="3333B2"/>
                </a:solidFill>
                <a:latin typeface="Arial"/>
                <a:cs typeface="Arial"/>
              </a:rPr>
              <a:t> </a:t>
            </a:r>
            <a:r>
              <a:rPr sz="1400" spc="15" dirty="0">
                <a:solidFill>
                  <a:srgbClr val="3333B2"/>
                </a:solidFill>
                <a:latin typeface="Arial"/>
                <a:cs typeface="Arial"/>
              </a:rPr>
              <a:t>number</a:t>
            </a:r>
            <a:r>
              <a:rPr sz="1400" spc="-10" dirty="0">
                <a:solidFill>
                  <a:srgbClr val="3333B2"/>
                </a:solidFill>
                <a:latin typeface="Arial"/>
                <a:cs typeface="Arial"/>
              </a:rPr>
              <a:t> </a:t>
            </a:r>
            <a:r>
              <a:rPr sz="1400" spc="10" dirty="0">
                <a:solidFill>
                  <a:srgbClr val="3333B2"/>
                </a:solidFill>
                <a:latin typeface="Arial"/>
                <a:cs typeface="Arial"/>
              </a:rPr>
              <a:t>of</a:t>
            </a:r>
            <a:r>
              <a:rPr sz="1400" spc="-5" dirty="0">
                <a:solidFill>
                  <a:srgbClr val="3333B2"/>
                </a:solidFill>
                <a:latin typeface="Arial"/>
                <a:cs typeface="Arial"/>
              </a:rPr>
              <a:t> </a:t>
            </a:r>
            <a:r>
              <a:rPr sz="1400" spc="15" dirty="0">
                <a:solidFill>
                  <a:srgbClr val="3333B2"/>
                </a:solidFill>
                <a:latin typeface="Arial"/>
                <a:cs typeface="Arial"/>
              </a:rPr>
              <a:t>servers</a:t>
            </a:r>
            <a:endParaRPr sz="1400">
              <a:latin typeface="Arial"/>
              <a:cs typeface="Arial"/>
            </a:endParaRPr>
          </a:p>
          <a:p>
            <a:pPr>
              <a:lnSpc>
                <a:spcPct val="100000"/>
              </a:lnSpc>
              <a:spcBef>
                <a:spcPts val="5"/>
              </a:spcBef>
            </a:pPr>
            <a:endParaRPr sz="2450">
              <a:latin typeface="Arial"/>
              <a:cs typeface="Arial"/>
            </a:endParaRPr>
          </a:p>
          <a:p>
            <a:pPr marL="271780">
              <a:lnSpc>
                <a:spcPct val="100000"/>
              </a:lnSpc>
            </a:pPr>
            <a:r>
              <a:rPr sz="1200" spc="-5" dirty="0">
                <a:solidFill>
                  <a:srgbClr val="3333B2"/>
                </a:solidFill>
                <a:latin typeface="Arial"/>
                <a:cs typeface="Arial"/>
              </a:rPr>
              <a:t>Assumptions</a:t>
            </a:r>
            <a:r>
              <a:rPr sz="1200" spc="-10" dirty="0">
                <a:solidFill>
                  <a:srgbClr val="3333B2"/>
                </a:solidFill>
                <a:latin typeface="Arial"/>
                <a:cs typeface="Arial"/>
              </a:rPr>
              <a:t> before</a:t>
            </a:r>
            <a:r>
              <a:rPr sz="1200" spc="-5" dirty="0">
                <a:solidFill>
                  <a:srgbClr val="3333B2"/>
                </a:solidFill>
                <a:latin typeface="Arial"/>
                <a:cs typeface="Arial"/>
              </a:rPr>
              <a:t> taking</a:t>
            </a:r>
            <a:r>
              <a:rPr sz="1200" spc="-10" dirty="0">
                <a:solidFill>
                  <a:srgbClr val="3333B2"/>
                </a:solidFill>
                <a:latin typeface="Arial"/>
                <a:cs typeface="Arial"/>
              </a:rPr>
              <a:t> </a:t>
            </a:r>
            <a:r>
              <a:rPr sz="1200" spc="-5" dirty="0">
                <a:solidFill>
                  <a:srgbClr val="3333B2"/>
                </a:solidFill>
                <a:latin typeface="Arial"/>
                <a:cs typeface="Arial"/>
              </a:rPr>
              <a:t>the </a:t>
            </a:r>
            <a:r>
              <a:rPr sz="1200" spc="-15" dirty="0">
                <a:solidFill>
                  <a:srgbClr val="3333B2"/>
                </a:solidFill>
                <a:latin typeface="Arial"/>
                <a:cs typeface="Arial"/>
              </a:rPr>
              <a:t>next</a:t>
            </a:r>
            <a:r>
              <a:rPr sz="1200" spc="-10" dirty="0">
                <a:solidFill>
                  <a:srgbClr val="3333B2"/>
                </a:solidFill>
                <a:latin typeface="Arial"/>
                <a:cs typeface="Arial"/>
              </a:rPr>
              <a:t> </a:t>
            </a:r>
            <a:r>
              <a:rPr sz="1200" spc="-5" dirty="0">
                <a:solidFill>
                  <a:srgbClr val="3333B2"/>
                </a:solidFill>
                <a:latin typeface="Arial"/>
                <a:cs typeface="Arial"/>
              </a:rPr>
              <a:t>steps</a:t>
            </a:r>
            <a:endParaRPr sz="1200">
              <a:latin typeface="Arial"/>
              <a:cs typeface="Arial"/>
            </a:endParaRPr>
          </a:p>
          <a:p>
            <a:pPr marL="554355" indent="-168275">
              <a:lnSpc>
                <a:spcPts val="1200"/>
              </a:lnSpc>
              <a:spcBef>
                <a:spcPts val="790"/>
              </a:spcBef>
              <a:buClr>
                <a:srgbClr val="3333B2"/>
              </a:buClr>
              <a:buChar char="►"/>
              <a:tabLst>
                <a:tab pos="554990" algn="l"/>
              </a:tabLst>
            </a:pPr>
            <a:r>
              <a:rPr sz="1000" spc="-15" dirty="0">
                <a:latin typeface="Arial"/>
                <a:cs typeface="Arial"/>
              </a:rPr>
              <a:t>Initially, </a:t>
            </a:r>
            <a:r>
              <a:rPr sz="1000" i="1" spc="5" dirty="0">
                <a:latin typeface="Arial"/>
                <a:cs typeface="Arial"/>
              </a:rPr>
              <a:t>S</a:t>
            </a:r>
            <a:r>
              <a:rPr sz="1050" i="1" spc="7" baseline="-15873" dirty="0">
                <a:latin typeface="Arial"/>
                <a:cs typeface="Arial"/>
              </a:rPr>
              <a:t>1</a:t>
            </a:r>
            <a:r>
              <a:rPr sz="1050" i="1" spc="187" baseline="-15873"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the</a:t>
            </a:r>
            <a:r>
              <a:rPr sz="1000" spc="-10" dirty="0">
                <a:latin typeface="Arial"/>
                <a:cs typeface="Arial"/>
              </a:rPr>
              <a:t> leader.</a:t>
            </a:r>
            <a:endParaRPr sz="1000">
              <a:latin typeface="Arial"/>
              <a:cs typeface="Arial"/>
            </a:endParaRPr>
          </a:p>
          <a:p>
            <a:pPr marL="554355" marR="43180" indent="-168275">
              <a:lnSpc>
                <a:spcPts val="1200"/>
              </a:lnSpc>
              <a:spcBef>
                <a:spcPts val="35"/>
              </a:spcBef>
              <a:buClr>
                <a:srgbClr val="3333B2"/>
              </a:buClr>
              <a:buChar char="►"/>
              <a:tabLst>
                <a:tab pos="554990" algn="l"/>
              </a:tabLst>
            </a:pPr>
            <a:r>
              <a:rPr sz="1000" spc="-20" dirty="0">
                <a:latin typeface="Arial"/>
                <a:cs typeface="Arial"/>
              </a:rPr>
              <a:t>A</a:t>
            </a:r>
            <a:r>
              <a:rPr sz="1000" spc="-5" dirty="0">
                <a:latin typeface="Arial"/>
                <a:cs typeface="Arial"/>
              </a:rPr>
              <a:t> </a:t>
            </a:r>
            <a:r>
              <a:rPr sz="1000" spc="-15" dirty="0">
                <a:latin typeface="Arial"/>
                <a:cs typeface="Arial"/>
              </a:rPr>
              <a:t>server</a:t>
            </a:r>
            <a:r>
              <a:rPr sz="1000" spc="-5" dirty="0">
                <a:latin typeface="Arial"/>
                <a:cs typeface="Arial"/>
              </a:rPr>
              <a:t> </a:t>
            </a:r>
            <a:r>
              <a:rPr sz="1000" spc="-15" dirty="0">
                <a:latin typeface="Arial"/>
                <a:cs typeface="Arial"/>
              </a:rPr>
              <a:t>can</a:t>
            </a:r>
            <a:r>
              <a:rPr sz="1000" spc="-5" dirty="0">
                <a:latin typeface="Arial"/>
                <a:cs typeface="Arial"/>
              </a:rPr>
              <a:t> </a:t>
            </a:r>
            <a:r>
              <a:rPr sz="1000" spc="-15" dirty="0">
                <a:solidFill>
                  <a:srgbClr val="0000FA"/>
                </a:solidFill>
                <a:latin typeface="Arial"/>
                <a:cs typeface="Arial"/>
              </a:rPr>
              <a:t>reliably</a:t>
            </a:r>
            <a:r>
              <a:rPr sz="1000" dirty="0">
                <a:solidFill>
                  <a:srgbClr val="0000FA"/>
                </a:solidFill>
                <a:latin typeface="Arial"/>
                <a:cs typeface="Arial"/>
              </a:rPr>
              <a:t> </a:t>
            </a:r>
            <a:r>
              <a:rPr sz="1000" spc="-15" dirty="0">
                <a:solidFill>
                  <a:srgbClr val="0000FA"/>
                </a:solidFill>
                <a:latin typeface="Arial"/>
                <a:cs typeface="Arial"/>
              </a:rPr>
              <a:t>detect</a:t>
            </a:r>
            <a:r>
              <a:rPr sz="1000" spc="-5" dirty="0">
                <a:solidFill>
                  <a:srgbClr val="0000FA"/>
                </a:solidFill>
                <a:latin typeface="Arial"/>
                <a:cs typeface="Arial"/>
              </a:rPr>
              <a:t> </a:t>
            </a:r>
            <a:r>
              <a:rPr sz="1000" spc="-10" dirty="0">
                <a:solidFill>
                  <a:srgbClr val="0000FA"/>
                </a:solidFill>
                <a:latin typeface="Arial"/>
                <a:cs typeface="Arial"/>
              </a:rPr>
              <a:t>it</a:t>
            </a:r>
            <a:r>
              <a:rPr sz="1000" spc="-5" dirty="0">
                <a:solidFill>
                  <a:srgbClr val="0000FA"/>
                </a:solidFill>
                <a:latin typeface="Arial"/>
                <a:cs typeface="Arial"/>
              </a:rPr>
              <a:t> </a:t>
            </a:r>
            <a:r>
              <a:rPr sz="1000" spc="-15" dirty="0">
                <a:solidFill>
                  <a:srgbClr val="0000FA"/>
                </a:solidFill>
                <a:latin typeface="Arial"/>
                <a:cs typeface="Arial"/>
              </a:rPr>
              <a:t>has</a:t>
            </a:r>
            <a:r>
              <a:rPr sz="1000" dirty="0">
                <a:solidFill>
                  <a:srgbClr val="0000FA"/>
                </a:solidFill>
                <a:latin typeface="Arial"/>
                <a:cs typeface="Arial"/>
              </a:rPr>
              <a:t> </a:t>
            </a:r>
            <a:r>
              <a:rPr sz="1000" spc="-15" dirty="0">
                <a:solidFill>
                  <a:srgbClr val="0000FA"/>
                </a:solidFill>
                <a:latin typeface="Arial"/>
                <a:cs typeface="Arial"/>
              </a:rPr>
              <a:t>missed</a:t>
            </a:r>
            <a:r>
              <a:rPr sz="1000" spc="-5" dirty="0">
                <a:solidFill>
                  <a:srgbClr val="0000FA"/>
                </a:solidFill>
                <a:latin typeface="Arial"/>
                <a:cs typeface="Arial"/>
              </a:rPr>
              <a:t> </a:t>
            </a:r>
            <a:r>
              <a:rPr sz="1000" spc="-15" dirty="0">
                <a:solidFill>
                  <a:srgbClr val="0000FA"/>
                </a:solidFill>
                <a:latin typeface="Arial"/>
                <a:cs typeface="Arial"/>
              </a:rPr>
              <a:t>a</a:t>
            </a:r>
            <a:r>
              <a:rPr sz="1000" dirty="0">
                <a:solidFill>
                  <a:srgbClr val="0000FA"/>
                </a:solidFill>
                <a:latin typeface="Arial"/>
                <a:cs typeface="Arial"/>
              </a:rPr>
              <a:t> </a:t>
            </a:r>
            <a:r>
              <a:rPr sz="1000" spc="-15" dirty="0">
                <a:solidFill>
                  <a:srgbClr val="0000FA"/>
                </a:solidFill>
                <a:latin typeface="Arial"/>
                <a:cs typeface="Arial"/>
              </a:rPr>
              <a:t>message</a:t>
            </a:r>
            <a:r>
              <a:rPr sz="1000" spc="-15" dirty="0">
                <a:latin typeface="Arial"/>
                <a:cs typeface="Arial"/>
              </a:rPr>
              <a:t>,</a:t>
            </a:r>
            <a:r>
              <a:rPr sz="1000" dirty="0">
                <a:latin typeface="Arial"/>
                <a:cs typeface="Arial"/>
              </a:rPr>
              <a:t> </a:t>
            </a:r>
            <a:r>
              <a:rPr sz="1000" spc="-15" dirty="0">
                <a:latin typeface="Arial"/>
                <a:cs typeface="Arial"/>
              </a:rPr>
              <a:t>and</a:t>
            </a:r>
            <a:r>
              <a:rPr sz="1000" dirty="0">
                <a:latin typeface="Arial"/>
                <a:cs typeface="Arial"/>
              </a:rPr>
              <a:t> </a:t>
            </a:r>
            <a:r>
              <a:rPr sz="1000" spc="-20" dirty="0">
                <a:latin typeface="Arial"/>
                <a:cs typeface="Arial"/>
              </a:rPr>
              <a:t>recover </a:t>
            </a:r>
            <a:r>
              <a:rPr sz="1000" spc="-265" dirty="0">
                <a:latin typeface="Arial"/>
                <a:cs typeface="Arial"/>
              </a:rPr>
              <a:t> </a:t>
            </a:r>
            <a:r>
              <a:rPr sz="1000" spc="-5" dirty="0">
                <a:latin typeface="Arial"/>
                <a:cs typeface="Arial"/>
              </a:rPr>
              <a:t>from</a:t>
            </a:r>
            <a:r>
              <a:rPr sz="1000" spc="-10" dirty="0">
                <a:latin typeface="Arial"/>
                <a:cs typeface="Arial"/>
              </a:rPr>
              <a:t> </a:t>
            </a:r>
            <a:r>
              <a:rPr sz="1000" spc="-5" dirty="0">
                <a:latin typeface="Arial"/>
                <a:cs typeface="Arial"/>
              </a:rPr>
              <a:t>that miss.</a:t>
            </a:r>
            <a:endParaRPr sz="1000">
              <a:latin typeface="Arial"/>
              <a:cs typeface="Arial"/>
            </a:endParaRPr>
          </a:p>
          <a:p>
            <a:pPr marL="554355" indent="-168275">
              <a:lnSpc>
                <a:spcPts val="1150"/>
              </a:lnSpc>
              <a:buClr>
                <a:srgbClr val="3333B2"/>
              </a:buClr>
              <a:buChar char="►"/>
              <a:tabLst>
                <a:tab pos="554990" algn="l"/>
              </a:tabLst>
            </a:pPr>
            <a:r>
              <a:rPr sz="1000" spc="-5" dirty="0">
                <a:latin typeface="Arial"/>
                <a:cs typeface="Arial"/>
              </a:rPr>
              <a:t>When a</a:t>
            </a:r>
            <a:r>
              <a:rPr sz="1000" dirty="0">
                <a:latin typeface="Arial"/>
                <a:cs typeface="Arial"/>
              </a:rPr>
              <a:t> </a:t>
            </a:r>
            <a:r>
              <a:rPr sz="1000" spc="-10" dirty="0">
                <a:latin typeface="Arial"/>
                <a:cs typeface="Arial"/>
              </a:rPr>
              <a:t>new</a:t>
            </a:r>
            <a:r>
              <a:rPr sz="1000" dirty="0">
                <a:latin typeface="Arial"/>
                <a:cs typeface="Arial"/>
              </a:rPr>
              <a:t> </a:t>
            </a:r>
            <a:r>
              <a:rPr sz="1000" spc="-5" dirty="0">
                <a:latin typeface="Arial"/>
                <a:cs typeface="Arial"/>
              </a:rPr>
              <a:t>leader</a:t>
            </a:r>
            <a:r>
              <a:rPr sz="1000" dirty="0">
                <a:latin typeface="Arial"/>
                <a:cs typeface="Arial"/>
              </a:rPr>
              <a:t> </a:t>
            </a:r>
            <a:r>
              <a:rPr sz="1000" spc="-5" dirty="0">
                <a:latin typeface="Arial"/>
                <a:cs typeface="Arial"/>
              </a:rPr>
              <a:t>needs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 elected,</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remaining</a:t>
            </a:r>
            <a:r>
              <a:rPr sz="1000" dirty="0">
                <a:latin typeface="Arial"/>
                <a:cs typeface="Arial"/>
              </a:rPr>
              <a:t> </a:t>
            </a:r>
            <a:r>
              <a:rPr sz="1000" spc="-5" dirty="0">
                <a:latin typeface="Arial"/>
                <a:cs typeface="Arial"/>
              </a:rPr>
              <a:t>servers</a:t>
            </a:r>
            <a:endParaRPr sz="1000">
              <a:latin typeface="Arial"/>
              <a:cs typeface="Arial"/>
            </a:endParaRPr>
          </a:p>
        </p:txBody>
      </p:sp>
      <p:sp>
        <p:nvSpPr>
          <p:cNvPr id="5" name="object 5"/>
          <p:cNvSpPr txBox="1"/>
          <p:nvPr/>
        </p:nvSpPr>
        <p:spPr>
          <a:xfrm>
            <a:off x="3374758" y="1711537"/>
            <a:ext cx="762635" cy="137795"/>
          </a:xfrm>
          <a:prstGeom prst="rect">
            <a:avLst/>
          </a:prstGeom>
        </p:spPr>
        <p:txBody>
          <a:bodyPr vert="horz" wrap="square" lIns="0" tIns="17145" rIns="0" bIns="0" rtlCol="0">
            <a:spAutoFit/>
          </a:bodyPr>
          <a:lstStyle/>
          <a:p>
            <a:pPr marL="12700">
              <a:lnSpc>
                <a:spcPct val="100000"/>
              </a:lnSpc>
              <a:spcBef>
                <a:spcPts val="135"/>
              </a:spcBef>
              <a:tabLst>
                <a:tab pos="351790" algn="l"/>
                <a:tab pos="697230" algn="l"/>
              </a:tabLst>
            </a:pPr>
            <a:r>
              <a:rPr sz="700" i="1" spc="20" dirty="0">
                <a:latin typeface="Arial"/>
                <a:cs typeface="Arial"/>
              </a:rPr>
              <a:t>1	2	3</a:t>
            </a:r>
            <a:endParaRPr sz="700">
              <a:latin typeface="Arial"/>
              <a:cs typeface="Arial"/>
            </a:endParaRPr>
          </a:p>
        </p:txBody>
      </p:sp>
      <p:sp>
        <p:nvSpPr>
          <p:cNvPr id="6" name="object 6"/>
          <p:cNvSpPr txBox="1"/>
          <p:nvPr/>
        </p:nvSpPr>
        <p:spPr>
          <a:xfrm>
            <a:off x="624395" y="1656199"/>
            <a:ext cx="355981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follow</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0000FA"/>
                </a:solidFill>
                <a:latin typeface="Arial"/>
                <a:cs typeface="Arial"/>
              </a:rPr>
              <a:t>strictly</a:t>
            </a:r>
            <a:r>
              <a:rPr sz="1000" dirty="0">
                <a:solidFill>
                  <a:srgbClr val="0000FA"/>
                </a:solidFill>
                <a:latin typeface="Arial"/>
                <a:cs typeface="Arial"/>
              </a:rPr>
              <a:t> </a:t>
            </a:r>
            <a:r>
              <a:rPr sz="1000" spc="-5" dirty="0">
                <a:solidFill>
                  <a:srgbClr val="0000FA"/>
                </a:solidFill>
                <a:latin typeface="Arial"/>
                <a:cs typeface="Arial"/>
              </a:rPr>
              <a:t>deterministic</a:t>
            </a:r>
            <a:r>
              <a:rPr sz="1000" dirty="0">
                <a:solidFill>
                  <a:srgbClr val="0000FA"/>
                </a:solidFill>
                <a:latin typeface="Arial"/>
                <a:cs typeface="Arial"/>
              </a:rPr>
              <a:t> </a:t>
            </a:r>
            <a:r>
              <a:rPr sz="1000" spc="-5" dirty="0">
                <a:solidFill>
                  <a:srgbClr val="0000FA"/>
                </a:solidFill>
                <a:latin typeface="Arial"/>
                <a:cs typeface="Arial"/>
              </a:rPr>
              <a:t>algorithm</a:t>
            </a:r>
            <a:r>
              <a:rPr sz="1000" spc="-5" dirty="0">
                <a:latin typeface="Arial"/>
                <a:cs typeface="Arial"/>
              </a:rPr>
              <a:t>,</a:t>
            </a:r>
            <a:r>
              <a:rPr sz="1000" dirty="0">
                <a:latin typeface="Arial"/>
                <a:cs typeface="Arial"/>
              </a:rPr>
              <a:t> </a:t>
            </a:r>
            <a:r>
              <a:rPr sz="1000" spc="-5" dirty="0">
                <a:latin typeface="Arial"/>
                <a:cs typeface="Arial"/>
              </a:rPr>
              <a:t>such</a:t>
            </a:r>
            <a:r>
              <a:rPr sz="1000" dirty="0">
                <a:latin typeface="Arial"/>
                <a:cs typeface="Arial"/>
              </a:rPr>
              <a:t> </a:t>
            </a:r>
            <a:r>
              <a:rPr sz="1000" spc="-5" dirty="0">
                <a:latin typeface="Arial"/>
                <a:cs typeface="Arial"/>
              </a:rPr>
              <a:t>as</a:t>
            </a:r>
            <a:r>
              <a:rPr sz="1000" dirty="0">
                <a:latin typeface="Arial"/>
                <a:cs typeface="Arial"/>
              </a:rPr>
              <a:t> </a:t>
            </a:r>
            <a:r>
              <a:rPr sz="1000" i="1" spc="-5" dirty="0">
                <a:latin typeface="Arial"/>
                <a:cs typeface="Arial"/>
              </a:rPr>
              <a:t>S</a:t>
            </a:r>
            <a:r>
              <a:rPr sz="1000" i="1" spc="465" dirty="0">
                <a:latin typeface="Arial"/>
                <a:cs typeface="Arial"/>
              </a:rPr>
              <a:t> </a:t>
            </a:r>
            <a:r>
              <a:rPr sz="1000" i="1" spc="-5" dirty="0">
                <a:latin typeface="メイリオ"/>
                <a:cs typeface="メイリオ"/>
              </a:rPr>
              <a:t>→</a:t>
            </a:r>
            <a:r>
              <a:rPr sz="1000" i="1" spc="-60" dirty="0">
                <a:latin typeface="メイリオ"/>
                <a:cs typeface="メイリオ"/>
              </a:rPr>
              <a:t> </a:t>
            </a:r>
            <a:r>
              <a:rPr sz="1000" i="1" spc="-5" dirty="0">
                <a:latin typeface="Arial"/>
                <a:cs typeface="Arial"/>
              </a:rPr>
              <a:t>S</a:t>
            </a:r>
            <a:r>
              <a:rPr sz="1000" i="1" spc="515" dirty="0">
                <a:latin typeface="Arial"/>
                <a:cs typeface="Arial"/>
              </a:rPr>
              <a:t> </a:t>
            </a:r>
            <a:r>
              <a:rPr sz="1000" i="1" spc="-5" dirty="0">
                <a:latin typeface="メイリオ"/>
                <a:cs typeface="メイリオ"/>
              </a:rPr>
              <a:t>→</a:t>
            </a:r>
            <a:r>
              <a:rPr sz="1000" i="1" spc="-60" dirty="0">
                <a:latin typeface="メイリオ"/>
                <a:cs typeface="メイリオ"/>
              </a:rPr>
              <a:t> </a:t>
            </a:r>
            <a:r>
              <a:rPr sz="1000" i="1" spc="-5" dirty="0">
                <a:latin typeface="Arial"/>
                <a:cs typeface="Arial"/>
              </a:rPr>
              <a:t>S</a:t>
            </a:r>
            <a:r>
              <a:rPr sz="1000" i="1" spc="229" dirty="0">
                <a:latin typeface="Arial"/>
                <a:cs typeface="Arial"/>
              </a:rPr>
              <a:t> </a:t>
            </a:r>
            <a:r>
              <a:rPr sz="1000" spc="-5" dirty="0">
                <a:latin typeface="Arial"/>
                <a:cs typeface="Arial"/>
              </a:rPr>
              <a:t>.</a:t>
            </a:r>
            <a:endParaRPr sz="1000">
              <a:latin typeface="Arial"/>
              <a:cs typeface="Arial"/>
            </a:endParaRPr>
          </a:p>
        </p:txBody>
      </p:sp>
      <p:sp>
        <p:nvSpPr>
          <p:cNvPr id="7" name="object 7"/>
          <p:cNvSpPr txBox="1"/>
          <p:nvPr/>
        </p:nvSpPr>
        <p:spPr>
          <a:xfrm>
            <a:off x="456704" y="1792216"/>
            <a:ext cx="123825" cy="177800"/>
          </a:xfrm>
          <a:prstGeom prst="rect">
            <a:avLst/>
          </a:prstGeom>
        </p:spPr>
        <p:txBody>
          <a:bodyPr vert="horz" wrap="square" lIns="0" tIns="12065" rIns="0" bIns="0" rtlCol="0">
            <a:spAutoFit/>
          </a:bodyPr>
          <a:lstStyle/>
          <a:p>
            <a:pPr marL="12700">
              <a:lnSpc>
                <a:spcPct val="100000"/>
              </a:lnSpc>
              <a:spcBef>
                <a:spcPts val="95"/>
              </a:spcBef>
            </a:pPr>
            <a:r>
              <a:rPr sz="1000" spc="-220" dirty="0">
                <a:solidFill>
                  <a:srgbClr val="3333B2"/>
                </a:solidFill>
                <a:latin typeface="Arial"/>
                <a:cs typeface="Arial"/>
              </a:rPr>
              <a:t>►</a:t>
            </a:r>
            <a:endParaRPr sz="1000">
              <a:latin typeface="Arial"/>
              <a:cs typeface="Arial"/>
            </a:endParaRPr>
          </a:p>
        </p:txBody>
      </p:sp>
      <p:sp>
        <p:nvSpPr>
          <p:cNvPr id="8" name="object 8"/>
          <p:cNvSpPr txBox="1"/>
          <p:nvPr/>
        </p:nvSpPr>
        <p:spPr>
          <a:xfrm>
            <a:off x="624395" y="1808028"/>
            <a:ext cx="3660140"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Arial"/>
                <a:cs typeface="Arial"/>
              </a:rPr>
              <a:t>A</a:t>
            </a:r>
            <a:r>
              <a:rPr sz="1000" spc="-5" dirty="0">
                <a:latin typeface="Arial"/>
                <a:cs typeface="Arial"/>
              </a:rPr>
              <a:t> </a:t>
            </a:r>
            <a:r>
              <a:rPr sz="1000" spc="-10" dirty="0">
                <a:latin typeface="Arial"/>
                <a:cs typeface="Arial"/>
              </a:rPr>
              <a:t>client</a:t>
            </a:r>
            <a:r>
              <a:rPr sz="1000" spc="-5" dirty="0">
                <a:latin typeface="Arial"/>
                <a:cs typeface="Arial"/>
              </a:rPr>
              <a:t> </a:t>
            </a:r>
            <a:r>
              <a:rPr sz="1000" spc="-10" dirty="0">
                <a:solidFill>
                  <a:srgbClr val="0000FA"/>
                </a:solidFill>
                <a:latin typeface="Arial"/>
                <a:cs typeface="Arial"/>
              </a:rPr>
              <a:t>cannot</a:t>
            </a:r>
            <a:r>
              <a:rPr sz="1000" spc="-5" dirty="0">
                <a:solidFill>
                  <a:srgbClr val="0000FA"/>
                </a:solidFill>
                <a:latin typeface="Arial"/>
                <a:cs typeface="Arial"/>
              </a:rPr>
              <a:t> </a:t>
            </a:r>
            <a:r>
              <a:rPr sz="1000" spc="-10" dirty="0">
                <a:solidFill>
                  <a:srgbClr val="0000FA"/>
                </a:solidFill>
                <a:latin typeface="Arial"/>
                <a:cs typeface="Arial"/>
              </a:rPr>
              <a:t>be</a:t>
            </a:r>
            <a:r>
              <a:rPr sz="1000" spc="-5" dirty="0">
                <a:solidFill>
                  <a:srgbClr val="0000FA"/>
                </a:solidFill>
                <a:latin typeface="Arial"/>
                <a:cs typeface="Arial"/>
              </a:rPr>
              <a:t> </a:t>
            </a:r>
            <a:r>
              <a:rPr sz="1000" spc="-15" dirty="0">
                <a:solidFill>
                  <a:srgbClr val="0000FA"/>
                </a:solidFill>
                <a:latin typeface="Arial"/>
                <a:cs typeface="Arial"/>
              </a:rPr>
              <a:t>asked</a:t>
            </a:r>
            <a:r>
              <a:rPr sz="1000" dirty="0">
                <a:solidFill>
                  <a:srgbClr val="0000FA"/>
                </a:solidFill>
                <a:latin typeface="Arial"/>
                <a:cs typeface="Arial"/>
              </a:rPr>
              <a:t> </a:t>
            </a:r>
            <a:r>
              <a:rPr sz="1000" spc="-10" dirty="0">
                <a:solidFill>
                  <a:srgbClr val="0000FA"/>
                </a:solidFill>
                <a:latin typeface="Arial"/>
                <a:cs typeface="Arial"/>
              </a:rPr>
              <a:t>to</a:t>
            </a:r>
            <a:r>
              <a:rPr sz="1000" spc="-5" dirty="0">
                <a:solidFill>
                  <a:srgbClr val="0000FA"/>
                </a:solidFill>
                <a:latin typeface="Arial"/>
                <a:cs typeface="Arial"/>
              </a:rPr>
              <a:t> </a:t>
            </a:r>
            <a:r>
              <a:rPr sz="1000" spc="-10" dirty="0">
                <a:solidFill>
                  <a:srgbClr val="0000FA"/>
                </a:solidFill>
                <a:latin typeface="Arial"/>
                <a:cs typeface="Arial"/>
              </a:rPr>
              <a:t>help</a:t>
            </a:r>
            <a:r>
              <a:rPr sz="1000" spc="-5" dirty="0">
                <a:solidFill>
                  <a:srgbClr val="0000FA"/>
                </a:solidFill>
                <a:latin typeface="Arial"/>
                <a:cs typeface="Arial"/>
              </a:rPr>
              <a:t> </a:t>
            </a:r>
            <a:r>
              <a:rPr sz="1000" spc="-10" dirty="0">
                <a:solidFill>
                  <a:srgbClr val="0000FA"/>
                </a:solidFill>
                <a:latin typeface="Arial"/>
                <a:cs typeface="Arial"/>
              </a:rPr>
              <a:t>the</a:t>
            </a:r>
            <a:r>
              <a:rPr sz="1000" spc="-5" dirty="0">
                <a:solidFill>
                  <a:srgbClr val="0000FA"/>
                </a:solidFill>
                <a:latin typeface="Arial"/>
                <a:cs typeface="Arial"/>
              </a:rPr>
              <a:t> </a:t>
            </a:r>
            <a:r>
              <a:rPr sz="1000" spc="-10" dirty="0">
                <a:solidFill>
                  <a:srgbClr val="0000FA"/>
                </a:solidFill>
                <a:latin typeface="Arial"/>
                <a:cs typeface="Arial"/>
              </a:rPr>
              <a:t>servers</a:t>
            </a:r>
            <a:r>
              <a:rPr sz="1000" dirty="0">
                <a:solidFill>
                  <a:srgbClr val="0000FA"/>
                </a:solidFill>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resolve</a:t>
            </a:r>
            <a:r>
              <a:rPr sz="1000" spc="-5" dirty="0">
                <a:latin typeface="Arial"/>
                <a:cs typeface="Arial"/>
              </a:rPr>
              <a:t> </a:t>
            </a:r>
            <a:r>
              <a:rPr sz="1000" spc="-10" dirty="0">
                <a:latin typeface="Arial"/>
                <a:cs typeface="Arial"/>
              </a:rPr>
              <a:t>a</a:t>
            </a:r>
            <a:r>
              <a:rPr sz="1000" spc="-5" dirty="0">
                <a:latin typeface="Arial"/>
                <a:cs typeface="Arial"/>
              </a:rPr>
              <a:t> </a:t>
            </a:r>
            <a:r>
              <a:rPr sz="1000" spc="-10" dirty="0">
                <a:latin typeface="Arial"/>
                <a:cs typeface="Arial"/>
              </a:rPr>
              <a:t>situation.</a:t>
            </a:r>
            <a:endParaRPr sz="100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Understanding</a:t>
            </a:r>
            <a:r>
              <a:rPr sz="600" spc="-25" dirty="0">
                <a:solidFill>
                  <a:srgbClr val="3333B2"/>
                </a:solidFill>
                <a:latin typeface="Arial"/>
                <a:cs typeface="Arial"/>
                <a:hlinkClick r:id="rId3" action="ppaction://hlinksldjump"/>
              </a:rPr>
              <a:t> </a:t>
            </a:r>
            <a:r>
              <a:rPr sz="600" spc="-10" dirty="0">
                <a:solidFill>
                  <a:srgbClr val="3333B2"/>
                </a:solidFill>
                <a:latin typeface="Arial"/>
                <a:cs typeface="Arial"/>
                <a:hlinkClick r:id="rId3" action="ppaction://hlinksldjump"/>
              </a:rPr>
              <a:t>Paxos</a:t>
            </a:r>
            <a:endParaRPr sz="600">
              <a:latin typeface="Arial"/>
              <a:cs typeface="Arial"/>
            </a:endParaRPr>
          </a:p>
        </p:txBody>
      </p:sp>
      <p:sp>
        <p:nvSpPr>
          <p:cNvPr id="9" name="object 9"/>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Example:</a:t>
            </a:r>
            <a:r>
              <a:rPr sz="600" dirty="0">
                <a:solidFill>
                  <a:srgbClr val="262685"/>
                </a:solidFill>
                <a:latin typeface="Arial"/>
                <a:cs typeface="Arial"/>
                <a:hlinkClick r:id="rId6" action="ppaction://hlinksldjump"/>
              </a:rPr>
              <a:t> </a:t>
            </a:r>
            <a:r>
              <a:rPr sz="600" spc="-10" dirty="0">
                <a:solidFill>
                  <a:srgbClr val="262685"/>
                </a:solidFill>
                <a:latin typeface="Arial"/>
                <a:cs typeface="Arial"/>
                <a:hlinkClick r:id="rId6" action="ppaction://hlinksldjump"/>
              </a:rPr>
              <a:t>Paxos</a:t>
            </a:r>
            <a:endParaRPr sz="600">
              <a:latin typeface="Arial"/>
              <a:cs typeface="Arial"/>
            </a:endParaRPr>
          </a:p>
        </p:txBody>
      </p:sp>
      <p:sp>
        <p:nvSpPr>
          <p:cNvPr id="4" name="object 4"/>
          <p:cNvSpPr txBox="1"/>
          <p:nvPr/>
        </p:nvSpPr>
        <p:spPr>
          <a:xfrm>
            <a:off x="82600" y="188846"/>
            <a:ext cx="4218940" cy="149288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Required</a:t>
            </a:r>
            <a:r>
              <a:rPr sz="1400" spc="-10" dirty="0">
                <a:solidFill>
                  <a:srgbClr val="3333B2"/>
                </a:solidFill>
                <a:latin typeface="Arial"/>
                <a:cs typeface="Arial"/>
              </a:rPr>
              <a:t> </a:t>
            </a:r>
            <a:r>
              <a:rPr sz="1400" spc="15" dirty="0">
                <a:solidFill>
                  <a:srgbClr val="3333B2"/>
                </a:solidFill>
                <a:latin typeface="Arial"/>
                <a:cs typeface="Arial"/>
              </a:rPr>
              <a:t>number</a:t>
            </a:r>
            <a:r>
              <a:rPr sz="1400" spc="-10" dirty="0">
                <a:solidFill>
                  <a:srgbClr val="3333B2"/>
                </a:solidFill>
                <a:latin typeface="Arial"/>
                <a:cs typeface="Arial"/>
              </a:rPr>
              <a:t> </a:t>
            </a:r>
            <a:r>
              <a:rPr sz="1400" spc="10" dirty="0">
                <a:solidFill>
                  <a:srgbClr val="3333B2"/>
                </a:solidFill>
                <a:latin typeface="Arial"/>
                <a:cs typeface="Arial"/>
              </a:rPr>
              <a:t>of</a:t>
            </a:r>
            <a:r>
              <a:rPr sz="1400" spc="-5" dirty="0">
                <a:solidFill>
                  <a:srgbClr val="3333B2"/>
                </a:solidFill>
                <a:latin typeface="Arial"/>
                <a:cs typeface="Arial"/>
              </a:rPr>
              <a:t> </a:t>
            </a:r>
            <a:r>
              <a:rPr sz="1400" spc="15" dirty="0">
                <a:solidFill>
                  <a:srgbClr val="3333B2"/>
                </a:solidFill>
                <a:latin typeface="Arial"/>
                <a:cs typeface="Arial"/>
              </a:rPr>
              <a:t>servers</a:t>
            </a:r>
            <a:endParaRPr sz="1400">
              <a:latin typeface="Arial"/>
              <a:cs typeface="Arial"/>
            </a:endParaRPr>
          </a:p>
          <a:p>
            <a:pPr>
              <a:lnSpc>
                <a:spcPct val="100000"/>
              </a:lnSpc>
              <a:spcBef>
                <a:spcPts val="5"/>
              </a:spcBef>
            </a:pPr>
            <a:endParaRPr sz="2450">
              <a:latin typeface="Arial"/>
              <a:cs typeface="Arial"/>
            </a:endParaRPr>
          </a:p>
          <a:p>
            <a:pPr marL="271780">
              <a:lnSpc>
                <a:spcPct val="100000"/>
              </a:lnSpc>
            </a:pPr>
            <a:r>
              <a:rPr sz="1200" spc="-5" dirty="0">
                <a:solidFill>
                  <a:srgbClr val="3333B2"/>
                </a:solidFill>
                <a:latin typeface="Arial"/>
                <a:cs typeface="Arial"/>
              </a:rPr>
              <a:t>Assumptions</a:t>
            </a:r>
            <a:r>
              <a:rPr sz="1200" spc="-10" dirty="0">
                <a:solidFill>
                  <a:srgbClr val="3333B2"/>
                </a:solidFill>
                <a:latin typeface="Arial"/>
                <a:cs typeface="Arial"/>
              </a:rPr>
              <a:t> before</a:t>
            </a:r>
            <a:r>
              <a:rPr sz="1200" spc="-5" dirty="0">
                <a:solidFill>
                  <a:srgbClr val="3333B2"/>
                </a:solidFill>
                <a:latin typeface="Arial"/>
                <a:cs typeface="Arial"/>
              </a:rPr>
              <a:t> taking</a:t>
            </a:r>
            <a:r>
              <a:rPr sz="1200" spc="-10" dirty="0">
                <a:solidFill>
                  <a:srgbClr val="3333B2"/>
                </a:solidFill>
                <a:latin typeface="Arial"/>
                <a:cs typeface="Arial"/>
              </a:rPr>
              <a:t> </a:t>
            </a:r>
            <a:r>
              <a:rPr sz="1200" spc="-5" dirty="0">
                <a:solidFill>
                  <a:srgbClr val="3333B2"/>
                </a:solidFill>
                <a:latin typeface="Arial"/>
                <a:cs typeface="Arial"/>
              </a:rPr>
              <a:t>the </a:t>
            </a:r>
            <a:r>
              <a:rPr sz="1200" spc="-15" dirty="0">
                <a:solidFill>
                  <a:srgbClr val="3333B2"/>
                </a:solidFill>
                <a:latin typeface="Arial"/>
                <a:cs typeface="Arial"/>
              </a:rPr>
              <a:t>next</a:t>
            </a:r>
            <a:r>
              <a:rPr sz="1200" spc="-10" dirty="0">
                <a:solidFill>
                  <a:srgbClr val="3333B2"/>
                </a:solidFill>
                <a:latin typeface="Arial"/>
                <a:cs typeface="Arial"/>
              </a:rPr>
              <a:t> </a:t>
            </a:r>
            <a:r>
              <a:rPr sz="1200" spc="-5" dirty="0">
                <a:solidFill>
                  <a:srgbClr val="3333B2"/>
                </a:solidFill>
                <a:latin typeface="Arial"/>
                <a:cs typeface="Arial"/>
              </a:rPr>
              <a:t>steps</a:t>
            </a:r>
            <a:endParaRPr sz="1200">
              <a:latin typeface="Arial"/>
              <a:cs typeface="Arial"/>
            </a:endParaRPr>
          </a:p>
          <a:p>
            <a:pPr marL="554355" indent="-168275">
              <a:lnSpc>
                <a:spcPts val="1200"/>
              </a:lnSpc>
              <a:spcBef>
                <a:spcPts val="790"/>
              </a:spcBef>
              <a:buClr>
                <a:srgbClr val="3333B2"/>
              </a:buClr>
              <a:buChar char="►"/>
              <a:tabLst>
                <a:tab pos="554990" algn="l"/>
              </a:tabLst>
            </a:pPr>
            <a:r>
              <a:rPr sz="1000" spc="-15" dirty="0">
                <a:latin typeface="Arial"/>
                <a:cs typeface="Arial"/>
              </a:rPr>
              <a:t>Initially, </a:t>
            </a:r>
            <a:r>
              <a:rPr sz="1000" i="1" spc="5" dirty="0">
                <a:latin typeface="Arial"/>
                <a:cs typeface="Arial"/>
              </a:rPr>
              <a:t>S</a:t>
            </a:r>
            <a:r>
              <a:rPr sz="1050" i="1" spc="7" baseline="-15873" dirty="0">
                <a:latin typeface="Arial"/>
                <a:cs typeface="Arial"/>
              </a:rPr>
              <a:t>1</a:t>
            </a:r>
            <a:r>
              <a:rPr sz="1050" i="1" spc="187" baseline="-15873"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the</a:t>
            </a:r>
            <a:r>
              <a:rPr sz="1000" spc="-10" dirty="0">
                <a:latin typeface="Arial"/>
                <a:cs typeface="Arial"/>
              </a:rPr>
              <a:t> leader.</a:t>
            </a:r>
            <a:endParaRPr sz="1000">
              <a:latin typeface="Arial"/>
              <a:cs typeface="Arial"/>
            </a:endParaRPr>
          </a:p>
          <a:p>
            <a:pPr marL="554355" marR="43180" indent="-168275">
              <a:lnSpc>
                <a:spcPts val="1200"/>
              </a:lnSpc>
              <a:spcBef>
                <a:spcPts val="35"/>
              </a:spcBef>
              <a:buClr>
                <a:srgbClr val="3333B2"/>
              </a:buClr>
              <a:buChar char="►"/>
              <a:tabLst>
                <a:tab pos="554990" algn="l"/>
              </a:tabLst>
            </a:pPr>
            <a:r>
              <a:rPr sz="1000" spc="-20" dirty="0">
                <a:latin typeface="Arial"/>
                <a:cs typeface="Arial"/>
              </a:rPr>
              <a:t>A</a:t>
            </a:r>
            <a:r>
              <a:rPr sz="1000" spc="-5" dirty="0">
                <a:latin typeface="Arial"/>
                <a:cs typeface="Arial"/>
              </a:rPr>
              <a:t> </a:t>
            </a:r>
            <a:r>
              <a:rPr sz="1000" spc="-15" dirty="0">
                <a:latin typeface="Arial"/>
                <a:cs typeface="Arial"/>
              </a:rPr>
              <a:t>server</a:t>
            </a:r>
            <a:r>
              <a:rPr sz="1000" spc="-5" dirty="0">
                <a:latin typeface="Arial"/>
                <a:cs typeface="Arial"/>
              </a:rPr>
              <a:t> </a:t>
            </a:r>
            <a:r>
              <a:rPr sz="1000" spc="-15" dirty="0">
                <a:latin typeface="Arial"/>
                <a:cs typeface="Arial"/>
              </a:rPr>
              <a:t>can</a:t>
            </a:r>
            <a:r>
              <a:rPr sz="1000" spc="-5" dirty="0">
                <a:latin typeface="Arial"/>
                <a:cs typeface="Arial"/>
              </a:rPr>
              <a:t> </a:t>
            </a:r>
            <a:r>
              <a:rPr sz="1000" spc="-15" dirty="0">
                <a:solidFill>
                  <a:srgbClr val="0000FA"/>
                </a:solidFill>
                <a:latin typeface="Arial"/>
                <a:cs typeface="Arial"/>
              </a:rPr>
              <a:t>reliably</a:t>
            </a:r>
            <a:r>
              <a:rPr sz="1000" dirty="0">
                <a:solidFill>
                  <a:srgbClr val="0000FA"/>
                </a:solidFill>
                <a:latin typeface="Arial"/>
                <a:cs typeface="Arial"/>
              </a:rPr>
              <a:t> </a:t>
            </a:r>
            <a:r>
              <a:rPr sz="1000" spc="-15" dirty="0">
                <a:solidFill>
                  <a:srgbClr val="0000FA"/>
                </a:solidFill>
                <a:latin typeface="Arial"/>
                <a:cs typeface="Arial"/>
              </a:rPr>
              <a:t>detect</a:t>
            </a:r>
            <a:r>
              <a:rPr sz="1000" spc="-5" dirty="0">
                <a:solidFill>
                  <a:srgbClr val="0000FA"/>
                </a:solidFill>
                <a:latin typeface="Arial"/>
                <a:cs typeface="Arial"/>
              </a:rPr>
              <a:t> </a:t>
            </a:r>
            <a:r>
              <a:rPr sz="1000" spc="-10" dirty="0">
                <a:solidFill>
                  <a:srgbClr val="0000FA"/>
                </a:solidFill>
                <a:latin typeface="Arial"/>
                <a:cs typeface="Arial"/>
              </a:rPr>
              <a:t>it</a:t>
            </a:r>
            <a:r>
              <a:rPr sz="1000" spc="-5" dirty="0">
                <a:solidFill>
                  <a:srgbClr val="0000FA"/>
                </a:solidFill>
                <a:latin typeface="Arial"/>
                <a:cs typeface="Arial"/>
              </a:rPr>
              <a:t> </a:t>
            </a:r>
            <a:r>
              <a:rPr sz="1000" spc="-15" dirty="0">
                <a:solidFill>
                  <a:srgbClr val="0000FA"/>
                </a:solidFill>
                <a:latin typeface="Arial"/>
                <a:cs typeface="Arial"/>
              </a:rPr>
              <a:t>has</a:t>
            </a:r>
            <a:r>
              <a:rPr sz="1000" dirty="0">
                <a:solidFill>
                  <a:srgbClr val="0000FA"/>
                </a:solidFill>
                <a:latin typeface="Arial"/>
                <a:cs typeface="Arial"/>
              </a:rPr>
              <a:t> </a:t>
            </a:r>
            <a:r>
              <a:rPr sz="1000" spc="-15" dirty="0">
                <a:solidFill>
                  <a:srgbClr val="0000FA"/>
                </a:solidFill>
                <a:latin typeface="Arial"/>
                <a:cs typeface="Arial"/>
              </a:rPr>
              <a:t>missed</a:t>
            </a:r>
            <a:r>
              <a:rPr sz="1000" spc="-5" dirty="0">
                <a:solidFill>
                  <a:srgbClr val="0000FA"/>
                </a:solidFill>
                <a:latin typeface="Arial"/>
                <a:cs typeface="Arial"/>
              </a:rPr>
              <a:t> </a:t>
            </a:r>
            <a:r>
              <a:rPr sz="1000" spc="-15" dirty="0">
                <a:solidFill>
                  <a:srgbClr val="0000FA"/>
                </a:solidFill>
                <a:latin typeface="Arial"/>
                <a:cs typeface="Arial"/>
              </a:rPr>
              <a:t>a</a:t>
            </a:r>
            <a:r>
              <a:rPr sz="1000" dirty="0">
                <a:solidFill>
                  <a:srgbClr val="0000FA"/>
                </a:solidFill>
                <a:latin typeface="Arial"/>
                <a:cs typeface="Arial"/>
              </a:rPr>
              <a:t> </a:t>
            </a:r>
            <a:r>
              <a:rPr sz="1000" spc="-15" dirty="0">
                <a:solidFill>
                  <a:srgbClr val="0000FA"/>
                </a:solidFill>
                <a:latin typeface="Arial"/>
                <a:cs typeface="Arial"/>
              </a:rPr>
              <a:t>message</a:t>
            </a:r>
            <a:r>
              <a:rPr sz="1000" spc="-15" dirty="0">
                <a:latin typeface="Arial"/>
                <a:cs typeface="Arial"/>
              </a:rPr>
              <a:t>,</a:t>
            </a:r>
            <a:r>
              <a:rPr sz="1000" dirty="0">
                <a:latin typeface="Arial"/>
                <a:cs typeface="Arial"/>
              </a:rPr>
              <a:t> </a:t>
            </a:r>
            <a:r>
              <a:rPr sz="1000" spc="-15" dirty="0">
                <a:latin typeface="Arial"/>
                <a:cs typeface="Arial"/>
              </a:rPr>
              <a:t>and</a:t>
            </a:r>
            <a:r>
              <a:rPr sz="1000" dirty="0">
                <a:latin typeface="Arial"/>
                <a:cs typeface="Arial"/>
              </a:rPr>
              <a:t> </a:t>
            </a:r>
            <a:r>
              <a:rPr sz="1000" spc="-20" dirty="0">
                <a:latin typeface="Arial"/>
                <a:cs typeface="Arial"/>
              </a:rPr>
              <a:t>recover </a:t>
            </a:r>
            <a:r>
              <a:rPr sz="1000" spc="-265" dirty="0">
                <a:latin typeface="Arial"/>
                <a:cs typeface="Arial"/>
              </a:rPr>
              <a:t> </a:t>
            </a:r>
            <a:r>
              <a:rPr sz="1000" spc="-5" dirty="0">
                <a:latin typeface="Arial"/>
                <a:cs typeface="Arial"/>
              </a:rPr>
              <a:t>from</a:t>
            </a:r>
            <a:r>
              <a:rPr sz="1000" spc="-10" dirty="0">
                <a:latin typeface="Arial"/>
                <a:cs typeface="Arial"/>
              </a:rPr>
              <a:t> </a:t>
            </a:r>
            <a:r>
              <a:rPr sz="1000" spc="-5" dirty="0">
                <a:latin typeface="Arial"/>
                <a:cs typeface="Arial"/>
              </a:rPr>
              <a:t>that miss.</a:t>
            </a:r>
            <a:endParaRPr sz="1000">
              <a:latin typeface="Arial"/>
              <a:cs typeface="Arial"/>
            </a:endParaRPr>
          </a:p>
          <a:p>
            <a:pPr marL="554355" indent="-168275">
              <a:lnSpc>
                <a:spcPts val="1150"/>
              </a:lnSpc>
              <a:buClr>
                <a:srgbClr val="3333B2"/>
              </a:buClr>
              <a:buChar char="►"/>
              <a:tabLst>
                <a:tab pos="554990" algn="l"/>
              </a:tabLst>
            </a:pPr>
            <a:r>
              <a:rPr sz="1000" spc="-5" dirty="0">
                <a:latin typeface="Arial"/>
                <a:cs typeface="Arial"/>
              </a:rPr>
              <a:t>When a</a:t>
            </a:r>
            <a:r>
              <a:rPr sz="1000" dirty="0">
                <a:latin typeface="Arial"/>
                <a:cs typeface="Arial"/>
              </a:rPr>
              <a:t> </a:t>
            </a:r>
            <a:r>
              <a:rPr sz="1000" spc="-10" dirty="0">
                <a:latin typeface="Arial"/>
                <a:cs typeface="Arial"/>
              </a:rPr>
              <a:t>new</a:t>
            </a:r>
            <a:r>
              <a:rPr sz="1000" dirty="0">
                <a:latin typeface="Arial"/>
                <a:cs typeface="Arial"/>
              </a:rPr>
              <a:t> </a:t>
            </a:r>
            <a:r>
              <a:rPr sz="1000" spc="-5" dirty="0">
                <a:latin typeface="Arial"/>
                <a:cs typeface="Arial"/>
              </a:rPr>
              <a:t>leader</a:t>
            </a:r>
            <a:r>
              <a:rPr sz="1000" dirty="0">
                <a:latin typeface="Arial"/>
                <a:cs typeface="Arial"/>
              </a:rPr>
              <a:t> </a:t>
            </a:r>
            <a:r>
              <a:rPr sz="1000" spc="-5" dirty="0">
                <a:latin typeface="Arial"/>
                <a:cs typeface="Arial"/>
              </a:rPr>
              <a:t>needs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be elected,</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remaining</a:t>
            </a:r>
            <a:r>
              <a:rPr sz="1000" dirty="0">
                <a:latin typeface="Arial"/>
                <a:cs typeface="Arial"/>
              </a:rPr>
              <a:t> </a:t>
            </a:r>
            <a:r>
              <a:rPr sz="1000" spc="-5" dirty="0">
                <a:latin typeface="Arial"/>
                <a:cs typeface="Arial"/>
              </a:rPr>
              <a:t>servers</a:t>
            </a:r>
            <a:endParaRPr sz="1000">
              <a:latin typeface="Arial"/>
              <a:cs typeface="Arial"/>
            </a:endParaRPr>
          </a:p>
        </p:txBody>
      </p:sp>
      <p:sp>
        <p:nvSpPr>
          <p:cNvPr id="5" name="object 5"/>
          <p:cNvSpPr txBox="1"/>
          <p:nvPr/>
        </p:nvSpPr>
        <p:spPr>
          <a:xfrm>
            <a:off x="3374758" y="1711537"/>
            <a:ext cx="762635" cy="137795"/>
          </a:xfrm>
          <a:prstGeom prst="rect">
            <a:avLst/>
          </a:prstGeom>
        </p:spPr>
        <p:txBody>
          <a:bodyPr vert="horz" wrap="square" lIns="0" tIns="17145" rIns="0" bIns="0" rtlCol="0">
            <a:spAutoFit/>
          </a:bodyPr>
          <a:lstStyle/>
          <a:p>
            <a:pPr marL="12700">
              <a:lnSpc>
                <a:spcPct val="100000"/>
              </a:lnSpc>
              <a:spcBef>
                <a:spcPts val="135"/>
              </a:spcBef>
              <a:tabLst>
                <a:tab pos="351790" algn="l"/>
                <a:tab pos="697230" algn="l"/>
              </a:tabLst>
            </a:pPr>
            <a:r>
              <a:rPr sz="700" i="1" spc="20" dirty="0">
                <a:latin typeface="Arial"/>
                <a:cs typeface="Arial"/>
              </a:rPr>
              <a:t>1	2	3</a:t>
            </a:r>
            <a:endParaRPr sz="700">
              <a:latin typeface="Arial"/>
              <a:cs typeface="Arial"/>
            </a:endParaRPr>
          </a:p>
        </p:txBody>
      </p:sp>
      <p:sp>
        <p:nvSpPr>
          <p:cNvPr id="6" name="object 6"/>
          <p:cNvSpPr txBox="1"/>
          <p:nvPr/>
        </p:nvSpPr>
        <p:spPr>
          <a:xfrm>
            <a:off x="624395" y="1656199"/>
            <a:ext cx="355981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Arial"/>
                <a:cs typeface="Arial"/>
              </a:rPr>
              <a:t>follow</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0000FA"/>
                </a:solidFill>
                <a:latin typeface="Arial"/>
                <a:cs typeface="Arial"/>
              </a:rPr>
              <a:t>strictly</a:t>
            </a:r>
            <a:r>
              <a:rPr sz="1000" dirty="0">
                <a:solidFill>
                  <a:srgbClr val="0000FA"/>
                </a:solidFill>
                <a:latin typeface="Arial"/>
                <a:cs typeface="Arial"/>
              </a:rPr>
              <a:t> </a:t>
            </a:r>
            <a:r>
              <a:rPr sz="1000" spc="-5" dirty="0">
                <a:solidFill>
                  <a:srgbClr val="0000FA"/>
                </a:solidFill>
                <a:latin typeface="Arial"/>
                <a:cs typeface="Arial"/>
              </a:rPr>
              <a:t>deterministic</a:t>
            </a:r>
            <a:r>
              <a:rPr sz="1000" dirty="0">
                <a:solidFill>
                  <a:srgbClr val="0000FA"/>
                </a:solidFill>
                <a:latin typeface="Arial"/>
                <a:cs typeface="Arial"/>
              </a:rPr>
              <a:t> </a:t>
            </a:r>
            <a:r>
              <a:rPr sz="1000" spc="-5" dirty="0">
                <a:solidFill>
                  <a:srgbClr val="0000FA"/>
                </a:solidFill>
                <a:latin typeface="Arial"/>
                <a:cs typeface="Arial"/>
              </a:rPr>
              <a:t>algorithm</a:t>
            </a:r>
            <a:r>
              <a:rPr sz="1000" spc="-5" dirty="0">
                <a:latin typeface="Arial"/>
                <a:cs typeface="Arial"/>
              </a:rPr>
              <a:t>,</a:t>
            </a:r>
            <a:r>
              <a:rPr sz="1000" dirty="0">
                <a:latin typeface="Arial"/>
                <a:cs typeface="Arial"/>
              </a:rPr>
              <a:t> </a:t>
            </a:r>
            <a:r>
              <a:rPr sz="1000" spc="-5" dirty="0">
                <a:latin typeface="Arial"/>
                <a:cs typeface="Arial"/>
              </a:rPr>
              <a:t>such</a:t>
            </a:r>
            <a:r>
              <a:rPr sz="1000" dirty="0">
                <a:latin typeface="Arial"/>
                <a:cs typeface="Arial"/>
              </a:rPr>
              <a:t> </a:t>
            </a:r>
            <a:r>
              <a:rPr sz="1000" spc="-5" dirty="0">
                <a:latin typeface="Arial"/>
                <a:cs typeface="Arial"/>
              </a:rPr>
              <a:t>as</a:t>
            </a:r>
            <a:r>
              <a:rPr sz="1000" dirty="0">
                <a:latin typeface="Arial"/>
                <a:cs typeface="Arial"/>
              </a:rPr>
              <a:t> </a:t>
            </a:r>
            <a:r>
              <a:rPr sz="1000" i="1" spc="-5" dirty="0">
                <a:latin typeface="Arial"/>
                <a:cs typeface="Arial"/>
              </a:rPr>
              <a:t>S</a:t>
            </a:r>
            <a:r>
              <a:rPr sz="1000" i="1" spc="465" dirty="0">
                <a:latin typeface="Arial"/>
                <a:cs typeface="Arial"/>
              </a:rPr>
              <a:t> </a:t>
            </a:r>
            <a:r>
              <a:rPr sz="1000" i="1" spc="-5" dirty="0">
                <a:latin typeface="メイリオ"/>
                <a:cs typeface="メイリオ"/>
              </a:rPr>
              <a:t>→</a:t>
            </a:r>
            <a:r>
              <a:rPr sz="1000" i="1" spc="-60" dirty="0">
                <a:latin typeface="メイリオ"/>
                <a:cs typeface="メイリオ"/>
              </a:rPr>
              <a:t> </a:t>
            </a:r>
            <a:r>
              <a:rPr sz="1000" i="1" spc="-5" dirty="0">
                <a:latin typeface="Arial"/>
                <a:cs typeface="Arial"/>
              </a:rPr>
              <a:t>S</a:t>
            </a:r>
            <a:r>
              <a:rPr sz="1000" i="1" spc="515" dirty="0">
                <a:latin typeface="Arial"/>
                <a:cs typeface="Arial"/>
              </a:rPr>
              <a:t> </a:t>
            </a:r>
            <a:r>
              <a:rPr sz="1000" i="1" spc="-5" dirty="0">
                <a:latin typeface="メイリオ"/>
                <a:cs typeface="メイリオ"/>
              </a:rPr>
              <a:t>→</a:t>
            </a:r>
            <a:r>
              <a:rPr sz="1000" i="1" spc="-60" dirty="0">
                <a:latin typeface="メイリオ"/>
                <a:cs typeface="メイリオ"/>
              </a:rPr>
              <a:t> </a:t>
            </a:r>
            <a:r>
              <a:rPr sz="1000" i="1" spc="-5" dirty="0">
                <a:latin typeface="Arial"/>
                <a:cs typeface="Arial"/>
              </a:rPr>
              <a:t>S</a:t>
            </a:r>
            <a:r>
              <a:rPr sz="1000" i="1" spc="229" dirty="0">
                <a:latin typeface="Arial"/>
                <a:cs typeface="Arial"/>
              </a:rPr>
              <a:t> </a:t>
            </a:r>
            <a:r>
              <a:rPr sz="1000" spc="-5" dirty="0">
                <a:latin typeface="Arial"/>
                <a:cs typeface="Arial"/>
              </a:rPr>
              <a:t>.</a:t>
            </a:r>
            <a:endParaRPr sz="1000">
              <a:latin typeface="Arial"/>
              <a:cs typeface="Arial"/>
            </a:endParaRPr>
          </a:p>
        </p:txBody>
      </p:sp>
      <p:sp>
        <p:nvSpPr>
          <p:cNvPr id="7" name="object 7"/>
          <p:cNvSpPr txBox="1"/>
          <p:nvPr/>
        </p:nvSpPr>
        <p:spPr>
          <a:xfrm>
            <a:off x="309194" y="1808028"/>
            <a:ext cx="3987800" cy="999490"/>
          </a:xfrm>
          <a:prstGeom prst="rect">
            <a:avLst/>
          </a:prstGeom>
        </p:spPr>
        <p:txBody>
          <a:bodyPr vert="horz" wrap="square" lIns="0" tIns="12065" rIns="0" bIns="0" rtlCol="0">
            <a:spAutoFit/>
          </a:bodyPr>
          <a:lstStyle/>
          <a:p>
            <a:pPr marL="327660" indent="-168275">
              <a:lnSpc>
                <a:spcPct val="100000"/>
              </a:lnSpc>
              <a:spcBef>
                <a:spcPts val="95"/>
              </a:spcBef>
              <a:buClr>
                <a:srgbClr val="3333B2"/>
              </a:buClr>
              <a:buChar char="►"/>
              <a:tabLst>
                <a:tab pos="328295" algn="l"/>
              </a:tabLst>
            </a:pPr>
            <a:r>
              <a:rPr sz="1000" spc="-15" dirty="0">
                <a:latin typeface="Arial"/>
                <a:cs typeface="Arial"/>
              </a:rPr>
              <a:t>A</a:t>
            </a:r>
            <a:r>
              <a:rPr sz="1000" spc="-5" dirty="0">
                <a:latin typeface="Arial"/>
                <a:cs typeface="Arial"/>
              </a:rPr>
              <a:t> </a:t>
            </a:r>
            <a:r>
              <a:rPr sz="1000" spc="-10" dirty="0">
                <a:latin typeface="Arial"/>
                <a:cs typeface="Arial"/>
              </a:rPr>
              <a:t>client</a:t>
            </a:r>
            <a:r>
              <a:rPr sz="1000" spc="-5" dirty="0">
                <a:latin typeface="Arial"/>
                <a:cs typeface="Arial"/>
              </a:rPr>
              <a:t> </a:t>
            </a:r>
            <a:r>
              <a:rPr sz="1000" spc="-10" dirty="0">
                <a:solidFill>
                  <a:srgbClr val="0000FA"/>
                </a:solidFill>
                <a:latin typeface="Arial"/>
                <a:cs typeface="Arial"/>
              </a:rPr>
              <a:t>cannot</a:t>
            </a:r>
            <a:r>
              <a:rPr sz="1000" spc="-5" dirty="0">
                <a:solidFill>
                  <a:srgbClr val="0000FA"/>
                </a:solidFill>
                <a:latin typeface="Arial"/>
                <a:cs typeface="Arial"/>
              </a:rPr>
              <a:t> </a:t>
            </a:r>
            <a:r>
              <a:rPr sz="1000" spc="-10" dirty="0">
                <a:solidFill>
                  <a:srgbClr val="0000FA"/>
                </a:solidFill>
                <a:latin typeface="Arial"/>
                <a:cs typeface="Arial"/>
              </a:rPr>
              <a:t>be</a:t>
            </a:r>
            <a:r>
              <a:rPr sz="1000" spc="-5" dirty="0">
                <a:solidFill>
                  <a:srgbClr val="0000FA"/>
                </a:solidFill>
                <a:latin typeface="Arial"/>
                <a:cs typeface="Arial"/>
              </a:rPr>
              <a:t> </a:t>
            </a:r>
            <a:r>
              <a:rPr sz="1000" spc="-15" dirty="0">
                <a:solidFill>
                  <a:srgbClr val="0000FA"/>
                </a:solidFill>
                <a:latin typeface="Arial"/>
                <a:cs typeface="Arial"/>
              </a:rPr>
              <a:t>asked</a:t>
            </a:r>
            <a:r>
              <a:rPr sz="1000" dirty="0">
                <a:solidFill>
                  <a:srgbClr val="0000FA"/>
                </a:solidFill>
                <a:latin typeface="Arial"/>
                <a:cs typeface="Arial"/>
              </a:rPr>
              <a:t> </a:t>
            </a:r>
            <a:r>
              <a:rPr sz="1000" spc="-10" dirty="0">
                <a:solidFill>
                  <a:srgbClr val="0000FA"/>
                </a:solidFill>
                <a:latin typeface="Arial"/>
                <a:cs typeface="Arial"/>
              </a:rPr>
              <a:t>to</a:t>
            </a:r>
            <a:r>
              <a:rPr sz="1000" spc="-5" dirty="0">
                <a:solidFill>
                  <a:srgbClr val="0000FA"/>
                </a:solidFill>
                <a:latin typeface="Arial"/>
                <a:cs typeface="Arial"/>
              </a:rPr>
              <a:t> </a:t>
            </a:r>
            <a:r>
              <a:rPr sz="1000" spc="-10" dirty="0">
                <a:solidFill>
                  <a:srgbClr val="0000FA"/>
                </a:solidFill>
                <a:latin typeface="Arial"/>
                <a:cs typeface="Arial"/>
              </a:rPr>
              <a:t>help</a:t>
            </a:r>
            <a:r>
              <a:rPr sz="1000" spc="-5" dirty="0">
                <a:solidFill>
                  <a:srgbClr val="0000FA"/>
                </a:solidFill>
                <a:latin typeface="Arial"/>
                <a:cs typeface="Arial"/>
              </a:rPr>
              <a:t> </a:t>
            </a:r>
            <a:r>
              <a:rPr sz="1000" spc="-10" dirty="0">
                <a:solidFill>
                  <a:srgbClr val="0000FA"/>
                </a:solidFill>
                <a:latin typeface="Arial"/>
                <a:cs typeface="Arial"/>
              </a:rPr>
              <a:t>the</a:t>
            </a:r>
            <a:r>
              <a:rPr sz="1000" spc="-5" dirty="0">
                <a:solidFill>
                  <a:srgbClr val="0000FA"/>
                </a:solidFill>
                <a:latin typeface="Arial"/>
                <a:cs typeface="Arial"/>
              </a:rPr>
              <a:t> </a:t>
            </a:r>
            <a:r>
              <a:rPr sz="1000" spc="-10" dirty="0">
                <a:solidFill>
                  <a:srgbClr val="0000FA"/>
                </a:solidFill>
                <a:latin typeface="Arial"/>
                <a:cs typeface="Arial"/>
              </a:rPr>
              <a:t>servers</a:t>
            </a:r>
            <a:r>
              <a:rPr sz="1000" dirty="0">
                <a:solidFill>
                  <a:srgbClr val="0000FA"/>
                </a:solidFill>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resolve</a:t>
            </a:r>
            <a:r>
              <a:rPr sz="1000" spc="-5" dirty="0">
                <a:latin typeface="Arial"/>
                <a:cs typeface="Arial"/>
              </a:rPr>
              <a:t> </a:t>
            </a:r>
            <a:r>
              <a:rPr sz="1000" spc="-10" dirty="0">
                <a:latin typeface="Arial"/>
                <a:cs typeface="Arial"/>
              </a:rPr>
              <a:t>a</a:t>
            </a:r>
            <a:r>
              <a:rPr sz="1000" spc="-5" dirty="0">
                <a:latin typeface="Arial"/>
                <a:cs typeface="Arial"/>
              </a:rPr>
              <a:t> </a:t>
            </a:r>
            <a:r>
              <a:rPr sz="1000" spc="-10" dirty="0">
                <a:latin typeface="Arial"/>
                <a:cs typeface="Arial"/>
              </a:rPr>
              <a:t>situation.</a:t>
            </a:r>
            <a:endParaRPr sz="1000">
              <a:latin typeface="Arial"/>
              <a:cs typeface="Arial"/>
            </a:endParaRPr>
          </a:p>
          <a:p>
            <a:pPr>
              <a:lnSpc>
                <a:spcPct val="100000"/>
              </a:lnSpc>
            </a:pPr>
            <a:endParaRPr sz="1300">
              <a:latin typeface="Arial"/>
              <a:cs typeface="Arial"/>
            </a:endParaRPr>
          </a:p>
          <a:p>
            <a:pPr marL="50800">
              <a:lnSpc>
                <a:spcPts val="1410"/>
              </a:lnSpc>
            </a:pPr>
            <a:r>
              <a:rPr sz="1200" spc="-5" dirty="0">
                <a:solidFill>
                  <a:srgbClr val="FA0000"/>
                </a:solidFill>
                <a:latin typeface="Arial"/>
                <a:cs typeface="Arial"/>
              </a:rPr>
              <a:t>Observation</a:t>
            </a:r>
            <a:endParaRPr sz="1200">
              <a:latin typeface="Arial"/>
              <a:cs typeface="Arial"/>
            </a:endParaRPr>
          </a:p>
          <a:p>
            <a:pPr marL="50800" marR="198120">
              <a:lnSpc>
                <a:spcPts val="1200"/>
              </a:lnSpc>
              <a:spcBef>
                <a:spcPts val="15"/>
              </a:spcBef>
            </a:pPr>
            <a:r>
              <a:rPr sz="1000" spc="-5" dirty="0">
                <a:latin typeface="Arial"/>
                <a:cs typeface="Arial"/>
              </a:rPr>
              <a:t>If either one of the backups </a:t>
            </a:r>
            <a:r>
              <a:rPr sz="1000" dirty="0">
                <a:latin typeface="Arial"/>
                <a:cs typeface="Arial"/>
              </a:rPr>
              <a:t>(</a:t>
            </a:r>
            <a:r>
              <a:rPr sz="1000" i="1" dirty="0">
                <a:latin typeface="Arial"/>
                <a:cs typeface="Arial"/>
              </a:rPr>
              <a:t>S</a:t>
            </a:r>
            <a:r>
              <a:rPr sz="1050" i="1" baseline="-15873" dirty="0">
                <a:latin typeface="Arial"/>
                <a:cs typeface="Arial"/>
              </a:rPr>
              <a:t>2</a:t>
            </a:r>
            <a:r>
              <a:rPr sz="1050" i="1" spc="7" baseline="-15873" dirty="0">
                <a:latin typeface="Arial"/>
                <a:cs typeface="Arial"/>
              </a:rPr>
              <a:t> </a:t>
            </a:r>
            <a:r>
              <a:rPr sz="1000" spc="-5" dirty="0">
                <a:latin typeface="Arial"/>
                <a:cs typeface="Arial"/>
              </a:rPr>
              <a:t>or </a:t>
            </a:r>
            <a:r>
              <a:rPr sz="1000" i="1" spc="5" dirty="0">
                <a:latin typeface="Arial"/>
                <a:cs typeface="Arial"/>
              </a:rPr>
              <a:t>S</a:t>
            </a:r>
            <a:r>
              <a:rPr sz="1050" i="1" spc="7" baseline="-15873" dirty="0">
                <a:latin typeface="Arial"/>
                <a:cs typeface="Arial"/>
              </a:rPr>
              <a:t>3 </a:t>
            </a:r>
            <a:r>
              <a:rPr sz="1000" spc="-5" dirty="0">
                <a:latin typeface="Arial"/>
                <a:cs typeface="Arial"/>
              </a:rPr>
              <a:t>) crashes, </a:t>
            </a:r>
            <a:r>
              <a:rPr sz="1000" spc="-15" dirty="0">
                <a:latin typeface="Arial"/>
                <a:cs typeface="Arial"/>
              </a:rPr>
              <a:t>Paxos </a:t>
            </a:r>
            <a:r>
              <a:rPr sz="1000" spc="-5" dirty="0">
                <a:latin typeface="Arial"/>
                <a:cs typeface="Arial"/>
              </a:rPr>
              <a:t>will </a:t>
            </a:r>
            <a:r>
              <a:rPr sz="1000" spc="-10" dirty="0">
                <a:latin typeface="Arial"/>
                <a:cs typeface="Arial"/>
              </a:rPr>
              <a:t>behave </a:t>
            </a:r>
            <a:r>
              <a:rPr sz="1000" spc="-5" dirty="0">
                <a:latin typeface="Arial"/>
                <a:cs typeface="Arial"/>
              </a:rPr>
              <a:t> correctly:</a:t>
            </a:r>
            <a:r>
              <a:rPr sz="1000" spc="65" dirty="0">
                <a:latin typeface="Arial"/>
                <a:cs typeface="Arial"/>
              </a:rPr>
              <a:t> </a:t>
            </a:r>
            <a:r>
              <a:rPr sz="1000" spc="-5" dirty="0">
                <a:latin typeface="Arial"/>
                <a:cs typeface="Arial"/>
              </a:rPr>
              <a:t>operations</a:t>
            </a:r>
            <a:r>
              <a:rPr sz="1000" spc="5" dirty="0">
                <a:latin typeface="Arial"/>
                <a:cs typeface="Arial"/>
              </a:rPr>
              <a:t> </a:t>
            </a:r>
            <a:r>
              <a:rPr sz="1000" spc="-5" dirty="0">
                <a:latin typeface="Arial"/>
                <a:cs typeface="Arial"/>
              </a:rPr>
              <a:t>at</a:t>
            </a:r>
            <a:r>
              <a:rPr sz="1000" dirty="0">
                <a:latin typeface="Arial"/>
                <a:cs typeface="Arial"/>
              </a:rPr>
              <a:t> </a:t>
            </a:r>
            <a:r>
              <a:rPr sz="1000" spc="-10" dirty="0">
                <a:latin typeface="Arial"/>
                <a:cs typeface="Arial"/>
              </a:rPr>
              <a:t>nonfaulty</a:t>
            </a:r>
            <a:r>
              <a:rPr sz="1000" spc="5" dirty="0">
                <a:latin typeface="Arial"/>
                <a:cs typeface="Arial"/>
              </a:rPr>
              <a:t> </a:t>
            </a:r>
            <a:r>
              <a:rPr sz="1000" spc="-5" dirty="0">
                <a:latin typeface="Arial"/>
                <a:cs typeface="Arial"/>
              </a:rPr>
              <a:t>servers</a:t>
            </a:r>
            <a:r>
              <a:rPr sz="1000" dirty="0">
                <a:latin typeface="Arial"/>
                <a:cs typeface="Arial"/>
              </a:rPr>
              <a:t> </a:t>
            </a:r>
            <a:r>
              <a:rPr sz="1000" spc="-5" dirty="0">
                <a:latin typeface="Arial"/>
                <a:cs typeface="Arial"/>
              </a:rPr>
              <a:t>are</a:t>
            </a:r>
            <a:r>
              <a:rPr sz="1000" spc="5" dirty="0">
                <a:latin typeface="Arial"/>
                <a:cs typeface="Arial"/>
              </a:rPr>
              <a:t> </a:t>
            </a:r>
            <a:r>
              <a:rPr sz="1000" spc="-10" dirty="0">
                <a:latin typeface="Arial"/>
                <a:cs typeface="Arial"/>
              </a:rPr>
              <a:t>executed</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 </a:t>
            </a:r>
            <a:r>
              <a:rPr sz="1000" spc="-260" dirty="0">
                <a:latin typeface="Arial"/>
                <a:cs typeface="Arial"/>
              </a:rPr>
              <a:t> </a:t>
            </a:r>
            <a:r>
              <a:rPr sz="1000" spc="-10" dirty="0">
                <a:latin typeface="Arial"/>
                <a:cs typeface="Arial"/>
              </a:rPr>
              <a:t>order.</a:t>
            </a:r>
            <a:endParaRPr sz="10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4" name="object 4"/>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Understanding</a:t>
            </a:r>
            <a:r>
              <a:rPr sz="600" spc="-25" dirty="0">
                <a:solidFill>
                  <a:srgbClr val="3333B2"/>
                </a:solidFill>
                <a:latin typeface="Arial"/>
                <a:cs typeface="Arial"/>
                <a:hlinkClick r:id="rId2" action="ppaction://hlinksldjump"/>
              </a:rPr>
              <a:t> </a:t>
            </a:r>
            <a:r>
              <a:rPr sz="600" spc="-10" dirty="0">
                <a:solidFill>
                  <a:srgbClr val="3333B2"/>
                </a:solidFill>
                <a:latin typeface="Arial"/>
                <a:cs typeface="Arial"/>
                <a:hlinkClick r:id="rId2" action="ppaction://hlinksldjump"/>
              </a:rPr>
              <a:t>Paxos</a:t>
            </a:r>
            <a:endParaRPr sz="600">
              <a:latin typeface="Arial"/>
              <a:cs typeface="Arial"/>
            </a:endParaRPr>
          </a:p>
        </p:txBody>
      </p:sp>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41313" y="0"/>
            <a:ext cx="2827655" cy="473075"/>
          </a:xfrm>
          <a:prstGeom prst="rect">
            <a:avLst/>
          </a:prstGeom>
        </p:spPr>
        <p:txBody>
          <a:bodyPr vert="horz" wrap="square" lIns="0" tIns="52705" rIns="0" bIns="0" rtlCol="0">
            <a:spAutoFit/>
          </a:bodyPr>
          <a:lstStyle/>
          <a:p>
            <a:pPr marL="38100">
              <a:lnSpc>
                <a:spcPct val="100000"/>
              </a:lnSpc>
              <a:spcBef>
                <a:spcPts val="41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a:p>
            <a:pPr>
              <a:lnSpc>
                <a:spcPct val="100000"/>
              </a:lnSpc>
              <a:spcBef>
                <a:spcPts val="50"/>
              </a:spcBef>
            </a:pPr>
            <a:endParaRPr sz="650">
              <a:latin typeface="Arial"/>
              <a:cs typeface="Arial"/>
            </a:endParaRPr>
          </a:p>
          <a:p>
            <a:pPr marL="66675">
              <a:lnSpc>
                <a:spcPct val="100000"/>
              </a:lnSpc>
            </a:pPr>
            <a:r>
              <a:rPr sz="1400" spc="15" dirty="0">
                <a:solidFill>
                  <a:srgbClr val="3333B2"/>
                </a:solidFill>
                <a:latin typeface="Arial"/>
                <a:cs typeface="Arial"/>
              </a:rPr>
              <a:t>Leader</a:t>
            </a:r>
            <a:r>
              <a:rPr sz="1400" spc="-5" dirty="0">
                <a:solidFill>
                  <a:srgbClr val="3333B2"/>
                </a:solidFill>
                <a:latin typeface="Arial"/>
                <a:cs typeface="Arial"/>
              </a:rPr>
              <a:t> </a:t>
            </a:r>
            <a:r>
              <a:rPr sz="1400" spc="15" dirty="0">
                <a:solidFill>
                  <a:srgbClr val="3333B2"/>
                </a:solidFill>
                <a:latin typeface="Arial"/>
                <a:cs typeface="Arial"/>
              </a:rPr>
              <a:t>crashes</a:t>
            </a:r>
            <a:r>
              <a:rPr sz="1400" spc="-5" dirty="0">
                <a:solidFill>
                  <a:srgbClr val="3333B2"/>
                </a:solidFill>
                <a:latin typeface="Arial"/>
                <a:cs typeface="Arial"/>
              </a:rPr>
              <a:t> </a:t>
            </a:r>
            <a:r>
              <a:rPr sz="1400" spc="10" dirty="0">
                <a:solidFill>
                  <a:srgbClr val="3333B2"/>
                </a:solidFill>
                <a:latin typeface="Arial"/>
                <a:cs typeface="Arial"/>
              </a:rPr>
              <a:t>after</a:t>
            </a:r>
            <a:r>
              <a:rPr sz="1400" spc="-5" dirty="0">
                <a:solidFill>
                  <a:srgbClr val="3333B2"/>
                </a:solidFill>
                <a:latin typeface="Arial"/>
                <a:cs typeface="Arial"/>
              </a:rPr>
              <a:t> </a:t>
            </a:r>
            <a:r>
              <a:rPr sz="1400" spc="5" dirty="0">
                <a:solidFill>
                  <a:srgbClr val="3333B2"/>
                </a:solidFill>
                <a:latin typeface="Arial"/>
                <a:cs typeface="Arial"/>
              </a:rPr>
              <a:t>executing</a:t>
            </a:r>
            <a:r>
              <a:rPr sz="1400" spc="-5" dirty="0">
                <a:solidFill>
                  <a:srgbClr val="3333B2"/>
                </a:solidFill>
                <a:latin typeface="Arial"/>
                <a:cs typeface="Arial"/>
              </a:rPr>
              <a:t> </a:t>
            </a:r>
            <a:r>
              <a:rPr sz="1400" i="1" spc="25" dirty="0">
                <a:solidFill>
                  <a:srgbClr val="3333B2"/>
                </a:solidFill>
                <a:latin typeface="Arial"/>
                <a:cs typeface="Arial"/>
              </a:rPr>
              <a:t>o</a:t>
            </a:r>
            <a:r>
              <a:rPr sz="1650" i="1" spc="37" baseline="25252" dirty="0">
                <a:solidFill>
                  <a:srgbClr val="3333B2"/>
                </a:solidFill>
                <a:latin typeface="Arial"/>
                <a:cs typeface="Arial"/>
              </a:rPr>
              <a:t>1</a:t>
            </a:r>
            <a:endParaRPr sz="1650" baseline="25252">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 name="object 7"/>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Understanding</a:t>
            </a:r>
            <a:r>
              <a:rPr sz="600" spc="-25" dirty="0">
                <a:solidFill>
                  <a:srgbClr val="3333B2"/>
                </a:solidFill>
                <a:latin typeface="Arial"/>
                <a:cs typeface="Arial"/>
                <a:hlinkClick r:id="rId2" action="ppaction://hlinksldjump"/>
              </a:rPr>
              <a:t> </a:t>
            </a:r>
            <a:r>
              <a:rPr sz="600" spc="-10" dirty="0">
                <a:solidFill>
                  <a:srgbClr val="3333B2"/>
                </a:solidFill>
                <a:latin typeface="Arial"/>
                <a:cs typeface="Arial"/>
                <a:hlinkClick r:id="rId2" action="ppaction://hlinksldjump"/>
              </a:rPr>
              <a:t>Paxos</a:t>
            </a:r>
            <a:endParaRPr sz="600">
              <a:latin typeface="Arial"/>
              <a:cs typeface="Arial"/>
            </a:endParaRPr>
          </a:p>
        </p:txBody>
      </p:sp>
      <p:sp>
        <p:nvSpPr>
          <p:cNvPr id="8" name="object 8"/>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41313" y="0"/>
            <a:ext cx="3409315" cy="772795"/>
          </a:xfrm>
          <a:prstGeom prst="rect">
            <a:avLst/>
          </a:prstGeom>
        </p:spPr>
        <p:txBody>
          <a:bodyPr vert="horz" wrap="square" lIns="0" tIns="52705" rIns="0" bIns="0" rtlCol="0">
            <a:spAutoFit/>
          </a:bodyPr>
          <a:lstStyle/>
          <a:p>
            <a:pPr marL="38100">
              <a:lnSpc>
                <a:spcPct val="100000"/>
              </a:lnSpc>
              <a:spcBef>
                <a:spcPts val="41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a:p>
            <a:pPr>
              <a:lnSpc>
                <a:spcPct val="100000"/>
              </a:lnSpc>
              <a:spcBef>
                <a:spcPts val="50"/>
              </a:spcBef>
            </a:pPr>
            <a:endParaRPr sz="650">
              <a:latin typeface="Arial"/>
              <a:cs typeface="Arial"/>
            </a:endParaRPr>
          </a:p>
          <a:p>
            <a:pPr marL="66675">
              <a:lnSpc>
                <a:spcPct val="100000"/>
              </a:lnSpc>
            </a:pPr>
            <a:r>
              <a:rPr sz="1400" spc="15" dirty="0">
                <a:solidFill>
                  <a:srgbClr val="3333B2"/>
                </a:solidFill>
                <a:latin typeface="Arial"/>
                <a:cs typeface="Arial"/>
              </a:rPr>
              <a:t>Leader</a:t>
            </a:r>
            <a:r>
              <a:rPr sz="1400" spc="-5" dirty="0">
                <a:solidFill>
                  <a:srgbClr val="3333B2"/>
                </a:solidFill>
                <a:latin typeface="Arial"/>
                <a:cs typeface="Arial"/>
              </a:rPr>
              <a:t> </a:t>
            </a:r>
            <a:r>
              <a:rPr sz="1400" spc="15" dirty="0">
                <a:solidFill>
                  <a:srgbClr val="3333B2"/>
                </a:solidFill>
                <a:latin typeface="Arial"/>
                <a:cs typeface="Arial"/>
              </a:rPr>
              <a:t>crashes</a:t>
            </a:r>
            <a:r>
              <a:rPr sz="1400" spc="-5" dirty="0">
                <a:solidFill>
                  <a:srgbClr val="3333B2"/>
                </a:solidFill>
                <a:latin typeface="Arial"/>
                <a:cs typeface="Arial"/>
              </a:rPr>
              <a:t> </a:t>
            </a:r>
            <a:r>
              <a:rPr sz="1400" spc="10" dirty="0">
                <a:solidFill>
                  <a:srgbClr val="3333B2"/>
                </a:solidFill>
                <a:latin typeface="Arial"/>
                <a:cs typeface="Arial"/>
              </a:rPr>
              <a:t>after</a:t>
            </a:r>
            <a:r>
              <a:rPr sz="1400" spc="-5" dirty="0">
                <a:solidFill>
                  <a:srgbClr val="3333B2"/>
                </a:solidFill>
                <a:latin typeface="Arial"/>
                <a:cs typeface="Arial"/>
              </a:rPr>
              <a:t> </a:t>
            </a:r>
            <a:r>
              <a:rPr sz="1400" spc="5" dirty="0">
                <a:solidFill>
                  <a:srgbClr val="3333B2"/>
                </a:solidFill>
                <a:latin typeface="Arial"/>
                <a:cs typeface="Arial"/>
              </a:rPr>
              <a:t>executing</a:t>
            </a:r>
            <a:r>
              <a:rPr sz="1400" spc="-5" dirty="0">
                <a:solidFill>
                  <a:srgbClr val="3333B2"/>
                </a:solidFill>
                <a:latin typeface="Arial"/>
                <a:cs typeface="Arial"/>
              </a:rPr>
              <a:t> </a:t>
            </a:r>
            <a:r>
              <a:rPr sz="1400" i="1" spc="25" dirty="0">
                <a:solidFill>
                  <a:srgbClr val="3333B2"/>
                </a:solidFill>
                <a:latin typeface="Arial"/>
                <a:cs typeface="Arial"/>
              </a:rPr>
              <a:t>o</a:t>
            </a:r>
            <a:r>
              <a:rPr sz="1650" i="1" spc="37" baseline="25252" dirty="0">
                <a:solidFill>
                  <a:srgbClr val="3333B2"/>
                </a:solidFill>
                <a:latin typeface="Arial"/>
                <a:cs typeface="Arial"/>
              </a:rPr>
              <a:t>1</a:t>
            </a:r>
            <a:endParaRPr sz="1650" baseline="25252">
              <a:latin typeface="Arial"/>
              <a:cs typeface="Arial"/>
            </a:endParaRPr>
          </a:p>
          <a:p>
            <a:pPr marL="318135">
              <a:lnSpc>
                <a:spcPct val="100000"/>
              </a:lnSpc>
              <a:spcBef>
                <a:spcPts val="930"/>
              </a:spcBef>
            </a:pPr>
            <a:r>
              <a:rPr sz="1200" i="1" spc="-5" dirty="0">
                <a:solidFill>
                  <a:srgbClr val="3333B2"/>
                </a:solidFill>
                <a:latin typeface="Arial"/>
                <a:cs typeface="Arial"/>
              </a:rPr>
              <a:t>S</a:t>
            </a:r>
            <a:r>
              <a:rPr sz="1350" i="1" spc="-7" baseline="-12345" dirty="0">
                <a:solidFill>
                  <a:srgbClr val="3333B2"/>
                </a:solidFill>
                <a:latin typeface="Arial"/>
                <a:cs typeface="Arial"/>
              </a:rPr>
              <a:t>3</a:t>
            </a:r>
            <a:r>
              <a:rPr sz="1350" i="1" spc="262" baseline="-12345" dirty="0">
                <a:solidFill>
                  <a:srgbClr val="3333B2"/>
                </a:solidFill>
                <a:latin typeface="Arial"/>
                <a:cs typeface="Arial"/>
              </a:rPr>
              <a:t> </a:t>
            </a:r>
            <a:r>
              <a:rPr sz="1200" spc="-5" dirty="0">
                <a:solidFill>
                  <a:srgbClr val="3333B2"/>
                </a:solidFill>
                <a:latin typeface="Arial"/>
                <a:cs typeface="Arial"/>
              </a:rPr>
              <a:t>is completely ignorant</a:t>
            </a:r>
            <a:r>
              <a:rPr sz="1200" spc="-10" dirty="0">
                <a:solidFill>
                  <a:srgbClr val="3333B2"/>
                </a:solidFill>
                <a:latin typeface="Arial"/>
                <a:cs typeface="Arial"/>
              </a:rPr>
              <a:t> </a:t>
            </a:r>
            <a:r>
              <a:rPr sz="1200" spc="-5" dirty="0">
                <a:solidFill>
                  <a:srgbClr val="3333B2"/>
                </a:solidFill>
                <a:latin typeface="Arial"/>
                <a:cs typeface="Arial"/>
              </a:rPr>
              <a:t>of </a:t>
            </a:r>
            <a:r>
              <a:rPr sz="1200" spc="-10" dirty="0">
                <a:solidFill>
                  <a:srgbClr val="3333B2"/>
                </a:solidFill>
                <a:latin typeface="Arial"/>
                <a:cs typeface="Arial"/>
              </a:rPr>
              <a:t>any</a:t>
            </a:r>
            <a:r>
              <a:rPr sz="1200" spc="-5" dirty="0">
                <a:solidFill>
                  <a:srgbClr val="3333B2"/>
                </a:solidFill>
                <a:latin typeface="Arial"/>
                <a:cs typeface="Arial"/>
              </a:rPr>
              <a:t> activity</a:t>
            </a:r>
            <a:r>
              <a:rPr sz="1200" spc="-10" dirty="0">
                <a:solidFill>
                  <a:srgbClr val="3333B2"/>
                </a:solidFill>
                <a:latin typeface="Arial"/>
                <a:cs typeface="Arial"/>
              </a:rPr>
              <a:t> </a:t>
            </a:r>
            <a:r>
              <a:rPr sz="1200" spc="-15" dirty="0">
                <a:solidFill>
                  <a:srgbClr val="3333B2"/>
                </a:solidFill>
                <a:latin typeface="Arial"/>
                <a:cs typeface="Arial"/>
              </a:rPr>
              <a:t>by</a:t>
            </a:r>
            <a:r>
              <a:rPr sz="1200" spc="-5" dirty="0">
                <a:solidFill>
                  <a:srgbClr val="3333B2"/>
                </a:solidFill>
                <a:latin typeface="Arial"/>
                <a:cs typeface="Arial"/>
              </a:rPr>
              <a:t> </a:t>
            </a:r>
            <a:r>
              <a:rPr sz="1200" i="1" spc="-5" dirty="0">
                <a:solidFill>
                  <a:srgbClr val="3333B2"/>
                </a:solidFill>
                <a:latin typeface="Arial"/>
                <a:cs typeface="Arial"/>
              </a:rPr>
              <a:t>S</a:t>
            </a:r>
            <a:r>
              <a:rPr sz="1350" i="1" spc="-7" baseline="-12345" dirty="0">
                <a:solidFill>
                  <a:srgbClr val="3333B2"/>
                </a:solidFill>
                <a:latin typeface="Arial"/>
                <a:cs typeface="Arial"/>
              </a:rPr>
              <a:t>1</a:t>
            </a:r>
            <a:endParaRPr sz="1350" baseline="-12345">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
        <p:nvSpPr>
          <p:cNvPr id="4" name="object 4"/>
          <p:cNvSpPr txBox="1"/>
          <p:nvPr/>
        </p:nvSpPr>
        <p:spPr>
          <a:xfrm>
            <a:off x="431304" y="732288"/>
            <a:ext cx="3742054" cy="481330"/>
          </a:xfrm>
          <a:prstGeom prst="rect">
            <a:avLst/>
          </a:prstGeom>
        </p:spPr>
        <p:txBody>
          <a:bodyPr vert="horz" wrap="square" lIns="0" tIns="88265" rIns="0" bIns="0" rtlCol="0">
            <a:spAutoFit/>
          </a:bodyPr>
          <a:lstStyle/>
          <a:p>
            <a:pPr marL="205740" indent="-168275">
              <a:lnSpc>
                <a:spcPct val="100000"/>
              </a:lnSpc>
              <a:spcBef>
                <a:spcPts val="695"/>
              </a:spcBef>
              <a:buClr>
                <a:srgbClr val="3333B2"/>
              </a:buClr>
              <a:buFont typeface="Arial"/>
              <a:buChar char="►"/>
              <a:tabLst>
                <a:tab pos="206375" algn="l"/>
              </a:tabLst>
            </a:pPr>
            <a:r>
              <a:rPr sz="1000" i="1" spc="-5" dirty="0">
                <a:latin typeface="Arial"/>
                <a:cs typeface="Arial"/>
              </a:rPr>
              <a:t>S</a:t>
            </a:r>
            <a:r>
              <a:rPr sz="1050" i="1" spc="30" baseline="-15873" dirty="0">
                <a:latin typeface="Arial"/>
                <a:cs typeface="Arial"/>
              </a:rPr>
              <a:t>2</a:t>
            </a:r>
            <a:r>
              <a:rPr sz="1050" i="1" baseline="-15873" dirty="0">
                <a:latin typeface="Arial"/>
                <a:cs typeface="Arial"/>
              </a:rPr>
              <a:t> </a:t>
            </a:r>
            <a:r>
              <a:rPr sz="1050" i="1" spc="-30" baseline="-15873" dirty="0">
                <a:latin typeface="Arial"/>
                <a:cs typeface="Arial"/>
              </a:rPr>
              <a:t> </a:t>
            </a:r>
            <a:r>
              <a:rPr sz="1000" spc="-5" dirty="0">
                <a:latin typeface="Arial"/>
                <a:cs typeface="Arial"/>
              </a:rPr>
              <a:t>recei</a:t>
            </a:r>
            <a:r>
              <a:rPr sz="1000" spc="-30" dirty="0">
                <a:latin typeface="Arial"/>
                <a:cs typeface="Arial"/>
              </a:rPr>
              <a:t>v</a:t>
            </a:r>
            <a:r>
              <a:rPr sz="1000" spc="-5" dirty="0">
                <a:latin typeface="Arial"/>
                <a:cs typeface="Arial"/>
              </a:rPr>
              <a:t>ed</a:t>
            </a:r>
            <a:r>
              <a:rPr sz="1000" spc="20" dirty="0">
                <a:latin typeface="Arial"/>
                <a:cs typeface="Arial"/>
              </a:rPr>
              <a:t> </a:t>
            </a:r>
            <a:r>
              <a:rPr sz="800" spc="20" dirty="0">
                <a:latin typeface="Arial"/>
                <a:cs typeface="Arial"/>
              </a:rPr>
              <a:t>A</a:t>
            </a:r>
            <a:r>
              <a:rPr sz="800" spc="40" dirty="0">
                <a:latin typeface="Arial"/>
                <a:cs typeface="Arial"/>
              </a:rPr>
              <a:t>CCEP</a:t>
            </a:r>
            <a:r>
              <a:rPr sz="800" spc="15" dirty="0">
                <a:latin typeface="Arial"/>
                <a:cs typeface="Arial"/>
              </a:rPr>
              <a:t>T</a:t>
            </a:r>
            <a:r>
              <a:rPr sz="1000" spc="50" dirty="0">
                <a:latin typeface="Arial"/>
                <a:cs typeface="Arial"/>
              </a:rPr>
              <a:t>(</a:t>
            </a:r>
            <a:r>
              <a:rPr sz="1000" i="1" spc="20" dirty="0">
                <a:latin typeface="Arial"/>
                <a:cs typeface="Arial"/>
              </a:rPr>
              <a:t>o</a:t>
            </a:r>
            <a:r>
              <a:rPr sz="1000" i="1" spc="-5" dirty="0">
                <a:latin typeface="Arial"/>
                <a:cs typeface="Arial"/>
              </a:rPr>
              <a:t>,</a:t>
            </a:r>
            <a:r>
              <a:rPr sz="1000" i="1" spc="-170" dirty="0">
                <a:latin typeface="Arial"/>
                <a:cs typeface="Arial"/>
              </a:rPr>
              <a:t> </a:t>
            </a:r>
            <a:r>
              <a:rPr sz="1000" spc="-5" dirty="0">
                <a:latin typeface="Arial"/>
                <a:cs typeface="Arial"/>
              </a:rPr>
              <a:t>1</a:t>
            </a:r>
            <a:r>
              <a:rPr sz="1000" spc="50" dirty="0">
                <a:latin typeface="Arial"/>
                <a:cs typeface="Arial"/>
              </a:rPr>
              <a:t>)</a:t>
            </a:r>
            <a:r>
              <a:rPr sz="1000" spc="-5" dirty="0">
                <a:latin typeface="Arial"/>
                <a:cs typeface="Arial"/>
              </a:rPr>
              <a:t>, detects c</a:t>
            </a:r>
            <a:r>
              <a:rPr sz="1000" spc="-15" dirty="0">
                <a:latin typeface="Arial"/>
                <a:cs typeface="Arial"/>
              </a:rPr>
              <a:t>r</a:t>
            </a:r>
            <a:r>
              <a:rPr sz="1000" spc="-5" dirty="0">
                <a:latin typeface="Arial"/>
                <a:cs typeface="Arial"/>
              </a:rPr>
              <a:t>ash, and becomes leade</a:t>
            </a:r>
            <a:r>
              <a:rPr sz="1000" spc="-55" dirty="0">
                <a:latin typeface="Arial"/>
                <a:cs typeface="Arial"/>
              </a:rPr>
              <a:t>r</a:t>
            </a:r>
            <a:r>
              <a:rPr sz="1000" spc="-5" dirty="0">
                <a:latin typeface="Arial"/>
                <a:cs typeface="Arial"/>
              </a:rPr>
              <a:t>.</a:t>
            </a:r>
            <a:endParaRPr sz="1000">
              <a:latin typeface="Arial"/>
              <a:cs typeface="Arial"/>
            </a:endParaRPr>
          </a:p>
          <a:p>
            <a:pPr marL="205740" indent="-168275">
              <a:lnSpc>
                <a:spcPct val="100000"/>
              </a:lnSpc>
              <a:spcBef>
                <a:spcPts val="590"/>
              </a:spcBef>
              <a:buClr>
                <a:srgbClr val="3333B2"/>
              </a:buClr>
              <a:buFont typeface="Arial"/>
              <a:buChar char="►"/>
              <a:tabLst>
                <a:tab pos="206375" algn="l"/>
              </a:tabLst>
            </a:pPr>
            <a:r>
              <a:rPr sz="1000" i="1" spc="-5" dirty="0">
                <a:latin typeface="Arial"/>
                <a:cs typeface="Arial"/>
              </a:rPr>
              <a:t>S</a:t>
            </a:r>
            <a:r>
              <a:rPr sz="1050" i="1" spc="30" baseline="-15873" dirty="0">
                <a:latin typeface="Arial"/>
                <a:cs typeface="Arial"/>
              </a:rPr>
              <a:t>3</a:t>
            </a:r>
            <a:r>
              <a:rPr sz="1050" i="1" baseline="-15873" dirty="0">
                <a:latin typeface="Arial"/>
                <a:cs typeface="Arial"/>
              </a:rPr>
              <a:t> </a:t>
            </a:r>
            <a:r>
              <a:rPr sz="1050" i="1" spc="-37" baseline="-15873" dirty="0">
                <a:latin typeface="Arial"/>
                <a:cs typeface="Arial"/>
              </a:rPr>
              <a:t> </a:t>
            </a:r>
            <a:r>
              <a:rPr sz="1000" spc="-35" dirty="0">
                <a:latin typeface="Arial"/>
                <a:cs typeface="Arial"/>
              </a:rPr>
              <a:t>e</a:t>
            </a:r>
            <a:r>
              <a:rPr sz="1000" spc="-30" dirty="0">
                <a:latin typeface="Arial"/>
                <a:cs typeface="Arial"/>
              </a:rPr>
              <a:t>v</a:t>
            </a:r>
            <a:r>
              <a:rPr sz="1000" spc="-5" dirty="0">
                <a:latin typeface="Arial"/>
                <a:cs typeface="Arial"/>
              </a:rPr>
              <a:t>en n</a:t>
            </a:r>
            <a:r>
              <a:rPr sz="1000" spc="-35" dirty="0">
                <a:latin typeface="Arial"/>
                <a:cs typeface="Arial"/>
              </a:rPr>
              <a:t>e</a:t>
            </a:r>
            <a:r>
              <a:rPr sz="1000" spc="-30" dirty="0">
                <a:latin typeface="Arial"/>
                <a:cs typeface="Arial"/>
              </a:rPr>
              <a:t>v</a:t>
            </a:r>
            <a:r>
              <a:rPr sz="1000" spc="-5" dirty="0">
                <a:latin typeface="Arial"/>
                <a:cs typeface="Arial"/>
              </a:rPr>
              <a:t>er recei</a:t>
            </a:r>
            <a:r>
              <a:rPr sz="1000" spc="-30" dirty="0">
                <a:latin typeface="Arial"/>
                <a:cs typeface="Arial"/>
              </a:rPr>
              <a:t>v</a:t>
            </a:r>
            <a:r>
              <a:rPr sz="1000" spc="-5" dirty="0">
                <a:latin typeface="Arial"/>
                <a:cs typeface="Arial"/>
              </a:rPr>
              <a:t>ed</a:t>
            </a:r>
            <a:r>
              <a:rPr sz="1000" spc="20" dirty="0">
                <a:latin typeface="Arial"/>
                <a:cs typeface="Arial"/>
              </a:rPr>
              <a:t> </a:t>
            </a:r>
            <a:r>
              <a:rPr sz="800" spc="20" dirty="0">
                <a:latin typeface="Arial"/>
                <a:cs typeface="Arial"/>
              </a:rPr>
              <a:t>A</a:t>
            </a:r>
            <a:r>
              <a:rPr sz="800" spc="40" dirty="0">
                <a:latin typeface="Arial"/>
                <a:cs typeface="Arial"/>
              </a:rPr>
              <a:t>CCEP</a:t>
            </a:r>
            <a:r>
              <a:rPr sz="800" spc="15" dirty="0">
                <a:latin typeface="Arial"/>
                <a:cs typeface="Arial"/>
              </a:rPr>
              <a:t>T</a:t>
            </a:r>
            <a:r>
              <a:rPr sz="1000" spc="50" dirty="0">
                <a:latin typeface="Arial"/>
                <a:cs typeface="Arial"/>
              </a:rPr>
              <a:t>(</a:t>
            </a:r>
            <a:r>
              <a:rPr sz="1000" i="1" spc="20" dirty="0">
                <a:latin typeface="Arial"/>
                <a:cs typeface="Arial"/>
              </a:rPr>
              <a:t>o</a:t>
            </a:r>
            <a:r>
              <a:rPr sz="1000" i="1" spc="-5" dirty="0">
                <a:latin typeface="Arial"/>
                <a:cs typeface="Arial"/>
              </a:rPr>
              <a:t>,</a:t>
            </a:r>
            <a:r>
              <a:rPr sz="1000" i="1" spc="-170" dirty="0">
                <a:latin typeface="Arial"/>
                <a:cs typeface="Arial"/>
              </a:rPr>
              <a:t> </a:t>
            </a:r>
            <a:r>
              <a:rPr sz="1000" spc="-5" dirty="0">
                <a:latin typeface="Arial"/>
                <a:cs typeface="Arial"/>
              </a:rPr>
              <a:t>1</a:t>
            </a:r>
            <a:r>
              <a:rPr sz="1000" spc="50" dirty="0">
                <a:latin typeface="Arial"/>
                <a:cs typeface="Arial"/>
              </a:rPr>
              <a:t>)</a:t>
            </a:r>
            <a:r>
              <a:rPr sz="1000" spc="-5" dirty="0">
                <a:latin typeface="Arial"/>
                <a:cs typeface="Arial"/>
              </a:rPr>
              <a:t>.</a:t>
            </a:r>
            <a:endParaRPr sz="1000">
              <a:latin typeface="Arial"/>
              <a:cs typeface="Arial"/>
            </a:endParaRPr>
          </a:p>
        </p:txBody>
      </p:sp>
      <p:sp>
        <p:nvSpPr>
          <p:cNvPr id="5" name="object 5"/>
          <p:cNvSpPr txBox="1"/>
          <p:nvPr/>
        </p:nvSpPr>
        <p:spPr>
          <a:xfrm>
            <a:off x="431304" y="1263706"/>
            <a:ext cx="3855085" cy="177800"/>
          </a:xfrm>
          <a:prstGeom prst="rect">
            <a:avLst/>
          </a:prstGeom>
        </p:spPr>
        <p:txBody>
          <a:bodyPr vert="horz" wrap="square" lIns="0" tIns="12065" rIns="0" bIns="0" rtlCol="0">
            <a:spAutoFit/>
          </a:bodyPr>
          <a:lstStyle/>
          <a:p>
            <a:pPr marL="205740" indent="-168275">
              <a:lnSpc>
                <a:spcPct val="100000"/>
              </a:lnSpc>
              <a:spcBef>
                <a:spcPts val="95"/>
              </a:spcBef>
              <a:buClr>
                <a:srgbClr val="3333B2"/>
              </a:buClr>
              <a:buChar char="►"/>
              <a:tabLst>
                <a:tab pos="206375" algn="l"/>
              </a:tabLst>
            </a:pPr>
            <a:r>
              <a:rPr sz="1000" spc="-10" dirty="0">
                <a:latin typeface="Arial"/>
                <a:cs typeface="Arial"/>
              </a:rPr>
              <a:t>If</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277" baseline="-15873" dirty="0">
                <a:latin typeface="Arial"/>
                <a:cs typeface="Arial"/>
              </a:rPr>
              <a:t> </a:t>
            </a:r>
            <a:r>
              <a:rPr sz="1000" spc="-15" dirty="0">
                <a:latin typeface="Arial"/>
                <a:cs typeface="Arial"/>
              </a:rPr>
              <a:t>sends</a:t>
            </a:r>
            <a:r>
              <a:rPr sz="1000" spc="25" dirty="0">
                <a:latin typeface="Arial"/>
                <a:cs typeface="Arial"/>
              </a:rPr>
              <a:t> </a:t>
            </a:r>
            <a:r>
              <a:rPr sz="800" spc="30" dirty="0">
                <a:latin typeface="Arial"/>
                <a:cs typeface="Arial"/>
              </a:rPr>
              <a:t>ACCEPT</a:t>
            </a:r>
            <a:r>
              <a:rPr sz="1000" spc="30" dirty="0">
                <a:latin typeface="Arial"/>
                <a:cs typeface="Arial"/>
              </a:rPr>
              <a:t>(</a:t>
            </a:r>
            <a:r>
              <a:rPr sz="1000" i="1" spc="30" dirty="0">
                <a:latin typeface="Arial"/>
                <a:cs typeface="Arial"/>
              </a:rPr>
              <a:t>o</a:t>
            </a:r>
            <a:r>
              <a:rPr sz="1050" i="1" spc="44" baseline="27777" dirty="0">
                <a:latin typeface="Arial"/>
                <a:cs typeface="Arial"/>
              </a:rPr>
              <a:t>2</a:t>
            </a:r>
            <a:r>
              <a:rPr sz="1050" i="1" spc="-150" baseline="27777" dirty="0">
                <a:latin typeface="Arial"/>
                <a:cs typeface="Arial"/>
              </a:rPr>
              <a:t> </a:t>
            </a:r>
            <a:r>
              <a:rPr sz="1000" i="1" spc="-5" dirty="0">
                <a:latin typeface="Arial"/>
                <a:cs typeface="Arial"/>
              </a:rPr>
              <a:t>,</a:t>
            </a:r>
            <a:r>
              <a:rPr sz="1000" i="1" spc="-170" dirty="0">
                <a:latin typeface="Arial"/>
                <a:cs typeface="Arial"/>
              </a:rPr>
              <a:t> </a:t>
            </a:r>
            <a:r>
              <a:rPr sz="1000" spc="20" dirty="0">
                <a:latin typeface="Arial"/>
                <a:cs typeface="Arial"/>
              </a:rPr>
              <a:t>2)</a:t>
            </a:r>
            <a:r>
              <a:rPr sz="1000" spc="-55" dirty="0">
                <a:latin typeface="Arial"/>
                <a:cs typeface="Arial"/>
              </a:rPr>
              <a:t> </a:t>
            </a:r>
            <a:r>
              <a:rPr sz="1000" i="1" spc="-5" dirty="0">
                <a:latin typeface="メイリオ"/>
                <a:cs typeface="メイリオ"/>
              </a:rPr>
              <a:t>⇒</a:t>
            </a:r>
            <a:r>
              <a:rPr sz="1000" i="1" spc="-55" dirty="0">
                <a:latin typeface="メイリオ"/>
                <a:cs typeface="メイリオ"/>
              </a:rPr>
              <a:t> </a:t>
            </a:r>
            <a:r>
              <a:rPr sz="1000" i="1" spc="5" dirty="0">
                <a:latin typeface="Arial"/>
                <a:cs typeface="Arial"/>
              </a:rPr>
              <a:t>S</a:t>
            </a:r>
            <a:r>
              <a:rPr sz="1050" i="1" spc="7" baseline="-15873" dirty="0">
                <a:latin typeface="Arial"/>
                <a:cs typeface="Arial"/>
              </a:rPr>
              <a:t>3</a:t>
            </a:r>
            <a:r>
              <a:rPr sz="1050" i="1" spc="262" baseline="-15873" dirty="0">
                <a:latin typeface="Arial"/>
                <a:cs typeface="Arial"/>
              </a:rPr>
              <a:t> </a:t>
            </a:r>
            <a:r>
              <a:rPr sz="1000" spc="-15" dirty="0">
                <a:latin typeface="Arial"/>
                <a:cs typeface="Arial"/>
              </a:rPr>
              <a:t>sees</a:t>
            </a:r>
            <a:r>
              <a:rPr sz="1000" spc="5" dirty="0">
                <a:latin typeface="Arial"/>
                <a:cs typeface="Arial"/>
              </a:rPr>
              <a:t> </a:t>
            </a:r>
            <a:r>
              <a:rPr sz="1000" spc="-20" dirty="0">
                <a:latin typeface="Arial"/>
                <a:cs typeface="Arial"/>
              </a:rPr>
              <a:t>unexpected</a:t>
            </a:r>
            <a:r>
              <a:rPr sz="1000" dirty="0">
                <a:latin typeface="Arial"/>
                <a:cs typeface="Arial"/>
              </a:rPr>
              <a:t> </a:t>
            </a:r>
            <a:r>
              <a:rPr sz="1000" spc="-15" dirty="0">
                <a:latin typeface="Arial"/>
                <a:cs typeface="Arial"/>
              </a:rPr>
              <a:t>timestamp</a:t>
            </a:r>
            <a:r>
              <a:rPr sz="1000" dirty="0">
                <a:latin typeface="Arial"/>
                <a:cs typeface="Arial"/>
              </a:rPr>
              <a:t> </a:t>
            </a:r>
            <a:r>
              <a:rPr sz="1000" spc="-15" dirty="0">
                <a:latin typeface="Arial"/>
                <a:cs typeface="Arial"/>
              </a:rPr>
              <a:t>and</a:t>
            </a:r>
            <a:endParaRPr sz="1000">
              <a:latin typeface="Arial"/>
              <a:cs typeface="Arial"/>
            </a:endParaRPr>
          </a:p>
        </p:txBody>
      </p:sp>
      <p:sp>
        <p:nvSpPr>
          <p:cNvPr id="6" name="object 6"/>
          <p:cNvSpPr txBox="1"/>
          <p:nvPr/>
        </p:nvSpPr>
        <p:spPr>
          <a:xfrm>
            <a:off x="431304" y="1339615"/>
            <a:ext cx="3275965" cy="481330"/>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tells</a:t>
            </a:r>
            <a:r>
              <a:rPr sz="1000" spc="-10" dirty="0">
                <a:latin typeface="Arial"/>
                <a:cs typeface="Arial"/>
              </a:rPr>
              <a:t> </a:t>
            </a:r>
            <a:r>
              <a:rPr sz="1000" i="1" spc="5" dirty="0">
                <a:latin typeface="Arial"/>
                <a:cs typeface="Arial"/>
              </a:rPr>
              <a:t>S</a:t>
            </a:r>
            <a:r>
              <a:rPr sz="1050" i="1" spc="7" baseline="-15873" dirty="0">
                <a:latin typeface="Arial"/>
                <a:cs typeface="Arial"/>
              </a:rPr>
              <a:t>2</a:t>
            </a:r>
            <a:r>
              <a:rPr sz="1050" i="1" spc="254" baseline="-15873" dirty="0">
                <a:latin typeface="Arial"/>
                <a:cs typeface="Arial"/>
              </a:rPr>
              <a:t> </a:t>
            </a:r>
            <a:r>
              <a:rPr sz="1000" spc="-5" dirty="0">
                <a:latin typeface="Arial"/>
                <a:cs typeface="Arial"/>
              </a:rPr>
              <a:t>that</a:t>
            </a:r>
            <a:r>
              <a:rPr sz="1000" spc="-10" dirty="0">
                <a:latin typeface="Arial"/>
                <a:cs typeface="Arial"/>
              </a:rPr>
              <a:t> </a:t>
            </a:r>
            <a:r>
              <a:rPr sz="1000" spc="-5" dirty="0">
                <a:latin typeface="Arial"/>
                <a:cs typeface="Arial"/>
              </a:rPr>
              <a:t>it missed</a:t>
            </a:r>
            <a:r>
              <a:rPr sz="1000" spc="-10" dirty="0">
                <a:latin typeface="Arial"/>
                <a:cs typeface="Arial"/>
              </a:rPr>
              <a:t> </a:t>
            </a:r>
            <a:r>
              <a:rPr sz="1000" i="1" spc="25" dirty="0">
                <a:latin typeface="Arial"/>
                <a:cs typeface="Arial"/>
              </a:rPr>
              <a:t>o</a:t>
            </a:r>
            <a:r>
              <a:rPr sz="1050" i="1" spc="37" baseline="27777" dirty="0">
                <a:latin typeface="Arial"/>
                <a:cs typeface="Arial"/>
              </a:rPr>
              <a:t>1</a:t>
            </a:r>
            <a:r>
              <a:rPr sz="1000" spc="25" dirty="0">
                <a:latin typeface="Arial"/>
                <a:cs typeface="Arial"/>
              </a:rPr>
              <a:t>.</a:t>
            </a:r>
            <a:endParaRPr sz="1000">
              <a:latin typeface="Arial"/>
              <a:cs typeface="Arial"/>
            </a:endParaRPr>
          </a:p>
          <a:p>
            <a:pPr marL="205740" indent="-168275">
              <a:lnSpc>
                <a:spcPct val="100000"/>
              </a:lnSpc>
              <a:spcBef>
                <a:spcPts val="590"/>
              </a:spcBef>
              <a:buClr>
                <a:srgbClr val="3333B2"/>
              </a:buClr>
              <a:buFont typeface="Arial"/>
              <a:buChar char="►"/>
              <a:tabLst>
                <a:tab pos="206375" algn="l"/>
              </a:tabLst>
            </a:pPr>
            <a:r>
              <a:rPr sz="1000" i="1" spc="-5" dirty="0">
                <a:latin typeface="Arial"/>
                <a:cs typeface="Arial"/>
              </a:rPr>
              <a:t>S</a:t>
            </a:r>
            <a:r>
              <a:rPr sz="1050" i="1" spc="30" baseline="-15873" dirty="0">
                <a:latin typeface="Arial"/>
                <a:cs typeface="Arial"/>
              </a:rPr>
              <a:t>2</a:t>
            </a:r>
            <a:r>
              <a:rPr sz="1050" i="1" baseline="-15873" dirty="0">
                <a:latin typeface="Arial"/>
                <a:cs typeface="Arial"/>
              </a:rPr>
              <a:t> </a:t>
            </a:r>
            <a:r>
              <a:rPr sz="1050" i="1" spc="-30" baseline="-15873" dirty="0">
                <a:latin typeface="Arial"/>
                <a:cs typeface="Arial"/>
              </a:rPr>
              <a:t> </a:t>
            </a:r>
            <a:r>
              <a:rPr sz="1000" spc="-5" dirty="0">
                <a:latin typeface="Arial"/>
                <a:cs typeface="Arial"/>
              </a:rPr>
              <a:t>ret</a:t>
            </a:r>
            <a:r>
              <a:rPr sz="1000" spc="-15" dirty="0">
                <a:latin typeface="Arial"/>
                <a:cs typeface="Arial"/>
              </a:rPr>
              <a:t>r</a:t>
            </a:r>
            <a:r>
              <a:rPr sz="1000" spc="-5" dirty="0">
                <a:latin typeface="Arial"/>
                <a:cs typeface="Arial"/>
              </a:rPr>
              <a:t>ansmits</a:t>
            </a:r>
            <a:r>
              <a:rPr sz="1000" spc="20" dirty="0">
                <a:latin typeface="Arial"/>
                <a:cs typeface="Arial"/>
              </a:rPr>
              <a:t> </a:t>
            </a:r>
            <a:r>
              <a:rPr sz="800" spc="20" dirty="0">
                <a:latin typeface="Arial"/>
                <a:cs typeface="Arial"/>
              </a:rPr>
              <a:t>A</a:t>
            </a:r>
            <a:r>
              <a:rPr sz="800" spc="40" dirty="0">
                <a:latin typeface="Arial"/>
                <a:cs typeface="Arial"/>
              </a:rPr>
              <a:t>CCEP</a:t>
            </a:r>
            <a:r>
              <a:rPr sz="800" spc="15" dirty="0">
                <a:latin typeface="Arial"/>
                <a:cs typeface="Arial"/>
              </a:rPr>
              <a:t>T</a:t>
            </a:r>
            <a:r>
              <a:rPr sz="1000" spc="50" dirty="0">
                <a:latin typeface="Arial"/>
                <a:cs typeface="Arial"/>
              </a:rPr>
              <a:t>(</a:t>
            </a:r>
            <a:r>
              <a:rPr sz="1000" i="1" spc="20" dirty="0">
                <a:latin typeface="Arial"/>
                <a:cs typeface="Arial"/>
              </a:rPr>
              <a:t>o</a:t>
            </a:r>
            <a:r>
              <a:rPr sz="1050" i="1" spc="97" baseline="27777" dirty="0">
                <a:latin typeface="Arial"/>
                <a:cs typeface="Arial"/>
              </a:rPr>
              <a:t>1</a:t>
            </a:r>
            <a:r>
              <a:rPr sz="1000" i="1" spc="-5" dirty="0">
                <a:latin typeface="Arial"/>
                <a:cs typeface="Arial"/>
              </a:rPr>
              <a:t>,</a:t>
            </a:r>
            <a:r>
              <a:rPr sz="1000" i="1" spc="-170" dirty="0">
                <a:latin typeface="Arial"/>
                <a:cs typeface="Arial"/>
              </a:rPr>
              <a:t> </a:t>
            </a:r>
            <a:r>
              <a:rPr sz="1000" spc="-5" dirty="0">
                <a:latin typeface="Arial"/>
                <a:cs typeface="Arial"/>
              </a:rPr>
              <a:t>1</a:t>
            </a:r>
            <a:r>
              <a:rPr sz="1000" spc="50" dirty="0">
                <a:latin typeface="Arial"/>
                <a:cs typeface="Arial"/>
              </a:rPr>
              <a:t>)</a:t>
            </a:r>
            <a:r>
              <a:rPr sz="1000" spc="-5" dirty="0">
                <a:latin typeface="Arial"/>
                <a:cs typeface="Arial"/>
              </a:rPr>
              <a:t>, all</a:t>
            </a:r>
            <a:r>
              <a:rPr sz="1000" spc="-20" dirty="0">
                <a:latin typeface="Arial"/>
                <a:cs typeface="Arial"/>
              </a:rPr>
              <a:t>o</a:t>
            </a:r>
            <a:r>
              <a:rPr sz="1000" spc="-5" dirty="0">
                <a:latin typeface="Arial"/>
                <a:cs typeface="Arial"/>
              </a:rPr>
              <a:t>wing </a:t>
            </a:r>
            <a:r>
              <a:rPr sz="1000" i="1" spc="-5" dirty="0">
                <a:latin typeface="Arial"/>
                <a:cs typeface="Arial"/>
              </a:rPr>
              <a:t>S</a:t>
            </a:r>
            <a:r>
              <a:rPr sz="1050" i="1" spc="30" baseline="-15873" dirty="0">
                <a:latin typeface="Arial"/>
                <a:cs typeface="Arial"/>
              </a:rPr>
              <a:t>3</a:t>
            </a:r>
            <a:r>
              <a:rPr sz="1050" i="1" baseline="-15873" dirty="0">
                <a:latin typeface="Arial"/>
                <a:cs typeface="Arial"/>
              </a:rPr>
              <a:t> </a:t>
            </a:r>
            <a:r>
              <a:rPr sz="1050" i="1" spc="-37" baseline="-15873" dirty="0">
                <a:latin typeface="Arial"/>
                <a:cs typeface="Arial"/>
              </a:rPr>
              <a:t> </a:t>
            </a:r>
            <a:r>
              <a:rPr sz="1000" spc="-5" dirty="0">
                <a:latin typeface="Arial"/>
                <a:cs typeface="Arial"/>
              </a:rPr>
              <a:t>to catch u</a:t>
            </a:r>
            <a:r>
              <a:rPr sz="1000" spc="-40" dirty="0">
                <a:latin typeface="Arial"/>
                <a:cs typeface="Arial"/>
              </a:rPr>
              <a:t>p</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Understanding</a:t>
            </a:r>
            <a:r>
              <a:rPr sz="600" spc="-25" dirty="0">
                <a:solidFill>
                  <a:srgbClr val="3333B2"/>
                </a:solidFill>
                <a:latin typeface="Arial"/>
                <a:cs typeface="Arial"/>
                <a:hlinkClick r:id="rId3" action="ppaction://hlinksldjump"/>
              </a:rPr>
              <a:t> </a:t>
            </a:r>
            <a:r>
              <a:rPr sz="600" spc="-10" dirty="0">
                <a:solidFill>
                  <a:srgbClr val="3333B2"/>
                </a:solidFill>
                <a:latin typeface="Arial"/>
                <a:cs typeface="Arial"/>
                <a:hlinkClick r:id="rId3" action="ppaction://hlinksldjump"/>
              </a:rPr>
              <a:t>Paxos</a:t>
            </a:r>
            <a:endParaRPr sz="600">
              <a:latin typeface="Arial"/>
              <a:cs typeface="Arial"/>
            </a:endParaRPr>
          </a:p>
        </p:txBody>
      </p:sp>
      <p:sp>
        <p:nvSpPr>
          <p:cNvPr id="9" name="object 9"/>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41313" y="0"/>
            <a:ext cx="3409315" cy="772795"/>
          </a:xfrm>
          <a:prstGeom prst="rect">
            <a:avLst/>
          </a:prstGeom>
        </p:spPr>
        <p:txBody>
          <a:bodyPr vert="horz" wrap="square" lIns="0" tIns="52705" rIns="0" bIns="0" rtlCol="0">
            <a:spAutoFit/>
          </a:bodyPr>
          <a:lstStyle/>
          <a:p>
            <a:pPr marL="38100">
              <a:lnSpc>
                <a:spcPct val="100000"/>
              </a:lnSpc>
              <a:spcBef>
                <a:spcPts val="41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a:p>
            <a:pPr>
              <a:lnSpc>
                <a:spcPct val="100000"/>
              </a:lnSpc>
              <a:spcBef>
                <a:spcPts val="50"/>
              </a:spcBef>
            </a:pPr>
            <a:endParaRPr sz="650">
              <a:latin typeface="Arial"/>
              <a:cs typeface="Arial"/>
            </a:endParaRPr>
          </a:p>
          <a:p>
            <a:pPr marL="66675">
              <a:lnSpc>
                <a:spcPct val="100000"/>
              </a:lnSpc>
            </a:pPr>
            <a:r>
              <a:rPr sz="1400" spc="15" dirty="0">
                <a:solidFill>
                  <a:srgbClr val="3333B2"/>
                </a:solidFill>
                <a:latin typeface="Arial"/>
                <a:cs typeface="Arial"/>
              </a:rPr>
              <a:t>Leader</a:t>
            </a:r>
            <a:r>
              <a:rPr sz="1400" spc="-5" dirty="0">
                <a:solidFill>
                  <a:srgbClr val="3333B2"/>
                </a:solidFill>
                <a:latin typeface="Arial"/>
                <a:cs typeface="Arial"/>
              </a:rPr>
              <a:t> </a:t>
            </a:r>
            <a:r>
              <a:rPr sz="1400" spc="15" dirty="0">
                <a:solidFill>
                  <a:srgbClr val="3333B2"/>
                </a:solidFill>
                <a:latin typeface="Arial"/>
                <a:cs typeface="Arial"/>
              </a:rPr>
              <a:t>crashes</a:t>
            </a:r>
            <a:r>
              <a:rPr sz="1400" spc="-5" dirty="0">
                <a:solidFill>
                  <a:srgbClr val="3333B2"/>
                </a:solidFill>
                <a:latin typeface="Arial"/>
                <a:cs typeface="Arial"/>
              </a:rPr>
              <a:t> </a:t>
            </a:r>
            <a:r>
              <a:rPr sz="1400" spc="10" dirty="0">
                <a:solidFill>
                  <a:srgbClr val="3333B2"/>
                </a:solidFill>
                <a:latin typeface="Arial"/>
                <a:cs typeface="Arial"/>
              </a:rPr>
              <a:t>after</a:t>
            </a:r>
            <a:r>
              <a:rPr sz="1400" spc="-5" dirty="0">
                <a:solidFill>
                  <a:srgbClr val="3333B2"/>
                </a:solidFill>
                <a:latin typeface="Arial"/>
                <a:cs typeface="Arial"/>
              </a:rPr>
              <a:t> </a:t>
            </a:r>
            <a:r>
              <a:rPr sz="1400" spc="5" dirty="0">
                <a:solidFill>
                  <a:srgbClr val="3333B2"/>
                </a:solidFill>
                <a:latin typeface="Arial"/>
                <a:cs typeface="Arial"/>
              </a:rPr>
              <a:t>executing</a:t>
            </a:r>
            <a:r>
              <a:rPr sz="1400" spc="-5" dirty="0">
                <a:solidFill>
                  <a:srgbClr val="3333B2"/>
                </a:solidFill>
                <a:latin typeface="Arial"/>
                <a:cs typeface="Arial"/>
              </a:rPr>
              <a:t> </a:t>
            </a:r>
            <a:r>
              <a:rPr sz="1400" i="1" spc="25" dirty="0">
                <a:solidFill>
                  <a:srgbClr val="3333B2"/>
                </a:solidFill>
                <a:latin typeface="Arial"/>
                <a:cs typeface="Arial"/>
              </a:rPr>
              <a:t>o</a:t>
            </a:r>
            <a:r>
              <a:rPr sz="1650" i="1" spc="37" baseline="25252" dirty="0">
                <a:solidFill>
                  <a:srgbClr val="3333B2"/>
                </a:solidFill>
                <a:latin typeface="Arial"/>
                <a:cs typeface="Arial"/>
              </a:rPr>
              <a:t>1</a:t>
            </a:r>
            <a:endParaRPr sz="1650" baseline="25252">
              <a:latin typeface="Arial"/>
              <a:cs typeface="Arial"/>
            </a:endParaRPr>
          </a:p>
          <a:p>
            <a:pPr marL="318135">
              <a:lnSpc>
                <a:spcPct val="100000"/>
              </a:lnSpc>
              <a:spcBef>
                <a:spcPts val="930"/>
              </a:spcBef>
            </a:pPr>
            <a:r>
              <a:rPr sz="1200" i="1" spc="-5" dirty="0">
                <a:solidFill>
                  <a:srgbClr val="3333B2"/>
                </a:solidFill>
                <a:latin typeface="Arial"/>
                <a:cs typeface="Arial"/>
              </a:rPr>
              <a:t>S</a:t>
            </a:r>
            <a:r>
              <a:rPr sz="1350" i="1" spc="-7" baseline="-12345" dirty="0">
                <a:solidFill>
                  <a:srgbClr val="3333B2"/>
                </a:solidFill>
                <a:latin typeface="Arial"/>
                <a:cs typeface="Arial"/>
              </a:rPr>
              <a:t>3</a:t>
            </a:r>
            <a:r>
              <a:rPr sz="1350" i="1" spc="262" baseline="-12345" dirty="0">
                <a:solidFill>
                  <a:srgbClr val="3333B2"/>
                </a:solidFill>
                <a:latin typeface="Arial"/>
                <a:cs typeface="Arial"/>
              </a:rPr>
              <a:t> </a:t>
            </a:r>
            <a:r>
              <a:rPr sz="1200" spc="-5" dirty="0">
                <a:solidFill>
                  <a:srgbClr val="3333B2"/>
                </a:solidFill>
                <a:latin typeface="Arial"/>
                <a:cs typeface="Arial"/>
              </a:rPr>
              <a:t>is completely ignorant</a:t>
            </a:r>
            <a:r>
              <a:rPr sz="1200" spc="-10" dirty="0">
                <a:solidFill>
                  <a:srgbClr val="3333B2"/>
                </a:solidFill>
                <a:latin typeface="Arial"/>
                <a:cs typeface="Arial"/>
              </a:rPr>
              <a:t> </a:t>
            </a:r>
            <a:r>
              <a:rPr sz="1200" spc="-5" dirty="0">
                <a:solidFill>
                  <a:srgbClr val="3333B2"/>
                </a:solidFill>
                <a:latin typeface="Arial"/>
                <a:cs typeface="Arial"/>
              </a:rPr>
              <a:t>of </a:t>
            </a:r>
            <a:r>
              <a:rPr sz="1200" spc="-10" dirty="0">
                <a:solidFill>
                  <a:srgbClr val="3333B2"/>
                </a:solidFill>
                <a:latin typeface="Arial"/>
                <a:cs typeface="Arial"/>
              </a:rPr>
              <a:t>any</a:t>
            </a:r>
            <a:r>
              <a:rPr sz="1200" spc="-5" dirty="0">
                <a:solidFill>
                  <a:srgbClr val="3333B2"/>
                </a:solidFill>
                <a:latin typeface="Arial"/>
                <a:cs typeface="Arial"/>
              </a:rPr>
              <a:t> activity</a:t>
            </a:r>
            <a:r>
              <a:rPr sz="1200" spc="-10" dirty="0">
                <a:solidFill>
                  <a:srgbClr val="3333B2"/>
                </a:solidFill>
                <a:latin typeface="Arial"/>
                <a:cs typeface="Arial"/>
              </a:rPr>
              <a:t> </a:t>
            </a:r>
            <a:r>
              <a:rPr sz="1200" spc="-15" dirty="0">
                <a:solidFill>
                  <a:srgbClr val="3333B2"/>
                </a:solidFill>
                <a:latin typeface="Arial"/>
                <a:cs typeface="Arial"/>
              </a:rPr>
              <a:t>by</a:t>
            </a:r>
            <a:r>
              <a:rPr sz="1200" spc="-5" dirty="0">
                <a:solidFill>
                  <a:srgbClr val="3333B2"/>
                </a:solidFill>
                <a:latin typeface="Arial"/>
                <a:cs typeface="Arial"/>
              </a:rPr>
              <a:t> </a:t>
            </a:r>
            <a:r>
              <a:rPr sz="1200" i="1" spc="-5" dirty="0">
                <a:solidFill>
                  <a:srgbClr val="3333B2"/>
                </a:solidFill>
                <a:latin typeface="Arial"/>
                <a:cs typeface="Arial"/>
              </a:rPr>
              <a:t>S</a:t>
            </a:r>
            <a:r>
              <a:rPr sz="1350" i="1" spc="-7" baseline="-12345" dirty="0">
                <a:solidFill>
                  <a:srgbClr val="3333B2"/>
                </a:solidFill>
                <a:latin typeface="Arial"/>
                <a:cs typeface="Arial"/>
              </a:rPr>
              <a:t>1</a:t>
            </a:r>
            <a:endParaRPr sz="1350" baseline="-12345">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Example:</a:t>
            </a:r>
            <a:r>
              <a:rPr sz="600" dirty="0">
                <a:solidFill>
                  <a:srgbClr val="262685"/>
                </a:solidFill>
                <a:latin typeface="Arial"/>
                <a:cs typeface="Arial"/>
                <a:hlinkClick r:id="rId6" action="ppaction://hlinksldjump"/>
              </a:rPr>
              <a:t> </a:t>
            </a:r>
            <a:r>
              <a:rPr sz="600" spc="-10" dirty="0">
                <a:solidFill>
                  <a:srgbClr val="262685"/>
                </a:solidFill>
                <a:latin typeface="Arial"/>
                <a:cs typeface="Arial"/>
                <a:hlinkClick r:id="rId6" action="ppaction://hlinksldjump"/>
              </a:rPr>
              <a:t>Paxos</a:t>
            </a:r>
            <a:endParaRPr sz="600">
              <a:latin typeface="Arial"/>
              <a:cs typeface="Arial"/>
            </a:endParaRPr>
          </a:p>
        </p:txBody>
      </p:sp>
      <p:sp>
        <p:nvSpPr>
          <p:cNvPr id="4" name="object 4"/>
          <p:cNvSpPr txBox="1"/>
          <p:nvPr/>
        </p:nvSpPr>
        <p:spPr>
          <a:xfrm>
            <a:off x="431304" y="732288"/>
            <a:ext cx="3742054" cy="481330"/>
          </a:xfrm>
          <a:prstGeom prst="rect">
            <a:avLst/>
          </a:prstGeom>
        </p:spPr>
        <p:txBody>
          <a:bodyPr vert="horz" wrap="square" lIns="0" tIns="88265" rIns="0" bIns="0" rtlCol="0">
            <a:spAutoFit/>
          </a:bodyPr>
          <a:lstStyle/>
          <a:p>
            <a:pPr marL="205740" indent="-168275">
              <a:lnSpc>
                <a:spcPct val="100000"/>
              </a:lnSpc>
              <a:spcBef>
                <a:spcPts val="695"/>
              </a:spcBef>
              <a:buClr>
                <a:srgbClr val="3333B2"/>
              </a:buClr>
              <a:buFont typeface="Arial"/>
              <a:buChar char="►"/>
              <a:tabLst>
                <a:tab pos="206375" algn="l"/>
              </a:tabLst>
            </a:pPr>
            <a:r>
              <a:rPr sz="1000" i="1" spc="-5" dirty="0">
                <a:latin typeface="Arial"/>
                <a:cs typeface="Arial"/>
              </a:rPr>
              <a:t>S</a:t>
            </a:r>
            <a:r>
              <a:rPr sz="1050" i="1" spc="30" baseline="-15873" dirty="0">
                <a:latin typeface="Arial"/>
                <a:cs typeface="Arial"/>
              </a:rPr>
              <a:t>2</a:t>
            </a:r>
            <a:r>
              <a:rPr sz="1050" i="1" baseline="-15873" dirty="0">
                <a:latin typeface="Arial"/>
                <a:cs typeface="Arial"/>
              </a:rPr>
              <a:t> </a:t>
            </a:r>
            <a:r>
              <a:rPr sz="1050" i="1" spc="-30" baseline="-15873" dirty="0">
                <a:latin typeface="Arial"/>
                <a:cs typeface="Arial"/>
              </a:rPr>
              <a:t> </a:t>
            </a:r>
            <a:r>
              <a:rPr sz="1000" spc="-5" dirty="0">
                <a:latin typeface="Arial"/>
                <a:cs typeface="Arial"/>
              </a:rPr>
              <a:t>recei</a:t>
            </a:r>
            <a:r>
              <a:rPr sz="1000" spc="-30" dirty="0">
                <a:latin typeface="Arial"/>
                <a:cs typeface="Arial"/>
              </a:rPr>
              <a:t>v</a:t>
            </a:r>
            <a:r>
              <a:rPr sz="1000" spc="-5" dirty="0">
                <a:latin typeface="Arial"/>
                <a:cs typeface="Arial"/>
              </a:rPr>
              <a:t>ed</a:t>
            </a:r>
            <a:r>
              <a:rPr sz="1000" spc="20" dirty="0">
                <a:latin typeface="Arial"/>
                <a:cs typeface="Arial"/>
              </a:rPr>
              <a:t> </a:t>
            </a:r>
            <a:r>
              <a:rPr sz="800" spc="20" dirty="0">
                <a:latin typeface="Arial"/>
                <a:cs typeface="Arial"/>
              </a:rPr>
              <a:t>A</a:t>
            </a:r>
            <a:r>
              <a:rPr sz="800" spc="40" dirty="0">
                <a:latin typeface="Arial"/>
                <a:cs typeface="Arial"/>
              </a:rPr>
              <a:t>CCEP</a:t>
            </a:r>
            <a:r>
              <a:rPr sz="800" spc="15" dirty="0">
                <a:latin typeface="Arial"/>
                <a:cs typeface="Arial"/>
              </a:rPr>
              <a:t>T</a:t>
            </a:r>
            <a:r>
              <a:rPr sz="1000" spc="50" dirty="0">
                <a:latin typeface="Arial"/>
                <a:cs typeface="Arial"/>
              </a:rPr>
              <a:t>(</a:t>
            </a:r>
            <a:r>
              <a:rPr sz="1000" i="1" spc="20" dirty="0">
                <a:latin typeface="Arial"/>
                <a:cs typeface="Arial"/>
              </a:rPr>
              <a:t>o</a:t>
            </a:r>
            <a:r>
              <a:rPr sz="1000" i="1" spc="-5" dirty="0">
                <a:latin typeface="Arial"/>
                <a:cs typeface="Arial"/>
              </a:rPr>
              <a:t>,</a:t>
            </a:r>
            <a:r>
              <a:rPr sz="1000" i="1" spc="-170" dirty="0">
                <a:latin typeface="Arial"/>
                <a:cs typeface="Arial"/>
              </a:rPr>
              <a:t> </a:t>
            </a:r>
            <a:r>
              <a:rPr sz="1000" spc="-5" dirty="0">
                <a:latin typeface="Arial"/>
                <a:cs typeface="Arial"/>
              </a:rPr>
              <a:t>1</a:t>
            </a:r>
            <a:r>
              <a:rPr sz="1000" spc="50" dirty="0">
                <a:latin typeface="Arial"/>
                <a:cs typeface="Arial"/>
              </a:rPr>
              <a:t>)</a:t>
            </a:r>
            <a:r>
              <a:rPr sz="1000" spc="-5" dirty="0">
                <a:latin typeface="Arial"/>
                <a:cs typeface="Arial"/>
              </a:rPr>
              <a:t>, detects c</a:t>
            </a:r>
            <a:r>
              <a:rPr sz="1000" spc="-15" dirty="0">
                <a:latin typeface="Arial"/>
                <a:cs typeface="Arial"/>
              </a:rPr>
              <a:t>r</a:t>
            </a:r>
            <a:r>
              <a:rPr sz="1000" spc="-5" dirty="0">
                <a:latin typeface="Arial"/>
                <a:cs typeface="Arial"/>
              </a:rPr>
              <a:t>ash, and becomes leade</a:t>
            </a:r>
            <a:r>
              <a:rPr sz="1000" spc="-55" dirty="0">
                <a:latin typeface="Arial"/>
                <a:cs typeface="Arial"/>
              </a:rPr>
              <a:t>r</a:t>
            </a:r>
            <a:r>
              <a:rPr sz="1000" spc="-5" dirty="0">
                <a:latin typeface="Arial"/>
                <a:cs typeface="Arial"/>
              </a:rPr>
              <a:t>.</a:t>
            </a:r>
            <a:endParaRPr sz="1000">
              <a:latin typeface="Arial"/>
              <a:cs typeface="Arial"/>
            </a:endParaRPr>
          </a:p>
          <a:p>
            <a:pPr marL="205740" indent="-168275">
              <a:lnSpc>
                <a:spcPct val="100000"/>
              </a:lnSpc>
              <a:spcBef>
                <a:spcPts val="590"/>
              </a:spcBef>
              <a:buClr>
                <a:srgbClr val="3333B2"/>
              </a:buClr>
              <a:buFont typeface="Arial"/>
              <a:buChar char="►"/>
              <a:tabLst>
                <a:tab pos="206375" algn="l"/>
              </a:tabLst>
            </a:pPr>
            <a:r>
              <a:rPr sz="1000" i="1" spc="-5" dirty="0">
                <a:latin typeface="Arial"/>
                <a:cs typeface="Arial"/>
              </a:rPr>
              <a:t>S</a:t>
            </a:r>
            <a:r>
              <a:rPr sz="1050" i="1" spc="30" baseline="-15873" dirty="0">
                <a:latin typeface="Arial"/>
                <a:cs typeface="Arial"/>
              </a:rPr>
              <a:t>3</a:t>
            </a:r>
            <a:r>
              <a:rPr sz="1050" i="1" baseline="-15873" dirty="0">
                <a:latin typeface="Arial"/>
                <a:cs typeface="Arial"/>
              </a:rPr>
              <a:t> </a:t>
            </a:r>
            <a:r>
              <a:rPr sz="1050" i="1" spc="-37" baseline="-15873" dirty="0">
                <a:latin typeface="Arial"/>
                <a:cs typeface="Arial"/>
              </a:rPr>
              <a:t> </a:t>
            </a:r>
            <a:r>
              <a:rPr sz="1000" spc="-35" dirty="0">
                <a:latin typeface="Arial"/>
                <a:cs typeface="Arial"/>
              </a:rPr>
              <a:t>e</a:t>
            </a:r>
            <a:r>
              <a:rPr sz="1000" spc="-30" dirty="0">
                <a:latin typeface="Arial"/>
                <a:cs typeface="Arial"/>
              </a:rPr>
              <a:t>v</a:t>
            </a:r>
            <a:r>
              <a:rPr sz="1000" spc="-5" dirty="0">
                <a:latin typeface="Arial"/>
                <a:cs typeface="Arial"/>
              </a:rPr>
              <a:t>en n</a:t>
            </a:r>
            <a:r>
              <a:rPr sz="1000" spc="-35" dirty="0">
                <a:latin typeface="Arial"/>
                <a:cs typeface="Arial"/>
              </a:rPr>
              <a:t>e</a:t>
            </a:r>
            <a:r>
              <a:rPr sz="1000" spc="-30" dirty="0">
                <a:latin typeface="Arial"/>
                <a:cs typeface="Arial"/>
              </a:rPr>
              <a:t>v</a:t>
            </a:r>
            <a:r>
              <a:rPr sz="1000" spc="-5" dirty="0">
                <a:latin typeface="Arial"/>
                <a:cs typeface="Arial"/>
              </a:rPr>
              <a:t>er recei</a:t>
            </a:r>
            <a:r>
              <a:rPr sz="1000" spc="-30" dirty="0">
                <a:latin typeface="Arial"/>
                <a:cs typeface="Arial"/>
              </a:rPr>
              <a:t>v</a:t>
            </a:r>
            <a:r>
              <a:rPr sz="1000" spc="-5" dirty="0">
                <a:latin typeface="Arial"/>
                <a:cs typeface="Arial"/>
              </a:rPr>
              <a:t>ed</a:t>
            </a:r>
            <a:r>
              <a:rPr sz="1000" spc="20" dirty="0">
                <a:latin typeface="Arial"/>
                <a:cs typeface="Arial"/>
              </a:rPr>
              <a:t> </a:t>
            </a:r>
            <a:r>
              <a:rPr sz="800" spc="20" dirty="0">
                <a:latin typeface="Arial"/>
                <a:cs typeface="Arial"/>
              </a:rPr>
              <a:t>A</a:t>
            </a:r>
            <a:r>
              <a:rPr sz="800" spc="40" dirty="0">
                <a:latin typeface="Arial"/>
                <a:cs typeface="Arial"/>
              </a:rPr>
              <a:t>CCEP</a:t>
            </a:r>
            <a:r>
              <a:rPr sz="800" spc="15" dirty="0">
                <a:latin typeface="Arial"/>
                <a:cs typeface="Arial"/>
              </a:rPr>
              <a:t>T</a:t>
            </a:r>
            <a:r>
              <a:rPr sz="1000" spc="50" dirty="0">
                <a:latin typeface="Arial"/>
                <a:cs typeface="Arial"/>
              </a:rPr>
              <a:t>(</a:t>
            </a:r>
            <a:r>
              <a:rPr sz="1000" i="1" spc="20" dirty="0">
                <a:latin typeface="Arial"/>
                <a:cs typeface="Arial"/>
              </a:rPr>
              <a:t>o</a:t>
            </a:r>
            <a:r>
              <a:rPr sz="1000" i="1" spc="-5" dirty="0">
                <a:latin typeface="Arial"/>
                <a:cs typeface="Arial"/>
              </a:rPr>
              <a:t>,</a:t>
            </a:r>
            <a:r>
              <a:rPr sz="1000" i="1" spc="-170" dirty="0">
                <a:latin typeface="Arial"/>
                <a:cs typeface="Arial"/>
              </a:rPr>
              <a:t> </a:t>
            </a:r>
            <a:r>
              <a:rPr sz="1000" spc="-5" dirty="0">
                <a:latin typeface="Arial"/>
                <a:cs typeface="Arial"/>
              </a:rPr>
              <a:t>1</a:t>
            </a:r>
            <a:r>
              <a:rPr sz="1000" spc="50" dirty="0">
                <a:latin typeface="Arial"/>
                <a:cs typeface="Arial"/>
              </a:rPr>
              <a:t>)</a:t>
            </a:r>
            <a:r>
              <a:rPr sz="1000" spc="-5" dirty="0">
                <a:latin typeface="Arial"/>
                <a:cs typeface="Arial"/>
              </a:rPr>
              <a:t>.</a:t>
            </a:r>
            <a:endParaRPr sz="1000">
              <a:latin typeface="Arial"/>
              <a:cs typeface="Arial"/>
            </a:endParaRPr>
          </a:p>
        </p:txBody>
      </p:sp>
      <p:sp>
        <p:nvSpPr>
          <p:cNvPr id="5" name="object 5"/>
          <p:cNvSpPr txBox="1"/>
          <p:nvPr/>
        </p:nvSpPr>
        <p:spPr>
          <a:xfrm>
            <a:off x="431304" y="1263706"/>
            <a:ext cx="3855085" cy="177800"/>
          </a:xfrm>
          <a:prstGeom prst="rect">
            <a:avLst/>
          </a:prstGeom>
        </p:spPr>
        <p:txBody>
          <a:bodyPr vert="horz" wrap="square" lIns="0" tIns="12065" rIns="0" bIns="0" rtlCol="0">
            <a:spAutoFit/>
          </a:bodyPr>
          <a:lstStyle/>
          <a:p>
            <a:pPr marL="205740" indent="-168275">
              <a:lnSpc>
                <a:spcPct val="100000"/>
              </a:lnSpc>
              <a:spcBef>
                <a:spcPts val="95"/>
              </a:spcBef>
              <a:buClr>
                <a:srgbClr val="3333B2"/>
              </a:buClr>
              <a:buChar char="►"/>
              <a:tabLst>
                <a:tab pos="206375" algn="l"/>
              </a:tabLst>
            </a:pPr>
            <a:r>
              <a:rPr sz="1000" spc="-10" dirty="0">
                <a:latin typeface="Arial"/>
                <a:cs typeface="Arial"/>
              </a:rPr>
              <a:t>If</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277" baseline="-15873" dirty="0">
                <a:latin typeface="Arial"/>
                <a:cs typeface="Arial"/>
              </a:rPr>
              <a:t> </a:t>
            </a:r>
            <a:r>
              <a:rPr sz="1000" spc="-15" dirty="0">
                <a:latin typeface="Arial"/>
                <a:cs typeface="Arial"/>
              </a:rPr>
              <a:t>sends</a:t>
            </a:r>
            <a:r>
              <a:rPr sz="1000" spc="25" dirty="0">
                <a:latin typeface="Arial"/>
                <a:cs typeface="Arial"/>
              </a:rPr>
              <a:t> </a:t>
            </a:r>
            <a:r>
              <a:rPr sz="800" spc="30" dirty="0">
                <a:latin typeface="Arial"/>
                <a:cs typeface="Arial"/>
              </a:rPr>
              <a:t>ACCEPT</a:t>
            </a:r>
            <a:r>
              <a:rPr sz="1000" spc="30" dirty="0">
                <a:latin typeface="Arial"/>
                <a:cs typeface="Arial"/>
              </a:rPr>
              <a:t>(</a:t>
            </a:r>
            <a:r>
              <a:rPr sz="1000" i="1" spc="30" dirty="0">
                <a:latin typeface="Arial"/>
                <a:cs typeface="Arial"/>
              </a:rPr>
              <a:t>o</a:t>
            </a:r>
            <a:r>
              <a:rPr sz="1050" i="1" spc="44" baseline="27777" dirty="0">
                <a:latin typeface="Arial"/>
                <a:cs typeface="Arial"/>
              </a:rPr>
              <a:t>2</a:t>
            </a:r>
            <a:r>
              <a:rPr sz="1050" i="1" spc="-150" baseline="27777" dirty="0">
                <a:latin typeface="Arial"/>
                <a:cs typeface="Arial"/>
              </a:rPr>
              <a:t> </a:t>
            </a:r>
            <a:r>
              <a:rPr sz="1000" i="1" spc="-5" dirty="0">
                <a:latin typeface="Arial"/>
                <a:cs typeface="Arial"/>
              </a:rPr>
              <a:t>,</a:t>
            </a:r>
            <a:r>
              <a:rPr sz="1000" i="1" spc="-170" dirty="0">
                <a:latin typeface="Arial"/>
                <a:cs typeface="Arial"/>
              </a:rPr>
              <a:t> </a:t>
            </a:r>
            <a:r>
              <a:rPr sz="1000" spc="20" dirty="0">
                <a:latin typeface="Arial"/>
                <a:cs typeface="Arial"/>
              </a:rPr>
              <a:t>2)</a:t>
            </a:r>
            <a:r>
              <a:rPr sz="1000" spc="-55" dirty="0">
                <a:latin typeface="Arial"/>
                <a:cs typeface="Arial"/>
              </a:rPr>
              <a:t> </a:t>
            </a:r>
            <a:r>
              <a:rPr sz="1000" i="1" spc="-5" dirty="0">
                <a:latin typeface="メイリオ"/>
                <a:cs typeface="メイリオ"/>
              </a:rPr>
              <a:t>⇒</a:t>
            </a:r>
            <a:r>
              <a:rPr sz="1000" i="1" spc="-55" dirty="0">
                <a:latin typeface="メイリオ"/>
                <a:cs typeface="メイリオ"/>
              </a:rPr>
              <a:t> </a:t>
            </a:r>
            <a:r>
              <a:rPr sz="1000" i="1" spc="5" dirty="0">
                <a:latin typeface="Arial"/>
                <a:cs typeface="Arial"/>
              </a:rPr>
              <a:t>S</a:t>
            </a:r>
            <a:r>
              <a:rPr sz="1050" i="1" spc="7" baseline="-15873" dirty="0">
                <a:latin typeface="Arial"/>
                <a:cs typeface="Arial"/>
              </a:rPr>
              <a:t>3</a:t>
            </a:r>
            <a:r>
              <a:rPr sz="1050" i="1" spc="262" baseline="-15873" dirty="0">
                <a:latin typeface="Arial"/>
                <a:cs typeface="Arial"/>
              </a:rPr>
              <a:t> </a:t>
            </a:r>
            <a:r>
              <a:rPr sz="1000" spc="-15" dirty="0">
                <a:latin typeface="Arial"/>
                <a:cs typeface="Arial"/>
              </a:rPr>
              <a:t>sees</a:t>
            </a:r>
            <a:r>
              <a:rPr sz="1000" spc="5" dirty="0">
                <a:latin typeface="Arial"/>
                <a:cs typeface="Arial"/>
              </a:rPr>
              <a:t> </a:t>
            </a:r>
            <a:r>
              <a:rPr sz="1000" spc="-20" dirty="0">
                <a:latin typeface="Arial"/>
                <a:cs typeface="Arial"/>
              </a:rPr>
              <a:t>unexpected</a:t>
            </a:r>
            <a:r>
              <a:rPr sz="1000" dirty="0">
                <a:latin typeface="Arial"/>
                <a:cs typeface="Arial"/>
              </a:rPr>
              <a:t> </a:t>
            </a:r>
            <a:r>
              <a:rPr sz="1000" spc="-15" dirty="0">
                <a:latin typeface="Arial"/>
                <a:cs typeface="Arial"/>
              </a:rPr>
              <a:t>timestamp</a:t>
            </a:r>
            <a:r>
              <a:rPr sz="1000" dirty="0">
                <a:latin typeface="Arial"/>
                <a:cs typeface="Arial"/>
              </a:rPr>
              <a:t> </a:t>
            </a:r>
            <a:r>
              <a:rPr sz="1000" spc="-15" dirty="0">
                <a:latin typeface="Arial"/>
                <a:cs typeface="Arial"/>
              </a:rPr>
              <a:t>and</a:t>
            </a:r>
            <a:endParaRPr sz="1000">
              <a:latin typeface="Arial"/>
              <a:cs typeface="Arial"/>
            </a:endParaRPr>
          </a:p>
        </p:txBody>
      </p:sp>
      <p:sp>
        <p:nvSpPr>
          <p:cNvPr id="6" name="object 6"/>
          <p:cNvSpPr txBox="1"/>
          <p:nvPr/>
        </p:nvSpPr>
        <p:spPr>
          <a:xfrm>
            <a:off x="431304" y="1339615"/>
            <a:ext cx="3275965" cy="481330"/>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tells</a:t>
            </a:r>
            <a:r>
              <a:rPr sz="1000" spc="-10" dirty="0">
                <a:latin typeface="Arial"/>
                <a:cs typeface="Arial"/>
              </a:rPr>
              <a:t> </a:t>
            </a:r>
            <a:r>
              <a:rPr sz="1000" i="1" spc="5" dirty="0">
                <a:latin typeface="Arial"/>
                <a:cs typeface="Arial"/>
              </a:rPr>
              <a:t>S</a:t>
            </a:r>
            <a:r>
              <a:rPr sz="1050" i="1" spc="7" baseline="-15873" dirty="0">
                <a:latin typeface="Arial"/>
                <a:cs typeface="Arial"/>
              </a:rPr>
              <a:t>2</a:t>
            </a:r>
            <a:r>
              <a:rPr sz="1050" i="1" spc="254" baseline="-15873" dirty="0">
                <a:latin typeface="Arial"/>
                <a:cs typeface="Arial"/>
              </a:rPr>
              <a:t> </a:t>
            </a:r>
            <a:r>
              <a:rPr sz="1000" spc="-5" dirty="0">
                <a:latin typeface="Arial"/>
                <a:cs typeface="Arial"/>
              </a:rPr>
              <a:t>that</a:t>
            </a:r>
            <a:r>
              <a:rPr sz="1000" spc="-10" dirty="0">
                <a:latin typeface="Arial"/>
                <a:cs typeface="Arial"/>
              </a:rPr>
              <a:t> </a:t>
            </a:r>
            <a:r>
              <a:rPr sz="1000" spc="-5" dirty="0">
                <a:latin typeface="Arial"/>
                <a:cs typeface="Arial"/>
              </a:rPr>
              <a:t>it missed</a:t>
            </a:r>
            <a:r>
              <a:rPr sz="1000" spc="-10" dirty="0">
                <a:latin typeface="Arial"/>
                <a:cs typeface="Arial"/>
              </a:rPr>
              <a:t> </a:t>
            </a:r>
            <a:r>
              <a:rPr sz="1000" i="1" spc="25" dirty="0">
                <a:latin typeface="Arial"/>
                <a:cs typeface="Arial"/>
              </a:rPr>
              <a:t>o</a:t>
            </a:r>
            <a:r>
              <a:rPr sz="1050" i="1" spc="37" baseline="27777" dirty="0">
                <a:latin typeface="Arial"/>
                <a:cs typeface="Arial"/>
              </a:rPr>
              <a:t>1</a:t>
            </a:r>
            <a:r>
              <a:rPr sz="1000" spc="25" dirty="0">
                <a:latin typeface="Arial"/>
                <a:cs typeface="Arial"/>
              </a:rPr>
              <a:t>.</a:t>
            </a:r>
            <a:endParaRPr sz="1000">
              <a:latin typeface="Arial"/>
              <a:cs typeface="Arial"/>
            </a:endParaRPr>
          </a:p>
          <a:p>
            <a:pPr marL="205740" indent="-168275">
              <a:lnSpc>
                <a:spcPct val="100000"/>
              </a:lnSpc>
              <a:spcBef>
                <a:spcPts val="590"/>
              </a:spcBef>
              <a:buClr>
                <a:srgbClr val="3333B2"/>
              </a:buClr>
              <a:buFont typeface="Arial"/>
              <a:buChar char="►"/>
              <a:tabLst>
                <a:tab pos="206375" algn="l"/>
              </a:tabLst>
            </a:pPr>
            <a:r>
              <a:rPr sz="1000" i="1" spc="-5" dirty="0">
                <a:latin typeface="Arial"/>
                <a:cs typeface="Arial"/>
              </a:rPr>
              <a:t>S</a:t>
            </a:r>
            <a:r>
              <a:rPr sz="1050" i="1" spc="30" baseline="-15873" dirty="0">
                <a:latin typeface="Arial"/>
                <a:cs typeface="Arial"/>
              </a:rPr>
              <a:t>2</a:t>
            </a:r>
            <a:r>
              <a:rPr sz="1050" i="1" baseline="-15873" dirty="0">
                <a:latin typeface="Arial"/>
                <a:cs typeface="Arial"/>
              </a:rPr>
              <a:t> </a:t>
            </a:r>
            <a:r>
              <a:rPr sz="1050" i="1" spc="-30" baseline="-15873" dirty="0">
                <a:latin typeface="Arial"/>
                <a:cs typeface="Arial"/>
              </a:rPr>
              <a:t> </a:t>
            </a:r>
            <a:r>
              <a:rPr sz="1000" spc="-5" dirty="0">
                <a:latin typeface="Arial"/>
                <a:cs typeface="Arial"/>
              </a:rPr>
              <a:t>ret</a:t>
            </a:r>
            <a:r>
              <a:rPr sz="1000" spc="-15" dirty="0">
                <a:latin typeface="Arial"/>
                <a:cs typeface="Arial"/>
              </a:rPr>
              <a:t>r</a:t>
            </a:r>
            <a:r>
              <a:rPr sz="1000" spc="-5" dirty="0">
                <a:latin typeface="Arial"/>
                <a:cs typeface="Arial"/>
              </a:rPr>
              <a:t>ansmits</a:t>
            </a:r>
            <a:r>
              <a:rPr sz="1000" spc="20" dirty="0">
                <a:latin typeface="Arial"/>
                <a:cs typeface="Arial"/>
              </a:rPr>
              <a:t> </a:t>
            </a:r>
            <a:r>
              <a:rPr sz="800" spc="20" dirty="0">
                <a:latin typeface="Arial"/>
                <a:cs typeface="Arial"/>
              </a:rPr>
              <a:t>A</a:t>
            </a:r>
            <a:r>
              <a:rPr sz="800" spc="40" dirty="0">
                <a:latin typeface="Arial"/>
                <a:cs typeface="Arial"/>
              </a:rPr>
              <a:t>CCEP</a:t>
            </a:r>
            <a:r>
              <a:rPr sz="800" spc="15" dirty="0">
                <a:latin typeface="Arial"/>
                <a:cs typeface="Arial"/>
              </a:rPr>
              <a:t>T</a:t>
            </a:r>
            <a:r>
              <a:rPr sz="1000" spc="50" dirty="0">
                <a:latin typeface="Arial"/>
                <a:cs typeface="Arial"/>
              </a:rPr>
              <a:t>(</a:t>
            </a:r>
            <a:r>
              <a:rPr sz="1000" i="1" spc="20" dirty="0">
                <a:latin typeface="Arial"/>
                <a:cs typeface="Arial"/>
              </a:rPr>
              <a:t>o</a:t>
            </a:r>
            <a:r>
              <a:rPr sz="1050" i="1" spc="97" baseline="27777" dirty="0">
                <a:latin typeface="Arial"/>
                <a:cs typeface="Arial"/>
              </a:rPr>
              <a:t>1</a:t>
            </a:r>
            <a:r>
              <a:rPr sz="1000" i="1" spc="-5" dirty="0">
                <a:latin typeface="Arial"/>
                <a:cs typeface="Arial"/>
              </a:rPr>
              <a:t>,</a:t>
            </a:r>
            <a:r>
              <a:rPr sz="1000" i="1" spc="-170" dirty="0">
                <a:latin typeface="Arial"/>
                <a:cs typeface="Arial"/>
              </a:rPr>
              <a:t> </a:t>
            </a:r>
            <a:r>
              <a:rPr sz="1000" spc="-5" dirty="0">
                <a:latin typeface="Arial"/>
                <a:cs typeface="Arial"/>
              </a:rPr>
              <a:t>1</a:t>
            </a:r>
            <a:r>
              <a:rPr sz="1000" spc="50" dirty="0">
                <a:latin typeface="Arial"/>
                <a:cs typeface="Arial"/>
              </a:rPr>
              <a:t>)</a:t>
            </a:r>
            <a:r>
              <a:rPr sz="1000" spc="-5" dirty="0">
                <a:latin typeface="Arial"/>
                <a:cs typeface="Arial"/>
              </a:rPr>
              <a:t>, all</a:t>
            </a:r>
            <a:r>
              <a:rPr sz="1000" spc="-20" dirty="0">
                <a:latin typeface="Arial"/>
                <a:cs typeface="Arial"/>
              </a:rPr>
              <a:t>o</a:t>
            </a:r>
            <a:r>
              <a:rPr sz="1000" spc="-5" dirty="0">
                <a:latin typeface="Arial"/>
                <a:cs typeface="Arial"/>
              </a:rPr>
              <a:t>wing </a:t>
            </a:r>
            <a:r>
              <a:rPr sz="1000" i="1" spc="-5" dirty="0">
                <a:latin typeface="Arial"/>
                <a:cs typeface="Arial"/>
              </a:rPr>
              <a:t>S</a:t>
            </a:r>
            <a:r>
              <a:rPr sz="1050" i="1" spc="30" baseline="-15873" dirty="0">
                <a:latin typeface="Arial"/>
                <a:cs typeface="Arial"/>
              </a:rPr>
              <a:t>3</a:t>
            </a:r>
            <a:r>
              <a:rPr sz="1050" i="1" baseline="-15873" dirty="0">
                <a:latin typeface="Arial"/>
                <a:cs typeface="Arial"/>
              </a:rPr>
              <a:t> </a:t>
            </a:r>
            <a:r>
              <a:rPr sz="1050" i="1" spc="-37" baseline="-15873" dirty="0">
                <a:latin typeface="Arial"/>
                <a:cs typeface="Arial"/>
              </a:rPr>
              <a:t> </a:t>
            </a:r>
            <a:r>
              <a:rPr sz="1000" spc="-5" dirty="0">
                <a:latin typeface="Arial"/>
                <a:cs typeface="Arial"/>
              </a:rPr>
              <a:t>to catch u</a:t>
            </a:r>
            <a:r>
              <a:rPr sz="1000" spc="-40" dirty="0">
                <a:latin typeface="Arial"/>
                <a:cs typeface="Arial"/>
              </a:rPr>
              <a:t>p</a:t>
            </a:r>
            <a:r>
              <a:rPr sz="1000" spc="-5" dirty="0">
                <a:latin typeface="Arial"/>
                <a:cs typeface="Arial"/>
              </a:rPr>
              <a:t>.</a:t>
            </a:r>
            <a:endParaRPr sz="1000">
              <a:latin typeface="Arial"/>
              <a:cs typeface="Arial"/>
            </a:endParaRPr>
          </a:p>
        </p:txBody>
      </p:sp>
      <p:sp>
        <p:nvSpPr>
          <p:cNvPr id="7" name="object 7"/>
          <p:cNvSpPr txBox="1"/>
          <p:nvPr/>
        </p:nvSpPr>
        <p:spPr>
          <a:xfrm>
            <a:off x="296494" y="1991230"/>
            <a:ext cx="4015104" cy="1071880"/>
          </a:xfrm>
          <a:prstGeom prst="rect">
            <a:avLst/>
          </a:prstGeom>
        </p:spPr>
        <p:txBody>
          <a:bodyPr vert="horz" wrap="square" lIns="0" tIns="12065" rIns="0" bIns="0" rtlCol="0">
            <a:spAutoFit/>
          </a:bodyPr>
          <a:lstStyle/>
          <a:p>
            <a:pPr marL="63500">
              <a:lnSpc>
                <a:spcPct val="100000"/>
              </a:lnSpc>
              <a:spcBef>
                <a:spcPts val="95"/>
              </a:spcBef>
            </a:pPr>
            <a:r>
              <a:rPr sz="1200" i="1" spc="-5" dirty="0">
                <a:solidFill>
                  <a:srgbClr val="3333B2"/>
                </a:solidFill>
                <a:latin typeface="Arial"/>
                <a:cs typeface="Arial"/>
              </a:rPr>
              <a:t>S</a:t>
            </a:r>
            <a:r>
              <a:rPr sz="1350" i="1" spc="-7" baseline="-12345" dirty="0">
                <a:solidFill>
                  <a:srgbClr val="3333B2"/>
                </a:solidFill>
                <a:latin typeface="Arial"/>
                <a:cs typeface="Arial"/>
              </a:rPr>
              <a:t>2 </a:t>
            </a:r>
            <a:r>
              <a:rPr sz="1350" i="1" spc="-97" baseline="-12345" dirty="0">
                <a:solidFill>
                  <a:srgbClr val="3333B2"/>
                </a:solidFill>
                <a:latin typeface="Arial"/>
                <a:cs typeface="Arial"/>
              </a:rPr>
              <a:t> </a:t>
            </a:r>
            <a:r>
              <a:rPr sz="1200" spc="-5" dirty="0">
                <a:solidFill>
                  <a:srgbClr val="3333B2"/>
                </a:solidFill>
                <a:latin typeface="Arial"/>
                <a:cs typeface="Arial"/>
              </a:rPr>
              <a:t>missed</a:t>
            </a:r>
            <a:r>
              <a:rPr sz="1200" spc="25" dirty="0">
                <a:solidFill>
                  <a:srgbClr val="3333B2"/>
                </a:solidFill>
                <a:latin typeface="Arial"/>
                <a:cs typeface="Arial"/>
              </a:rPr>
              <a:t> </a:t>
            </a:r>
            <a:r>
              <a:rPr sz="950" spc="30" dirty="0">
                <a:solidFill>
                  <a:srgbClr val="3333B2"/>
                </a:solidFill>
                <a:latin typeface="Arial"/>
                <a:cs typeface="Arial"/>
              </a:rPr>
              <a:t>A</a:t>
            </a:r>
            <a:r>
              <a:rPr sz="950" spc="55" dirty="0">
                <a:solidFill>
                  <a:srgbClr val="3333B2"/>
                </a:solidFill>
                <a:latin typeface="Arial"/>
                <a:cs typeface="Arial"/>
              </a:rPr>
              <a:t>CCEP</a:t>
            </a:r>
            <a:r>
              <a:rPr sz="950" spc="25" dirty="0">
                <a:solidFill>
                  <a:srgbClr val="3333B2"/>
                </a:solidFill>
                <a:latin typeface="Arial"/>
                <a:cs typeface="Arial"/>
              </a:rPr>
              <a:t>T</a:t>
            </a:r>
            <a:r>
              <a:rPr sz="1200" spc="50" dirty="0">
                <a:solidFill>
                  <a:srgbClr val="3333B2"/>
                </a:solidFill>
                <a:latin typeface="Arial"/>
                <a:cs typeface="Arial"/>
              </a:rPr>
              <a:t>(</a:t>
            </a:r>
            <a:r>
              <a:rPr sz="1200" i="1" spc="25" dirty="0">
                <a:solidFill>
                  <a:srgbClr val="3333B2"/>
                </a:solidFill>
                <a:latin typeface="Arial"/>
                <a:cs typeface="Arial"/>
              </a:rPr>
              <a:t>o</a:t>
            </a:r>
            <a:r>
              <a:rPr sz="1350" i="1" spc="60" baseline="27777" dirty="0">
                <a:solidFill>
                  <a:srgbClr val="3333B2"/>
                </a:solidFill>
                <a:latin typeface="Arial"/>
                <a:cs typeface="Arial"/>
              </a:rPr>
              <a:t>1</a:t>
            </a:r>
            <a:r>
              <a:rPr sz="1200" i="1" spc="-5" dirty="0">
                <a:solidFill>
                  <a:srgbClr val="3333B2"/>
                </a:solidFill>
                <a:latin typeface="Arial"/>
                <a:cs typeface="Arial"/>
              </a:rPr>
              <a:t>,</a:t>
            </a:r>
            <a:r>
              <a:rPr sz="1200" i="1" spc="-204" dirty="0">
                <a:solidFill>
                  <a:srgbClr val="3333B2"/>
                </a:solidFill>
                <a:latin typeface="Arial"/>
                <a:cs typeface="Arial"/>
              </a:rPr>
              <a:t> </a:t>
            </a:r>
            <a:r>
              <a:rPr sz="1200" spc="-5" dirty="0">
                <a:solidFill>
                  <a:srgbClr val="3333B2"/>
                </a:solidFill>
                <a:latin typeface="Arial"/>
                <a:cs typeface="Arial"/>
              </a:rPr>
              <a:t>1</a:t>
            </a:r>
            <a:r>
              <a:rPr sz="1200" spc="50" dirty="0">
                <a:solidFill>
                  <a:srgbClr val="3333B2"/>
                </a:solidFill>
                <a:latin typeface="Arial"/>
                <a:cs typeface="Arial"/>
              </a:rPr>
              <a:t>)</a:t>
            </a:r>
            <a:endParaRPr sz="1200">
              <a:latin typeface="Arial"/>
              <a:cs typeface="Arial"/>
            </a:endParaRPr>
          </a:p>
          <a:p>
            <a:pPr marL="340360" indent="-168275">
              <a:lnSpc>
                <a:spcPct val="100000"/>
              </a:lnSpc>
              <a:spcBef>
                <a:spcPts val="819"/>
              </a:spcBef>
              <a:buClr>
                <a:srgbClr val="3333B2"/>
              </a:buClr>
              <a:buFont typeface="Arial"/>
              <a:buChar char="►"/>
              <a:tabLst>
                <a:tab pos="340995" algn="l"/>
              </a:tabLst>
            </a:pPr>
            <a:r>
              <a:rPr sz="1000" i="1" spc="5" dirty="0">
                <a:latin typeface="Arial"/>
                <a:cs typeface="Arial"/>
              </a:rPr>
              <a:t>S</a:t>
            </a:r>
            <a:r>
              <a:rPr sz="1050" i="1" spc="7" baseline="-15873" dirty="0">
                <a:latin typeface="Arial"/>
                <a:cs typeface="Arial"/>
              </a:rPr>
              <a:t>2</a:t>
            </a:r>
            <a:r>
              <a:rPr sz="1050" i="1" spc="254" baseline="-15873" dirty="0">
                <a:latin typeface="Arial"/>
                <a:cs typeface="Arial"/>
              </a:rPr>
              <a:t> </a:t>
            </a:r>
            <a:r>
              <a:rPr sz="1000" spc="-5" dirty="0">
                <a:latin typeface="Arial"/>
                <a:cs typeface="Arial"/>
              </a:rPr>
              <a:t>did detect crash</a:t>
            </a:r>
            <a:r>
              <a:rPr sz="1000" spc="-10" dirty="0">
                <a:latin typeface="Arial"/>
                <a:cs typeface="Arial"/>
              </a:rPr>
              <a:t> </a:t>
            </a:r>
            <a:r>
              <a:rPr sz="1000" spc="-5" dirty="0">
                <a:latin typeface="Arial"/>
                <a:cs typeface="Arial"/>
              </a:rPr>
              <a:t>and became </a:t>
            </a:r>
            <a:r>
              <a:rPr sz="1000" spc="-10" dirty="0">
                <a:latin typeface="Arial"/>
                <a:cs typeface="Arial"/>
              </a:rPr>
              <a:t>new </a:t>
            </a:r>
            <a:r>
              <a:rPr sz="1000" spc="-5" dirty="0">
                <a:latin typeface="Arial"/>
                <a:cs typeface="Arial"/>
              </a:rPr>
              <a:t>leader</a:t>
            </a:r>
            <a:endParaRPr sz="1000">
              <a:latin typeface="Arial"/>
              <a:cs typeface="Arial"/>
            </a:endParaRPr>
          </a:p>
          <a:p>
            <a:pPr marL="340360" indent="-168275">
              <a:lnSpc>
                <a:spcPct val="100000"/>
              </a:lnSpc>
              <a:spcBef>
                <a:spcPts val="595"/>
              </a:spcBef>
              <a:buClr>
                <a:srgbClr val="3333B2"/>
              </a:buClr>
              <a:buChar char="►"/>
              <a:tabLst>
                <a:tab pos="340995" algn="l"/>
              </a:tabLst>
            </a:pPr>
            <a:r>
              <a:rPr sz="1000" spc="-5" dirty="0">
                <a:latin typeface="Arial"/>
                <a:cs typeface="Arial"/>
              </a:rPr>
              <a:t>If </a:t>
            </a:r>
            <a:r>
              <a:rPr sz="1000" i="1" spc="5" dirty="0">
                <a:latin typeface="Arial"/>
                <a:cs typeface="Arial"/>
              </a:rPr>
              <a:t>S</a:t>
            </a:r>
            <a:r>
              <a:rPr sz="1050" i="1" spc="7" baseline="-15873" dirty="0">
                <a:latin typeface="Arial"/>
                <a:cs typeface="Arial"/>
              </a:rPr>
              <a:t>2</a:t>
            </a:r>
            <a:r>
              <a:rPr sz="1050" i="1" spc="262" baseline="-15873" dirty="0">
                <a:latin typeface="Arial"/>
                <a:cs typeface="Arial"/>
              </a:rPr>
              <a:t> </a:t>
            </a:r>
            <a:r>
              <a:rPr sz="1000" spc="-5" dirty="0">
                <a:latin typeface="Arial"/>
                <a:cs typeface="Arial"/>
              </a:rPr>
              <a:t>sends</a:t>
            </a:r>
            <a:r>
              <a:rPr sz="1000" spc="20" dirty="0">
                <a:latin typeface="Arial"/>
                <a:cs typeface="Arial"/>
              </a:rPr>
              <a:t> </a:t>
            </a:r>
            <a:r>
              <a:rPr sz="800" spc="35" dirty="0">
                <a:latin typeface="Arial"/>
                <a:cs typeface="Arial"/>
              </a:rPr>
              <a:t>ACCEPT</a:t>
            </a:r>
            <a:r>
              <a:rPr sz="1000" spc="35" dirty="0">
                <a:latin typeface="Arial"/>
                <a:cs typeface="Arial"/>
              </a:rPr>
              <a:t>(</a:t>
            </a:r>
            <a:r>
              <a:rPr sz="1000" i="1" spc="35" dirty="0">
                <a:latin typeface="Arial"/>
                <a:cs typeface="Arial"/>
              </a:rPr>
              <a:t>o</a:t>
            </a:r>
            <a:r>
              <a:rPr sz="1050" i="1" spc="52" baseline="27777" dirty="0">
                <a:latin typeface="Arial"/>
                <a:cs typeface="Arial"/>
              </a:rPr>
              <a:t>1</a:t>
            </a:r>
            <a:r>
              <a:rPr sz="1000" i="1" spc="35" dirty="0">
                <a:latin typeface="Arial"/>
                <a:cs typeface="Arial"/>
              </a:rPr>
              <a:t>,</a:t>
            </a:r>
            <a:r>
              <a:rPr sz="1000" i="1" spc="-170" dirty="0">
                <a:latin typeface="Arial"/>
                <a:cs typeface="Arial"/>
              </a:rPr>
              <a:t> </a:t>
            </a:r>
            <a:r>
              <a:rPr sz="1000" spc="25" dirty="0">
                <a:latin typeface="Arial"/>
                <a:cs typeface="Arial"/>
              </a:rPr>
              <a:t>1)</a:t>
            </a:r>
            <a:r>
              <a:rPr sz="1000" spc="-60" dirty="0">
                <a:latin typeface="Arial"/>
                <a:cs typeface="Arial"/>
              </a:rPr>
              <a:t> </a:t>
            </a:r>
            <a:r>
              <a:rPr sz="1000" i="1" spc="-5" dirty="0">
                <a:latin typeface="メイリオ"/>
                <a:cs typeface="メイリオ"/>
              </a:rPr>
              <a:t>⇒</a:t>
            </a:r>
            <a:r>
              <a:rPr sz="1000" i="1" spc="-65" dirty="0">
                <a:latin typeface="メイリオ"/>
                <a:cs typeface="メイリオ"/>
              </a:rPr>
              <a:t> </a:t>
            </a:r>
            <a:r>
              <a:rPr sz="1000" i="1" spc="5" dirty="0">
                <a:latin typeface="Arial"/>
                <a:cs typeface="Arial"/>
              </a:rPr>
              <a:t>S</a:t>
            </a:r>
            <a:r>
              <a:rPr sz="1050" i="1" spc="7" baseline="-15873" dirty="0">
                <a:latin typeface="Arial"/>
                <a:cs typeface="Arial"/>
              </a:rPr>
              <a:t>3</a:t>
            </a:r>
            <a:r>
              <a:rPr sz="1050" i="1" spc="254" baseline="-15873" dirty="0">
                <a:latin typeface="Arial"/>
                <a:cs typeface="Arial"/>
              </a:rPr>
              <a:t> </a:t>
            </a:r>
            <a:r>
              <a:rPr sz="1000" spc="-5" dirty="0">
                <a:latin typeface="Arial"/>
                <a:cs typeface="Arial"/>
              </a:rPr>
              <a:t>retransmits</a:t>
            </a:r>
            <a:r>
              <a:rPr sz="1000" spc="20" dirty="0">
                <a:latin typeface="Arial"/>
                <a:cs typeface="Arial"/>
              </a:rPr>
              <a:t> </a:t>
            </a:r>
            <a:r>
              <a:rPr sz="800" spc="35" dirty="0">
                <a:latin typeface="Arial"/>
                <a:cs typeface="Arial"/>
              </a:rPr>
              <a:t>LEARN</a:t>
            </a:r>
            <a:r>
              <a:rPr sz="1000" spc="35" dirty="0">
                <a:latin typeface="Arial"/>
                <a:cs typeface="Arial"/>
              </a:rPr>
              <a:t>(</a:t>
            </a:r>
            <a:r>
              <a:rPr sz="1000" i="1" spc="35" dirty="0">
                <a:latin typeface="Arial"/>
                <a:cs typeface="Arial"/>
              </a:rPr>
              <a:t>o</a:t>
            </a:r>
            <a:r>
              <a:rPr sz="1050" i="1" spc="52" baseline="27777" dirty="0">
                <a:latin typeface="Arial"/>
                <a:cs typeface="Arial"/>
              </a:rPr>
              <a:t>1</a:t>
            </a:r>
            <a:r>
              <a:rPr sz="1000" spc="35" dirty="0">
                <a:latin typeface="Arial"/>
                <a:cs typeface="Arial"/>
              </a:rPr>
              <a:t>).</a:t>
            </a:r>
            <a:endParaRPr sz="1000">
              <a:latin typeface="Arial"/>
              <a:cs typeface="Arial"/>
            </a:endParaRPr>
          </a:p>
          <a:p>
            <a:pPr marL="340360" indent="-168275">
              <a:lnSpc>
                <a:spcPts val="1200"/>
              </a:lnSpc>
              <a:spcBef>
                <a:spcPts val="590"/>
              </a:spcBef>
              <a:buClr>
                <a:srgbClr val="3333B2"/>
              </a:buClr>
              <a:buChar char="►"/>
              <a:tabLst>
                <a:tab pos="340995" algn="l"/>
              </a:tabLst>
            </a:pPr>
            <a:r>
              <a:rPr sz="1000" spc="-10" dirty="0">
                <a:latin typeface="Arial"/>
                <a:cs typeface="Arial"/>
              </a:rPr>
              <a:t>If</a:t>
            </a:r>
            <a:r>
              <a:rPr sz="1000" spc="-5" dirty="0">
                <a:latin typeface="Arial"/>
                <a:cs typeface="Arial"/>
              </a:rPr>
              <a:t> </a:t>
            </a: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15" dirty="0">
                <a:latin typeface="Arial"/>
                <a:cs typeface="Arial"/>
              </a:rPr>
              <a:t>sends</a:t>
            </a:r>
            <a:r>
              <a:rPr sz="1000" spc="25" dirty="0">
                <a:latin typeface="Arial"/>
                <a:cs typeface="Arial"/>
              </a:rPr>
              <a:t> </a:t>
            </a:r>
            <a:r>
              <a:rPr sz="800" spc="30" dirty="0">
                <a:latin typeface="Arial"/>
                <a:cs typeface="Arial"/>
              </a:rPr>
              <a:t>ACCEPT</a:t>
            </a:r>
            <a:r>
              <a:rPr sz="1000" spc="30" dirty="0">
                <a:latin typeface="Arial"/>
                <a:cs typeface="Arial"/>
              </a:rPr>
              <a:t>(</a:t>
            </a:r>
            <a:r>
              <a:rPr sz="1000" i="1" spc="30" dirty="0">
                <a:latin typeface="Arial"/>
                <a:cs typeface="Arial"/>
              </a:rPr>
              <a:t>o</a:t>
            </a:r>
            <a:r>
              <a:rPr sz="1050" i="1" spc="44" baseline="27777" dirty="0">
                <a:latin typeface="Arial"/>
                <a:cs typeface="Arial"/>
              </a:rPr>
              <a:t>2</a:t>
            </a:r>
            <a:r>
              <a:rPr sz="1050" i="1" spc="-157" baseline="27777" dirty="0">
                <a:latin typeface="Arial"/>
                <a:cs typeface="Arial"/>
              </a:rPr>
              <a:t> </a:t>
            </a:r>
            <a:r>
              <a:rPr sz="1000" i="1" spc="-5" dirty="0">
                <a:latin typeface="Arial"/>
                <a:cs typeface="Arial"/>
              </a:rPr>
              <a:t>,</a:t>
            </a:r>
            <a:r>
              <a:rPr sz="1000" i="1" spc="-165" dirty="0">
                <a:latin typeface="Arial"/>
                <a:cs typeface="Arial"/>
              </a:rPr>
              <a:t> </a:t>
            </a:r>
            <a:r>
              <a:rPr sz="1000" spc="20" dirty="0">
                <a:latin typeface="Arial"/>
                <a:cs typeface="Arial"/>
              </a:rPr>
              <a:t>1)</a:t>
            </a:r>
            <a:r>
              <a:rPr sz="1000" spc="-60" dirty="0">
                <a:latin typeface="Arial"/>
                <a:cs typeface="Arial"/>
              </a:rPr>
              <a:t> </a:t>
            </a:r>
            <a:r>
              <a:rPr sz="1000" i="1" spc="-5" dirty="0">
                <a:latin typeface="メイリオ"/>
                <a:cs typeface="メイリオ"/>
              </a:rPr>
              <a:t>⇒</a:t>
            </a:r>
            <a:r>
              <a:rPr sz="1000" i="1" spc="-60" dirty="0">
                <a:latin typeface="メイリオ"/>
                <a:cs typeface="メイリオ"/>
              </a:rPr>
              <a:t> </a:t>
            </a:r>
            <a:r>
              <a:rPr sz="1000" i="1" spc="5" dirty="0">
                <a:latin typeface="Arial"/>
                <a:cs typeface="Arial"/>
              </a:rPr>
              <a:t>S</a:t>
            </a:r>
            <a:r>
              <a:rPr sz="1050" i="1" spc="7" baseline="-15873" dirty="0">
                <a:latin typeface="Arial"/>
                <a:cs typeface="Arial"/>
              </a:rPr>
              <a:t>3</a:t>
            </a:r>
            <a:r>
              <a:rPr sz="1050" i="1" spc="262" baseline="-15873" dirty="0">
                <a:latin typeface="Arial"/>
                <a:cs typeface="Arial"/>
              </a:rPr>
              <a:t> </a:t>
            </a:r>
            <a:r>
              <a:rPr sz="1000" spc="-10" dirty="0">
                <a:latin typeface="Arial"/>
                <a:cs typeface="Arial"/>
              </a:rPr>
              <a:t>tells</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it</a:t>
            </a:r>
            <a:r>
              <a:rPr sz="1000" dirty="0">
                <a:latin typeface="Arial"/>
                <a:cs typeface="Arial"/>
              </a:rPr>
              <a:t> </a:t>
            </a:r>
            <a:r>
              <a:rPr sz="1000" spc="-15" dirty="0">
                <a:latin typeface="Arial"/>
                <a:cs typeface="Arial"/>
              </a:rPr>
              <a:t>apparently</a:t>
            </a:r>
            <a:r>
              <a:rPr sz="1000" dirty="0">
                <a:latin typeface="Arial"/>
                <a:cs typeface="Arial"/>
              </a:rPr>
              <a:t> </a:t>
            </a:r>
            <a:r>
              <a:rPr sz="1000" spc="-15" dirty="0">
                <a:latin typeface="Arial"/>
                <a:cs typeface="Arial"/>
              </a:rPr>
              <a:t>missed</a:t>
            </a:r>
            <a:endParaRPr sz="1000">
              <a:latin typeface="Arial"/>
              <a:cs typeface="Arial"/>
            </a:endParaRPr>
          </a:p>
          <a:p>
            <a:pPr marL="339725">
              <a:lnSpc>
                <a:spcPts val="1200"/>
              </a:lnSpc>
            </a:pPr>
            <a:r>
              <a:rPr sz="800" spc="20" dirty="0">
                <a:latin typeface="Arial"/>
                <a:cs typeface="Arial"/>
              </a:rPr>
              <a:t>A</a:t>
            </a:r>
            <a:r>
              <a:rPr sz="800" spc="40" dirty="0">
                <a:latin typeface="Arial"/>
                <a:cs typeface="Arial"/>
              </a:rPr>
              <a:t>CCEP</a:t>
            </a:r>
            <a:r>
              <a:rPr sz="800" spc="15" dirty="0">
                <a:latin typeface="Arial"/>
                <a:cs typeface="Arial"/>
              </a:rPr>
              <a:t>T</a:t>
            </a:r>
            <a:r>
              <a:rPr sz="1000" spc="50" dirty="0">
                <a:latin typeface="Arial"/>
                <a:cs typeface="Arial"/>
              </a:rPr>
              <a:t>(</a:t>
            </a:r>
            <a:r>
              <a:rPr sz="1000" i="1" spc="20" dirty="0">
                <a:latin typeface="Arial"/>
                <a:cs typeface="Arial"/>
              </a:rPr>
              <a:t>o</a:t>
            </a:r>
            <a:r>
              <a:rPr sz="1050" i="1" spc="97" baseline="27777" dirty="0">
                <a:latin typeface="Arial"/>
                <a:cs typeface="Arial"/>
              </a:rPr>
              <a:t>1</a:t>
            </a:r>
            <a:r>
              <a:rPr sz="1000" i="1" spc="-5" dirty="0">
                <a:latin typeface="Arial"/>
                <a:cs typeface="Arial"/>
              </a:rPr>
              <a:t>,</a:t>
            </a:r>
            <a:r>
              <a:rPr sz="1000" i="1" spc="-170" dirty="0">
                <a:latin typeface="Arial"/>
                <a:cs typeface="Arial"/>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from </a:t>
            </a:r>
            <a:r>
              <a:rPr sz="1000" i="1" spc="-5" dirty="0">
                <a:latin typeface="Arial"/>
                <a:cs typeface="Arial"/>
              </a:rPr>
              <a:t>S</a:t>
            </a:r>
            <a:r>
              <a:rPr sz="1050" i="1" spc="97" baseline="-15873" dirty="0">
                <a:latin typeface="Arial"/>
                <a:cs typeface="Arial"/>
              </a:rPr>
              <a:t>1</a:t>
            </a:r>
            <a:r>
              <a:rPr sz="1000" spc="-5" dirty="0">
                <a:latin typeface="Arial"/>
                <a:cs typeface="Arial"/>
              </a:rPr>
              <a:t>, so that </a:t>
            </a:r>
            <a:r>
              <a:rPr sz="1000" i="1" spc="-5" dirty="0">
                <a:latin typeface="Arial"/>
                <a:cs typeface="Arial"/>
              </a:rPr>
              <a:t>S</a:t>
            </a:r>
            <a:r>
              <a:rPr sz="1050" i="1" spc="30" baseline="-15873" dirty="0">
                <a:latin typeface="Arial"/>
                <a:cs typeface="Arial"/>
              </a:rPr>
              <a:t>2</a:t>
            </a:r>
            <a:r>
              <a:rPr sz="1050" i="1" baseline="-15873" dirty="0">
                <a:latin typeface="Arial"/>
                <a:cs typeface="Arial"/>
              </a:rPr>
              <a:t> </a:t>
            </a:r>
            <a:r>
              <a:rPr sz="1050" i="1" spc="-30" baseline="-15873" dirty="0">
                <a:latin typeface="Arial"/>
                <a:cs typeface="Arial"/>
              </a:rPr>
              <a:t> </a:t>
            </a:r>
            <a:r>
              <a:rPr sz="1000" spc="-5" dirty="0">
                <a:latin typeface="Arial"/>
                <a:cs typeface="Arial"/>
              </a:rPr>
              <a:t>can catch u</a:t>
            </a:r>
            <a:r>
              <a:rPr sz="1000" spc="-40" dirty="0">
                <a:latin typeface="Arial"/>
                <a:cs typeface="Arial"/>
              </a:rPr>
              <a:t>p</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Understanding</a:t>
            </a:r>
            <a:r>
              <a:rPr sz="600" spc="-25" dirty="0">
                <a:solidFill>
                  <a:srgbClr val="3333B2"/>
                </a:solidFill>
                <a:latin typeface="Arial"/>
                <a:cs typeface="Arial"/>
                <a:hlinkClick r:id="rId2" action="ppaction://hlinksldjump"/>
              </a:rPr>
              <a:t> </a:t>
            </a:r>
            <a:r>
              <a:rPr sz="600" spc="-10" dirty="0">
                <a:solidFill>
                  <a:srgbClr val="3333B2"/>
                </a:solidFill>
                <a:latin typeface="Arial"/>
                <a:cs typeface="Arial"/>
                <a:hlinkClick r:id="rId2" action="ppaction://hlinksldjump"/>
              </a:rPr>
              <a:t>Paxos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41313" y="0"/>
            <a:ext cx="3655060" cy="473075"/>
          </a:xfrm>
          <a:prstGeom prst="rect">
            <a:avLst/>
          </a:prstGeom>
        </p:spPr>
        <p:txBody>
          <a:bodyPr vert="horz" wrap="square" lIns="0" tIns="52705" rIns="0" bIns="0" rtlCol="0">
            <a:spAutoFit/>
          </a:bodyPr>
          <a:lstStyle/>
          <a:p>
            <a:pPr marL="38100">
              <a:lnSpc>
                <a:spcPct val="100000"/>
              </a:lnSpc>
              <a:spcBef>
                <a:spcPts val="41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a:p>
            <a:pPr>
              <a:lnSpc>
                <a:spcPct val="100000"/>
              </a:lnSpc>
              <a:spcBef>
                <a:spcPts val="50"/>
              </a:spcBef>
            </a:pPr>
            <a:endParaRPr sz="650">
              <a:latin typeface="Arial"/>
              <a:cs typeface="Arial"/>
            </a:endParaRPr>
          </a:p>
          <a:p>
            <a:pPr marL="66675">
              <a:lnSpc>
                <a:spcPct val="100000"/>
              </a:lnSpc>
            </a:pPr>
            <a:r>
              <a:rPr sz="1400" spc="15" dirty="0">
                <a:solidFill>
                  <a:srgbClr val="3333B2"/>
                </a:solidFill>
                <a:latin typeface="Arial"/>
                <a:cs typeface="Arial"/>
              </a:rPr>
              <a:t>Leader</a:t>
            </a:r>
            <a:r>
              <a:rPr sz="1400" spc="5" dirty="0">
                <a:solidFill>
                  <a:srgbClr val="3333B2"/>
                </a:solidFill>
                <a:latin typeface="Arial"/>
                <a:cs typeface="Arial"/>
              </a:rPr>
              <a:t> </a:t>
            </a:r>
            <a:r>
              <a:rPr sz="1400" spc="15" dirty="0">
                <a:solidFill>
                  <a:srgbClr val="3333B2"/>
                </a:solidFill>
                <a:latin typeface="Arial"/>
                <a:cs typeface="Arial"/>
              </a:rPr>
              <a:t>c</a:t>
            </a:r>
            <a:r>
              <a:rPr sz="1400" spc="-5" dirty="0">
                <a:solidFill>
                  <a:srgbClr val="3333B2"/>
                </a:solidFill>
                <a:latin typeface="Arial"/>
                <a:cs typeface="Arial"/>
              </a:rPr>
              <a:t>r</a:t>
            </a:r>
            <a:r>
              <a:rPr sz="1400" spc="15" dirty="0">
                <a:solidFill>
                  <a:srgbClr val="3333B2"/>
                </a:solidFill>
                <a:latin typeface="Arial"/>
                <a:cs typeface="Arial"/>
              </a:rPr>
              <a:t>ashes</a:t>
            </a:r>
            <a:r>
              <a:rPr sz="1400" spc="5" dirty="0">
                <a:solidFill>
                  <a:srgbClr val="3333B2"/>
                </a:solidFill>
                <a:latin typeface="Arial"/>
                <a:cs typeface="Arial"/>
              </a:rPr>
              <a:t> </a:t>
            </a:r>
            <a:r>
              <a:rPr sz="1400" spc="10" dirty="0">
                <a:solidFill>
                  <a:srgbClr val="3333B2"/>
                </a:solidFill>
                <a:latin typeface="Arial"/>
                <a:cs typeface="Arial"/>
              </a:rPr>
              <a:t>after</a:t>
            </a:r>
            <a:r>
              <a:rPr sz="1400" spc="5" dirty="0">
                <a:solidFill>
                  <a:srgbClr val="3333B2"/>
                </a:solidFill>
                <a:latin typeface="Arial"/>
                <a:cs typeface="Arial"/>
              </a:rPr>
              <a:t> </a:t>
            </a:r>
            <a:r>
              <a:rPr sz="1400" spc="15" dirty="0">
                <a:solidFill>
                  <a:srgbClr val="3333B2"/>
                </a:solidFill>
                <a:latin typeface="Arial"/>
                <a:cs typeface="Arial"/>
              </a:rPr>
              <a:t>sending</a:t>
            </a:r>
            <a:r>
              <a:rPr sz="1400" spc="45" dirty="0">
                <a:solidFill>
                  <a:srgbClr val="3333B2"/>
                </a:solidFill>
                <a:latin typeface="Arial"/>
                <a:cs typeface="Arial"/>
              </a:rPr>
              <a:t> </a:t>
            </a:r>
            <a:r>
              <a:rPr sz="1150" spc="30" dirty="0">
                <a:solidFill>
                  <a:srgbClr val="3333B2"/>
                </a:solidFill>
                <a:latin typeface="Arial"/>
                <a:cs typeface="Arial"/>
              </a:rPr>
              <a:t>A</a:t>
            </a:r>
            <a:r>
              <a:rPr sz="1150" spc="65" dirty="0">
                <a:solidFill>
                  <a:srgbClr val="3333B2"/>
                </a:solidFill>
                <a:latin typeface="Arial"/>
                <a:cs typeface="Arial"/>
              </a:rPr>
              <a:t>CCEP</a:t>
            </a:r>
            <a:r>
              <a:rPr sz="1150" spc="25" dirty="0">
                <a:solidFill>
                  <a:srgbClr val="3333B2"/>
                </a:solidFill>
                <a:latin typeface="Arial"/>
                <a:cs typeface="Arial"/>
              </a:rPr>
              <a:t>T</a:t>
            </a:r>
            <a:r>
              <a:rPr sz="1400" spc="75" dirty="0">
                <a:solidFill>
                  <a:srgbClr val="3333B2"/>
                </a:solidFill>
                <a:latin typeface="Arial"/>
                <a:cs typeface="Arial"/>
              </a:rPr>
              <a:t>(</a:t>
            </a:r>
            <a:r>
              <a:rPr sz="1400" i="1" spc="55" dirty="0">
                <a:solidFill>
                  <a:srgbClr val="3333B2"/>
                </a:solidFill>
                <a:latin typeface="Arial"/>
                <a:cs typeface="Arial"/>
              </a:rPr>
              <a:t>o</a:t>
            </a:r>
            <a:r>
              <a:rPr sz="1650" i="1" spc="52" baseline="25252" dirty="0">
                <a:solidFill>
                  <a:srgbClr val="3333B2"/>
                </a:solidFill>
                <a:latin typeface="Arial"/>
                <a:cs typeface="Arial"/>
              </a:rPr>
              <a:t>1</a:t>
            </a:r>
            <a:r>
              <a:rPr sz="1400" i="1" spc="5" dirty="0">
                <a:solidFill>
                  <a:srgbClr val="3333B2"/>
                </a:solidFill>
                <a:latin typeface="Arial"/>
                <a:cs typeface="Arial"/>
              </a:rPr>
              <a:t>,</a:t>
            </a:r>
            <a:r>
              <a:rPr sz="1400" i="1" spc="-229" dirty="0">
                <a:solidFill>
                  <a:srgbClr val="3333B2"/>
                </a:solidFill>
                <a:latin typeface="Arial"/>
                <a:cs typeface="Arial"/>
              </a:rPr>
              <a:t> </a:t>
            </a:r>
            <a:r>
              <a:rPr sz="1400" spc="15" dirty="0">
                <a:solidFill>
                  <a:srgbClr val="3333B2"/>
                </a:solidFill>
                <a:latin typeface="Arial"/>
                <a:cs typeface="Arial"/>
              </a:rPr>
              <a:t>1</a:t>
            </a:r>
            <a:r>
              <a:rPr sz="1400" spc="75" dirty="0">
                <a:solidFill>
                  <a:srgbClr val="3333B2"/>
                </a:solidFill>
                <a:latin typeface="Arial"/>
                <a:cs typeface="Arial"/>
              </a:rPr>
              <a:t>)</a:t>
            </a:r>
            <a:endParaRPr sz="14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Example:</a:t>
            </a:r>
            <a:r>
              <a:rPr sz="600"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Paxos</a:t>
            </a:r>
            <a:endParaRPr sz="600">
              <a:latin typeface="Arial"/>
              <a:cs typeface="Arial"/>
            </a:endParaRPr>
          </a:p>
        </p:txBody>
      </p:sp>
      <p:sp>
        <p:nvSpPr>
          <p:cNvPr id="4" name="object 4"/>
          <p:cNvSpPr txBox="1"/>
          <p:nvPr/>
        </p:nvSpPr>
        <p:spPr>
          <a:xfrm>
            <a:off x="317728" y="850284"/>
            <a:ext cx="3968750" cy="1191895"/>
          </a:xfrm>
          <a:prstGeom prst="rect">
            <a:avLst/>
          </a:prstGeom>
        </p:spPr>
        <p:txBody>
          <a:bodyPr vert="horz" wrap="square" lIns="0" tIns="41910" rIns="0" bIns="0" rtlCol="0">
            <a:spAutoFit/>
          </a:bodyPr>
          <a:lstStyle/>
          <a:p>
            <a:pPr marL="41910">
              <a:lnSpc>
                <a:spcPct val="100000"/>
              </a:lnSpc>
              <a:spcBef>
                <a:spcPts val="330"/>
              </a:spcBef>
            </a:pPr>
            <a:r>
              <a:rPr sz="1200" i="1" spc="-5" dirty="0">
                <a:solidFill>
                  <a:srgbClr val="3333B2"/>
                </a:solidFill>
                <a:latin typeface="Arial"/>
                <a:cs typeface="Arial"/>
              </a:rPr>
              <a:t>S</a:t>
            </a:r>
            <a:r>
              <a:rPr sz="1350" i="1" spc="-7" baseline="-12345" dirty="0">
                <a:solidFill>
                  <a:srgbClr val="3333B2"/>
                </a:solidFill>
                <a:latin typeface="Arial"/>
                <a:cs typeface="Arial"/>
              </a:rPr>
              <a:t>3</a:t>
            </a:r>
            <a:r>
              <a:rPr sz="1350" i="1" spc="262" baseline="-12345" dirty="0">
                <a:solidFill>
                  <a:srgbClr val="3333B2"/>
                </a:solidFill>
                <a:latin typeface="Arial"/>
                <a:cs typeface="Arial"/>
              </a:rPr>
              <a:t> </a:t>
            </a:r>
            <a:r>
              <a:rPr sz="1200" spc="-5" dirty="0">
                <a:solidFill>
                  <a:srgbClr val="3333B2"/>
                </a:solidFill>
                <a:latin typeface="Arial"/>
                <a:cs typeface="Arial"/>
              </a:rPr>
              <a:t>is completely</a:t>
            </a:r>
            <a:r>
              <a:rPr sz="1200" spc="-10" dirty="0">
                <a:solidFill>
                  <a:srgbClr val="3333B2"/>
                </a:solidFill>
                <a:latin typeface="Arial"/>
                <a:cs typeface="Arial"/>
              </a:rPr>
              <a:t> </a:t>
            </a:r>
            <a:r>
              <a:rPr sz="1200" spc="-5" dirty="0">
                <a:solidFill>
                  <a:srgbClr val="3333B2"/>
                </a:solidFill>
                <a:latin typeface="Arial"/>
                <a:cs typeface="Arial"/>
              </a:rPr>
              <a:t>ignorant of </a:t>
            </a:r>
            <a:r>
              <a:rPr sz="1200" spc="-10" dirty="0">
                <a:solidFill>
                  <a:srgbClr val="3333B2"/>
                </a:solidFill>
                <a:latin typeface="Arial"/>
                <a:cs typeface="Arial"/>
              </a:rPr>
              <a:t>any</a:t>
            </a:r>
            <a:r>
              <a:rPr sz="1200" spc="-5" dirty="0">
                <a:solidFill>
                  <a:srgbClr val="3333B2"/>
                </a:solidFill>
                <a:latin typeface="Arial"/>
                <a:cs typeface="Arial"/>
              </a:rPr>
              <a:t> activity</a:t>
            </a:r>
            <a:r>
              <a:rPr sz="1200" spc="-10" dirty="0">
                <a:solidFill>
                  <a:srgbClr val="3333B2"/>
                </a:solidFill>
                <a:latin typeface="Arial"/>
                <a:cs typeface="Arial"/>
              </a:rPr>
              <a:t> </a:t>
            </a:r>
            <a:r>
              <a:rPr sz="1200" spc="-15" dirty="0">
                <a:solidFill>
                  <a:srgbClr val="3333B2"/>
                </a:solidFill>
                <a:latin typeface="Arial"/>
                <a:cs typeface="Arial"/>
              </a:rPr>
              <a:t>by</a:t>
            </a:r>
            <a:r>
              <a:rPr sz="1200" spc="-5" dirty="0">
                <a:solidFill>
                  <a:srgbClr val="3333B2"/>
                </a:solidFill>
                <a:latin typeface="Arial"/>
                <a:cs typeface="Arial"/>
              </a:rPr>
              <a:t> </a:t>
            </a:r>
            <a:r>
              <a:rPr sz="1200" i="1" spc="-5" dirty="0">
                <a:solidFill>
                  <a:srgbClr val="3333B2"/>
                </a:solidFill>
                <a:latin typeface="Arial"/>
                <a:cs typeface="Arial"/>
              </a:rPr>
              <a:t>S</a:t>
            </a:r>
            <a:r>
              <a:rPr sz="1350" i="1" spc="-7" baseline="-12345" dirty="0">
                <a:solidFill>
                  <a:srgbClr val="3333B2"/>
                </a:solidFill>
                <a:latin typeface="Arial"/>
                <a:cs typeface="Arial"/>
              </a:rPr>
              <a:t>1</a:t>
            </a:r>
            <a:endParaRPr sz="1350" baseline="-12345">
              <a:latin typeface="Arial"/>
              <a:cs typeface="Arial"/>
            </a:endParaRPr>
          </a:p>
          <a:p>
            <a:pPr marL="41910" marR="30480" indent="-4445">
              <a:lnSpc>
                <a:spcPct val="100000"/>
              </a:lnSpc>
              <a:spcBef>
                <a:spcPts val="190"/>
              </a:spcBef>
            </a:pPr>
            <a:r>
              <a:rPr sz="1000" spc="-10" dirty="0">
                <a:latin typeface="Arial"/>
                <a:cs typeface="Arial"/>
              </a:rPr>
              <a:t>As soon as </a:t>
            </a:r>
            <a:r>
              <a:rPr sz="1000" i="1" spc="5" dirty="0">
                <a:latin typeface="Arial"/>
                <a:cs typeface="Arial"/>
              </a:rPr>
              <a:t>S</a:t>
            </a:r>
            <a:r>
              <a:rPr sz="1050" i="1" spc="7" baseline="-15873" dirty="0">
                <a:latin typeface="Arial"/>
                <a:cs typeface="Arial"/>
              </a:rPr>
              <a:t>2</a:t>
            </a:r>
            <a:r>
              <a:rPr sz="1050" i="1" spc="15" baseline="-15873" dirty="0">
                <a:latin typeface="Arial"/>
                <a:cs typeface="Arial"/>
              </a:rPr>
              <a:t> </a:t>
            </a:r>
            <a:r>
              <a:rPr sz="1000" spc="-10" dirty="0">
                <a:latin typeface="Arial"/>
                <a:cs typeface="Arial"/>
              </a:rPr>
              <a:t>announces that </a:t>
            </a:r>
            <a:r>
              <a:rPr sz="1000" i="1" spc="20" dirty="0">
                <a:latin typeface="Arial"/>
                <a:cs typeface="Arial"/>
              </a:rPr>
              <a:t>o</a:t>
            </a:r>
            <a:r>
              <a:rPr sz="1050" i="1" spc="30" baseline="27777" dirty="0">
                <a:latin typeface="Arial"/>
                <a:cs typeface="Arial"/>
              </a:rPr>
              <a:t>2  </a:t>
            </a:r>
            <a:r>
              <a:rPr sz="1000" spc="-5" dirty="0">
                <a:latin typeface="Arial"/>
                <a:cs typeface="Arial"/>
              </a:rPr>
              <a:t>is </a:t>
            </a:r>
            <a:r>
              <a:rPr sz="1000" spc="-10" dirty="0">
                <a:latin typeface="Arial"/>
                <a:cs typeface="Arial"/>
              </a:rPr>
              <a:t>to be accepted, </a:t>
            </a:r>
            <a:r>
              <a:rPr sz="1000" i="1" spc="5" dirty="0">
                <a:latin typeface="Arial"/>
                <a:cs typeface="Arial"/>
              </a:rPr>
              <a:t>S</a:t>
            </a:r>
            <a:r>
              <a:rPr sz="1050" i="1" spc="7" baseline="-15873" dirty="0">
                <a:latin typeface="Arial"/>
                <a:cs typeface="Arial"/>
              </a:rPr>
              <a:t>3  </a:t>
            </a:r>
            <a:r>
              <a:rPr sz="1000" spc="-5" dirty="0">
                <a:latin typeface="Arial"/>
                <a:cs typeface="Arial"/>
              </a:rPr>
              <a:t>will </a:t>
            </a:r>
            <a:r>
              <a:rPr sz="1000" spc="-10" dirty="0">
                <a:latin typeface="Arial"/>
                <a:cs typeface="Arial"/>
              </a:rPr>
              <a:t>notice that </a:t>
            </a:r>
            <a:r>
              <a:rPr sz="1000" spc="-265" dirty="0">
                <a:latin typeface="Arial"/>
                <a:cs typeface="Arial"/>
              </a:rPr>
              <a:t> </a:t>
            </a:r>
            <a:r>
              <a:rPr sz="1000" spc="-5" dirty="0">
                <a:latin typeface="Arial"/>
                <a:cs typeface="Arial"/>
              </a:rPr>
              <a:t>it missed an operation and can ask </a:t>
            </a:r>
            <a:r>
              <a:rPr sz="1000" i="1" spc="5" dirty="0">
                <a:latin typeface="Arial"/>
                <a:cs typeface="Arial"/>
              </a:rPr>
              <a:t>S</a:t>
            </a:r>
            <a:r>
              <a:rPr sz="1050" i="1" spc="7" baseline="-15873" dirty="0">
                <a:latin typeface="Arial"/>
                <a:cs typeface="Arial"/>
              </a:rPr>
              <a:t>2</a:t>
            </a:r>
            <a:r>
              <a:rPr sz="1050" i="1" spc="262" baseline="-15873" dirty="0">
                <a:latin typeface="Arial"/>
                <a:cs typeface="Arial"/>
              </a:rPr>
              <a:t> </a:t>
            </a:r>
            <a:r>
              <a:rPr sz="1000" spc="-5" dirty="0">
                <a:latin typeface="Arial"/>
                <a:cs typeface="Arial"/>
              </a:rPr>
              <a:t>to help</a:t>
            </a:r>
            <a:r>
              <a:rPr sz="1000" dirty="0">
                <a:latin typeface="Arial"/>
                <a:cs typeface="Arial"/>
              </a:rPr>
              <a:t> </a:t>
            </a:r>
            <a:r>
              <a:rPr sz="1000" spc="-15" dirty="0">
                <a:latin typeface="Arial"/>
                <a:cs typeface="Arial"/>
              </a:rPr>
              <a:t>recover.</a:t>
            </a:r>
            <a:endParaRPr sz="1000">
              <a:latin typeface="Arial"/>
              <a:cs typeface="Arial"/>
            </a:endParaRPr>
          </a:p>
          <a:p>
            <a:pPr marL="41910">
              <a:lnSpc>
                <a:spcPct val="100000"/>
              </a:lnSpc>
              <a:spcBef>
                <a:spcPts val="865"/>
              </a:spcBef>
            </a:pPr>
            <a:r>
              <a:rPr sz="1200" i="1" spc="-5" dirty="0">
                <a:solidFill>
                  <a:srgbClr val="3333B2"/>
                </a:solidFill>
                <a:latin typeface="Arial"/>
                <a:cs typeface="Arial"/>
              </a:rPr>
              <a:t>S</a:t>
            </a:r>
            <a:r>
              <a:rPr sz="1350" i="1" spc="-7" baseline="-12345" dirty="0">
                <a:solidFill>
                  <a:srgbClr val="3333B2"/>
                </a:solidFill>
                <a:latin typeface="Arial"/>
                <a:cs typeface="Arial"/>
              </a:rPr>
              <a:t>2 </a:t>
            </a:r>
            <a:r>
              <a:rPr sz="1350" i="1" spc="-97" baseline="-12345" dirty="0">
                <a:solidFill>
                  <a:srgbClr val="3333B2"/>
                </a:solidFill>
                <a:latin typeface="Arial"/>
                <a:cs typeface="Arial"/>
              </a:rPr>
              <a:t> </a:t>
            </a:r>
            <a:r>
              <a:rPr sz="1200" spc="-5" dirty="0">
                <a:solidFill>
                  <a:srgbClr val="3333B2"/>
                </a:solidFill>
                <a:latin typeface="Arial"/>
                <a:cs typeface="Arial"/>
              </a:rPr>
              <a:t>had missed</a:t>
            </a:r>
            <a:r>
              <a:rPr sz="1200" spc="25" dirty="0">
                <a:solidFill>
                  <a:srgbClr val="3333B2"/>
                </a:solidFill>
                <a:latin typeface="Arial"/>
                <a:cs typeface="Arial"/>
              </a:rPr>
              <a:t> </a:t>
            </a:r>
            <a:r>
              <a:rPr sz="950" spc="30" dirty="0">
                <a:solidFill>
                  <a:srgbClr val="3333B2"/>
                </a:solidFill>
                <a:latin typeface="Arial"/>
                <a:cs typeface="Arial"/>
              </a:rPr>
              <a:t>A</a:t>
            </a:r>
            <a:r>
              <a:rPr sz="950" spc="55" dirty="0">
                <a:solidFill>
                  <a:srgbClr val="3333B2"/>
                </a:solidFill>
                <a:latin typeface="Arial"/>
                <a:cs typeface="Arial"/>
              </a:rPr>
              <a:t>CCEP</a:t>
            </a:r>
            <a:r>
              <a:rPr sz="950" spc="25" dirty="0">
                <a:solidFill>
                  <a:srgbClr val="3333B2"/>
                </a:solidFill>
                <a:latin typeface="Arial"/>
                <a:cs typeface="Arial"/>
              </a:rPr>
              <a:t>T</a:t>
            </a:r>
            <a:r>
              <a:rPr sz="1200" spc="50" dirty="0">
                <a:solidFill>
                  <a:srgbClr val="3333B2"/>
                </a:solidFill>
                <a:latin typeface="Arial"/>
                <a:cs typeface="Arial"/>
              </a:rPr>
              <a:t>(</a:t>
            </a:r>
            <a:r>
              <a:rPr sz="1200" i="1" spc="25" dirty="0">
                <a:solidFill>
                  <a:srgbClr val="3333B2"/>
                </a:solidFill>
                <a:latin typeface="Arial"/>
                <a:cs typeface="Arial"/>
              </a:rPr>
              <a:t>o</a:t>
            </a:r>
            <a:r>
              <a:rPr sz="1350" i="1" spc="60" baseline="27777" dirty="0">
                <a:solidFill>
                  <a:srgbClr val="3333B2"/>
                </a:solidFill>
                <a:latin typeface="Arial"/>
                <a:cs typeface="Arial"/>
              </a:rPr>
              <a:t>1</a:t>
            </a:r>
            <a:r>
              <a:rPr sz="1200" i="1" spc="-5" dirty="0">
                <a:solidFill>
                  <a:srgbClr val="3333B2"/>
                </a:solidFill>
                <a:latin typeface="Arial"/>
                <a:cs typeface="Arial"/>
              </a:rPr>
              <a:t>,</a:t>
            </a:r>
            <a:r>
              <a:rPr sz="1200" i="1" spc="-204" dirty="0">
                <a:solidFill>
                  <a:srgbClr val="3333B2"/>
                </a:solidFill>
                <a:latin typeface="Arial"/>
                <a:cs typeface="Arial"/>
              </a:rPr>
              <a:t> </a:t>
            </a:r>
            <a:r>
              <a:rPr sz="1200" spc="-5" dirty="0">
                <a:solidFill>
                  <a:srgbClr val="3333B2"/>
                </a:solidFill>
                <a:latin typeface="Arial"/>
                <a:cs typeface="Arial"/>
              </a:rPr>
              <a:t>1</a:t>
            </a:r>
            <a:r>
              <a:rPr sz="1200" spc="50" dirty="0">
                <a:solidFill>
                  <a:srgbClr val="3333B2"/>
                </a:solidFill>
                <a:latin typeface="Arial"/>
                <a:cs typeface="Arial"/>
              </a:rPr>
              <a:t>)</a:t>
            </a:r>
            <a:endParaRPr sz="1200">
              <a:latin typeface="Arial"/>
              <a:cs typeface="Arial"/>
            </a:endParaRPr>
          </a:p>
          <a:p>
            <a:pPr marL="41910" marR="554355" indent="-4445">
              <a:lnSpc>
                <a:spcPct val="100000"/>
              </a:lnSpc>
              <a:spcBef>
                <a:spcPts val="225"/>
              </a:spcBef>
            </a:pPr>
            <a:r>
              <a:rPr sz="1000" spc="-5" dirty="0">
                <a:latin typeface="Arial"/>
                <a:cs typeface="Arial"/>
              </a:rPr>
              <a:t>As soon</a:t>
            </a:r>
            <a:r>
              <a:rPr sz="1000" dirty="0">
                <a:latin typeface="Arial"/>
                <a:cs typeface="Arial"/>
              </a:rPr>
              <a:t> </a:t>
            </a:r>
            <a:r>
              <a:rPr sz="1000" spc="-5" dirty="0">
                <a:latin typeface="Arial"/>
                <a:cs typeface="Arial"/>
              </a:rPr>
              <a:t>as</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5" dirty="0">
                <a:latin typeface="Arial"/>
                <a:cs typeface="Arial"/>
              </a:rPr>
              <a:t>proposes an</a:t>
            </a:r>
            <a:r>
              <a:rPr sz="1000" dirty="0">
                <a:latin typeface="Arial"/>
                <a:cs typeface="Arial"/>
              </a:rPr>
              <a:t> </a:t>
            </a:r>
            <a:r>
              <a:rPr sz="1000" spc="-5" dirty="0">
                <a:latin typeface="Arial"/>
                <a:cs typeface="Arial"/>
              </a:rPr>
              <a:t>operation,</a:t>
            </a:r>
            <a:r>
              <a:rPr sz="1000" dirty="0">
                <a:latin typeface="Arial"/>
                <a:cs typeface="Arial"/>
              </a:rPr>
              <a:t> </a:t>
            </a:r>
            <a:r>
              <a:rPr sz="1000" spc="-5" dirty="0">
                <a:latin typeface="Arial"/>
                <a:cs typeface="Arial"/>
              </a:rPr>
              <a:t>it will</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using</a:t>
            </a:r>
            <a:r>
              <a:rPr sz="1000" dirty="0">
                <a:latin typeface="Arial"/>
                <a:cs typeface="Arial"/>
              </a:rPr>
              <a:t> </a:t>
            </a:r>
            <a:r>
              <a:rPr sz="1000" spc="-5" dirty="0">
                <a:latin typeface="Arial"/>
                <a:cs typeface="Arial"/>
              </a:rPr>
              <a:t>a stale </a:t>
            </a:r>
            <a:r>
              <a:rPr sz="1000" spc="-260" dirty="0">
                <a:latin typeface="Arial"/>
                <a:cs typeface="Arial"/>
              </a:rPr>
              <a:t> </a:t>
            </a:r>
            <a:r>
              <a:rPr sz="1000" spc="-10" dirty="0">
                <a:latin typeface="Arial"/>
                <a:cs typeface="Arial"/>
              </a:rPr>
              <a:t>timestamp,</a:t>
            </a:r>
            <a:r>
              <a:rPr sz="1000" dirty="0">
                <a:latin typeface="Arial"/>
                <a:cs typeface="Arial"/>
              </a:rPr>
              <a:t> </a:t>
            </a:r>
            <a:r>
              <a:rPr sz="1000" spc="-5" dirty="0">
                <a:latin typeface="Arial"/>
                <a:cs typeface="Arial"/>
              </a:rPr>
              <a:t>allowing</a:t>
            </a:r>
            <a:r>
              <a:rPr sz="1000" dirty="0">
                <a:latin typeface="Arial"/>
                <a:cs typeface="Arial"/>
              </a:rPr>
              <a:t> </a:t>
            </a:r>
            <a:r>
              <a:rPr sz="1000" i="1" spc="5" dirty="0">
                <a:latin typeface="Arial"/>
                <a:cs typeface="Arial"/>
              </a:rPr>
              <a:t>S</a:t>
            </a:r>
            <a:r>
              <a:rPr sz="1050" i="1" spc="7" baseline="-15873" dirty="0">
                <a:latin typeface="Arial"/>
                <a:cs typeface="Arial"/>
              </a:rPr>
              <a:t>3</a:t>
            </a:r>
            <a:r>
              <a:rPr sz="1050" i="1" spc="262" baseline="-15873"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tell</a:t>
            </a:r>
            <a:r>
              <a:rPr sz="1000" spc="5" dirty="0">
                <a:latin typeface="Arial"/>
                <a:cs typeface="Arial"/>
              </a:rPr>
              <a:t> </a:t>
            </a: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missed</a:t>
            </a:r>
            <a:r>
              <a:rPr sz="1000" dirty="0">
                <a:latin typeface="Arial"/>
                <a:cs typeface="Arial"/>
              </a:rPr>
              <a:t> </a:t>
            </a:r>
            <a:r>
              <a:rPr sz="1000" spc="-5" dirty="0">
                <a:latin typeface="Arial"/>
                <a:cs typeface="Arial"/>
              </a:rPr>
              <a:t>operation</a:t>
            </a:r>
            <a:r>
              <a:rPr sz="1000" spc="5" dirty="0">
                <a:latin typeface="Arial"/>
                <a:cs typeface="Arial"/>
              </a:rPr>
              <a:t> </a:t>
            </a:r>
            <a:r>
              <a:rPr sz="1000" i="1" spc="25" dirty="0">
                <a:latin typeface="Arial"/>
                <a:cs typeface="Arial"/>
              </a:rPr>
              <a:t>o</a:t>
            </a:r>
            <a:r>
              <a:rPr sz="1050" i="1" spc="37" baseline="27777" dirty="0">
                <a:latin typeface="Arial"/>
                <a:cs typeface="Arial"/>
              </a:rPr>
              <a:t>1</a:t>
            </a:r>
            <a:r>
              <a:rPr sz="1000" spc="25" dirty="0">
                <a:latin typeface="Arial"/>
                <a:cs typeface="Arial"/>
              </a:rPr>
              <a:t>.</a:t>
            </a:r>
            <a:endParaRPr sz="10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Understanding</a:t>
            </a:r>
            <a:r>
              <a:rPr sz="600" spc="-25" dirty="0">
                <a:solidFill>
                  <a:srgbClr val="3333B2"/>
                </a:solidFill>
                <a:latin typeface="Arial"/>
                <a:cs typeface="Arial"/>
                <a:hlinkClick r:id="rId3" action="ppaction://hlinksldjump"/>
              </a:rPr>
              <a:t> </a:t>
            </a:r>
            <a:r>
              <a:rPr sz="600" spc="-10" dirty="0">
                <a:solidFill>
                  <a:srgbClr val="3333B2"/>
                </a:solidFill>
                <a:latin typeface="Arial"/>
                <a:cs typeface="Arial"/>
                <a:hlinkClick r:id="rId3" action="ppaction://hlinksldjump"/>
              </a:rPr>
              <a:t>Paxos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41313" y="0"/>
            <a:ext cx="3655060" cy="473075"/>
          </a:xfrm>
          <a:prstGeom prst="rect">
            <a:avLst/>
          </a:prstGeom>
        </p:spPr>
        <p:txBody>
          <a:bodyPr vert="horz" wrap="square" lIns="0" tIns="52705" rIns="0" bIns="0" rtlCol="0">
            <a:spAutoFit/>
          </a:bodyPr>
          <a:lstStyle/>
          <a:p>
            <a:pPr marL="38100">
              <a:lnSpc>
                <a:spcPct val="100000"/>
              </a:lnSpc>
              <a:spcBef>
                <a:spcPts val="41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a:p>
            <a:pPr>
              <a:lnSpc>
                <a:spcPct val="100000"/>
              </a:lnSpc>
              <a:spcBef>
                <a:spcPts val="50"/>
              </a:spcBef>
            </a:pPr>
            <a:endParaRPr sz="650">
              <a:latin typeface="Arial"/>
              <a:cs typeface="Arial"/>
            </a:endParaRPr>
          </a:p>
          <a:p>
            <a:pPr marL="66675">
              <a:lnSpc>
                <a:spcPct val="100000"/>
              </a:lnSpc>
            </a:pPr>
            <a:r>
              <a:rPr sz="1400" spc="15" dirty="0">
                <a:solidFill>
                  <a:srgbClr val="3333B2"/>
                </a:solidFill>
                <a:latin typeface="Arial"/>
                <a:cs typeface="Arial"/>
              </a:rPr>
              <a:t>Leader</a:t>
            </a:r>
            <a:r>
              <a:rPr sz="1400" spc="5" dirty="0">
                <a:solidFill>
                  <a:srgbClr val="3333B2"/>
                </a:solidFill>
                <a:latin typeface="Arial"/>
                <a:cs typeface="Arial"/>
              </a:rPr>
              <a:t> </a:t>
            </a:r>
            <a:r>
              <a:rPr sz="1400" spc="15" dirty="0">
                <a:solidFill>
                  <a:srgbClr val="3333B2"/>
                </a:solidFill>
                <a:latin typeface="Arial"/>
                <a:cs typeface="Arial"/>
              </a:rPr>
              <a:t>c</a:t>
            </a:r>
            <a:r>
              <a:rPr sz="1400" spc="-5" dirty="0">
                <a:solidFill>
                  <a:srgbClr val="3333B2"/>
                </a:solidFill>
                <a:latin typeface="Arial"/>
                <a:cs typeface="Arial"/>
              </a:rPr>
              <a:t>r</a:t>
            </a:r>
            <a:r>
              <a:rPr sz="1400" spc="15" dirty="0">
                <a:solidFill>
                  <a:srgbClr val="3333B2"/>
                </a:solidFill>
                <a:latin typeface="Arial"/>
                <a:cs typeface="Arial"/>
              </a:rPr>
              <a:t>ashes</a:t>
            </a:r>
            <a:r>
              <a:rPr sz="1400" spc="5" dirty="0">
                <a:solidFill>
                  <a:srgbClr val="3333B2"/>
                </a:solidFill>
                <a:latin typeface="Arial"/>
                <a:cs typeface="Arial"/>
              </a:rPr>
              <a:t> </a:t>
            </a:r>
            <a:r>
              <a:rPr sz="1400" spc="10" dirty="0">
                <a:solidFill>
                  <a:srgbClr val="3333B2"/>
                </a:solidFill>
                <a:latin typeface="Arial"/>
                <a:cs typeface="Arial"/>
              </a:rPr>
              <a:t>after</a:t>
            </a:r>
            <a:r>
              <a:rPr sz="1400" spc="5" dirty="0">
                <a:solidFill>
                  <a:srgbClr val="3333B2"/>
                </a:solidFill>
                <a:latin typeface="Arial"/>
                <a:cs typeface="Arial"/>
              </a:rPr>
              <a:t> </a:t>
            </a:r>
            <a:r>
              <a:rPr sz="1400" spc="15" dirty="0">
                <a:solidFill>
                  <a:srgbClr val="3333B2"/>
                </a:solidFill>
                <a:latin typeface="Arial"/>
                <a:cs typeface="Arial"/>
              </a:rPr>
              <a:t>sending</a:t>
            </a:r>
            <a:r>
              <a:rPr sz="1400" spc="45" dirty="0">
                <a:solidFill>
                  <a:srgbClr val="3333B2"/>
                </a:solidFill>
                <a:latin typeface="Arial"/>
                <a:cs typeface="Arial"/>
              </a:rPr>
              <a:t> </a:t>
            </a:r>
            <a:r>
              <a:rPr sz="1150" spc="30" dirty="0">
                <a:solidFill>
                  <a:srgbClr val="3333B2"/>
                </a:solidFill>
                <a:latin typeface="Arial"/>
                <a:cs typeface="Arial"/>
              </a:rPr>
              <a:t>A</a:t>
            </a:r>
            <a:r>
              <a:rPr sz="1150" spc="65" dirty="0">
                <a:solidFill>
                  <a:srgbClr val="3333B2"/>
                </a:solidFill>
                <a:latin typeface="Arial"/>
                <a:cs typeface="Arial"/>
              </a:rPr>
              <a:t>CCEP</a:t>
            </a:r>
            <a:r>
              <a:rPr sz="1150" spc="25" dirty="0">
                <a:solidFill>
                  <a:srgbClr val="3333B2"/>
                </a:solidFill>
                <a:latin typeface="Arial"/>
                <a:cs typeface="Arial"/>
              </a:rPr>
              <a:t>T</a:t>
            </a:r>
            <a:r>
              <a:rPr sz="1400" spc="75" dirty="0">
                <a:solidFill>
                  <a:srgbClr val="3333B2"/>
                </a:solidFill>
                <a:latin typeface="Arial"/>
                <a:cs typeface="Arial"/>
              </a:rPr>
              <a:t>(</a:t>
            </a:r>
            <a:r>
              <a:rPr sz="1400" i="1" spc="55" dirty="0">
                <a:solidFill>
                  <a:srgbClr val="3333B2"/>
                </a:solidFill>
                <a:latin typeface="Arial"/>
                <a:cs typeface="Arial"/>
              </a:rPr>
              <a:t>o</a:t>
            </a:r>
            <a:r>
              <a:rPr sz="1650" i="1" spc="52" baseline="25252" dirty="0">
                <a:solidFill>
                  <a:srgbClr val="3333B2"/>
                </a:solidFill>
                <a:latin typeface="Arial"/>
                <a:cs typeface="Arial"/>
              </a:rPr>
              <a:t>1</a:t>
            </a:r>
            <a:r>
              <a:rPr sz="1400" i="1" spc="5" dirty="0">
                <a:solidFill>
                  <a:srgbClr val="3333B2"/>
                </a:solidFill>
                <a:latin typeface="Arial"/>
                <a:cs typeface="Arial"/>
              </a:rPr>
              <a:t>,</a:t>
            </a:r>
            <a:r>
              <a:rPr sz="1400" i="1" spc="-229" dirty="0">
                <a:solidFill>
                  <a:srgbClr val="3333B2"/>
                </a:solidFill>
                <a:latin typeface="Arial"/>
                <a:cs typeface="Arial"/>
              </a:rPr>
              <a:t> </a:t>
            </a:r>
            <a:r>
              <a:rPr sz="1400" spc="15" dirty="0">
                <a:solidFill>
                  <a:srgbClr val="3333B2"/>
                </a:solidFill>
                <a:latin typeface="Arial"/>
                <a:cs typeface="Arial"/>
              </a:rPr>
              <a:t>1</a:t>
            </a:r>
            <a:r>
              <a:rPr sz="1400" spc="75" dirty="0">
                <a:solidFill>
                  <a:srgbClr val="3333B2"/>
                </a:solidFill>
                <a:latin typeface="Arial"/>
                <a:cs typeface="Arial"/>
              </a:rPr>
              <a:t>)</a:t>
            </a:r>
            <a:endParaRPr sz="14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Example:</a:t>
            </a:r>
            <a:r>
              <a:rPr sz="600" dirty="0">
                <a:solidFill>
                  <a:srgbClr val="262685"/>
                </a:solidFill>
                <a:latin typeface="Arial"/>
                <a:cs typeface="Arial"/>
                <a:hlinkClick r:id="rId6" action="ppaction://hlinksldjump"/>
              </a:rPr>
              <a:t> </a:t>
            </a:r>
            <a:r>
              <a:rPr sz="600" spc="-10" dirty="0">
                <a:solidFill>
                  <a:srgbClr val="262685"/>
                </a:solidFill>
                <a:latin typeface="Arial"/>
                <a:cs typeface="Arial"/>
                <a:hlinkClick r:id="rId6" action="ppaction://hlinksldjump"/>
              </a:rPr>
              <a:t>Paxos</a:t>
            </a:r>
            <a:endParaRPr sz="600">
              <a:latin typeface="Arial"/>
              <a:cs typeface="Arial"/>
            </a:endParaRPr>
          </a:p>
        </p:txBody>
      </p:sp>
      <p:sp>
        <p:nvSpPr>
          <p:cNvPr id="4" name="object 4"/>
          <p:cNvSpPr txBox="1"/>
          <p:nvPr/>
        </p:nvSpPr>
        <p:spPr>
          <a:xfrm>
            <a:off x="317728" y="850284"/>
            <a:ext cx="3968750" cy="1760220"/>
          </a:xfrm>
          <a:prstGeom prst="rect">
            <a:avLst/>
          </a:prstGeom>
        </p:spPr>
        <p:txBody>
          <a:bodyPr vert="horz" wrap="square" lIns="0" tIns="41910" rIns="0" bIns="0" rtlCol="0">
            <a:spAutoFit/>
          </a:bodyPr>
          <a:lstStyle/>
          <a:p>
            <a:pPr marL="41910">
              <a:lnSpc>
                <a:spcPct val="100000"/>
              </a:lnSpc>
              <a:spcBef>
                <a:spcPts val="330"/>
              </a:spcBef>
            </a:pPr>
            <a:r>
              <a:rPr sz="1200" i="1" spc="-5" dirty="0">
                <a:solidFill>
                  <a:srgbClr val="3333B2"/>
                </a:solidFill>
                <a:latin typeface="Arial"/>
                <a:cs typeface="Arial"/>
              </a:rPr>
              <a:t>S</a:t>
            </a:r>
            <a:r>
              <a:rPr sz="1350" i="1" spc="-7" baseline="-12345" dirty="0">
                <a:solidFill>
                  <a:srgbClr val="3333B2"/>
                </a:solidFill>
                <a:latin typeface="Arial"/>
                <a:cs typeface="Arial"/>
              </a:rPr>
              <a:t>3</a:t>
            </a:r>
            <a:r>
              <a:rPr sz="1350" i="1" spc="262" baseline="-12345" dirty="0">
                <a:solidFill>
                  <a:srgbClr val="3333B2"/>
                </a:solidFill>
                <a:latin typeface="Arial"/>
                <a:cs typeface="Arial"/>
              </a:rPr>
              <a:t> </a:t>
            </a:r>
            <a:r>
              <a:rPr sz="1200" spc="-5" dirty="0">
                <a:solidFill>
                  <a:srgbClr val="3333B2"/>
                </a:solidFill>
                <a:latin typeface="Arial"/>
                <a:cs typeface="Arial"/>
              </a:rPr>
              <a:t>is completely</a:t>
            </a:r>
            <a:r>
              <a:rPr sz="1200" spc="-10" dirty="0">
                <a:solidFill>
                  <a:srgbClr val="3333B2"/>
                </a:solidFill>
                <a:latin typeface="Arial"/>
                <a:cs typeface="Arial"/>
              </a:rPr>
              <a:t> </a:t>
            </a:r>
            <a:r>
              <a:rPr sz="1200" spc="-5" dirty="0">
                <a:solidFill>
                  <a:srgbClr val="3333B2"/>
                </a:solidFill>
                <a:latin typeface="Arial"/>
                <a:cs typeface="Arial"/>
              </a:rPr>
              <a:t>ignorant of </a:t>
            </a:r>
            <a:r>
              <a:rPr sz="1200" spc="-10" dirty="0">
                <a:solidFill>
                  <a:srgbClr val="3333B2"/>
                </a:solidFill>
                <a:latin typeface="Arial"/>
                <a:cs typeface="Arial"/>
              </a:rPr>
              <a:t>any</a:t>
            </a:r>
            <a:r>
              <a:rPr sz="1200" spc="-5" dirty="0">
                <a:solidFill>
                  <a:srgbClr val="3333B2"/>
                </a:solidFill>
                <a:latin typeface="Arial"/>
                <a:cs typeface="Arial"/>
              </a:rPr>
              <a:t> activity</a:t>
            </a:r>
            <a:r>
              <a:rPr sz="1200" spc="-10" dirty="0">
                <a:solidFill>
                  <a:srgbClr val="3333B2"/>
                </a:solidFill>
                <a:latin typeface="Arial"/>
                <a:cs typeface="Arial"/>
              </a:rPr>
              <a:t> </a:t>
            </a:r>
            <a:r>
              <a:rPr sz="1200" spc="-15" dirty="0">
                <a:solidFill>
                  <a:srgbClr val="3333B2"/>
                </a:solidFill>
                <a:latin typeface="Arial"/>
                <a:cs typeface="Arial"/>
              </a:rPr>
              <a:t>by</a:t>
            </a:r>
            <a:r>
              <a:rPr sz="1200" spc="-5" dirty="0">
                <a:solidFill>
                  <a:srgbClr val="3333B2"/>
                </a:solidFill>
                <a:latin typeface="Arial"/>
                <a:cs typeface="Arial"/>
              </a:rPr>
              <a:t> </a:t>
            </a:r>
            <a:r>
              <a:rPr sz="1200" i="1" spc="-5" dirty="0">
                <a:solidFill>
                  <a:srgbClr val="3333B2"/>
                </a:solidFill>
                <a:latin typeface="Arial"/>
                <a:cs typeface="Arial"/>
              </a:rPr>
              <a:t>S</a:t>
            </a:r>
            <a:r>
              <a:rPr sz="1350" i="1" spc="-7" baseline="-12345" dirty="0">
                <a:solidFill>
                  <a:srgbClr val="3333B2"/>
                </a:solidFill>
                <a:latin typeface="Arial"/>
                <a:cs typeface="Arial"/>
              </a:rPr>
              <a:t>1</a:t>
            </a:r>
            <a:endParaRPr sz="1350" baseline="-12345">
              <a:latin typeface="Arial"/>
              <a:cs typeface="Arial"/>
            </a:endParaRPr>
          </a:p>
          <a:p>
            <a:pPr marL="41910" marR="30480" indent="-4445">
              <a:lnSpc>
                <a:spcPct val="100000"/>
              </a:lnSpc>
              <a:spcBef>
                <a:spcPts val="190"/>
              </a:spcBef>
            </a:pPr>
            <a:r>
              <a:rPr sz="1000" spc="-10" dirty="0">
                <a:latin typeface="Arial"/>
                <a:cs typeface="Arial"/>
              </a:rPr>
              <a:t>As soon as </a:t>
            </a:r>
            <a:r>
              <a:rPr sz="1000" i="1" spc="5" dirty="0">
                <a:latin typeface="Arial"/>
                <a:cs typeface="Arial"/>
              </a:rPr>
              <a:t>S</a:t>
            </a:r>
            <a:r>
              <a:rPr sz="1050" i="1" spc="7" baseline="-15873" dirty="0">
                <a:latin typeface="Arial"/>
                <a:cs typeface="Arial"/>
              </a:rPr>
              <a:t>2</a:t>
            </a:r>
            <a:r>
              <a:rPr sz="1050" i="1" spc="15" baseline="-15873" dirty="0">
                <a:latin typeface="Arial"/>
                <a:cs typeface="Arial"/>
              </a:rPr>
              <a:t> </a:t>
            </a:r>
            <a:r>
              <a:rPr sz="1000" spc="-10" dirty="0">
                <a:latin typeface="Arial"/>
                <a:cs typeface="Arial"/>
              </a:rPr>
              <a:t>announces that </a:t>
            </a:r>
            <a:r>
              <a:rPr sz="1000" i="1" spc="20" dirty="0">
                <a:latin typeface="Arial"/>
                <a:cs typeface="Arial"/>
              </a:rPr>
              <a:t>o</a:t>
            </a:r>
            <a:r>
              <a:rPr sz="1050" i="1" spc="30" baseline="27777" dirty="0">
                <a:latin typeface="Arial"/>
                <a:cs typeface="Arial"/>
              </a:rPr>
              <a:t>2  </a:t>
            </a:r>
            <a:r>
              <a:rPr sz="1000" spc="-5" dirty="0">
                <a:latin typeface="Arial"/>
                <a:cs typeface="Arial"/>
              </a:rPr>
              <a:t>is </a:t>
            </a:r>
            <a:r>
              <a:rPr sz="1000" spc="-10" dirty="0">
                <a:latin typeface="Arial"/>
                <a:cs typeface="Arial"/>
              </a:rPr>
              <a:t>to be accepted, </a:t>
            </a:r>
            <a:r>
              <a:rPr sz="1000" i="1" spc="5" dirty="0">
                <a:latin typeface="Arial"/>
                <a:cs typeface="Arial"/>
              </a:rPr>
              <a:t>S</a:t>
            </a:r>
            <a:r>
              <a:rPr sz="1050" i="1" spc="7" baseline="-15873" dirty="0">
                <a:latin typeface="Arial"/>
                <a:cs typeface="Arial"/>
              </a:rPr>
              <a:t>3  </a:t>
            </a:r>
            <a:r>
              <a:rPr sz="1000" spc="-5" dirty="0">
                <a:latin typeface="Arial"/>
                <a:cs typeface="Arial"/>
              </a:rPr>
              <a:t>will </a:t>
            </a:r>
            <a:r>
              <a:rPr sz="1000" spc="-10" dirty="0">
                <a:latin typeface="Arial"/>
                <a:cs typeface="Arial"/>
              </a:rPr>
              <a:t>notice that </a:t>
            </a:r>
            <a:r>
              <a:rPr sz="1000" spc="-265" dirty="0">
                <a:latin typeface="Arial"/>
                <a:cs typeface="Arial"/>
              </a:rPr>
              <a:t> </a:t>
            </a:r>
            <a:r>
              <a:rPr sz="1000" spc="-5" dirty="0">
                <a:latin typeface="Arial"/>
                <a:cs typeface="Arial"/>
              </a:rPr>
              <a:t>it missed an operation and can ask </a:t>
            </a:r>
            <a:r>
              <a:rPr sz="1000" i="1" spc="5" dirty="0">
                <a:latin typeface="Arial"/>
                <a:cs typeface="Arial"/>
              </a:rPr>
              <a:t>S</a:t>
            </a:r>
            <a:r>
              <a:rPr sz="1050" i="1" spc="7" baseline="-15873" dirty="0">
                <a:latin typeface="Arial"/>
                <a:cs typeface="Arial"/>
              </a:rPr>
              <a:t>2</a:t>
            </a:r>
            <a:r>
              <a:rPr sz="1050" i="1" spc="262" baseline="-15873" dirty="0">
                <a:latin typeface="Arial"/>
                <a:cs typeface="Arial"/>
              </a:rPr>
              <a:t> </a:t>
            </a:r>
            <a:r>
              <a:rPr sz="1000" spc="-5" dirty="0">
                <a:latin typeface="Arial"/>
                <a:cs typeface="Arial"/>
              </a:rPr>
              <a:t>to help</a:t>
            </a:r>
            <a:r>
              <a:rPr sz="1000" dirty="0">
                <a:latin typeface="Arial"/>
                <a:cs typeface="Arial"/>
              </a:rPr>
              <a:t> </a:t>
            </a:r>
            <a:r>
              <a:rPr sz="1000" spc="-15" dirty="0">
                <a:latin typeface="Arial"/>
                <a:cs typeface="Arial"/>
              </a:rPr>
              <a:t>recover.</a:t>
            </a:r>
            <a:endParaRPr sz="1000">
              <a:latin typeface="Arial"/>
              <a:cs typeface="Arial"/>
            </a:endParaRPr>
          </a:p>
          <a:p>
            <a:pPr marL="41910">
              <a:lnSpc>
                <a:spcPct val="100000"/>
              </a:lnSpc>
              <a:spcBef>
                <a:spcPts val="865"/>
              </a:spcBef>
            </a:pPr>
            <a:r>
              <a:rPr sz="1200" i="1" spc="-5" dirty="0">
                <a:solidFill>
                  <a:srgbClr val="3333B2"/>
                </a:solidFill>
                <a:latin typeface="Arial"/>
                <a:cs typeface="Arial"/>
              </a:rPr>
              <a:t>S</a:t>
            </a:r>
            <a:r>
              <a:rPr sz="1350" i="1" spc="-7" baseline="-12345" dirty="0">
                <a:solidFill>
                  <a:srgbClr val="3333B2"/>
                </a:solidFill>
                <a:latin typeface="Arial"/>
                <a:cs typeface="Arial"/>
              </a:rPr>
              <a:t>2 </a:t>
            </a:r>
            <a:r>
              <a:rPr sz="1350" i="1" spc="-97" baseline="-12345" dirty="0">
                <a:solidFill>
                  <a:srgbClr val="3333B2"/>
                </a:solidFill>
                <a:latin typeface="Arial"/>
                <a:cs typeface="Arial"/>
              </a:rPr>
              <a:t> </a:t>
            </a:r>
            <a:r>
              <a:rPr sz="1200" spc="-5" dirty="0">
                <a:solidFill>
                  <a:srgbClr val="3333B2"/>
                </a:solidFill>
                <a:latin typeface="Arial"/>
                <a:cs typeface="Arial"/>
              </a:rPr>
              <a:t>had missed</a:t>
            </a:r>
            <a:r>
              <a:rPr sz="1200" spc="25" dirty="0">
                <a:solidFill>
                  <a:srgbClr val="3333B2"/>
                </a:solidFill>
                <a:latin typeface="Arial"/>
                <a:cs typeface="Arial"/>
              </a:rPr>
              <a:t> </a:t>
            </a:r>
            <a:r>
              <a:rPr sz="950" spc="30" dirty="0">
                <a:solidFill>
                  <a:srgbClr val="3333B2"/>
                </a:solidFill>
                <a:latin typeface="Arial"/>
                <a:cs typeface="Arial"/>
              </a:rPr>
              <a:t>A</a:t>
            </a:r>
            <a:r>
              <a:rPr sz="950" spc="55" dirty="0">
                <a:solidFill>
                  <a:srgbClr val="3333B2"/>
                </a:solidFill>
                <a:latin typeface="Arial"/>
                <a:cs typeface="Arial"/>
              </a:rPr>
              <a:t>CCEP</a:t>
            </a:r>
            <a:r>
              <a:rPr sz="950" spc="25" dirty="0">
                <a:solidFill>
                  <a:srgbClr val="3333B2"/>
                </a:solidFill>
                <a:latin typeface="Arial"/>
                <a:cs typeface="Arial"/>
              </a:rPr>
              <a:t>T</a:t>
            </a:r>
            <a:r>
              <a:rPr sz="1200" spc="50" dirty="0">
                <a:solidFill>
                  <a:srgbClr val="3333B2"/>
                </a:solidFill>
                <a:latin typeface="Arial"/>
                <a:cs typeface="Arial"/>
              </a:rPr>
              <a:t>(</a:t>
            </a:r>
            <a:r>
              <a:rPr sz="1200" i="1" spc="25" dirty="0">
                <a:solidFill>
                  <a:srgbClr val="3333B2"/>
                </a:solidFill>
                <a:latin typeface="Arial"/>
                <a:cs typeface="Arial"/>
              </a:rPr>
              <a:t>o</a:t>
            </a:r>
            <a:r>
              <a:rPr sz="1350" i="1" spc="60" baseline="27777" dirty="0">
                <a:solidFill>
                  <a:srgbClr val="3333B2"/>
                </a:solidFill>
                <a:latin typeface="Arial"/>
                <a:cs typeface="Arial"/>
              </a:rPr>
              <a:t>1</a:t>
            </a:r>
            <a:r>
              <a:rPr sz="1200" i="1" spc="-5" dirty="0">
                <a:solidFill>
                  <a:srgbClr val="3333B2"/>
                </a:solidFill>
                <a:latin typeface="Arial"/>
                <a:cs typeface="Arial"/>
              </a:rPr>
              <a:t>,</a:t>
            </a:r>
            <a:r>
              <a:rPr sz="1200" i="1" spc="-204" dirty="0">
                <a:solidFill>
                  <a:srgbClr val="3333B2"/>
                </a:solidFill>
                <a:latin typeface="Arial"/>
                <a:cs typeface="Arial"/>
              </a:rPr>
              <a:t> </a:t>
            </a:r>
            <a:r>
              <a:rPr sz="1200" spc="-5" dirty="0">
                <a:solidFill>
                  <a:srgbClr val="3333B2"/>
                </a:solidFill>
                <a:latin typeface="Arial"/>
                <a:cs typeface="Arial"/>
              </a:rPr>
              <a:t>1</a:t>
            </a:r>
            <a:r>
              <a:rPr sz="1200" spc="50" dirty="0">
                <a:solidFill>
                  <a:srgbClr val="3333B2"/>
                </a:solidFill>
                <a:latin typeface="Arial"/>
                <a:cs typeface="Arial"/>
              </a:rPr>
              <a:t>)</a:t>
            </a:r>
            <a:endParaRPr sz="1200">
              <a:latin typeface="Arial"/>
              <a:cs typeface="Arial"/>
            </a:endParaRPr>
          </a:p>
          <a:p>
            <a:pPr marL="41910" marR="554355" indent="-4445">
              <a:lnSpc>
                <a:spcPct val="100000"/>
              </a:lnSpc>
              <a:spcBef>
                <a:spcPts val="225"/>
              </a:spcBef>
            </a:pPr>
            <a:r>
              <a:rPr sz="1000" spc="-5" dirty="0">
                <a:latin typeface="Arial"/>
                <a:cs typeface="Arial"/>
              </a:rPr>
              <a:t>As soon</a:t>
            </a:r>
            <a:r>
              <a:rPr sz="1000" dirty="0">
                <a:latin typeface="Arial"/>
                <a:cs typeface="Arial"/>
              </a:rPr>
              <a:t> </a:t>
            </a:r>
            <a:r>
              <a:rPr sz="1000" spc="-5" dirty="0">
                <a:latin typeface="Arial"/>
                <a:cs typeface="Arial"/>
              </a:rPr>
              <a:t>as</a:t>
            </a:r>
            <a:r>
              <a:rPr sz="1000" dirty="0">
                <a:latin typeface="Arial"/>
                <a:cs typeface="Arial"/>
              </a:rPr>
              <a:t> </a:t>
            </a: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5" dirty="0">
                <a:latin typeface="Arial"/>
                <a:cs typeface="Arial"/>
              </a:rPr>
              <a:t>proposes an</a:t>
            </a:r>
            <a:r>
              <a:rPr sz="1000" dirty="0">
                <a:latin typeface="Arial"/>
                <a:cs typeface="Arial"/>
              </a:rPr>
              <a:t> </a:t>
            </a:r>
            <a:r>
              <a:rPr sz="1000" spc="-5" dirty="0">
                <a:latin typeface="Arial"/>
                <a:cs typeface="Arial"/>
              </a:rPr>
              <a:t>operation,</a:t>
            </a:r>
            <a:r>
              <a:rPr sz="1000" dirty="0">
                <a:latin typeface="Arial"/>
                <a:cs typeface="Arial"/>
              </a:rPr>
              <a:t> </a:t>
            </a:r>
            <a:r>
              <a:rPr sz="1000" spc="-5" dirty="0">
                <a:latin typeface="Arial"/>
                <a:cs typeface="Arial"/>
              </a:rPr>
              <a:t>it will</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using</a:t>
            </a:r>
            <a:r>
              <a:rPr sz="1000" dirty="0">
                <a:latin typeface="Arial"/>
                <a:cs typeface="Arial"/>
              </a:rPr>
              <a:t> </a:t>
            </a:r>
            <a:r>
              <a:rPr sz="1000" spc="-5" dirty="0">
                <a:latin typeface="Arial"/>
                <a:cs typeface="Arial"/>
              </a:rPr>
              <a:t>a stale </a:t>
            </a:r>
            <a:r>
              <a:rPr sz="1000" spc="-260" dirty="0">
                <a:latin typeface="Arial"/>
                <a:cs typeface="Arial"/>
              </a:rPr>
              <a:t> </a:t>
            </a:r>
            <a:r>
              <a:rPr sz="1000" spc="-10" dirty="0">
                <a:latin typeface="Arial"/>
                <a:cs typeface="Arial"/>
              </a:rPr>
              <a:t>timestamp,</a:t>
            </a:r>
            <a:r>
              <a:rPr sz="1000" dirty="0">
                <a:latin typeface="Arial"/>
                <a:cs typeface="Arial"/>
              </a:rPr>
              <a:t> </a:t>
            </a:r>
            <a:r>
              <a:rPr sz="1000" spc="-5" dirty="0">
                <a:latin typeface="Arial"/>
                <a:cs typeface="Arial"/>
              </a:rPr>
              <a:t>allowing</a:t>
            </a:r>
            <a:r>
              <a:rPr sz="1000" dirty="0">
                <a:latin typeface="Arial"/>
                <a:cs typeface="Arial"/>
              </a:rPr>
              <a:t> </a:t>
            </a:r>
            <a:r>
              <a:rPr sz="1000" i="1" spc="5" dirty="0">
                <a:latin typeface="Arial"/>
                <a:cs typeface="Arial"/>
              </a:rPr>
              <a:t>S</a:t>
            </a:r>
            <a:r>
              <a:rPr sz="1050" i="1" spc="7" baseline="-15873" dirty="0">
                <a:latin typeface="Arial"/>
                <a:cs typeface="Arial"/>
              </a:rPr>
              <a:t>3</a:t>
            </a:r>
            <a:r>
              <a:rPr sz="1050" i="1" spc="262" baseline="-15873"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tell</a:t>
            </a:r>
            <a:r>
              <a:rPr sz="1000" spc="5" dirty="0">
                <a:latin typeface="Arial"/>
                <a:cs typeface="Arial"/>
              </a:rPr>
              <a:t> </a:t>
            </a: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missed</a:t>
            </a:r>
            <a:r>
              <a:rPr sz="1000" dirty="0">
                <a:latin typeface="Arial"/>
                <a:cs typeface="Arial"/>
              </a:rPr>
              <a:t> </a:t>
            </a:r>
            <a:r>
              <a:rPr sz="1000" spc="-5" dirty="0">
                <a:latin typeface="Arial"/>
                <a:cs typeface="Arial"/>
              </a:rPr>
              <a:t>operation</a:t>
            </a:r>
            <a:r>
              <a:rPr sz="1000" spc="5" dirty="0">
                <a:latin typeface="Arial"/>
                <a:cs typeface="Arial"/>
              </a:rPr>
              <a:t> </a:t>
            </a:r>
            <a:r>
              <a:rPr sz="1000" i="1" spc="25" dirty="0">
                <a:latin typeface="Arial"/>
                <a:cs typeface="Arial"/>
              </a:rPr>
              <a:t>o</a:t>
            </a:r>
            <a:r>
              <a:rPr sz="1050" i="1" spc="37" baseline="27777" dirty="0">
                <a:latin typeface="Arial"/>
                <a:cs typeface="Arial"/>
              </a:rPr>
              <a:t>1</a:t>
            </a:r>
            <a:r>
              <a:rPr sz="1000" spc="25" dirty="0">
                <a:latin typeface="Arial"/>
                <a:cs typeface="Arial"/>
              </a:rPr>
              <a:t>.</a:t>
            </a:r>
            <a:endParaRPr sz="1000">
              <a:latin typeface="Arial"/>
              <a:cs typeface="Arial"/>
            </a:endParaRPr>
          </a:p>
          <a:p>
            <a:pPr marL="41910">
              <a:lnSpc>
                <a:spcPts val="1410"/>
              </a:lnSpc>
              <a:spcBef>
                <a:spcPts val="685"/>
              </a:spcBef>
            </a:pPr>
            <a:r>
              <a:rPr sz="1200" spc="-5" dirty="0">
                <a:solidFill>
                  <a:srgbClr val="FA0000"/>
                </a:solidFill>
                <a:latin typeface="Arial"/>
                <a:cs typeface="Arial"/>
              </a:rPr>
              <a:t>Observation</a:t>
            </a:r>
            <a:endParaRPr sz="1200">
              <a:latin typeface="Arial"/>
              <a:cs typeface="Arial"/>
            </a:endParaRPr>
          </a:p>
          <a:p>
            <a:pPr marL="41910" marR="236220">
              <a:lnSpc>
                <a:spcPts val="1200"/>
              </a:lnSpc>
              <a:spcBef>
                <a:spcPts val="15"/>
              </a:spcBef>
            </a:pPr>
            <a:r>
              <a:rPr sz="1000" spc="-15" dirty="0">
                <a:latin typeface="Arial"/>
                <a:cs typeface="Arial"/>
              </a:rPr>
              <a:t>Paxos</a:t>
            </a:r>
            <a:r>
              <a:rPr sz="1000"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three</a:t>
            </a:r>
            <a:r>
              <a:rPr sz="1000" dirty="0">
                <a:latin typeface="Arial"/>
                <a:cs typeface="Arial"/>
              </a:rPr>
              <a:t> </a:t>
            </a:r>
            <a:r>
              <a:rPr sz="1000" spc="-5" dirty="0">
                <a:latin typeface="Arial"/>
                <a:cs typeface="Arial"/>
              </a:rPr>
              <a:t>servers)</a:t>
            </a:r>
            <a:r>
              <a:rPr sz="1000" spc="5" dirty="0">
                <a:latin typeface="Arial"/>
                <a:cs typeface="Arial"/>
              </a:rPr>
              <a:t> </a:t>
            </a:r>
            <a:r>
              <a:rPr sz="1000" spc="-10" dirty="0">
                <a:latin typeface="Arial"/>
                <a:cs typeface="Arial"/>
              </a:rPr>
              <a:t>behaves</a:t>
            </a:r>
            <a:r>
              <a:rPr sz="1000" spc="5" dirty="0">
                <a:latin typeface="Arial"/>
                <a:cs typeface="Arial"/>
              </a:rPr>
              <a:t> </a:t>
            </a:r>
            <a:r>
              <a:rPr sz="1000" spc="-5" dirty="0">
                <a:latin typeface="Arial"/>
                <a:cs typeface="Arial"/>
              </a:rPr>
              <a:t>correctly</a:t>
            </a:r>
            <a:r>
              <a:rPr sz="1000" dirty="0">
                <a:latin typeface="Arial"/>
                <a:cs typeface="Arial"/>
              </a:rPr>
              <a:t> </a:t>
            </a:r>
            <a:r>
              <a:rPr sz="1000" spc="-5" dirty="0">
                <a:latin typeface="Arial"/>
                <a:cs typeface="Arial"/>
              </a:rPr>
              <a:t>when</a:t>
            </a:r>
            <a:r>
              <a:rPr sz="1000" spc="5"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single</a:t>
            </a:r>
            <a:r>
              <a:rPr sz="1000" dirty="0">
                <a:latin typeface="Arial"/>
                <a:cs typeface="Arial"/>
              </a:rPr>
              <a:t> </a:t>
            </a:r>
            <a:r>
              <a:rPr sz="1000" spc="-5" dirty="0">
                <a:latin typeface="Arial"/>
                <a:cs typeface="Arial"/>
              </a:rPr>
              <a:t>server </a:t>
            </a:r>
            <a:r>
              <a:rPr sz="1000" spc="-260" dirty="0">
                <a:latin typeface="Arial"/>
                <a:cs typeface="Arial"/>
              </a:rPr>
              <a:t> </a:t>
            </a:r>
            <a:r>
              <a:rPr sz="1000" spc="-5" dirty="0">
                <a:latin typeface="Arial"/>
                <a:cs typeface="Arial"/>
              </a:rPr>
              <a:t>crashes,</a:t>
            </a:r>
            <a:r>
              <a:rPr sz="1000" spc="-10" dirty="0">
                <a:latin typeface="Arial"/>
                <a:cs typeface="Arial"/>
              </a:rPr>
              <a:t> </a:t>
            </a:r>
            <a:r>
              <a:rPr sz="1000" spc="-5" dirty="0">
                <a:latin typeface="Arial"/>
                <a:cs typeface="Arial"/>
              </a:rPr>
              <a:t>regardless when that crash took place.</a:t>
            </a:r>
            <a:endParaRPr sz="10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1837689"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3333B2"/>
                </a:solidFill>
                <a:latin typeface="Arial"/>
                <a:cs typeface="Arial"/>
              </a:rPr>
              <a:t>False</a:t>
            </a:r>
            <a:r>
              <a:rPr sz="1400" spc="-25" dirty="0">
                <a:solidFill>
                  <a:srgbClr val="3333B2"/>
                </a:solidFill>
                <a:latin typeface="Arial"/>
                <a:cs typeface="Arial"/>
              </a:rPr>
              <a:t> </a:t>
            </a:r>
            <a:r>
              <a:rPr sz="1400" spc="10" dirty="0">
                <a:solidFill>
                  <a:srgbClr val="3333B2"/>
                </a:solidFill>
                <a:latin typeface="Arial"/>
                <a:cs typeface="Arial"/>
              </a:rPr>
              <a:t>crash</a:t>
            </a:r>
            <a:r>
              <a:rPr sz="1400" spc="-25" dirty="0">
                <a:solidFill>
                  <a:srgbClr val="3333B2"/>
                </a:solidFill>
                <a:latin typeface="Arial"/>
                <a:cs typeface="Arial"/>
              </a:rPr>
              <a:t> </a:t>
            </a:r>
            <a:r>
              <a:rPr sz="1400" spc="15" dirty="0">
                <a:solidFill>
                  <a:srgbClr val="3333B2"/>
                </a:solidFill>
                <a:latin typeface="Arial"/>
                <a:cs typeface="Arial"/>
              </a:rPr>
              <a:t>detections</a:t>
            </a:r>
            <a:endParaRPr sz="1400">
              <a:latin typeface="Arial"/>
              <a:cs typeface="Arial"/>
            </a:endParaRPr>
          </a:p>
        </p:txBody>
      </p:sp>
      <p:grpSp>
        <p:nvGrpSpPr>
          <p:cNvPr id="5" name="object 5"/>
          <p:cNvGrpSpPr/>
          <p:nvPr/>
        </p:nvGrpSpPr>
        <p:grpSpPr>
          <a:xfrm>
            <a:off x="529782" y="1682252"/>
            <a:ext cx="3709670" cy="342900"/>
            <a:chOff x="529782" y="1682252"/>
            <a:chExt cx="3709670" cy="342900"/>
          </a:xfrm>
        </p:grpSpPr>
        <p:sp>
          <p:nvSpPr>
            <p:cNvPr id="6" name="object 6"/>
            <p:cNvSpPr/>
            <p:nvPr/>
          </p:nvSpPr>
          <p:spPr>
            <a:xfrm>
              <a:off x="534227" y="2002899"/>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7" name="object 7"/>
            <p:cNvSpPr/>
            <p:nvPr/>
          </p:nvSpPr>
          <p:spPr>
            <a:xfrm>
              <a:off x="4195705" y="1981056"/>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534227" y="1704096"/>
              <a:ext cx="3677920" cy="0"/>
            </a:xfrm>
            <a:custGeom>
              <a:avLst/>
              <a:gdLst/>
              <a:ahLst/>
              <a:cxnLst/>
              <a:rect l="l" t="t" r="r" b="b"/>
              <a:pathLst>
                <a:path w="3677920">
                  <a:moveTo>
                    <a:pt x="0" y="0"/>
                  </a:moveTo>
                  <a:lnTo>
                    <a:pt x="2495010" y="0"/>
                  </a:lnTo>
                </a:path>
                <a:path w="3677920">
                  <a:moveTo>
                    <a:pt x="2584652" y="0"/>
                  </a:moveTo>
                  <a:lnTo>
                    <a:pt x="3092617" y="0"/>
                  </a:lnTo>
                </a:path>
                <a:path w="3677920">
                  <a:moveTo>
                    <a:pt x="3182259" y="0"/>
                  </a:moveTo>
                  <a:lnTo>
                    <a:pt x="3677860" y="0"/>
                  </a:lnTo>
                </a:path>
              </a:pathLst>
            </a:custGeom>
            <a:ln w="8401">
              <a:solidFill>
                <a:srgbClr val="000000"/>
              </a:solidFill>
            </a:ln>
          </p:spPr>
          <p:txBody>
            <a:bodyPr wrap="square" lIns="0" tIns="0" rIns="0" bIns="0" rtlCol="0"/>
            <a:lstStyle/>
            <a:p>
              <a:endParaRPr/>
            </a:p>
          </p:txBody>
        </p:sp>
        <p:sp>
          <p:nvSpPr>
            <p:cNvPr id="9" name="object 9"/>
            <p:cNvSpPr/>
            <p:nvPr/>
          </p:nvSpPr>
          <p:spPr>
            <a:xfrm>
              <a:off x="4195705" y="1682252"/>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10" name="object 10"/>
          <p:cNvSpPr txBox="1"/>
          <p:nvPr/>
        </p:nvSpPr>
        <p:spPr>
          <a:xfrm>
            <a:off x="365629" y="1620741"/>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3</a:t>
            </a:r>
            <a:endParaRPr sz="825" baseline="-15151">
              <a:latin typeface="Times New Roman"/>
              <a:cs typeface="Times New Roman"/>
            </a:endParaRPr>
          </a:p>
        </p:txBody>
      </p:sp>
      <p:sp>
        <p:nvSpPr>
          <p:cNvPr id="11" name="object 11"/>
          <p:cNvSpPr/>
          <p:nvPr/>
        </p:nvSpPr>
        <p:spPr>
          <a:xfrm>
            <a:off x="534227" y="1405292"/>
            <a:ext cx="1494155" cy="0"/>
          </a:xfrm>
          <a:custGeom>
            <a:avLst/>
            <a:gdLst/>
            <a:ahLst/>
            <a:cxnLst/>
            <a:rect l="l" t="t" r="r" b="b"/>
            <a:pathLst>
              <a:path w="1494155">
                <a:moveTo>
                  <a:pt x="0" y="0"/>
                </a:moveTo>
                <a:lnTo>
                  <a:pt x="1494018" y="0"/>
                </a:lnTo>
              </a:path>
            </a:pathLst>
          </a:custGeom>
          <a:ln w="8401">
            <a:solidFill>
              <a:srgbClr val="000000"/>
            </a:solidFill>
          </a:ln>
        </p:spPr>
        <p:txBody>
          <a:bodyPr wrap="square" lIns="0" tIns="0" rIns="0" bIns="0" rtlCol="0"/>
          <a:lstStyle/>
          <a:p>
            <a:endParaRPr/>
          </a:p>
        </p:txBody>
      </p:sp>
      <p:sp>
        <p:nvSpPr>
          <p:cNvPr id="12" name="object 12"/>
          <p:cNvSpPr txBox="1"/>
          <p:nvPr/>
        </p:nvSpPr>
        <p:spPr>
          <a:xfrm>
            <a:off x="365629" y="1322315"/>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grpSp>
        <p:nvGrpSpPr>
          <p:cNvPr id="13" name="object 13"/>
          <p:cNvGrpSpPr/>
          <p:nvPr/>
        </p:nvGrpSpPr>
        <p:grpSpPr>
          <a:xfrm>
            <a:off x="2028197" y="1359035"/>
            <a:ext cx="2211705" cy="92710"/>
            <a:chOff x="2028197" y="1359035"/>
            <a:chExt cx="2211705" cy="92710"/>
          </a:xfrm>
        </p:grpSpPr>
        <p:sp>
          <p:nvSpPr>
            <p:cNvPr id="14" name="object 14"/>
            <p:cNvSpPr/>
            <p:nvPr/>
          </p:nvSpPr>
          <p:spPr>
            <a:xfrm>
              <a:off x="2037697" y="1405292"/>
              <a:ext cx="2168525" cy="0"/>
            </a:xfrm>
            <a:custGeom>
              <a:avLst/>
              <a:gdLst/>
              <a:ahLst/>
              <a:cxnLst/>
              <a:rect l="l" t="t" r="r" b="b"/>
              <a:pathLst>
                <a:path w="2168525">
                  <a:moveTo>
                    <a:pt x="0" y="0"/>
                  </a:moveTo>
                  <a:lnTo>
                    <a:pt x="2168088" y="0"/>
                  </a:lnTo>
                </a:path>
              </a:pathLst>
            </a:custGeom>
            <a:ln w="12602">
              <a:solidFill>
                <a:srgbClr val="000000"/>
              </a:solidFill>
            </a:ln>
          </p:spPr>
          <p:txBody>
            <a:bodyPr wrap="square" lIns="0" tIns="0" rIns="0" bIns="0" rtlCol="0"/>
            <a:lstStyle/>
            <a:p>
              <a:endParaRPr/>
            </a:p>
          </p:txBody>
        </p:sp>
        <p:sp>
          <p:nvSpPr>
            <p:cNvPr id="15" name="object 15"/>
            <p:cNvSpPr/>
            <p:nvPr/>
          </p:nvSpPr>
          <p:spPr>
            <a:xfrm>
              <a:off x="2034547" y="1365385"/>
              <a:ext cx="0" cy="80010"/>
            </a:xfrm>
            <a:custGeom>
              <a:avLst/>
              <a:gdLst/>
              <a:ahLst/>
              <a:cxnLst/>
              <a:rect l="l" t="t" r="r" b="b"/>
              <a:pathLst>
                <a:path h="80009">
                  <a:moveTo>
                    <a:pt x="0" y="0"/>
                  </a:moveTo>
                  <a:lnTo>
                    <a:pt x="0" y="79812"/>
                  </a:lnTo>
                </a:path>
              </a:pathLst>
            </a:custGeom>
            <a:ln w="12602">
              <a:solidFill>
                <a:srgbClr val="000000"/>
              </a:solidFill>
            </a:ln>
          </p:spPr>
          <p:txBody>
            <a:bodyPr wrap="square" lIns="0" tIns="0" rIns="0" bIns="0" rtlCol="0"/>
            <a:lstStyle/>
            <a:p>
              <a:endParaRPr/>
            </a:p>
          </p:txBody>
        </p:sp>
        <p:sp>
          <p:nvSpPr>
            <p:cNvPr id="16" name="object 16"/>
            <p:cNvSpPr/>
            <p:nvPr/>
          </p:nvSpPr>
          <p:spPr>
            <a:xfrm>
              <a:off x="4185622" y="1378407"/>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17" name="object 17"/>
          <p:cNvSpPr txBox="1"/>
          <p:nvPr/>
        </p:nvSpPr>
        <p:spPr>
          <a:xfrm>
            <a:off x="1933799" y="1415836"/>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18" name="object 18"/>
          <p:cNvGrpSpPr/>
          <p:nvPr/>
        </p:nvGrpSpPr>
        <p:grpSpPr>
          <a:xfrm>
            <a:off x="530026" y="1060232"/>
            <a:ext cx="3709670" cy="347345"/>
            <a:chOff x="530026" y="1060232"/>
            <a:chExt cx="3709670" cy="347345"/>
          </a:xfrm>
        </p:grpSpPr>
        <p:sp>
          <p:nvSpPr>
            <p:cNvPr id="19" name="object 19"/>
            <p:cNvSpPr/>
            <p:nvPr/>
          </p:nvSpPr>
          <p:spPr>
            <a:xfrm>
              <a:off x="1729442" y="1106488"/>
              <a:ext cx="299085" cy="299085"/>
            </a:xfrm>
            <a:custGeom>
              <a:avLst/>
              <a:gdLst/>
              <a:ahLst/>
              <a:cxnLst/>
              <a:rect l="l" t="t" r="r" b="b"/>
              <a:pathLst>
                <a:path w="299085" h="299084">
                  <a:moveTo>
                    <a:pt x="0" y="0"/>
                  </a:moveTo>
                  <a:lnTo>
                    <a:pt x="298803" y="298803"/>
                  </a:lnTo>
                </a:path>
              </a:pathLst>
            </a:custGeom>
            <a:ln w="4200">
              <a:solidFill>
                <a:srgbClr val="999999"/>
              </a:solidFill>
              <a:prstDash val="dash"/>
            </a:ln>
          </p:spPr>
          <p:txBody>
            <a:bodyPr wrap="square" lIns="0" tIns="0" rIns="0" bIns="0" rtlCol="0"/>
            <a:lstStyle/>
            <a:p>
              <a:endParaRPr/>
            </a:p>
          </p:txBody>
        </p:sp>
        <p:sp>
          <p:nvSpPr>
            <p:cNvPr id="20" name="object 20"/>
            <p:cNvSpPr/>
            <p:nvPr/>
          </p:nvSpPr>
          <p:spPr>
            <a:xfrm>
              <a:off x="530026" y="1102287"/>
              <a:ext cx="8890" cy="8890"/>
            </a:xfrm>
            <a:custGeom>
              <a:avLst/>
              <a:gdLst/>
              <a:ahLst/>
              <a:cxnLst/>
              <a:rect l="l" t="t" r="r" b="b"/>
              <a:pathLst>
                <a:path w="8890" h="8890">
                  <a:moveTo>
                    <a:pt x="0" y="4200"/>
                  </a:moveTo>
                  <a:lnTo>
                    <a:pt x="1230" y="1230"/>
                  </a:lnTo>
                  <a:lnTo>
                    <a:pt x="4200" y="0"/>
                  </a:lnTo>
                  <a:lnTo>
                    <a:pt x="7170" y="1230"/>
                  </a:lnTo>
                  <a:lnTo>
                    <a:pt x="8401" y="4200"/>
                  </a:lnTo>
                  <a:lnTo>
                    <a:pt x="7170" y="7170"/>
                  </a:lnTo>
                  <a:lnTo>
                    <a:pt x="4200" y="8401"/>
                  </a:lnTo>
                  <a:lnTo>
                    <a:pt x="1230" y="7170"/>
                  </a:lnTo>
                  <a:lnTo>
                    <a:pt x="0" y="4200"/>
                  </a:lnTo>
                  <a:close/>
                </a:path>
              </a:pathLst>
            </a:custGeom>
            <a:solidFill>
              <a:srgbClr val="000000"/>
            </a:solidFill>
          </p:spPr>
          <p:txBody>
            <a:bodyPr wrap="square" lIns="0" tIns="0" rIns="0" bIns="0" rtlCol="0"/>
            <a:lstStyle/>
            <a:p>
              <a:endParaRPr/>
            </a:p>
          </p:txBody>
        </p:sp>
        <p:sp>
          <p:nvSpPr>
            <p:cNvPr id="21" name="object 21"/>
            <p:cNvSpPr/>
            <p:nvPr/>
          </p:nvSpPr>
          <p:spPr>
            <a:xfrm>
              <a:off x="543678" y="1106488"/>
              <a:ext cx="3662679" cy="0"/>
            </a:xfrm>
            <a:custGeom>
              <a:avLst/>
              <a:gdLst/>
              <a:ahLst/>
              <a:cxnLst/>
              <a:rect l="l" t="t" r="r" b="b"/>
              <a:pathLst>
                <a:path w="3662679">
                  <a:moveTo>
                    <a:pt x="0" y="0"/>
                  </a:moveTo>
                  <a:lnTo>
                    <a:pt x="2634961" y="0"/>
                  </a:lnTo>
                </a:path>
                <a:path w="3662679">
                  <a:moveTo>
                    <a:pt x="2724602" y="0"/>
                  </a:moveTo>
                  <a:lnTo>
                    <a:pt x="3662107" y="0"/>
                  </a:lnTo>
                </a:path>
              </a:pathLst>
            </a:custGeom>
            <a:ln w="12602">
              <a:solidFill>
                <a:srgbClr val="000000"/>
              </a:solidFill>
            </a:ln>
          </p:spPr>
          <p:txBody>
            <a:bodyPr wrap="square" lIns="0" tIns="0" rIns="0" bIns="0" rtlCol="0"/>
            <a:lstStyle/>
            <a:p>
              <a:endParaRPr/>
            </a:p>
          </p:txBody>
        </p:sp>
        <p:sp>
          <p:nvSpPr>
            <p:cNvPr id="22" name="object 22"/>
            <p:cNvSpPr/>
            <p:nvPr/>
          </p:nvSpPr>
          <p:spPr>
            <a:xfrm>
              <a:off x="540528" y="1066582"/>
              <a:ext cx="0" cy="80010"/>
            </a:xfrm>
            <a:custGeom>
              <a:avLst/>
              <a:gdLst/>
              <a:ahLst/>
              <a:cxnLst/>
              <a:rect l="l" t="t" r="r" b="b"/>
              <a:pathLst>
                <a:path h="80009">
                  <a:moveTo>
                    <a:pt x="0" y="0"/>
                  </a:moveTo>
                  <a:lnTo>
                    <a:pt x="0" y="79812"/>
                  </a:lnTo>
                </a:path>
              </a:pathLst>
            </a:custGeom>
            <a:ln w="12602">
              <a:solidFill>
                <a:srgbClr val="000000"/>
              </a:solidFill>
            </a:ln>
          </p:spPr>
          <p:txBody>
            <a:bodyPr wrap="square" lIns="0" tIns="0" rIns="0" bIns="0" rtlCol="0"/>
            <a:lstStyle/>
            <a:p>
              <a:endParaRPr/>
            </a:p>
          </p:txBody>
        </p:sp>
        <p:sp>
          <p:nvSpPr>
            <p:cNvPr id="23" name="object 23"/>
            <p:cNvSpPr/>
            <p:nvPr/>
          </p:nvSpPr>
          <p:spPr>
            <a:xfrm>
              <a:off x="4185623" y="1079604"/>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4" name="object 24"/>
          <p:cNvSpPr txBox="1"/>
          <p:nvPr/>
        </p:nvSpPr>
        <p:spPr>
          <a:xfrm>
            <a:off x="439803" y="1117030"/>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25" name="object 25"/>
          <p:cNvGrpSpPr/>
          <p:nvPr/>
        </p:nvGrpSpPr>
        <p:grpSpPr>
          <a:xfrm>
            <a:off x="529782" y="785841"/>
            <a:ext cx="3709670" cy="1219835"/>
            <a:chOff x="529782" y="785841"/>
            <a:chExt cx="3709670" cy="1219835"/>
          </a:xfrm>
        </p:grpSpPr>
        <p:sp>
          <p:nvSpPr>
            <p:cNvPr id="26" name="object 26"/>
            <p:cNvSpPr/>
            <p:nvPr/>
          </p:nvSpPr>
          <p:spPr>
            <a:xfrm>
              <a:off x="534227" y="807684"/>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27" name="object 27"/>
            <p:cNvSpPr/>
            <p:nvPr/>
          </p:nvSpPr>
          <p:spPr>
            <a:xfrm>
              <a:off x="4195705" y="785841"/>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28" name="object 28"/>
            <p:cNvSpPr/>
            <p:nvPr/>
          </p:nvSpPr>
          <p:spPr>
            <a:xfrm>
              <a:off x="773271" y="807684"/>
              <a:ext cx="284480" cy="284480"/>
            </a:xfrm>
            <a:custGeom>
              <a:avLst/>
              <a:gdLst/>
              <a:ahLst/>
              <a:cxnLst/>
              <a:rect l="l" t="t" r="r" b="b"/>
              <a:pathLst>
                <a:path w="284480" h="284480">
                  <a:moveTo>
                    <a:pt x="0" y="0"/>
                  </a:moveTo>
                  <a:lnTo>
                    <a:pt x="4436" y="4436"/>
                  </a:lnTo>
                  <a:lnTo>
                    <a:pt x="35493" y="35494"/>
                  </a:lnTo>
                  <a:lnTo>
                    <a:pt x="119792" y="119792"/>
                  </a:lnTo>
                  <a:lnTo>
                    <a:pt x="283951" y="283952"/>
                  </a:lnTo>
                </a:path>
              </a:pathLst>
            </a:custGeom>
            <a:ln w="4200">
              <a:solidFill>
                <a:srgbClr val="000000"/>
              </a:solidFill>
            </a:ln>
          </p:spPr>
          <p:txBody>
            <a:bodyPr wrap="square" lIns="0" tIns="0" rIns="0" bIns="0" rtlCol="0"/>
            <a:lstStyle/>
            <a:p>
              <a:endParaRPr/>
            </a:p>
          </p:txBody>
        </p:sp>
        <p:sp>
          <p:nvSpPr>
            <p:cNvPr id="29" name="object 29"/>
            <p:cNvSpPr/>
            <p:nvPr/>
          </p:nvSpPr>
          <p:spPr>
            <a:xfrm>
              <a:off x="1036430" y="1070844"/>
              <a:ext cx="36195" cy="36195"/>
            </a:xfrm>
            <a:custGeom>
              <a:avLst/>
              <a:gdLst/>
              <a:ahLst/>
              <a:cxnLst/>
              <a:rect l="l" t="t" r="r" b="b"/>
              <a:pathLst>
                <a:path w="36194" h="36194">
                  <a:moveTo>
                    <a:pt x="23762" y="0"/>
                  </a:moveTo>
                  <a:lnTo>
                    <a:pt x="20792" y="20792"/>
                  </a:lnTo>
                  <a:lnTo>
                    <a:pt x="0" y="23762"/>
                  </a:lnTo>
                  <a:lnTo>
                    <a:pt x="35643" y="35643"/>
                  </a:lnTo>
                  <a:lnTo>
                    <a:pt x="23762" y="0"/>
                  </a:lnTo>
                  <a:close/>
                </a:path>
              </a:pathLst>
            </a:custGeom>
            <a:solidFill>
              <a:srgbClr val="000000"/>
            </a:solidFill>
          </p:spPr>
          <p:txBody>
            <a:bodyPr wrap="square" lIns="0" tIns="0" rIns="0" bIns="0" rtlCol="0"/>
            <a:lstStyle/>
            <a:p>
              <a:endParaRPr/>
            </a:p>
          </p:txBody>
        </p:sp>
        <p:sp>
          <p:nvSpPr>
            <p:cNvPr id="30" name="object 30"/>
            <p:cNvSpPr/>
            <p:nvPr/>
          </p:nvSpPr>
          <p:spPr>
            <a:xfrm>
              <a:off x="773271" y="807684"/>
              <a:ext cx="260350" cy="578485"/>
            </a:xfrm>
            <a:custGeom>
              <a:avLst/>
              <a:gdLst/>
              <a:ahLst/>
              <a:cxnLst/>
              <a:rect l="l" t="t" r="r" b="b"/>
              <a:pathLst>
                <a:path w="260350" h="578485">
                  <a:moveTo>
                    <a:pt x="0" y="0"/>
                  </a:moveTo>
                  <a:lnTo>
                    <a:pt x="4066" y="9037"/>
                  </a:lnTo>
                  <a:lnTo>
                    <a:pt x="32533" y="72297"/>
                  </a:lnTo>
                  <a:lnTo>
                    <a:pt x="109801" y="244005"/>
                  </a:lnTo>
                  <a:lnTo>
                    <a:pt x="260270" y="578382"/>
                  </a:lnTo>
                </a:path>
              </a:pathLst>
            </a:custGeom>
            <a:ln w="4200">
              <a:solidFill>
                <a:srgbClr val="000000"/>
              </a:solidFill>
            </a:ln>
          </p:spPr>
          <p:txBody>
            <a:bodyPr wrap="square" lIns="0" tIns="0" rIns="0" bIns="0" rtlCol="0"/>
            <a:lstStyle/>
            <a:p>
              <a:endParaRPr/>
            </a:p>
          </p:txBody>
        </p:sp>
        <p:sp>
          <p:nvSpPr>
            <p:cNvPr id="31" name="object 31"/>
            <p:cNvSpPr/>
            <p:nvPr/>
          </p:nvSpPr>
          <p:spPr>
            <a:xfrm>
              <a:off x="1012971" y="1367612"/>
              <a:ext cx="31115" cy="38100"/>
            </a:xfrm>
            <a:custGeom>
              <a:avLst/>
              <a:gdLst/>
              <a:ahLst/>
              <a:cxnLst/>
              <a:rect l="l" t="t" r="r" b="b"/>
              <a:pathLst>
                <a:path w="31115" h="38100">
                  <a:moveTo>
                    <a:pt x="30758" y="0"/>
                  </a:moveTo>
                  <a:lnTo>
                    <a:pt x="20569" y="18455"/>
                  </a:lnTo>
                  <a:lnTo>
                    <a:pt x="0" y="13841"/>
                  </a:lnTo>
                  <a:lnTo>
                    <a:pt x="29220" y="37679"/>
                  </a:lnTo>
                  <a:lnTo>
                    <a:pt x="30758" y="0"/>
                  </a:lnTo>
                  <a:close/>
                </a:path>
              </a:pathLst>
            </a:custGeom>
            <a:solidFill>
              <a:srgbClr val="000000"/>
            </a:solidFill>
          </p:spPr>
          <p:txBody>
            <a:bodyPr wrap="square" lIns="0" tIns="0" rIns="0" bIns="0" rtlCol="0"/>
            <a:lstStyle/>
            <a:p>
              <a:endParaRPr/>
            </a:p>
          </p:txBody>
        </p:sp>
        <p:sp>
          <p:nvSpPr>
            <p:cNvPr id="32" name="object 32"/>
            <p:cNvSpPr/>
            <p:nvPr/>
          </p:nvSpPr>
          <p:spPr>
            <a:xfrm>
              <a:off x="773271" y="807684"/>
              <a:ext cx="175260" cy="876300"/>
            </a:xfrm>
            <a:custGeom>
              <a:avLst/>
              <a:gdLst/>
              <a:ahLst/>
              <a:cxnLst/>
              <a:rect l="l" t="t" r="r" b="b"/>
              <a:pathLst>
                <a:path w="175259" h="876300">
                  <a:moveTo>
                    <a:pt x="0" y="0"/>
                  </a:moveTo>
                  <a:lnTo>
                    <a:pt x="2736" y="13684"/>
                  </a:lnTo>
                  <a:lnTo>
                    <a:pt x="21894" y="109472"/>
                  </a:lnTo>
                  <a:lnTo>
                    <a:pt x="73894" y="369468"/>
                  </a:lnTo>
                  <a:lnTo>
                    <a:pt x="175157" y="875777"/>
                  </a:lnTo>
                </a:path>
              </a:pathLst>
            </a:custGeom>
            <a:ln w="4200">
              <a:solidFill>
                <a:srgbClr val="000000"/>
              </a:solidFill>
            </a:ln>
          </p:spPr>
          <p:txBody>
            <a:bodyPr wrap="square" lIns="0" tIns="0" rIns="0" bIns="0" rtlCol="0"/>
            <a:lstStyle/>
            <a:p>
              <a:endParaRPr/>
            </a:p>
          </p:txBody>
        </p:sp>
        <p:sp>
          <p:nvSpPr>
            <p:cNvPr id="33" name="object 33"/>
            <p:cNvSpPr/>
            <p:nvPr/>
          </p:nvSpPr>
          <p:spPr>
            <a:xfrm>
              <a:off x="929445" y="1667780"/>
              <a:ext cx="33020" cy="36830"/>
            </a:xfrm>
            <a:custGeom>
              <a:avLst/>
              <a:gdLst/>
              <a:ahLst/>
              <a:cxnLst/>
              <a:rect l="l" t="t" r="r" b="b"/>
              <a:pathLst>
                <a:path w="33019" h="36830">
                  <a:moveTo>
                    <a:pt x="33014" y="0"/>
                  </a:moveTo>
                  <a:lnTo>
                    <a:pt x="18982" y="15681"/>
                  </a:lnTo>
                  <a:lnTo>
                    <a:pt x="0" y="6602"/>
                  </a:lnTo>
                  <a:lnTo>
                    <a:pt x="23109" y="36315"/>
                  </a:lnTo>
                  <a:lnTo>
                    <a:pt x="33014" y="0"/>
                  </a:lnTo>
                  <a:close/>
                </a:path>
              </a:pathLst>
            </a:custGeom>
            <a:solidFill>
              <a:srgbClr val="000000"/>
            </a:solidFill>
          </p:spPr>
          <p:txBody>
            <a:bodyPr wrap="square" lIns="0" tIns="0" rIns="0" bIns="0" rtlCol="0"/>
            <a:lstStyle/>
            <a:p>
              <a:endParaRPr/>
            </a:p>
          </p:txBody>
        </p:sp>
        <p:sp>
          <p:nvSpPr>
            <p:cNvPr id="34" name="object 34"/>
            <p:cNvSpPr/>
            <p:nvPr/>
          </p:nvSpPr>
          <p:spPr>
            <a:xfrm>
              <a:off x="653747" y="1127407"/>
              <a:ext cx="87630" cy="875665"/>
            </a:xfrm>
            <a:custGeom>
              <a:avLst/>
              <a:gdLst/>
              <a:ahLst/>
              <a:cxnLst/>
              <a:rect l="l" t="t" r="r" b="b"/>
              <a:pathLst>
                <a:path w="87629" h="875664">
                  <a:moveTo>
                    <a:pt x="0" y="875492"/>
                  </a:moveTo>
                  <a:lnTo>
                    <a:pt x="1367" y="861813"/>
                  </a:lnTo>
                  <a:lnTo>
                    <a:pt x="10943" y="766056"/>
                  </a:lnTo>
                  <a:lnTo>
                    <a:pt x="36935" y="506144"/>
                  </a:lnTo>
                  <a:lnTo>
                    <a:pt x="87550" y="0"/>
                  </a:lnTo>
                </a:path>
              </a:pathLst>
            </a:custGeom>
            <a:ln w="4200">
              <a:solidFill>
                <a:srgbClr val="000000"/>
              </a:solidFill>
            </a:ln>
          </p:spPr>
          <p:txBody>
            <a:bodyPr wrap="square" lIns="0" tIns="0" rIns="0" bIns="0" rtlCol="0"/>
            <a:lstStyle/>
            <a:p>
              <a:endParaRPr/>
            </a:p>
          </p:txBody>
        </p:sp>
        <p:sp>
          <p:nvSpPr>
            <p:cNvPr id="35" name="object 35"/>
            <p:cNvSpPr/>
            <p:nvPr/>
          </p:nvSpPr>
          <p:spPr>
            <a:xfrm>
              <a:off x="723307" y="1106488"/>
              <a:ext cx="33655" cy="35560"/>
            </a:xfrm>
            <a:custGeom>
              <a:avLst/>
              <a:gdLst/>
              <a:ahLst/>
              <a:cxnLst/>
              <a:rect l="l" t="t" r="r" b="b"/>
              <a:pathLst>
                <a:path w="33654"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36" name="object 36"/>
            <p:cNvSpPr/>
            <p:nvPr/>
          </p:nvSpPr>
          <p:spPr>
            <a:xfrm>
              <a:off x="653747" y="1425464"/>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37" name="object 37"/>
            <p:cNvSpPr/>
            <p:nvPr/>
          </p:nvSpPr>
          <p:spPr>
            <a:xfrm>
              <a:off x="807211" y="1405292"/>
              <a:ext cx="32384" cy="37465"/>
            </a:xfrm>
            <a:custGeom>
              <a:avLst/>
              <a:gdLst/>
              <a:ahLst/>
              <a:cxnLst/>
              <a:rect l="l" t="t" r="r" b="b"/>
              <a:pathLst>
                <a:path w="32384"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38" name="object 38"/>
            <p:cNvSpPr/>
            <p:nvPr/>
          </p:nvSpPr>
          <p:spPr>
            <a:xfrm>
              <a:off x="653747" y="1717564"/>
              <a:ext cx="342900" cy="285750"/>
            </a:xfrm>
            <a:custGeom>
              <a:avLst/>
              <a:gdLst/>
              <a:ahLst/>
              <a:cxnLst/>
              <a:rect l="l" t="t" r="r" b="b"/>
              <a:pathLst>
                <a:path w="342900" h="285750">
                  <a:moveTo>
                    <a:pt x="0" y="285335"/>
                  </a:moveTo>
                  <a:lnTo>
                    <a:pt x="5350" y="280876"/>
                  </a:lnTo>
                  <a:lnTo>
                    <a:pt x="42800" y="249668"/>
                  </a:lnTo>
                  <a:lnTo>
                    <a:pt x="144450" y="164959"/>
                  </a:lnTo>
                  <a:lnTo>
                    <a:pt x="342401" y="0"/>
                  </a:lnTo>
                </a:path>
              </a:pathLst>
            </a:custGeom>
            <a:ln w="4200">
              <a:solidFill>
                <a:srgbClr val="000000"/>
              </a:solidFill>
            </a:ln>
          </p:spPr>
          <p:txBody>
            <a:bodyPr wrap="square" lIns="0" tIns="0" rIns="0" bIns="0" rtlCol="0"/>
            <a:lstStyle/>
            <a:p>
              <a:endParaRPr/>
            </a:p>
          </p:txBody>
        </p:sp>
        <p:sp>
          <p:nvSpPr>
            <p:cNvPr id="39" name="object 39"/>
            <p:cNvSpPr/>
            <p:nvPr/>
          </p:nvSpPr>
          <p:spPr>
            <a:xfrm>
              <a:off x="975676" y="1704096"/>
              <a:ext cx="36830" cy="34925"/>
            </a:xfrm>
            <a:custGeom>
              <a:avLst/>
              <a:gdLst/>
              <a:ahLst/>
              <a:cxnLst/>
              <a:rect l="l" t="t" r="r" b="b"/>
              <a:pathLst>
                <a:path w="36830" h="34925">
                  <a:moveTo>
                    <a:pt x="0" y="8620"/>
                  </a:moveTo>
                  <a:lnTo>
                    <a:pt x="20471" y="13468"/>
                  </a:lnTo>
                  <a:lnTo>
                    <a:pt x="21549" y="34479"/>
                  </a:lnTo>
                  <a:lnTo>
                    <a:pt x="36633" y="0"/>
                  </a:lnTo>
                  <a:lnTo>
                    <a:pt x="0" y="8620"/>
                  </a:lnTo>
                  <a:close/>
                </a:path>
              </a:pathLst>
            </a:custGeom>
            <a:solidFill>
              <a:srgbClr val="000000"/>
            </a:solidFill>
          </p:spPr>
          <p:txBody>
            <a:bodyPr wrap="square" lIns="0" tIns="0" rIns="0" bIns="0" rtlCol="0"/>
            <a:lstStyle/>
            <a:p>
              <a:endParaRPr/>
            </a:p>
          </p:txBody>
        </p:sp>
      </p:grpSp>
      <p:sp>
        <p:nvSpPr>
          <p:cNvPr id="40" name="object 40"/>
          <p:cNvSpPr txBox="1"/>
          <p:nvPr/>
        </p:nvSpPr>
        <p:spPr>
          <a:xfrm>
            <a:off x="356564" y="1919916"/>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41" name="object 41"/>
          <p:cNvGrpSpPr/>
          <p:nvPr/>
        </p:nvGrpSpPr>
        <p:grpSpPr>
          <a:xfrm>
            <a:off x="1279013" y="1104266"/>
            <a:ext cx="2409825" cy="301625"/>
            <a:chOff x="1279013" y="1104266"/>
            <a:chExt cx="2409825" cy="301625"/>
          </a:xfrm>
        </p:grpSpPr>
        <p:sp>
          <p:nvSpPr>
            <p:cNvPr id="42" name="object 42"/>
            <p:cNvSpPr/>
            <p:nvPr/>
          </p:nvSpPr>
          <p:spPr>
            <a:xfrm>
              <a:off x="1281236" y="1106488"/>
              <a:ext cx="2390775" cy="278130"/>
            </a:xfrm>
            <a:custGeom>
              <a:avLst/>
              <a:gdLst/>
              <a:ahLst/>
              <a:cxnLst/>
              <a:rect l="l" t="t" r="r" b="b"/>
              <a:pathLst>
                <a:path w="2390775" h="278130">
                  <a:moveTo>
                    <a:pt x="0" y="0"/>
                  </a:moveTo>
                  <a:lnTo>
                    <a:pt x="17912" y="41099"/>
                  </a:lnTo>
                  <a:lnTo>
                    <a:pt x="48593" y="63805"/>
                  </a:lnTo>
                  <a:lnTo>
                    <a:pt x="92961" y="83078"/>
                  </a:lnTo>
                  <a:lnTo>
                    <a:pt x="149900" y="99191"/>
                  </a:lnTo>
                  <a:lnTo>
                    <a:pt x="218291" y="112418"/>
                  </a:lnTo>
                  <a:lnTo>
                    <a:pt x="256432" y="118035"/>
                  </a:lnTo>
                  <a:lnTo>
                    <a:pt x="297018" y="123035"/>
                  </a:lnTo>
                  <a:lnTo>
                    <a:pt x="339908" y="127449"/>
                  </a:lnTo>
                  <a:lnTo>
                    <a:pt x="384963" y="131315"/>
                  </a:lnTo>
                  <a:lnTo>
                    <a:pt x="432043" y="134664"/>
                  </a:lnTo>
                  <a:lnTo>
                    <a:pt x="481009" y="137533"/>
                  </a:lnTo>
                  <a:lnTo>
                    <a:pt x="531721" y="139954"/>
                  </a:lnTo>
                  <a:lnTo>
                    <a:pt x="584039" y="141963"/>
                  </a:lnTo>
                  <a:lnTo>
                    <a:pt x="637823" y="143594"/>
                  </a:lnTo>
                  <a:lnTo>
                    <a:pt x="692934" y="144880"/>
                  </a:lnTo>
                  <a:lnTo>
                    <a:pt x="749233" y="145857"/>
                  </a:lnTo>
                  <a:lnTo>
                    <a:pt x="806579" y="146559"/>
                  </a:lnTo>
                  <a:lnTo>
                    <a:pt x="864832" y="147019"/>
                  </a:lnTo>
                  <a:lnTo>
                    <a:pt x="923854" y="147273"/>
                  </a:lnTo>
                  <a:lnTo>
                    <a:pt x="983505" y="147354"/>
                  </a:lnTo>
                  <a:lnTo>
                    <a:pt x="1043644" y="147298"/>
                  </a:lnTo>
                  <a:lnTo>
                    <a:pt x="1104133" y="147137"/>
                  </a:lnTo>
                  <a:lnTo>
                    <a:pt x="1164831" y="146907"/>
                  </a:lnTo>
                  <a:lnTo>
                    <a:pt x="1225598" y="146641"/>
                  </a:lnTo>
                  <a:lnTo>
                    <a:pt x="1286296" y="146374"/>
                  </a:lnTo>
                  <a:lnTo>
                    <a:pt x="1346785" y="146141"/>
                  </a:lnTo>
                  <a:lnTo>
                    <a:pt x="1406924" y="145976"/>
                  </a:lnTo>
                  <a:lnTo>
                    <a:pt x="1466575" y="145912"/>
                  </a:lnTo>
                  <a:lnTo>
                    <a:pt x="1525597" y="145985"/>
                  </a:lnTo>
                  <a:lnTo>
                    <a:pt x="1583850" y="146228"/>
                  </a:lnTo>
                  <a:lnTo>
                    <a:pt x="1641196" y="146676"/>
                  </a:lnTo>
                  <a:lnTo>
                    <a:pt x="1697495" y="147364"/>
                  </a:lnTo>
                  <a:lnTo>
                    <a:pt x="1752606" y="148325"/>
                  </a:lnTo>
                  <a:lnTo>
                    <a:pt x="1806390" y="149593"/>
                  </a:lnTo>
                  <a:lnTo>
                    <a:pt x="1858708" y="151204"/>
                  </a:lnTo>
                  <a:lnTo>
                    <a:pt x="1909420" y="153191"/>
                  </a:lnTo>
                  <a:lnTo>
                    <a:pt x="1958385" y="155589"/>
                  </a:lnTo>
                  <a:lnTo>
                    <a:pt x="2005466" y="158432"/>
                  </a:lnTo>
                  <a:lnTo>
                    <a:pt x="2050521" y="161754"/>
                  </a:lnTo>
                  <a:lnTo>
                    <a:pt x="2093411" y="165590"/>
                  </a:lnTo>
                  <a:lnTo>
                    <a:pt x="2133996" y="169973"/>
                  </a:lnTo>
                  <a:lnTo>
                    <a:pt x="2172138" y="174939"/>
                  </a:lnTo>
                  <a:lnTo>
                    <a:pt x="2240529" y="186754"/>
                  </a:lnTo>
                  <a:lnTo>
                    <a:pt x="2297468" y="201311"/>
                  </a:lnTo>
                  <a:lnTo>
                    <a:pt x="2341836" y="218881"/>
                  </a:lnTo>
                  <a:lnTo>
                    <a:pt x="2382375" y="251491"/>
                  </a:lnTo>
                  <a:lnTo>
                    <a:pt x="2388393" y="264166"/>
                  </a:lnTo>
                  <a:lnTo>
                    <a:pt x="2390429" y="277800"/>
                  </a:lnTo>
                </a:path>
              </a:pathLst>
            </a:custGeom>
            <a:ln w="4200">
              <a:solidFill>
                <a:srgbClr val="000000"/>
              </a:solidFill>
            </a:ln>
          </p:spPr>
          <p:txBody>
            <a:bodyPr wrap="square" lIns="0" tIns="0" rIns="0" bIns="0" rtlCol="0"/>
            <a:lstStyle/>
            <a:p>
              <a:endParaRPr/>
            </a:p>
          </p:txBody>
        </p:sp>
        <p:sp>
          <p:nvSpPr>
            <p:cNvPr id="43" name="object 43"/>
            <p:cNvSpPr/>
            <p:nvPr/>
          </p:nvSpPr>
          <p:spPr>
            <a:xfrm>
              <a:off x="3654864" y="1371687"/>
              <a:ext cx="33655" cy="33655"/>
            </a:xfrm>
            <a:custGeom>
              <a:avLst/>
              <a:gdLst/>
              <a:ahLst/>
              <a:cxnLst/>
              <a:rect l="l" t="t" r="r" b="b"/>
              <a:pathLst>
                <a:path w="33654" h="33655">
                  <a:moveTo>
                    <a:pt x="33604" y="0"/>
                  </a:moveTo>
                  <a:lnTo>
                    <a:pt x="16802" y="12601"/>
                  </a:lnTo>
                  <a:lnTo>
                    <a:pt x="0" y="0"/>
                  </a:lnTo>
                  <a:lnTo>
                    <a:pt x="16802" y="33605"/>
                  </a:lnTo>
                  <a:lnTo>
                    <a:pt x="33604" y="0"/>
                  </a:lnTo>
                  <a:close/>
                </a:path>
              </a:pathLst>
            </a:custGeom>
            <a:solidFill>
              <a:srgbClr val="000000"/>
            </a:solidFill>
          </p:spPr>
          <p:txBody>
            <a:bodyPr wrap="square" lIns="0" tIns="0" rIns="0" bIns="0" rtlCol="0"/>
            <a:lstStyle/>
            <a:p>
              <a:endParaRPr/>
            </a:p>
          </p:txBody>
        </p:sp>
      </p:grpSp>
      <p:sp>
        <p:nvSpPr>
          <p:cNvPr id="44" name="object 44"/>
          <p:cNvSpPr txBox="1"/>
          <p:nvPr/>
        </p:nvSpPr>
        <p:spPr>
          <a:xfrm>
            <a:off x="318464" y="638820"/>
            <a:ext cx="1259205" cy="523240"/>
          </a:xfrm>
          <a:prstGeom prst="rect">
            <a:avLst/>
          </a:prstGeom>
        </p:spPr>
        <p:txBody>
          <a:bodyPr vert="horz" wrap="square" lIns="0" tIns="15875" rIns="0" bIns="0" rtlCol="0">
            <a:spAutoFit/>
          </a:bodyPr>
          <a:lstStyle/>
          <a:p>
            <a:pPr marL="371475">
              <a:lnSpc>
                <a:spcPts val="77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a:p>
            <a:pPr marL="76200">
              <a:lnSpc>
                <a:spcPts val="770"/>
              </a:lnSpc>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a:p>
            <a:pPr marL="729615">
              <a:lnSpc>
                <a:spcPts val="770"/>
              </a:lnSpc>
              <a:spcBef>
                <a:spcPts val="810"/>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a:t>
            </a:r>
            <a:r>
              <a:rPr sz="750" spc="75" dirty="0">
                <a:latin typeface="Times New Roman"/>
                <a:cs typeface="Times New Roman"/>
              </a:rPr>
              <a:t>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a:p>
            <a:pPr marL="85090">
              <a:lnSpc>
                <a:spcPts val="770"/>
              </a:lnSpc>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grpSp>
        <p:nvGrpSpPr>
          <p:cNvPr id="45" name="object 45"/>
          <p:cNvGrpSpPr/>
          <p:nvPr/>
        </p:nvGrpSpPr>
        <p:grpSpPr>
          <a:xfrm>
            <a:off x="1279013" y="1104266"/>
            <a:ext cx="2260600" cy="600075"/>
            <a:chOff x="1279013" y="1104266"/>
            <a:chExt cx="2260600" cy="600075"/>
          </a:xfrm>
        </p:grpSpPr>
        <p:sp>
          <p:nvSpPr>
            <p:cNvPr id="46" name="object 46"/>
            <p:cNvSpPr/>
            <p:nvPr/>
          </p:nvSpPr>
          <p:spPr>
            <a:xfrm>
              <a:off x="1281236" y="1106488"/>
              <a:ext cx="2241550" cy="577215"/>
            </a:xfrm>
            <a:custGeom>
              <a:avLst/>
              <a:gdLst/>
              <a:ahLst/>
              <a:cxnLst/>
              <a:rect l="l" t="t" r="r" b="b"/>
              <a:pathLst>
                <a:path w="2241550" h="577214">
                  <a:moveTo>
                    <a:pt x="0" y="0"/>
                  </a:moveTo>
                  <a:lnTo>
                    <a:pt x="4954" y="70034"/>
                  </a:lnTo>
                  <a:lnTo>
                    <a:pt x="19448" y="133016"/>
                  </a:lnTo>
                  <a:lnTo>
                    <a:pt x="42929" y="189291"/>
                  </a:lnTo>
                  <a:lnTo>
                    <a:pt x="74843" y="239207"/>
                  </a:lnTo>
                  <a:lnTo>
                    <a:pt x="114638" y="283113"/>
                  </a:lnTo>
                  <a:lnTo>
                    <a:pt x="161761" y="321356"/>
                  </a:lnTo>
                  <a:lnTo>
                    <a:pt x="215659" y="354283"/>
                  </a:lnTo>
                  <a:lnTo>
                    <a:pt x="275778" y="382243"/>
                  </a:lnTo>
                  <a:lnTo>
                    <a:pt x="341566" y="405582"/>
                  </a:lnTo>
                  <a:lnTo>
                    <a:pt x="412469" y="424649"/>
                  </a:lnTo>
                  <a:lnTo>
                    <a:pt x="487935" y="439791"/>
                  </a:lnTo>
                  <a:lnTo>
                    <a:pt x="527206" y="445999"/>
                  </a:lnTo>
                  <a:lnTo>
                    <a:pt x="567410" y="451357"/>
                  </a:lnTo>
                  <a:lnTo>
                    <a:pt x="608478" y="455906"/>
                  </a:lnTo>
                  <a:lnTo>
                    <a:pt x="650342" y="459692"/>
                  </a:lnTo>
                  <a:lnTo>
                    <a:pt x="692931" y="462758"/>
                  </a:lnTo>
                  <a:lnTo>
                    <a:pt x="736177" y="465146"/>
                  </a:lnTo>
                  <a:lnTo>
                    <a:pt x="780010" y="466901"/>
                  </a:lnTo>
                  <a:lnTo>
                    <a:pt x="824362" y="468066"/>
                  </a:lnTo>
                  <a:lnTo>
                    <a:pt x="869164" y="468684"/>
                  </a:lnTo>
                  <a:lnTo>
                    <a:pt x="914345" y="468799"/>
                  </a:lnTo>
                  <a:lnTo>
                    <a:pt x="959838" y="468454"/>
                  </a:lnTo>
                  <a:lnTo>
                    <a:pt x="1005572" y="467693"/>
                  </a:lnTo>
                  <a:lnTo>
                    <a:pt x="1051480" y="466560"/>
                  </a:lnTo>
                  <a:lnTo>
                    <a:pt x="1097491" y="465096"/>
                  </a:lnTo>
                  <a:lnTo>
                    <a:pt x="1143536" y="463348"/>
                  </a:lnTo>
                  <a:lnTo>
                    <a:pt x="1189547" y="461356"/>
                  </a:lnTo>
                  <a:lnTo>
                    <a:pt x="1235455" y="459166"/>
                  </a:lnTo>
                  <a:lnTo>
                    <a:pt x="1281189" y="456820"/>
                  </a:lnTo>
                  <a:lnTo>
                    <a:pt x="1326682" y="454362"/>
                  </a:lnTo>
                  <a:lnTo>
                    <a:pt x="1371864" y="451836"/>
                  </a:lnTo>
                  <a:lnTo>
                    <a:pt x="1416665" y="449284"/>
                  </a:lnTo>
                  <a:lnTo>
                    <a:pt x="1461017" y="446751"/>
                  </a:lnTo>
                  <a:lnTo>
                    <a:pt x="1504850" y="444280"/>
                  </a:lnTo>
                  <a:lnTo>
                    <a:pt x="1548096" y="441913"/>
                  </a:lnTo>
                  <a:lnTo>
                    <a:pt x="1590686" y="439696"/>
                  </a:lnTo>
                  <a:lnTo>
                    <a:pt x="1632549" y="437671"/>
                  </a:lnTo>
                  <a:lnTo>
                    <a:pt x="1673617" y="435881"/>
                  </a:lnTo>
                  <a:lnTo>
                    <a:pt x="1713821" y="434370"/>
                  </a:lnTo>
                  <a:lnTo>
                    <a:pt x="1753092" y="433182"/>
                  </a:lnTo>
                  <a:lnTo>
                    <a:pt x="1791361" y="432360"/>
                  </a:lnTo>
                  <a:lnTo>
                    <a:pt x="1828558" y="431947"/>
                  </a:lnTo>
                  <a:lnTo>
                    <a:pt x="1864615" y="431988"/>
                  </a:lnTo>
                  <a:lnTo>
                    <a:pt x="1933029" y="433601"/>
                  </a:lnTo>
                  <a:lnTo>
                    <a:pt x="1996052" y="437547"/>
                  </a:lnTo>
                  <a:lnTo>
                    <a:pt x="2053129" y="444174"/>
                  </a:lnTo>
                  <a:lnTo>
                    <a:pt x="2103709" y="453829"/>
                  </a:lnTo>
                  <a:lnTo>
                    <a:pt x="2147237" y="466861"/>
                  </a:lnTo>
                  <a:lnTo>
                    <a:pt x="2183161" y="483616"/>
                  </a:lnTo>
                  <a:lnTo>
                    <a:pt x="2221579" y="516492"/>
                  </a:lnTo>
                  <a:lnTo>
                    <a:pt x="2239778" y="559701"/>
                  </a:lnTo>
                  <a:lnTo>
                    <a:pt x="2241028" y="576604"/>
                  </a:lnTo>
                </a:path>
              </a:pathLst>
            </a:custGeom>
            <a:ln w="4200">
              <a:solidFill>
                <a:srgbClr val="000000"/>
              </a:solidFill>
            </a:ln>
          </p:spPr>
          <p:txBody>
            <a:bodyPr wrap="square" lIns="0" tIns="0" rIns="0" bIns="0" rtlCol="0"/>
            <a:lstStyle/>
            <a:p>
              <a:endParaRPr/>
            </a:p>
          </p:txBody>
        </p:sp>
        <p:sp>
          <p:nvSpPr>
            <p:cNvPr id="47" name="object 47"/>
            <p:cNvSpPr/>
            <p:nvPr/>
          </p:nvSpPr>
          <p:spPr>
            <a:xfrm>
              <a:off x="3505462" y="1670490"/>
              <a:ext cx="33655" cy="33655"/>
            </a:xfrm>
            <a:custGeom>
              <a:avLst/>
              <a:gdLst/>
              <a:ahLst/>
              <a:cxnLst/>
              <a:rect l="l" t="t" r="r" b="b"/>
              <a:pathLst>
                <a:path w="33654" h="33655">
                  <a:moveTo>
                    <a:pt x="33604" y="0"/>
                  </a:moveTo>
                  <a:lnTo>
                    <a:pt x="16802" y="12601"/>
                  </a:lnTo>
                  <a:lnTo>
                    <a:pt x="0" y="0"/>
                  </a:lnTo>
                  <a:lnTo>
                    <a:pt x="16802" y="33605"/>
                  </a:lnTo>
                  <a:lnTo>
                    <a:pt x="33604" y="0"/>
                  </a:lnTo>
                  <a:close/>
                </a:path>
              </a:pathLst>
            </a:custGeom>
            <a:solidFill>
              <a:srgbClr val="000000"/>
            </a:solidFill>
          </p:spPr>
          <p:txBody>
            <a:bodyPr wrap="square" lIns="0" tIns="0" rIns="0" bIns="0" rtlCol="0"/>
            <a:lstStyle/>
            <a:p>
              <a:endParaRPr/>
            </a:p>
          </p:txBody>
        </p:sp>
        <p:sp>
          <p:nvSpPr>
            <p:cNvPr id="48" name="object 48"/>
            <p:cNvSpPr/>
            <p:nvPr/>
          </p:nvSpPr>
          <p:spPr>
            <a:xfrm>
              <a:off x="2327049" y="1195608"/>
              <a:ext cx="63500" cy="210185"/>
            </a:xfrm>
            <a:custGeom>
              <a:avLst/>
              <a:gdLst/>
              <a:ahLst/>
              <a:cxnLst/>
              <a:rect l="l" t="t" r="r" b="b"/>
              <a:pathLst>
                <a:path w="63500" h="210184">
                  <a:moveTo>
                    <a:pt x="0" y="209684"/>
                  </a:moveTo>
                  <a:lnTo>
                    <a:pt x="982" y="206407"/>
                  </a:lnTo>
                  <a:lnTo>
                    <a:pt x="7863" y="183473"/>
                  </a:lnTo>
                  <a:lnTo>
                    <a:pt x="26539" y="121223"/>
                  </a:lnTo>
                  <a:lnTo>
                    <a:pt x="62908" y="0"/>
                  </a:lnTo>
                </a:path>
              </a:pathLst>
            </a:custGeom>
            <a:ln w="4200">
              <a:solidFill>
                <a:srgbClr val="000000"/>
              </a:solidFill>
            </a:ln>
          </p:spPr>
          <p:txBody>
            <a:bodyPr wrap="square" lIns="0" tIns="0" rIns="0" bIns="0" rtlCol="0"/>
            <a:lstStyle/>
            <a:p>
              <a:endParaRPr/>
            </a:p>
          </p:txBody>
        </p:sp>
        <p:sp>
          <p:nvSpPr>
            <p:cNvPr id="49" name="object 49"/>
            <p:cNvSpPr/>
            <p:nvPr/>
          </p:nvSpPr>
          <p:spPr>
            <a:xfrm>
              <a:off x="2364036" y="1186733"/>
              <a:ext cx="52705" cy="15875"/>
            </a:xfrm>
            <a:custGeom>
              <a:avLst/>
              <a:gdLst/>
              <a:ahLst/>
              <a:cxnLst/>
              <a:rect l="l" t="t" r="r" b="b"/>
              <a:pathLst>
                <a:path w="52705" h="15875">
                  <a:moveTo>
                    <a:pt x="52447" y="15732"/>
                  </a:moveTo>
                  <a:lnTo>
                    <a:pt x="0" y="0"/>
                  </a:lnTo>
                </a:path>
              </a:pathLst>
            </a:custGeom>
            <a:ln w="4211">
              <a:solidFill>
                <a:srgbClr val="000000"/>
              </a:solidFill>
            </a:ln>
          </p:spPr>
          <p:txBody>
            <a:bodyPr wrap="square" lIns="0" tIns="0" rIns="0" bIns="0" rtlCol="0"/>
            <a:lstStyle/>
            <a:p>
              <a:endParaRPr/>
            </a:p>
          </p:txBody>
        </p:sp>
        <p:sp>
          <p:nvSpPr>
            <p:cNvPr id="50" name="object 50"/>
            <p:cNvSpPr/>
            <p:nvPr/>
          </p:nvSpPr>
          <p:spPr>
            <a:xfrm>
              <a:off x="2327049" y="1405292"/>
              <a:ext cx="83820" cy="278765"/>
            </a:xfrm>
            <a:custGeom>
              <a:avLst/>
              <a:gdLst/>
              <a:ahLst/>
              <a:cxnLst/>
              <a:rect l="l" t="t" r="r" b="b"/>
              <a:pathLst>
                <a:path w="83819" h="278764">
                  <a:moveTo>
                    <a:pt x="0" y="0"/>
                  </a:moveTo>
                  <a:lnTo>
                    <a:pt x="1306" y="4353"/>
                  </a:lnTo>
                  <a:lnTo>
                    <a:pt x="10448" y="34828"/>
                  </a:lnTo>
                  <a:lnTo>
                    <a:pt x="35264" y="117547"/>
                  </a:lnTo>
                  <a:lnTo>
                    <a:pt x="83590" y="278631"/>
                  </a:lnTo>
                </a:path>
              </a:pathLst>
            </a:custGeom>
            <a:ln w="4200">
              <a:solidFill>
                <a:srgbClr val="000000"/>
              </a:solidFill>
            </a:ln>
          </p:spPr>
          <p:txBody>
            <a:bodyPr wrap="square" lIns="0" tIns="0" rIns="0" bIns="0" rtlCol="0"/>
            <a:lstStyle/>
            <a:p>
              <a:endParaRPr/>
            </a:p>
          </p:txBody>
        </p:sp>
        <p:sp>
          <p:nvSpPr>
            <p:cNvPr id="51" name="object 51"/>
            <p:cNvSpPr/>
            <p:nvPr/>
          </p:nvSpPr>
          <p:spPr>
            <a:xfrm>
              <a:off x="2390872" y="1666980"/>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52" name="object 52"/>
          <p:cNvSpPr txBox="1"/>
          <p:nvPr/>
        </p:nvSpPr>
        <p:spPr>
          <a:xfrm>
            <a:off x="2056195" y="1236421"/>
            <a:ext cx="54229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2</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53" name="object 53"/>
          <p:cNvGrpSpPr/>
          <p:nvPr/>
        </p:nvGrpSpPr>
        <p:grpSpPr>
          <a:xfrm>
            <a:off x="2623630" y="1106488"/>
            <a:ext cx="160020" cy="600075"/>
            <a:chOff x="2623630" y="1106488"/>
            <a:chExt cx="160020" cy="600075"/>
          </a:xfrm>
        </p:grpSpPr>
        <p:sp>
          <p:nvSpPr>
            <p:cNvPr id="54" name="object 54"/>
            <p:cNvSpPr/>
            <p:nvPr/>
          </p:nvSpPr>
          <p:spPr>
            <a:xfrm>
              <a:off x="2625853" y="1126864"/>
              <a:ext cx="144780" cy="577850"/>
            </a:xfrm>
            <a:custGeom>
              <a:avLst/>
              <a:gdLst/>
              <a:ahLst/>
              <a:cxnLst/>
              <a:rect l="l" t="t" r="r" b="b"/>
              <a:pathLst>
                <a:path w="144780" h="577850">
                  <a:moveTo>
                    <a:pt x="0" y="577231"/>
                  </a:moveTo>
                  <a:lnTo>
                    <a:pt x="2254" y="568212"/>
                  </a:lnTo>
                  <a:lnTo>
                    <a:pt x="18038" y="505077"/>
                  </a:lnTo>
                  <a:lnTo>
                    <a:pt x="60880" y="333711"/>
                  </a:lnTo>
                  <a:lnTo>
                    <a:pt x="144308" y="0"/>
                  </a:lnTo>
                </a:path>
              </a:pathLst>
            </a:custGeom>
            <a:ln w="4200">
              <a:solidFill>
                <a:srgbClr val="000000"/>
              </a:solidFill>
            </a:ln>
          </p:spPr>
          <p:txBody>
            <a:bodyPr wrap="square" lIns="0" tIns="0" rIns="0" bIns="0" rtlCol="0"/>
            <a:lstStyle/>
            <a:p>
              <a:endParaRPr/>
            </a:p>
          </p:txBody>
        </p:sp>
        <p:sp>
          <p:nvSpPr>
            <p:cNvPr id="55" name="object 55"/>
            <p:cNvSpPr/>
            <p:nvPr/>
          </p:nvSpPr>
          <p:spPr>
            <a:xfrm>
              <a:off x="2750804" y="1106488"/>
              <a:ext cx="33020" cy="36830"/>
            </a:xfrm>
            <a:custGeom>
              <a:avLst/>
              <a:gdLst/>
              <a:ahLst/>
              <a:cxnLst/>
              <a:rect l="l" t="t" r="r" b="b"/>
              <a:pathLst>
                <a:path w="33019" h="36830">
                  <a:moveTo>
                    <a:pt x="0" y="28526"/>
                  </a:moveTo>
                  <a:lnTo>
                    <a:pt x="19356" y="20375"/>
                  </a:lnTo>
                  <a:lnTo>
                    <a:pt x="32601" y="36676"/>
                  </a:lnTo>
                  <a:lnTo>
                    <a:pt x="24450" y="0"/>
                  </a:lnTo>
                  <a:lnTo>
                    <a:pt x="0" y="28526"/>
                  </a:lnTo>
                  <a:close/>
                </a:path>
              </a:pathLst>
            </a:custGeom>
            <a:solidFill>
              <a:srgbClr val="000000"/>
            </a:solidFill>
          </p:spPr>
          <p:txBody>
            <a:bodyPr wrap="square" lIns="0" tIns="0" rIns="0" bIns="0" rtlCol="0"/>
            <a:lstStyle/>
            <a:p>
              <a:endParaRPr/>
            </a:p>
          </p:txBody>
        </p:sp>
      </p:grpSp>
      <p:sp>
        <p:nvSpPr>
          <p:cNvPr id="56" name="object 56"/>
          <p:cNvSpPr txBox="1"/>
          <p:nvPr/>
        </p:nvSpPr>
        <p:spPr>
          <a:xfrm>
            <a:off x="2398366" y="1711040"/>
            <a:ext cx="455295"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10" dirty="0">
                <a:latin typeface="Times New Roman"/>
                <a:cs typeface="Times New Roman"/>
              </a:rPr>
              <a:t>r</a:t>
            </a:r>
            <a:r>
              <a:rPr sz="750" spc="165" dirty="0">
                <a:latin typeface="Times New Roman"/>
                <a:cs typeface="Times New Roman"/>
              </a:rPr>
              <a:t>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57" name="object 57"/>
          <p:cNvGrpSpPr/>
          <p:nvPr/>
        </p:nvGrpSpPr>
        <p:grpSpPr>
          <a:xfrm>
            <a:off x="2623630" y="1070664"/>
            <a:ext cx="647065" cy="636270"/>
            <a:chOff x="2623630" y="1070664"/>
            <a:chExt cx="647065" cy="636270"/>
          </a:xfrm>
        </p:grpSpPr>
        <p:sp>
          <p:nvSpPr>
            <p:cNvPr id="58" name="object 58"/>
            <p:cNvSpPr/>
            <p:nvPr/>
          </p:nvSpPr>
          <p:spPr>
            <a:xfrm>
              <a:off x="2625853" y="1488288"/>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59" name="object 59"/>
            <p:cNvSpPr/>
            <p:nvPr/>
          </p:nvSpPr>
          <p:spPr>
            <a:xfrm>
              <a:off x="2709805" y="1475138"/>
              <a:ext cx="48895" cy="24765"/>
            </a:xfrm>
            <a:custGeom>
              <a:avLst/>
              <a:gdLst/>
              <a:ahLst/>
              <a:cxnLst/>
              <a:rect l="l" t="t" r="r" b="b"/>
              <a:pathLst>
                <a:path w="48894" h="24765">
                  <a:moveTo>
                    <a:pt x="48843" y="24421"/>
                  </a:moveTo>
                  <a:lnTo>
                    <a:pt x="0" y="0"/>
                  </a:lnTo>
                </a:path>
              </a:pathLst>
            </a:custGeom>
            <a:ln w="4200">
              <a:solidFill>
                <a:srgbClr val="000000"/>
              </a:solidFill>
            </a:ln>
          </p:spPr>
          <p:txBody>
            <a:bodyPr wrap="square" lIns="0" tIns="0" rIns="0" bIns="0" rtlCol="0"/>
            <a:lstStyle/>
            <a:p>
              <a:endParaRPr/>
            </a:p>
          </p:txBody>
        </p:sp>
        <p:sp>
          <p:nvSpPr>
            <p:cNvPr id="60" name="object 60"/>
            <p:cNvSpPr/>
            <p:nvPr/>
          </p:nvSpPr>
          <p:spPr>
            <a:xfrm>
              <a:off x="3178639" y="1072886"/>
              <a:ext cx="90170" cy="67310"/>
            </a:xfrm>
            <a:custGeom>
              <a:avLst/>
              <a:gdLst/>
              <a:ahLst/>
              <a:cxnLst/>
              <a:rect l="l" t="t" r="r" b="b"/>
              <a:pathLst>
                <a:path w="90170" h="67309">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61" name="object 61"/>
            <p:cNvSpPr/>
            <p:nvPr/>
          </p:nvSpPr>
          <p:spPr>
            <a:xfrm>
              <a:off x="3178639" y="1072886"/>
              <a:ext cx="90170" cy="67310"/>
            </a:xfrm>
            <a:custGeom>
              <a:avLst/>
              <a:gdLst/>
              <a:ahLst/>
              <a:cxnLst/>
              <a:rect l="l" t="t" r="r" b="b"/>
              <a:pathLst>
                <a:path w="90170" h="67309">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62" name="object 62"/>
          <p:cNvSpPr txBox="1"/>
          <p:nvPr/>
        </p:nvSpPr>
        <p:spPr>
          <a:xfrm>
            <a:off x="2921217" y="1139790"/>
            <a:ext cx="604520" cy="126364"/>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drop leadership</a:t>
            </a:r>
            <a:endParaRPr sz="650">
              <a:latin typeface="Arial"/>
              <a:cs typeface="Arial"/>
            </a:endParaRPr>
          </a:p>
        </p:txBody>
      </p:sp>
      <p:grpSp>
        <p:nvGrpSpPr>
          <p:cNvPr id="63" name="object 63"/>
          <p:cNvGrpSpPr/>
          <p:nvPr/>
        </p:nvGrpSpPr>
        <p:grpSpPr>
          <a:xfrm>
            <a:off x="3027015" y="1668271"/>
            <a:ext cx="94615" cy="71755"/>
            <a:chOff x="3027015" y="1668271"/>
            <a:chExt cx="94615" cy="71755"/>
          </a:xfrm>
        </p:grpSpPr>
        <p:sp>
          <p:nvSpPr>
            <p:cNvPr id="64" name="object 64"/>
            <p:cNvSpPr/>
            <p:nvPr/>
          </p:nvSpPr>
          <p:spPr>
            <a:xfrm>
              <a:off x="3029237" y="1670493"/>
              <a:ext cx="90170" cy="67310"/>
            </a:xfrm>
            <a:custGeom>
              <a:avLst/>
              <a:gdLst/>
              <a:ahLst/>
              <a:cxnLst/>
              <a:rect l="l" t="t" r="r" b="b"/>
              <a:pathLst>
                <a:path w="90169"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65" name="object 65"/>
            <p:cNvSpPr/>
            <p:nvPr/>
          </p:nvSpPr>
          <p:spPr>
            <a:xfrm>
              <a:off x="3029237" y="1670493"/>
              <a:ext cx="90170" cy="67310"/>
            </a:xfrm>
            <a:custGeom>
              <a:avLst/>
              <a:gdLst/>
              <a:ahLst/>
              <a:cxnLst/>
              <a:rect l="l" t="t" r="r" b="b"/>
              <a:pathLst>
                <a:path w="90169"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66" name="object 66"/>
          <p:cNvSpPr txBox="1"/>
          <p:nvPr/>
        </p:nvSpPr>
        <p:spPr>
          <a:xfrm>
            <a:off x="2998476" y="1719735"/>
            <a:ext cx="147320" cy="126364"/>
          </a:xfrm>
          <a:prstGeom prst="rect">
            <a:avLst/>
          </a:prstGeom>
        </p:spPr>
        <p:txBody>
          <a:bodyPr vert="horz" wrap="square" lIns="0" tIns="13970" rIns="0" bIns="0" rtlCol="0">
            <a:spAutoFit/>
          </a:bodyPr>
          <a:lstStyle/>
          <a:p>
            <a:pPr marL="38100">
              <a:lnSpc>
                <a:spcPct val="100000"/>
              </a:lnSpc>
              <a:spcBef>
                <a:spcPts val="110"/>
              </a:spcBef>
            </a:pPr>
            <a:r>
              <a:rPr sz="975" i="1" spc="-22" baseline="-21367" dirty="0">
                <a:latin typeface="Times New Roman"/>
                <a:cs typeface="Times New Roman"/>
              </a:rPr>
              <a:t>o</a:t>
            </a:r>
            <a:r>
              <a:rPr sz="500" spc="-15" dirty="0">
                <a:latin typeface="Times New Roman"/>
                <a:cs typeface="Times New Roman"/>
              </a:rPr>
              <a:t>2</a:t>
            </a:r>
            <a:endParaRPr sz="500">
              <a:latin typeface="Times New Roman"/>
              <a:cs typeface="Times New Roman"/>
            </a:endParaRPr>
          </a:p>
        </p:txBody>
      </p:sp>
      <p:grpSp>
        <p:nvGrpSpPr>
          <p:cNvPr id="67" name="object 67"/>
          <p:cNvGrpSpPr/>
          <p:nvPr/>
        </p:nvGrpSpPr>
        <p:grpSpPr>
          <a:xfrm>
            <a:off x="3221238" y="1701873"/>
            <a:ext cx="98425" cy="301625"/>
            <a:chOff x="3221238" y="1701873"/>
            <a:chExt cx="98425" cy="301625"/>
          </a:xfrm>
        </p:grpSpPr>
        <p:sp>
          <p:nvSpPr>
            <p:cNvPr id="68" name="object 68"/>
            <p:cNvSpPr/>
            <p:nvPr/>
          </p:nvSpPr>
          <p:spPr>
            <a:xfrm>
              <a:off x="3223460" y="1704095"/>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69" name="object 69"/>
            <p:cNvSpPr/>
            <p:nvPr/>
          </p:nvSpPr>
          <p:spPr>
            <a:xfrm>
              <a:off x="3287283" y="1965784"/>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70" name="object 70"/>
          <p:cNvSpPr txBox="1"/>
          <p:nvPr/>
        </p:nvSpPr>
        <p:spPr>
          <a:xfrm>
            <a:off x="3307387" y="2000498"/>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2</a:t>
            </a:r>
            <a:endParaRPr sz="550">
              <a:latin typeface="Times New Roman"/>
              <a:cs typeface="Times New Roman"/>
            </a:endParaRPr>
          </a:p>
        </p:txBody>
      </p:sp>
      <p:sp>
        <p:nvSpPr>
          <p:cNvPr id="71" name="object 71"/>
          <p:cNvSpPr txBox="1"/>
          <p:nvPr/>
        </p:nvSpPr>
        <p:spPr>
          <a:xfrm>
            <a:off x="3299829" y="2066274"/>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72" name="object 72"/>
          <p:cNvSpPr txBox="1"/>
          <p:nvPr/>
        </p:nvSpPr>
        <p:spPr>
          <a:xfrm>
            <a:off x="3211970" y="2009835"/>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73" name="object 73"/>
          <p:cNvGrpSpPr/>
          <p:nvPr/>
        </p:nvGrpSpPr>
        <p:grpSpPr>
          <a:xfrm>
            <a:off x="3624745" y="1668393"/>
            <a:ext cx="93980" cy="71755"/>
            <a:chOff x="3624745" y="1668393"/>
            <a:chExt cx="93980" cy="71755"/>
          </a:xfrm>
        </p:grpSpPr>
        <p:sp>
          <p:nvSpPr>
            <p:cNvPr id="74" name="object 74"/>
            <p:cNvSpPr/>
            <p:nvPr/>
          </p:nvSpPr>
          <p:spPr>
            <a:xfrm>
              <a:off x="3626845" y="1670493"/>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75" name="object 75"/>
            <p:cNvSpPr/>
            <p:nvPr/>
          </p:nvSpPr>
          <p:spPr>
            <a:xfrm>
              <a:off x="3626845" y="1670493"/>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76" name="object 76"/>
          <p:cNvSpPr txBox="1"/>
          <p:nvPr/>
        </p:nvSpPr>
        <p:spPr>
          <a:xfrm>
            <a:off x="3479142" y="1738066"/>
            <a:ext cx="385445" cy="126364"/>
          </a:xfrm>
          <a:prstGeom prst="rect">
            <a:avLst/>
          </a:prstGeom>
        </p:spPr>
        <p:txBody>
          <a:bodyPr vert="horz" wrap="square" lIns="0" tIns="13970" rIns="0" bIns="0" rtlCol="0">
            <a:spAutoFit/>
          </a:bodyPr>
          <a:lstStyle/>
          <a:p>
            <a:pPr marL="12700">
              <a:lnSpc>
                <a:spcPct val="100000"/>
              </a:lnSpc>
              <a:spcBef>
                <a:spcPts val="110"/>
              </a:spcBef>
            </a:pPr>
            <a:r>
              <a:rPr sz="650" spc="5" dirty="0">
                <a:latin typeface="Arial"/>
                <a:cs typeface="Arial"/>
              </a:rPr>
              <a:t>confusion</a:t>
            </a:r>
            <a:endParaRPr sz="650">
              <a:latin typeface="Arial"/>
              <a:cs typeface="Arial"/>
            </a:endParaRPr>
          </a:p>
        </p:txBody>
      </p:sp>
      <p:sp>
        <p:nvSpPr>
          <p:cNvPr id="78" name="object 78"/>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79" name="object 7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30</a:t>
            </a:r>
            <a:r>
              <a:rPr spc="-40" dirty="0"/>
              <a:t> </a:t>
            </a:r>
            <a:r>
              <a:rPr spc="-5" dirty="0"/>
              <a:t>/</a:t>
            </a:r>
            <a:r>
              <a:rPr spc="-35" dirty="0"/>
              <a:t> </a:t>
            </a:r>
            <a:r>
              <a:rPr spc="-5" dirty="0"/>
              <a:t>68</a:t>
            </a:r>
          </a:p>
        </p:txBody>
      </p:sp>
      <p:sp>
        <p:nvSpPr>
          <p:cNvPr id="77" name="object 77"/>
          <p:cNvSpPr txBox="1"/>
          <p:nvPr/>
        </p:nvSpPr>
        <p:spPr>
          <a:xfrm>
            <a:off x="321894" y="2248380"/>
            <a:ext cx="3790950" cy="657225"/>
          </a:xfrm>
          <a:prstGeom prst="rect">
            <a:avLst/>
          </a:prstGeom>
        </p:spPr>
        <p:txBody>
          <a:bodyPr vert="horz" wrap="square" lIns="0" tIns="12065" rIns="0" bIns="0" rtlCol="0">
            <a:spAutoFit/>
          </a:bodyPr>
          <a:lstStyle/>
          <a:p>
            <a:pPr marL="38100" algn="just">
              <a:lnSpc>
                <a:spcPts val="1410"/>
              </a:lnSpc>
              <a:spcBef>
                <a:spcPts val="95"/>
              </a:spcBef>
            </a:pPr>
            <a:r>
              <a:rPr sz="1200" spc="-10" dirty="0">
                <a:solidFill>
                  <a:srgbClr val="3333B2"/>
                </a:solidFill>
                <a:latin typeface="Arial"/>
                <a:cs typeface="Arial"/>
              </a:rPr>
              <a:t>Problem</a:t>
            </a:r>
            <a:r>
              <a:rPr sz="1200" spc="-20" dirty="0">
                <a:solidFill>
                  <a:srgbClr val="3333B2"/>
                </a:solidFill>
                <a:latin typeface="Arial"/>
                <a:cs typeface="Arial"/>
              </a:rPr>
              <a:t> </a:t>
            </a:r>
            <a:r>
              <a:rPr sz="1200" spc="-5" dirty="0">
                <a:solidFill>
                  <a:srgbClr val="3333B2"/>
                </a:solidFill>
                <a:latin typeface="Arial"/>
                <a:cs typeface="Arial"/>
              </a:rPr>
              <a:t>and</a:t>
            </a:r>
            <a:r>
              <a:rPr sz="1200" spc="-20"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38100" marR="30480" algn="just">
              <a:lnSpc>
                <a:spcPts val="1200"/>
              </a:lnSpc>
              <a:spcBef>
                <a:spcPts val="10"/>
              </a:spcBef>
            </a:pPr>
            <a:r>
              <a:rPr sz="1000" i="1" spc="5" dirty="0">
                <a:latin typeface="Arial"/>
                <a:cs typeface="Arial"/>
              </a:rPr>
              <a:t>S</a:t>
            </a:r>
            <a:r>
              <a:rPr sz="1050" i="1" spc="7" baseline="-15873" dirty="0">
                <a:latin typeface="Arial"/>
                <a:cs typeface="Arial"/>
              </a:rPr>
              <a:t>3</a:t>
            </a:r>
            <a:r>
              <a:rPr sz="1050" i="1" spc="254" baseline="-15873" dirty="0">
                <a:latin typeface="Arial"/>
                <a:cs typeface="Arial"/>
              </a:rPr>
              <a:t> </a:t>
            </a:r>
            <a:r>
              <a:rPr sz="1000" spc="-5" dirty="0">
                <a:latin typeface="Arial"/>
                <a:cs typeface="Arial"/>
              </a:rPr>
              <a:t>receives</a:t>
            </a:r>
            <a:r>
              <a:rPr sz="1000" spc="20" dirty="0">
                <a:latin typeface="Arial"/>
                <a:cs typeface="Arial"/>
              </a:rPr>
              <a:t> </a:t>
            </a:r>
            <a:r>
              <a:rPr sz="800" spc="35" dirty="0">
                <a:latin typeface="Arial"/>
                <a:cs typeface="Arial"/>
              </a:rPr>
              <a:t>ACCEPT</a:t>
            </a:r>
            <a:r>
              <a:rPr sz="1000" spc="35" dirty="0">
                <a:latin typeface="Arial"/>
                <a:cs typeface="Arial"/>
              </a:rPr>
              <a:t>(</a:t>
            </a:r>
            <a:r>
              <a:rPr sz="1000" i="1" spc="35" dirty="0">
                <a:latin typeface="Arial"/>
                <a:cs typeface="Arial"/>
              </a:rPr>
              <a:t>o</a:t>
            </a:r>
            <a:r>
              <a:rPr sz="1050" i="1" spc="52" baseline="27777" dirty="0">
                <a:latin typeface="Arial"/>
                <a:cs typeface="Arial"/>
              </a:rPr>
              <a:t>1</a:t>
            </a:r>
            <a:r>
              <a:rPr sz="1000" i="1" spc="35" dirty="0">
                <a:latin typeface="Arial"/>
                <a:cs typeface="Arial"/>
              </a:rPr>
              <a:t>,</a:t>
            </a:r>
            <a:r>
              <a:rPr sz="1000" i="1" spc="-170" dirty="0">
                <a:latin typeface="Arial"/>
                <a:cs typeface="Arial"/>
              </a:rPr>
              <a:t> </a:t>
            </a:r>
            <a:r>
              <a:rPr sz="1000" spc="15" dirty="0">
                <a:latin typeface="Arial"/>
                <a:cs typeface="Arial"/>
              </a:rPr>
              <a:t>1),</a:t>
            </a:r>
            <a:r>
              <a:rPr sz="1000" dirty="0">
                <a:latin typeface="Arial"/>
                <a:cs typeface="Arial"/>
              </a:rPr>
              <a:t> </a:t>
            </a:r>
            <a:r>
              <a:rPr sz="1000" spc="-10" dirty="0">
                <a:latin typeface="Arial"/>
                <a:cs typeface="Arial"/>
              </a:rPr>
              <a:t>but</a:t>
            </a:r>
            <a:r>
              <a:rPr sz="1000" spc="-5" dirty="0">
                <a:latin typeface="Arial"/>
                <a:cs typeface="Arial"/>
              </a:rPr>
              <a:t> much later than</a:t>
            </a:r>
            <a:r>
              <a:rPr sz="1000" spc="25" dirty="0">
                <a:latin typeface="Arial"/>
                <a:cs typeface="Arial"/>
              </a:rPr>
              <a:t> </a:t>
            </a:r>
            <a:r>
              <a:rPr sz="800" spc="30" dirty="0">
                <a:latin typeface="Arial"/>
                <a:cs typeface="Arial"/>
              </a:rPr>
              <a:t>ACCEPT</a:t>
            </a:r>
            <a:r>
              <a:rPr sz="1000" spc="30" dirty="0">
                <a:latin typeface="Arial"/>
                <a:cs typeface="Arial"/>
              </a:rPr>
              <a:t>(</a:t>
            </a:r>
            <a:r>
              <a:rPr sz="1000" i="1" spc="30" dirty="0">
                <a:latin typeface="Arial"/>
                <a:cs typeface="Arial"/>
              </a:rPr>
              <a:t>o</a:t>
            </a:r>
            <a:r>
              <a:rPr sz="1050" i="1" spc="44" baseline="27777" dirty="0">
                <a:latin typeface="Arial"/>
                <a:cs typeface="Arial"/>
              </a:rPr>
              <a:t>2</a:t>
            </a:r>
            <a:r>
              <a:rPr sz="1050" i="1" spc="-157" baseline="27777" dirty="0">
                <a:latin typeface="Arial"/>
                <a:cs typeface="Arial"/>
              </a:rPr>
              <a:t> </a:t>
            </a:r>
            <a:r>
              <a:rPr sz="1000" i="1" spc="-5" dirty="0">
                <a:latin typeface="Arial"/>
                <a:cs typeface="Arial"/>
              </a:rPr>
              <a:t>,</a:t>
            </a:r>
            <a:r>
              <a:rPr sz="1000" i="1" spc="-170" dirty="0">
                <a:latin typeface="Arial"/>
                <a:cs typeface="Arial"/>
              </a:rPr>
              <a:t> </a:t>
            </a:r>
            <a:r>
              <a:rPr sz="1000" spc="15" dirty="0">
                <a:latin typeface="Arial"/>
                <a:cs typeface="Arial"/>
              </a:rPr>
              <a:t>1).</a:t>
            </a:r>
            <a:r>
              <a:rPr sz="1000" spc="60" dirty="0">
                <a:latin typeface="Arial"/>
                <a:cs typeface="Arial"/>
              </a:rPr>
              <a:t> </a:t>
            </a:r>
            <a:r>
              <a:rPr sz="1000" spc="-5" dirty="0">
                <a:latin typeface="Arial"/>
                <a:cs typeface="Arial"/>
              </a:rPr>
              <a:t>If</a:t>
            </a:r>
            <a:r>
              <a:rPr sz="1000" dirty="0">
                <a:latin typeface="Arial"/>
                <a:cs typeface="Arial"/>
              </a:rPr>
              <a:t> </a:t>
            </a:r>
            <a:r>
              <a:rPr sz="1000" spc="-5" dirty="0">
                <a:latin typeface="Arial"/>
                <a:cs typeface="Arial"/>
              </a:rPr>
              <a:t>it </a:t>
            </a:r>
            <a:r>
              <a:rPr sz="1000" spc="-270" dirty="0">
                <a:latin typeface="Arial"/>
                <a:cs typeface="Arial"/>
              </a:rPr>
              <a:t> </a:t>
            </a:r>
            <a:r>
              <a:rPr sz="1000" spc="-10" dirty="0">
                <a:latin typeface="Arial"/>
                <a:cs typeface="Arial"/>
              </a:rPr>
              <a:t>knew </a:t>
            </a:r>
            <a:r>
              <a:rPr sz="1000" spc="-5" dirty="0">
                <a:latin typeface="Arial"/>
                <a:cs typeface="Arial"/>
              </a:rPr>
              <a:t>who the </a:t>
            </a:r>
            <a:r>
              <a:rPr sz="1000" spc="-5" dirty="0">
                <a:solidFill>
                  <a:srgbClr val="0000FA"/>
                </a:solidFill>
                <a:latin typeface="Arial"/>
                <a:cs typeface="Arial"/>
              </a:rPr>
              <a:t>current </a:t>
            </a:r>
            <a:r>
              <a:rPr sz="1000" spc="-5" dirty="0">
                <a:latin typeface="Arial"/>
                <a:cs typeface="Arial"/>
              </a:rPr>
              <a:t>leader </a:t>
            </a:r>
            <a:r>
              <a:rPr sz="1000" spc="-10" dirty="0">
                <a:latin typeface="Arial"/>
                <a:cs typeface="Arial"/>
              </a:rPr>
              <a:t>was, </a:t>
            </a:r>
            <a:r>
              <a:rPr sz="1000" spc="-5" dirty="0">
                <a:latin typeface="Arial"/>
                <a:cs typeface="Arial"/>
              </a:rPr>
              <a:t>it could </a:t>
            </a:r>
            <a:r>
              <a:rPr sz="1000" spc="-10" dirty="0">
                <a:latin typeface="Arial"/>
                <a:cs typeface="Arial"/>
              </a:rPr>
              <a:t>safely </a:t>
            </a:r>
            <a:r>
              <a:rPr sz="1000" spc="-5" dirty="0">
                <a:latin typeface="Arial"/>
                <a:cs typeface="Arial"/>
              </a:rPr>
              <a:t>reject the </a:t>
            </a:r>
            <a:r>
              <a:rPr sz="1000" spc="-10" dirty="0">
                <a:latin typeface="Arial"/>
                <a:cs typeface="Arial"/>
              </a:rPr>
              <a:t>delayed </a:t>
            </a:r>
            <a:r>
              <a:rPr sz="1000" spc="-265" dirty="0">
                <a:latin typeface="Arial"/>
                <a:cs typeface="Arial"/>
              </a:rPr>
              <a:t> </a:t>
            </a:r>
            <a:r>
              <a:rPr sz="1000" spc="-5" dirty="0">
                <a:latin typeface="Arial"/>
                <a:cs typeface="Arial"/>
              </a:rPr>
              <a:t>accept message</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leaders should</a:t>
            </a:r>
            <a:r>
              <a:rPr sz="1000" dirty="0">
                <a:latin typeface="Arial"/>
                <a:cs typeface="Arial"/>
              </a:rPr>
              <a:t> </a:t>
            </a:r>
            <a:r>
              <a:rPr sz="1000" spc="-5" dirty="0">
                <a:latin typeface="Arial"/>
                <a:cs typeface="Arial"/>
              </a:rPr>
              <a:t>include</a:t>
            </a:r>
            <a:r>
              <a:rPr sz="1000" dirty="0">
                <a:latin typeface="Arial"/>
                <a:cs typeface="Arial"/>
              </a:rPr>
              <a:t> </a:t>
            </a:r>
            <a:r>
              <a:rPr sz="1000" spc="-5" dirty="0">
                <a:latin typeface="Arial"/>
                <a:cs typeface="Arial"/>
              </a:rPr>
              <a:t>their ID</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messages.</a:t>
            </a:r>
            <a:endParaRPr sz="10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209994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But</a:t>
            </a:r>
            <a:r>
              <a:rPr sz="1400" spc="-20" dirty="0">
                <a:solidFill>
                  <a:srgbClr val="3333B2"/>
                </a:solidFill>
                <a:latin typeface="Arial"/>
                <a:cs typeface="Arial"/>
              </a:rPr>
              <a:t> </a:t>
            </a:r>
            <a:r>
              <a:rPr sz="1400" spc="15" dirty="0">
                <a:solidFill>
                  <a:srgbClr val="3333B2"/>
                </a:solidFill>
                <a:latin typeface="Arial"/>
                <a:cs typeface="Arial"/>
              </a:rPr>
              <a:t>what</a:t>
            </a:r>
            <a:r>
              <a:rPr sz="1400" spc="-15" dirty="0">
                <a:solidFill>
                  <a:srgbClr val="3333B2"/>
                </a:solidFill>
                <a:latin typeface="Arial"/>
                <a:cs typeface="Arial"/>
              </a:rPr>
              <a:t> </a:t>
            </a:r>
            <a:r>
              <a:rPr sz="1400" spc="15" dirty="0">
                <a:solidFill>
                  <a:srgbClr val="3333B2"/>
                </a:solidFill>
                <a:latin typeface="Arial"/>
                <a:cs typeface="Arial"/>
              </a:rPr>
              <a:t>about</a:t>
            </a:r>
            <a:r>
              <a:rPr sz="1400" spc="-15" dirty="0">
                <a:solidFill>
                  <a:srgbClr val="3333B2"/>
                </a:solidFill>
                <a:latin typeface="Arial"/>
                <a:cs typeface="Arial"/>
              </a:rPr>
              <a:t> </a:t>
            </a:r>
            <a:r>
              <a:rPr sz="1400" spc="15" dirty="0">
                <a:solidFill>
                  <a:srgbClr val="3333B2"/>
                </a:solidFill>
                <a:latin typeface="Arial"/>
                <a:cs typeface="Arial"/>
              </a:rPr>
              <a:t>progress?</a:t>
            </a:r>
            <a:endParaRPr sz="1400">
              <a:latin typeface="Arial"/>
              <a:cs typeface="Arial"/>
            </a:endParaRPr>
          </a:p>
        </p:txBody>
      </p:sp>
      <p:grpSp>
        <p:nvGrpSpPr>
          <p:cNvPr id="5" name="object 5"/>
          <p:cNvGrpSpPr/>
          <p:nvPr/>
        </p:nvGrpSpPr>
        <p:grpSpPr>
          <a:xfrm>
            <a:off x="529782" y="1626205"/>
            <a:ext cx="3709670" cy="342900"/>
            <a:chOff x="529782" y="1626205"/>
            <a:chExt cx="3709670" cy="342900"/>
          </a:xfrm>
        </p:grpSpPr>
        <p:sp>
          <p:nvSpPr>
            <p:cNvPr id="6" name="object 6"/>
            <p:cNvSpPr/>
            <p:nvPr/>
          </p:nvSpPr>
          <p:spPr>
            <a:xfrm>
              <a:off x="534227" y="1946852"/>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7" name="object 7"/>
            <p:cNvSpPr/>
            <p:nvPr/>
          </p:nvSpPr>
          <p:spPr>
            <a:xfrm>
              <a:off x="4195705" y="1925009"/>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534227" y="1648048"/>
              <a:ext cx="2961005" cy="0"/>
            </a:xfrm>
            <a:custGeom>
              <a:avLst/>
              <a:gdLst/>
              <a:ahLst/>
              <a:cxnLst/>
              <a:rect l="l" t="t" r="r" b="b"/>
              <a:pathLst>
                <a:path w="2961004">
                  <a:moveTo>
                    <a:pt x="0" y="0"/>
                  </a:moveTo>
                  <a:lnTo>
                    <a:pt x="1449197" y="0"/>
                  </a:lnTo>
                </a:path>
                <a:path w="2961004">
                  <a:moveTo>
                    <a:pt x="1538839" y="0"/>
                  </a:moveTo>
                  <a:lnTo>
                    <a:pt x="2644412" y="0"/>
                  </a:lnTo>
                </a:path>
                <a:path w="2961004">
                  <a:moveTo>
                    <a:pt x="2734054" y="0"/>
                  </a:moveTo>
                  <a:lnTo>
                    <a:pt x="2960733" y="0"/>
                  </a:lnTo>
                </a:path>
              </a:pathLst>
            </a:custGeom>
            <a:ln w="8401">
              <a:solidFill>
                <a:srgbClr val="000000"/>
              </a:solidFill>
            </a:ln>
          </p:spPr>
          <p:txBody>
            <a:bodyPr wrap="square" lIns="0" tIns="0" rIns="0" bIns="0" rtlCol="0"/>
            <a:lstStyle/>
            <a:p>
              <a:endParaRPr/>
            </a:p>
          </p:txBody>
        </p:sp>
        <p:sp>
          <p:nvSpPr>
            <p:cNvPr id="9" name="object 9"/>
            <p:cNvSpPr/>
            <p:nvPr/>
          </p:nvSpPr>
          <p:spPr>
            <a:xfrm>
              <a:off x="3478578" y="1626205"/>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10" name="object 10"/>
          <p:cNvSpPr txBox="1"/>
          <p:nvPr/>
        </p:nvSpPr>
        <p:spPr>
          <a:xfrm>
            <a:off x="365629" y="1564705"/>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3</a:t>
            </a:r>
            <a:endParaRPr sz="825" baseline="-15151">
              <a:latin typeface="Times New Roman"/>
              <a:cs typeface="Times New Roman"/>
            </a:endParaRPr>
          </a:p>
        </p:txBody>
      </p:sp>
      <p:grpSp>
        <p:nvGrpSpPr>
          <p:cNvPr id="11" name="object 11"/>
          <p:cNvGrpSpPr/>
          <p:nvPr/>
        </p:nvGrpSpPr>
        <p:grpSpPr>
          <a:xfrm>
            <a:off x="529782" y="1344800"/>
            <a:ext cx="3104515" cy="401955"/>
            <a:chOff x="529782" y="1344800"/>
            <a:chExt cx="3104515" cy="401955"/>
          </a:xfrm>
        </p:grpSpPr>
        <p:sp>
          <p:nvSpPr>
            <p:cNvPr id="12" name="object 12"/>
            <p:cNvSpPr/>
            <p:nvPr/>
          </p:nvSpPr>
          <p:spPr>
            <a:xfrm>
              <a:off x="534227" y="1349245"/>
              <a:ext cx="1494155" cy="0"/>
            </a:xfrm>
            <a:custGeom>
              <a:avLst/>
              <a:gdLst/>
              <a:ahLst/>
              <a:cxnLst/>
              <a:rect l="l" t="t" r="r" b="b"/>
              <a:pathLst>
                <a:path w="1494155">
                  <a:moveTo>
                    <a:pt x="0" y="0"/>
                  </a:moveTo>
                  <a:lnTo>
                    <a:pt x="1494018" y="0"/>
                  </a:lnTo>
                </a:path>
              </a:pathLst>
            </a:custGeom>
            <a:ln w="8401">
              <a:solidFill>
                <a:srgbClr val="000000"/>
              </a:solidFill>
            </a:ln>
          </p:spPr>
          <p:txBody>
            <a:bodyPr wrap="square" lIns="0" tIns="0" rIns="0" bIns="0" rtlCol="0"/>
            <a:lstStyle/>
            <a:p>
              <a:endParaRPr/>
            </a:p>
          </p:txBody>
        </p:sp>
        <p:sp>
          <p:nvSpPr>
            <p:cNvPr id="13" name="object 13"/>
            <p:cNvSpPr/>
            <p:nvPr/>
          </p:nvSpPr>
          <p:spPr>
            <a:xfrm>
              <a:off x="3395143" y="1539383"/>
              <a:ext cx="233679" cy="201930"/>
            </a:xfrm>
            <a:custGeom>
              <a:avLst/>
              <a:gdLst/>
              <a:ahLst/>
              <a:cxnLst/>
              <a:rect l="l" t="t" r="r" b="b"/>
              <a:pathLst>
                <a:path w="233679" h="201930">
                  <a:moveTo>
                    <a:pt x="127120" y="0"/>
                  </a:moveTo>
                  <a:lnTo>
                    <a:pt x="111883" y="66801"/>
                  </a:lnTo>
                  <a:lnTo>
                    <a:pt x="71857"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4" name="object 14"/>
            <p:cNvSpPr/>
            <p:nvPr/>
          </p:nvSpPr>
          <p:spPr>
            <a:xfrm>
              <a:off x="3395143" y="1539383"/>
              <a:ext cx="233679" cy="201930"/>
            </a:xfrm>
            <a:custGeom>
              <a:avLst/>
              <a:gdLst/>
              <a:ahLst/>
              <a:cxnLst/>
              <a:rect l="l" t="t" r="r" b="b"/>
              <a:pathLst>
                <a:path w="233679" h="201930">
                  <a:moveTo>
                    <a:pt x="127120" y="0"/>
                  </a:moveTo>
                  <a:lnTo>
                    <a:pt x="111883" y="66801"/>
                  </a:lnTo>
                  <a:lnTo>
                    <a:pt x="71857"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grpSp>
      <p:sp>
        <p:nvSpPr>
          <p:cNvPr id="15" name="object 15"/>
          <p:cNvSpPr txBox="1"/>
          <p:nvPr/>
        </p:nvSpPr>
        <p:spPr>
          <a:xfrm>
            <a:off x="365629" y="1266268"/>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grpSp>
        <p:nvGrpSpPr>
          <p:cNvPr id="16" name="object 16"/>
          <p:cNvGrpSpPr/>
          <p:nvPr/>
        </p:nvGrpSpPr>
        <p:grpSpPr>
          <a:xfrm>
            <a:off x="2028197" y="1302988"/>
            <a:ext cx="2211705" cy="92710"/>
            <a:chOff x="2028197" y="1302988"/>
            <a:chExt cx="2211705" cy="92710"/>
          </a:xfrm>
        </p:grpSpPr>
        <p:sp>
          <p:nvSpPr>
            <p:cNvPr id="17" name="object 17"/>
            <p:cNvSpPr/>
            <p:nvPr/>
          </p:nvSpPr>
          <p:spPr>
            <a:xfrm>
              <a:off x="2037697" y="1349245"/>
              <a:ext cx="2168525" cy="0"/>
            </a:xfrm>
            <a:custGeom>
              <a:avLst/>
              <a:gdLst/>
              <a:ahLst/>
              <a:cxnLst/>
              <a:rect l="l" t="t" r="r" b="b"/>
              <a:pathLst>
                <a:path w="2168525">
                  <a:moveTo>
                    <a:pt x="0" y="0"/>
                  </a:moveTo>
                  <a:lnTo>
                    <a:pt x="2168088" y="0"/>
                  </a:lnTo>
                </a:path>
              </a:pathLst>
            </a:custGeom>
            <a:ln w="12602">
              <a:solidFill>
                <a:srgbClr val="000000"/>
              </a:solidFill>
            </a:ln>
          </p:spPr>
          <p:txBody>
            <a:bodyPr wrap="square" lIns="0" tIns="0" rIns="0" bIns="0" rtlCol="0"/>
            <a:lstStyle/>
            <a:p>
              <a:endParaRPr/>
            </a:p>
          </p:txBody>
        </p:sp>
        <p:sp>
          <p:nvSpPr>
            <p:cNvPr id="18" name="object 18"/>
            <p:cNvSpPr/>
            <p:nvPr/>
          </p:nvSpPr>
          <p:spPr>
            <a:xfrm>
              <a:off x="2034547" y="1309338"/>
              <a:ext cx="0" cy="80010"/>
            </a:xfrm>
            <a:custGeom>
              <a:avLst/>
              <a:gdLst/>
              <a:ahLst/>
              <a:cxnLst/>
              <a:rect l="l" t="t" r="r" b="b"/>
              <a:pathLst>
                <a:path h="80009">
                  <a:moveTo>
                    <a:pt x="0" y="0"/>
                  </a:moveTo>
                  <a:lnTo>
                    <a:pt x="0" y="79812"/>
                  </a:lnTo>
                </a:path>
              </a:pathLst>
            </a:custGeom>
            <a:ln w="12602">
              <a:solidFill>
                <a:srgbClr val="000000"/>
              </a:solidFill>
            </a:ln>
          </p:spPr>
          <p:txBody>
            <a:bodyPr wrap="square" lIns="0" tIns="0" rIns="0" bIns="0" rtlCol="0"/>
            <a:lstStyle/>
            <a:p>
              <a:endParaRPr/>
            </a:p>
          </p:txBody>
        </p:sp>
        <p:sp>
          <p:nvSpPr>
            <p:cNvPr id="19" name="object 19"/>
            <p:cNvSpPr/>
            <p:nvPr/>
          </p:nvSpPr>
          <p:spPr>
            <a:xfrm>
              <a:off x="4185622" y="1322360"/>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0" name="object 20"/>
          <p:cNvSpPr txBox="1"/>
          <p:nvPr/>
        </p:nvSpPr>
        <p:spPr>
          <a:xfrm>
            <a:off x="1933799" y="1359789"/>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21" name="object 21"/>
          <p:cNvGrpSpPr/>
          <p:nvPr/>
        </p:nvGrpSpPr>
        <p:grpSpPr>
          <a:xfrm>
            <a:off x="530026" y="1046240"/>
            <a:ext cx="1500505" cy="305435"/>
            <a:chOff x="530026" y="1046240"/>
            <a:chExt cx="1500505" cy="305435"/>
          </a:xfrm>
        </p:grpSpPr>
        <p:sp>
          <p:nvSpPr>
            <p:cNvPr id="22" name="object 22"/>
            <p:cNvSpPr/>
            <p:nvPr/>
          </p:nvSpPr>
          <p:spPr>
            <a:xfrm>
              <a:off x="1729442" y="1050441"/>
              <a:ext cx="299085" cy="299085"/>
            </a:xfrm>
            <a:custGeom>
              <a:avLst/>
              <a:gdLst/>
              <a:ahLst/>
              <a:cxnLst/>
              <a:rect l="l" t="t" r="r" b="b"/>
              <a:pathLst>
                <a:path w="299085" h="299084">
                  <a:moveTo>
                    <a:pt x="0" y="0"/>
                  </a:moveTo>
                  <a:lnTo>
                    <a:pt x="298803" y="298803"/>
                  </a:lnTo>
                </a:path>
              </a:pathLst>
            </a:custGeom>
            <a:ln w="4200">
              <a:solidFill>
                <a:srgbClr val="999999"/>
              </a:solidFill>
              <a:prstDash val="dash"/>
            </a:ln>
          </p:spPr>
          <p:txBody>
            <a:bodyPr wrap="square" lIns="0" tIns="0" rIns="0" bIns="0" rtlCol="0"/>
            <a:lstStyle/>
            <a:p>
              <a:endParaRPr/>
            </a:p>
          </p:txBody>
        </p:sp>
        <p:sp>
          <p:nvSpPr>
            <p:cNvPr id="23" name="object 23"/>
            <p:cNvSpPr/>
            <p:nvPr/>
          </p:nvSpPr>
          <p:spPr>
            <a:xfrm>
              <a:off x="530026" y="1046240"/>
              <a:ext cx="8890" cy="8890"/>
            </a:xfrm>
            <a:custGeom>
              <a:avLst/>
              <a:gdLst/>
              <a:ahLst/>
              <a:cxnLst/>
              <a:rect l="l" t="t" r="r" b="b"/>
              <a:pathLst>
                <a:path w="8890" h="8890">
                  <a:moveTo>
                    <a:pt x="0" y="4200"/>
                  </a:moveTo>
                  <a:lnTo>
                    <a:pt x="1230" y="1230"/>
                  </a:lnTo>
                  <a:lnTo>
                    <a:pt x="4200" y="0"/>
                  </a:lnTo>
                  <a:lnTo>
                    <a:pt x="7170" y="1230"/>
                  </a:lnTo>
                  <a:lnTo>
                    <a:pt x="8401" y="4200"/>
                  </a:lnTo>
                  <a:lnTo>
                    <a:pt x="7170" y="7170"/>
                  </a:lnTo>
                  <a:lnTo>
                    <a:pt x="4200" y="8401"/>
                  </a:lnTo>
                  <a:lnTo>
                    <a:pt x="1230" y="7170"/>
                  </a:lnTo>
                  <a:lnTo>
                    <a:pt x="0" y="4200"/>
                  </a:lnTo>
                  <a:close/>
                </a:path>
              </a:pathLst>
            </a:custGeom>
            <a:solidFill>
              <a:srgbClr val="000000"/>
            </a:solidFill>
          </p:spPr>
          <p:txBody>
            <a:bodyPr wrap="square" lIns="0" tIns="0" rIns="0" bIns="0" rtlCol="0"/>
            <a:lstStyle/>
            <a:p>
              <a:endParaRPr/>
            </a:p>
          </p:txBody>
        </p:sp>
      </p:grpSp>
      <p:sp>
        <p:nvSpPr>
          <p:cNvPr id="24" name="object 24"/>
          <p:cNvSpPr txBox="1"/>
          <p:nvPr/>
        </p:nvSpPr>
        <p:spPr>
          <a:xfrm>
            <a:off x="365629" y="966914"/>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grpSp>
        <p:nvGrpSpPr>
          <p:cNvPr id="25" name="object 25"/>
          <p:cNvGrpSpPr/>
          <p:nvPr/>
        </p:nvGrpSpPr>
        <p:grpSpPr>
          <a:xfrm>
            <a:off x="534178" y="1004185"/>
            <a:ext cx="3705225" cy="92710"/>
            <a:chOff x="534178" y="1004185"/>
            <a:chExt cx="3705225" cy="92710"/>
          </a:xfrm>
        </p:grpSpPr>
        <p:sp>
          <p:nvSpPr>
            <p:cNvPr id="26" name="object 26"/>
            <p:cNvSpPr/>
            <p:nvPr/>
          </p:nvSpPr>
          <p:spPr>
            <a:xfrm>
              <a:off x="543678" y="1050441"/>
              <a:ext cx="3662679" cy="0"/>
            </a:xfrm>
            <a:custGeom>
              <a:avLst/>
              <a:gdLst/>
              <a:ahLst/>
              <a:cxnLst/>
              <a:rect l="l" t="t" r="r" b="b"/>
              <a:pathLst>
                <a:path w="3662679">
                  <a:moveTo>
                    <a:pt x="0" y="0"/>
                  </a:moveTo>
                  <a:lnTo>
                    <a:pt x="3662107" y="0"/>
                  </a:lnTo>
                </a:path>
              </a:pathLst>
            </a:custGeom>
            <a:ln w="12602">
              <a:solidFill>
                <a:srgbClr val="000000"/>
              </a:solidFill>
            </a:ln>
          </p:spPr>
          <p:txBody>
            <a:bodyPr wrap="square" lIns="0" tIns="0" rIns="0" bIns="0" rtlCol="0"/>
            <a:lstStyle/>
            <a:p>
              <a:endParaRPr/>
            </a:p>
          </p:txBody>
        </p:sp>
        <p:sp>
          <p:nvSpPr>
            <p:cNvPr id="27" name="object 27"/>
            <p:cNvSpPr/>
            <p:nvPr/>
          </p:nvSpPr>
          <p:spPr>
            <a:xfrm>
              <a:off x="540528" y="1010535"/>
              <a:ext cx="0" cy="80010"/>
            </a:xfrm>
            <a:custGeom>
              <a:avLst/>
              <a:gdLst/>
              <a:ahLst/>
              <a:cxnLst/>
              <a:rect l="l" t="t" r="r" b="b"/>
              <a:pathLst>
                <a:path h="80009">
                  <a:moveTo>
                    <a:pt x="0" y="0"/>
                  </a:moveTo>
                  <a:lnTo>
                    <a:pt x="0" y="79812"/>
                  </a:lnTo>
                </a:path>
              </a:pathLst>
            </a:custGeom>
            <a:ln w="12602">
              <a:solidFill>
                <a:srgbClr val="000000"/>
              </a:solidFill>
            </a:ln>
          </p:spPr>
          <p:txBody>
            <a:bodyPr wrap="square" lIns="0" tIns="0" rIns="0" bIns="0" rtlCol="0"/>
            <a:lstStyle/>
            <a:p>
              <a:endParaRPr/>
            </a:p>
          </p:txBody>
        </p:sp>
        <p:sp>
          <p:nvSpPr>
            <p:cNvPr id="28" name="object 28"/>
            <p:cNvSpPr/>
            <p:nvPr/>
          </p:nvSpPr>
          <p:spPr>
            <a:xfrm>
              <a:off x="4185622" y="1023557"/>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9" name="object 29"/>
          <p:cNvSpPr txBox="1"/>
          <p:nvPr/>
        </p:nvSpPr>
        <p:spPr>
          <a:xfrm>
            <a:off x="439803" y="1060994"/>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30" name="object 30"/>
          <p:cNvGrpSpPr/>
          <p:nvPr/>
        </p:nvGrpSpPr>
        <p:grpSpPr>
          <a:xfrm>
            <a:off x="529782" y="729794"/>
            <a:ext cx="3709670" cy="43815"/>
            <a:chOff x="529782" y="729794"/>
            <a:chExt cx="3709670" cy="43815"/>
          </a:xfrm>
        </p:grpSpPr>
        <p:sp>
          <p:nvSpPr>
            <p:cNvPr id="31" name="object 31"/>
            <p:cNvSpPr/>
            <p:nvPr/>
          </p:nvSpPr>
          <p:spPr>
            <a:xfrm>
              <a:off x="534227" y="751637"/>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32" name="object 32"/>
            <p:cNvSpPr/>
            <p:nvPr/>
          </p:nvSpPr>
          <p:spPr>
            <a:xfrm>
              <a:off x="4195705" y="729794"/>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33" name="object 33"/>
          <p:cNvSpPr txBox="1"/>
          <p:nvPr/>
        </p:nvSpPr>
        <p:spPr>
          <a:xfrm>
            <a:off x="356564" y="668119"/>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grpSp>
        <p:nvGrpSpPr>
          <p:cNvPr id="34" name="object 34"/>
          <p:cNvGrpSpPr/>
          <p:nvPr/>
        </p:nvGrpSpPr>
        <p:grpSpPr>
          <a:xfrm>
            <a:off x="651524" y="749415"/>
            <a:ext cx="421005" cy="1200150"/>
            <a:chOff x="651524" y="749415"/>
            <a:chExt cx="421005" cy="1200150"/>
          </a:xfrm>
        </p:grpSpPr>
        <p:sp>
          <p:nvSpPr>
            <p:cNvPr id="35" name="object 35"/>
            <p:cNvSpPr/>
            <p:nvPr/>
          </p:nvSpPr>
          <p:spPr>
            <a:xfrm>
              <a:off x="773271" y="751637"/>
              <a:ext cx="284480" cy="284480"/>
            </a:xfrm>
            <a:custGeom>
              <a:avLst/>
              <a:gdLst/>
              <a:ahLst/>
              <a:cxnLst/>
              <a:rect l="l" t="t" r="r" b="b"/>
              <a:pathLst>
                <a:path w="284480" h="284480">
                  <a:moveTo>
                    <a:pt x="0" y="0"/>
                  </a:moveTo>
                  <a:lnTo>
                    <a:pt x="4436" y="4436"/>
                  </a:lnTo>
                  <a:lnTo>
                    <a:pt x="35493" y="35494"/>
                  </a:lnTo>
                  <a:lnTo>
                    <a:pt x="119792" y="119792"/>
                  </a:lnTo>
                  <a:lnTo>
                    <a:pt x="283951" y="283952"/>
                  </a:lnTo>
                </a:path>
              </a:pathLst>
            </a:custGeom>
            <a:ln w="4200">
              <a:solidFill>
                <a:srgbClr val="000000"/>
              </a:solidFill>
            </a:ln>
          </p:spPr>
          <p:txBody>
            <a:bodyPr wrap="square" lIns="0" tIns="0" rIns="0" bIns="0" rtlCol="0"/>
            <a:lstStyle/>
            <a:p>
              <a:endParaRPr/>
            </a:p>
          </p:txBody>
        </p:sp>
        <p:sp>
          <p:nvSpPr>
            <p:cNvPr id="36" name="object 36"/>
            <p:cNvSpPr/>
            <p:nvPr/>
          </p:nvSpPr>
          <p:spPr>
            <a:xfrm>
              <a:off x="1036430" y="1014797"/>
              <a:ext cx="36195" cy="36195"/>
            </a:xfrm>
            <a:custGeom>
              <a:avLst/>
              <a:gdLst/>
              <a:ahLst/>
              <a:cxnLst/>
              <a:rect l="l" t="t" r="r" b="b"/>
              <a:pathLst>
                <a:path w="36194" h="36194">
                  <a:moveTo>
                    <a:pt x="23762" y="0"/>
                  </a:moveTo>
                  <a:lnTo>
                    <a:pt x="20792" y="20792"/>
                  </a:lnTo>
                  <a:lnTo>
                    <a:pt x="0" y="23762"/>
                  </a:lnTo>
                  <a:lnTo>
                    <a:pt x="35643" y="35643"/>
                  </a:lnTo>
                  <a:lnTo>
                    <a:pt x="23762" y="0"/>
                  </a:lnTo>
                  <a:close/>
                </a:path>
              </a:pathLst>
            </a:custGeom>
            <a:solidFill>
              <a:srgbClr val="000000"/>
            </a:solidFill>
          </p:spPr>
          <p:txBody>
            <a:bodyPr wrap="square" lIns="0" tIns="0" rIns="0" bIns="0" rtlCol="0"/>
            <a:lstStyle/>
            <a:p>
              <a:endParaRPr/>
            </a:p>
          </p:txBody>
        </p:sp>
        <p:sp>
          <p:nvSpPr>
            <p:cNvPr id="37" name="object 37"/>
            <p:cNvSpPr/>
            <p:nvPr/>
          </p:nvSpPr>
          <p:spPr>
            <a:xfrm>
              <a:off x="773271" y="751637"/>
              <a:ext cx="260350" cy="578485"/>
            </a:xfrm>
            <a:custGeom>
              <a:avLst/>
              <a:gdLst/>
              <a:ahLst/>
              <a:cxnLst/>
              <a:rect l="l" t="t" r="r" b="b"/>
              <a:pathLst>
                <a:path w="260350" h="578485">
                  <a:moveTo>
                    <a:pt x="0" y="0"/>
                  </a:moveTo>
                  <a:lnTo>
                    <a:pt x="4066" y="9037"/>
                  </a:lnTo>
                  <a:lnTo>
                    <a:pt x="32533" y="72297"/>
                  </a:lnTo>
                  <a:lnTo>
                    <a:pt x="109801" y="244005"/>
                  </a:lnTo>
                  <a:lnTo>
                    <a:pt x="260270" y="578382"/>
                  </a:lnTo>
                </a:path>
              </a:pathLst>
            </a:custGeom>
            <a:ln w="4200">
              <a:solidFill>
                <a:srgbClr val="000000"/>
              </a:solidFill>
            </a:ln>
          </p:spPr>
          <p:txBody>
            <a:bodyPr wrap="square" lIns="0" tIns="0" rIns="0" bIns="0" rtlCol="0"/>
            <a:lstStyle/>
            <a:p>
              <a:endParaRPr/>
            </a:p>
          </p:txBody>
        </p:sp>
        <p:sp>
          <p:nvSpPr>
            <p:cNvPr id="38" name="object 38"/>
            <p:cNvSpPr/>
            <p:nvPr/>
          </p:nvSpPr>
          <p:spPr>
            <a:xfrm>
              <a:off x="1012971" y="1311565"/>
              <a:ext cx="31115" cy="38100"/>
            </a:xfrm>
            <a:custGeom>
              <a:avLst/>
              <a:gdLst/>
              <a:ahLst/>
              <a:cxnLst/>
              <a:rect l="l" t="t" r="r" b="b"/>
              <a:pathLst>
                <a:path w="31115" h="38100">
                  <a:moveTo>
                    <a:pt x="30758" y="0"/>
                  </a:moveTo>
                  <a:lnTo>
                    <a:pt x="20569" y="18455"/>
                  </a:lnTo>
                  <a:lnTo>
                    <a:pt x="0" y="13841"/>
                  </a:lnTo>
                  <a:lnTo>
                    <a:pt x="29220" y="37679"/>
                  </a:lnTo>
                  <a:lnTo>
                    <a:pt x="30758" y="0"/>
                  </a:lnTo>
                  <a:close/>
                </a:path>
              </a:pathLst>
            </a:custGeom>
            <a:solidFill>
              <a:srgbClr val="000000"/>
            </a:solidFill>
          </p:spPr>
          <p:txBody>
            <a:bodyPr wrap="square" lIns="0" tIns="0" rIns="0" bIns="0" rtlCol="0"/>
            <a:lstStyle/>
            <a:p>
              <a:endParaRPr/>
            </a:p>
          </p:txBody>
        </p:sp>
        <p:sp>
          <p:nvSpPr>
            <p:cNvPr id="39" name="object 39"/>
            <p:cNvSpPr/>
            <p:nvPr/>
          </p:nvSpPr>
          <p:spPr>
            <a:xfrm>
              <a:off x="773271" y="751637"/>
              <a:ext cx="175260" cy="876300"/>
            </a:xfrm>
            <a:custGeom>
              <a:avLst/>
              <a:gdLst/>
              <a:ahLst/>
              <a:cxnLst/>
              <a:rect l="l" t="t" r="r" b="b"/>
              <a:pathLst>
                <a:path w="175259" h="876300">
                  <a:moveTo>
                    <a:pt x="0" y="0"/>
                  </a:moveTo>
                  <a:lnTo>
                    <a:pt x="2736" y="13684"/>
                  </a:lnTo>
                  <a:lnTo>
                    <a:pt x="21894" y="109472"/>
                  </a:lnTo>
                  <a:lnTo>
                    <a:pt x="73894" y="369468"/>
                  </a:lnTo>
                  <a:lnTo>
                    <a:pt x="175157" y="875777"/>
                  </a:lnTo>
                </a:path>
              </a:pathLst>
            </a:custGeom>
            <a:ln w="4200">
              <a:solidFill>
                <a:srgbClr val="000000"/>
              </a:solidFill>
            </a:ln>
          </p:spPr>
          <p:txBody>
            <a:bodyPr wrap="square" lIns="0" tIns="0" rIns="0" bIns="0" rtlCol="0"/>
            <a:lstStyle/>
            <a:p>
              <a:endParaRPr/>
            </a:p>
          </p:txBody>
        </p:sp>
        <p:sp>
          <p:nvSpPr>
            <p:cNvPr id="40" name="object 40"/>
            <p:cNvSpPr/>
            <p:nvPr/>
          </p:nvSpPr>
          <p:spPr>
            <a:xfrm>
              <a:off x="929445" y="1611733"/>
              <a:ext cx="33020" cy="36830"/>
            </a:xfrm>
            <a:custGeom>
              <a:avLst/>
              <a:gdLst/>
              <a:ahLst/>
              <a:cxnLst/>
              <a:rect l="l" t="t" r="r" b="b"/>
              <a:pathLst>
                <a:path w="33019" h="36830">
                  <a:moveTo>
                    <a:pt x="33014" y="0"/>
                  </a:moveTo>
                  <a:lnTo>
                    <a:pt x="18982" y="15681"/>
                  </a:lnTo>
                  <a:lnTo>
                    <a:pt x="0" y="6602"/>
                  </a:lnTo>
                  <a:lnTo>
                    <a:pt x="23109" y="36315"/>
                  </a:lnTo>
                  <a:lnTo>
                    <a:pt x="33014" y="0"/>
                  </a:lnTo>
                  <a:close/>
                </a:path>
              </a:pathLst>
            </a:custGeom>
            <a:solidFill>
              <a:srgbClr val="000000"/>
            </a:solidFill>
          </p:spPr>
          <p:txBody>
            <a:bodyPr wrap="square" lIns="0" tIns="0" rIns="0" bIns="0" rtlCol="0"/>
            <a:lstStyle/>
            <a:p>
              <a:endParaRPr/>
            </a:p>
          </p:txBody>
        </p:sp>
        <p:sp>
          <p:nvSpPr>
            <p:cNvPr id="41" name="object 41"/>
            <p:cNvSpPr/>
            <p:nvPr/>
          </p:nvSpPr>
          <p:spPr>
            <a:xfrm>
              <a:off x="653747" y="1071360"/>
              <a:ext cx="87630" cy="875665"/>
            </a:xfrm>
            <a:custGeom>
              <a:avLst/>
              <a:gdLst/>
              <a:ahLst/>
              <a:cxnLst/>
              <a:rect l="l" t="t" r="r" b="b"/>
              <a:pathLst>
                <a:path w="87629" h="875664">
                  <a:moveTo>
                    <a:pt x="0" y="875492"/>
                  </a:moveTo>
                  <a:lnTo>
                    <a:pt x="1367" y="861813"/>
                  </a:lnTo>
                  <a:lnTo>
                    <a:pt x="10943" y="766056"/>
                  </a:lnTo>
                  <a:lnTo>
                    <a:pt x="36935" y="506144"/>
                  </a:lnTo>
                  <a:lnTo>
                    <a:pt x="87550" y="0"/>
                  </a:lnTo>
                </a:path>
              </a:pathLst>
            </a:custGeom>
            <a:ln w="4200">
              <a:solidFill>
                <a:srgbClr val="000000"/>
              </a:solidFill>
            </a:ln>
          </p:spPr>
          <p:txBody>
            <a:bodyPr wrap="square" lIns="0" tIns="0" rIns="0" bIns="0" rtlCol="0"/>
            <a:lstStyle/>
            <a:p>
              <a:endParaRPr/>
            </a:p>
          </p:txBody>
        </p:sp>
        <p:sp>
          <p:nvSpPr>
            <p:cNvPr id="42" name="object 42"/>
            <p:cNvSpPr/>
            <p:nvPr/>
          </p:nvSpPr>
          <p:spPr>
            <a:xfrm>
              <a:off x="723307" y="1050441"/>
              <a:ext cx="33655" cy="35560"/>
            </a:xfrm>
            <a:custGeom>
              <a:avLst/>
              <a:gdLst/>
              <a:ahLst/>
              <a:cxnLst/>
              <a:rect l="l" t="t" r="r" b="b"/>
              <a:pathLst>
                <a:path w="33654"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43" name="object 43"/>
            <p:cNvSpPr/>
            <p:nvPr/>
          </p:nvSpPr>
          <p:spPr>
            <a:xfrm>
              <a:off x="653747" y="1369417"/>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44" name="object 44"/>
            <p:cNvSpPr/>
            <p:nvPr/>
          </p:nvSpPr>
          <p:spPr>
            <a:xfrm>
              <a:off x="807211" y="1349245"/>
              <a:ext cx="32384" cy="37465"/>
            </a:xfrm>
            <a:custGeom>
              <a:avLst/>
              <a:gdLst/>
              <a:ahLst/>
              <a:cxnLst/>
              <a:rect l="l" t="t" r="r" b="b"/>
              <a:pathLst>
                <a:path w="32384"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45" name="object 45"/>
            <p:cNvSpPr/>
            <p:nvPr/>
          </p:nvSpPr>
          <p:spPr>
            <a:xfrm>
              <a:off x="653747" y="1661517"/>
              <a:ext cx="342900" cy="285750"/>
            </a:xfrm>
            <a:custGeom>
              <a:avLst/>
              <a:gdLst/>
              <a:ahLst/>
              <a:cxnLst/>
              <a:rect l="l" t="t" r="r" b="b"/>
              <a:pathLst>
                <a:path w="342900" h="285750">
                  <a:moveTo>
                    <a:pt x="0" y="285335"/>
                  </a:moveTo>
                  <a:lnTo>
                    <a:pt x="5350" y="280876"/>
                  </a:lnTo>
                  <a:lnTo>
                    <a:pt x="42800" y="249668"/>
                  </a:lnTo>
                  <a:lnTo>
                    <a:pt x="144450" y="164959"/>
                  </a:lnTo>
                  <a:lnTo>
                    <a:pt x="342401" y="0"/>
                  </a:lnTo>
                </a:path>
              </a:pathLst>
            </a:custGeom>
            <a:ln w="4200">
              <a:solidFill>
                <a:srgbClr val="000000"/>
              </a:solidFill>
            </a:ln>
          </p:spPr>
          <p:txBody>
            <a:bodyPr wrap="square" lIns="0" tIns="0" rIns="0" bIns="0" rtlCol="0"/>
            <a:lstStyle/>
            <a:p>
              <a:endParaRPr/>
            </a:p>
          </p:txBody>
        </p:sp>
        <p:sp>
          <p:nvSpPr>
            <p:cNvPr id="46" name="object 46"/>
            <p:cNvSpPr/>
            <p:nvPr/>
          </p:nvSpPr>
          <p:spPr>
            <a:xfrm>
              <a:off x="975676" y="1648049"/>
              <a:ext cx="36830" cy="34925"/>
            </a:xfrm>
            <a:custGeom>
              <a:avLst/>
              <a:gdLst/>
              <a:ahLst/>
              <a:cxnLst/>
              <a:rect l="l" t="t" r="r" b="b"/>
              <a:pathLst>
                <a:path w="36830" h="34925">
                  <a:moveTo>
                    <a:pt x="0" y="8620"/>
                  </a:moveTo>
                  <a:lnTo>
                    <a:pt x="20471" y="13468"/>
                  </a:lnTo>
                  <a:lnTo>
                    <a:pt x="21549" y="34479"/>
                  </a:lnTo>
                  <a:lnTo>
                    <a:pt x="36633" y="0"/>
                  </a:lnTo>
                  <a:lnTo>
                    <a:pt x="0" y="8620"/>
                  </a:lnTo>
                  <a:close/>
                </a:path>
              </a:pathLst>
            </a:custGeom>
            <a:solidFill>
              <a:srgbClr val="000000"/>
            </a:solidFill>
          </p:spPr>
          <p:txBody>
            <a:bodyPr wrap="square" lIns="0" tIns="0" rIns="0" bIns="0" rtlCol="0"/>
            <a:lstStyle/>
            <a:p>
              <a:endParaRPr/>
            </a:p>
          </p:txBody>
        </p:sp>
      </p:grpSp>
      <p:sp>
        <p:nvSpPr>
          <p:cNvPr id="47" name="object 47"/>
          <p:cNvSpPr txBox="1"/>
          <p:nvPr/>
        </p:nvSpPr>
        <p:spPr>
          <a:xfrm>
            <a:off x="356564" y="1863869"/>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48" name="object 48"/>
          <p:cNvSpPr txBox="1"/>
          <p:nvPr/>
        </p:nvSpPr>
        <p:spPr>
          <a:xfrm>
            <a:off x="652165" y="582773"/>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49" name="object 49"/>
          <p:cNvGrpSpPr/>
          <p:nvPr/>
        </p:nvGrpSpPr>
        <p:grpSpPr>
          <a:xfrm>
            <a:off x="1368656" y="1048218"/>
            <a:ext cx="137795" cy="233679"/>
            <a:chOff x="1368656" y="1048218"/>
            <a:chExt cx="137795" cy="233679"/>
          </a:xfrm>
        </p:grpSpPr>
        <p:sp>
          <p:nvSpPr>
            <p:cNvPr id="50" name="object 50"/>
            <p:cNvSpPr/>
            <p:nvPr/>
          </p:nvSpPr>
          <p:spPr>
            <a:xfrm>
              <a:off x="1370878" y="1050441"/>
              <a:ext cx="107950" cy="215900"/>
            </a:xfrm>
            <a:custGeom>
              <a:avLst/>
              <a:gdLst/>
              <a:ahLst/>
              <a:cxnLst/>
              <a:rect l="l" t="t" r="r" b="b"/>
              <a:pathLst>
                <a:path w="107950" h="215900">
                  <a:moveTo>
                    <a:pt x="0" y="0"/>
                  </a:moveTo>
                  <a:lnTo>
                    <a:pt x="1686" y="3372"/>
                  </a:lnTo>
                  <a:lnTo>
                    <a:pt x="13488" y="26976"/>
                  </a:lnTo>
                  <a:lnTo>
                    <a:pt x="45522" y="91044"/>
                  </a:lnTo>
                  <a:lnTo>
                    <a:pt x="107904" y="215808"/>
                  </a:lnTo>
                </a:path>
              </a:pathLst>
            </a:custGeom>
            <a:ln w="4200">
              <a:solidFill>
                <a:srgbClr val="000000"/>
              </a:solidFill>
            </a:ln>
          </p:spPr>
          <p:txBody>
            <a:bodyPr wrap="square" lIns="0" tIns="0" rIns="0" bIns="0" rtlCol="0"/>
            <a:lstStyle/>
            <a:p>
              <a:endParaRPr/>
            </a:p>
          </p:txBody>
        </p:sp>
        <p:sp>
          <p:nvSpPr>
            <p:cNvPr id="51" name="object 51"/>
            <p:cNvSpPr/>
            <p:nvPr/>
          </p:nvSpPr>
          <p:spPr>
            <a:xfrm>
              <a:off x="1454831" y="1254978"/>
              <a:ext cx="48895" cy="24765"/>
            </a:xfrm>
            <a:custGeom>
              <a:avLst/>
              <a:gdLst/>
              <a:ahLst/>
              <a:cxnLst/>
              <a:rect l="l" t="t" r="r" b="b"/>
              <a:pathLst>
                <a:path w="48894" h="24765">
                  <a:moveTo>
                    <a:pt x="0" y="24421"/>
                  </a:moveTo>
                  <a:lnTo>
                    <a:pt x="48843" y="0"/>
                  </a:lnTo>
                </a:path>
              </a:pathLst>
            </a:custGeom>
            <a:ln w="4200">
              <a:solidFill>
                <a:srgbClr val="000000"/>
              </a:solidFill>
            </a:ln>
          </p:spPr>
          <p:txBody>
            <a:bodyPr wrap="square" lIns="0" tIns="0" rIns="0" bIns="0" rtlCol="0"/>
            <a:lstStyle/>
            <a:p>
              <a:endParaRPr/>
            </a:p>
          </p:txBody>
        </p:sp>
      </p:grpSp>
      <p:sp>
        <p:nvSpPr>
          <p:cNvPr id="52" name="object 52"/>
          <p:cNvSpPr txBox="1"/>
          <p:nvPr/>
        </p:nvSpPr>
        <p:spPr>
          <a:xfrm>
            <a:off x="1032358" y="881568"/>
            <a:ext cx="677545"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5" dirty="0">
                <a:latin typeface="Times New Roman"/>
                <a:cs typeface="Times New Roman"/>
              </a:rPr>
              <a:t>S</a:t>
            </a:r>
            <a:r>
              <a:rPr sz="825" spc="75" baseline="-15151" dirty="0">
                <a:latin typeface="Times New Roman"/>
                <a:cs typeface="Times New Roman"/>
              </a:rPr>
              <a:t>1</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53" name="object 53"/>
          <p:cNvGrpSpPr/>
          <p:nvPr/>
        </p:nvGrpSpPr>
        <p:grpSpPr>
          <a:xfrm>
            <a:off x="1368656" y="1048218"/>
            <a:ext cx="706755" cy="636270"/>
            <a:chOff x="1368656" y="1048218"/>
            <a:chExt cx="706755" cy="636270"/>
          </a:xfrm>
        </p:grpSpPr>
        <p:sp>
          <p:nvSpPr>
            <p:cNvPr id="54" name="object 54"/>
            <p:cNvSpPr/>
            <p:nvPr/>
          </p:nvSpPr>
          <p:spPr>
            <a:xfrm>
              <a:off x="1370878" y="1050441"/>
              <a:ext cx="144780" cy="577850"/>
            </a:xfrm>
            <a:custGeom>
              <a:avLst/>
              <a:gdLst/>
              <a:ahLst/>
              <a:cxnLst/>
              <a:rect l="l" t="t" r="r" b="b"/>
              <a:pathLst>
                <a:path w="144780" h="577850">
                  <a:moveTo>
                    <a:pt x="0" y="0"/>
                  </a:moveTo>
                  <a:lnTo>
                    <a:pt x="2254" y="9019"/>
                  </a:lnTo>
                  <a:lnTo>
                    <a:pt x="18038" y="72153"/>
                  </a:lnTo>
                  <a:lnTo>
                    <a:pt x="60880" y="243519"/>
                  </a:lnTo>
                  <a:lnTo>
                    <a:pt x="144308" y="577231"/>
                  </a:lnTo>
                </a:path>
              </a:pathLst>
            </a:custGeom>
            <a:ln w="4200">
              <a:solidFill>
                <a:srgbClr val="000000"/>
              </a:solidFill>
            </a:ln>
          </p:spPr>
          <p:txBody>
            <a:bodyPr wrap="square" lIns="0" tIns="0" rIns="0" bIns="0" rtlCol="0"/>
            <a:lstStyle/>
            <a:p>
              <a:endParaRPr/>
            </a:p>
          </p:txBody>
        </p:sp>
        <p:sp>
          <p:nvSpPr>
            <p:cNvPr id="55" name="object 55"/>
            <p:cNvSpPr/>
            <p:nvPr/>
          </p:nvSpPr>
          <p:spPr>
            <a:xfrm>
              <a:off x="1495830" y="1611372"/>
              <a:ext cx="33020" cy="36830"/>
            </a:xfrm>
            <a:custGeom>
              <a:avLst/>
              <a:gdLst/>
              <a:ahLst/>
              <a:cxnLst/>
              <a:rect l="l" t="t" r="r" b="b"/>
              <a:pathLst>
                <a:path w="33019" h="36830">
                  <a:moveTo>
                    <a:pt x="32601" y="0"/>
                  </a:moveTo>
                  <a:lnTo>
                    <a:pt x="19356" y="16300"/>
                  </a:lnTo>
                  <a:lnTo>
                    <a:pt x="0" y="8149"/>
                  </a:lnTo>
                  <a:lnTo>
                    <a:pt x="24450" y="36676"/>
                  </a:lnTo>
                  <a:lnTo>
                    <a:pt x="32601" y="0"/>
                  </a:lnTo>
                  <a:close/>
                </a:path>
              </a:pathLst>
            </a:custGeom>
            <a:solidFill>
              <a:srgbClr val="000000"/>
            </a:solidFill>
          </p:spPr>
          <p:txBody>
            <a:bodyPr wrap="square" lIns="0" tIns="0" rIns="0" bIns="0" rtlCol="0"/>
            <a:lstStyle/>
            <a:p>
              <a:endParaRPr/>
            </a:p>
          </p:txBody>
        </p:sp>
        <p:sp>
          <p:nvSpPr>
            <p:cNvPr id="56" name="object 56"/>
            <p:cNvSpPr/>
            <p:nvPr/>
          </p:nvSpPr>
          <p:spPr>
            <a:xfrm>
              <a:off x="1729442" y="1140463"/>
              <a:ext cx="127000" cy="508000"/>
            </a:xfrm>
            <a:custGeom>
              <a:avLst/>
              <a:gdLst/>
              <a:ahLst/>
              <a:cxnLst/>
              <a:rect l="l" t="t" r="r" b="b"/>
              <a:pathLst>
                <a:path w="127000" h="508000">
                  <a:moveTo>
                    <a:pt x="0" y="507585"/>
                  </a:moveTo>
                  <a:lnTo>
                    <a:pt x="1982" y="499654"/>
                  </a:lnTo>
                  <a:lnTo>
                    <a:pt x="15862" y="444137"/>
                  </a:lnTo>
                  <a:lnTo>
                    <a:pt x="53535" y="293448"/>
                  </a:lnTo>
                  <a:lnTo>
                    <a:pt x="126898" y="0"/>
                  </a:lnTo>
                </a:path>
              </a:pathLst>
            </a:custGeom>
            <a:ln w="4200">
              <a:solidFill>
                <a:srgbClr val="000000"/>
              </a:solidFill>
            </a:ln>
          </p:spPr>
          <p:txBody>
            <a:bodyPr wrap="square" lIns="0" tIns="0" rIns="0" bIns="0" rtlCol="0"/>
            <a:lstStyle/>
            <a:p>
              <a:endParaRPr/>
            </a:p>
          </p:txBody>
        </p:sp>
        <p:sp>
          <p:nvSpPr>
            <p:cNvPr id="57" name="object 57"/>
            <p:cNvSpPr/>
            <p:nvPr/>
          </p:nvSpPr>
          <p:spPr>
            <a:xfrm>
              <a:off x="1830106" y="1132822"/>
              <a:ext cx="53340" cy="13335"/>
            </a:xfrm>
            <a:custGeom>
              <a:avLst/>
              <a:gdLst/>
              <a:ahLst/>
              <a:cxnLst/>
              <a:rect l="l" t="t" r="r" b="b"/>
              <a:pathLst>
                <a:path w="53339" h="13334">
                  <a:moveTo>
                    <a:pt x="52978" y="13243"/>
                  </a:moveTo>
                  <a:lnTo>
                    <a:pt x="0" y="0"/>
                  </a:lnTo>
                </a:path>
              </a:pathLst>
            </a:custGeom>
            <a:ln w="4200">
              <a:solidFill>
                <a:srgbClr val="000000"/>
              </a:solidFill>
            </a:ln>
          </p:spPr>
          <p:txBody>
            <a:bodyPr wrap="square" lIns="0" tIns="0" rIns="0" bIns="0" rtlCol="0"/>
            <a:lstStyle/>
            <a:p>
              <a:endParaRPr/>
            </a:p>
          </p:txBody>
        </p:sp>
        <p:sp>
          <p:nvSpPr>
            <p:cNvPr id="58" name="object 58"/>
            <p:cNvSpPr/>
            <p:nvPr/>
          </p:nvSpPr>
          <p:spPr>
            <a:xfrm>
              <a:off x="1729442" y="1432241"/>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59" name="object 59"/>
            <p:cNvSpPr/>
            <p:nvPr/>
          </p:nvSpPr>
          <p:spPr>
            <a:xfrm>
              <a:off x="1813394" y="1419091"/>
              <a:ext cx="48895" cy="24765"/>
            </a:xfrm>
            <a:custGeom>
              <a:avLst/>
              <a:gdLst/>
              <a:ahLst/>
              <a:cxnLst/>
              <a:rect l="l" t="t" r="r" b="b"/>
              <a:pathLst>
                <a:path w="48894" h="24765">
                  <a:moveTo>
                    <a:pt x="48843" y="24421"/>
                  </a:moveTo>
                  <a:lnTo>
                    <a:pt x="0" y="0"/>
                  </a:lnTo>
                </a:path>
              </a:pathLst>
            </a:custGeom>
            <a:ln w="4200">
              <a:solidFill>
                <a:srgbClr val="000000"/>
              </a:solidFill>
            </a:ln>
          </p:spPr>
          <p:txBody>
            <a:bodyPr wrap="square" lIns="0" tIns="0" rIns="0" bIns="0" rtlCol="0"/>
            <a:lstStyle/>
            <a:p>
              <a:endParaRPr/>
            </a:p>
          </p:txBody>
        </p:sp>
        <p:sp>
          <p:nvSpPr>
            <p:cNvPr id="60" name="object 60"/>
            <p:cNvSpPr/>
            <p:nvPr/>
          </p:nvSpPr>
          <p:spPr>
            <a:xfrm>
              <a:off x="1983425" y="1614446"/>
              <a:ext cx="90170" cy="67310"/>
            </a:xfrm>
            <a:custGeom>
              <a:avLst/>
              <a:gdLst/>
              <a:ahLst/>
              <a:cxnLst/>
              <a:rect l="l" t="t" r="r" b="b"/>
              <a:pathLst>
                <a:path w="90169"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61" name="object 61"/>
            <p:cNvSpPr/>
            <p:nvPr/>
          </p:nvSpPr>
          <p:spPr>
            <a:xfrm>
              <a:off x="1983425" y="1614446"/>
              <a:ext cx="90170" cy="67310"/>
            </a:xfrm>
            <a:custGeom>
              <a:avLst/>
              <a:gdLst/>
              <a:ahLst/>
              <a:cxnLst/>
              <a:rect l="l" t="t" r="r" b="b"/>
              <a:pathLst>
                <a:path w="90169"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62" name="object 62"/>
          <p:cNvSpPr txBox="1"/>
          <p:nvPr/>
        </p:nvSpPr>
        <p:spPr>
          <a:xfrm>
            <a:off x="1501960" y="1656100"/>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1</a:t>
            </a:r>
            <a:endParaRPr sz="750" baseline="5555">
              <a:latin typeface="Times New Roman"/>
              <a:cs typeface="Times New Roman"/>
            </a:endParaRPr>
          </a:p>
        </p:txBody>
      </p:sp>
      <p:grpSp>
        <p:nvGrpSpPr>
          <p:cNvPr id="63" name="object 63"/>
          <p:cNvGrpSpPr/>
          <p:nvPr/>
        </p:nvGrpSpPr>
        <p:grpSpPr>
          <a:xfrm>
            <a:off x="2175425" y="751637"/>
            <a:ext cx="278130" cy="899160"/>
            <a:chOff x="2175425" y="751637"/>
            <a:chExt cx="278130" cy="899160"/>
          </a:xfrm>
        </p:grpSpPr>
        <p:sp>
          <p:nvSpPr>
            <p:cNvPr id="64" name="object 64"/>
            <p:cNvSpPr/>
            <p:nvPr/>
          </p:nvSpPr>
          <p:spPr>
            <a:xfrm>
              <a:off x="2177647" y="771809"/>
              <a:ext cx="262890" cy="876300"/>
            </a:xfrm>
            <a:custGeom>
              <a:avLst/>
              <a:gdLst/>
              <a:ahLst/>
              <a:cxnLst/>
              <a:rect l="l" t="t" r="r" b="b"/>
              <a:pathLst>
                <a:path w="262889" h="876300">
                  <a:moveTo>
                    <a:pt x="0" y="876239"/>
                  </a:moveTo>
                  <a:lnTo>
                    <a:pt x="4107" y="862548"/>
                  </a:lnTo>
                  <a:lnTo>
                    <a:pt x="32859" y="766709"/>
                  </a:lnTo>
                  <a:lnTo>
                    <a:pt x="110900" y="506575"/>
                  </a:lnTo>
                  <a:lnTo>
                    <a:pt x="262874" y="0"/>
                  </a:lnTo>
                </a:path>
              </a:pathLst>
            </a:custGeom>
            <a:ln w="4200">
              <a:solidFill>
                <a:srgbClr val="000000"/>
              </a:solidFill>
            </a:ln>
          </p:spPr>
          <p:txBody>
            <a:bodyPr wrap="square" lIns="0" tIns="0" rIns="0" bIns="0" rtlCol="0"/>
            <a:lstStyle/>
            <a:p>
              <a:endParaRPr/>
            </a:p>
          </p:txBody>
        </p:sp>
        <p:sp>
          <p:nvSpPr>
            <p:cNvPr id="65" name="object 65"/>
            <p:cNvSpPr/>
            <p:nvPr/>
          </p:nvSpPr>
          <p:spPr>
            <a:xfrm>
              <a:off x="2420754" y="751637"/>
              <a:ext cx="32384" cy="37465"/>
            </a:xfrm>
            <a:custGeom>
              <a:avLst/>
              <a:gdLst/>
              <a:ahLst/>
              <a:cxnLst/>
              <a:rect l="l" t="t" r="r" b="b"/>
              <a:pathLst>
                <a:path w="32385" h="37465">
                  <a:moveTo>
                    <a:pt x="0" y="27433"/>
                  </a:moveTo>
                  <a:lnTo>
                    <a:pt x="19768" y="20171"/>
                  </a:lnTo>
                  <a:lnTo>
                    <a:pt x="32274" y="37116"/>
                  </a:lnTo>
                  <a:lnTo>
                    <a:pt x="25819" y="0"/>
                  </a:lnTo>
                  <a:lnTo>
                    <a:pt x="0" y="27433"/>
                  </a:lnTo>
                  <a:close/>
                </a:path>
              </a:pathLst>
            </a:custGeom>
            <a:solidFill>
              <a:srgbClr val="000000"/>
            </a:solidFill>
          </p:spPr>
          <p:txBody>
            <a:bodyPr wrap="square" lIns="0" tIns="0" rIns="0" bIns="0" rtlCol="0"/>
            <a:lstStyle/>
            <a:p>
              <a:endParaRPr/>
            </a:p>
          </p:txBody>
        </p:sp>
      </p:grpSp>
      <p:sp>
        <p:nvSpPr>
          <p:cNvPr id="66" name="object 66"/>
          <p:cNvSpPr txBox="1"/>
          <p:nvPr/>
        </p:nvSpPr>
        <p:spPr>
          <a:xfrm>
            <a:off x="2440874" y="564897"/>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7" name="object 67"/>
          <p:cNvSpPr txBox="1"/>
          <p:nvPr/>
        </p:nvSpPr>
        <p:spPr>
          <a:xfrm>
            <a:off x="2433306" y="630673"/>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68" name="object 68"/>
          <p:cNvSpPr txBox="1"/>
          <p:nvPr/>
        </p:nvSpPr>
        <p:spPr>
          <a:xfrm>
            <a:off x="2345457" y="574235"/>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69" name="object 69"/>
          <p:cNvGrpSpPr/>
          <p:nvPr/>
        </p:nvGrpSpPr>
        <p:grpSpPr>
          <a:xfrm>
            <a:off x="2623630" y="1128463"/>
            <a:ext cx="98425" cy="520065"/>
            <a:chOff x="2623630" y="1128463"/>
            <a:chExt cx="98425" cy="520065"/>
          </a:xfrm>
        </p:grpSpPr>
        <p:sp>
          <p:nvSpPr>
            <p:cNvPr id="70" name="object 70"/>
            <p:cNvSpPr/>
            <p:nvPr/>
          </p:nvSpPr>
          <p:spPr>
            <a:xfrm>
              <a:off x="2625853" y="1139560"/>
              <a:ext cx="63500" cy="210185"/>
            </a:xfrm>
            <a:custGeom>
              <a:avLst/>
              <a:gdLst/>
              <a:ahLst/>
              <a:cxnLst/>
              <a:rect l="l" t="t" r="r" b="b"/>
              <a:pathLst>
                <a:path w="63500" h="210184">
                  <a:moveTo>
                    <a:pt x="0" y="209684"/>
                  </a:moveTo>
                  <a:lnTo>
                    <a:pt x="982" y="206407"/>
                  </a:lnTo>
                  <a:lnTo>
                    <a:pt x="7863" y="183473"/>
                  </a:lnTo>
                  <a:lnTo>
                    <a:pt x="26539" y="121223"/>
                  </a:lnTo>
                  <a:lnTo>
                    <a:pt x="62908" y="0"/>
                  </a:lnTo>
                </a:path>
              </a:pathLst>
            </a:custGeom>
            <a:ln w="4200">
              <a:solidFill>
                <a:srgbClr val="000000"/>
              </a:solidFill>
            </a:ln>
          </p:spPr>
          <p:txBody>
            <a:bodyPr wrap="square" lIns="0" tIns="0" rIns="0" bIns="0" rtlCol="0"/>
            <a:lstStyle/>
            <a:p>
              <a:endParaRPr/>
            </a:p>
          </p:txBody>
        </p:sp>
        <p:sp>
          <p:nvSpPr>
            <p:cNvPr id="71" name="object 71"/>
            <p:cNvSpPr/>
            <p:nvPr/>
          </p:nvSpPr>
          <p:spPr>
            <a:xfrm>
              <a:off x="2662840" y="1130686"/>
              <a:ext cx="52705" cy="15875"/>
            </a:xfrm>
            <a:custGeom>
              <a:avLst/>
              <a:gdLst/>
              <a:ahLst/>
              <a:cxnLst/>
              <a:rect l="l" t="t" r="r" b="b"/>
              <a:pathLst>
                <a:path w="52705" h="15875">
                  <a:moveTo>
                    <a:pt x="52447" y="15732"/>
                  </a:moveTo>
                  <a:lnTo>
                    <a:pt x="0" y="0"/>
                  </a:lnTo>
                </a:path>
              </a:pathLst>
            </a:custGeom>
            <a:ln w="4211">
              <a:solidFill>
                <a:srgbClr val="000000"/>
              </a:solidFill>
            </a:ln>
          </p:spPr>
          <p:txBody>
            <a:bodyPr wrap="square" lIns="0" tIns="0" rIns="0" bIns="0" rtlCol="0"/>
            <a:lstStyle/>
            <a:p>
              <a:endParaRPr/>
            </a:p>
          </p:txBody>
        </p:sp>
        <p:sp>
          <p:nvSpPr>
            <p:cNvPr id="72" name="object 72"/>
            <p:cNvSpPr/>
            <p:nvPr/>
          </p:nvSpPr>
          <p:spPr>
            <a:xfrm>
              <a:off x="2625853" y="1349245"/>
              <a:ext cx="83820" cy="278765"/>
            </a:xfrm>
            <a:custGeom>
              <a:avLst/>
              <a:gdLst/>
              <a:ahLst/>
              <a:cxnLst/>
              <a:rect l="l" t="t" r="r" b="b"/>
              <a:pathLst>
                <a:path w="83819" h="278764">
                  <a:moveTo>
                    <a:pt x="0" y="0"/>
                  </a:moveTo>
                  <a:lnTo>
                    <a:pt x="1306" y="4353"/>
                  </a:lnTo>
                  <a:lnTo>
                    <a:pt x="10448" y="34828"/>
                  </a:lnTo>
                  <a:lnTo>
                    <a:pt x="35264" y="117547"/>
                  </a:lnTo>
                  <a:lnTo>
                    <a:pt x="83590" y="278631"/>
                  </a:lnTo>
                </a:path>
              </a:pathLst>
            </a:custGeom>
            <a:ln w="4200">
              <a:solidFill>
                <a:srgbClr val="000000"/>
              </a:solidFill>
            </a:ln>
          </p:spPr>
          <p:txBody>
            <a:bodyPr wrap="square" lIns="0" tIns="0" rIns="0" bIns="0" rtlCol="0"/>
            <a:lstStyle/>
            <a:p>
              <a:endParaRPr/>
            </a:p>
          </p:txBody>
        </p:sp>
        <p:sp>
          <p:nvSpPr>
            <p:cNvPr id="73" name="object 73"/>
            <p:cNvSpPr/>
            <p:nvPr/>
          </p:nvSpPr>
          <p:spPr>
            <a:xfrm>
              <a:off x="2689676" y="1610933"/>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74" name="object 74"/>
          <p:cNvSpPr txBox="1"/>
          <p:nvPr/>
        </p:nvSpPr>
        <p:spPr>
          <a:xfrm>
            <a:off x="2287317" y="1180374"/>
            <a:ext cx="677545"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5" dirty="0">
                <a:latin typeface="Times New Roman"/>
                <a:cs typeface="Times New Roman"/>
              </a:rPr>
              <a:t>S</a:t>
            </a:r>
            <a:r>
              <a:rPr sz="825" spc="75" baseline="-15151" dirty="0">
                <a:latin typeface="Times New Roman"/>
                <a:cs typeface="Times New Roman"/>
              </a:rPr>
              <a:t>2</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2</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75" name="object 75"/>
          <p:cNvGrpSpPr/>
          <p:nvPr/>
        </p:nvGrpSpPr>
        <p:grpSpPr>
          <a:xfrm>
            <a:off x="2922434" y="1130600"/>
            <a:ext cx="348615" cy="553720"/>
            <a:chOff x="2922434" y="1130600"/>
            <a:chExt cx="348615" cy="553720"/>
          </a:xfrm>
        </p:grpSpPr>
        <p:sp>
          <p:nvSpPr>
            <p:cNvPr id="76" name="object 76"/>
            <p:cNvSpPr/>
            <p:nvPr/>
          </p:nvSpPr>
          <p:spPr>
            <a:xfrm>
              <a:off x="2924657" y="1140463"/>
              <a:ext cx="127000" cy="508000"/>
            </a:xfrm>
            <a:custGeom>
              <a:avLst/>
              <a:gdLst/>
              <a:ahLst/>
              <a:cxnLst/>
              <a:rect l="l" t="t" r="r" b="b"/>
              <a:pathLst>
                <a:path w="127000" h="508000">
                  <a:moveTo>
                    <a:pt x="0" y="507585"/>
                  </a:moveTo>
                  <a:lnTo>
                    <a:pt x="1982" y="499654"/>
                  </a:lnTo>
                  <a:lnTo>
                    <a:pt x="15862" y="444137"/>
                  </a:lnTo>
                  <a:lnTo>
                    <a:pt x="53535" y="293448"/>
                  </a:lnTo>
                  <a:lnTo>
                    <a:pt x="126898" y="0"/>
                  </a:lnTo>
                </a:path>
              </a:pathLst>
            </a:custGeom>
            <a:ln w="4200">
              <a:solidFill>
                <a:srgbClr val="000000"/>
              </a:solidFill>
            </a:ln>
          </p:spPr>
          <p:txBody>
            <a:bodyPr wrap="square" lIns="0" tIns="0" rIns="0" bIns="0" rtlCol="0"/>
            <a:lstStyle/>
            <a:p>
              <a:endParaRPr/>
            </a:p>
          </p:txBody>
        </p:sp>
        <p:sp>
          <p:nvSpPr>
            <p:cNvPr id="77" name="object 77"/>
            <p:cNvSpPr/>
            <p:nvPr/>
          </p:nvSpPr>
          <p:spPr>
            <a:xfrm>
              <a:off x="3025321" y="1132822"/>
              <a:ext cx="53340" cy="13335"/>
            </a:xfrm>
            <a:custGeom>
              <a:avLst/>
              <a:gdLst/>
              <a:ahLst/>
              <a:cxnLst/>
              <a:rect l="l" t="t" r="r" b="b"/>
              <a:pathLst>
                <a:path w="53339" h="13334">
                  <a:moveTo>
                    <a:pt x="52978" y="13243"/>
                  </a:moveTo>
                  <a:lnTo>
                    <a:pt x="0" y="0"/>
                  </a:lnTo>
                </a:path>
              </a:pathLst>
            </a:custGeom>
            <a:ln w="4200">
              <a:solidFill>
                <a:srgbClr val="000000"/>
              </a:solidFill>
            </a:ln>
          </p:spPr>
          <p:txBody>
            <a:bodyPr wrap="square" lIns="0" tIns="0" rIns="0" bIns="0" rtlCol="0"/>
            <a:lstStyle/>
            <a:p>
              <a:endParaRPr/>
            </a:p>
          </p:txBody>
        </p:sp>
        <p:sp>
          <p:nvSpPr>
            <p:cNvPr id="78" name="object 78"/>
            <p:cNvSpPr/>
            <p:nvPr/>
          </p:nvSpPr>
          <p:spPr>
            <a:xfrm>
              <a:off x="2924657" y="1432241"/>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79" name="object 79"/>
            <p:cNvSpPr/>
            <p:nvPr/>
          </p:nvSpPr>
          <p:spPr>
            <a:xfrm>
              <a:off x="3008609" y="1419091"/>
              <a:ext cx="48895" cy="24765"/>
            </a:xfrm>
            <a:custGeom>
              <a:avLst/>
              <a:gdLst/>
              <a:ahLst/>
              <a:cxnLst/>
              <a:rect l="l" t="t" r="r" b="b"/>
              <a:pathLst>
                <a:path w="48894" h="24765">
                  <a:moveTo>
                    <a:pt x="48843" y="24421"/>
                  </a:moveTo>
                  <a:lnTo>
                    <a:pt x="0" y="0"/>
                  </a:lnTo>
                </a:path>
              </a:pathLst>
            </a:custGeom>
            <a:ln w="4200">
              <a:solidFill>
                <a:srgbClr val="000000"/>
              </a:solidFill>
            </a:ln>
          </p:spPr>
          <p:txBody>
            <a:bodyPr wrap="square" lIns="0" tIns="0" rIns="0" bIns="0" rtlCol="0"/>
            <a:lstStyle/>
            <a:p>
              <a:endParaRPr/>
            </a:p>
          </p:txBody>
        </p:sp>
        <p:sp>
          <p:nvSpPr>
            <p:cNvPr id="80" name="object 80"/>
            <p:cNvSpPr/>
            <p:nvPr/>
          </p:nvSpPr>
          <p:spPr>
            <a:xfrm>
              <a:off x="3178639" y="1614446"/>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81" name="object 81"/>
            <p:cNvSpPr/>
            <p:nvPr/>
          </p:nvSpPr>
          <p:spPr>
            <a:xfrm>
              <a:off x="3178639" y="1614446"/>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82" name="object 82"/>
          <p:cNvSpPr txBox="1"/>
          <p:nvPr/>
        </p:nvSpPr>
        <p:spPr>
          <a:xfrm>
            <a:off x="2697161" y="1654993"/>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83" name="object 83"/>
          <p:cNvGrpSpPr/>
          <p:nvPr/>
        </p:nvGrpSpPr>
        <p:grpSpPr>
          <a:xfrm>
            <a:off x="3370762" y="1645948"/>
            <a:ext cx="98425" cy="300990"/>
            <a:chOff x="3370762" y="1645948"/>
            <a:chExt cx="98425" cy="300990"/>
          </a:xfrm>
        </p:grpSpPr>
        <p:sp>
          <p:nvSpPr>
            <p:cNvPr id="84" name="object 84"/>
            <p:cNvSpPr/>
            <p:nvPr/>
          </p:nvSpPr>
          <p:spPr>
            <a:xfrm>
              <a:off x="3372862" y="1648048"/>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85" name="object 85"/>
            <p:cNvSpPr/>
            <p:nvPr/>
          </p:nvSpPr>
          <p:spPr>
            <a:xfrm>
              <a:off x="3436685" y="1909737"/>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86" name="object 86"/>
          <p:cNvSpPr txBox="1"/>
          <p:nvPr/>
        </p:nvSpPr>
        <p:spPr>
          <a:xfrm>
            <a:off x="3438411" y="1945557"/>
            <a:ext cx="9906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12</a:t>
            </a:r>
            <a:endParaRPr sz="550">
              <a:latin typeface="Times New Roman"/>
              <a:cs typeface="Times New Roman"/>
            </a:endParaRPr>
          </a:p>
        </p:txBody>
      </p:sp>
      <p:sp>
        <p:nvSpPr>
          <p:cNvPr id="89" name="object 89"/>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90" name="object 90"/>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87" name="object 87"/>
          <p:cNvSpPr txBox="1"/>
          <p:nvPr/>
        </p:nvSpPr>
        <p:spPr>
          <a:xfrm>
            <a:off x="3430843" y="2011334"/>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88" name="object 88"/>
          <p:cNvSpPr txBox="1"/>
          <p:nvPr/>
        </p:nvSpPr>
        <p:spPr>
          <a:xfrm>
            <a:off x="3342994" y="1954895"/>
            <a:ext cx="23939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350" dirty="0">
                <a:latin typeface="Arial"/>
                <a:cs typeface="Arial"/>
              </a:rPr>
              <a:t> </a:t>
            </a:r>
            <a:r>
              <a:rPr sz="750" i="1" spc="-30" dirty="0">
                <a:latin typeface="メイリオ"/>
                <a:cs typeface="メイリオ"/>
              </a:rPr>
              <a:t>)</a:t>
            </a:r>
            <a:endParaRPr sz="750">
              <a:latin typeface="メイリオ"/>
              <a:cs typeface="メイリオ"/>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3" action="ppaction://hlinksldjump"/>
              </a:rPr>
              <a:t>Process</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resilience</a:t>
            </a:r>
            <a:endParaRPr sz="600">
              <a:latin typeface="Arial"/>
              <a:cs typeface="Arial"/>
            </a:endParaRPr>
          </a:p>
        </p:txBody>
      </p:sp>
      <p:sp>
        <p:nvSpPr>
          <p:cNvPr id="3" name="object 3"/>
          <p:cNvSpPr txBox="1"/>
          <p:nvPr/>
        </p:nvSpPr>
        <p:spPr>
          <a:xfrm>
            <a:off x="3965435" y="716"/>
            <a:ext cx="575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Example:</a:t>
            </a:r>
            <a:r>
              <a:rPr sz="60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Paxos</a:t>
            </a:r>
            <a:endParaRPr sz="600">
              <a:latin typeface="Arial"/>
              <a:cs typeface="Arial"/>
            </a:endParaRPr>
          </a:p>
        </p:txBody>
      </p:sp>
      <p:sp>
        <p:nvSpPr>
          <p:cNvPr id="4" name="object 4"/>
          <p:cNvSpPr txBox="1"/>
          <p:nvPr/>
        </p:nvSpPr>
        <p:spPr>
          <a:xfrm>
            <a:off x="95300" y="188846"/>
            <a:ext cx="209994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But</a:t>
            </a:r>
            <a:r>
              <a:rPr sz="1400" spc="-20" dirty="0">
                <a:solidFill>
                  <a:srgbClr val="3333B2"/>
                </a:solidFill>
                <a:latin typeface="Arial"/>
                <a:cs typeface="Arial"/>
              </a:rPr>
              <a:t> </a:t>
            </a:r>
            <a:r>
              <a:rPr sz="1400" spc="15" dirty="0">
                <a:solidFill>
                  <a:srgbClr val="3333B2"/>
                </a:solidFill>
                <a:latin typeface="Arial"/>
                <a:cs typeface="Arial"/>
              </a:rPr>
              <a:t>what</a:t>
            </a:r>
            <a:r>
              <a:rPr sz="1400" spc="-15" dirty="0">
                <a:solidFill>
                  <a:srgbClr val="3333B2"/>
                </a:solidFill>
                <a:latin typeface="Arial"/>
                <a:cs typeface="Arial"/>
              </a:rPr>
              <a:t> </a:t>
            </a:r>
            <a:r>
              <a:rPr sz="1400" spc="15" dirty="0">
                <a:solidFill>
                  <a:srgbClr val="3333B2"/>
                </a:solidFill>
                <a:latin typeface="Arial"/>
                <a:cs typeface="Arial"/>
              </a:rPr>
              <a:t>about</a:t>
            </a:r>
            <a:r>
              <a:rPr sz="1400" spc="-15" dirty="0">
                <a:solidFill>
                  <a:srgbClr val="3333B2"/>
                </a:solidFill>
                <a:latin typeface="Arial"/>
                <a:cs typeface="Arial"/>
              </a:rPr>
              <a:t> </a:t>
            </a:r>
            <a:r>
              <a:rPr sz="1400" spc="15" dirty="0">
                <a:solidFill>
                  <a:srgbClr val="3333B2"/>
                </a:solidFill>
                <a:latin typeface="Arial"/>
                <a:cs typeface="Arial"/>
              </a:rPr>
              <a:t>progress?</a:t>
            </a:r>
            <a:endParaRPr sz="1400">
              <a:latin typeface="Arial"/>
              <a:cs typeface="Arial"/>
            </a:endParaRPr>
          </a:p>
        </p:txBody>
      </p:sp>
      <p:grpSp>
        <p:nvGrpSpPr>
          <p:cNvPr id="5" name="object 5"/>
          <p:cNvGrpSpPr/>
          <p:nvPr/>
        </p:nvGrpSpPr>
        <p:grpSpPr>
          <a:xfrm>
            <a:off x="529782" y="1626205"/>
            <a:ext cx="3709670" cy="342900"/>
            <a:chOff x="529782" y="1626205"/>
            <a:chExt cx="3709670" cy="342900"/>
          </a:xfrm>
        </p:grpSpPr>
        <p:sp>
          <p:nvSpPr>
            <p:cNvPr id="6" name="object 6"/>
            <p:cNvSpPr/>
            <p:nvPr/>
          </p:nvSpPr>
          <p:spPr>
            <a:xfrm>
              <a:off x="534227" y="1946852"/>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7" name="object 7"/>
            <p:cNvSpPr/>
            <p:nvPr/>
          </p:nvSpPr>
          <p:spPr>
            <a:xfrm>
              <a:off x="4195705" y="1925009"/>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sp>
          <p:nvSpPr>
            <p:cNvPr id="8" name="object 8"/>
            <p:cNvSpPr/>
            <p:nvPr/>
          </p:nvSpPr>
          <p:spPr>
            <a:xfrm>
              <a:off x="534227" y="1648048"/>
              <a:ext cx="2961005" cy="0"/>
            </a:xfrm>
            <a:custGeom>
              <a:avLst/>
              <a:gdLst/>
              <a:ahLst/>
              <a:cxnLst/>
              <a:rect l="l" t="t" r="r" b="b"/>
              <a:pathLst>
                <a:path w="2961004">
                  <a:moveTo>
                    <a:pt x="0" y="0"/>
                  </a:moveTo>
                  <a:lnTo>
                    <a:pt x="1449197" y="0"/>
                  </a:lnTo>
                </a:path>
                <a:path w="2961004">
                  <a:moveTo>
                    <a:pt x="1538839" y="0"/>
                  </a:moveTo>
                  <a:lnTo>
                    <a:pt x="2644412" y="0"/>
                  </a:lnTo>
                </a:path>
                <a:path w="2961004">
                  <a:moveTo>
                    <a:pt x="2734054" y="0"/>
                  </a:moveTo>
                  <a:lnTo>
                    <a:pt x="2960733" y="0"/>
                  </a:lnTo>
                </a:path>
              </a:pathLst>
            </a:custGeom>
            <a:ln w="8401">
              <a:solidFill>
                <a:srgbClr val="000000"/>
              </a:solidFill>
            </a:ln>
          </p:spPr>
          <p:txBody>
            <a:bodyPr wrap="square" lIns="0" tIns="0" rIns="0" bIns="0" rtlCol="0"/>
            <a:lstStyle/>
            <a:p>
              <a:endParaRPr/>
            </a:p>
          </p:txBody>
        </p:sp>
        <p:sp>
          <p:nvSpPr>
            <p:cNvPr id="9" name="object 9"/>
            <p:cNvSpPr/>
            <p:nvPr/>
          </p:nvSpPr>
          <p:spPr>
            <a:xfrm>
              <a:off x="3478578" y="1626205"/>
              <a:ext cx="43815" cy="43815"/>
            </a:xfrm>
            <a:custGeom>
              <a:avLst/>
              <a:gdLst/>
              <a:ahLst/>
              <a:cxnLst/>
              <a:rect l="l" t="t" r="r" b="b"/>
              <a:pathLst>
                <a:path w="43814" h="43814">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10" name="object 10"/>
          <p:cNvSpPr txBox="1"/>
          <p:nvPr/>
        </p:nvSpPr>
        <p:spPr>
          <a:xfrm>
            <a:off x="365629" y="1564705"/>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3</a:t>
            </a:r>
            <a:endParaRPr sz="825" baseline="-15151">
              <a:latin typeface="Times New Roman"/>
              <a:cs typeface="Times New Roman"/>
            </a:endParaRPr>
          </a:p>
        </p:txBody>
      </p:sp>
      <p:grpSp>
        <p:nvGrpSpPr>
          <p:cNvPr id="11" name="object 11"/>
          <p:cNvGrpSpPr/>
          <p:nvPr/>
        </p:nvGrpSpPr>
        <p:grpSpPr>
          <a:xfrm>
            <a:off x="529782" y="1344800"/>
            <a:ext cx="3104515" cy="401955"/>
            <a:chOff x="529782" y="1344800"/>
            <a:chExt cx="3104515" cy="401955"/>
          </a:xfrm>
        </p:grpSpPr>
        <p:sp>
          <p:nvSpPr>
            <p:cNvPr id="12" name="object 12"/>
            <p:cNvSpPr/>
            <p:nvPr/>
          </p:nvSpPr>
          <p:spPr>
            <a:xfrm>
              <a:off x="534227" y="1349245"/>
              <a:ext cx="1494155" cy="0"/>
            </a:xfrm>
            <a:custGeom>
              <a:avLst/>
              <a:gdLst/>
              <a:ahLst/>
              <a:cxnLst/>
              <a:rect l="l" t="t" r="r" b="b"/>
              <a:pathLst>
                <a:path w="1494155">
                  <a:moveTo>
                    <a:pt x="0" y="0"/>
                  </a:moveTo>
                  <a:lnTo>
                    <a:pt x="1494018" y="0"/>
                  </a:lnTo>
                </a:path>
              </a:pathLst>
            </a:custGeom>
            <a:ln w="8401">
              <a:solidFill>
                <a:srgbClr val="000000"/>
              </a:solidFill>
            </a:ln>
          </p:spPr>
          <p:txBody>
            <a:bodyPr wrap="square" lIns="0" tIns="0" rIns="0" bIns="0" rtlCol="0"/>
            <a:lstStyle/>
            <a:p>
              <a:endParaRPr/>
            </a:p>
          </p:txBody>
        </p:sp>
        <p:sp>
          <p:nvSpPr>
            <p:cNvPr id="13" name="object 13"/>
            <p:cNvSpPr/>
            <p:nvPr/>
          </p:nvSpPr>
          <p:spPr>
            <a:xfrm>
              <a:off x="3395143" y="1539383"/>
              <a:ext cx="233679" cy="201930"/>
            </a:xfrm>
            <a:custGeom>
              <a:avLst/>
              <a:gdLst/>
              <a:ahLst/>
              <a:cxnLst/>
              <a:rect l="l" t="t" r="r" b="b"/>
              <a:pathLst>
                <a:path w="233679" h="201930">
                  <a:moveTo>
                    <a:pt x="127120" y="0"/>
                  </a:moveTo>
                  <a:lnTo>
                    <a:pt x="111883" y="66801"/>
                  </a:lnTo>
                  <a:lnTo>
                    <a:pt x="71857"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solidFill>
              <a:srgbClr val="A5A5A5"/>
            </a:solidFill>
          </p:spPr>
          <p:txBody>
            <a:bodyPr wrap="square" lIns="0" tIns="0" rIns="0" bIns="0" rtlCol="0"/>
            <a:lstStyle/>
            <a:p>
              <a:endParaRPr/>
            </a:p>
          </p:txBody>
        </p:sp>
        <p:sp>
          <p:nvSpPr>
            <p:cNvPr id="14" name="object 14"/>
            <p:cNvSpPr/>
            <p:nvPr/>
          </p:nvSpPr>
          <p:spPr>
            <a:xfrm>
              <a:off x="3395143" y="1539383"/>
              <a:ext cx="233679" cy="201930"/>
            </a:xfrm>
            <a:custGeom>
              <a:avLst/>
              <a:gdLst/>
              <a:ahLst/>
              <a:cxnLst/>
              <a:rect l="l" t="t" r="r" b="b"/>
              <a:pathLst>
                <a:path w="233679" h="201930">
                  <a:moveTo>
                    <a:pt x="127120" y="0"/>
                  </a:moveTo>
                  <a:lnTo>
                    <a:pt x="111883" y="66801"/>
                  </a:lnTo>
                  <a:lnTo>
                    <a:pt x="71857" y="42806"/>
                  </a:lnTo>
                  <a:lnTo>
                    <a:pt x="88538" y="86390"/>
                  </a:lnTo>
                  <a:lnTo>
                    <a:pt x="0" y="86251"/>
                  </a:lnTo>
                  <a:lnTo>
                    <a:pt x="83246" y="116401"/>
                  </a:lnTo>
                  <a:lnTo>
                    <a:pt x="44194" y="156542"/>
                  </a:lnTo>
                  <a:lnTo>
                    <a:pt x="98483" y="142792"/>
                  </a:lnTo>
                  <a:lnTo>
                    <a:pt x="93183" y="201905"/>
                  </a:lnTo>
                  <a:lnTo>
                    <a:pt x="127120" y="153215"/>
                  </a:lnTo>
                  <a:lnTo>
                    <a:pt x="158325" y="194400"/>
                  </a:lnTo>
                  <a:lnTo>
                    <a:pt x="155757" y="142792"/>
                  </a:lnTo>
                  <a:lnTo>
                    <a:pt x="233515" y="170092"/>
                  </a:lnTo>
                  <a:lnTo>
                    <a:pt x="170994" y="116401"/>
                  </a:lnTo>
                  <a:lnTo>
                    <a:pt x="201948" y="95471"/>
                  </a:lnTo>
                  <a:lnTo>
                    <a:pt x="165702" y="86390"/>
                  </a:lnTo>
                  <a:lnTo>
                    <a:pt x="204235" y="16765"/>
                  </a:lnTo>
                  <a:lnTo>
                    <a:pt x="142357" y="66801"/>
                  </a:lnTo>
                  <a:lnTo>
                    <a:pt x="127120" y="0"/>
                  </a:lnTo>
                  <a:close/>
                </a:path>
              </a:pathLst>
            </a:custGeom>
            <a:ln w="10501">
              <a:solidFill>
                <a:srgbClr val="000000"/>
              </a:solidFill>
            </a:ln>
          </p:spPr>
          <p:txBody>
            <a:bodyPr wrap="square" lIns="0" tIns="0" rIns="0" bIns="0" rtlCol="0"/>
            <a:lstStyle/>
            <a:p>
              <a:endParaRPr/>
            </a:p>
          </p:txBody>
        </p:sp>
      </p:grpSp>
      <p:sp>
        <p:nvSpPr>
          <p:cNvPr id="15" name="object 15"/>
          <p:cNvSpPr txBox="1"/>
          <p:nvPr/>
        </p:nvSpPr>
        <p:spPr>
          <a:xfrm>
            <a:off x="365629" y="1266268"/>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2</a:t>
            </a:r>
            <a:endParaRPr sz="825" baseline="-15151">
              <a:latin typeface="Times New Roman"/>
              <a:cs typeface="Times New Roman"/>
            </a:endParaRPr>
          </a:p>
        </p:txBody>
      </p:sp>
      <p:grpSp>
        <p:nvGrpSpPr>
          <p:cNvPr id="16" name="object 16"/>
          <p:cNvGrpSpPr/>
          <p:nvPr/>
        </p:nvGrpSpPr>
        <p:grpSpPr>
          <a:xfrm>
            <a:off x="2028197" y="1302988"/>
            <a:ext cx="2211705" cy="92710"/>
            <a:chOff x="2028197" y="1302988"/>
            <a:chExt cx="2211705" cy="92710"/>
          </a:xfrm>
        </p:grpSpPr>
        <p:sp>
          <p:nvSpPr>
            <p:cNvPr id="17" name="object 17"/>
            <p:cNvSpPr/>
            <p:nvPr/>
          </p:nvSpPr>
          <p:spPr>
            <a:xfrm>
              <a:off x="2037697" y="1349245"/>
              <a:ext cx="2168525" cy="0"/>
            </a:xfrm>
            <a:custGeom>
              <a:avLst/>
              <a:gdLst/>
              <a:ahLst/>
              <a:cxnLst/>
              <a:rect l="l" t="t" r="r" b="b"/>
              <a:pathLst>
                <a:path w="2168525">
                  <a:moveTo>
                    <a:pt x="0" y="0"/>
                  </a:moveTo>
                  <a:lnTo>
                    <a:pt x="2168088" y="0"/>
                  </a:lnTo>
                </a:path>
              </a:pathLst>
            </a:custGeom>
            <a:ln w="12602">
              <a:solidFill>
                <a:srgbClr val="000000"/>
              </a:solidFill>
            </a:ln>
          </p:spPr>
          <p:txBody>
            <a:bodyPr wrap="square" lIns="0" tIns="0" rIns="0" bIns="0" rtlCol="0"/>
            <a:lstStyle/>
            <a:p>
              <a:endParaRPr/>
            </a:p>
          </p:txBody>
        </p:sp>
        <p:sp>
          <p:nvSpPr>
            <p:cNvPr id="18" name="object 18"/>
            <p:cNvSpPr/>
            <p:nvPr/>
          </p:nvSpPr>
          <p:spPr>
            <a:xfrm>
              <a:off x="2034547" y="1309338"/>
              <a:ext cx="0" cy="80010"/>
            </a:xfrm>
            <a:custGeom>
              <a:avLst/>
              <a:gdLst/>
              <a:ahLst/>
              <a:cxnLst/>
              <a:rect l="l" t="t" r="r" b="b"/>
              <a:pathLst>
                <a:path h="80009">
                  <a:moveTo>
                    <a:pt x="0" y="0"/>
                  </a:moveTo>
                  <a:lnTo>
                    <a:pt x="0" y="79812"/>
                  </a:lnTo>
                </a:path>
              </a:pathLst>
            </a:custGeom>
            <a:ln w="12602">
              <a:solidFill>
                <a:srgbClr val="000000"/>
              </a:solidFill>
            </a:ln>
          </p:spPr>
          <p:txBody>
            <a:bodyPr wrap="square" lIns="0" tIns="0" rIns="0" bIns="0" rtlCol="0"/>
            <a:lstStyle/>
            <a:p>
              <a:endParaRPr/>
            </a:p>
          </p:txBody>
        </p:sp>
        <p:sp>
          <p:nvSpPr>
            <p:cNvPr id="19" name="object 19"/>
            <p:cNvSpPr/>
            <p:nvPr/>
          </p:nvSpPr>
          <p:spPr>
            <a:xfrm>
              <a:off x="4185622" y="1322360"/>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0" name="object 20"/>
          <p:cNvSpPr txBox="1"/>
          <p:nvPr/>
        </p:nvSpPr>
        <p:spPr>
          <a:xfrm>
            <a:off x="1933799" y="1359789"/>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21" name="object 21"/>
          <p:cNvGrpSpPr/>
          <p:nvPr/>
        </p:nvGrpSpPr>
        <p:grpSpPr>
          <a:xfrm>
            <a:off x="530026" y="1046240"/>
            <a:ext cx="1500505" cy="305435"/>
            <a:chOff x="530026" y="1046240"/>
            <a:chExt cx="1500505" cy="305435"/>
          </a:xfrm>
        </p:grpSpPr>
        <p:sp>
          <p:nvSpPr>
            <p:cNvPr id="22" name="object 22"/>
            <p:cNvSpPr/>
            <p:nvPr/>
          </p:nvSpPr>
          <p:spPr>
            <a:xfrm>
              <a:off x="1729442" y="1050441"/>
              <a:ext cx="299085" cy="299085"/>
            </a:xfrm>
            <a:custGeom>
              <a:avLst/>
              <a:gdLst/>
              <a:ahLst/>
              <a:cxnLst/>
              <a:rect l="l" t="t" r="r" b="b"/>
              <a:pathLst>
                <a:path w="299085" h="299084">
                  <a:moveTo>
                    <a:pt x="0" y="0"/>
                  </a:moveTo>
                  <a:lnTo>
                    <a:pt x="298803" y="298803"/>
                  </a:lnTo>
                </a:path>
              </a:pathLst>
            </a:custGeom>
            <a:ln w="4200">
              <a:solidFill>
                <a:srgbClr val="999999"/>
              </a:solidFill>
              <a:prstDash val="dash"/>
            </a:ln>
          </p:spPr>
          <p:txBody>
            <a:bodyPr wrap="square" lIns="0" tIns="0" rIns="0" bIns="0" rtlCol="0"/>
            <a:lstStyle/>
            <a:p>
              <a:endParaRPr/>
            </a:p>
          </p:txBody>
        </p:sp>
        <p:sp>
          <p:nvSpPr>
            <p:cNvPr id="23" name="object 23"/>
            <p:cNvSpPr/>
            <p:nvPr/>
          </p:nvSpPr>
          <p:spPr>
            <a:xfrm>
              <a:off x="530026" y="1046240"/>
              <a:ext cx="8890" cy="8890"/>
            </a:xfrm>
            <a:custGeom>
              <a:avLst/>
              <a:gdLst/>
              <a:ahLst/>
              <a:cxnLst/>
              <a:rect l="l" t="t" r="r" b="b"/>
              <a:pathLst>
                <a:path w="8890" h="8890">
                  <a:moveTo>
                    <a:pt x="0" y="4200"/>
                  </a:moveTo>
                  <a:lnTo>
                    <a:pt x="1230" y="1230"/>
                  </a:lnTo>
                  <a:lnTo>
                    <a:pt x="4200" y="0"/>
                  </a:lnTo>
                  <a:lnTo>
                    <a:pt x="7170" y="1230"/>
                  </a:lnTo>
                  <a:lnTo>
                    <a:pt x="8401" y="4200"/>
                  </a:lnTo>
                  <a:lnTo>
                    <a:pt x="7170" y="7170"/>
                  </a:lnTo>
                  <a:lnTo>
                    <a:pt x="4200" y="8401"/>
                  </a:lnTo>
                  <a:lnTo>
                    <a:pt x="1230" y="7170"/>
                  </a:lnTo>
                  <a:lnTo>
                    <a:pt x="0" y="4200"/>
                  </a:lnTo>
                  <a:close/>
                </a:path>
              </a:pathLst>
            </a:custGeom>
            <a:solidFill>
              <a:srgbClr val="000000"/>
            </a:solidFill>
          </p:spPr>
          <p:txBody>
            <a:bodyPr wrap="square" lIns="0" tIns="0" rIns="0" bIns="0" rtlCol="0"/>
            <a:lstStyle/>
            <a:p>
              <a:endParaRPr/>
            </a:p>
          </p:txBody>
        </p:sp>
      </p:grpSp>
      <p:sp>
        <p:nvSpPr>
          <p:cNvPr id="24" name="object 24"/>
          <p:cNvSpPr txBox="1"/>
          <p:nvPr/>
        </p:nvSpPr>
        <p:spPr>
          <a:xfrm>
            <a:off x="365629" y="966914"/>
            <a:ext cx="166370" cy="139065"/>
          </a:xfrm>
          <a:prstGeom prst="rect">
            <a:avLst/>
          </a:prstGeom>
        </p:spPr>
        <p:txBody>
          <a:bodyPr vert="horz" wrap="square" lIns="0" tIns="12065" rIns="0" bIns="0" rtlCol="0">
            <a:spAutoFit/>
          </a:bodyPr>
          <a:lstStyle/>
          <a:p>
            <a:pPr marL="38100">
              <a:lnSpc>
                <a:spcPct val="100000"/>
              </a:lnSpc>
              <a:spcBef>
                <a:spcPts val="95"/>
              </a:spcBef>
            </a:pPr>
            <a:r>
              <a:rPr sz="750" i="1" spc="25" dirty="0">
                <a:latin typeface="Times New Roman"/>
                <a:cs typeface="Times New Roman"/>
              </a:rPr>
              <a:t>S</a:t>
            </a:r>
            <a:r>
              <a:rPr sz="825" spc="37" baseline="-15151" dirty="0">
                <a:latin typeface="Times New Roman"/>
                <a:cs typeface="Times New Roman"/>
              </a:rPr>
              <a:t>1</a:t>
            </a:r>
            <a:endParaRPr sz="825" baseline="-15151">
              <a:latin typeface="Times New Roman"/>
              <a:cs typeface="Times New Roman"/>
            </a:endParaRPr>
          </a:p>
        </p:txBody>
      </p:sp>
      <p:grpSp>
        <p:nvGrpSpPr>
          <p:cNvPr id="25" name="object 25"/>
          <p:cNvGrpSpPr/>
          <p:nvPr/>
        </p:nvGrpSpPr>
        <p:grpSpPr>
          <a:xfrm>
            <a:off x="534178" y="1004185"/>
            <a:ext cx="3705225" cy="92710"/>
            <a:chOff x="534178" y="1004185"/>
            <a:chExt cx="3705225" cy="92710"/>
          </a:xfrm>
        </p:grpSpPr>
        <p:sp>
          <p:nvSpPr>
            <p:cNvPr id="26" name="object 26"/>
            <p:cNvSpPr/>
            <p:nvPr/>
          </p:nvSpPr>
          <p:spPr>
            <a:xfrm>
              <a:off x="543678" y="1050441"/>
              <a:ext cx="3662679" cy="0"/>
            </a:xfrm>
            <a:custGeom>
              <a:avLst/>
              <a:gdLst/>
              <a:ahLst/>
              <a:cxnLst/>
              <a:rect l="l" t="t" r="r" b="b"/>
              <a:pathLst>
                <a:path w="3662679">
                  <a:moveTo>
                    <a:pt x="0" y="0"/>
                  </a:moveTo>
                  <a:lnTo>
                    <a:pt x="3662107" y="0"/>
                  </a:lnTo>
                </a:path>
              </a:pathLst>
            </a:custGeom>
            <a:ln w="12602">
              <a:solidFill>
                <a:srgbClr val="000000"/>
              </a:solidFill>
            </a:ln>
          </p:spPr>
          <p:txBody>
            <a:bodyPr wrap="square" lIns="0" tIns="0" rIns="0" bIns="0" rtlCol="0"/>
            <a:lstStyle/>
            <a:p>
              <a:endParaRPr/>
            </a:p>
          </p:txBody>
        </p:sp>
        <p:sp>
          <p:nvSpPr>
            <p:cNvPr id="27" name="object 27"/>
            <p:cNvSpPr/>
            <p:nvPr/>
          </p:nvSpPr>
          <p:spPr>
            <a:xfrm>
              <a:off x="540528" y="1010535"/>
              <a:ext cx="0" cy="80010"/>
            </a:xfrm>
            <a:custGeom>
              <a:avLst/>
              <a:gdLst/>
              <a:ahLst/>
              <a:cxnLst/>
              <a:rect l="l" t="t" r="r" b="b"/>
              <a:pathLst>
                <a:path h="80009">
                  <a:moveTo>
                    <a:pt x="0" y="0"/>
                  </a:moveTo>
                  <a:lnTo>
                    <a:pt x="0" y="79812"/>
                  </a:lnTo>
                </a:path>
              </a:pathLst>
            </a:custGeom>
            <a:ln w="12602">
              <a:solidFill>
                <a:srgbClr val="000000"/>
              </a:solidFill>
            </a:ln>
          </p:spPr>
          <p:txBody>
            <a:bodyPr wrap="square" lIns="0" tIns="0" rIns="0" bIns="0" rtlCol="0"/>
            <a:lstStyle/>
            <a:p>
              <a:endParaRPr/>
            </a:p>
          </p:txBody>
        </p:sp>
        <p:sp>
          <p:nvSpPr>
            <p:cNvPr id="28" name="object 28"/>
            <p:cNvSpPr/>
            <p:nvPr/>
          </p:nvSpPr>
          <p:spPr>
            <a:xfrm>
              <a:off x="4185622" y="1023557"/>
              <a:ext cx="53975" cy="53975"/>
            </a:xfrm>
            <a:custGeom>
              <a:avLst/>
              <a:gdLst/>
              <a:ahLst/>
              <a:cxnLst/>
              <a:rect l="l" t="t" r="r" b="b"/>
              <a:pathLst>
                <a:path w="53975" h="53975">
                  <a:moveTo>
                    <a:pt x="0" y="0"/>
                  </a:moveTo>
                  <a:lnTo>
                    <a:pt x="20163" y="26884"/>
                  </a:lnTo>
                  <a:lnTo>
                    <a:pt x="0" y="53768"/>
                  </a:lnTo>
                  <a:lnTo>
                    <a:pt x="53768" y="26884"/>
                  </a:lnTo>
                  <a:lnTo>
                    <a:pt x="0" y="0"/>
                  </a:lnTo>
                  <a:close/>
                </a:path>
              </a:pathLst>
            </a:custGeom>
            <a:solidFill>
              <a:srgbClr val="000000"/>
            </a:solidFill>
          </p:spPr>
          <p:txBody>
            <a:bodyPr wrap="square" lIns="0" tIns="0" rIns="0" bIns="0" rtlCol="0"/>
            <a:lstStyle/>
            <a:p>
              <a:endParaRPr/>
            </a:p>
          </p:txBody>
        </p:sp>
      </p:grpSp>
      <p:sp>
        <p:nvSpPr>
          <p:cNvPr id="29" name="object 29"/>
          <p:cNvSpPr txBox="1"/>
          <p:nvPr/>
        </p:nvSpPr>
        <p:spPr>
          <a:xfrm>
            <a:off x="439803" y="1060994"/>
            <a:ext cx="189230" cy="88900"/>
          </a:xfrm>
          <a:prstGeom prst="rect">
            <a:avLst/>
          </a:prstGeom>
        </p:spPr>
        <p:txBody>
          <a:bodyPr vert="horz" wrap="square" lIns="0" tIns="13970" rIns="0" bIns="0" rtlCol="0">
            <a:spAutoFit/>
          </a:bodyPr>
          <a:lstStyle/>
          <a:p>
            <a:pPr marL="12700">
              <a:lnSpc>
                <a:spcPct val="100000"/>
              </a:lnSpc>
              <a:spcBef>
                <a:spcPts val="110"/>
              </a:spcBef>
            </a:pPr>
            <a:r>
              <a:rPr sz="400" spc="5" dirty="0">
                <a:latin typeface="Arial"/>
                <a:cs typeface="Arial"/>
              </a:rPr>
              <a:t>Leader</a:t>
            </a:r>
            <a:endParaRPr sz="400">
              <a:latin typeface="Arial"/>
              <a:cs typeface="Arial"/>
            </a:endParaRPr>
          </a:p>
        </p:txBody>
      </p:sp>
      <p:grpSp>
        <p:nvGrpSpPr>
          <p:cNvPr id="30" name="object 30"/>
          <p:cNvGrpSpPr/>
          <p:nvPr/>
        </p:nvGrpSpPr>
        <p:grpSpPr>
          <a:xfrm>
            <a:off x="529782" y="729794"/>
            <a:ext cx="3709670" cy="43815"/>
            <a:chOff x="529782" y="729794"/>
            <a:chExt cx="3709670" cy="43815"/>
          </a:xfrm>
        </p:grpSpPr>
        <p:sp>
          <p:nvSpPr>
            <p:cNvPr id="31" name="object 31"/>
            <p:cNvSpPr/>
            <p:nvPr/>
          </p:nvSpPr>
          <p:spPr>
            <a:xfrm>
              <a:off x="534227" y="751637"/>
              <a:ext cx="3677920" cy="0"/>
            </a:xfrm>
            <a:custGeom>
              <a:avLst/>
              <a:gdLst/>
              <a:ahLst/>
              <a:cxnLst/>
              <a:rect l="l" t="t" r="r" b="b"/>
              <a:pathLst>
                <a:path w="3677920">
                  <a:moveTo>
                    <a:pt x="0" y="0"/>
                  </a:moveTo>
                  <a:lnTo>
                    <a:pt x="3677860" y="0"/>
                  </a:lnTo>
                </a:path>
              </a:pathLst>
            </a:custGeom>
            <a:ln w="8401">
              <a:solidFill>
                <a:srgbClr val="000000"/>
              </a:solidFill>
            </a:ln>
          </p:spPr>
          <p:txBody>
            <a:bodyPr wrap="square" lIns="0" tIns="0" rIns="0" bIns="0" rtlCol="0"/>
            <a:lstStyle/>
            <a:p>
              <a:endParaRPr/>
            </a:p>
          </p:txBody>
        </p:sp>
        <p:sp>
          <p:nvSpPr>
            <p:cNvPr id="32" name="object 32"/>
            <p:cNvSpPr/>
            <p:nvPr/>
          </p:nvSpPr>
          <p:spPr>
            <a:xfrm>
              <a:off x="4195705" y="729794"/>
              <a:ext cx="43815" cy="43815"/>
            </a:xfrm>
            <a:custGeom>
              <a:avLst/>
              <a:gdLst/>
              <a:ahLst/>
              <a:cxnLst/>
              <a:rect l="l" t="t" r="r" b="b"/>
              <a:pathLst>
                <a:path w="43814" h="43815">
                  <a:moveTo>
                    <a:pt x="0" y="0"/>
                  </a:moveTo>
                  <a:lnTo>
                    <a:pt x="16382" y="21843"/>
                  </a:lnTo>
                  <a:lnTo>
                    <a:pt x="0" y="43686"/>
                  </a:lnTo>
                  <a:lnTo>
                    <a:pt x="43686" y="21843"/>
                  </a:lnTo>
                  <a:lnTo>
                    <a:pt x="0" y="0"/>
                  </a:lnTo>
                  <a:close/>
                </a:path>
              </a:pathLst>
            </a:custGeom>
            <a:solidFill>
              <a:srgbClr val="000000"/>
            </a:solidFill>
          </p:spPr>
          <p:txBody>
            <a:bodyPr wrap="square" lIns="0" tIns="0" rIns="0" bIns="0" rtlCol="0"/>
            <a:lstStyle/>
            <a:p>
              <a:endParaRPr/>
            </a:p>
          </p:txBody>
        </p:sp>
      </p:grpSp>
      <p:sp>
        <p:nvSpPr>
          <p:cNvPr id="33" name="object 33"/>
          <p:cNvSpPr txBox="1"/>
          <p:nvPr/>
        </p:nvSpPr>
        <p:spPr>
          <a:xfrm>
            <a:off x="356564" y="668119"/>
            <a:ext cx="175260" cy="139065"/>
          </a:xfrm>
          <a:prstGeom prst="rect">
            <a:avLst/>
          </a:prstGeom>
        </p:spPr>
        <p:txBody>
          <a:bodyPr vert="horz" wrap="square" lIns="0" tIns="12065" rIns="0" bIns="0" rtlCol="0">
            <a:spAutoFit/>
          </a:bodyPr>
          <a:lstStyle/>
          <a:p>
            <a:pPr marL="38100">
              <a:lnSpc>
                <a:spcPct val="100000"/>
              </a:lnSpc>
              <a:spcBef>
                <a:spcPts val="95"/>
              </a:spcBef>
            </a:pPr>
            <a:r>
              <a:rPr sz="750" i="1" dirty="0">
                <a:latin typeface="Times New Roman"/>
                <a:cs typeface="Times New Roman"/>
              </a:rPr>
              <a:t>C</a:t>
            </a:r>
            <a:r>
              <a:rPr sz="825" baseline="-15151" dirty="0">
                <a:latin typeface="Times New Roman"/>
                <a:cs typeface="Times New Roman"/>
              </a:rPr>
              <a:t>1</a:t>
            </a:r>
            <a:endParaRPr sz="825" baseline="-15151">
              <a:latin typeface="Times New Roman"/>
              <a:cs typeface="Times New Roman"/>
            </a:endParaRPr>
          </a:p>
        </p:txBody>
      </p:sp>
      <p:grpSp>
        <p:nvGrpSpPr>
          <p:cNvPr id="34" name="object 34"/>
          <p:cNvGrpSpPr/>
          <p:nvPr/>
        </p:nvGrpSpPr>
        <p:grpSpPr>
          <a:xfrm>
            <a:off x="651524" y="749415"/>
            <a:ext cx="421005" cy="1200150"/>
            <a:chOff x="651524" y="749415"/>
            <a:chExt cx="421005" cy="1200150"/>
          </a:xfrm>
        </p:grpSpPr>
        <p:sp>
          <p:nvSpPr>
            <p:cNvPr id="35" name="object 35"/>
            <p:cNvSpPr/>
            <p:nvPr/>
          </p:nvSpPr>
          <p:spPr>
            <a:xfrm>
              <a:off x="773271" y="751637"/>
              <a:ext cx="284480" cy="284480"/>
            </a:xfrm>
            <a:custGeom>
              <a:avLst/>
              <a:gdLst/>
              <a:ahLst/>
              <a:cxnLst/>
              <a:rect l="l" t="t" r="r" b="b"/>
              <a:pathLst>
                <a:path w="284480" h="284480">
                  <a:moveTo>
                    <a:pt x="0" y="0"/>
                  </a:moveTo>
                  <a:lnTo>
                    <a:pt x="4436" y="4436"/>
                  </a:lnTo>
                  <a:lnTo>
                    <a:pt x="35493" y="35494"/>
                  </a:lnTo>
                  <a:lnTo>
                    <a:pt x="119792" y="119792"/>
                  </a:lnTo>
                  <a:lnTo>
                    <a:pt x="283951" y="283952"/>
                  </a:lnTo>
                </a:path>
              </a:pathLst>
            </a:custGeom>
            <a:ln w="4200">
              <a:solidFill>
                <a:srgbClr val="000000"/>
              </a:solidFill>
            </a:ln>
          </p:spPr>
          <p:txBody>
            <a:bodyPr wrap="square" lIns="0" tIns="0" rIns="0" bIns="0" rtlCol="0"/>
            <a:lstStyle/>
            <a:p>
              <a:endParaRPr/>
            </a:p>
          </p:txBody>
        </p:sp>
        <p:sp>
          <p:nvSpPr>
            <p:cNvPr id="36" name="object 36"/>
            <p:cNvSpPr/>
            <p:nvPr/>
          </p:nvSpPr>
          <p:spPr>
            <a:xfrm>
              <a:off x="1036430" y="1014797"/>
              <a:ext cx="36195" cy="36195"/>
            </a:xfrm>
            <a:custGeom>
              <a:avLst/>
              <a:gdLst/>
              <a:ahLst/>
              <a:cxnLst/>
              <a:rect l="l" t="t" r="r" b="b"/>
              <a:pathLst>
                <a:path w="36194" h="36194">
                  <a:moveTo>
                    <a:pt x="23762" y="0"/>
                  </a:moveTo>
                  <a:lnTo>
                    <a:pt x="20792" y="20792"/>
                  </a:lnTo>
                  <a:lnTo>
                    <a:pt x="0" y="23762"/>
                  </a:lnTo>
                  <a:lnTo>
                    <a:pt x="35643" y="35643"/>
                  </a:lnTo>
                  <a:lnTo>
                    <a:pt x="23762" y="0"/>
                  </a:lnTo>
                  <a:close/>
                </a:path>
              </a:pathLst>
            </a:custGeom>
            <a:solidFill>
              <a:srgbClr val="000000"/>
            </a:solidFill>
          </p:spPr>
          <p:txBody>
            <a:bodyPr wrap="square" lIns="0" tIns="0" rIns="0" bIns="0" rtlCol="0"/>
            <a:lstStyle/>
            <a:p>
              <a:endParaRPr/>
            </a:p>
          </p:txBody>
        </p:sp>
        <p:sp>
          <p:nvSpPr>
            <p:cNvPr id="37" name="object 37"/>
            <p:cNvSpPr/>
            <p:nvPr/>
          </p:nvSpPr>
          <p:spPr>
            <a:xfrm>
              <a:off x="773271" y="751637"/>
              <a:ext cx="260350" cy="578485"/>
            </a:xfrm>
            <a:custGeom>
              <a:avLst/>
              <a:gdLst/>
              <a:ahLst/>
              <a:cxnLst/>
              <a:rect l="l" t="t" r="r" b="b"/>
              <a:pathLst>
                <a:path w="260350" h="578485">
                  <a:moveTo>
                    <a:pt x="0" y="0"/>
                  </a:moveTo>
                  <a:lnTo>
                    <a:pt x="4066" y="9037"/>
                  </a:lnTo>
                  <a:lnTo>
                    <a:pt x="32533" y="72297"/>
                  </a:lnTo>
                  <a:lnTo>
                    <a:pt x="109801" y="244005"/>
                  </a:lnTo>
                  <a:lnTo>
                    <a:pt x="260270" y="578382"/>
                  </a:lnTo>
                </a:path>
              </a:pathLst>
            </a:custGeom>
            <a:ln w="4200">
              <a:solidFill>
                <a:srgbClr val="000000"/>
              </a:solidFill>
            </a:ln>
          </p:spPr>
          <p:txBody>
            <a:bodyPr wrap="square" lIns="0" tIns="0" rIns="0" bIns="0" rtlCol="0"/>
            <a:lstStyle/>
            <a:p>
              <a:endParaRPr/>
            </a:p>
          </p:txBody>
        </p:sp>
        <p:sp>
          <p:nvSpPr>
            <p:cNvPr id="38" name="object 38"/>
            <p:cNvSpPr/>
            <p:nvPr/>
          </p:nvSpPr>
          <p:spPr>
            <a:xfrm>
              <a:off x="1012971" y="1311565"/>
              <a:ext cx="31115" cy="38100"/>
            </a:xfrm>
            <a:custGeom>
              <a:avLst/>
              <a:gdLst/>
              <a:ahLst/>
              <a:cxnLst/>
              <a:rect l="l" t="t" r="r" b="b"/>
              <a:pathLst>
                <a:path w="31115" h="38100">
                  <a:moveTo>
                    <a:pt x="30758" y="0"/>
                  </a:moveTo>
                  <a:lnTo>
                    <a:pt x="20569" y="18455"/>
                  </a:lnTo>
                  <a:lnTo>
                    <a:pt x="0" y="13841"/>
                  </a:lnTo>
                  <a:lnTo>
                    <a:pt x="29220" y="37679"/>
                  </a:lnTo>
                  <a:lnTo>
                    <a:pt x="30758" y="0"/>
                  </a:lnTo>
                  <a:close/>
                </a:path>
              </a:pathLst>
            </a:custGeom>
            <a:solidFill>
              <a:srgbClr val="000000"/>
            </a:solidFill>
          </p:spPr>
          <p:txBody>
            <a:bodyPr wrap="square" lIns="0" tIns="0" rIns="0" bIns="0" rtlCol="0"/>
            <a:lstStyle/>
            <a:p>
              <a:endParaRPr/>
            </a:p>
          </p:txBody>
        </p:sp>
        <p:sp>
          <p:nvSpPr>
            <p:cNvPr id="39" name="object 39"/>
            <p:cNvSpPr/>
            <p:nvPr/>
          </p:nvSpPr>
          <p:spPr>
            <a:xfrm>
              <a:off x="773271" y="751637"/>
              <a:ext cx="175260" cy="876300"/>
            </a:xfrm>
            <a:custGeom>
              <a:avLst/>
              <a:gdLst/>
              <a:ahLst/>
              <a:cxnLst/>
              <a:rect l="l" t="t" r="r" b="b"/>
              <a:pathLst>
                <a:path w="175259" h="876300">
                  <a:moveTo>
                    <a:pt x="0" y="0"/>
                  </a:moveTo>
                  <a:lnTo>
                    <a:pt x="2736" y="13684"/>
                  </a:lnTo>
                  <a:lnTo>
                    <a:pt x="21894" y="109472"/>
                  </a:lnTo>
                  <a:lnTo>
                    <a:pt x="73894" y="369468"/>
                  </a:lnTo>
                  <a:lnTo>
                    <a:pt x="175157" y="875777"/>
                  </a:lnTo>
                </a:path>
              </a:pathLst>
            </a:custGeom>
            <a:ln w="4200">
              <a:solidFill>
                <a:srgbClr val="000000"/>
              </a:solidFill>
            </a:ln>
          </p:spPr>
          <p:txBody>
            <a:bodyPr wrap="square" lIns="0" tIns="0" rIns="0" bIns="0" rtlCol="0"/>
            <a:lstStyle/>
            <a:p>
              <a:endParaRPr/>
            </a:p>
          </p:txBody>
        </p:sp>
        <p:sp>
          <p:nvSpPr>
            <p:cNvPr id="40" name="object 40"/>
            <p:cNvSpPr/>
            <p:nvPr/>
          </p:nvSpPr>
          <p:spPr>
            <a:xfrm>
              <a:off x="929445" y="1611733"/>
              <a:ext cx="33020" cy="36830"/>
            </a:xfrm>
            <a:custGeom>
              <a:avLst/>
              <a:gdLst/>
              <a:ahLst/>
              <a:cxnLst/>
              <a:rect l="l" t="t" r="r" b="b"/>
              <a:pathLst>
                <a:path w="33019" h="36830">
                  <a:moveTo>
                    <a:pt x="33014" y="0"/>
                  </a:moveTo>
                  <a:lnTo>
                    <a:pt x="18982" y="15681"/>
                  </a:lnTo>
                  <a:lnTo>
                    <a:pt x="0" y="6602"/>
                  </a:lnTo>
                  <a:lnTo>
                    <a:pt x="23109" y="36315"/>
                  </a:lnTo>
                  <a:lnTo>
                    <a:pt x="33014" y="0"/>
                  </a:lnTo>
                  <a:close/>
                </a:path>
              </a:pathLst>
            </a:custGeom>
            <a:solidFill>
              <a:srgbClr val="000000"/>
            </a:solidFill>
          </p:spPr>
          <p:txBody>
            <a:bodyPr wrap="square" lIns="0" tIns="0" rIns="0" bIns="0" rtlCol="0"/>
            <a:lstStyle/>
            <a:p>
              <a:endParaRPr/>
            </a:p>
          </p:txBody>
        </p:sp>
        <p:sp>
          <p:nvSpPr>
            <p:cNvPr id="41" name="object 41"/>
            <p:cNvSpPr/>
            <p:nvPr/>
          </p:nvSpPr>
          <p:spPr>
            <a:xfrm>
              <a:off x="653747" y="1071360"/>
              <a:ext cx="87630" cy="875665"/>
            </a:xfrm>
            <a:custGeom>
              <a:avLst/>
              <a:gdLst/>
              <a:ahLst/>
              <a:cxnLst/>
              <a:rect l="l" t="t" r="r" b="b"/>
              <a:pathLst>
                <a:path w="87629" h="875664">
                  <a:moveTo>
                    <a:pt x="0" y="875492"/>
                  </a:moveTo>
                  <a:lnTo>
                    <a:pt x="1367" y="861813"/>
                  </a:lnTo>
                  <a:lnTo>
                    <a:pt x="10943" y="766056"/>
                  </a:lnTo>
                  <a:lnTo>
                    <a:pt x="36935" y="506144"/>
                  </a:lnTo>
                  <a:lnTo>
                    <a:pt x="87550" y="0"/>
                  </a:lnTo>
                </a:path>
              </a:pathLst>
            </a:custGeom>
            <a:ln w="4200">
              <a:solidFill>
                <a:srgbClr val="000000"/>
              </a:solidFill>
            </a:ln>
          </p:spPr>
          <p:txBody>
            <a:bodyPr wrap="square" lIns="0" tIns="0" rIns="0" bIns="0" rtlCol="0"/>
            <a:lstStyle/>
            <a:p>
              <a:endParaRPr/>
            </a:p>
          </p:txBody>
        </p:sp>
        <p:sp>
          <p:nvSpPr>
            <p:cNvPr id="42" name="object 42"/>
            <p:cNvSpPr/>
            <p:nvPr/>
          </p:nvSpPr>
          <p:spPr>
            <a:xfrm>
              <a:off x="723307" y="1050441"/>
              <a:ext cx="33655" cy="35560"/>
            </a:xfrm>
            <a:custGeom>
              <a:avLst/>
              <a:gdLst/>
              <a:ahLst/>
              <a:cxnLst/>
              <a:rect l="l" t="t" r="r" b="b"/>
              <a:pathLst>
                <a:path w="33654" h="35559">
                  <a:moveTo>
                    <a:pt x="0" y="31796"/>
                  </a:moveTo>
                  <a:lnTo>
                    <a:pt x="17989" y="20918"/>
                  </a:lnTo>
                  <a:lnTo>
                    <a:pt x="33469" y="35142"/>
                  </a:lnTo>
                  <a:lnTo>
                    <a:pt x="20081" y="0"/>
                  </a:lnTo>
                  <a:lnTo>
                    <a:pt x="0" y="31796"/>
                  </a:lnTo>
                  <a:close/>
                </a:path>
              </a:pathLst>
            </a:custGeom>
            <a:solidFill>
              <a:srgbClr val="000000"/>
            </a:solidFill>
          </p:spPr>
          <p:txBody>
            <a:bodyPr wrap="square" lIns="0" tIns="0" rIns="0" bIns="0" rtlCol="0"/>
            <a:lstStyle/>
            <a:p>
              <a:endParaRPr/>
            </a:p>
          </p:txBody>
        </p:sp>
        <p:sp>
          <p:nvSpPr>
            <p:cNvPr id="43" name="object 43"/>
            <p:cNvSpPr/>
            <p:nvPr/>
          </p:nvSpPr>
          <p:spPr>
            <a:xfrm>
              <a:off x="653747" y="1369417"/>
              <a:ext cx="173355" cy="577850"/>
            </a:xfrm>
            <a:custGeom>
              <a:avLst/>
              <a:gdLst/>
              <a:ahLst/>
              <a:cxnLst/>
              <a:rect l="l" t="t" r="r" b="b"/>
              <a:pathLst>
                <a:path w="173355" h="577850">
                  <a:moveTo>
                    <a:pt x="0" y="577435"/>
                  </a:moveTo>
                  <a:lnTo>
                    <a:pt x="2706" y="568413"/>
                  </a:lnTo>
                  <a:lnTo>
                    <a:pt x="21654" y="505256"/>
                  </a:lnTo>
                  <a:lnTo>
                    <a:pt x="73082" y="333829"/>
                  </a:lnTo>
                  <a:lnTo>
                    <a:pt x="173233" y="0"/>
                  </a:lnTo>
                </a:path>
              </a:pathLst>
            </a:custGeom>
            <a:ln w="4200">
              <a:solidFill>
                <a:srgbClr val="000000"/>
              </a:solidFill>
            </a:ln>
          </p:spPr>
          <p:txBody>
            <a:bodyPr wrap="square" lIns="0" tIns="0" rIns="0" bIns="0" rtlCol="0"/>
            <a:lstStyle/>
            <a:p>
              <a:endParaRPr/>
            </a:p>
          </p:txBody>
        </p:sp>
        <p:sp>
          <p:nvSpPr>
            <p:cNvPr id="44" name="object 44"/>
            <p:cNvSpPr/>
            <p:nvPr/>
          </p:nvSpPr>
          <p:spPr>
            <a:xfrm>
              <a:off x="807211" y="1349245"/>
              <a:ext cx="32384" cy="37465"/>
            </a:xfrm>
            <a:custGeom>
              <a:avLst/>
              <a:gdLst/>
              <a:ahLst/>
              <a:cxnLst/>
              <a:rect l="l" t="t" r="r" b="b"/>
              <a:pathLst>
                <a:path w="32384" h="37465">
                  <a:moveTo>
                    <a:pt x="0" y="27434"/>
                  </a:moveTo>
                  <a:lnTo>
                    <a:pt x="19768" y="20171"/>
                  </a:lnTo>
                  <a:lnTo>
                    <a:pt x="32274" y="37115"/>
                  </a:lnTo>
                  <a:lnTo>
                    <a:pt x="25819" y="0"/>
                  </a:lnTo>
                  <a:lnTo>
                    <a:pt x="0" y="27434"/>
                  </a:lnTo>
                  <a:close/>
                </a:path>
              </a:pathLst>
            </a:custGeom>
            <a:solidFill>
              <a:srgbClr val="000000"/>
            </a:solidFill>
          </p:spPr>
          <p:txBody>
            <a:bodyPr wrap="square" lIns="0" tIns="0" rIns="0" bIns="0" rtlCol="0"/>
            <a:lstStyle/>
            <a:p>
              <a:endParaRPr/>
            </a:p>
          </p:txBody>
        </p:sp>
        <p:sp>
          <p:nvSpPr>
            <p:cNvPr id="45" name="object 45"/>
            <p:cNvSpPr/>
            <p:nvPr/>
          </p:nvSpPr>
          <p:spPr>
            <a:xfrm>
              <a:off x="653747" y="1661517"/>
              <a:ext cx="342900" cy="285750"/>
            </a:xfrm>
            <a:custGeom>
              <a:avLst/>
              <a:gdLst/>
              <a:ahLst/>
              <a:cxnLst/>
              <a:rect l="l" t="t" r="r" b="b"/>
              <a:pathLst>
                <a:path w="342900" h="285750">
                  <a:moveTo>
                    <a:pt x="0" y="285335"/>
                  </a:moveTo>
                  <a:lnTo>
                    <a:pt x="5350" y="280876"/>
                  </a:lnTo>
                  <a:lnTo>
                    <a:pt x="42800" y="249668"/>
                  </a:lnTo>
                  <a:lnTo>
                    <a:pt x="144450" y="164959"/>
                  </a:lnTo>
                  <a:lnTo>
                    <a:pt x="342401" y="0"/>
                  </a:lnTo>
                </a:path>
              </a:pathLst>
            </a:custGeom>
            <a:ln w="4200">
              <a:solidFill>
                <a:srgbClr val="000000"/>
              </a:solidFill>
            </a:ln>
          </p:spPr>
          <p:txBody>
            <a:bodyPr wrap="square" lIns="0" tIns="0" rIns="0" bIns="0" rtlCol="0"/>
            <a:lstStyle/>
            <a:p>
              <a:endParaRPr/>
            </a:p>
          </p:txBody>
        </p:sp>
        <p:sp>
          <p:nvSpPr>
            <p:cNvPr id="46" name="object 46"/>
            <p:cNvSpPr/>
            <p:nvPr/>
          </p:nvSpPr>
          <p:spPr>
            <a:xfrm>
              <a:off x="975676" y="1648049"/>
              <a:ext cx="36830" cy="34925"/>
            </a:xfrm>
            <a:custGeom>
              <a:avLst/>
              <a:gdLst/>
              <a:ahLst/>
              <a:cxnLst/>
              <a:rect l="l" t="t" r="r" b="b"/>
              <a:pathLst>
                <a:path w="36830" h="34925">
                  <a:moveTo>
                    <a:pt x="0" y="8620"/>
                  </a:moveTo>
                  <a:lnTo>
                    <a:pt x="20471" y="13468"/>
                  </a:lnTo>
                  <a:lnTo>
                    <a:pt x="21549" y="34479"/>
                  </a:lnTo>
                  <a:lnTo>
                    <a:pt x="36633" y="0"/>
                  </a:lnTo>
                  <a:lnTo>
                    <a:pt x="0" y="8620"/>
                  </a:lnTo>
                  <a:close/>
                </a:path>
              </a:pathLst>
            </a:custGeom>
            <a:solidFill>
              <a:srgbClr val="000000"/>
            </a:solidFill>
          </p:spPr>
          <p:txBody>
            <a:bodyPr wrap="square" lIns="0" tIns="0" rIns="0" bIns="0" rtlCol="0"/>
            <a:lstStyle/>
            <a:p>
              <a:endParaRPr/>
            </a:p>
          </p:txBody>
        </p:sp>
      </p:grpSp>
      <p:sp>
        <p:nvSpPr>
          <p:cNvPr id="47" name="object 47"/>
          <p:cNvSpPr txBox="1"/>
          <p:nvPr/>
        </p:nvSpPr>
        <p:spPr>
          <a:xfrm>
            <a:off x="356564" y="1863869"/>
            <a:ext cx="418465" cy="233679"/>
          </a:xfrm>
          <a:prstGeom prst="rect">
            <a:avLst/>
          </a:prstGeom>
        </p:spPr>
        <p:txBody>
          <a:bodyPr vert="horz" wrap="square" lIns="0" tIns="12065" rIns="0" bIns="0" rtlCol="0">
            <a:spAutoFit/>
          </a:bodyPr>
          <a:lstStyle/>
          <a:p>
            <a:pPr marL="38100">
              <a:lnSpc>
                <a:spcPts val="819"/>
              </a:lnSpc>
              <a:spcBef>
                <a:spcPts val="95"/>
              </a:spcBef>
            </a:pPr>
            <a:r>
              <a:rPr sz="750" i="1" dirty="0">
                <a:latin typeface="Times New Roman"/>
                <a:cs typeface="Times New Roman"/>
              </a:rPr>
              <a:t>C</a:t>
            </a:r>
            <a:r>
              <a:rPr sz="825" baseline="-15151" dirty="0">
                <a:latin typeface="Times New Roman"/>
                <a:cs typeface="Times New Roman"/>
              </a:rPr>
              <a:t>2</a:t>
            </a:r>
            <a:endParaRPr sz="825" baseline="-15151">
              <a:latin typeface="Times New Roman"/>
              <a:cs typeface="Times New Roman"/>
            </a:endParaRPr>
          </a:p>
          <a:p>
            <a:pPr marL="213995">
              <a:lnSpc>
                <a:spcPts val="819"/>
              </a:lnSpc>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sp>
        <p:nvSpPr>
          <p:cNvPr id="48" name="object 48"/>
          <p:cNvSpPr txBox="1"/>
          <p:nvPr/>
        </p:nvSpPr>
        <p:spPr>
          <a:xfrm>
            <a:off x="652165" y="582773"/>
            <a:ext cx="242570" cy="144145"/>
          </a:xfrm>
          <a:prstGeom prst="rect">
            <a:avLst/>
          </a:prstGeom>
        </p:spPr>
        <p:txBody>
          <a:bodyPr vert="horz" wrap="square" lIns="0" tIns="15875" rIns="0" bIns="0" rtlCol="0">
            <a:spAutoFit/>
          </a:bodyPr>
          <a:lstStyle/>
          <a:p>
            <a:pPr marL="38100">
              <a:lnSpc>
                <a:spcPct val="100000"/>
              </a:lnSpc>
              <a:spcBef>
                <a:spcPts val="125"/>
              </a:spcBef>
            </a:pPr>
            <a:r>
              <a:rPr sz="750" i="1" spc="-15" dirty="0">
                <a:latin typeface="メイリオ"/>
                <a:cs typeface="メイリオ"/>
              </a:rPr>
              <a:t>(</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endParaRPr sz="750">
              <a:latin typeface="メイリオ"/>
              <a:cs typeface="メイリオ"/>
            </a:endParaRPr>
          </a:p>
        </p:txBody>
      </p:sp>
      <p:grpSp>
        <p:nvGrpSpPr>
          <p:cNvPr id="49" name="object 49"/>
          <p:cNvGrpSpPr/>
          <p:nvPr/>
        </p:nvGrpSpPr>
        <p:grpSpPr>
          <a:xfrm>
            <a:off x="1368656" y="1048218"/>
            <a:ext cx="137795" cy="233679"/>
            <a:chOff x="1368656" y="1048218"/>
            <a:chExt cx="137795" cy="233679"/>
          </a:xfrm>
        </p:grpSpPr>
        <p:sp>
          <p:nvSpPr>
            <p:cNvPr id="50" name="object 50"/>
            <p:cNvSpPr/>
            <p:nvPr/>
          </p:nvSpPr>
          <p:spPr>
            <a:xfrm>
              <a:off x="1370878" y="1050441"/>
              <a:ext cx="107950" cy="215900"/>
            </a:xfrm>
            <a:custGeom>
              <a:avLst/>
              <a:gdLst/>
              <a:ahLst/>
              <a:cxnLst/>
              <a:rect l="l" t="t" r="r" b="b"/>
              <a:pathLst>
                <a:path w="107950" h="215900">
                  <a:moveTo>
                    <a:pt x="0" y="0"/>
                  </a:moveTo>
                  <a:lnTo>
                    <a:pt x="1686" y="3372"/>
                  </a:lnTo>
                  <a:lnTo>
                    <a:pt x="13488" y="26976"/>
                  </a:lnTo>
                  <a:lnTo>
                    <a:pt x="45522" y="91044"/>
                  </a:lnTo>
                  <a:lnTo>
                    <a:pt x="107904" y="215808"/>
                  </a:lnTo>
                </a:path>
              </a:pathLst>
            </a:custGeom>
            <a:ln w="4200">
              <a:solidFill>
                <a:srgbClr val="000000"/>
              </a:solidFill>
            </a:ln>
          </p:spPr>
          <p:txBody>
            <a:bodyPr wrap="square" lIns="0" tIns="0" rIns="0" bIns="0" rtlCol="0"/>
            <a:lstStyle/>
            <a:p>
              <a:endParaRPr/>
            </a:p>
          </p:txBody>
        </p:sp>
        <p:sp>
          <p:nvSpPr>
            <p:cNvPr id="51" name="object 51"/>
            <p:cNvSpPr/>
            <p:nvPr/>
          </p:nvSpPr>
          <p:spPr>
            <a:xfrm>
              <a:off x="1454831" y="1254978"/>
              <a:ext cx="48895" cy="24765"/>
            </a:xfrm>
            <a:custGeom>
              <a:avLst/>
              <a:gdLst/>
              <a:ahLst/>
              <a:cxnLst/>
              <a:rect l="l" t="t" r="r" b="b"/>
              <a:pathLst>
                <a:path w="48894" h="24765">
                  <a:moveTo>
                    <a:pt x="0" y="24421"/>
                  </a:moveTo>
                  <a:lnTo>
                    <a:pt x="48843" y="0"/>
                  </a:lnTo>
                </a:path>
              </a:pathLst>
            </a:custGeom>
            <a:ln w="4200">
              <a:solidFill>
                <a:srgbClr val="000000"/>
              </a:solidFill>
            </a:ln>
          </p:spPr>
          <p:txBody>
            <a:bodyPr wrap="square" lIns="0" tIns="0" rIns="0" bIns="0" rtlCol="0"/>
            <a:lstStyle/>
            <a:p>
              <a:endParaRPr/>
            </a:p>
          </p:txBody>
        </p:sp>
      </p:grpSp>
      <p:sp>
        <p:nvSpPr>
          <p:cNvPr id="52" name="object 52"/>
          <p:cNvSpPr txBox="1"/>
          <p:nvPr/>
        </p:nvSpPr>
        <p:spPr>
          <a:xfrm>
            <a:off x="1032358" y="881568"/>
            <a:ext cx="677545"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5" dirty="0">
                <a:latin typeface="Times New Roman"/>
                <a:cs typeface="Times New Roman"/>
              </a:rPr>
              <a:t>S</a:t>
            </a:r>
            <a:r>
              <a:rPr sz="825" spc="75" baseline="-15151" dirty="0">
                <a:latin typeface="Times New Roman"/>
                <a:cs typeface="Times New Roman"/>
              </a:rPr>
              <a:t>1</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1</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53" name="object 53"/>
          <p:cNvGrpSpPr/>
          <p:nvPr/>
        </p:nvGrpSpPr>
        <p:grpSpPr>
          <a:xfrm>
            <a:off x="1368656" y="1048218"/>
            <a:ext cx="706755" cy="636270"/>
            <a:chOff x="1368656" y="1048218"/>
            <a:chExt cx="706755" cy="636270"/>
          </a:xfrm>
        </p:grpSpPr>
        <p:sp>
          <p:nvSpPr>
            <p:cNvPr id="54" name="object 54"/>
            <p:cNvSpPr/>
            <p:nvPr/>
          </p:nvSpPr>
          <p:spPr>
            <a:xfrm>
              <a:off x="1370878" y="1050441"/>
              <a:ext cx="144780" cy="577850"/>
            </a:xfrm>
            <a:custGeom>
              <a:avLst/>
              <a:gdLst/>
              <a:ahLst/>
              <a:cxnLst/>
              <a:rect l="l" t="t" r="r" b="b"/>
              <a:pathLst>
                <a:path w="144780" h="577850">
                  <a:moveTo>
                    <a:pt x="0" y="0"/>
                  </a:moveTo>
                  <a:lnTo>
                    <a:pt x="2254" y="9019"/>
                  </a:lnTo>
                  <a:lnTo>
                    <a:pt x="18038" y="72153"/>
                  </a:lnTo>
                  <a:lnTo>
                    <a:pt x="60880" y="243519"/>
                  </a:lnTo>
                  <a:lnTo>
                    <a:pt x="144308" y="577231"/>
                  </a:lnTo>
                </a:path>
              </a:pathLst>
            </a:custGeom>
            <a:ln w="4200">
              <a:solidFill>
                <a:srgbClr val="000000"/>
              </a:solidFill>
            </a:ln>
          </p:spPr>
          <p:txBody>
            <a:bodyPr wrap="square" lIns="0" tIns="0" rIns="0" bIns="0" rtlCol="0"/>
            <a:lstStyle/>
            <a:p>
              <a:endParaRPr/>
            </a:p>
          </p:txBody>
        </p:sp>
        <p:sp>
          <p:nvSpPr>
            <p:cNvPr id="55" name="object 55"/>
            <p:cNvSpPr/>
            <p:nvPr/>
          </p:nvSpPr>
          <p:spPr>
            <a:xfrm>
              <a:off x="1495830" y="1611372"/>
              <a:ext cx="33020" cy="36830"/>
            </a:xfrm>
            <a:custGeom>
              <a:avLst/>
              <a:gdLst/>
              <a:ahLst/>
              <a:cxnLst/>
              <a:rect l="l" t="t" r="r" b="b"/>
              <a:pathLst>
                <a:path w="33019" h="36830">
                  <a:moveTo>
                    <a:pt x="32601" y="0"/>
                  </a:moveTo>
                  <a:lnTo>
                    <a:pt x="19356" y="16300"/>
                  </a:lnTo>
                  <a:lnTo>
                    <a:pt x="0" y="8149"/>
                  </a:lnTo>
                  <a:lnTo>
                    <a:pt x="24450" y="36676"/>
                  </a:lnTo>
                  <a:lnTo>
                    <a:pt x="32601" y="0"/>
                  </a:lnTo>
                  <a:close/>
                </a:path>
              </a:pathLst>
            </a:custGeom>
            <a:solidFill>
              <a:srgbClr val="000000"/>
            </a:solidFill>
          </p:spPr>
          <p:txBody>
            <a:bodyPr wrap="square" lIns="0" tIns="0" rIns="0" bIns="0" rtlCol="0"/>
            <a:lstStyle/>
            <a:p>
              <a:endParaRPr/>
            </a:p>
          </p:txBody>
        </p:sp>
        <p:sp>
          <p:nvSpPr>
            <p:cNvPr id="56" name="object 56"/>
            <p:cNvSpPr/>
            <p:nvPr/>
          </p:nvSpPr>
          <p:spPr>
            <a:xfrm>
              <a:off x="1729442" y="1140463"/>
              <a:ext cx="127000" cy="508000"/>
            </a:xfrm>
            <a:custGeom>
              <a:avLst/>
              <a:gdLst/>
              <a:ahLst/>
              <a:cxnLst/>
              <a:rect l="l" t="t" r="r" b="b"/>
              <a:pathLst>
                <a:path w="127000" h="508000">
                  <a:moveTo>
                    <a:pt x="0" y="507585"/>
                  </a:moveTo>
                  <a:lnTo>
                    <a:pt x="1982" y="499654"/>
                  </a:lnTo>
                  <a:lnTo>
                    <a:pt x="15862" y="444137"/>
                  </a:lnTo>
                  <a:lnTo>
                    <a:pt x="53535" y="293448"/>
                  </a:lnTo>
                  <a:lnTo>
                    <a:pt x="126898" y="0"/>
                  </a:lnTo>
                </a:path>
              </a:pathLst>
            </a:custGeom>
            <a:ln w="4200">
              <a:solidFill>
                <a:srgbClr val="000000"/>
              </a:solidFill>
            </a:ln>
          </p:spPr>
          <p:txBody>
            <a:bodyPr wrap="square" lIns="0" tIns="0" rIns="0" bIns="0" rtlCol="0"/>
            <a:lstStyle/>
            <a:p>
              <a:endParaRPr/>
            </a:p>
          </p:txBody>
        </p:sp>
        <p:sp>
          <p:nvSpPr>
            <p:cNvPr id="57" name="object 57"/>
            <p:cNvSpPr/>
            <p:nvPr/>
          </p:nvSpPr>
          <p:spPr>
            <a:xfrm>
              <a:off x="1830106" y="1132822"/>
              <a:ext cx="53340" cy="13335"/>
            </a:xfrm>
            <a:custGeom>
              <a:avLst/>
              <a:gdLst/>
              <a:ahLst/>
              <a:cxnLst/>
              <a:rect l="l" t="t" r="r" b="b"/>
              <a:pathLst>
                <a:path w="53339" h="13334">
                  <a:moveTo>
                    <a:pt x="52978" y="13243"/>
                  </a:moveTo>
                  <a:lnTo>
                    <a:pt x="0" y="0"/>
                  </a:lnTo>
                </a:path>
              </a:pathLst>
            </a:custGeom>
            <a:ln w="4200">
              <a:solidFill>
                <a:srgbClr val="000000"/>
              </a:solidFill>
            </a:ln>
          </p:spPr>
          <p:txBody>
            <a:bodyPr wrap="square" lIns="0" tIns="0" rIns="0" bIns="0" rtlCol="0"/>
            <a:lstStyle/>
            <a:p>
              <a:endParaRPr/>
            </a:p>
          </p:txBody>
        </p:sp>
        <p:sp>
          <p:nvSpPr>
            <p:cNvPr id="58" name="object 58"/>
            <p:cNvSpPr/>
            <p:nvPr/>
          </p:nvSpPr>
          <p:spPr>
            <a:xfrm>
              <a:off x="1729442" y="1432241"/>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59" name="object 59"/>
            <p:cNvSpPr/>
            <p:nvPr/>
          </p:nvSpPr>
          <p:spPr>
            <a:xfrm>
              <a:off x="1813394" y="1419091"/>
              <a:ext cx="48895" cy="24765"/>
            </a:xfrm>
            <a:custGeom>
              <a:avLst/>
              <a:gdLst/>
              <a:ahLst/>
              <a:cxnLst/>
              <a:rect l="l" t="t" r="r" b="b"/>
              <a:pathLst>
                <a:path w="48894" h="24765">
                  <a:moveTo>
                    <a:pt x="48843" y="24421"/>
                  </a:moveTo>
                  <a:lnTo>
                    <a:pt x="0" y="0"/>
                  </a:lnTo>
                </a:path>
              </a:pathLst>
            </a:custGeom>
            <a:ln w="4200">
              <a:solidFill>
                <a:srgbClr val="000000"/>
              </a:solidFill>
            </a:ln>
          </p:spPr>
          <p:txBody>
            <a:bodyPr wrap="square" lIns="0" tIns="0" rIns="0" bIns="0" rtlCol="0"/>
            <a:lstStyle/>
            <a:p>
              <a:endParaRPr/>
            </a:p>
          </p:txBody>
        </p:sp>
        <p:sp>
          <p:nvSpPr>
            <p:cNvPr id="60" name="object 60"/>
            <p:cNvSpPr/>
            <p:nvPr/>
          </p:nvSpPr>
          <p:spPr>
            <a:xfrm>
              <a:off x="1983425" y="1614446"/>
              <a:ext cx="90170" cy="67310"/>
            </a:xfrm>
            <a:custGeom>
              <a:avLst/>
              <a:gdLst/>
              <a:ahLst/>
              <a:cxnLst/>
              <a:rect l="l" t="t" r="r" b="b"/>
              <a:pathLst>
                <a:path w="90169"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61" name="object 61"/>
            <p:cNvSpPr/>
            <p:nvPr/>
          </p:nvSpPr>
          <p:spPr>
            <a:xfrm>
              <a:off x="1983425" y="1614446"/>
              <a:ext cx="90170" cy="67310"/>
            </a:xfrm>
            <a:custGeom>
              <a:avLst/>
              <a:gdLst/>
              <a:ahLst/>
              <a:cxnLst/>
              <a:rect l="l" t="t" r="r" b="b"/>
              <a:pathLst>
                <a:path w="90169"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62" name="object 62"/>
          <p:cNvSpPr txBox="1"/>
          <p:nvPr/>
        </p:nvSpPr>
        <p:spPr>
          <a:xfrm>
            <a:off x="1501960" y="1656100"/>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1</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1</a:t>
            </a:r>
            <a:endParaRPr sz="750" baseline="5555">
              <a:latin typeface="Times New Roman"/>
              <a:cs typeface="Times New Roman"/>
            </a:endParaRPr>
          </a:p>
        </p:txBody>
      </p:sp>
      <p:grpSp>
        <p:nvGrpSpPr>
          <p:cNvPr id="63" name="object 63"/>
          <p:cNvGrpSpPr/>
          <p:nvPr/>
        </p:nvGrpSpPr>
        <p:grpSpPr>
          <a:xfrm>
            <a:off x="2175425" y="751637"/>
            <a:ext cx="278130" cy="899160"/>
            <a:chOff x="2175425" y="751637"/>
            <a:chExt cx="278130" cy="899160"/>
          </a:xfrm>
        </p:grpSpPr>
        <p:sp>
          <p:nvSpPr>
            <p:cNvPr id="64" name="object 64"/>
            <p:cNvSpPr/>
            <p:nvPr/>
          </p:nvSpPr>
          <p:spPr>
            <a:xfrm>
              <a:off x="2177647" y="771809"/>
              <a:ext cx="262890" cy="876300"/>
            </a:xfrm>
            <a:custGeom>
              <a:avLst/>
              <a:gdLst/>
              <a:ahLst/>
              <a:cxnLst/>
              <a:rect l="l" t="t" r="r" b="b"/>
              <a:pathLst>
                <a:path w="262889" h="876300">
                  <a:moveTo>
                    <a:pt x="0" y="876239"/>
                  </a:moveTo>
                  <a:lnTo>
                    <a:pt x="4107" y="862548"/>
                  </a:lnTo>
                  <a:lnTo>
                    <a:pt x="32859" y="766709"/>
                  </a:lnTo>
                  <a:lnTo>
                    <a:pt x="110900" y="506575"/>
                  </a:lnTo>
                  <a:lnTo>
                    <a:pt x="262874" y="0"/>
                  </a:lnTo>
                </a:path>
              </a:pathLst>
            </a:custGeom>
            <a:ln w="4200">
              <a:solidFill>
                <a:srgbClr val="000000"/>
              </a:solidFill>
            </a:ln>
          </p:spPr>
          <p:txBody>
            <a:bodyPr wrap="square" lIns="0" tIns="0" rIns="0" bIns="0" rtlCol="0"/>
            <a:lstStyle/>
            <a:p>
              <a:endParaRPr/>
            </a:p>
          </p:txBody>
        </p:sp>
        <p:sp>
          <p:nvSpPr>
            <p:cNvPr id="65" name="object 65"/>
            <p:cNvSpPr/>
            <p:nvPr/>
          </p:nvSpPr>
          <p:spPr>
            <a:xfrm>
              <a:off x="2420754" y="751637"/>
              <a:ext cx="32384" cy="37465"/>
            </a:xfrm>
            <a:custGeom>
              <a:avLst/>
              <a:gdLst/>
              <a:ahLst/>
              <a:cxnLst/>
              <a:rect l="l" t="t" r="r" b="b"/>
              <a:pathLst>
                <a:path w="32385" h="37465">
                  <a:moveTo>
                    <a:pt x="0" y="27433"/>
                  </a:moveTo>
                  <a:lnTo>
                    <a:pt x="19768" y="20171"/>
                  </a:lnTo>
                  <a:lnTo>
                    <a:pt x="32274" y="37116"/>
                  </a:lnTo>
                  <a:lnTo>
                    <a:pt x="25819" y="0"/>
                  </a:lnTo>
                  <a:lnTo>
                    <a:pt x="0" y="27433"/>
                  </a:lnTo>
                  <a:close/>
                </a:path>
              </a:pathLst>
            </a:custGeom>
            <a:solidFill>
              <a:srgbClr val="000000"/>
            </a:solidFill>
          </p:spPr>
          <p:txBody>
            <a:bodyPr wrap="square" lIns="0" tIns="0" rIns="0" bIns="0" rtlCol="0"/>
            <a:lstStyle/>
            <a:p>
              <a:endParaRPr/>
            </a:p>
          </p:txBody>
        </p:sp>
      </p:grpSp>
      <p:sp>
        <p:nvSpPr>
          <p:cNvPr id="66" name="object 66"/>
          <p:cNvSpPr txBox="1"/>
          <p:nvPr/>
        </p:nvSpPr>
        <p:spPr>
          <a:xfrm>
            <a:off x="2440874" y="564897"/>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a:t>
            </a:r>
            <a:endParaRPr sz="550">
              <a:latin typeface="Times New Roman"/>
              <a:cs typeface="Times New Roman"/>
            </a:endParaRPr>
          </a:p>
        </p:txBody>
      </p:sp>
      <p:sp>
        <p:nvSpPr>
          <p:cNvPr id="67" name="object 67"/>
          <p:cNvSpPr txBox="1"/>
          <p:nvPr/>
        </p:nvSpPr>
        <p:spPr>
          <a:xfrm>
            <a:off x="2433306" y="630673"/>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68" name="object 68"/>
          <p:cNvSpPr txBox="1"/>
          <p:nvPr/>
        </p:nvSpPr>
        <p:spPr>
          <a:xfrm>
            <a:off x="2345457" y="574235"/>
            <a:ext cx="20256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70" dirty="0">
                <a:latin typeface="Arial"/>
                <a:cs typeface="Arial"/>
              </a:rPr>
              <a:t> </a:t>
            </a:r>
            <a:r>
              <a:rPr sz="750" i="1" spc="-30" dirty="0">
                <a:latin typeface="メイリオ"/>
                <a:cs typeface="メイリオ"/>
              </a:rPr>
              <a:t>)</a:t>
            </a:r>
            <a:endParaRPr sz="750">
              <a:latin typeface="メイリオ"/>
              <a:cs typeface="メイリオ"/>
            </a:endParaRPr>
          </a:p>
        </p:txBody>
      </p:sp>
      <p:grpSp>
        <p:nvGrpSpPr>
          <p:cNvPr id="69" name="object 69"/>
          <p:cNvGrpSpPr/>
          <p:nvPr/>
        </p:nvGrpSpPr>
        <p:grpSpPr>
          <a:xfrm>
            <a:off x="2623630" y="1128463"/>
            <a:ext cx="98425" cy="520065"/>
            <a:chOff x="2623630" y="1128463"/>
            <a:chExt cx="98425" cy="520065"/>
          </a:xfrm>
        </p:grpSpPr>
        <p:sp>
          <p:nvSpPr>
            <p:cNvPr id="70" name="object 70"/>
            <p:cNvSpPr/>
            <p:nvPr/>
          </p:nvSpPr>
          <p:spPr>
            <a:xfrm>
              <a:off x="2625853" y="1139560"/>
              <a:ext cx="63500" cy="210185"/>
            </a:xfrm>
            <a:custGeom>
              <a:avLst/>
              <a:gdLst/>
              <a:ahLst/>
              <a:cxnLst/>
              <a:rect l="l" t="t" r="r" b="b"/>
              <a:pathLst>
                <a:path w="63500" h="210184">
                  <a:moveTo>
                    <a:pt x="0" y="209684"/>
                  </a:moveTo>
                  <a:lnTo>
                    <a:pt x="982" y="206407"/>
                  </a:lnTo>
                  <a:lnTo>
                    <a:pt x="7863" y="183473"/>
                  </a:lnTo>
                  <a:lnTo>
                    <a:pt x="26539" y="121223"/>
                  </a:lnTo>
                  <a:lnTo>
                    <a:pt x="62908" y="0"/>
                  </a:lnTo>
                </a:path>
              </a:pathLst>
            </a:custGeom>
            <a:ln w="4200">
              <a:solidFill>
                <a:srgbClr val="000000"/>
              </a:solidFill>
            </a:ln>
          </p:spPr>
          <p:txBody>
            <a:bodyPr wrap="square" lIns="0" tIns="0" rIns="0" bIns="0" rtlCol="0"/>
            <a:lstStyle/>
            <a:p>
              <a:endParaRPr/>
            </a:p>
          </p:txBody>
        </p:sp>
        <p:sp>
          <p:nvSpPr>
            <p:cNvPr id="71" name="object 71"/>
            <p:cNvSpPr/>
            <p:nvPr/>
          </p:nvSpPr>
          <p:spPr>
            <a:xfrm>
              <a:off x="2662840" y="1130686"/>
              <a:ext cx="52705" cy="15875"/>
            </a:xfrm>
            <a:custGeom>
              <a:avLst/>
              <a:gdLst/>
              <a:ahLst/>
              <a:cxnLst/>
              <a:rect l="l" t="t" r="r" b="b"/>
              <a:pathLst>
                <a:path w="52705" h="15875">
                  <a:moveTo>
                    <a:pt x="52447" y="15732"/>
                  </a:moveTo>
                  <a:lnTo>
                    <a:pt x="0" y="0"/>
                  </a:lnTo>
                </a:path>
              </a:pathLst>
            </a:custGeom>
            <a:ln w="4211">
              <a:solidFill>
                <a:srgbClr val="000000"/>
              </a:solidFill>
            </a:ln>
          </p:spPr>
          <p:txBody>
            <a:bodyPr wrap="square" lIns="0" tIns="0" rIns="0" bIns="0" rtlCol="0"/>
            <a:lstStyle/>
            <a:p>
              <a:endParaRPr/>
            </a:p>
          </p:txBody>
        </p:sp>
        <p:sp>
          <p:nvSpPr>
            <p:cNvPr id="72" name="object 72"/>
            <p:cNvSpPr/>
            <p:nvPr/>
          </p:nvSpPr>
          <p:spPr>
            <a:xfrm>
              <a:off x="2625853" y="1349245"/>
              <a:ext cx="83820" cy="278765"/>
            </a:xfrm>
            <a:custGeom>
              <a:avLst/>
              <a:gdLst/>
              <a:ahLst/>
              <a:cxnLst/>
              <a:rect l="l" t="t" r="r" b="b"/>
              <a:pathLst>
                <a:path w="83819" h="278764">
                  <a:moveTo>
                    <a:pt x="0" y="0"/>
                  </a:moveTo>
                  <a:lnTo>
                    <a:pt x="1306" y="4353"/>
                  </a:lnTo>
                  <a:lnTo>
                    <a:pt x="10448" y="34828"/>
                  </a:lnTo>
                  <a:lnTo>
                    <a:pt x="35264" y="117547"/>
                  </a:lnTo>
                  <a:lnTo>
                    <a:pt x="83590" y="278631"/>
                  </a:lnTo>
                </a:path>
              </a:pathLst>
            </a:custGeom>
            <a:ln w="4200">
              <a:solidFill>
                <a:srgbClr val="000000"/>
              </a:solidFill>
            </a:ln>
          </p:spPr>
          <p:txBody>
            <a:bodyPr wrap="square" lIns="0" tIns="0" rIns="0" bIns="0" rtlCol="0"/>
            <a:lstStyle/>
            <a:p>
              <a:endParaRPr/>
            </a:p>
          </p:txBody>
        </p:sp>
        <p:sp>
          <p:nvSpPr>
            <p:cNvPr id="73" name="object 73"/>
            <p:cNvSpPr/>
            <p:nvPr/>
          </p:nvSpPr>
          <p:spPr>
            <a:xfrm>
              <a:off x="2689676" y="1610933"/>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74" name="object 74"/>
          <p:cNvSpPr txBox="1"/>
          <p:nvPr/>
        </p:nvSpPr>
        <p:spPr>
          <a:xfrm>
            <a:off x="2287317" y="1180374"/>
            <a:ext cx="677545"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10" dirty="0">
                <a:latin typeface="Times New Roman"/>
                <a:cs typeface="Times New Roman"/>
              </a:rPr>
              <a:t>A</a:t>
            </a:r>
            <a:r>
              <a:rPr sz="750" spc="80" dirty="0">
                <a:latin typeface="Times New Roman"/>
                <a:cs typeface="Times New Roman"/>
              </a:rPr>
              <a:t>cc</a:t>
            </a:r>
            <a:r>
              <a:rPr sz="750" spc="-5" dirty="0">
                <a:latin typeface="Times New Roman"/>
                <a:cs typeface="Times New Roman"/>
              </a:rPr>
              <a:t>,</a:t>
            </a:r>
            <a:r>
              <a:rPr sz="750" spc="-55" dirty="0">
                <a:latin typeface="Times New Roman"/>
                <a:cs typeface="Times New Roman"/>
              </a:rPr>
              <a:t> </a:t>
            </a:r>
            <a:r>
              <a:rPr sz="750" i="1" spc="35" dirty="0">
                <a:latin typeface="Times New Roman"/>
                <a:cs typeface="Times New Roman"/>
              </a:rPr>
              <a:t>S</a:t>
            </a:r>
            <a:r>
              <a:rPr sz="825" spc="75" baseline="-15151" dirty="0">
                <a:latin typeface="Times New Roman"/>
                <a:cs typeface="Times New Roman"/>
              </a:rPr>
              <a:t>2</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75" baseline="25252" dirty="0">
                <a:latin typeface="Times New Roman"/>
                <a:cs typeface="Times New Roman"/>
              </a:rPr>
              <a:t>2</a:t>
            </a:r>
            <a:r>
              <a:rPr sz="750" spc="-5" dirty="0">
                <a:latin typeface="Times New Roman"/>
                <a:cs typeface="Times New Roman"/>
              </a:rPr>
              <a:t>,</a:t>
            </a:r>
            <a:r>
              <a:rPr sz="750" spc="-65" dirty="0">
                <a:latin typeface="Times New Roman"/>
                <a:cs typeface="Times New Roman"/>
              </a:rPr>
              <a:t> </a:t>
            </a:r>
            <a:r>
              <a:rPr sz="750" dirty="0">
                <a:latin typeface="Times New Roman"/>
                <a:cs typeface="Times New Roman"/>
              </a:rPr>
              <a:t>1</a:t>
            </a:r>
            <a:r>
              <a:rPr sz="750" i="1" spc="-30" dirty="0">
                <a:latin typeface="メイリオ"/>
                <a:cs typeface="メイリオ"/>
              </a:rPr>
              <a:t>)</a:t>
            </a:r>
            <a:endParaRPr sz="750">
              <a:latin typeface="メイリオ"/>
              <a:cs typeface="メイリオ"/>
            </a:endParaRPr>
          </a:p>
        </p:txBody>
      </p:sp>
      <p:grpSp>
        <p:nvGrpSpPr>
          <p:cNvPr id="75" name="object 75"/>
          <p:cNvGrpSpPr/>
          <p:nvPr/>
        </p:nvGrpSpPr>
        <p:grpSpPr>
          <a:xfrm>
            <a:off x="2922434" y="1130600"/>
            <a:ext cx="348615" cy="553720"/>
            <a:chOff x="2922434" y="1130600"/>
            <a:chExt cx="348615" cy="553720"/>
          </a:xfrm>
        </p:grpSpPr>
        <p:sp>
          <p:nvSpPr>
            <p:cNvPr id="76" name="object 76"/>
            <p:cNvSpPr/>
            <p:nvPr/>
          </p:nvSpPr>
          <p:spPr>
            <a:xfrm>
              <a:off x="2924657" y="1140463"/>
              <a:ext cx="127000" cy="508000"/>
            </a:xfrm>
            <a:custGeom>
              <a:avLst/>
              <a:gdLst/>
              <a:ahLst/>
              <a:cxnLst/>
              <a:rect l="l" t="t" r="r" b="b"/>
              <a:pathLst>
                <a:path w="127000" h="508000">
                  <a:moveTo>
                    <a:pt x="0" y="507585"/>
                  </a:moveTo>
                  <a:lnTo>
                    <a:pt x="1982" y="499654"/>
                  </a:lnTo>
                  <a:lnTo>
                    <a:pt x="15862" y="444137"/>
                  </a:lnTo>
                  <a:lnTo>
                    <a:pt x="53535" y="293448"/>
                  </a:lnTo>
                  <a:lnTo>
                    <a:pt x="126898" y="0"/>
                  </a:lnTo>
                </a:path>
              </a:pathLst>
            </a:custGeom>
            <a:ln w="4200">
              <a:solidFill>
                <a:srgbClr val="000000"/>
              </a:solidFill>
            </a:ln>
          </p:spPr>
          <p:txBody>
            <a:bodyPr wrap="square" lIns="0" tIns="0" rIns="0" bIns="0" rtlCol="0"/>
            <a:lstStyle/>
            <a:p>
              <a:endParaRPr/>
            </a:p>
          </p:txBody>
        </p:sp>
        <p:sp>
          <p:nvSpPr>
            <p:cNvPr id="77" name="object 77"/>
            <p:cNvSpPr/>
            <p:nvPr/>
          </p:nvSpPr>
          <p:spPr>
            <a:xfrm>
              <a:off x="3025321" y="1132822"/>
              <a:ext cx="53340" cy="13335"/>
            </a:xfrm>
            <a:custGeom>
              <a:avLst/>
              <a:gdLst/>
              <a:ahLst/>
              <a:cxnLst/>
              <a:rect l="l" t="t" r="r" b="b"/>
              <a:pathLst>
                <a:path w="53339" h="13334">
                  <a:moveTo>
                    <a:pt x="52978" y="13243"/>
                  </a:moveTo>
                  <a:lnTo>
                    <a:pt x="0" y="0"/>
                  </a:lnTo>
                </a:path>
              </a:pathLst>
            </a:custGeom>
            <a:ln w="4200">
              <a:solidFill>
                <a:srgbClr val="000000"/>
              </a:solidFill>
            </a:ln>
          </p:spPr>
          <p:txBody>
            <a:bodyPr wrap="square" lIns="0" tIns="0" rIns="0" bIns="0" rtlCol="0"/>
            <a:lstStyle/>
            <a:p>
              <a:endParaRPr/>
            </a:p>
          </p:txBody>
        </p:sp>
        <p:sp>
          <p:nvSpPr>
            <p:cNvPr id="78" name="object 78"/>
            <p:cNvSpPr/>
            <p:nvPr/>
          </p:nvSpPr>
          <p:spPr>
            <a:xfrm>
              <a:off x="2924657" y="1432241"/>
              <a:ext cx="107950" cy="215900"/>
            </a:xfrm>
            <a:custGeom>
              <a:avLst/>
              <a:gdLst/>
              <a:ahLst/>
              <a:cxnLst/>
              <a:rect l="l" t="t" r="r" b="b"/>
              <a:pathLst>
                <a:path w="107950" h="215900">
                  <a:moveTo>
                    <a:pt x="0" y="215807"/>
                  </a:moveTo>
                  <a:lnTo>
                    <a:pt x="1686" y="212435"/>
                  </a:lnTo>
                  <a:lnTo>
                    <a:pt x="13488" y="188831"/>
                  </a:lnTo>
                  <a:lnTo>
                    <a:pt x="45522" y="124763"/>
                  </a:lnTo>
                  <a:lnTo>
                    <a:pt x="107904" y="0"/>
                  </a:lnTo>
                </a:path>
              </a:pathLst>
            </a:custGeom>
            <a:ln w="4200">
              <a:solidFill>
                <a:srgbClr val="000000"/>
              </a:solidFill>
            </a:ln>
          </p:spPr>
          <p:txBody>
            <a:bodyPr wrap="square" lIns="0" tIns="0" rIns="0" bIns="0" rtlCol="0"/>
            <a:lstStyle/>
            <a:p>
              <a:endParaRPr/>
            </a:p>
          </p:txBody>
        </p:sp>
        <p:sp>
          <p:nvSpPr>
            <p:cNvPr id="79" name="object 79"/>
            <p:cNvSpPr/>
            <p:nvPr/>
          </p:nvSpPr>
          <p:spPr>
            <a:xfrm>
              <a:off x="3008609" y="1419091"/>
              <a:ext cx="48895" cy="24765"/>
            </a:xfrm>
            <a:custGeom>
              <a:avLst/>
              <a:gdLst/>
              <a:ahLst/>
              <a:cxnLst/>
              <a:rect l="l" t="t" r="r" b="b"/>
              <a:pathLst>
                <a:path w="48894" h="24765">
                  <a:moveTo>
                    <a:pt x="48843" y="24421"/>
                  </a:moveTo>
                  <a:lnTo>
                    <a:pt x="0" y="0"/>
                  </a:lnTo>
                </a:path>
              </a:pathLst>
            </a:custGeom>
            <a:ln w="4200">
              <a:solidFill>
                <a:srgbClr val="000000"/>
              </a:solidFill>
            </a:ln>
          </p:spPr>
          <p:txBody>
            <a:bodyPr wrap="square" lIns="0" tIns="0" rIns="0" bIns="0" rtlCol="0"/>
            <a:lstStyle/>
            <a:p>
              <a:endParaRPr/>
            </a:p>
          </p:txBody>
        </p:sp>
        <p:sp>
          <p:nvSpPr>
            <p:cNvPr id="80" name="object 80"/>
            <p:cNvSpPr/>
            <p:nvPr/>
          </p:nvSpPr>
          <p:spPr>
            <a:xfrm>
              <a:off x="3178639" y="1614446"/>
              <a:ext cx="90170" cy="67310"/>
            </a:xfrm>
            <a:custGeom>
              <a:avLst/>
              <a:gdLst/>
              <a:ahLst/>
              <a:cxnLst/>
              <a:rect l="l" t="t" r="r" b="b"/>
              <a:pathLst>
                <a:path w="90170" h="67310">
                  <a:moveTo>
                    <a:pt x="89641" y="0"/>
                  </a:moveTo>
                  <a:lnTo>
                    <a:pt x="0" y="0"/>
                  </a:lnTo>
                  <a:lnTo>
                    <a:pt x="0" y="67204"/>
                  </a:lnTo>
                  <a:lnTo>
                    <a:pt x="89641" y="67204"/>
                  </a:lnTo>
                  <a:lnTo>
                    <a:pt x="89641" y="0"/>
                  </a:lnTo>
                  <a:close/>
                </a:path>
              </a:pathLst>
            </a:custGeom>
            <a:solidFill>
              <a:srgbClr val="999999"/>
            </a:solidFill>
          </p:spPr>
          <p:txBody>
            <a:bodyPr wrap="square" lIns="0" tIns="0" rIns="0" bIns="0" rtlCol="0"/>
            <a:lstStyle/>
            <a:p>
              <a:endParaRPr/>
            </a:p>
          </p:txBody>
        </p:sp>
        <p:sp>
          <p:nvSpPr>
            <p:cNvPr id="81" name="object 81"/>
            <p:cNvSpPr/>
            <p:nvPr/>
          </p:nvSpPr>
          <p:spPr>
            <a:xfrm>
              <a:off x="3178639" y="1614446"/>
              <a:ext cx="90170" cy="67310"/>
            </a:xfrm>
            <a:custGeom>
              <a:avLst/>
              <a:gdLst/>
              <a:ahLst/>
              <a:cxnLst/>
              <a:rect l="l" t="t" r="r" b="b"/>
              <a:pathLst>
                <a:path w="90170" h="67310">
                  <a:moveTo>
                    <a:pt x="0" y="67204"/>
                  </a:moveTo>
                  <a:lnTo>
                    <a:pt x="89641" y="67204"/>
                  </a:lnTo>
                  <a:lnTo>
                    <a:pt x="89641" y="0"/>
                  </a:lnTo>
                  <a:lnTo>
                    <a:pt x="0" y="0"/>
                  </a:lnTo>
                  <a:lnTo>
                    <a:pt x="0" y="67204"/>
                  </a:lnTo>
                  <a:close/>
                </a:path>
              </a:pathLst>
            </a:custGeom>
            <a:ln w="4200">
              <a:solidFill>
                <a:srgbClr val="000000"/>
              </a:solidFill>
            </a:ln>
          </p:spPr>
          <p:txBody>
            <a:bodyPr wrap="square" lIns="0" tIns="0" rIns="0" bIns="0" rtlCol="0"/>
            <a:lstStyle/>
            <a:p>
              <a:endParaRPr/>
            </a:p>
          </p:txBody>
        </p:sp>
      </p:grpSp>
      <p:sp>
        <p:nvSpPr>
          <p:cNvPr id="82" name="object 82"/>
          <p:cNvSpPr txBox="1"/>
          <p:nvPr/>
        </p:nvSpPr>
        <p:spPr>
          <a:xfrm>
            <a:off x="2697161" y="1654993"/>
            <a:ext cx="598170" cy="144145"/>
          </a:xfrm>
          <a:prstGeom prst="rect">
            <a:avLst/>
          </a:prstGeom>
        </p:spPr>
        <p:txBody>
          <a:bodyPr vert="horz" wrap="square" lIns="0" tIns="15875" rIns="0" bIns="0" rtlCol="0">
            <a:spAutoFit/>
          </a:bodyPr>
          <a:lstStyle/>
          <a:p>
            <a:pPr marL="38100">
              <a:lnSpc>
                <a:spcPct val="100000"/>
              </a:lnSpc>
              <a:spcBef>
                <a:spcPts val="125"/>
              </a:spcBef>
            </a:pPr>
            <a:r>
              <a:rPr sz="750" i="1" spc="-25" dirty="0">
                <a:latin typeface="メイリオ"/>
                <a:cs typeface="メイリオ"/>
              </a:rPr>
              <a:t>(</a:t>
            </a:r>
            <a:r>
              <a:rPr sz="750" spc="-5" dirty="0">
                <a:latin typeface="Times New Roman"/>
                <a:cs typeface="Times New Roman"/>
              </a:rPr>
              <a:t>L</a:t>
            </a:r>
            <a:r>
              <a:rPr sz="750" spc="140" dirty="0">
                <a:latin typeface="Times New Roman"/>
                <a:cs typeface="Times New Roman"/>
              </a:rPr>
              <a:t>rn</a:t>
            </a:r>
            <a:r>
              <a:rPr sz="750" spc="-5" dirty="0">
                <a:latin typeface="Times New Roman"/>
                <a:cs typeface="Times New Roman"/>
              </a:rPr>
              <a:t>,</a:t>
            </a:r>
            <a:r>
              <a:rPr sz="750" spc="-55" dirty="0">
                <a:latin typeface="Times New Roman"/>
                <a:cs typeface="Times New Roman"/>
              </a:rPr>
              <a:t> </a:t>
            </a:r>
            <a:r>
              <a:rPr sz="750" i="1" spc="-30" dirty="0">
                <a:latin typeface="Times New Roman"/>
                <a:cs typeface="Times New Roman"/>
              </a:rPr>
              <a:t>o</a:t>
            </a:r>
            <a:r>
              <a:rPr sz="825" spc="15" baseline="25252" dirty="0">
                <a:latin typeface="Times New Roman"/>
                <a:cs typeface="Times New Roman"/>
              </a:rPr>
              <a:t>2</a:t>
            </a:r>
            <a:r>
              <a:rPr sz="825" spc="-135" baseline="25252" dirty="0">
                <a:latin typeface="Times New Roman"/>
                <a:cs typeface="Times New Roman"/>
              </a:rPr>
              <a:t> </a:t>
            </a:r>
            <a:r>
              <a:rPr sz="750" i="1" spc="-30" dirty="0">
                <a:latin typeface="メイリオ"/>
                <a:cs typeface="メイリオ"/>
              </a:rPr>
              <a:t>)</a:t>
            </a:r>
            <a:r>
              <a:rPr sz="750" i="1" dirty="0">
                <a:latin typeface="メイリオ"/>
                <a:cs typeface="メイリオ"/>
              </a:rPr>
              <a:t> </a:t>
            </a:r>
            <a:r>
              <a:rPr sz="750" i="1" spc="55" dirty="0">
                <a:latin typeface="メイリオ"/>
                <a:cs typeface="メイリオ"/>
              </a:rPr>
              <a:t> </a:t>
            </a:r>
            <a:r>
              <a:rPr sz="975" i="1" spc="-37" baseline="-17094" dirty="0">
                <a:latin typeface="Times New Roman"/>
                <a:cs typeface="Times New Roman"/>
              </a:rPr>
              <a:t>o</a:t>
            </a:r>
            <a:r>
              <a:rPr sz="750" spc="-7" baseline="5555" dirty="0">
                <a:latin typeface="Times New Roman"/>
                <a:cs typeface="Times New Roman"/>
              </a:rPr>
              <a:t>2</a:t>
            </a:r>
            <a:endParaRPr sz="750" baseline="5555">
              <a:latin typeface="Times New Roman"/>
              <a:cs typeface="Times New Roman"/>
            </a:endParaRPr>
          </a:p>
        </p:txBody>
      </p:sp>
      <p:grpSp>
        <p:nvGrpSpPr>
          <p:cNvPr id="83" name="object 83"/>
          <p:cNvGrpSpPr/>
          <p:nvPr/>
        </p:nvGrpSpPr>
        <p:grpSpPr>
          <a:xfrm>
            <a:off x="3370762" y="1645948"/>
            <a:ext cx="98425" cy="300990"/>
            <a:chOff x="3370762" y="1645948"/>
            <a:chExt cx="98425" cy="300990"/>
          </a:xfrm>
        </p:grpSpPr>
        <p:sp>
          <p:nvSpPr>
            <p:cNvPr id="84" name="object 84"/>
            <p:cNvSpPr/>
            <p:nvPr/>
          </p:nvSpPr>
          <p:spPr>
            <a:xfrm>
              <a:off x="3372862" y="1648048"/>
              <a:ext cx="83820" cy="278765"/>
            </a:xfrm>
            <a:custGeom>
              <a:avLst/>
              <a:gdLst/>
              <a:ahLst/>
              <a:cxnLst/>
              <a:rect l="l" t="t" r="r" b="b"/>
              <a:pathLst>
                <a:path w="83820" h="278764">
                  <a:moveTo>
                    <a:pt x="0" y="0"/>
                  </a:moveTo>
                  <a:lnTo>
                    <a:pt x="1306" y="4353"/>
                  </a:lnTo>
                  <a:lnTo>
                    <a:pt x="10448" y="34829"/>
                  </a:lnTo>
                  <a:lnTo>
                    <a:pt x="35264" y="117547"/>
                  </a:lnTo>
                  <a:lnTo>
                    <a:pt x="83590" y="278632"/>
                  </a:lnTo>
                </a:path>
              </a:pathLst>
            </a:custGeom>
            <a:ln w="4200">
              <a:solidFill>
                <a:srgbClr val="000000"/>
              </a:solidFill>
            </a:ln>
          </p:spPr>
          <p:txBody>
            <a:bodyPr wrap="square" lIns="0" tIns="0" rIns="0" bIns="0" rtlCol="0"/>
            <a:lstStyle/>
            <a:p>
              <a:endParaRPr/>
            </a:p>
          </p:txBody>
        </p:sp>
        <p:sp>
          <p:nvSpPr>
            <p:cNvPr id="85" name="object 85"/>
            <p:cNvSpPr/>
            <p:nvPr/>
          </p:nvSpPr>
          <p:spPr>
            <a:xfrm>
              <a:off x="3436685" y="1909737"/>
              <a:ext cx="32384" cy="37465"/>
            </a:xfrm>
            <a:custGeom>
              <a:avLst/>
              <a:gdLst/>
              <a:ahLst/>
              <a:cxnLst/>
              <a:rect l="l" t="t" r="r" b="b"/>
              <a:pathLst>
                <a:path w="32385" h="37464">
                  <a:moveTo>
                    <a:pt x="32274" y="0"/>
                  </a:moveTo>
                  <a:lnTo>
                    <a:pt x="19768" y="16943"/>
                  </a:lnTo>
                  <a:lnTo>
                    <a:pt x="0" y="9681"/>
                  </a:lnTo>
                  <a:lnTo>
                    <a:pt x="25819" y="37115"/>
                  </a:lnTo>
                  <a:lnTo>
                    <a:pt x="32274" y="0"/>
                  </a:lnTo>
                  <a:close/>
                </a:path>
              </a:pathLst>
            </a:custGeom>
            <a:solidFill>
              <a:srgbClr val="000000"/>
            </a:solidFill>
          </p:spPr>
          <p:txBody>
            <a:bodyPr wrap="square" lIns="0" tIns="0" rIns="0" bIns="0" rtlCol="0"/>
            <a:lstStyle/>
            <a:p>
              <a:endParaRPr/>
            </a:p>
          </p:txBody>
        </p:sp>
      </p:grpSp>
      <p:sp>
        <p:nvSpPr>
          <p:cNvPr id="86" name="object 86"/>
          <p:cNvSpPr txBox="1"/>
          <p:nvPr/>
        </p:nvSpPr>
        <p:spPr>
          <a:xfrm>
            <a:off x="3438411" y="1945557"/>
            <a:ext cx="9906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12</a:t>
            </a:r>
            <a:endParaRPr sz="550">
              <a:latin typeface="Times New Roman"/>
              <a:cs typeface="Times New Roman"/>
            </a:endParaRPr>
          </a:p>
        </p:txBody>
      </p:sp>
      <p:sp>
        <p:nvSpPr>
          <p:cNvPr id="90" name="object 90"/>
          <p:cNvSpPr txBox="1"/>
          <p:nvPr/>
        </p:nvSpPr>
        <p:spPr>
          <a:xfrm>
            <a:off x="66713" y="3331252"/>
            <a:ext cx="7486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Understanding</a:t>
            </a:r>
            <a:r>
              <a:rPr sz="600" spc="-25" dirty="0">
                <a:solidFill>
                  <a:srgbClr val="3333B2"/>
                </a:solidFill>
                <a:latin typeface="Arial"/>
                <a:cs typeface="Arial"/>
                <a:hlinkClick r:id="rId5" action="ppaction://hlinksldjump"/>
              </a:rPr>
              <a:t> </a:t>
            </a:r>
            <a:r>
              <a:rPr sz="600" spc="-10" dirty="0">
                <a:solidFill>
                  <a:srgbClr val="3333B2"/>
                </a:solidFill>
                <a:latin typeface="Arial"/>
                <a:cs typeface="Arial"/>
                <a:hlinkClick r:id="rId5" action="ppaction://hlinksldjump"/>
              </a:rPr>
              <a:t>Paxos</a:t>
            </a:r>
            <a:endParaRPr sz="600">
              <a:latin typeface="Arial"/>
              <a:cs typeface="Arial"/>
            </a:endParaRPr>
          </a:p>
        </p:txBody>
      </p:sp>
      <p:sp>
        <p:nvSpPr>
          <p:cNvPr id="91" name="object 91"/>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87" name="object 87"/>
          <p:cNvSpPr txBox="1"/>
          <p:nvPr/>
        </p:nvSpPr>
        <p:spPr>
          <a:xfrm>
            <a:off x="3430843" y="2011334"/>
            <a:ext cx="62230" cy="113664"/>
          </a:xfrm>
          <a:prstGeom prst="rect">
            <a:avLst/>
          </a:prstGeom>
        </p:spPr>
        <p:txBody>
          <a:bodyPr vert="horz" wrap="square" lIns="0" tIns="15875" rIns="0" bIns="0" rtlCol="0">
            <a:spAutoFit/>
          </a:bodyPr>
          <a:lstStyle/>
          <a:p>
            <a:pPr marL="12700">
              <a:lnSpc>
                <a:spcPct val="100000"/>
              </a:lnSpc>
              <a:spcBef>
                <a:spcPts val="125"/>
              </a:spcBef>
            </a:pPr>
            <a:r>
              <a:rPr sz="550" spc="10" dirty="0">
                <a:latin typeface="Times New Roman"/>
                <a:cs typeface="Times New Roman"/>
              </a:rPr>
              <a:t>3</a:t>
            </a:r>
            <a:endParaRPr sz="550">
              <a:latin typeface="Times New Roman"/>
              <a:cs typeface="Times New Roman"/>
            </a:endParaRPr>
          </a:p>
        </p:txBody>
      </p:sp>
      <p:sp>
        <p:nvSpPr>
          <p:cNvPr id="88" name="object 88"/>
          <p:cNvSpPr txBox="1"/>
          <p:nvPr/>
        </p:nvSpPr>
        <p:spPr>
          <a:xfrm>
            <a:off x="3342994" y="1954895"/>
            <a:ext cx="239395" cy="144145"/>
          </a:xfrm>
          <a:prstGeom prst="rect">
            <a:avLst/>
          </a:prstGeom>
        </p:spPr>
        <p:txBody>
          <a:bodyPr vert="horz" wrap="square" lIns="0" tIns="15875" rIns="0" bIns="0" rtlCol="0">
            <a:spAutoFit/>
          </a:bodyPr>
          <a:lstStyle/>
          <a:p>
            <a:pPr marL="12700">
              <a:lnSpc>
                <a:spcPct val="100000"/>
              </a:lnSpc>
              <a:spcBef>
                <a:spcPts val="125"/>
              </a:spcBef>
            </a:pPr>
            <a:r>
              <a:rPr sz="750" i="1" spc="-25" dirty="0">
                <a:latin typeface="メイリオ"/>
                <a:cs typeface="メイリオ"/>
              </a:rPr>
              <a:t>(</a:t>
            </a:r>
            <a:r>
              <a:rPr sz="750" i="1" spc="-25" dirty="0">
                <a:latin typeface="Arial"/>
                <a:cs typeface="Arial"/>
              </a:rPr>
              <a:t>σ</a:t>
            </a:r>
            <a:r>
              <a:rPr sz="750" i="1" spc="350" dirty="0">
                <a:latin typeface="Arial"/>
                <a:cs typeface="Arial"/>
              </a:rPr>
              <a:t> </a:t>
            </a:r>
            <a:r>
              <a:rPr sz="750" i="1" spc="-30" dirty="0">
                <a:latin typeface="メイリオ"/>
                <a:cs typeface="メイリオ"/>
              </a:rPr>
              <a:t>)</a:t>
            </a:r>
            <a:endParaRPr sz="750">
              <a:latin typeface="メイリオ"/>
              <a:cs typeface="メイリオ"/>
            </a:endParaRPr>
          </a:p>
        </p:txBody>
      </p:sp>
      <p:sp>
        <p:nvSpPr>
          <p:cNvPr id="89" name="object 89"/>
          <p:cNvSpPr txBox="1"/>
          <p:nvPr/>
        </p:nvSpPr>
        <p:spPr>
          <a:xfrm>
            <a:off x="315950" y="2193439"/>
            <a:ext cx="3972560" cy="808990"/>
          </a:xfrm>
          <a:prstGeom prst="rect">
            <a:avLst/>
          </a:prstGeom>
        </p:spPr>
        <p:txBody>
          <a:bodyPr vert="horz" wrap="square" lIns="0" tIns="12065" rIns="0" bIns="0" rtlCol="0">
            <a:spAutoFit/>
          </a:bodyPr>
          <a:lstStyle/>
          <a:p>
            <a:pPr marL="43815">
              <a:lnSpc>
                <a:spcPts val="1410"/>
              </a:lnSpc>
              <a:spcBef>
                <a:spcPts val="95"/>
              </a:spcBef>
            </a:pPr>
            <a:r>
              <a:rPr sz="1200" spc="-5" dirty="0">
                <a:solidFill>
                  <a:srgbClr val="3333B2"/>
                </a:solidFill>
                <a:latin typeface="Arial"/>
                <a:cs typeface="Arial"/>
              </a:rPr>
              <a:t>Essence</a:t>
            </a:r>
            <a:r>
              <a:rPr sz="1200" spc="-25" dirty="0">
                <a:solidFill>
                  <a:srgbClr val="3333B2"/>
                </a:solidFill>
                <a:latin typeface="Arial"/>
                <a:cs typeface="Arial"/>
              </a:rPr>
              <a:t> </a:t>
            </a:r>
            <a:r>
              <a:rPr sz="1200" spc="-5" dirty="0">
                <a:solidFill>
                  <a:srgbClr val="3333B2"/>
                </a:solidFill>
                <a:latin typeface="Arial"/>
                <a:cs typeface="Arial"/>
              </a:rPr>
              <a:t>of</a:t>
            </a:r>
            <a:r>
              <a:rPr sz="1200" spc="-20"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43815" marR="30480" indent="-6350">
              <a:lnSpc>
                <a:spcPts val="1200"/>
              </a:lnSpc>
              <a:spcBef>
                <a:spcPts val="10"/>
              </a:spcBef>
            </a:pPr>
            <a:r>
              <a:rPr sz="1000" spc="-5" dirty="0">
                <a:latin typeface="Arial"/>
                <a:cs typeface="Arial"/>
              </a:rPr>
              <a:t>When </a:t>
            </a:r>
            <a:r>
              <a:rPr sz="1000" i="1" spc="5" dirty="0">
                <a:latin typeface="Arial"/>
                <a:cs typeface="Arial"/>
              </a:rPr>
              <a:t>S</a:t>
            </a:r>
            <a:r>
              <a:rPr sz="1050" i="1" spc="7" baseline="-15873" dirty="0">
                <a:latin typeface="Arial"/>
                <a:cs typeface="Arial"/>
              </a:rPr>
              <a:t>2</a:t>
            </a:r>
            <a:r>
              <a:rPr sz="1050" i="1" spc="270" baseline="-15873" dirty="0">
                <a:latin typeface="Arial"/>
                <a:cs typeface="Arial"/>
              </a:rPr>
              <a:t> </a:t>
            </a:r>
            <a:r>
              <a:rPr sz="1000" spc="-10" dirty="0">
                <a:latin typeface="Arial"/>
                <a:cs typeface="Arial"/>
              </a:rPr>
              <a:t>takes</a:t>
            </a:r>
            <a:r>
              <a:rPr sz="1000" spc="-5" dirty="0">
                <a:latin typeface="Arial"/>
                <a:cs typeface="Arial"/>
              </a:rPr>
              <a:t> </a:t>
            </a:r>
            <a:r>
              <a:rPr sz="1000" spc="-20" dirty="0">
                <a:latin typeface="Arial"/>
                <a:cs typeface="Arial"/>
              </a:rPr>
              <a:t>over,</a:t>
            </a:r>
            <a:r>
              <a:rPr sz="1000" dirty="0">
                <a:latin typeface="Arial"/>
                <a:cs typeface="Arial"/>
              </a:rPr>
              <a:t> </a:t>
            </a:r>
            <a:r>
              <a:rPr sz="1000" spc="-5" dirty="0">
                <a:latin typeface="Arial"/>
                <a:cs typeface="Arial"/>
              </a:rPr>
              <a:t>it needs to</a:t>
            </a:r>
            <a:r>
              <a:rPr sz="1000" dirty="0">
                <a:latin typeface="Arial"/>
                <a:cs typeface="Arial"/>
              </a:rPr>
              <a:t> </a:t>
            </a:r>
            <a:r>
              <a:rPr sz="1000" spc="-10" dirty="0">
                <a:latin typeface="Arial"/>
                <a:cs typeface="Arial"/>
              </a:rPr>
              <a:t>make</a:t>
            </a:r>
            <a:r>
              <a:rPr sz="1000" spc="-5" dirty="0">
                <a:latin typeface="Arial"/>
                <a:cs typeface="Arial"/>
              </a:rPr>
              <a:t> sure</a:t>
            </a:r>
            <a:r>
              <a:rPr sz="1000" dirty="0">
                <a:latin typeface="Arial"/>
                <a:cs typeface="Arial"/>
              </a:rPr>
              <a:t> </a:t>
            </a:r>
            <a:r>
              <a:rPr sz="1000" spc="-5" dirty="0">
                <a:latin typeface="Arial"/>
                <a:cs typeface="Arial"/>
              </a:rPr>
              <a:t>than </a:t>
            </a:r>
            <a:r>
              <a:rPr sz="1000" spc="-10" dirty="0">
                <a:latin typeface="Arial"/>
                <a:cs typeface="Arial"/>
              </a:rPr>
              <a:t>any</a:t>
            </a:r>
            <a:r>
              <a:rPr sz="1000" dirty="0">
                <a:latin typeface="Arial"/>
                <a:cs typeface="Arial"/>
              </a:rPr>
              <a:t> </a:t>
            </a:r>
            <a:r>
              <a:rPr sz="1000" spc="-5" dirty="0">
                <a:solidFill>
                  <a:srgbClr val="0000FA"/>
                </a:solidFill>
                <a:latin typeface="Arial"/>
                <a:cs typeface="Arial"/>
              </a:rPr>
              <a:t>outstanding </a:t>
            </a:r>
            <a:r>
              <a:rPr sz="1000" dirty="0">
                <a:solidFill>
                  <a:srgbClr val="0000FA"/>
                </a:solidFill>
                <a:latin typeface="Arial"/>
                <a:cs typeface="Arial"/>
              </a:rPr>
              <a:t> </a:t>
            </a:r>
            <a:r>
              <a:rPr sz="1000" spc="-10" dirty="0">
                <a:solidFill>
                  <a:srgbClr val="0000FA"/>
                </a:solidFill>
                <a:latin typeface="Arial"/>
                <a:cs typeface="Arial"/>
              </a:rPr>
              <a:t>operations</a:t>
            </a:r>
            <a:r>
              <a:rPr sz="1000" spc="-5" dirty="0">
                <a:solidFill>
                  <a:srgbClr val="0000FA"/>
                </a:solidFill>
                <a:latin typeface="Arial"/>
                <a:cs typeface="Arial"/>
              </a:rPr>
              <a:t> </a:t>
            </a:r>
            <a:r>
              <a:rPr sz="1000" spc="-10" dirty="0">
                <a:latin typeface="Arial"/>
                <a:cs typeface="Arial"/>
              </a:rPr>
              <a:t>initiated</a:t>
            </a:r>
            <a:r>
              <a:rPr sz="1000" dirty="0">
                <a:latin typeface="Arial"/>
                <a:cs typeface="Arial"/>
              </a:rPr>
              <a:t> </a:t>
            </a:r>
            <a:r>
              <a:rPr sz="1000" spc="-20" dirty="0">
                <a:latin typeface="Arial"/>
                <a:cs typeface="Arial"/>
              </a:rPr>
              <a:t>by</a:t>
            </a:r>
            <a:r>
              <a:rPr sz="1000" spc="-5" dirty="0">
                <a:latin typeface="Arial"/>
                <a:cs typeface="Arial"/>
              </a:rPr>
              <a:t> </a:t>
            </a:r>
            <a:r>
              <a:rPr sz="1000" i="1" spc="5" dirty="0">
                <a:latin typeface="Arial"/>
                <a:cs typeface="Arial"/>
              </a:rPr>
              <a:t>S</a:t>
            </a:r>
            <a:r>
              <a:rPr sz="1050" i="1" spc="7" baseline="-15873" dirty="0">
                <a:latin typeface="Arial"/>
                <a:cs typeface="Arial"/>
              </a:rPr>
              <a:t>1</a:t>
            </a:r>
            <a:r>
              <a:rPr sz="1050" i="1" spc="202" baseline="-15873" dirty="0">
                <a:latin typeface="Arial"/>
                <a:cs typeface="Arial"/>
              </a:rPr>
              <a:t> </a:t>
            </a:r>
            <a:r>
              <a:rPr sz="1000" spc="-25" dirty="0">
                <a:latin typeface="Arial"/>
                <a:cs typeface="Arial"/>
              </a:rPr>
              <a:t>have</a:t>
            </a:r>
            <a:r>
              <a:rPr sz="1000" spc="-5" dirty="0">
                <a:latin typeface="Arial"/>
                <a:cs typeface="Arial"/>
              </a:rPr>
              <a:t> </a:t>
            </a:r>
            <a:r>
              <a:rPr sz="1000" spc="-15" dirty="0">
                <a:latin typeface="Arial"/>
                <a:cs typeface="Arial"/>
              </a:rPr>
              <a:t>been</a:t>
            </a:r>
            <a:r>
              <a:rPr sz="1000" dirty="0">
                <a:latin typeface="Arial"/>
                <a:cs typeface="Arial"/>
              </a:rPr>
              <a:t> </a:t>
            </a:r>
            <a:r>
              <a:rPr sz="1000" spc="-10" dirty="0">
                <a:latin typeface="Arial"/>
                <a:cs typeface="Arial"/>
              </a:rPr>
              <a:t>properly</a:t>
            </a:r>
            <a:r>
              <a:rPr sz="1000" spc="-5" dirty="0">
                <a:latin typeface="Arial"/>
                <a:cs typeface="Arial"/>
              </a:rPr>
              <a:t> </a:t>
            </a:r>
            <a:r>
              <a:rPr sz="1000" spc="-10" dirty="0">
                <a:solidFill>
                  <a:srgbClr val="0000FA"/>
                </a:solidFill>
                <a:latin typeface="Arial"/>
                <a:cs typeface="Arial"/>
              </a:rPr>
              <a:t>flushed</a:t>
            </a:r>
            <a:r>
              <a:rPr sz="1000" spc="-10" dirty="0">
                <a:latin typeface="Arial"/>
                <a:cs typeface="Arial"/>
              </a:rPr>
              <a:t>,</a:t>
            </a:r>
            <a:r>
              <a:rPr sz="1000" dirty="0">
                <a:latin typeface="Arial"/>
                <a:cs typeface="Arial"/>
              </a:rPr>
              <a:t> </a:t>
            </a:r>
            <a:r>
              <a:rPr sz="1000" spc="-10" dirty="0">
                <a:latin typeface="Arial"/>
                <a:cs typeface="Arial"/>
              </a:rPr>
              <a:t>i.e.,</a:t>
            </a:r>
            <a:r>
              <a:rPr sz="1000" spc="-5" dirty="0">
                <a:latin typeface="Arial"/>
                <a:cs typeface="Arial"/>
              </a:rPr>
              <a:t> </a:t>
            </a:r>
            <a:r>
              <a:rPr sz="1000" spc="-20" dirty="0">
                <a:latin typeface="Arial"/>
                <a:cs typeface="Arial"/>
              </a:rPr>
              <a:t>executed</a:t>
            </a:r>
            <a:r>
              <a:rPr sz="1000" dirty="0">
                <a:latin typeface="Arial"/>
                <a:cs typeface="Arial"/>
              </a:rPr>
              <a:t> </a:t>
            </a:r>
            <a:r>
              <a:rPr sz="1000" spc="-25" dirty="0">
                <a:latin typeface="Arial"/>
                <a:cs typeface="Arial"/>
              </a:rPr>
              <a:t>by </a:t>
            </a:r>
            <a:r>
              <a:rPr sz="1000" spc="-265" dirty="0">
                <a:latin typeface="Arial"/>
                <a:cs typeface="Arial"/>
              </a:rPr>
              <a:t> </a:t>
            </a:r>
            <a:r>
              <a:rPr sz="1000" spc="-10" dirty="0">
                <a:latin typeface="Arial"/>
                <a:cs typeface="Arial"/>
              </a:rPr>
              <a:t>enough</a:t>
            </a:r>
            <a:r>
              <a:rPr sz="1000" spc="-5" dirty="0">
                <a:latin typeface="Arial"/>
                <a:cs typeface="Arial"/>
              </a:rPr>
              <a:t> </a:t>
            </a:r>
            <a:r>
              <a:rPr sz="1000" spc="-10" dirty="0">
                <a:latin typeface="Arial"/>
                <a:cs typeface="Arial"/>
              </a:rPr>
              <a:t>servers.</a:t>
            </a:r>
            <a:r>
              <a:rPr sz="1000" spc="65" dirty="0">
                <a:latin typeface="Arial"/>
                <a:cs typeface="Arial"/>
              </a:rPr>
              <a:t> </a:t>
            </a:r>
            <a:r>
              <a:rPr sz="1000" spc="-10" dirty="0">
                <a:latin typeface="Arial"/>
                <a:cs typeface="Arial"/>
              </a:rPr>
              <a:t>This</a:t>
            </a:r>
            <a:r>
              <a:rPr sz="1000" spc="-5" dirty="0">
                <a:latin typeface="Arial"/>
                <a:cs typeface="Arial"/>
              </a:rPr>
              <a:t> </a:t>
            </a:r>
            <a:r>
              <a:rPr sz="1000" spc="-10" dirty="0">
                <a:latin typeface="Arial"/>
                <a:cs typeface="Arial"/>
              </a:rPr>
              <a:t>requires</a:t>
            </a:r>
            <a:r>
              <a:rPr sz="1000" dirty="0">
                <a:latin typeface="Arial"/>
                <a:cs typeface="Arial"/>
              </a:rPr>
              <a:t> </a:t>
            </a:r>
            <a:r>
              <a:rPr sz="1000" spc="-10" dirty="0">
                <a:latin typeface="Arial"/>
                <a:cs typeface="Arial"/>
              </a:rPr>
              <a:t>an</a:t>
            </a:r>
            <a:r>
              <a:rPr sz="1000" spc="-5" dirty="0">
                <a:latin typeface="Arial"/>
                <a:cs typeface="Arial"/>
              </a:rPr>
              <a:t> </a:t>
            </a:r>
            <a:r>
              <a:rPr sz="1000" spc="-10" dirty="0">
                <a:solidFill>
                  <a:srgbClr val="FA0000"/>
                </a:solidFill>
                <a:latin typeface="Arial"/>
                <a:cs typeface="Arial"/>
              </a:rPr>
              <a:t>explicit</a:t>
            </a:r>
            <a:r>
              <a:rPr sz="1000" dirty="0">
                <a:solidFill>
                  <a:srgbClr val="FA0000"/>
                </a:solidFill>
                <a:latin typeface="Arial"/>
                <a:cs typeface="Arial"/>
              </a:rPr>
              <a:t> </a:t>
            </a:r>
            <a:r>
              <a:rPr sz="1000" spc="-10" dirty="0">
                <a:solidFill>
                  <a:srgbClr val="FA0000"/>
                </a:solidFill>
                <a:latin typeface="Arial"/>
                <a:cs typeface="Arial"/>
              </a:rPr>
              <a:t>leadership</a:t>
            </a:r>
            <a:r>
              <a:rPr sz="1000" spc="-5" dirty="0">
                <a:solidFill>
                  <a:srgbClr val="FA0000"/>
                </a:solidFill>
                <a:latin typeface="Arial"/>
                <a:cs typeface="Arial"/>
              </a:rPr>
              <a:t> </a:t>
            </a:r>
            <a:r>
              <a:rPr sz="1000" spc="-20" dirty="0">
                <a:solidFill>
                  <a:srgbClr val="FA0000"/>
                </a:solidFill>
                <a:latin typeface="Arial"/>
                <a:cs typeface="Arial"/>
              </a:rPr>
              <a:t>takeover</a:t>
            </a:r>
            <a:r>
              <a:rPr sz="1000" dirty="0">
                <a:solidFill>
                  <a:srgbClr val="FA0000"/>
                </a:solidFill>
                <a:latin typeface="Arial"/>
                <a:cs typeface="Arial"/>
              </a:rPr>
              <a:t> </a:t>
            </a:r>
            <a:r>
              <a:rPr sz="1000" spc="-20" dirty="0">
                <a:latin typeface="Arial"/>
                <a:cs typeface="Arial"/>
              </a:rPr>
              <a:t>by</a:t>
            </a:r>
            <a:r>
              <a:rPr sz="1000" spc="-5" dirty="0">
                <a:latin typeface="Arial"/>
                <a:cs typeface="Arial"/>
              </a:rPr>
              <a:t> </a:t>
            </a:r>
            <a:r>
              <a:rPr sz="1000" spc="-10" dirty="0">
                <a:latin typeface="Arial"/>
                <a:cs typeface="Arial"/>
              </a:rPr>
              <a:t>which </a:t>
            </a:r>
            <a:r>
              <a:rPr sz="1000" spc="-260" dirty="0">
                <a:latin typeface="Arial"/>
                <a:cs typeface="Arial"/>
              </a:rPr>
              <a:t> </a:t>
            </a:r>
            <a:r>
              <a:rPr sz="1000" spc="-5" dirty="0">
                <a:latin typeface="Arial"/>
                <a:cs typeface="Arial"/>
              </a:rPr>
              <a:t>other servers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informed</a:t>
            </a:r>
            <a:r>
              <a:rPr sz="1000" dirty="0">
                <a:latin typeface="Arial"/>
                <a:cs typeface="Arial"/>
              </a:rPr>
              <a:t> </a:t>
            </a:r>
            <a:r>
              <a:rPr sz="1000" spc="-10" dirty="0">
                <a:latin typeface="Arial"/>
                <a:cs typeface="Arial"/>
              </a:rPr>
              <a:t>before</a:t>
            </a:r>
            <a:r>
              <a:rPr sz="1000" dirty="0">
                <a:latin typeface="Arial"/>
                <a:cs typeface="Arial"/>
              </a:rPr>
              <a:t> </a:t>
            </a:r>
            <a:r>
              <a:rPr sz="1000" spc="-5" dirty="0">
                <a:latin typeface="Arial"/>
                <a:cs typeface="Arial"/>
              </a:rPr>
              <a:t>sending</a:t>
            </a:r>
            <a:r>
              <a:rPr sz="1000" dirty="0">
                <a:latin typeface="Arial"/>
                <a:cs typeface="Arial"/>
              </a:rPr>
              <a:t> </a:t>
            </a:r>
            <a:r>
              <a:rPr sz="1000" spc="-5" dirty="0">
                <a:latin typeface="Arial"/>
                <a:cs typeface="Arial"/>
              </a:rPr>
              <a:t>out</a:t>
            </a:r>
            <a:r>
              <a:rPr sz="1000" dirty="0">
                <a:latin typeface="Arial"/>
                <a:cs typeface="Arial"/>
              </a:rPr>
              <a:t> </a:t>
            </a:r>
            <a:r>
              <a:rPr sz="1000" spc="-10" dirty="0">
                <a:latin typeface="Arial"/>
                <a:cs typeface="Arial"/>
              </a:rPr>
              <a:t>new</a:t>
            </a:r>
            <a:r>
              <a:rPr sz="1000" dirty="0">
                <a:latin typeface="Arial"/>
                <a:cs typeface="Arial"/>
              </a:rPr>
              <a:t> </a:t>
            </a:r>
            <a:r>
              <a:rPr sz="1000" spc="-5" dirty="0">
                <a:latin typeface="Arial"/>
                <a:cs typeface="Arial"/>
              </a:rPr>
              <a:t>accept</a:t>
            </a:r>
            <a:r>
              <a:rPr sz="1000" dirty="0">
                <a:latin typeface="Arial"/>
                <a:cs typeface="Arial"/>
              </a:rPr>
              <a:t> </a:t>
            </a:r>
            <a:r>
              <a:rPr sz="1000" spc="-5" dirty="0">
                <a:latin typeface="Arial"/>
                <a:cs typeface="Arial"/>
              </a:rPr>
              <a:t>messages.</a:t>
            </a:r>
            <a:endParaRPr sz="10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81300"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Consensus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faulty</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with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arbitrary</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failures</a:t>
            </a:r>
            <a:endParaRPr sz="600">
              <a:latin typeface="Arial"/>
              <a:cs typeface="Arial"/>
            </a:endParaRPr>
          </a:p>
        </p:txBody>
      </p:sp>
      <p:sp>
        <p:nvSpPr>
          <p:cNvPr id="3" name="object 3"/>
          <p:cNvSpPr txBox="1">
            <a:spLocks noGrp="1"/>
          </p:cNvSpPr>
          <p:nvPr>
            <p:ph type="title"/>
          </p:nvPr>
        </p:nvSpPr>
        <p:spPr>
          <a:xfrm>
            <a:off x="95300" y="188846"/>
            <a:ext cx="3587750" cy="244475"/>
          </a:xfrm>
          <a:prstGeom prst="rect">
            <a:avLst/>
          </a:prstGeom>
        </p:spPr>
        <p:txBody>
          <a:bodyPr vert="horz" wrap="square" lIns="0" tIns="17145" rIns="0" bIns="0" rtlCol="0">
            <a:spAutoFit/>
          </a:bodyPr>
          <a:lstStyle/>
          <a:p>
            <a:pPr marL="12700">
              <a:lnSpc>
                <a:spcPct val="100000"/>
              </a:lnSpc>
              <a:spcBef>
                <a:spcPts val="135"/>
              </a:spcBef>
            </a:pPr>
            <a:r>
              <a:rPr spc="15" dirty="0"/>
              <a:t>Consensus</a:t>
            </a:r>
            <a:r>
              <a:rPr dirty="0"/>
              <a:t> </a:t>
            </a:r>
            <a:r>
              <a:rPr spc="15" dirty="0"/>
              <a:t>under</a:t>
            </a:r>
            <a:r>
              <a:rPr spc="5" dirty="0"/>
              <a:t> </a:t>
            </a:r>
            <a:r>
              <a:rPr spc="15" dirty="0"/>
              <a:t>arbitrary</a:t>
            </a:r>
            <a:r>
              <a:rPr spc="5" dirty="0"/>
              <a:t> failure </a:t>
            </a:r>
            <a:r>
              <a:rPr spc="15" dirty="0"/>
              <a:t>semantics</a:t>
            </a:r>
          </a:p>
        </p:txBody>
      </p:sp>
      <p:grpSp>
        <p:nvGrpSpPr>
          <p:cNvPr id="4" name="object 4"/>
          <p:cNvGrpSpPr/>
          <p:nvPr/>
        </p:nvGrpSpPr>
        <p:grpSpPr>
          <a:xfrm>
            <a:off x="990617" y="1562951"/>
            <a:ext cx="998855" cy="852169"/>
            <a:chOff x="990617" y="1562951"/>
            <a:chExt cx="998855" cy="852169"/>
          </a:xfrm>
        </p:grpSpPr>
        <p:pic>
          <p:nvPicPr>
            <p:cNvPr id="5" name="object 5"/>
            <p:cNvPicPr/>
            <p:nvPr/>
          </p:nvPicPr>
          <p:blipFill>
            <a:blip r:embed="rId6" cstate="print"/>
            <a:stretch>
              <a:fillRect/>
            </a:stretch>
          </p:blipFill>
          <p:spPr>
            <a:xfrm>
              <a:off x="1364228" y="1562951"/>
              <a:ext cx="236232" cy="236232"/>
            </a:xfrm>
            <a:prstGeom prst="rect">
              <a:avLst/>
            </a:prstGeom>
          </p:spPr>
        </p:pic>
        <p:pic>
          <p:nvPicPr>
            <p:cNvPr id="6" name="object 6"/>
            <p:cNvPicPr/>
            <p:nvPr/>
          </p:nvPicPr>
          <p:blipFill>
            <a:blip r:embed="rId7" cstate="print"/>
            <a:stretch>
              <a:fillRect/>
            </a:stretch>
          </p:blipFill>
          <p:spPr>
            <a:xfrm>
              <a:off x="990617" y="2178309"/>
              <a:ext cx="236232" cy="236237"/>
            </a:xfrm>
            <a:prstGeom prst="rect">
              <a:avLst/>
            </a:prstGeom>
          </p:spPr>
        </p:pic>
        <p:sp>
          <p:nvSpPr>
            <p:cNvPr id="7" name="object 7"/>
            <p:cNvSpPr/>
            <p:nvPr/>
          </p:nvSpPr>
          <p:spPr>
            <a:xfrm>
              <a:off x="1194112" y="1774353"/>
              <a:ext cx="222250" cy="377190"/>
            </a:xfrm>
            <a:custGeom>
              <a:avLst/>
              <a:gdLst/>
              <a:ahLst/>
              <a:cxnLst/>
              <a:rect l="l" t="t" r="r" b="b"/>
              <a:pathLst>
                <a:path w="222250" h="377189">
                  <a:moveTo>
                    <a:pt x="222165" y="0"/>
                  </a:moveTo>
                  <a:lnTo>
                    <a:pt x="0" y="376970"/>
                  </a:lnTo>
                </a:path>
              </a:pathLst>
            </a:custGeom>
            <a:ln w="7620">
              <a:solidFill>
                <a:srgbClr val="231F20"/>
              </a:solidFill>
            </a:ln>
          </p:spPr>
          <p:txBody>
            <a:bodyPr wrap="square" lIns="0" tIns="0" rIns="0" bIns="0" rtlCol="0"/>
            <a:lstStyle/>
            <a:p>
              <a:endParaRPr/>
            </a:p>
          </p:txBody>
        </p:sp>
        <p:pic>
          <p:nvPicPr>
            <p:cNvPr id="8" name="object 8"/>
            <p:cNvPicPr/>
            <p:nvPr/>
          </p:nvPicPr>
          <p:blipFill>
            <a:blip r:embed="rId8" cstate="print"/>
            <a:stretch>
              <a:fillRect/>
            </a:stretch>
          </p:blipFill>
          <p:spPr>
            <a:xfrm>
              <a:off x="1166675" y="2081838"/>
              <a:ext cx="94302" cy="116038"/>
            </a:xfrm>
            <a:prstGeom prst="rect">
              <a:avLst/>
            </a:prstGeom>
          </p:spPr>
        </p:pic>
        <p:pic>
          <p:nvPicPr>
            <p:cNvPr id="9" name="object 9"/>
            <p:cNvPicPr/>
            <p:nvPr/>
          </p:nvPicPr>
          <p:blipFill>
            <a:blip r:embed="rId9" cstate="print"/>
            <a:stretch>
              <a:fillRect/>
            </a:stretch>
          </p:blipFill>
          <p:spPr>
            <a:xfrm>
              <a:off x="1752664" y="2178303"/>
              <a:ext cx="236232" cy="236237"/>
            </a:xfrm>
            <a:prstGeom prst="rect">
              <a:avLst/>
            </a:prstGeom>
          </p:spPr>
        </p:pic>
        <p:sp>
          <p:nvSpPr>
            <p:cNvPr id="10" name="object 10"/>
            <p:cNvSpPr/>
            <p:nvPr/>
          </p:nvSpPr>
          <p:spPr>
            <a:xfrm>
              <a:off x="1555003" y="1769312"/>
              <a:ext cx="217170" cy="391795"/>
            </a:xfrm>
            <a:custGeom>
              <a:avLst/>
              <a:gdLst/>
              <a:ahLst/>
              <a:cxnLst/>
              <a:rect l="l" t="t" r="r" b="b"/>
              <a:pathLst>
                <a:path w="217169" h="391794">
                  <a:moveTo>
                    <a:pt x="0" y="0"/>
                  </a:moveTo>
                  <a:lnTo>
                    <a:pt x="216795" y="391715"/>
                  </a:lnTo>
                </a:path>
              </a:pathLst>
            </a:custGeom>
            <a:ln w="7620">
              <a:solidFill>
                <a:srgbClr val="231F20"/>
              </a:solidFill>
            </a:ln>
          </p:spPr>
          <p:txBody>
            <a:bodyPr wrap="square" lIns="0" tIns="0" rIns="0" bIns="0" rtlCol="0"/>
            <a:lstStyle/>
            <a:p>
              <a:endParaRPr/>
            </a:p>
          </p:txBody>
        </p:sp>
        <p:pic>
          <p:nvPicPr>
            <p:cNvPr id="11" name="object 11"/>
            <p:cNvPicPr/>
            <p:nvPr/>
          </p:nvPicPr>
          <p:blipFill>
            <a:blip r:embed="rId10" cstate="print"/>
            <a:stretch>
              <a:fillRect/>
            </a:stretch>
          </p:blipFill>
          <p:spPr>
            <a:xfrm>
              <a:off x="1705575" y="2091911"/>
              <a:ext cx="92392" cy="116401"/>
            </a:xfrm>
            <a:prstGeom prst="rect">
              <a:avLst/>
            </a:prstGeom>
          </p:spPr>
        </p:pic>
        <p:sp>
          <p:nvSpPr>
            <p:cNvPr id="12" name="object 12"/>
            <p:cNvSpPr/>
            <p:nvPr/>
          </p:nvSpPr>
          <p:spPr>
            <a:xfrm>
              <a:off x="1277082" y="2296425"/>
              <a:ext cx="479425" cy="0"/>
            </a:xfrm>
            <a:custGeom>
              <a:avLst/>
              <a:gdLst/>
              <a:ahLst/>
              <a:cxnLst/>
              <a:rect l="l" t="t" r="r" b="b"/>
              <a:pathLst>
                <a:path w="479425">
                  <a:moveTo>
                    <a:pt x="479392" y="0"/>
                  </a:moveTo>
                  <a:lnTo>
                    <a:pt x="0" y="0"/>
                  </a:lnTo>
                </a:path>
              </a:pathLst>
            </a:custGeom>
            <a:ln w="7620">
              <a:solidFill>
                <a:srgbClr val="231F20"/>
              </a:solidFill>
            </a:ln>
          </p:spPr>
          <p:txBody>
            <a:bodyPr wrap="square" lIns="0" tIns="0" rIns="0" bIns="0" rtlCol="0"/>
            <a:lstStyle/>
            <a:p>
              <a:endParaRPr/>
            </a:p>
          </p:txBody>
        </p:sp>
        <p:pic>
          <p:nvPicPr>
            <p:cNvPr id="13" name="object 13"/>
            <p:cNvPicPr/>
            <p:nvPr/>
          </p:nvPicPr>
          <p:blipFill>
            <a:blip r:embed="rId11" cstate="print"/>
            <a:stretch>
              <a:fillRect/>
            </a:stretch>
          </p:blipFill>
          <p:spPr>
            <a:xfrm>
              <a:off x="1223039" y="2250341"/>
              <a:ext cx="107531" cy="92172"/>
            </a:xfrm>
            <a:prstGeom prst="rect">
              <a:avLst/>
            </a:prstGeom>
          </p:spPr>
        </p:pic>
      </p:grpSp>
      <p:sp>
        <p:nvSpPr>
          <p:cNvPr id="14" name="object 14"/>
          <p:cNvSpPr txBox="1"/>
          <p:nvPr/>
        </p:nvSpPr>
        <p:spPr>
          <a:xfrm>
            <a:off x="1779971" y="2202824"/>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P2</a:t>
            </a:r>
            <a:endParaRPr sz="950">
              <a:latin typeface="Arial"/>
              <a:cs typeface="Arial"/>
            </a:endParaRPr>
          </a:p>
        </p:txBody>
      </p:sp>
      <p:sp>
        <p:nvSpPr>
          <p:cNvPr id="15" name="object 15"/>
          <p:cNvSpPr txBox="1"/>
          <p:nvPr/>
        </p:nvSpPr>
        <p:spPr>
          <a:xfrm>
            <a:off x="1017489" y="2202824"/>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P3</a:t>
            </a:r>
            <a:endParaRPr sz="950">
              <a:latin typeface="Arial"/>
              <a:cs typeface="Arial"/>
            </a:endParaRPr>
          </a:p>
        </p:txBody>
      </p:sp>
      <p:grpSp>
        <p:nvGrpSpPr>
          <p:cNvPr id="16" name="object 16"/>
          <p:cNvGrpSpPr/>
          <p:nvPr/>
        </p:nvGrpSpPr>
        <p:grpSpPr>
          <a:xfrm>
            <a:off x="2615285" y="1562797"/>
            <a:ext cx="998855" cy="852169"/>
            <a:chOff x="2615285" y="1562797"/>
            <a:chExt cx="998855" cy="852169"/>
          </a:xfrm>
        </p:grpSpPr>
        <p:pic>
          <p:nvPicPr>
            <p:cNvPr id="17" name="object 17"/>
            <p:cNvPicPr/>
            <p:nvPr/>
          </p:nvPicPr>
          <p:blipFill>
            <a:blip r:embed="rId12" cstate="print"/>
            <a:stretch>
              <a:fillRect/>
            </a:stretch>
          </p:blipFill>
          <p:spPr>
            <a:xfrm>
              <a:off x="2988896" y="1562797"/>
              <a:ext cx="236238" cy="236232"/>
            </a:xfrm>
            <a:prstGeom prst="rect">
              <a:avLst/>
            </a:prstGeom>
          </p:spPr>
        </p:pic>
        <p:pic>
          <p:nvPicPr>
            <p:cNvPr id="18" name="object 18"/>
            <p:cNvPicPr/>
            <p:nvPr/>
          </p:nvPicPr>
          <p:blipFill>
            <a:blip r:embed="rId6" cstate="print"/>
            <a:stretch>
              <a:fillRect/>
            </a:stretch>
          </p:blipFill>
          <p:spPr>
            <a:xfrm>
              <a:off x="2615285" y="2178153"/>
              <a:ext cx="236232" cy="236232"/>
            </a:xfrm>
            <a:prstGeom prst="rect">
              <a:avLst/>
            </a:prstGeom>
          </p:spPr>
        </p:pic>
        <p:sp>
          <p:nvSpPr>
            <p:cNvPr id="19" name="object 19"/>
            <p:cNvSpPr/>
            <p:nvPr/>
          </p:nvSpPr>
          <p:spPr>
            <a:xfrm>
              <a:off x="2818780" y="1774199"/>
              <a:ext cx="222250" cy="377190"/>
            </a:xfrm>
            <a:custGeom>
              <a:avLst/>
              <a:gdLst/>
              <a:ahLst/>
              <a:cxnLst/>
              <a:rect l="l" t="t" r="r" b="b"/>
              <a:pathLst>
                <a:path w="222250" h="377189">
                  <a:moveTo>
                    <a:pt x="222165" y="0"/>
                  </a:moveTo>
                  <a:lnTo>
                    <a:pt x="0" y="376969"/>
                  </a:lnTo>
                </a:path>
              </a:pathLst>
            </a:custGeom>
            <a:ln w="7620">
              <a:solidFill>
                <a:srgbClr val="231F20"/>
              </a:solidFill>
            </a:ln>
          </p:spPr>
          <p:txBody>
            <a:bodyPr wrap="square" lIns="0" tIns="0" rIns="0" bIns="0" rtlCol="0"/>
            <a:lstStyle/>
            <a:p>
              <a:endParaRPr/>
            </a:p>
          </p:txBody>
        </p:sp>
        <p:pic>
          <p:nvPicPr>
            <p:cNvPr id="20" name="object 20"/>
            <p:cNvPicPr/>
            <p:nvPr/>
          </p:nvPicPr>
          <p:blipFill>
            <a:blip r:embed="rId8" cstate="print"/>
            <a:stretch>
              <a:fillRect/>
            </a:stretch>
          </p:blipFill>
          <p:spPr>
            <a:xfrm>
              <a:off x="2791342" y="2081683"/>
              <a:ext cx="94303" cy="116038"/>
            </a:xfrm>
            <a:prstGeom prst="rect">
              <a:avLst/>
            </a:prstGeom>
          </p:spPr>
        </p:pic>
        <p:pic>
          <p:nvPicPr>
            <p:cNvPr id="21" name="object 21"/>
            <p:cNvPicPr/>
            <p:nvPr/>
          </p:nvPicPr>
          <p:blipFill>
            <a:blip r:embed="rId7" cstate="print"/>
            <a:stretch>
              <a:fillRect/>
            </a:stretch>
          </p:blipFill>
          <p:spPr>
            <a:xfrm>
              <a:off x="3377332" y="2178147"/>
              <a:ext cx="236232" cy="236238"/>
            </a:xfrm>
            <a:prstGeom prst="rect">
              <a:avLst/>
            </a:prstGeom>
          </p:spPr>
        </p:pic>
        <p:sp>
          <p:nvSpPr>
            <p:cNvPr id="22" name="object 22"/>
            <p:cNvSpPr/>
            <p:nvPr/>
          </p:nvSpPr>
          <p:spPr>
            <a:xfrm>
              <a:off x="3179677" y="1769150"/>
              <a:ext cx="217170" cy="391795"/>
            </a:xfrm>
            <a:custGeom>
              <a:avLst/>
              <a:gdLst/>
              <a:ahLst/>
              <a:cxnLst/>
              <a:rect l="l" t="t" r="r" b="b"/>
              <a:pathLst>
                <a:path w="217170" h="391794">
                  <a:moveTo>
                    <a:pt x="0" y="0"/>
                  </a:moveTo>
                  <a:lnTo>
                    <a:pt x="216795" y="391721"/>
                  </a:lnTo>
                </a:path>
              </a:pathLst>
            </a:custGeom>
            <a:ln w="7620">
              <a:solidFill>
                <a:srgbClr val="231F20"/>
              </a:solidFill>
            </a:ln>
          </p:spPr>
          <p:txBody>
            <a:bodyPr wrap="square" lIns="0" tIns="0" rIns="0" bIns="0" rtlCol="0"/>
            <a:lstStyle/>
            <a:p>
              <a:endParaRPr/>
            </a:p>
          </p:txBody>
        </p:sp>
        <p:pic>
          <p:nvPicPr>
            <p:cNvPr id="23" name="object 23"/>
            <p:cNvPicPr/>
            <p:nvPr/>
          </p:nvPicPr>
          <p:blipFill>
            <a:blip r:embed="rId13" cstate="print"/>
            <a:stretch>
              <a:fillRect/>
            </a:stretch>
          </p:blipFill>
          <p:spPr>
            <a:xfrm>
              <a:off x="3330244" y="2091751"/>
              <a:ext cx="92392" cy="116407"/>
            </a:xfrm>
            <a:prstGeom prst="rect">
              <a:avLst/>
            </a:prstGeom>
          </p:spPr>
        </p:pic>
        <p:sp>
          <p:nvSpPr>
            <p:cNvPr id="24" name="object 24"/>
            <p:cNvSpPr/>
            <p:nvPr/>
          </p:nvSpPr>
          <p:spPr>
            <a:xfrm>
              <a:off x="2901750" y="2296264"/>
              <a:ext cx="479425" cy="0"/>
            </a:xfrm>
            <a:custGeom>
              <a:avLst/>
              <a:gdLst/>
              <a:ahLst/>
              <a:cxnLst/>
              <a:rect l="l" t="t" r="r" b="b"/>
              <a:pathLst>
                <a:path w="479425">
                  <a:moveTo>
                    <a:pt x="479392" y="0"/>
                  </a:moveTo>
                  <a:lnTo>
                    <a:pt x="0" y="5"/>
                  </a:lnTo>
                </a:path>
              </a:pathLst>
            </a:custGeom>
            <a:ln w="7620">
              <a:solidFill>
                <a:srgbClr val="231F20"/>
              </a:solidFill>
            </a:ln>
          </p:spPr>
          <p:txBody>
            <a:bodyPr wrap="square" lIns="0" tIns="0" rIns="0" bIns="0" rtlCol="0"/>
            <a:lstStyle/>
            <a:p>
              <a:endParaRPr/>
            </a:p>
          </p:txBody>
        </p:sp>
        <p:pic>
          <p:nvPicPr>
            <p:cNvPr id="25" name="object 25"/>
            <p:cNvPicPr/>
            <p:nvPr/>
          </p:nvPicPr>
          <p:blipFill>
            <a:blip r:embed="rId14" cstate="print"/>
            <a:stretch>
              <a:fillRect/>
            </a:stretch>
          </p:blipFill>
          <p:spPr>
            <a:xfrm>
              <a:off x="2847707" y="2250187"/>
              <a:ext cx="107536" cy="92171"/>
            </a:xfrm>
            <a:prstGeom prst="rect">
              <a:avLst/>
            </a:prstGeom>
          </p:spPr>
        </p:pic>
      </p:grpSp>
      <p:sp>
        <p:nvSpPr>
          <p:cNvPr id="26" name="object 26"/>
          <p:cNvSpPr txBox="1"/>
          <p:nvPr/>
        </p:nvSpPr>
        <p:spPr>
          <a:xfrm>
            <a:off x="3404637" y="2202670"/>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P2</a:t>
            </a:r>
            <a:endParaRPr sz="950">
              <a:latin typeface="Arial"/>
              <a:cs typeface="Arial"/>
            </a:endParaRPr>
          </a:p>
        </p:txBody>
      </p:sp>
      <p:sp>
        <p:nvSpPr>
          <p:cNvPr id="31" name="object 3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32</a:t>
            </a:r>
            <a:r>
              <a:rPr spc="-40" dirty="0"/>
              <a:t> </a:t>
            </a:r>
            <a:r>
              <a:rPr spc="-5" dirty="0"/>
              <a:t>/</a:t>
            </a:r>
            <a:r>
              <a:rPr spc="-35" dirty="0"/>
              <a:t> </a:t>
            </a:r>
            <a:r>
              <a:rPr spc="-5" dirty="0"/>
              <a:t>68</a:t>
            </a:r>
          </a:p>
        </p:txBody>
      </p:sp>
      <p:sp>
        <p:nvSpPr>
          <p:cNvPr id="27" name="object 27"/>
          <p:cNvSpPr txBox="1"/>
          <p:nvPr/>
        </p:nvSpPr>
        <p:spPr>
          <a:xfrm>
            <a:off x="2642156" y="2202670"/>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P3</a:t>
            </a:r>
            <a:endParaRPr sz="950">
              <a:latin typeface="Arial"/>
              <a:cs typeface="Arial"/>
            </a:endParaRPr>
          </a:p>
        </p:txBody>
      </p:sp>
      <p:sp>
        <p:nvSpPr>
          <p:cNvPr id="28" name="object 28"/>
          <p:cNvSpPr txBox="1"/>
          <p:nvPr/>
        </p:nvSpPr>
        <p:spPr>
          <a:xfrm>
            <a:off x="341350" y="786229"/>
            <a:ext cx="3919854" cy="1196340"/>
          </a:xfrm>
          <a:prstGeom prst="rect">
            <a:avLst/>
          </a:prstGeom>
        </p:spPr>
        <p:txBody>
          <a:bodyPr vert="horz" wrap="square" lIns="0" tIns="12065" rIns="0" bIns="0" rtlCol="0">
            <a:spAutoFit/>
          </a:bodyPr>
          <a:lstStyle/>
          <a:p>
            <a:pPr marL="18415">
              <a:lnSpc>
                <a:spcPts val="1410"/>
              </a:lnSpc>
              <a:spcBef>
                <a:spcPts val="95"/>
              </a:spcBef>
            </a:pPr>
            <a:r>
              <a:rPr sz="1200" spc="-5" dirty="0">
                <a:solidFill>
                  <a:srgbClr val="3333B2"/>
                </a:solidFill>
                <a:latin typeface="Arial"/>
                <a:cs typeface="Arial"/>
              </a:rPr>
              <a:t>Essence</a:t>
            </a:r>
            <a:endParaRPr sz="1200">
              <a:latin typeface="Arial"/>
              <a:cs typeface="Arial"/>
            </a:endParaRPr>
          </a:p>
          <a:p>
            <a:pPr marL="18415" marR="5080" indent="-6350">
              <a:lnSpc>
                <a:spcPts val="1200"/>
              </a:lnSpc>
              <a:spcBef>
                <a:spcPts val="10"/>
              </a:spcBef>
            </a:pPr>
            <a:r>
              <a:rPr sz="1000" spc="-35" dirty="0">
                <a:latin typeface="Arial"/>
                <a:cs typeface="Arial"/>
              </a:rPr>
              <a:t>We</a:t>
            </a:r>
            <a:r>
              <a:rPr sz="1000" dirty="0">
                <a:latin typeface="Arial"/>
                <a:cs typeface="Arial"/>
              </a:rPr>
              <a:t> </a:t>
            </a:r>
            <a:r>
              <a:rPr sz="1000" spc="-15" dirty="0">
                <a:latin typeface="Arial"/>
                <a:cs typeface="Arial"/>
              </a:rPr>
              <a:t>consider</a:t>
            </a:r>
            <a:r>
              <a:rPr sz="1000" dirty="0">
                <a:latin typeface="Arial"/>
                <a:cs typeface="Arial"/>
              </a:rPr>
              <a:t> </a:t>
            </a:r>
            <a:r>
              <a:rPr sz="1000" spc="-15" dirty="0">
                <a:latin typeface="Arial"/>
                <a:cs typeface="Arial"/>
              </a:rPr>
              <a:t>process</a:t>
            </a:r>
            <a:r>
              <a:rPr sz="1000" dirty="0">
                <a:latin typeface="Arial"/>
                <a:cs typeface="Arial"/>
              </a:rPr>
              <a:t> </a:t>
            </a:r>
            <a:r>
              <a:rPr sz="1000" spc="-15" dirty="0">
                <a:latin typeface="Arial"/>
                <a:cs typeface="Arial"/>
              </a:rPr>
              <a:t>groups</a:t>
            </a:r>
            <a:r>
              <a:rPr sz="1000" spc="5" dirty="0">
                <a:latin typeface="Arial"/>
                <a:cs typeface="Arial"/>
              </a:rPr>
              <a:t> </a:t>
            </a:r>
            <a:r>
              <a:rPr sz="1000" spc="-10" dirty="0">
                <a:latin typeface="Arial"/>
                <a:cs typeface="Arial"/>
              </a:rPr>
              <a:t>in</a:t>
            </a:r>
            <a:r>
              <a:rPr sz="1000" dirty="0">
                <a:latin typeface="Arial"/>
                <a:cs typeface="Arial"/>
              </a:rPr>
              <a:t> </a:t>
            </a:r>
            <a:r>
              <a:rPr sz="1000" spc="-15" dirty="0">
                <a:latin typeface="Arial"/>
                <a:cs typeface="Arial"/>
              </a:rPr>
              <a:t>which</a:t>
            </a:r>
            <a:r>
              <a:rPr sz="1000" dirty="0">
                <a:latin typeface="Arial"/>
                <a:cs typeface="Arial"/>
              </a:rPr>
              <a:t> </a:t>
            </a:r>
            <a:r>
              <a:rPr sz="1000" spc="-15" dirty="0">
                <a:latin typeface="Arial"/>
                <a:cs typeface="Arial"/>
              </a:rPr>
              <a:t>communication</a:t>
            </a:r>
            <a:r>
              <a:rPr sz="1000" spc="5" dirty="0">
                <a:latin typeface="Arial"/>
                <a:cs typeface="Arial"/>
              </a:rPr>
              <a:t> </a:t>
            </a:r>
            <a:r>
              <a:rPr sz="1000" spc="-15" dirty="0">
                <a:latin typeface="Arial"/>
                <a:cs typeface="Arial"/>
              </a:rPr>
              <a:t>between</a:t>
            </a:r>
            <a:r>
              <a:rPr sz="1000" dirty="0">
                <a:latin typeface="Arial"/>
                <a:cs typeface="Arial"/>
              </a:rPr>
              <a:t> </a:t>
            </a:r>
            <a:r>
              <a:rPr sz="1000" spc="-15" dirty="0">
                <a:latin typeface="Arial"/>
                <a:cs typeface="Arial"/>
              </a:rPr>
              <a:t>process </a:t>
            </a:r>
            <a:r>
              <a:rPr sz="1000" spc="-265" dirty="0">
                <a:latin typeface="Arial"/>
                <a:cs typeface="Arial"/>
              </a:rPr>
              <a:t> </a:t>
            </a:r>
            <a:r>
              <a:rPr sz="1000" spc="-5" dirty="0">
                <a:latin typeface="Arial"/>
                <a:cs typeface="Arial"/>
              </a:rPr>
              <a:t>is</a:t>
            </a:r>
            <a:r>
              <a:rPr sz="1000" dirty="0">
                <a:latin typeface="Arial"/>
                <a:cs typeface="Arial"/>
              </a:rPr>
              <a:t> </a:t>
            </a:r>
            <a:r>
              <a:rPr sz="1000" spc="-5" dirty="0">
                <a:solidFill>
                  <a:srgbClr val="0000FA"/>
                </a:solidFill>
                <a:latin typeface="Arial"/>
                <a:cs typeface="Arial"/>
              </a:rPr>
              <a:t>inconsistent</a:t>
            </a:r>
            <a:r>
              <a:rPr sz="1000" spc="-5" dirty="0">
                <a:latin typeface="Arial"/>
                <a:cs typeface="Arial"/>
              </a:rPr>
              <a:t>:</a:t>
            </a:r>
            <a:r>
              <a:rPr sz="1000" spc="6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improper</a:t>
            </a:r>
            <a:r>
              <a:rPr sz="1000" dirty="0">
                <a:latin typeface="Arial"/>
                <a:cs typeface="Arial"/>
              </a:rPr>
              <a:t> </a:t>
            </a:r>
            <a:r>
              <a:rPr sz="1000" spc="-10" dirty="0">
                <a:latin typeface="Arial"/>
                <a:cs typeface="Arial"/>
              </a:rPr>
              <a:t>forwarding</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(b)</a:t>
            </a:r>
            <a:r>
              <a:rPr sz="1000" dirty="0">
                <a:latin typeface="Arial"/>
                <a:cs typeface="Arial"/>
              </a:rPr>
              <a:t> </a:t>
            </a:r>
            <a:r>
              <a:rPr sz="1000" spc="-5" dirty="0">
                <a:latin typeface="Arial"/>
                <a:cs typeface="Arial"/>
              </a:rPr>
              <a:t>telling </a:t>
            </a:r>
            <a:r>
              <a:rPr sz="1000" dirty="0">
                <a:latin typeface="Arial"/>
                <a:cs typeface="Arial"/>
              </a:rPr>
              <a:t> </a:t>
            </a:r>
            <a:r>
              <a:rPr sz="1000" spc="-5" dirty="0">
                <a:latin typeface="Arial"/>
                <a:cs typeface="Arial"/>
              </a:rPr>
              <a:t>different</a:t>
            </a:r>
            <a:r>
              <a:rPr sz="1000" spc="-10" dirty="0">
                <a:latin typeface="Arial"/>
                <a:cs typeface="Arial"/>
              </a:rPr>
              <a:t> </a:t>
            </a:r>
            <a:r>
              <a:rPr sz="1000" spc="-5" dirty="0">
                <a:latin typeface="Arial"/>
                <a:cs typeface="Arial"/>
              </a:rPr>
              <a:t>things to different processes.</a:t>
            </a:r>
            <a:endParaRPr sz="1000">
              <a:latin typeface="Arial"/>
              <a:cs typeface="Arial"/>
            </a:endParaRPr>
          </a:p>
          <a:p>
            <a:pPr>
              <a:lnSpc>
                <a:spcPct val="100000"/>
              </a:lnSpc>
              <a:spcBef>
                <a:spcPts val="35"/>
              </a:spcBef>
            </a:pPr>
            <a:endParaRPr sz="1100">
              <a:latin typeface="Arial"/>
              <a:cs typeface="Arial"/>
            </a:endParaRPr>
          </a:p>
          <a:p>
            <a:pPr algn="ctr">
              <a:lnSpc>
                <a:spcPct val="100000"/>
              </a:lnSpc>
              <a:tabLst>
                <a:tab pos="1628139" algn="l"/>
              </a:tabLst>
            </a:pPr>
            <a:r>
              <a:rPr sz="950" spc="5" dirty="0">
                <a:solidFill>
                  <a:srgbClr val="231F20"/>
                </a:solidFill>
                <a:latin typeface="Arial"/>
                <a:cs typeface="Arial"/>
              </a:rPr>
              <a:t>P1	P1</a:t>
            </a:r>
            <a:endParaRPr sz="950">
              <a:latin typeface="Arial"/>
              <a:cs typeface="Arial"/>
            </a:endParaRPr>
          </a:p>
          <a:p>
            <a:pPr algn="ctr">
              <a:lnSpc>
                <a:spcPct val="100000"/>
              </a:lnSpc>
              <a:spcBef>
                <a:spcPts val="615"/>
              </a:spcBef>
              <a:tabLst>
                <a:tab pos="456565" algn="l"/>
                <a:tab pos="1630680" algn="l"/>
                <a:tab pos="2087880" algn="l"/>
              </a:tabLst>
            </a:pPr>
            <a:r>
              <a:rPr sz="1425" spc="7" baseline="2923" dirty="0">
                <a:solidFill>
                  <a:srgbClr val="231F20"/>
                </a:solidFill>
                <a:latin typeface="Arial"/>
                <a:cs typeface="Arial"/>
              </a:rPr>
              <a:t>a	a	</a:t>
            </a:r>
            <a:r>
              <a:rPr sz="1425" spc="7" baseline="5847" dirty="0">
                <a:solidFill>
                  <a:srgbClr val="231F20"/>
                </a:solidFill>
                <a:latin typeface="Arial"/>
                <a:cs typeface="Arial"/>
              </a:rPr>
              <a:t>a	</a:t>
            </a:r>
            <a:r>
              <a:rPr sz="950" spc="5" dirty="0">
                <a:solidFill>
                  <a:srgbClr val="231F20"/>
                </a:solidFill>
                <a:latin typeface="Arial"/>
                <a:cs typeface="Arial"/>
              </a:rPr>
              <a:t>b</a:t>
            </a:r>
            <a:endParaRPr sz="950">
              <a:latin typeface="Arial"/>
              <a:cs typeface="Arial"/>
            </a:endParaRPr>
          </a:p>
        </p:txBody>
      </p:sp>
      <p:sp>
        <p:nvSpPr>
          <p:cNvPr id="29" name="object 29"/>
          <p:cNvSpPr txBox="1"/>
          <p:nvPr/>
        </p:nvSpPr>
        <p:spPr>
          <a:xfrm>
            <a:off x="1399794" y="2227341"/>
            <a:ext cx="180340" cy="421640"/>
          </a:xfrm>
          <a:prstGeom prst="rect">
            <a:avLst/>
          </a:prstGeom>
        </p:spPr>
        <p:txBody>
          <a:bodyPr vert="horz" wrap="square" lIns="0" tIns="61594" rIns="0" bIns="0" rtlCol="0">
            <a:spAutoFit/>
          </a:bodyPr>
          <a:lstStyle/>
          <a:p>
            <a:pPr marL="50800">
              <a:lnSpc>
                <a:spcPct val="100000"/>
              </a:lnSpc>
              <a:spcBef>
                <a:spcPts val="484"/>
              </a:spcBef>
            </a:pPr>
            <a:r>
              <a:rPr sz="950" spc="5" dirty="0">
                <a:solidFill>
                  <a:srgbClr val="231F20"/>
                </a:solidFill>
                <a:latin typeface="Arial"/>
                <a:cs typeface="Arial"/>
              </a:rPr>
              <a:t>b</a:t>
            </a:r>
            <a:endParaRPr sz="950">
              <a:latin typeface="Arial"/>
              <a:cs typeface="Arial"/>
            </a:endParaRPr>
          </a:p>
          <a:p>
            <a:pPr marL="12700">
              <a:lnSpc>
                <a:spcPct val="100000"/>
              </a:lnSpc>
              <a:spcBef>
                <a:spcPts val="390"/>
              </a:spcBef>
            </a:pPr>
            <a:r>
              <a:rPr sz="1000" spc="-5" dirty="0">
                <a:latin typeface="Arial"/>
                <a:cs typeface="Arial"/>
              </a:rPr>
              <a:t>(a)</a:t>
            </a:r>
            <a:endParaRPr sz="1000">
              <a:latin typeface="Arial"/>
              <a:cs typeface="Arial"/>
            </a:endParaRPr>
          </a:p>
        </p:txBody>
      </p:sp>
      <p:sp>
        <p:nvSpPr>
          <p:cNvPr id="30" name="object 30"/>
          <p:cNvSpPr txBox="1"/>
          <p:nvPr/>
        </p:nvSpPr>
        <p:spPr>
          <a:xfrm>
            <a:off x="3028170" y="2227356"/>
            <a:ext cx="180340" cy="421640"/>
          </a:xfrm>
          <a:prstGeom prst="rect">
            <a:avLst/>
          </a:prstGeom>
        </p:spPr>
        <p:txBody>
          <a:bodyPr vert="horz" wrap="square" lIns="0" tIns="61594" rIns="0" bIns="0" rtlCol="0">
            <a:spAutoFit/>
          </a:bodyPr>
          <a:lstStyle/>
          <a:p>
            <a:pPr marL="50800">
              <a:lnSpc>
                <a:spcPct val="100000"/>
              </a:lnSpc>
              <a:spcBef>
                <a:spcPts val="484"/>
              </a:spcBef>
            </a:pPr>
            <a:r>
              <a:rPr sz="950" spc="5" dirty="0">
                <a:solidFill>
                  <a:srgbClr val="231F20"/>
                </a:solidFill>
                <a:latin typeface="Arial"/>
                <a:cs typeface="Arial"/>
              </a:rPr>
              <a:t>b</a:t>
            </a:r>
            <a:endParaRPr sz="950">
              <a:latin typeface="Arial"/>
              <a:cs typeface="Arial"/>
            </a:endParaRPr>
          </a:p>
          <a:p>
            <a:pPr marL="12700">
              <a:lnSpc>
                <a:spcPct val="100000"/>
              </a:lnSpc>
              <a:spcBef>
                <a:spcPts val="390"/>
              </a:spcBef>
            </a:pPr>
            <a:r>
              <a:rPr sz="1000" spc="-5" dirty="0">
                <a:latin typeface="Arial"/>
                <a:cs typeface="Arial"/>
              </a:rPr>
              <a:t>(b)</a:t>
            </a:r>
            <a:endParaRPr sz="10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33</a:t>
            </a:r>
            <a:r>
              <a:rPr spc="-40" dirty="0"/>
              <a:t> </a:t>
            </a:r>
            <a:r>
              <a:rPr spc="-5" dirty="0"/>
              <a:t>/</a:t>
            </a:r>
            <a:r>
              <a:rPr spc="-35" dirty="0"/>
              <a:t> </a:t>
            </a:r>
            <a:r>
              <a:rPr spc="-5" dirty="0"/>
              <a:t>68</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81300"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Consensus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faulty</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with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arbitrary</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failures</a:t>
            </a:r>
            <a:endParaRPr sz="600">
              <a:latin typeface="Arial"/>
              <a:cs typeface="Arial"/>
            </a:endParaRPr>
          </a:p>
        </p:txBody>
      </p:sp>
      <p:sp>
        <p:nvSpPr>
          <p:cNvPr id="3" name="object 3"/>
          <p:cNvSpPr txBox="1">
            <a:spLocks noGrp="1"/>
          </p:cNvSpPr>
          <p:nvPr>
            <p:ph type="title"/>
          </p:nvPr>
        </p:nvSpPr>
        <p:spPr>
          <a:xfrm>
            <a:off x="95300" y="188846"/>
            <a:ext cx="3587750" cy="244475"/>
          </a:xfrm>
          <a:prstGeom prst="rect">
            <a:avLst/>
          </a:prstGeom>
        </p:spPr>
        <p:txBody>
          <a:bodyPr vert="horz" wrap="square" lIns="0" tIns="17145" rIns="0" bIns="0" rtlCol="0">
            <a:spAutoFit/>
          </a:bodyPr>
          <a:lstStyle/>
          <a:p>
            <a:pPr marL="12700">
              <a:lnSpc>
                <a:spcPct val="100000"/>
              </a:lnSpc>
              <a:spcBef>
                <a:spcPts val="135"/>
              </a:spcBef>
            </a:pPr>
            <a:r>
              <a:rPr spc="15" dirty="0"/>
              <a:t>Consensus</a:t>
            </a:r>
            <a:r>
              <a:rPr dirty="0"/>
              <a:t> </a:t>
            </a:r>
            <a:r>
              <a:rPr spc="15" dirty="0"/>
              <a:t>under</a:t>
            </a:r>
            <a:r>
              <a:rPr spc="5" dirty="0"/>
              <a:t> </a:t>
            </a:r>
            <a:r>
              <a:rPr spc="15" dirty="0"/>
              <a:t>arbitrary</a:t>
            </a:r>
            <a:r>
              <a:rPr spc="5" dirty="0"/>
              <a:t> failure </a:t>
            </a:r>
            <a:r>
              <a:rPr spc="15" dirty="0"/>
              <a:t>semantics</a:t>
            </a:r>
          </a:p>
        </p:txBody>
      </p:sp>
      <p:sp>
        <p:nvSpPr>
          <p:cNvPr id="4" name="object 4"/>
          <p:cNvSpPr txBox="1"/>
          <p:nvPr/>
        </p:nvSpPr>
        <p:spPr>
          <a:xfrm>
            <a:off x="258394" y="429321"/>
            <a:ext cx="4036695" cy="2820670"/>
          </a:xfrm>
          <a:prstGeom prst="rect">
            <a:avLst/>
          </a:prstGeom>
        </p:spPr>
        <p:txBody>
          <a:bodyPr vert="horz" wrap="square" lIns="0" tIns="12065" rIns="0" bIns="0" rtlCol="0">
            <a:spAutoFit/>
          </a:bodyPr>
          <a:lstStyle/>
          <a:p>
            <a:pPr marL="101600">
              <a:lnSpc>
                <a:spcPct val="100000"/>
              </a:lnSpc>
              <a:spcBef>
                <a:spcPts val="95"/>
              </a:spcBef>
            </a:pPr>
            <a:r>
              <a:rPr sz="1200" spc="-5" dirty="0">
                <a:solidFill>
                  <a:srgbClr val="3333B2"/>
                </a:solidFill>
                <a:latin typeface="Arial"/>
                <a:cs typeface="Arial"/>
              </a:rPr>
              <a:t>System</a:t>
            </a:r>
            <a:r>
              <a:rPr sz="1200" spc="-40" dirty="0">
                <a:solidFill>
                  <a:srgbClr val="3333B2"/>
                </a:solidFill>
                <a:latin typeface="Arial"/>
                <a:cs typeface="Arial"/>
              </a:rPr>
              <a:t> </a:t>
            </a:r>
            <a:r>
              <a:rPr sz="1200" spc="-5" dirty="0">
                <a:solidFill>
                  <a:srgbClr val="3333B2"/>
                </a:solidFill>
                <a:latin typeface="Arial"/>
                <a:cs typeface="Arial"/>
              </a:rPr>
              <a:t>model</a:t>
            </a:r>
            <a:endParaRPr sz="1200">
              <a:latin typeface="Arial"/>
              <a:cs typeface="Arial"/>
            </a:endParaRPr>
          </a:p>
          <a:p>
            <a:pPr marL="378460" indent="-168275">
              <a:lnSpc>
                <a:spcPts val="1200"/>
              </a:lnSpc>
              <a:spcBef>
                <a:spcPts val="780"/>
              </a:spcBef>
              <a:buClr>
                <a:srgbClr val="3333B2"/>
              </a:buClr>
              <a:buChar char="►"/>
              <a:tabLst>
                <a:tab pos="379095" algn="l"/>
              </a:tabLst>
            </a:pPr>
            <a:r>
              <a:rPr sz="1000" spc="-35" dirty="0">
                <a:latin typeface="Arial"/>
                <a:cs typeface="Arial"/>
              </a:rPr>
              <a:t>W</a:t>
            </a:r>
            <a:r>
              <a:rPr sz="1000" spc="-5" dirty="0">
                <a:latin typeface="Arial"/>
                <a:cs typeface="Arial"/>
              </a:rPr>
              <a:t>e consider a </a:t>
            </a:r>
            <a:r>
              <a:rPr sz="1000" spc="-5" dirty="0">
                <a:solidFill>
                  <a:srgbClr val="FA0000"/>
                </a:solidFill>
                <a:latin typeface="Arial"/>
                <a:cs typeface="Arial"/>
              </a:rPr>
              <a:t>p</a:t>
            </a:r>
            <a:r>
              <a:rPr sz="1000" spc="5" dirty="0">
                <a:solidFill>
                  <a:srgbClr val="FA0000"/>
                </a:solidFill>
                <a:latin typeface="Arial"/>
                <a:cs typeface="Arial"/>
              </a:rPr>
              <a:t>r</a:t>
            </a:r>
            <a:r>
              <a:rPr sz="1000" spc="-5" dirty="0">
                <a:solidFill>
                  <a:srgbClr val="FA0000"/>
                </a:solidFill>
                <a:latin typeface="Arial"/>
                <a:cs typeface="Arial"/>
              </a:rPr>
              <a:t>ima</a:t>
            </a:r>
            <a:r>
              <a:rPr sz="1000" spc="20" dirty="0">
                <a:solidFill>
                  <a:srgbClr val="FA0000"/>
                </a:solidFill>
                <a:latin typeface="Arial"/>
                <a:cs typeface="Arial"/>
              </a:rPr>
              <a:t>r</a:t>
            </a:r>
            <a:r>
              <a:rPr sz="1000" spc="-5" dirty="0">
                <a:solidFill>
                  <a:srgbClr val="FA0000"/>
                </a:solidFill>
                <a:latin typeface="Arial"/>
                <a:cs typeface="Arial"/>
              </a:rPr>
              <a:t>y </a:t>
            </a:r>
            <a:r>
              <a:rPr sz="1000" i="1" spc="-5" dirty="0">
                <a:latin typeface="Arial"/>
                <a:cs typeface="Arial"/>
              </a:rPr>
              <a:t>P</a:t>
            </a:r>
            <a:r>
              <a:rPr sz="1000" i="1" spc="65" dirty="0">
                <a:latin typeface="Arial"/>
                <a:cs typeface="Arial"/>
              </a:rPr>
              <a:t> </a:t>
            </a:r>
            <a:r>
              <a:rPr sz="1000" spc="-5" dirty="0">
                <a:latin typeface="Arial"/>
                <a:cs typeface="Arial"/>
              </a:rPr>
              <a:t>and </a:t>
            </a:r>
            <a:r>
              <a:rPr sz="1000" i="1" spc="-5" dirty="0">
                <a:latin typeface="Arial"/>
                <a:cs typeface="Arial"/>
              </a:rPr>
              <a:t>n</a:t>
            </a:r>
            <a:r>
              <a:rPr sz="1000" i="1" spc="-125"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 </a:t>
            </a:r>
            <a:r>
              <a:rPr sz="1000" spc="-5" dirty="0">
                <a:solidFill>
                  <a:srgbClr val="FA0000"/>
                </a:solidFill>
                <a:latin typeface="Arial"/>
                <a:cs typeface="Arial"/>
              </a:rPr>
              <a:t>ba</a:t>
            </a:r>
            <a:r>
              <a:rPr sz="1000" spc="-25" dirty="0">
                <a:solidFill>
                  <a:srgbClr val="FA0000"/>
                </a:solidFill>
                <a:latin typeface="Arial"/>
                <a:cs typeface="Arial"/>
              </a:rPr>
              <a:t>c</a:t>
            </a:r>
            <a:r>
              <a:rPr sz="1000" spc="-5" dirty="0">
                <a:solidFill>
                  <a:srgbClr val="FA0000"/>
                </a:solidFill>
                <a:latin typeface="Arial"/>
                <a:cs typeface="Arial"/>
              </a:rPr>
              <a:t>kups </a:t>
            </a:r>
            <a:r>
              <a:rPr sz="1000" i="1" spc="-5" dirty="0">
                <a:latin typeface="Arial"/>
                <a:cs typeface="Arial"/>
              </a:rPr>
              <a:t>B</a:t>
            </a:r>
            <a:r>
              <a:rPr sz="1050" i="1" spc="97" baseline="-15873" dirty="0">
                <a:latin typeface="Arial"/>
                <a:cs typeface="Arial"/>
              </a:rPr>
              <a:t>1</a:t>
            </a:r>
            <a:r>
              <a:rPr sz="1000" i="1" spc="105" dirty="0">
                <a:latin typeface="Arial"/>
                <a:cs typeface="Arial"/>
              </a:rPr>
              <a:t>,...</a:t>
            </a:r>
            <a:r>
              <a:rPr sz="1000" i="1" spc="-5" dirty="0">
                <a:latin typeface="Arial"/>
                <a:cs typeface="Arial"/>
              </a:rPr>
              <a:t>,</a:t>
            </a:r>
            <a:r>
              <a:rPr sz="1000" i="1" spc="-170" dirty="0">
                <a:latin typeface="Arial"/>
                <a:cs typeface="Arial"/>
              </a:rPr>
              <a:t> </a:t>
            </a:r>
            <a:r>
              <a:rPr sz="1000" i="1" spc="-5" dirty="0">
                <a:latin typeface="Arial"/>
                <a:cs typeface="Arial"/>
              </a:rPr>
              <a:t>B</a:t>
            </a:r>
            <a:r>
              <a:rPr sz="1050" i="1" spc="44" baseline="-15873" dirty="0">
                <a:latin typeface="Arial"/>
                <a:cs typeface="Arial"/>
              </a:rPr>
              <a:t>n</a:t>
            </a:r>
            <a:r>
              <a:rPr sz="1050" i="1" spc="15" baseline="-15873" dirty="0">
                <a:latin typeface="メイリオ"/>
                <a:cs typeface="メイリオ"/>
              </a:rPr>
              <a:t>−</a:t>
            </a:r>
            <a:r>
              <a:rPr sz="1050" i="1" spc="97" baseline="-15873" dirty="0">
                <a:latin typeface="Arial"/>
                <a:cs typeface="Arial"/>
              </a:rPr>
              <a:t>1</a:t>
            </a:r>
            <a:r>
              <a:rPr sz="1000" spc="-5" dirty="0">
                <a:latin typeface="Arial"/>
                <a:cs typeface="Arial"/>
              </a:rPr>
              <a:t>.</a:t>
            </a:r>
            <a:endParaRPr sz="1000">
              <a:latin typeface="Arial"/>
              <a:cs typeface="Arial"/>
            </a:endParaRPr>
          </a:p>
          <a:p>
            <a:pPr marL="378460" indent="-168275">
              <a:lnSpc>
                <a:spcPts val="1195"/>
              </a:lnSpc>
              <a:buClr>
                <a:srgbClr val="3333B2"/>
              </a:buClr>
              <a:buChar char="►"/>
              <a:tabLst>
                <a:tab pos="379095" algn="l"/>
              </a:tabLst>
            </a:pPr>
            <a:r>
              <a:rPr sz="1000" spc="-5" dirty="0">
                <a:latin typeface="Arial"/>
                <a:cs typeface="Arial"/>
              </a:rPr>
              <a:t>A client sends </a:t>
            </a:r>
            <a:r>
              <a:rPr sz="1000" i="1" spc="-5" dirty="0">
                <a:latin typeface="Arial"/>
                <a:cs typeface="Arial"/>
              </a:rPr>
              <a:t>v</a:t>
            </a:r>
            <a:r>
              <a:rPr sz="1000" i="1" spc="45" dirty="0">
                <a:latin typeface="Arial"/>
                <a:cs typeface="Arial"/>
              </a:rPr>
              <a:t> </a:t>
            </a:r>
            <a:r>
              <a:rPr sz="1000" i="1" spc="-145" dirty="0">
                <a:latin typeface="メイリオ"/>
                <a:cs typeface="メイリオ"/>
              </a:rPr>
              <a:t>∈</a:t>
            </a:r>
            <a:r>
              <a:rPr sz="1000" i="1" spc="-120" dirty="0">
                <a:latin typeface="メイリオ"/>
                <a:cs typeface="メイリオ"/>
              </a:rPr>
              <a:t> </a:t>
            </a:r>
            <a:r>
              <a:rPr sz="1000" i="1" spc="-110" dirty="0">
                <a:latin typeface="メイリオ"/>
                <a:cs typeface="メイリオ"/>
              </a:rPr>
              <a:t>{</a:t>
            </a:r>
            <a:r>
              <a:rPr sz="1000" i="1" spc="130" dirty="0">
                <a:latin typeface="Arial"/>
                <a:cs typeface="Arial"/>
              </a:rPr>
              <a:t>T</a:t>
            </a:r>
            <a:r>
              <a:rPr sz="1000" i="1" spc="-5" dirty="0">
                <a:latin typeface="Arial"/>
                <a:cs typeface="Arial"/>
              </a:rPr>
              <a:t>,</a:t>
            </a:r>
            <a:r>
              <a:rPr sz="1000" i="1" spc="-170" dirty="0">
                <a:latin typeface="Arial"/>
                <a:cs typeface="Arial"/>
              </a:rPr>
              <a:t> </a:t>
            </a:r>
            <a:r>
              <a:rPr sz="1000" i="1" spc="114" dirty="0">
                <a:latin typeface="Arial"/>
                <a:cs typeface="Arial"/>
              </a:rPr>
              <a:t>F</a:t>
            </a:r>
            <a:r>
              <a:rPr sz="1000" i="1" spc="-105" dirty="0">
                <a:latin typeface="メイリオ"/>
                <a:cs typeface="メイリオ"/>
              </a:rPr>
              <a:t>}</a:t>
            </a:r>
            <a:r>
              <a:rPr sz="1000" i="1" spc="-65" dirty="0">
                <a:latin typeface="メイリオ"/>
                <a:cs typeface="メイリオ"/>
              </a:rPr>
              <a:t> </a:t>
            </a:r>
            <a:r>
              <a:rPr sz="1000" spc="-5" dirty="0">
                <a:latin typeface="Arial"/>
                <a:cs typeface="Arial"/>
              </a:rPr>
              <a:t>to </a:t>
            </a:r>
            <a:r>
              <a:rPr sz="1000" i="1" spc="-5" dirty="0">
                <a:latin typeface="Arial"/>
                <a:cs typeface="Arial"/>
              </a:rPr>
              <a:t>P</a:t>
            </a:r>
            <a:endParaRPr sz="1000">
              <a:latin typeface="Arial"/>
              <a:cs typeface="Arial"/>
            </a:endParaRPr>
          </a:p>
          <a:p>
            <a:pPr marL="378460" indent="-168275">
              <a:lnSpc>
                <a:spcPts val="1195"/>
              </a:lnSpc>
              <a:buClr>
                <a:srgbClr val="3333B2"/>
              </a:buClr>
              <a:buChar char="►"/>
              <a:tabLst>
                <a:tab pos="379095" algn="l"/>
              </a:tabLst>
            </a:pPr>
            <a:r>
              <a:rPr sz="1000" spc="-5" dirty="0">
                <a:latin typeface="Arial"/>
                <a:cs typeface="Arial"/>
              </a:rPr>
              <a:t>Messages </a:t>
            </a:r>
            <a:r>
              <a:rPr sz="1000" spc="-15" dirty="0">
                <a:latin typeface="Arial"/>
                <a:cs typeface="Arial"/>
              </a:rPr>
              <a:t>may</a:t>
            </a:r>
            <a:r>
              <a:rPr sz="1000" spc="-5" dirty="0">
                <a:latin typeface="Arial"/>
                <a:cs typeface="Arial"/>
              </a:rPr>
              <a:t> be</a:t>
            </a:r>
            <a:r>
              <a:rPr sz="1000" dirty="0">
                <a:latin typeface="Arial"/>
                <a:cs typeface="Arial"/>
              </a:rPr>
              <a:t> </a:t>
            </a:r>
            <a:r>
              <a:rPr sz="1000" spc="-5" dirty="0">
                <a:solidFill>
                  <a:srgbClr val="0000FA"/>
                </a:solidFill>
                <a:latin typeface="Arial"/>
                <a:cs typeface="Arial"/>
              </a:rPr>
              <a:t>lost</a:t>
            </a:r>
            <a:r>
              <a:rPr sz="1000" spc="-5" dirty="0">
                <a:latin typeface="Arial"/>
                <a:cs typeface="Arial"/>
              </a:rPr>
              <a:t>, </a:t>
            </a:r>
            <a:r>
              <a:rPr sz="1000" spc="-10" dirty="0">
                <a:latin typeface="Arial"/>
                <a:cs typeface="Arial"/>
              </a:rPr>
              <a:t>but</a:t>
            </a:r>
            <a:r>
              <a:rPr sz="1000" spc="-5" dirty="0">
                <a:latin typeface="Arial"/>
                <a:cs typeface="Arial"/>
              </a:rPr>
              <a:t> this</a:t>
            </a:r>
            <a:r>
              <a:rPr sz="1000" dirty="0">
                <a:latin typeface="Arial"/>
                <a:cs typeface="Arial"/>
              </a:rPr>
              <a:t> </a:t>
            </a:r>
            <a:r>
              <a:rPr sz="1000" spc="-5" dirty="0">
                <a:latin typeface="Arial"/>
                <a:cs typeface="Arial"/>
              </a:rPr>
              <a:t>can be detected.</a:t>
            </a:r>
            <a:endParaRPr sz="1000">
              <a:latin typeface="Arial"/>
              <a:cs typeface="Arial"/>
            </a:endParaRPr>
          </a:p>
          <a:p>
            <a:pPr marL="378460" indent="-168275">
              <a:lnSpc>
                <a:spcPts val="1195"/>
              </a:lnSpc>
              <a:buClr>
                <a:srgbClr val="3333B2"/>
              </a:buClr>
              <a:buChar char="►"/>
              <a:tabLst>
                <a:tab pos="379095" algn="l"/>
              </a:tabLst>
            </a:pPr>
            <a:r>
              <a:rPr sz="1000" spc="-5" dirty="0">
                <a:latin typeface="Arial"/>
                <a:cs typeface="Arial"/>
              </a:rPr>
              <a:t>Messages </a:t>
            </a:r>
            <a:r>
              <a:rPr sz="1000" spc="-5" dirty="0">
                <a:solidFill>
                  <a:srgbClr val="0000FA"/>
                </a:solidFill>
                <a:latin typeface="Arial"/>
                <a:cs typeface="Arial"/>
              </a:rPr>
              <a:t>cannot</a:t>
            </a:r>
            <a:r>
              <a:rPr sz="1000" dirty="0">
                <a:solidFill>
                  <a:srgbClr val="0000FA"/>
                </a:solidFill>
                <a:latin typeface="Arial"/>
                <a:cs typeface="Arial"/>
              </a:rPr>
              <a:t> </a:t>
            </a:r>
            <a:r>
              <a:rPr sz="1000" spc="-5" dirty="0">
                <a:solidFill>
                  <a:srgbClr val="0000FA"/>
                </a:solidFill>
                <a:latin typeface="Arial"/>
                <a:cs typeface="Arial"/>
              </a:rPr>
              <a:t>be</a:t>
            </a:r>
            <a:r>
              <a:rPr sz="1000" dirty="0">
                <a:solidFill>
                  <a:srgbClr val="0000FA"/>
                </a:solidFill>
                <a:latin typeface="Arial"/>
                <a:cs typeface="Arial"/>
              </a:rPr>
              <a:t> </a:t>
            </a:r>
            <a:r>
              <a:rPr sz="1000" spc="-5" dirty="0">
                <a:solidFill>
                  <a:srgbClr val="0000FA"/>
                </a:solidFill>
                <a:latin typeface="Arial"/>
                <a:cs typeface="Arial"/>
              </a:rPr>
              <a:t>corrupted</a:t>
            </a:r>
            <a:r>
              <a:rPr sz="1000" dirty="0">
                <a:solidFill>
                  <a:srgbClr val="0000FA"/>
                </a:solidFill>
                <a:latin typeface="Arial"/>
                <a:cs typeface="Arial"/>
              </a:rPr>
              <a:t> </a:t>
            </a:r>
            <a:r>
              <a:rPr sz="1000" spc="-10" dirty="0">
                <a:latin typeface="Arial"/>
                <a:cs typeface="Arial"/>
              </a:rPr>
              <a:t>beyond</a:t>
            </a:r>
            <a:r>
              <a:rPr sz="1000" dirty="0">
                <a:latin typeface="Arial"/>
                <a:cs typeface="Arial"/>
              </a:rPr>
              <a:t> </a:t>
            </a:r>
            <a:r>
              <a:rPr sz="1000" spc="-5" dirty="0">
                <a:latin typeface="Arial"/>
                <a:cs typeface="Arial"/>
              </a:rPr>
              <a:t>detection.</a:t>
            </a:r>
            <a:endParaRPr sz="1000">
              <a:latin typeface="Arial"/>
              <a:cs typeface="Arial"/>
            </a:endParaRPr>
          </a:p>
          <a:p>
            <a:pPr marL="378460" indent="-168275">
              <a:lnSpc>
                <a:spcPts val="1200"/>
              </a:lnSpc>
              <a:buClr>
                <a:srgbClr val="3333B2"/>
              </a:buClr>
              <a:buChar char="►"/>
              <a:tabLst>
                <a:tab pos="379095" algn="l"/>
              </a:tabLst>
            </a:pPr>
            <a:r>
              <a:rPr sz="1000" spc="-5" dirty="0">
                <a:latin typeface="Arial"/>
                <a:cs typeface="Arial"/>
              </a:rPr>
              <a:t>A receiver of a message can </a:t>
            </a:r>
            <a:r>
              <a:rPr sz="1000" spc="-5" dirty="0">
                <a:solidFill>
                  <a:srgbClr val="0000FA"/>
                </a:solidFill>
                <a:latin typeface="Arial"/>
                <a:cs typeface="Arial"/>
              </a:rPr>
              <a:t>reliably detect its sender</a:t>
            </a:r>
            <a:r>
              <a:rPr sz="1000" spc="-5" dirty="0">
                <a:latin typeface="Arial"/>
                <a:cs typeface="Arial"/>
              </a:rPr>
              <a:t>.</a:t>
            </a:r>
            <a:endParaRPr sz="1000">
              <a:latin typeface="Arial"/>
              <a:cs typeface="Arial"/>
            </a:endParaRPr>
          </a:p>
          <a:p>
            <a:pPr marL="101600">
              <a:lnSpc>
                <a:spcPct val="100000"/>
              </a:lnSpc>
              <a:spcBef>
                <a:spcPts val="1210"/>
              </a:spcBef>
            </a:pPr>
            <a:r>
              <a:rPr sz="1200" spc="-5" dirty="0">
                <a:solidFill>
                  <a:srgbClr val="3333B2"/>
                </a:solidFill>
                <a:latin typeface="Arial"/>
                <a:cs typeface="Arial"/>
              </a:rPr>
              <a:t>Byzantine</a:t>
            </a:r>
            <a:r>
              <a:rPr sz="1200" spc="-15" dirty="0">
                <a:solidFill>
                  <a:srgbClr val="3333B2"/>
                </a:solidFill>
                <a:latin typeface="Arial"/>
                <a:cs typeface="Arial"/>
              </a:rPr>
              <a:t> </a:t>
            </a:r>
            <a:r>
              <a:rPr sz="1200" spc="-5" dirty="0">
                <a:solidFill>
                  <a:srgbClr val="3333B2"/>
                </a:solidFill>
                <a:latin typeface="Arial"/>
                <a:cs typeface="Arial"/>
              </a:rPr>
              <a:t>agreement:</a:t>
            </a:r>
            <a:r>
              <a:rPr sz="1200" spc="60" dirty="0">
                <a:solidFill>
                  <a:srgbClr val="3333B2"/>
                </a:solidFill>
                <a:latin typeface="Arial"/>
                <a:cs typeface="Arial"/>
              </a:rPr>
              <a:t> </a:t>
            </a:r>
            <a:r>
              <a:rPr sz="1200" spc="-5" dirty="0">
                <a:solidFill>
                  <a:srgbClr val="3333B2"/>
                </a:solidFill>
                <a:latin typeface="Arial"/>
                <a:cs typeface="Arial"/>
              </a:rPr>
              <a:t>requirements</a:t>
            </a:r>
            <a:endParaRPr sz="1200">
              <a:latin typeface="Arial"/>
              <a:cs typeface="Arial"/>
            </a:endParaRPr>
          </a:p>
          <a:p>
            <a:pPr marL="101600">
              <a:lnSpc>
                <a:spcPts val="1200"/>
              </a:lnSpc>
              <a:spcBef>
                <a:spcPts val="790"/>
              </a:spcBef>
            </a:pPr>
            <a:r>
              <a:rPr sz="1000" spc="-5" dirty="0">
                <a:solidFill>
                  <a:srgbClr val="3333B2"/>
                </a:solidFill>
                <a:latin typeface="Arial"/>
                <a:cs typeface="Arial"/>
              </a:rPr>
              <a:t>BA1:</a:t>
            </a:r>
            <a:r>
              <a:rPr sz="1000" spc="280" dirty="0">
                <a:solidFill>
                  <a:srgbClr val="3333B2"/>
                </a:solidFill>
                <a:latin typeface="Arial"/>
                <a:cs typeface="Arial"/>
              </a:rPr>
              <a:t> </a:t>
            </a:r>
            <a:r>
              <a:rPr sz="1000" spc="-5" dirty="0">
                <a:latin typeface="Arial"/>
                <a:cs typeface="Arial"/>
              </a:rPr>
              <a:t>Every</a:t>
            </a:r>
            <a:r>
              <a:rPr sz="1000" dirty="0">
                <a:latin typeface="Arial"/>
                <a:cs typeface="Arial"/>
              </a:rPr>
              <a:t> </a:t>
            </a:r>
            <a:r>
              <a:rPr sz="1000" spc="-10" dirty="0">
                <a:latin typeface="Arial"/>
                <a:cs typeface="Arial"/>
              </a:rPr>
              <a:t>nonfaulty</a:t>
            </a:r>
            <a:r>
              <a:rPr sz="1000" spc="5" dirty="0">
                <a:latin typeface="Arial"/>
                <a:cs typeface="Arial"/>
              </a:rPr>
              <a:t> </a:t>
            </a:r>
            <a:r>
              <a:rPr sz="1000" spc="-10" dirty="0">
                <a:latin typeface="Arial"/>
                <a:cs typeface="Arial"/>
              </a:rPr>
              <a:t>backup</a:t>
            </a:r>
            <a:r>
              <a:rPr sz="1000" dirty="0">
                <a:latin typeface="Arial"/>
                <a:cs typeface="Arial"/>
              </a:rPr>
              <a:t> </a:t>
            </a:r>
            <a:r>
              <a:rPr sz="1000" spc="-5" dirty="0">
                <a:latin typeface="Arial"/>
                <a:cs typeface="Arial"/>
              </a:rPr>
              <a:t>process</a:t>
            </a:r>
            <a:r>
              <a:rPr sz="1000" dirty="0">
                <a:latin typeface="Arial"/>
                <a:cs typeface="Arial"/>
              </a:rPr>
              <a:t> </a:t>
            </a:r>
            <a:r>
              <a:rPr sz="1000" spc="-5" dirty="0">
                <a:latin typeface="Arial"/>
                <a:cs typeface="Arial"/>
              </a:rPr>
              <a:t>stores</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a:t>
            </a:r>
            <a:r>
              <a:rPr sz="1000" dirty="0">
                <a:latin typeface="Arial"/>
                <a:cs typeface="Arial"/>
              </a:rPr>
              <a:t> </a:t>
            </a:r>
            <a:r>
              <a:rPr sz="1000" spc="-10" dirty="0">
                <a:latin typeface="Arial"/>
                <a:cs typeface="Arial"/>
              </a:rPr>
              <a:t>value.</a:t>
            </a:r>
            <a:endParaRPr sz="1000">
              <a:latin typeface="Arial"/>
              <a:cs typeface="Arial"/>
            </a:endParaRPr>
          </a:p>
          <a:p>
            <a:pPr marL="445134" marR="81915" indent="-344170">
              <a:lnSpc>
                <a:spcPts val="1200"/>
              </a:lnSpc>
              <a:spcBef>
                <a:spcPts val="35"/>
              </a:spcBef>
            </a:pPr>
            <a:r>
              <a:rPr sz="1000" spc="-5" dirty="0">
                <a:solidFill>
                  <a:srgbClr val="3333B2"/>
                </a:solidFill>
                <a:latin typeface="Arial"/>
                <a:cs typeface="Arial"/>
              </a:rPr>
              <a:t>BA2:</a:t>
            </a:r>
            <a:r>
              <a:rPr sz="1000" spc="20" dirty="0">
                <a:solidFill>
                  <a:srgbClr val="3333B2"/>
                </a:solidFill>
                <a:latin typeface="Arial"/>
                <a:cs typeface="Arial"/>
              </a:rPr>
              <a:t> </a:t>
            </a:r>
            <a:r>
              <a:rPr sz="1000" spc="-5" dirty="0">
                <a:latin typeface="Arial"/>
                <a:cs typeface="Arial"/>
              </a:rPr>
              <a:t>If</a:t>
            </a:r>
            <a:r>
              <a:rPr sz="1000" spc="5" dirty="0">
                <a:latin typeface="Arial"/>
                <a:cs typeface="Arial"/>
              </a:rPr>
              <a:t> </a:t>
            </a:r>
            <a:r>
              <a:rPr sz="1000" spc="-5" dirty="0">
                <a:latin typeface="Arial"/>
                <a:cs typeface="Arial"/>
              </a:rPr>
              <a:t>the</a:t>
            </a:r>
            <a:r>
              <a:rPr sz="1000" spc="5" dirty="0">
                <a:latin typeface="Arial"/>
                <a:cs typeface="Arial"/>
              </a:rPr>
              <a:t> </a:t>
            </a:r>
            <a:r>
              <a:rPr sz="1000" dirty="0">
                <a:latin typeface="Arial"/>
                <a:cs typeface="Arial"/>
              </a:rPr>
              <a:t>primary</a:t>
            </a:r>
            <a:r>
              <a:rPr sz="1000" spc="5" dirty="0">
                <a:latin typeface="Arial"/>
                <a:cs typeface="Arial"/>
              </a:rPr>
              <a:t> </a:t>
            </a:r>
            <a:r>
              <a:rPr sz="1000" spc="-5" dirty="0">
                <a:latin typeface="Arial"/>
                <a:cs typeface="Arial"/>
              </a:rPr>
              <a:t>is</a:t>
            </a:r>
            <a:r>
              <a:rPr sz="1000" spc="5" dirty="0">
                <a:latin typeface="Arial"/>
                <a:cs typeface="Arial"/>
              </a:rPr>
              <a:t> </a:t>
            </a:r>
            <a:r>
              <a:rPr sz="1000" spc="-10" dirty="0">
                <a:latin typeface="Arial"/>
                <a:cs typeface="Arial"/>
              </a:rPr>
              <a:t>nonfaulty</a:t>
            </a:r>
            <a:r>
              <a:rPr sz="1000" spc="5" dirty="0">
                <a:latin typeface="Arial"/>
                <a:cs typeface="Arial"/>
              </a:rPr>
              <a:t> </a:t>
            </a:r>
            <a:r>
              <a:rPr sz="1000" spc="-5" dirty="0">
                <a:latin typeface="Arial"/>
                <a:cs typeface="Arial"/>
              </a:rPr>
              <a:t>then</a:t>
            </a:r>
            <a:r>
              <a:rPr sz="1000" spc="5" dirty="0">
                <a:latin typeface="Arial"/>
                <a:cs typeface="Arial"/>
              </a:rPr>
              <a:t> </a:t>
            </a:r>
            <a:r>
              <a:rPr sz="1000" spc="-10" dirty="0">
                <a:latin typeface="Arial"/>
                <a:cs typeface="Arial"/>
              </a:rPr>
              <a:t>every</a:t>
            </a:r>
            <a:r>
              <a:rPr sz="1000" spc="5" dirty="0">
                <a:latin typeface="Arial"/>
                <a:cs typeface="Arial"/>
              </a:rPr>
              <a:t> </a:t>
            </a:r>
            <a:r>
              <a:rPr sz="1000" spc="-10" dirty="0">
                <a:latin typeface="Arial"/>
                <a:cs typeface="Arial"/>
              </a:rPr>
              <a:t>nonfaulty</a:t>
            </a:r>
            <a:r>
              <a:rPr sz="1000" spc="5" dirty="0">
                <a:latin typeface="Arial"/>
                <a:cs typeface="Arial"/>
              </a:rPr>
              <a:t> </a:t>
            </a:r>
            <a:r>
              <a:rPr sz="1000" spc="-10" dirty="0">
                <a:latin typeface="Arial"/>
                <a:cs typeface="Arial"/>
              </a:rPr>
              <a:t>backup</a:t>
            </a:r>
            <a:r>
              <a:rPr sz="1000" spc="10" dirty="0">
                <a:latin typeface="Arial"/>
                <a:cs typeface="Arial"/>
              </a:rPr>
              <a:t> </a:t>
            </a:r>
            <a:r>
              <a:rPr sz="1000" spc="-5" dirty="0">
                <a:latin typeface="Arial"/>
                <a:cs typeface="Arial"/>
              </a:rPr>
              <a:t>process </a:t>
            </a:r>
            <a:r>
              <a:rPr sz="1000" spc="-265" dirty="0">
                <a:latin typeface="Arial"/>
                <a:cs typeface="Arial"/>
              </a:rPr>
              <a:t> </a:t>
            </a:r>
            <a:r>
              <a:rPr sz="1000" spc="-5" dirty="0">
                <a:latin typeface="Arial"/>
                <a:cs typeface="Arial"/>
              </a:rPr>
              <a:t>stores </a:t>
            </a:r>
            <a:r>
              <a:rPr sz="1000" spc="-10" dirty="0">
                <a:latin typeface="Arial"/>
                <a:cs typeface="Arial"/>
              </a:rPr>
              <a:t>exactly</a:t>
            </a:r>
            <a:r>
              <a:rPr sz="1000" spc="-5" dirty="0">
                <a:latin typeface="Arial"/>
                <a:cs typeface="Arial"/>
              </a:rPr>
              <a:t> what the </a:t>
            </a:r>
            <a:r>
              <a:rPr sz="1000" dirty="0">
                <a:latin typeface="Arial"/>
                <a:cs typeface="Arial"/>
              </a:rPr>
              <a:t>primary</a:t>
            </a:r>
            <a:r>
              <a:rPr sz="1000" spc="-5" dirty="0">
                <a:latin typeface="Arial"/>
                <a:cs typeface="Arial"/>
              </a:rPr>
              <a:t> had sent.</a:t>
            </a:r>
            <a:endParaRPr sz="1000">
              <a:latin typeface="Arial"/>
              <a:cs typeface="Arial"/>
            </a:endParaRPr>
          </a:p>
          <a:p>
            <a:pPr>
              <a:lnSpc>
                <a:spcPct val="100000"/>
              </a:lnSpc>
              <a:spcBef>
                <a:spcPts val="10"/>
              </a:spcBef>
            </a:pPr>
            <a:endParaRPr sz="1000">
              <a:latin typeface="Arial"/>
              <a:cs typeface="Arial"/>
            </a:endParaRPr>
          </a:p>
          <a:p>
            <a:pPr marL="101600">
              <a:lnSpc>
                <a:spcPct val="100000"/>
              </a:lnSpc>
            </a:pPr>
            <a:r>
              <a:rPr sz="1200" spc="-5" dirty="0">
                <a:solidFill>
                  <a:srgbClr val="FA0000"/>
                </a:solidFill>
                <a:latin typeface="Arial"/>
                <a:cs typeface="Arial"/>
              </a:rPr>
              <a:t>Observation</a:t>
            </a:r>
            <a:endParaRPr sz="1200">
              <a:latin typeface="Arial"/>
              <a:cs typeface="Arial"/>
            </a:endParaRPr>
          </a:p>
          <a:p>
            <a:pPr marL="378460" marR="39370" indent="-168275">
              <a:lnSpc>
                <a:spcPct val="100000"/>
              </a:lnSpc>
              <a:spcBef>
                <a:spcPts val="545"/>
              </a:spcBef>
              <a:buClr>
                <a:srgbClr val="FA0000"/>
              </a:buClr>
              <a:buChar char="►"/>
              <a:tabLst>
                <a:tab pos="379095" algn="l"/>
              </a:tabLst>
            </a:pPr>
            <a:r>
              <a:rPr sz="1000" spc="-5" dirty="0">
                <a:latin typeface="Arial"/>
                <a:cs typeface="Arial"/>
              </a:rPr>
              <a:t>Primary </a:t>
            </a:r>
            <a:r>
              <a:rPr sz="1000" spc="-10" dirty="0">
                <a:latin typeface="Arial"/>
                <a:cs typeface="Arial"/>
              </a:rPr>
              <a:t>faulty </a:t>
            </a:r>
            <a:r>
              <a:rPr sz="1000" i="1" spc="-5" dirty="0">
                <a:latin typeface="メイリオ"/>
                <a:cs typeface="メイリオ"/>
              </a:rPr>
              <a:t>⇒ </a:t>
            </a:r>
            <a:r>
              <a:rPr sz="1000" spc="-10" dirty="0">
                <a:latin typeface="Arial"/>
                <a:cs typeface="Arial"/>
              </a:rPr>
              <a:t>BA1 </a:t>
            </a:r>
            <a:r>
              <a:rPr sz="1000" spc="-15" dirty="0">
                <a:latin typeface="Arial"/>
                <a:cs typeface="Arial"/>
              </a:rPr>
              <a:t>says </a:t>
            </a:r>
            <a:r>
              <a:rPr sz="1000" spc="-5" dirty="0">
                <a:latin typeface="Arial"/>
                <a:cs typeface="Arial"/>
              </a:rPr>
              <a:t>that </a:t>
            </a:r>
            <a:r>
              <a:rPr sz="1000" spc="-10" dirty="0">
                <a:latin typeface="Arial"/>
                <a:cs typeface="Arial"/>
              </a:rPr>
              <a:t>backups </a:t>
            </a:r>
            <a:r>
              <a:rPr sz="1000" spc="-20" dirty="0">
                <a:latin typeface="Arial"/>
                <a:cs typeface="Arial"/>
              </a:rPr>
              <a:t>may </a:t>
            </a:r>
            <a:r>
              <a:rPr sz="1000" spc="-10" dirty="0">
                <a:latin typeface="Arial"/>
                <a:cs typeface="Arial"/>
              </a:rPr>
              <a:t>store the same, </a:t>
            </a:r>
            <a:r>
              <a:rPr sz="1000" spc="-15" dirty="0">
                <a:latin typeface="Arial"/>
                <a:cs typeface="Arial"/>
              </a:rPr>
              <a:t>but </a:t>
            </a:r>
            <a:r>
              <a:rPr sz="1000" spc="-265" dirty="0">
                <a:latin typeface="Arial"/>
                <a:cs typeface="Arial"/>
              </a:rPr>
              <a:t> </a:t>
            </a:r>
            <a:r>
              <a:rPr sz="1000" spc="-5" dirty="0">
                <a:latin typeface="Arial"/>
                <a:cs typeface="Arial"/>
              </a:rPr>
              <a:t>different</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thus</a:t>
            </a:r>
            <a:r>
              <a:rPr sz="1000" spc="5" dirty="0">
                <a:latin typeface="Arial"/>
                <a:cs typeface="Arial"/>
              </a:rPr>
              <a:t> </a:t>
            </a:r>
            <a:r>
              <a:rPr sz="1000" spc="-5" dirty="0">
                <a:latin typeface="Arial"/>
                <a:cs typeface="Arial"/>
              </a:rPr>
              <a:t>wrong)</a:t>
            </a:r>
            <a:r>
              <a:rPr sz="1000" dirty="0">
                <a:latin typeface="Arial"/>
                <a:cs typeface="Arial"/>
              </a:rPr>
              <a:t> </a:t>
            </a:r>
            <a:r>
              <a:rPr sz="1000" spc="-10" dirty="0">
                <a:latin typeface="Arial"/>
                <a:cs typeface="Arial"/>
              </a:rPr>
              <a:t>value</a:t>
            </a:r>
            <a:r>
              <a:rPr sz="1000" spc="5" dirty="0">
                <a:latin typeface="Arial"/>
                <a:cs typeface="Arial"/>
              </a:rPr>
              <a:t> </a:t>
            </a:r>
            <a:r>
              <a:rPr sz="1000" spc="-5" dirty="0">
                <a:latin typeface="Arial"/>
                <a:cs typeface="Arial"/>
              </a:rPr>
              <a:t>than</a:t>
            </a:r>
            <a:r>
              <a:rPr sz="1000" dirty="0">
                <a:latin typeface="Arial"/>
                <a:cs typeface="Arial"/>
              </a:rPr>
              <a:t> </a:t>
            </a:r>
            <a:r>
              <a:rPr sz="1000" spc="-5" dirty="0">
                <a:latin typeface="Arial"/>
                <a:cs typeface="Arial"/>
              </a:rPr>
              <a:t>originally</a:t>
            </a:r>
            <a:r>
              <a:rPr sz="1000" dirty="0">
                <a:latin typeface="Arial"/>
                <a:cs typeface="Arial"/>
              </a:rPr>
              <a:t> </a:t>
            </a:r>
            <a:r>
              <a:rPr sz="1000" spc="-5" dirty="0">
                <a:latin typeface="Arial"/>
                <a:cs typeface="Arial"/>
              </a:rPr>
              <a:t>sent</a:t>
            </a:r>
            <a:r>
              <a:rPr sz="1000" spc="5"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client.</a:t>
            </a:r>
            <a:endParaRPr sz="1000">
              <a:latin typeface="Arial"/>
              <a:cs typeface="Arial"/>
            </a:endParaRPr>
          </a:p>
          <a:p>
            <a:pPr marL="378460" indent="-168275">
              <a:lnSpc>
                <a:spcPts val="1190"/>
              </a:lnSpc>
              <a:buClr>
                <a:srgbClr val="FA0000"/>
              </a:buClr>
              <a:buChar char="►"/>
              <a:tabLst>
                <a:tab pos="379095" algn="l"/>
              </a:tabLst>
            </a:pPr>
            <a:r>
              <a:rPr sz="1000" dirty="0">
                <a:latin typeface="Arial"/>
                <a:cs typeface="Arial"/>
              </a:rPr>
              <a:t>Primary </a:t>
            </a:r>
            <a:r>
              <a:rPr sz="1000" spc="-5" dirty="0">
                <a:latin typeface="Arial"/>
                <a:cs typeface="Arial"/>
              </a:rPr>
              <a:t>not</a:t>
            </a:r>
            <a:r>
              <a:rPr sz="1000" dirty="0">
                <a:latin typeface="Arial"/>
                <a:cs typeface="Arial"/>
              </a:rPr>
              <a:t> </a:t>
            </a:r>
            <a:r>
              <a:rPr sz="1000" spc="-10" dirty="0">
                <a:latin typeface="Arial"/>
                <a:cs typeface="Arial"/>
              </a:rPr>
              <a:t>faulty</a:t>
            </a:r>
            <a:r>
              <a:rPr sz="1000" spc="5"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latin typeface="Arial"/>
                <a:cs typeface="Arial"/>
              </a:rPr>
              <a:t>satisfying</a:t>
            </a:r>
            <a:r>
              <a:rPr sz="1000" spc="5" dirty="0">
                <a:latin typeface="Arial"/>
                <a:cs typeface="Arial"/>
              </a:rPr>
              <a:t> </a:t>
            </a:r>
            <a:r>
              <a:rPr sz="1000" spc="-5" dirty="0">
                <a:latin typeface="Arial"/>
                <a:cs typeface="Arial"/>
              </a:rPr>
              <a:t>BA2</a:t>
            </a:r>
            <a:r>
              <a:rPr sz="1000" dirty="0">
                <a:latin typeface="Arial"/>
                <a:cs typeface="Arial"/>
              </a:rPr>
              <a:t> </a:t>
            </a:r>
            <a:r>
              <a:rPr sz="1000" spc="-5" dirty="0">
                <a:latin typeface="Arial"/>
                <a:cs typeface="Arial"/>
              </a:rPr>
              <a:t>implies</a:t>
            </a:r>
            <a:r>
              <a:rPr sz="1000" spc="5"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BA1</a:t>
            </a:r>
            <a:r>
              <a:rPr sz="1000" spc="5"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satisfied.</a:t>
            </a:r>
            <a:endParaRPr sz="100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81300"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Consensus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faulty</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with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arbitrary</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failures</a:t>
            </a:r>
            <a:endParaRPr sz="600">
              <a:latin typeface="Arial"/>
              <a:cs typeface="Arial"/>
            </a:endParaRPr>
          </a:p>
        </p:txBody>
      </p:sp>
      <p:sp>
        <p:nvSpPr>
          <p:cNvPr id="3" name="object 3"/>
          <p:cNvSpPr txBox="1">
            <a:spLocks noGrp="1"/>
          </p:cNvSpPr>
          <p:nvPr>
            <p:ph type="title"/>
          </p:nvPr>
        </p:nvSpPr>
        <p:spPr>
          <a:xfrm>
            <a:off x="95300" y="188846"/>
            <a:ext cx="3247390" cy="244475"/>
          </a:xfrm>
          <a:prstGeom prst="rect">
            <a:avLst/>
          </a:prstGeom>
        </p:spPr>
        <p:txBody>
          <a:bodyPr vert="horz" wrap="square" lIns="0" tIns="17145" rIns="0" bIns="0" rtlCol="0">
            <a:spAutoFit/>
          </a:bodyPr>
          <a:lstStyle/>
          <a:p>
            <a:pPr marL="12700">
              <a:lnSpc>
                <a:spcPct val="100000"/>
              </a:lnSpc>
              <a:spcBef>
                <a:spcPts val="135"/>
              </a:spcBef>
            </a:pPr>
            <a:r>
              <a:rPr spc="5" dirty="0"/>
              <a:t>Why</a:t>
            </a:r>
            <a:r>
              <a:rPr dirty="0"/>
              <a:t> </a:t>
            </a:r>
            <a:r>
              <a:rPr spc="10" dirty="0"/>
              <a:t>having</a:t>
            </a:r>
            <a:r>
              <a:rPr dirty="0"/>
              <a:t> </a:t>
            </a:r>
            <a:r>
              <a:rPr b="1" spc="15" dirty="0">
                <a:latin typeface="Arial"/>
                <a:cs typeface="Arial"/>
              </a:rPr>
              <a:t>3k</a:t>
            </a:r>
            <a:r>
              <a:rPr b="1" spc="5" dirty="0">
                <a:latin typeface="Arial"/>
                <a:cs typeface="Arial"/>
              </a:rPr>
              <a:t> </a:t>
            </a:r>
            <a:r>
              <a:rPr spc="15" dirty="0"/>
              <a:t>processes</a:t>
            </a:r>
            <a:r>
              <a:rPr dirty="0"/>
              <a:t> </a:t>
            </a:r>
            <a:r>
              <a:rPr spc="10" dirty="0"/>
              <a:t>is</a:t>
            </a:r>
            <a:r>
              <a:rPr spc="5" dirty="0"/>
              <a:t> </a:t>
            </a:r>
            <a:r>
              <a:rPr spc="15" dirty="0"/>
              <a:t>not</a:t>
            </a:r>
            <a:r>
              <a:rPr dirty="0"/>
              <a:t> </a:t>
            </a:r>
            <a:r>
              <a:rPr spc="15" dirty="0"/>
              <a:t>enough</a:t>
            </a:r>
          </a:p>
        </p:txBody>
      </p:sp>
      <p:grpSp>
        <p:nvGrpSpPr>
          <p:cNvPr id="4" name="object 4"/>
          <p:cNvGrpSpPr/>
          <p:nvPr/>
        </p:nvGrpSpPr>
        <p:grpSpPr>
          <a:xfrm>
            <a:off x="759967" y="1333664"/>
            <a:ext cx="1456055" cy="1303655"/>
            <a:chOff x="759967" y="1333664"/>
            <a:chExt cx="1456055" cy="1303655"/>
          </a:xfrm>
        </p:grpSpPr>
        <p:sp>
          <p:nvSpPr>
            <p:cNvPr id="5" name="object 5"/>
            <p:cNvSpPr/>
            <p:nvPr/>
          </p:nvSpPr>
          <p:spPr>
            <a:xfrm>
              <a:off x="951503" y="1527986"/>
              <a:ext cx="460375" cy="828040"/>
            </a:xfrm>
            <a:custGeom>
              <a:avLst/>
              <a:gdLst/>
              <a:ahLst/>
              <a:cxnLst/>
              <a:rect l="l" t="t" r="r" b="b"/>
              <a:pathLst>
                <a:path w="460375" h="828039">
                  <a:moveTo>
                    <a:pt x="460014" y="0"/>
                  </a:moveTo>
                  <a:lnTo>
                    <a:pt x="0" y="827716"/>
                  </a:lnTo>
                </a:path>
              </a:pathLst>
            </a:custGeom>
            <a:ln w="7620">
              <a:solidFill>
                <a:srgbClr val="231F20"/>
              </a:solidFill>
              <a:prstDash val="lgDash"/>
            </a:ln>
          </p:spPr>
          <p:txBody>
            <a:bodyPr wrap="square" lIns="0" tIns="0" rIns="0" bIns="0" rtlCol="0"/>
            <a:lstStyle/>
            <a:p>
              <a:endParaRPr/>
            </a:p>
          </p:txBody>
        </p:sp>
        <p:pic>
          <p:nvPicPr>
            <p:cNvPr id="6" name="object 6"/>
            <p:cNvPicPr/>
            <p:nvPr/>
          </p:nvPicPr>
          <p:blipFill>
            <a:blip r:embed="rId6" cstate="print"/>
            <a:stretch>
              <a:fillRect/>
            </a:stretch>
          </p:blipFill>
          <p:spPr>
            <a:xfrm>
              <a:off x="925249" y="2286557"/>
              <a:ext cx="92523" cy="116383"/>
            </a:xfrm>
            <a:prstGeom prst="rect">
              <a:avLst/>
            </a:prstGeom>
          </p:spPr>
        </p:pic>
        <p:sp>
          <p:nvSpPr>
            <p:cNvPr id="7" name="object 7"/>
            <p:cNvSpPr/>
            <p:nvPr/>
          </p:nvSpPr>
          <p:spPr>
            <a:xfrm>
              <a:off x="1563930" y="1527986"/>
              <a:ext cx="460375" cy="828040"/>
            </a:xfrm>
            <a:custGeom>
              <a:avLst/>
              <a:gdLst/>
              <a:ahLst/>
              <a:cxnLst/>
              <a:rect l="l" t="t" r="r" b="b"/>
              <a:pathLst>
                <a:path w="460375" h="828039">
                  <a:moveTo>
                    <a:pt x="0" y="0"/>
                  </a:moveTo>
                  <a:lnTo>
                    <a:pt x="460022" y="827716"/>
                  </a:lnTo>
                </a:path>
              </a:pathLst>
            </a:custGeom>
            <a:ln w="7620">
              <a:solidFill>
                <a:srgbClr val="231F20"/>
              </a:solidFill>
              <a:prstDash val="lgDash"/>
            </a:ln>
          </p:spPr>
          <p:txBody>
            <a:bodyPr wrap="square" lIns="0" tIns="0" rIns="0" bIns="0" rtlCol="0"/>
            <a:lstStyle/>
            <a:p>
              <a:endParaRPr/>
            </a:p>
          </p:txBody>
        </p:sp>
        <p:sp>
          <p:nvSpPr>
            <p:cNvPr id="8" name="object 8"/>
            <p:cNvSpPr/>
            <p:nvPr/>
          </p:nvSpPr>
          <p:spPr>
            <a:xfrm>
              <a:off x="1957676" y="2286557"/>
              <a:ext cx="92710" cy="116839"/>
            </a:xfrm>
            <a:custGeom>
              <a:avLst/>
              <a:gdLst/>
              <a:ahLst/>
              <a:cxnLst/>
              <a:rect l="l" t="t" r="r" b="b"/>
              <a:pathLst>
                <a:path w="92710" h="116839">
                  <a:moveTo>
                    <a:pt x="80572" y="0"/>
                  </a:moveTo>
                  <a:lnTo>
                    <a:pt x="64624" y="18747"/>
                  </a:lnTo>
                  <a:lnTo>
                    <a:pt x="45880" y="32459"/>
                  </a:lnTo>
                  <a:lnTo>
                    <a:pt x="24339" y="41136"/>
                  </a:lnTo>
                  <a:lnTo>
                    <a:pt x="0" y="44778"/>
                  </a:lnTo>
                  <a:lnTo>
                    <a:pt x="92520" y="116383"/>
                  </a:lnTo>
                  <a:lnTo>
                    <a:pt x="80572" y="0"/>
                  </a:lnTo>
                  <a:close/>
                </a:path>
              </a:pathLst>
            </a:custGeom>
            <a:solidFill>
              <a:srgbClr val="231F20"/>
            </a:solidFill>
          </p:spPr>
          <p:txBody>
            <a:bodyPr wrap="square" lIns="0" tIns="0" rIns="0" bIns="0" rtlCol="0"/>
            <a:lstStyle/>
            <a:p>
              <a:endParaRPr/>
            </a:p>
          </p:txBody>
        </p:sp>
        <p:pic>
          <p:nvPicPr>
            <p:cNvPr id="9" name="object 9"/>
            <p:cNvPicPr/>
            <p:nvPr/>
          </p:nvPicPr>
          <p:blipFill>
            <a:blip r:embed="rId7" cstate="print"/>
            <a:stretch>
              <a:fillRect/>
            </a:stretch>
          </p:blipFill>
          <p:spPr>
            <a:xfrm>
              <a:off x="1369608" y="1333664"/>
              <a:ext cx="236232" cy="236232"/>
            </a:xfrm>
            <a:prstGeom prst="rect">
              <a:avLst/>
            </a:prstGeom>
          </p:spPr>
        </p:pic>
        <p:pic>
          <p:nvPicPr>
            <p:cNvPr id="10" name="object 10"/>
            <p:cNvPicPr/>
            <p:nvPr/>
          </p:nvPicPr>
          <p:blipFill>
            <a:blip r:embed="rId8" cstate="print"/>
            <a:stretch>
              <a:fillRect/>
            </a:stretch>
          </p:blipFill>
          <p:spPr>
            <a:xfrm>
              <a:off x="759967" y="2400530"/>
              <a:ext cx="236238" cy="236237"/>
            </a:xfrm>
            <a:prstGeom prst="rect">
              <a:avLst/>
            </a:prstGeom>
          </p:spPr>
        </p:pic>
        <p:sp>
          <p:nvSpPr>
            <p:cNvPr id="11" name="object 11"/>
            <p:cNvSpPr/>
            <p:nvPr/>
          </p:nvSpPr>
          <p:spPr>
            <a:xfrm>
              <a:off x="1983049" y="2404340"/>
              <a:ext cx="229235" cy="229235"/>
            </a:xfrm>
            <a:custGeom>
              <a:avLst/>
              <a:gdLst/>
              <a:ahLst/>
              <a:cxnLst/>
              <a:rect l="l" t="t" r="r" b="b"/>
              <a:pathLst>
                <a:path w="229235" h="229235">
                  <a:moveTo>
                    <a:pt x="114315" y="0"/>
                  </a:moveTo>
                  <a:lnTo>
                    <a:pt x="158807" y="8984"/>
                  </a:lnTo>
                  <a:lnTo>
                    <a:pt x="195144" y="33485"/>
                  </a:lnTo>
                  <a:lnTo>
                    <a:pt x="219645" y="69821"/>
                  </a:lnTo>
                  <a:lnTo>
                    <a:pt x="228630" y="114312"/>
                  </a:lnTo>
                  <a:lnTo>
                    <a:pt x="219645" y="158798"/>
                  </a:lnTo>
                  <a:lnTo>
                    <a:pt x="195144" y="195132"/>
                  </a:lnTo>
                  <a:lnTo>
                    <a:pt x="158807" y="219632"/>
                  </a:lnTo>
                  <a:lnTo>
                    <a:pt x="114315" y="228616"/>
                  </a:lnTo>
                  <a:lnTo>
                    <a:pt x="69823" y="219632"/>
                  </a:lnTo>
                  <a:lnTo>
                    <a:pt x="33486" y="195132"/>
                  </a:lnTo>
                  <a:lnTo>
                    <a:pt x="8984" y="158798"/>
                  </a:lnTo>
                  <a:lnTo>
                    <a:pt x="0" y="114312"/>
                  </a:lnTo>
                  <a:lnTo>
                    <a:pt x="8984" y="69821"/>
                  </a:lnTo>
                  <a:lnTo>
                    <a:pt x="33486" y="33485"/>
                  </a:lnTo>
                  <a:lnTo>
                    <a:pt x="69823" y="8984"/>
                  </a:lnTo>
                  <a:lnTo>
                    <a:pt x="114315" y="0"/>
                  </a:lnTo>
                  <a:close/>
                </a:path>
              </a:pathLst>
            </a:custGeom>
            <a:ln w="7620">
              <a:solidFill>
                <a:srgbClr val="231F20"/>
              </a:solidFill>
            </a:ln>
          </p:spPr>
          <p:txBody>
            <a:bodyPr wrap="square" lIns="0" tIns="0" rIns="0" bIns="0" rtlCol="0"/>
            <a:lstStyle/>
            <a:p>
              <a:endParaRPr/>
            </a:p>
          </p:txBody>
        </p:sp>
      </p:grpSp>
      <p:sp>
        <p:nvSpPr>
          <p:cNvPr id="12" name="object 12"/>
          <p:cNvSpPr txBox="1"/>
          <p:nvPr/>
        </p:nvSpPr>
        <p:spPr>
          <a:xfrm>
            <a:off x="1437020" y="1360800"/>
            <a:ext cx="107314"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a:t>
            </a:r>
            <a:endParaRPr sz="950">
              <a:latin typeface="Arial"/>
              <a:cs typeface="Arial"/>
            </a:endParaRPr>
          </a:p>
        </p:txBody>
      </p:sp>
      <p:grpSp>
        <p:nvGrpSpPr>
          <p:cNvPr id="13" name="object 13"/>
          <p:cNvGrpSpPr/>
          <p:nvPr/>
        </p:nvGrpSpPr>
        <p:grpSpPr>
          <a:xfrm>
            <a:off x="985597" y="2371937"/>
            <a:ext cx="1007744" cy="307975"/>
            <a:chOff x="985597" y="2371937"/>
            <a:chExt cx="1007744" cy="307975"/>
          </a:xfrm>
        </p:grpSpPr>
        <p:sp>
          <p:nvSpPr>
            <p:cNvPr id="14" name="object 14"/>
            <p:cNvSpPr/>
            <p:nvPr/>
          </p:nvSpPr>
          <p:spPr>
            <a:xfrm>
              <a:off x="989407" y="2375748"/>
              <a:ext cx="953135" cy="103505"/>
            </a:xfrm>
            <a:custGeom>
              <a:avLst/>
              <a:gdLst/>
              <a:ahLst/>
              <a:cxnLst/>
              <a:rect l="l" t="t" r="r" b="b"/>
              <a:pathLst>
                <a:path w="953135" h="103505">
                  <a:moveTo>
                    <a:pt x="0" y="103493"/>
                  </a:moveTo>
                  <a:lnTo>
                    <a:pt x="82785" y="75061"/>
                  </a:lnTo>
                  <a:lnTo>
                    <a:pt x="162009" y="51809"/>
                  </a:lnTo>
                  <a:lnTo>
                    <a:pt x="237644" y="33360"/>
                  </a:lnTo>
                  <a:lnTo>
                    <a:pt x="309662" y="19339"/>
                  </a:lnTo>
                  <a:lnTo>
                    <a:pt x="378033" y="9368"/>
                  </a:lnTo>
                  <a:lnTo>
                    <a:pt x="442729" y="3073"/>
                  </a:lnTo>
                  <a:lnTo>
                    <a:pt x="503723" y="75"/>
                  </a:lnTo>
                  <a:lnTo>
                    <a:pt x="560985" y="0"/>
                  </a:lnTo>
                  <a:lnTo>
                    <a:pt x="614488" y="2470"/>
                  </a:lnTo>
                  <a:lnTo>
                    <a:pt x="664202" y="7109"/>
                  </a:lnTo>
                  <a:lnTo>
                    <a:pt x="710099" y="13541"/>
                  </a:lnTo>
                  <a:lnTo>
                    <a:pt x="752151" y="21391"/>
                  </a:lnTo>
                  <a:lnTo>
                    <a:pt x="790330" y="30280"/>
                  </a:lnTo>
                  <a:lnTo>
                    <a:pt x="854953" y="49675"/>
                  </a:lnTo>
                  <a:lnTo>
                    <a:pt x="903742" y="68715"/>
                  </a:lnTo>
                  <a:lnTo>
                    <a:pt x="946736" y="90025"/>
                  </a:lnTo>
                  <a:lnTo>
                    <a:pt x="952903" y="93689"/>
                  </a:lnTo>
                </a:path>
              </a:pathLst>
            </a:custGeom>
            <a:ln w="7620">
              <a:solidFill>
                <a:srgbClr val="231F20"/>
              </a:solidFill>
            </a:ln>
          </p:spPr>
          <p:txBody>
            <a:bodyPr wrap="square" lIns="0" tIns="0" rIns="0" bIns="0" rtlCol="0"/>
            <a:lstStyle/>
            <a:p>
              <a:endParaRPr/>
            </a:p>
          </p:txBody>
        </p:sp>
        <p:pic>
          <p:nvPicPr>
            <p:cNvPr id="15" name="object 15"/>
            <p:cNvPicPr/>
            <p:nvPr/>
          </p:nvPicPr>
          <p:blipFill>
            <a:blip r:embed="rId9" cstate="print"/>
            <a:stretch>
              <a:fillRect/>
            </a:stretch>
          </p:blipFill>
          <p:spPr>
            <a:xfrm>
              <a:off x="1872553" y="2402054"/>
              <a:ext cx="115662" cy="95909"/>
            </a:xfrm>
            <a:prstGeom prst="rect">
              <a:avLst/>
            </a:prstGeom>
          </p:spPr>
        </p:pic>
        <p:sp>
          <p:nvSpPr>
            <p:cNvPr id="16" name="object 16"/>
            <p:cNvSpPr/>
            <p:nvPr/>
          </p:nvSpPr>
          <p:spPr>
            <a:xfrm>
              <a:off x="1034727" y="2567568"/>
              <a:ext cx="955040" cy="108585"/>
            </a:xfrm>
            <a:custGeom>
              <a:avLst/>
              <a:gdLst/>
              <a:ahLst/>
              <a:cxnLst/>
              <a:rect l="l" t="t" r="r" b="b"/>
              <a:pathLst>
                <a:path w="955039" h="108585">
                  <a:moveTo>
                    <a:pt x="954508" y="6900"/>
                  </a:moveTo>
                  <a:lnTo>
                    <a:pt x="871862" y="35287"/>
                  </a:lnTo>
                  <a:lnTo>
                    <a:pt x="793026" y="58406"/>
                  </a:lnTo>
                  <a:lnTo>
                    <a:pt x="717986" y="76636"/>
                  </a:lnTo>
                  <a:lnTo>
                    <a:pt x="646728" y="90354"/>
                  </a:lnTo>
                  <a:lnTo>
                    <a:pt x="579237" y="99938"/>
                  </a:lnTo>
                  <a:lnTo>
                    <a:pt x="515499" y="105769"/>
                  </a:lnTo>
                  <a:lnTo>
                    <a:pt x="455500" y="108223"/>
                  </a:lnTo>
                  <a:lnTo>
                    <a:pt x="399224" y="107679"/>
                  </a:lnTo>
                  <a:lnTo>
                    <a:pt x="346658" y="104517"/>
                  </a:lnTo>
                  <a:lnTo>
                    <a:pt x="297788" y="99113"/>
                  </a:lnTo>
                  <a:lnTo>
                    <a:pt x="252599" y="91847"/>
                  </a:lnTo>
                  <a:lnTo>
                    <a:pt x="211076" y="83096"/>
                  </a:lnTo>
                  <a:lnTo>
                    <a:pt x="173206" y="73240"/>
                  </a:lnTo>
                  <a:lnTo>
                    <a:pt x="108364" y="51725"/>
                  </a:lnTo>
                  <a:lnTo>
                    <a:pt x="57959" y="30328"/>
                  </a:lnTo>
                  <a:lnTo>
                    <a:pt x="21876" y="12077"/>
                  </a:lnTo>
                  <a:lnTo>
                    <a:pt x="9169" y="5078"/>
                  </a:lnTo>
                  <a:lnTo>
                    <a:pt x="0" y="0"/>
                  </a:lnTo>
                </a:path>
              </a:pathLst>
            </a:custGeom>
            <a:ln w="7620">
              <a:solidFill>
                <a:srgbClr val="231F20"/>
              </a:solidFill>
            </a:ln>
          </p:spPr>
          <p:txBody>
            <a:bodyPr wrap="square" lIns="0" tIns="0" rIns="0" bIns="0" rtlCol="0"/>
            <a:lstStyle/>
            <a:p>
              <a:endParaRPr/>
            </a:p>
          </p:txBody>
        </p:sp>
        <p:pic>
          <p:nvPicPr>
            <p:cNvPr id="17" name="object 17"/>
            <p:cNvPicPr/>
            <p:nvPr/>
          </p:nvPicPr>
          <p:blipFill>
            <a:blip r:embed="rId10" cstate="print"/>
            <a:stretch>
              <a:fillRect/>
            </a:stretch>
          </p:blipFill>
          <p:spPr>
            <a:xfrm>
              <a:off x="987150" y="2541934"/>
              <a:ext cx="116532" cy="91583"/>
            </a:xfrm>
            <a:prstGeom prst="rect">
              <a:avLst/>
            </a:prstGeom>
          </p:spPr>
        </p:pic>
      </p:grpSp>
      <p:sp>
        <p:nvSpPr>
          <p:cNvPr id="18" name="object 18"/>
          <p:cNvSpPr txBox="1"/>
          <p:nvPr/>
        </p:nvSpPr>
        <p:spPr>
          <a:xfrm>
            <a:off x="2013310" y="2427850"/>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B2</a:t>
            </a:r>
            <a:endParaRPr sz="950">
              <a:latin typeface="Arial"/>
              <a:cs typeface="Arial"/>
            </a:endParaRPr>
          </a:p>
        </p:txBody>
      </p:sp>
      <p:sp>
        <p:nvSpPr>
          <p:cNvPr id="19" name="object 19"/>
          <p:cNvSpPr txBox="1"/>
          <p:nvPr/>
        </p:nvSpPr>
        <p:spPr>
          <a:xfrm>
            <a:off x="802015" y="2427850"/>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B1</a:t>
            </a:r>
            <a:endParaRPr sz="950">
              <a:latin typeface="Arial"/>
              <a:cs typeface="Arial"/>
            </a:endParaRPr>
          </a:p>
        </p:txBody>
      </p:sp>
      <p:sp>
        <p:nvSpPr>
          <p:cNvPr id="20" name="object 20"/>
          <p:cNvSpPr txBox="1"/>
          <p:nvPr/>
        </p:nvSpPr>
        <p:spPr>
          <a:xfrm>
            <a:off x="1093998" y="1709259"/>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T</a:t>
            </a:r>
            <a:endParaRPr sz="950">
              <a:latin typeface="Arial"/>
              <a:cs typeface="Arial"/>
            </a:endParaRPr>
          </a:p>
        </p:txBody>
      </p:sp>
      <p:sp>
        <p:nvSpPr>
          <p:cNvPr id="21" name="object 21"/>
          <p:cNvSpPr txBox="1"/>
          <p:nvPr/>
        </p:nvSpPr>
        <p:spPr>
          <a:xfrm>
            <a:off x="1787163" y="1709259"/>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F</a:t>
            </a:r>
            <a:endParaRPr sz="950">
              <a:latin typeface="Arial"/>
              <a:cs typeface="Arial"/>
            </a:endParaRPr>
          </a:p>
        </p:txBody>
      </p:sp>
      <p:sp>
        <p:nvSpPr>
          <p:cNvPr id="22" name="object 22"/>
          <p:cNvSpPr txBox="1"/>
          <p:nvPr/>
        </p:nvSpPr>
        <p:spPr>
          <a:xfrm>
            <a:off x="1475023" y="2155417"/>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T</a:t>
            </a:r>
            <a:endParaRPr sz="950">
              <a:latin typeface="Arial"/>
              <a:cs typeface="Arial"/>
            </a:endParaRPr>
          </a:p>
        </p:txBody>
      </p:sp>
      <p:sp>
        <p:nvSpPr>
          <p:cNvPr id="23" name="object 23"/>
          <p:cNvSpPr txBox="1"/>
          <p:nvPr/>
        </p:nvSpPr>
        <p:spPr>
          <a:xfrm>
            <a:off x="1475023" y="2688852"/>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F</a:t>
            </a:r>
            <a:endParaRPr sz="950">
              <a:latin typeface="Arial"/>
              <a:cs typeface="Arial"/>
            </a:endParaRPr>
          </a:p>
        </p:txBody>
      </p:sp>
      <p:sp>
        <p:nvSpPr>
          <p:cNvPr id="24" name="object 24"/>
          <p:cNvSpPr txBox="1"/>
          <p:nvPr/>
        </p:nvSpPr>
        <p:spPr>
          <a:xfrm>
            <a:off x="436917" y="2415580"/>
            <a:ext cx="276225" cy="172085"/>
          </a:xfrm>
          <a:prstGeom prst="rect">
            <a:avLst/>
          </a:prstGeom>
        </p:spPr>
        <p:txBody>
          <a:bodyPr vert="horz" wrap="square" lIns="0" tIns="13970" rIns="0" bIns="0" rtlCol="0">
            <a:spAutoFit/>
          </a:bodyPr>
          <a:lstStyle/>
          <a:p>
            <a:pPr marL="12700">
              <a:lnSpc>
                <a:spcPct val="100000"/>
              </a:lnSpc>
              <a:spcBef>
                <a:spcPts val="110"/>
              </a:spcBef>
            </a:pPr>
            <a:r>
              <a:rPr sz="950" dirty="0">
                <a:solidFill>
                  <a:srgbClr val="231F20"/>
                </a:solidFill>
                <a:latin typeface="Arial"/>
                <a:cs typeface="Arial"/>
              </a:rPr>
              <a:t>{</a:t>
            </a:r>
            <a:r>
              <a:rPr sz="950" spc="-105" dirty="0">
                <a:solidFill>
                  <a:srgbClr val="231F20"/>
                </a:solidFill>
                <a:latin typeface="Arial"/>
                <a:cs typeface="Arial"/>
              </a:rPr>
              <a:t>T</a:t>
            </a:r>
            <a:r>
              <a:rPr sz="950" dirty="0">
                <a:solidFill>
                  <a:srgbClr val="231F20"/>
                </a:solidFill>
                <a:latin typeface="Arial"/>
                <a:cs typeface="Arial"/>
              </a:rPr>
              <a:t>,F}</a:t>
            </a:r>
            <a:endParaRPr sz="950">
              <a:latin typeface="Arial"/>
              <a:cs typeface="Arial"/>
            </a:endParaRPr>
          </a:p>
        </p:txBody>
      </p:sp>
      <p:sp>
        <p:nvSpPr>
          <p:cNvPr id="25" name="object 25"/>
          <p:cNvSpPr txBox="1"/>
          <p:nvPr/>
        </p:nvSpPr>
        <p:spPr>
          <a:xfrm>
            <a:off x="2265832" y="2415580"/>
            <a:ext cx="276225" cy="172085"/>
          </a:xfrm>
          <a:prstGeom prst="rect">
            <a:avLst/>
          </a:prstGeom>
        </p:spPr>
        <p:txBody>
          <a:bodyPr vert="horz" wrap="square" lIns="0" tIns="13970" rIns="0" bIns="0" rtlCol="0">
            <a:spAutoFit/>
          </a:bodyPr>
          <a:lstStyle/>
          <a:p>
            <a:pPr marL="12700">
              <a:lnSpc>
                <a:spcPct val="100000"/>
              </a:lnSpc>
              <a:spcBef>
                <a:spcPts val="110"/>
              </a:spcBef>
            </a:pPr>
            <a:r>
              <a:rPr sz="950" dirty="0">
                <a:solidFill>
                  <a:srgbClr val="231F20"/>
                </a:solidFill>
                <a:latin typeface="Arial"/>
                <a:cs typeface="Arial"/>
              </a:rPr>
              <a:t>{</a:t>
            </a:r>
            <a:r>
              <a:rPr sz="950" spc="-105" dirty="0">
                <a:solidFill>
                  <a:srgbClr val="231F20"/>
                </a:solidFill>
                <a:latin typeface="Arial"/>
                <a:cs typeface="Arial"/>
              </a:rPr>
              <a:t>T</a:t>
            </a:r>
            <a:r>
              <a:rPr sz="950" dirty="0">
                <a:solidFill>
                  <a:srgbClr val="231F20"/>
                </a:solidFill>
                <a:latin typeface="Arial"/>
                <a:cs typeface="Arial"/>
              </a:rPr>
              <a:t>,F}</a:t>
            </a:r>
            <a:endParaRPr sz="950">
              <a:latin typeface="Arial"/>
              <a:cs typeface="Arial"/>
            </a:endParaRPr>
          </a:p>
        </p:txBody>
      </p:sp>
      <p:pic>
        <p:nvPicPr>
          <p:cNvPr id="26" name="object 26"/>
          <p:cNvPicPr/>
          <p:nvPr/>
        </p:nvPicPr>
        <p:blipFill>
          <a:blip r:embed="rId11" cstate="print"/>
          <a:stretch>
            <a:fillRect/>
          </a:stretch>
        </p:blipFill>
        <p:spPr>
          <a:xfrm>
            <a:off x="2160082" y="858563"/>
            <a:ext cx="163398" cy="163394"/>
          </a:xfrm>
          <a:prstGeom prst="rect">
            <a:avLst/>
          </a:prstGeom>
        </p:spPr>
      </p:pic>
      <p:sp>
        <p:nvSpPr>
          <p:cNvPr id="27" name="object 27"/>
          <p:cNvSpPr txBox="1"/>
          <p:nvPr/>
        </p:nvSpPr>
        <p:spPr>
          <a:xfrm>
            <a:off x="2468009" y="821261"/>
            <a:ext cx="916305" cy="500380"/>
          </a:xfrm>
          <a:prstGeom prst="rect">
            <a:avLst/>
          </a:prstGeom>
        </p:spPr>
        <p:txBody>
          <a:bodyPr vert="horz" wrap="square" lIns="0" tIns="5080" rIns="0" bIns="0" rtlCol="0">
            <a:spAutoFit/>
          </a:bodyPr>
          <a:lstStyle/>
          <a:p>
            <a:pPr>
              <a:lnSpc>
                <a:spcPct val="100000"/>
              </a:lnSpc>
              <a:spcBef>
                <a:spcPts val="40"/>
              </a:spcBef>
            </a:pPr>
            <a:endParaRPr sz="450">
              <a:latin typeface="Times New Roman"/>
              <a:cs typeface="Times New Roman"/>
            </a:endParaRPr>
          </a:p>
          <a:p>
            <a:pPr marL="12700">
              <a:lnSpc>
                <a:spcPct val="100000"/>
              </a:lnSpc>
              <a:spcBef>
                <a:spcPts val="5"/>
              </a:spcBef>
            </a:pPr>
            <a:r>
              <a:rPr sz="650" spc="5" dirty="0">
                <a:solidFill>
                  <a:srgbClr val="231F20"/>
                </a:solidFill>
                <a:latin typeface="Arial"/>
                <a:cs typeface="Arial"/>
              </a:rPr>
              <a:t>Faulty</a:t>
            </a:r>
            <a:r>
              <a:rPr sz="650" spc="-40" dirty="0">
                <a:solidFill>
                  <a:srgbClr val="231F20"/>
                </a:solidFill>
                <a:latin typeface="Arial"/>
                <a:cs typeface="Arial"/>
              </a:rPr>
              <a:t> </a:t>
            </a:r>
            <a:r>
              <a:rPr sz="650" spc="5" dirty="0">
                <a:solidFill>
                  <a:srgbClr val="231F20"/>
                </a:solidFill>
                <a:latin typeface="Arial"/>
                <a:cs typeface="Arial"/>
              </a:rPr>
              <a:t>process</a:t>
            </a:r>
            <a:endParaRPr sz="650">
              <a:latin typeface="Arial"/>
              <a:cs typeface="Arial"/>
            </a:endParaRPr>
          </a:p>
          <a:p>
            <a:pPr marL="12700" marR="5080">
              <a:lnSpc>
                <a:spcPct val="159600"/>
              </a:lnSpc>
            </a:pPr>
            <a:r>
              <a:rPr sz="650" spc="5" dirty="0">
                <a:solidFill>
                  <a:srgbClr val="231F20"/>
                </a:solidFill>
                <a:latin typeface="Arial"/>
                <a:cs typeface="Arial"/>
              </a:rPr>
              <a:t>First message round </a:t>
            </a:r>
            <a:r>
              <a:rPr sz="650" spc="10" dirty="0">
                <a:solidFill>
                  <a:srgbClr val="231F20"/>
                </a:solidFill>
                <a:latin typeface="Arial"/>
                <a:cs typeface="Arial"/>
              </a:rPr>
              <a:t> </a:t>
            </a:r>
            <a:r>
              <a:rPr sz="650" spc="5" dirty="0">
                <a:solidFill>
                  <a:srgbClr val="231F20"/>
                </a:solidFill>
                <a:latin typeface="Arial"/>
                <a:cs typeface="Arial"/>
              </a:rPr>
              <a:t>Second</a:t>
            </a:r>
            <a:r>
              <a:rPr sz="650" spc="-25" dirty="0">
                <a:solidFill>
                  <a:srgbClr val="231F20"/>
                </a:solidFill>
                <a:latin typeface="Arial"/>
                <a:cs typeface="Arial"/>
              </a:rPr>
              <a:t> </a:t>
            </a:r>
            <a:r>
              <a:rPr sz="650" spc="5" dirty="0">
                <a:solidFill>
                  <a:srgbClr val="231F20"/>
                </a:solidFill>
                <a:latin typeface="Arial"/>
                <a:cs typeface="Arial"/>
              </a:rPr>
              <a:t>message</a:t>
            </a:r>
            <a:r>
              <a:rPr sz="650" spc="-25" dirty="0">
                <a:solidFill>
                  <a:srgbClr val="231F20"/>
                </a:solidFill>
                <a:latin typeface="Arial"/>
                <a:cs typeface="Arial"/>
              </a:rPr>
              <a:t> </a:t>
            </a:r>
            <a:r>
              <a:rPr sz="650" spc="5" dirty="0">
                <a:solidFill>
                  <a:srgbClr val="231F20"/>
                </a:solidFill>
                <a:latin typeface="Arial"/>
                <a:cs typeface="Arial"/>
              </a:rPr>
              <a:t>round</a:t>
            </a:r>
            <a:endParaRPr sz="650">
              <a:latin typeface="Arial"/>
              <a:cs typeface="Arial"/>
            </a:endParaRPr>
          </a:p>
        </p:txBody>
      </p:sp>
      <p:grpSp>
        <p:nvGrpSpPr>
          <p:cNvPr id="28" name="object 28"/>
          <p:cNvGrpSpPr/>
          <p:nvPr/>
        </p:nvGrpSpPr>
        <p:grpSpPr>
          <a:xfrm>
            <a:off x="2083655" y="1066509"/>
            <a:ext cx="316865" cy="64135"/>
            <a:chOff x="2083655" y="1066509"/>
            <a:chExt cx="316865" cy="64135"/>
          </a:xfrm>
        </p:grpSpPr>
        <p:sp>
          <p:nvSpPr>
            <p:cNvPr id="29" name="object 29"/>
            <p:cNvSpPr/>
            <p:nvPr/>
          </p:nvSpPr>
          <p:spPr>
            <a:xfrm>
              <a:off x="2083655" y="1098384"/>
              <a:ext cx="279400" cy="0"/>
            </a:xfrm>
            <a:custGeom>
              <a:avLst/>
              <a:gdLst/>
              <a:ahLst/>
              <a:cxnLst/>
              <a:rect l="l" t="t" r="r" b="b"/>
              <a:pathLst>
                <a:path w="279400">
                  <a:moveTo>
                    <a:pt x="0" y="0"/>
                  </a:moveTo>
                  <a:lnTo>
                    <a:pt x="278871" y="0"/>
                  </a:lnTo>
                </a:path>
              </a:pathLst>
            </a:custGeom>
            <a:ln w="5270">
              <a:solidFill>
                <a:srgbClr val="231F20"/>
              </a:solidFill>
              <a:prstDash val="lgDash"/>
            </a:ln>
          </p:spPr>
          <p:txBody>
            <a:bodyPr wrap="square" lIns="0" tIns="0" rIns="0" bIns="0" rtlCol="0"/>
            <a:lstStyle/>
            <a:p>
              <a:endParaRPr/>
            </a:p>
          </p:txBody>
        </p:sp>
        <p:pic>
          <p:nvPicPr>
            <p:cNvPr id="30" name="object 30"/>
            <p:cNvPicPr/>
            <p:nvPr/>
          </p:nvPicPr>
          <p:blipFill>
            <a:blip r:embed="rId12" cstate="print"/>
            <a:stretch>
              <a:fillRect/>
            </a:stretch>
          </p:blipFill>
          <p:spPr>
            <a:xfrm>
              <a:off x="2325530" y="1066509"/>
              <a:ext cx="74376" cy="63753"/>
            </a:xfrm>
            <a:prstGeom prst="rect">
              <a:avLst/>
            </a:prstGeom>
          </p:spPr>
        </p:pic>
      </p:grpSp>
      <p:grpSp>
        <p:nvGrpSpPr>
          <p:cNvPr id="31" name="object 31"/>
          <p:cNvGrpSpPr/>
          <p:nvPr/>
        </p:nvGrpSpPr>
        <p:grpSpPr>
          <a:xfrm>
            <a:off x="2083655" y="1224629"/>
            <a:ext cx="316865" cy="64135"/>
            <a:chOff x="2083655" y="1224629"/>
            <a:chExt cx="316865" cy="64135"/>
          </a:xfrm>
        </p:grpSpPr>
        <p:sp>
          <p:nvSpPr>
            <p:cNvPr id="32" name="object 32"/>
            <p:cNvSpPr/>
            <p:nvPr/>
          </p:nvSpPr>
          <p:spPr>
            <a:xfrm>
              <a:off x="2083655" y="1256503"/>
              <a:ext cx="279400" cy="0"/>
            </a:xfrm>
            <a:custGeom>
              <a:avLst/>
              <a:gdLst/>
              <a:ahLst/>
              <a:cxnLst/>
              <a:rect l="l" t="t" r="r" b="b"/>
              <a:pathLst>
                <a:path w="279400">
                  <a:moveTo>
                    <a:pt x="0" y="0"/>
                  </a:moveTo>
                  <a:lnTo>
                    <a:pt x="278871" y="0"/>
                  </a:lnTo>
                </a:path>
              </a:pathLst>
            </a:custGeom>
            <a:ln w="5270">
              <a:solidFill>
                <a:srgbClr val="231F20"/>
              </a:solidFill>
            </a:ln>
          </p:spPr>
          <p:txBody>
            <a:bodyPr wrap="square" lIns="0" tIns="0" rIns="0" bIns="0" rtlCol="0"/>
            <a:lstStyle/>
            <a:p>
              <a:endParaRPr/>
            </a:p>
          </p:txBody>
        </p:sp>
        <p:pic>
          <p:nvPicPr>
            <p:cNvPr id="33" name="object 33"/>
            <p:cNvPicPr/>
            <p:nvPr/>
          </p:nvPicPr>
          <p:blipFill>
            <a:blip r:embed="rId12" cstate="print"/>
            <a:stretch>
              <a:fillRect/>
            </a:stretch>
          </p:blipFill>
          <p:spPr>
            <a:xfrm>
              <a:off x="2325530" y="1224629"/>
              <a:ext cx="74376" cy="63752"/>
            </a:xfrm>
            <a:prstGeom prst="rect">
              <a:avLst/>
            </a:prstGeom>
          </p:spPr>
        </p:pic>
      </p:grpSp>
      <p:grpSp>
        <p:nvGrpSpPr>
          <p:cNvPr id="34" name="object 34"/>
          <p:cNvGrpSpPr/>
          <p:nvPr/>
        </p:nvGrpSpPr>
        <p:grpSpPr>
          <a:xfrm>
            <a:off x="2922565" y="1333664"/>
            <a:ext cx="1456055" cy="1303655"/>
            <a:chOff x="2922565" y="1333664"/>
            <a:chExt cx="1456055" cy="1303655"/>
          </a:xfrm>
        </p:grpSpPr>
        <p:sp>
          <p:nvSpPr>
            <p:cNvPr id="35" name="object 35"/>
            <p:cNvSpPr/>
            <p:nvPr/>
          </p:nvSpPr>
          <p:spPr>
            <a:xfrm>
              <a:off x="3114100" y="1527986"/>
              <a:ext cx="460375" cy="828040"/>
            </a:xfrm>
            <a:custGeom>
              <a:avLst/>
              <a:gdLst/>
              <a:ahLst/>
              <a:cxnLst/>
              <a:rect l="l" t="t" r="r" b="b"/>
              <a:pathLst>
                <a:path w="460375" h="828039">
                  <a:moveTo>
                    <a:pt x="460016" y="0"/>
                  </a:moveTo>
                  <a:lnTo>
                    <a:pt x="0" y="827716"/>
                  </a:lnTo>
                </a:path>
              </a:pathLst>
            </a:custGeom>
            <a:ln w="7620">
              <a:solidFill>
                <a:srgbClr val="231F20"/>
              </a:solidFill>
              <a:prstDash val="lgDash"/>
            </a:ln>
          </p:spPr>
          <p:txBody>
            <a:bodyPr wrap="square" lIns="0" tIns="0" rIns="0" bIns="0" rtlCol="0"/>
            <a:lstStyle/>
            <a:p>
              <a:endParaRPr/>
            </a:p>
          </p:txBody>
        </p:sp>
        <p:pic>
          <p:nvPicPr>
            <p:cNvPr id="36" name="object 36"/>
            <p:cNvPicPr/>
            <p:nvPr/>
          </p:nvPicPr>
          <p:blipFill>
            <a:blip r:embed="rId6" cstate="print"/>
            <a:stretch>
              <a:fillRect/>
            </a:stretch>
          </p:blipFill>
          <p:spPr>
            <a:xfrm>
              <a:off x="3087848" y="2286557"/>
              <a:ext cx="92523" cy="116383"/>
            </a:xfrm>
            <a:prstGeom prst="rect">
              <a:avLst/>
            </a:prstGeom>
          </p:spPr>
        </p:pic>
        <p:sp>
          <p:nvSpPr>
            <p:cNvPr id="37" name="object 37"/>
            <p:cNvSpPr/>
            <p:nvPr/>
          </p:nvSpPr>
          <p:spPr>
            <a:xfrm>
              <a:off x="3726522" y="1527986"/>
              <a:ext cx="460375" cy="828040"/>
            </a:xfrm>
            <a:custGeom>
              <a:avLst/>
              <a:gdLst/>
              <a:ahLst/>
              <a:cxnLst/>
              <a:rect l="l" t="t" r="r" b="b"/>
              <a:pathLst>
                <a:path w="460375" h="828039">
                  <a:moveTo>
                    <a:pt x="0" y="0"/>
                  </a:moveTo>
                  <a:lnTo>
                    <a:pt x="460016" y="827716"/>
                  </a:lnTo>
                </a:path>
              </a:pathLst>
            </a:custGeom>
            <a:ln w="7620">
              <a:solidFill>
                <a:srgbClr val="231F20"/>
              </a:solidFill>
              <a:prstDash val="lgDash"/>
            </a:ln>
          </p:spPr>
          <p:txBody>
            <a:bodyPr wrap="square" lIns="0" tIns="0" rIns="0" bIns="0" rtlCol="0"/>
            <a:lstStyle/>
            <a:p>
              <a:endParaRPr/>
            </a:p>
          </p:txBody>
        </p:sp>
        <p:sp>
          <p:nvSpPr>
            <p:cNvPr id="38" name="object 38"/>
            <p:cNvSpPr/>
            <p:nvPr/>
          </p:nvSpPr>
          <p:spPr>
            <a:xfrm>
              <a:off x="4120274" y="2286557"/>
              <a:ext cx="92710" cy="116839"/>
            </a:xfrm>
            <a:custGeom>
              <a:avLst/>
              <a:gdLst/>
              <a:ahLst/>
              <a:cxnLst/>
              <a:rect l="l" t="t" r="r" b="b"/>
              <a:pathLst>
                <a:path w="92710" h="116839">
                  <a:moveTo>
                    <a:pt x="80563" y="0"/>
                  </a:moveTo>
                  <a:lnTo>
                    <a:pt x="64621" y="18747"/>
                  </a:lnTo>
                  <a:lnTo>
                    <a:pt x="45878" y="32459"/>
                  </a:lnTo>
                  <a:lnTo>
                    <a:pt x="24337" y="41136"/>
                  </a:lnTo>
                  <a:lnTo>
                    <a:pt x="0" y="44778"/>
                  </a:lnTo>
                  <a:lnTo>
                    <a:pt x="92517" y="116383"/>
                  </a:lnTo>
                  <a:lnTo>
                    <a:pt x="80563" y="0"/>
                  </a:lnTo>
                  <a:close/>
                </a:path>
              </a:pathLst>
            </a:custGeom>
            <a:solidFill>
              <a:srgbClr val="231F20"/>
            </a:solidFill>
          </p:spPr>
          <p:txBody>
            <a:bodyPr wrap="square" lIns="0" tIns="0" rIns="0" bIns="0" rtlCol="0"/>
            <a:lstStyle/>
            <a:p>
              <a:endParaRPr/>
            </a:p>
          </p:txBody>
        </p:sp>
        <p:pic>
          <p:nvPicPr>
            <p:cNvPr id="39" name="object 39"/>
            <p:cNvPicPr/>
            <p:nvPr/>
          </p:nvPicPr>
          <p:blipFill>
            <a:blip r:embed="rId8" cstate="print"/>
            <a:stretch>
              <a:fillRect/>
            </a:stretch>
          </p:blipFill>
          <p:spPr>
            <a:xfrm>
              <a:off x="3532200" y="1333664"/>
              <a:ext cx="236238" cy="236232"/>
            </a:xfrm>
            <a:prstGeom prst="rect">
              <a:avLst/>
            </a:prstGeom>
          </p:spPr>
        </p:pic>
        <p:pic>
          <p:nvPicPr>
            <p:cNvPr id="40" name="object 40"/>
            <p:cNvPicPr/>
            <p:nvPr/>
          </p:nvPicPr>
          <p:blipFill>
            <a:blip r:embed="rId7" cstate="print"/>
            <a:stretch>
              <a:fillRect/>
            </a:stretch>
          </p:blipFill>
          <p:spPr>
            <a:xfrm>
              <a:off x="2922565" y="2400530"/>
              <a:ext cx="236233" cy="236237"/>
            </a:xfrm>
            <a:prstGeom prst="rect">
              <a:avLst/>
            </a:prstGeom>
          </p:spPr>
        </p:pic>
        <p:sp>
          <p:nvSpPr>
            <p:cNvPr id="41" name="object 41"/>
            <p:cNvSpPr/>
            <p:nvPr/>
          </p:nvSpPr>
          <p:spPr>
            <a:xfrm>
              <a:off x="4145653" y="2404340"/>
              <a:ext cx="229235" cy="229235"/>
            </a:xfrm>
            <a:custGeom>
              <a:avLst/>
              <a:gdLst/>
              <a:ahLst/>
              <a:cxnLst/>
              <a:rect l="l" t="t" r="r" b="b"/>
              <a:pathLst>
                <a:path w="229235" h="229235">
                  <a:moveTo>
                    <a:pt x="114304" y="0"/>
                  </a:moveTo>
                  <a:lnTo>
                    <a:pt x="158794" y="8984"/>
                  </a:lnTo>
                  <a:lnTo>
                    <a:pt x="195128" y="33485"/>
                  </a:lnTo>
                  <a:lnTo>
                    <a:pt x="219626" y="69821"/>
                  </a:lnTo>
                  <a:lnTo>
                    <a:pt x="228610" y="114312"/>
                  </a:lnTo>
                  <a:lnTo>
                    <a:pt x="219626" y="158798"/>
                  </a:lnTo>
                  <a:lnTo>
                    <a:pt x="195128" y="195132"/>
                  </a:lnTo>
                  <a:lnTo>
                    <a:pt x="158794" y="219632"/>
                  </a:lnTo>
                  <a:lnTo>
                    <a:pt x="114304" y="228616"/>
                  </a:lnTo>
                  <a:lnTo>
                    <a:pt x="69815" y="219632"/>
                  </a:lnTo>
                  <a:lnTo>
                    <a:pt x="33481" y="195132"/>
                  </a:lnTo>
                  <a:lnTo>
                    <a:pt x="8983" y="158798"/>
                  </a:lnTo>
                  <a:lnTo>
                    <a:pt x="0" y="114312"/>
                  </a:lnTo>
                  <a:lnTo>
                    <a:pt x="8983" y="69821"/>
                  </a:lnTo>
                  <a:lnTo>
                    <a:pt x="33481" y="33485"/>
                  </a:lnTo>
                  <a:lnTo>
                    <a:pt x="69815" y="8984"/>
                  </a:lnTo>
                  <a:lnTo>
                    <a:pt x="114304" y="0"/>
                  </a:lnTo>
                  <a:close/>
                </a:path>
              </a:pathLst>
            </a:custGeom>
            <a:ln w="7620">
              <a:solidFill>
                <a:srgbClr val="231F20"/>
              </a:solidFill>
            </a:ln>
          </p:spPr>
          <p:txBody>
            <a:bodyPr wrap="square" lIns="0" tIns="0" rIns="0" bIns="0" rtlCol="0"/>
            <a:lstStyle/>
            <a:p>
              <a:endParaRPr/>
            </a:p>
          </p:txBody>
        </p:sp>
      </p:grpSp>
      <p:sp>
        <p:nvSpPr>
          <p:cNvPr id="42" name="object 42"/>
          <p:cNvSpPr txBox="1"/>
          <p:nvPr/>
        </p:nvSpPr>
        <p:spPr>
          <a:xfrm>
            <a:off x="3599612" y="1360800"/>
            <a:ext cx="107314"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a:t>
            </a:r>
            <a:endParaRPr sz="950">
              <a:latin typeface="Arial"/>
              <a:cs typeface="Arial"/>
            </a:endParaRPr>
          </a:p>
        </p:txBody>
      </p:sp>
      <p:grpSp>
        <p:nvGrpSpPr>
          <p:cNvPr id="43" name="object 43"/>
          <p:cNvGrpSpPr/>
          <p:nvPr/>
        </p:nvGrpSpPr>
        <p:grpSpPr>
          <a:xfrm>
            <a:off x="3148189" y="2371937"/>
            <a:ext cx="1007744" cy="307975"/>
            <a:chOff x="3148189" y="2371937"/>
            <a:chExt cx="1007744" cy="307975"/>
          </a:xfrm>
        </p:grpSpPr>
        <p:sp>
          <p:nvSpPr>
            <p:cNvPr id="44" name="object 44"/>
            <p:cNvSpPr/>
            <p:nvPr/>
          </p:nvSpPr>
          <p:spPr>
            <a:xfrm>
              <a:off x="3151999" y="2375748"/>
              <a:ext cx="953135" cy="103505"/>
            </a:xfrm>
            <a:custGeom>
              <a:avLst/>
              <a:gdLst/>
              <a:ahLst/>
              <a:cxnLst/>
              <a:rect l="l" t="t" r="r" b="b"/>
              <a:pathLst>
                <a:path w="953135" h="103505">
                  <a:moveTo>
                    <a:pt x="0" y="103493"/>
                  </a:moveTo>
                  <a:lnTo>
                    <a:pt x="82785" y="75061"/>
                  </a:lnTo>
                  <a:lnTo>
                    <a:pt x="162009" y="51809"/>
                  </a:lnTo>
                  <a:lnTo>
                    <a:pt x="237644" y="33360"/>
                  </a:lnTo>
                  <a:lnTo>
                    <a:pt x="309662" y="19339"/>
                  </a:lnTo>
                  <a:lnTo>
                    <a:pt x="378033" y="9368"/>
                  </a:lnTo>
                  <a:lnTo>
                    <a:pt x="442730" y="3073"/>
                  </a:lnTo>
                  <a:lnTo>
                    <a:pt x="503723" y="75"/>
                  </a:lnTo>
                  <a:lnTo>
                    <a:pt x="560986" y="0"/>
                  </a:lnTo>
                  <a:lnTo>
                    <a:pt x="614488" y="2470"/>
                  </a:lnTo>
                  <a:lnTo>
                    <a:pt x="664202" y="7109"/>
                  </a:lnTo>
                  <a:lnTo>
                    <a:pt x="710100" y="13541"/>
                  </a:lnTo>
                  <a:lnTo>
                    <a:pt x="752153" y="21391"/>
                  </a:lnTo>
                  <a:lnTo>
                    <a:pt x="790332" y="30280"/>
                  </a:lnTo>
                  <a:lnTo>
                    <a:pt x="854956" y="49675"/>
                  </a:lnTo>
                  <a:lnTo>
                    <a:pt x="903745" y="68715"/>
                  </a:lnTo>
                  <a:lnTo>
                    <a:pt x="946741" y="90025"/>
                  </a:lnTo>
                  <a:lnTo>
                    <a:pt x="952909" y="93689"/>
                  </a:lnTo>
                </a:path>
              </a:pathLst>
            </a:custGeom>
            <a:ln w="7620">
              <a:solidFill>
                <a:srgbClr val="231F20"/>
              </a:solidFill>
            </a:ln>
          </p:spPr>
          <p:txBody>
            <a:bodyPr wrap="square" lIns="0" tIns="0" rIns="0" bIns="0" rtlCol="0"/>
            <a:lstStyle/>
            <a:p>
              <a:endParaRPr/>
            </a:p>
          </p:txBody>
        </p:sp>
        <p:pic>
          <p:nvPicPr>
            <p:cNvPr id="45" name="object 45"/>
            <p:cNvPicPr/>
            <p:nvPr/>
          </p:nvPicPr>
          <p:blipFill>
            <a:blip r:embed="rId13" cstate="print"/>
            <a:stretch>
              <a:fillRect/>
            </a:stretch>
          </p:blipFill>
          <p:spPr>
            <a:xfrm>
              <a:off x="4035151" y="2402054"/>
              <a:ext cx="115656" cy="95909"/>
            </a:xfrm>
            <a:prstGeom prst="rect">
              <a:avLst/>
            </a:prstGeom>
          </p:spPr>
        </p:pic>
        <p:sp>
          <p:nvSpPr>
            <p:cNvPr id="46" name="object 46"/>
            <p:cNvSpPr/>
            <p:nvPr/>
          </p:nvSpPr>
          <p:spPr>
            <a:xfrm>
              <a:off x="3197319" y="2567568"/>
              <a:ext cx="955040" cy="108585"/>
            </a:xfrm>
            <a:custGeom>
              <a:avLst/>
              <a:gdLst/>
              <a:ahLst/>
              <a:cxnLst/>
              <a:rect l="l" t="t" r="r" b="b"/>
              <a:pathLst>
                <a:path w="955039" h="108585">
                  <a:moveTo>
                    <a:pt x="954517" y="6900"/>
                  </a:moveTo>
                  <a:lnTo>
                    <a:pt x="871871" y="35287"/>
                  </a:lnTo>
                  <a:lnTo>
                    <a:pt x="793034" y="58406"/>
                  </a:lnTo>
                  <a:lnTo>
                    <a:pt x="717994" y="76636"/>
                  </a:lnTo>
                  <a:lnTo>
                    <a:pt x="646735" y="90354"/>
                  </a:lnTo>
                  <a:lnTo>
                    <a:pt x="579244" y="99938"/>
                  </a:lnTo>
                  <a:lnTo>
                    <a:pt x="515505" y="105769"/>
                  </a:lnTo>
                  <a:lnTo>
                    <a:pt x="455505" y="108223"/>
                  </a:lnTo>
                  <a:lnTo>
                    <a:pt x="399229" y="107679"/>
                  </a:lnTo>
                  <a:lnTo>
                    <a:pt x="346663" y="104517"/>
                  </a:lnTo>
                  <a:lnTo>
                    <a:pt x="297792" y="99113"/>
                  </a:lnTo>
                  <a:lnTo>
                    <a:pt x="252602" y="91847"/>
                  </a:lnTo>
                  <a:lnTo>
                    <a:pt x="211079" y="83096"/>
                  </a:lnTo>
                  <a:lnTo>
                    <a:pt x="173208" y="73240"/>
                  </a:lnTo>
                  <a:lnTo>
                    <a:pt x="108365" y="51725"/>
                  </a:lnTo>
                  <a:lnTo>
                    <a:pt x="57960" y="30328"/>
                  </a:lnTo>
                  <a:lnTo>
                    <a:pt x="21876" y="12077"/>
                  </a:lnTo>
                  <a:lnTo>
                    <a:pt x="9169" y="5078"/>
                  </a:lnTo>
                  <a:lnTo>
                    <a:pt x="0" y="0"/>
                  </a:lnTo>
                </a:path>
              </a:pathLst>
            </a:custGeom>
            <a:ln w="7620">
              <a:solidFill>
                <a:srgbClr val="231F20"/>
              </a:solidFill>
            </a:ln>
          </p:spPr>
          <p:txBody>
            <a:bodyPr wrap="square" lIns="0" tIns="0" rIns="0" bIns="0" rtlCol="0"/>
            <a:lstStyle/>
            <a:p>
              <a:endParaRPr/>
            </a:p>
          </p:txBody>
        </p:sp>
        <p:pic>
          <p:nvPicPr>
            <p:cNvPr id="47" name="object 47"/>
            <p:cNvPicPr/>
            <p:nvPr/>
          </p:nvPicPr>
          <p:blipFill>
            <a:blip r:embed="rId10" cstate="print"/>
            <a:stretch>
              <a:fillRect/>
            </a:stretch>
          </p:blipFill>
          <p:spPr>
            <a:xfrm>
              <a:off x="3149748" y="2541934"/>
              <a:ext cx="116526" cy="91583"/>
            </a:xfrm>
            <a:prstGeom prst="rect">
              <a:avLst/>
            </a:prstGeom>
          </p:spPr>
        </p:pic>
      </p:grpSp>
      <p:sp>
        <p:nvSpPr>
          <p:cNvPr id="48" name="object 48"/>
          <p:cNvSpPr txBox="1"/>
          <p:nvPr/>
        </p:nvSpPr>
        <p:spPr>
          <a:xfrm>
            <a:off x="4175904" y="2427850"/>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B2</a:t>
            </a:r>
            <a:endParaRPr sz="950">
              <a:latin typeface="Arial"/>
              <a:cs typeface="Arial"/>
            </a:endParaRPr>
          </a:p>
        </p:txBody>
      </p:sp>
      <p:sp>
        <p:nvSpPr>
          <p:cNvPr id="49" name="object 49"/>
          <p:cNvSpPr txBox="1"/>
          <p:nvPr/>
        </p:nvSpPr>
        <p:spPr>
          <a:xfrm>
            <a:off x="2964615" y="2427850"/>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B1</a:t>
            </a:r>
            <a:endParaRPr sz="950">
              <a:latin typeface="Arial"/>
              <a:cs typeface="Arial"/>
            </a:endParaRPr>
          </a:p>
        </p:txBody>
      </p:sp>
      <p:sp>
        <p:nvSpPr>
          <p:cNvPr id="50" name="object 50"/>
          <p:cNvSpPr txBox="1"/>
          <p:nvPr/>
        </p:nvSpPr>
        <p:spPr>
          <a:xfrm>
            <a:off x="3256598" y="1709259"/>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T</a:t>
            </a:r>
            <a:endParaRPr sz="950">
              <a:latin typeface="Arial"/>
              <a:cs typeface="Arial"/>
            </a:endParaRPr>
          </a:p>
        </p:txBody>
      </p:sp>
      <p:sp>
        <p:nvSpPr>
          <p:cNvPr id="51" name="object 51"/>
          <p:cNvSpPr txBox="1"/>
          <p:nvPr/>
        </p:nvSpPr>
        <p:spPr>
          <a:xfrm>
            <a:off x="3949763" y="1709259"/>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T</a:t>
            </a:r>
            <a:endParaRPr sz="950">
              <a:latin typeface="Arial"/>
              <a:cs typeface="Arial"/>
            </a:endParaRPr>
          </a:p>
        </p:txBody>
      </p:sp>
      <p:sp>
        <p:nvSpPr>
          <p:cNvPr id="52" name="object 52"/>
          <p:cNvSpPr txBox="1"/>
          <p:nvPr/>
        </p:nvSpPr>
        <p:spPr>
          <a:xfrm>
            <a:off x="3637622" y="2155417"/>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F</a:t>
            </a:r>
            <a:endParaRPr sz="950">
              <a:latin typeface="Arial"/>
              <a:cs typeface="Arial"/>
            </a:endParaRPr>
          </a:p>
        </p:txBody>
      </p:sp>
      <p:sp>
        <p:nvSpPr>
          <p:cNvPr id="53" name="object 53"/>
          <p:cNvSpPr txBox="1"/>
          <p:nvPr/>
        </p:nvSpPr>
        <p:spPr>
          <a:xfrm>
            <a:off x="3637622" y="2688852"/>
            <a:ext cx="10033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T</a:t>
            </a:r>
            <a:endParaRPr sz="950">
              <a:latin typeface="Arial"/>
              <a:cs typeface="Arial"/>
            </a:endParaRPr>
          </a:p>
        </p:txBody>
      </p:sp>
      <p:sp>
        <p:nvSpPr>
          <p:cNvPr id="54" name="object 54"/>
          <p:cNvSpPr txBox="1"/>
          <p:nvPr/>
        </p:nvSpPr>
        <p:spPr>
          <a:xfrm>
            <a:off x="4428429" y="2415580"/>
            <a:ext cx="161290" cy="172085"/>
          </a:xfrm>
          <a:prstGeom prst="rect">
            <a:avLst/>
          </a:prstGeom>
        </p:spPr>
        <p:txBody>
          <a:bodyPr vert="horz" wrap="square" lIns="0" tIns="13970" rIns="0" bIns="0" rtlCol="0">
            <a:spAutoFit/>
          </a:bodyPr>
          <a:lstStyle/>
          <a:p>
            <a:pPr marL="12700">
              <a:lnSpc>
                <a:spcPct val="100000"/>
              </a:lnSpc>
              <a:spcBef>
                <a:spcPts val="110"/>
              </a:spcBef>
            </a:pPr>
            <a:r>
              <a:rPr sz="950" dirty="0">
                <a:solidFill>
                  <a:srgbClr val="231F20"/>
                </a:solidFill>
                <a:latin typeface="Arial"/>
                <a:cs typeface="Arial"/>
              </a:rPr>
              <a:t>{</a:t>
            </a:r>
            <a:r>
              <a:rPr sz="950" spc="-105" dirty="0">
                <a:solidFill>
                  <a:srgbClr val="231F20"/>
                </a:solidFill>
                <a:latin typeface="Arial"/>
                <a:cs typeface="Arial"/>
              </a:rPr>
              <a:t>T</a:t>
            </a:r>
            <a:r>
              <a:rPr sz="950" dirty="0">
                <a:solidFill>
                  <a:srgbClr val="231F20"/>
                </a:solidFill>
                <a:latin typeface="Arial"/>
                <a:cs typeface="Arial"/>
              </a:rPr>
              <a:t>,</a:t>
            </a:r>
            <a:endParaRPr sz="950" dirty="0">
              <a:latin typeface="Arial"/>
              <a:cs typeface="Arial"/>
            </a:endParaRPr>
          </a:p>
        </p:txBody>
      </p:sp>
      <p:sp>
        <p:nvSpPr>
          <p:cNvPr id="55" name="object 55"/>
          <p:cNvSpPr txBox="1"/>
          <p:nvPr/>
        </p:nvSpPr>
        <p:spPr>
          <a:xfrm>
            <a:off x="66713" y="3327684"/>
            <a:ext cx="136779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14" action="ppaction://hlinksldjump"/>
              </a:rPr>
              <a:t>Why </a:t>
            </a:r>
            <a:r>
              <a:rPr sz="600" spc="-5" dirty="0">
                <a:solidFill>
                  <a:srgbClr val="3333B2"/>
                </a:solidFill>
                <a:latin typeface="Arial"/>
                <a:cs typeface="Arial"/>
                <a:hlinkClick r:id="rId14" action="ppaction://hlinksldjump"/>
              </a:rPr>
              <a:t>having </a:t>
            </a:r>
            <a:r>
              <a:rPr sz="600" b="1" spc="-5" dirty="0">
                <a:solidFill>
                  <a:srgbClr val="3333B2"/>
                </a:solidFill>
                <a:latin typeface="Arial"/>
                <a:cs typeface="Arial"/>
                <a:hlinkClick r:id="rId14" action="ppaction://hlinksldjump"/>
              </a:rPr>
              <a:t>3k </a:t>
            </a:r>
            <a:r>
              <a:rPr sz="600" spc="-5" dirty="0">
                <a:solidFill>
                  <a:srgbClr val="3333B2"/>
                </a:solidFill>
                <a:latin typeface="Arial"/>
                <a:cs typeface="Arial"/>
                <a:hlinkClick r:id="rId14" action="ppaction://hlinksldjump"/>
              </a:rPr>
              <a:t>processes is not enough</a:t>
            </a:r>
            <a:endParaRPr sz="600">
              <a:latin typeface="Arial"/>
              <a:cs typeface="Arial"/>
            </a:endParaRPr>
          </a:p>
        </p:txBody>
      </p:sp>
      <p:sp>
        <p:nvSpPr>
          <p:cNvPr id="56" name="object 56"/>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781300"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Consensus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faulty</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with</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arbitrary</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failures</a:t>
            </a:r>
            <a:endParaRPr sz="600">
              <a:latin typeface="Arial"/>
              <a:cs typeface="Arial"/>
            </a:endParaRPr>
          </a:p>
        </p:txBody>
      </p:sp>
      <p:sp>
        <p:nvSpPr>
          <p:cNvPr id="3" name="object 3"/>
          <p:cNvSpPr txBox="1">
            <a:spLocks noGrp="1"/>
          </p:cNvSpPr>
          <p:nvPr>
            <p:ph type="title"/>
          </p:nvPr>
        </p:nvSpPr>
        <p:spPr>
          <a:xfrm>
            <a:off x="95300" y="188846"/>
            <a:ext cx="3234055" cy="244475"/>
          </a:xfrm>
          <a:prstGeom prst="rect">
            <a:avLst/>
          </a:prstGeom>
        </p:spPr>
        <p:txBody>
          <a:bodyPr vert="horz" wrap="square" lIns="0" tIns="17145" rIns="0" bIns="0" rtlCol="0">
            <a:spAutoFit/>
          </a:bodyPr>
          <a:lstStyle/>
          <a:p>
            <a:pPr marL="12700">
              <a:lnSpc>
                <a:spcPct val="100000"/>
              </a:lnSpc>
              <a:spcBef>
                <a:spcPts val="135"/>
              </a:spcBef>
            </a:pPr>
            <a:r>
              <a:rPr spc="30" dirty="0"/>
              <a:t>W</a:t>
            </a:r>
            <a:r>
              <a:rPr spc="-30" dirty="0"/>
              <a:t>h</a:t>
            </a:r>
            <a:r>
              <a:rPr spc="15" dirty="0"/>
              <a:t>y</a:t>
            </a:r>
            <a:r>
              <a:rPr spc="5" dirty="0"/>
              <a:t> </a:t>
            </a:r>
            <a:r>
              <a:rPr spc="15" dirty="0"/>
              <a:t>h</a:t>
            </a:r>
            <a:r>
              <a:rPr spc="-15" dirty="0"/>
              <a:t>a</a:t>
            </a:r>
            <a:r>
              <a:rPr spc="15" dirty="0"/>
              <a:t>ving</a:t>
            </a:r>
            <a:r>
              <a:rPr spc="5" dirty="0"/>
              <a:t> </a:t>
            </a:r>
            <a:r>
              <a:rPr b="1" spc="15" dirty="0">
                <a:latin typeface="Arial"/>
                <a:cs typeface="Arial"/>
              </a:rPr>
              <a:t>3k</a:t>
            </a:r>
            <a:r>
              <a:rPr b="1" spc="-190" dirty="0">
                <a:latin typeface="Arial"/>
                <a:cs typeface="Arial"/>
              </a:rPr>
              <a:t> </a:t>
            </a:r>
            <a:r>
              <a:rPr spc="270" dirty="0"/>
              <a:t>+</a:t>
            </a:r>
            <a:r>
              <a:rPr spc="-190" dirty="0"/>
              <a:t> </a:t>
            </a:r>
            <a:r>
              <a:rPr b="1" spc="15" dirty="0">
                <a:latin typeface="Arial"/>
                <a:cs typeface="Arial"/>
              </a:rPr>
              <a:t>1</a:t>
            </a:r>
            <a:r>
              <a:rPr b="1" spc="5" dirty="0">
                <a:latin typeface="Arial"/>
                <a:cs typeface="Arial"/>
              </a:rPr>
              <a:t> </a:t>
            </a:r>
            <a:r>
              <a:rPr spc="15" dirty="0"/>
              <a:t>processes</a:t>
            </a:r>
            <a:r>
              <a:rPr spc="5" dirty="0"/>
              <a:t> </a:t>
            </a:r>
            <a:r>
              <a:rPr spc="10" dirty="0"/>
              <a:t>is</a:t>
            </a:r>
            <a:r>
              <a:rPr spc="5" dirty="0"/>
              <a:t> </a:t>
            </a:r>
            <a:r>
              <a:rPr spc="15" dirty="0"/>
              <a:t>enough</a:t>
            </a:r>
          </a:p>
        </p:txBody>
      </p:sp>
      <p:grpSp>
        <p:nvGrpSpPr>
          <p:cNvPr id="4" name="object 4"/>
          <p:cNvGrpSpPr/>
          <p:nvPr/>
        </p:nvGrpSpPr>
        <p:grpSpPr>
          <a:xfrm>
            <a:off x="912367" y="824610"/>
            <a:ext cx="1456055" cy="1303655"/>
            <a:chOff x="912367" y="824610"/>
            <a:chExt cx="1456055" cy="1303655"/>
          </a:xfrm>
        </p:grpSpPr>
        <p:pic>
          <p:nvPicPr>
            <p:cNvPr id="5" name="object 5"/>
            <p:cNvPicPr/>
            <p:nvPr/>
          </p:nvPicPr>
          <p:blipFill>
            <a:blip r:embed="rId6" cstate="print"/>
            <a:stretch>
              <a:fillRect/>
            </a:stretch>
          </p:blipFill>
          <p:spPr>
            <a:xfrm>
              <a:off x="912367" y="1891475"/>
              <a:ext cx="236238" cy="236237"/>
            </a:xfrm>
            <a:prstGeom prst="rect">
              <a:avLst/>
            </a:prstGeom>
          </p:spPr>
        </p:pic>
        <p:pic>
          <p:nvPicPr>
            <p:cNvPr id="6" name="object 6"/>
            <p:cNvPicPr/>
            <p:nvPr/>
          </p:nvPicPr>
          <p:blipFill>
            <a:blip r:embed="rId7" cstate="print"/>
            <a:stretch>
              <a:fillRect/>
            </a:stretch>
          </p:blipFill>
          <p:spPr>
            <a:xfrm>
              <a:off x="2131638" y="1891475"/>
              <a:ext cx="236250" cy="236237"/>
            </a:xfrm>
            <a:prstGeom prst="rect">
              <a:avLst/>
            </a:prstGeom>
          </p:spPr>
        </p:pic>
        <p:pic>
          <p:nvPicPr>
            <p:cNvPr id="7" name="object 7"/>
            <p:cNvPicPr/>
            <p:nvPr/>
          </p:nvPicPr>
          <p:blipFill>
            <a:blip r:embed="rId7" cstate="print"/>
            <a:stretch>
              <a:fillRect/>
            </a:stretch>
          </p:blipFill>
          <p:spPr>
            <a:xfrm>
              <a:off x="1522008" y="824610"/>
              <a:ext cx="236232" cy="236232"/>
            </a:xfrm>
            <a:prstGeom prst="rect">
              <a:avLst/>
            </a:prstGeom>
          </p:spPr>
        </p:pic>
        <p:pic>
          <p:nvPicPr>
            <p:cNvPr id="8" name="object 8"/>
            <p:cNvPicPr/>
            <p:nvPr/>
          </p:nvPicPr>
          <p:blipFill>
            <a:blip r:embed="rId8" cstate="print"/>
            <a:stretch>
              <a:fillRect/>
            </a:stretch>
          </p:blipFill>
          <p:spPr>
            <a:xfrm>
              <a:off x="1522008" y="1514285"/>
              <a:ext cx="236232" cy="236232"/>
            </a:xfrm>
            <a:prstGeom prst="rect">
              <a:avLst/>
            </a:prstGeom>
          </p:spPr>
        </p:pic>
      </p:grpSp>
      <p:sp>
        <p:nvSpPr>
          <p:cNvPr id="9" name="object 9"/>
          <p:cNvSpPr txBox="1"/>
          <p:nvPr/>
        </p:nvSpPr>
        <p:spPr>
          <a:xfrm>
            <a:off x="1564053" y="855763"/>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B1</a:t>
            </a:r>
            <a:endParaRPr sz="950">
              <a:latin typeface="Arial"/>
              <a:cs typeface="Arial"/>
            </a:endParaRPr>
          </a:p>
        </p:txBody>
      </p:sp>
      <p:grpSp>
        <p:nvGrpSpPr>
          <p:cNvPr id="10" name="object 10"/>
          <p:cNvGrpSpPr/>
          <p:nvPr/>
        </p:nvGrpSpPr>
        <p:grpSpPr>
          <a:xfrm>
            <a:off x="1048943" y="1017681"/>
            <a:ext cx="1195705" cy="1075690"/>
            <a:chOff x="1048943" y="1017681"/>
            <a:chExt cx="1195705" cy="1075690"/>
          </a:xfrm>
        </p:grpSpPr>
        <p:sp>
          <p:nvSpPr>
            <p:cNvPr id="11" name="object 11"/>
            <p:cNvSpPr/>
            <p:nvPr/>
          </p:nvSpPr>
          <p:spPr>
            <a:xfrm>
              <a:off x="1141807" y="1937189"/>
              <a:ext cx="953135" cy="52705"/>
            </a:xfrm>
            <a:custGeom>
              <a:avLst/>
              <a:gdLst/>
              <a:ahLst/>
              <a:cxnLst/>
              <a:rect l="l" t="t" r="r" b="b"/>
              <a:pathLst>
                <a:path w="953135" h="52705">
                  <a:moveTo>
                    <a:pt x="0" y="52643"/>
                  </a:moveTo>
                  <a:lnTo>
                    <a:pt x="91292" y="36852"/>
                  </a:lnTo>
                  <a:lnTo>
                    <a:pt x="178232" y="24248"/>
                  </a:lnTo>
                  <a:lnTo>
                    <a:pt x="260779" y="14572"/>
                  </a:lnTo>
                  <a:lnTo>
                    <a:pt x="338895" y="7567"/>
                  </a:lnTo>
                  <a:lnTo>
                    <a:pt x="412543" y="2975"/>
                  </a:lnTo>
                  <a:lnTo>
                    <a:pt x="481684" y="539"/>
                  </a:lnTo>
                  <a:lnTo>
                    <a:pt x="546279" y="0"/>
                  </a:lnTo>
                  <a:lnTo>
                    <a:pt x="606290" y="1100"/>
                  </a:lnTo>
                  <a:lnTo>
                    <a:pt x="661679" y="3582"/>
                  </a:lnTo>
                  <a:lnTo>
                    <a:pt x="712407" y="7188"/>
                  </a:lnTo>
                  <a:lnTo>
                    <a:pt x="758437" y="11659"/>
                  </a:lnTo>
                  <a:lnTo>
                    <a:pt x="799729" y="16739"/>
                  </a:lnTo>
                  <a:lnTo>
                    <a:pt x="867947" y="27692"/>
                  </a:lnTo>
                  <a:lnTo>
                    <a:pt x="916756" y="37983"/>
                  </a:lnTo>
                  <a:lnTo>
                    <a:pt x="945848" y="45549"/>
                  </a:lnTo>
                  <a:lnTo>
                    <a:pt x="952905" y="47666"/>
                  </a:lnTo>
                </a:path>
              </a:pathLst>
            </a:custGeom>
            <a:ln w="7620">
              <a:solidFill>
                <a:srgbClr val="231F20"/>
              </a:solidFill>
            </a:ln>
          </p:spPr>
          <p:txBody>
            <a:bodyPr wrap="square" lIns="0" tIns="0" rIns="0" bIns="0" rtlCol="0"/>
            <a:lstStyle/>
            <a:p>
              <a:endParaRPr/>
            </a:p>
          </p:txBody>
        </p:sp>
        <p:pic>
          <p:nvPicPr>
            <p:cNvPr id="12" name="object 12"/>
            <p:cNvPicPr/>
            <p:nvPr/>
          </p:nvPicPr>
          <p:blipFill>
            <a:blip r:embed="rId9" cstate="print"/>
            <a:stretch>
              <a:fillRect/>
            </a:stretch>
          </p:blipFill>
          <p:spPr>
            <a:xfrm>
              <a:off x="2029835" y="1924813"/>
              <a:ext cx="116418" cy="87898"/>
            </a:xfrm>
            <a:prstGeom prst="rect">
              <a:avLst/>
            </a:prstGeom>
          </p:spPr>
        </p:pic>
        <p:sp>
          <p:nvSpPr>
            <p:cNvPr id="13" name="object 13"/>
            <p:cNvSpPr/>
            <p:nvPr/>
          </p:nvSpPr>
          <p:spPr>
            <a:xfrm>
              <a:off x="1187127" y="2034654"/>
              <a:ext cx="955040" cy="55244"/>
            </a:xfrm>
            <a:custGeom>
              <a:avLst/>
              <a:gdLst/>
              <a:ahLst/>
              <a:cxnLst/>
              <a:rect l="l" t="t" r="r" b="b"/>
              <a:pathLst>
                <a:path w="955039" h="55244">
                  <a:moveTo>
                    <a:pt x="954508" y="3494"/>
                  </a:moveTo>
                  <a:lnTo>
                    <a:pt x="863384" y="19257"/>
                  </a:lnTo>
                  <a:lnTo>
                    <a:pt x="776913" y="31779"/>
                  </a:lnTo>
                  <a:lnTo>
                    <a:pt x="695076" y="41319"/>
                  </a:lnTo>
                  <a:lnTo>
                    <a:pt x="617853" y="48137"/>
                  </a:lnTo>
                  <a:lnTo>
                    <a:pt x="545224" y="52491"/>
                  </a:lnTo>
                  <a:lnTo>
                    <a:pt x="477171" y="54642"/>
                  </a:lnTo>
                  <a:lnTo>
                    <a:pt x="413673" y="54847"/>
                  </a:lnTo>
                  <a:lnTo>
                    <a:pt x="354712" y="53367"/>
                  </a:lnTo>
                  <a:lnTo>
                    <a:pt x="300268" y="50461"/>
                  </a:lnTo>
                  <a:lnTo>
                    <a:pt x="250322" y="46388"/>
                  </a:lnTo>
                  <a:lnTo>
                    <a:pt x="204854" y="41407"/>
                  </a:lnTo>
                  <a:lnTo>
                    <a:pt x="163845" y="35778"/>
                  </a:lnTo>
                  <a:lnTo>
                    <a:pt x="95126" y="23612"/>
                  </a:lnTo>
                  <a:lnTo>
                    <a:pt x="44009" y="11963"/>
                  </a:lnTo>
                  <a:lnTo>
                    <a:pt x="10340" y="2907"/>
                  </a:lnTo>
                  <a:lnTo>
                    <a:pt x="0" y="0"/>
                  </a:lnTo>
                </a:path>
              </a:pathLst>
            </a:custGeom>
            <a:ln w="7620">
              <a:solidFill>
                <a:srgbClr val="231F20"/>
              </a:solidFill>
            </a:ln>
          </p:spPr>
          <p:txBody>
            <a:bodyPr wrap="square" lIns="0" tIns="0" rIns="0" bIns="0" rtlCol="0"/>
            <a:lstStyle/>
            <a:p>
              <a:endParaRPr/>
            </a:p>
          </p:txBody>
        </p:sp>
        <p:pic>
          <p:nvPicPr>
            <p:cNvPr id="14" name="object 14"/>
            <p:cNvPicPr/>
            <p:nvPr/>
          </p:nvPicPr>
          <p:blipFill>
            <a:blip r:embed="rId10" cstate="print"/>
            <a:stretch>
              <a:fillRect/>
            </a:stretch>
          </p:blipFill>
          <p:spPr>
            <a:xfrm>
              <a:off x="1135002" y="2004311"/>
              <a:ext cx="115883" cy="88903"/>
            </a:xfrm>
            <a:prstGeom prst="rect">
              <a:avLst/>
            </a:prstGeom>
          </p:spPr>
        </p:pic>
        <p:sp>
          <p:nvSpPr>
            <p:cNvPr id="15" name="object 15"/>
            <p:cNvSpPr/>
            <p:nvPr/>
          </p:nvSpPr>
          <p:spPr>
            <a:xfrm>
              <a:off x="1052753" y="1054888"/>
              <a:ext cx="457834" cy="836294"/>
            </a:xfrm>
            <a:custGeom>
              <a:avLst/>
              <a:gdLst/>
              <a:ahLst/>
              <a:cxnLst/>
              <a:rect l="l" t="t" r="r" b="b"/>
              <a:pathLst>
                <a:path w="457834" h="836294">
                  <a:moveTo>
                    <a:pt x="0" y="835968"/>
                  </a:moveTo>
                  <a:lnTo>
                    <a:pt x="30426" y="748458"/>
                  </a:lnTo>
                  <a:lnTo>
                    <a:pt x="61531" y="666300"/>
                  </a:lnTo>
                  <a:lnTo>
                    <a:pt x="93068" y="589403"/>
                  </a:lnTo>
                  <a:lnTo>
                    <a:pt x="124796" y="517676"/>
                  </a:lnTo>
                  <a:lnTo>
                    <a:pt x="156468" y="451027"/>
                  </a:lnTo>
                  <a:lnTo>
                    <a:pt x="187841" y="389366"/>
                  </a:lnTo>
                  <a:lnTo>
                    <a:pt x="218672" y="332600"/>
                  </a:lnTo>
                  <a:lnTo>
                    <a:pt x="248715" y="280638"/>
                  </a:lnTo>
                  <a:lnTo>
                    <a:pt x="277727" y="233388"/>
                  </a:lnTo>
                  <a:lnTo>
                    <a:pt x="305463" y="190761"/>
                  </a:lnTo>
                  <a:lnTo>
                    <a:pt x="331680" y="152663"/>
                  </a:lnTo>
                  <a:lnTo>
                    <a:pt x="356132" y="119004"/>
                  </a:lnTo>
                  <a:lnTo>
                    <a:pt x="398770" y="64637"/>
                  </a:lnTo>
                  <a:lnTo>
                    <a:pt x="431423" y="26928"/>
                  </a:lnTo>
                  <a:lnTo>
                    <a:pt x="452138" y="5146"/>
                  </a:lnTo>
                  <a:lnTo>
                    <a:pt x="457408" y="0"/>
                  </a:lnTo>
                </a:path>
              </a:pathLst>
            </a:custGeom>
            <a:ln w="7620">
              <a:solidFill>
                <a:srgbClr val="231F20"/>
              </a:solidFill>
            </a:ln>
          </p:spPr>
          <p:txBody>
            <a:bodyPr wrap="square" lIns="0" tIns="0" rIns="0" bIns="0" rtlCol="0"/>
            <a:lstStyle/>
            <a:p>
              <a:endParaRPr/>
            </a:p>
          </p:txBody>
        </p:sp>
        <p:pic>
          <p:nvPicPr>
            <p:cNvPr id="16" name="object 16"/>
            <p:cNvPicPr/>
            <p:nvPr/>
          </p:nvPicPr>
          <p:blipFill>
            <a:blip r:embed="rId11" cstate="print"/>
            <a:stretch>
              <a:fillRect/>
            </a:stretch>
          </p:blipFill>
          <p:spPr>
            <a:xfrm>
              <a:off x="1439634" y="1017681"/>
              <a:ext cx="109721" cy="107460"/>
            </a:xfrm>
            <a:prstGeom prst="rect">
              <a:avLst/>
            </a:prstGeom>
          </p:spPr>
        </p:pic>
        <p:sp>
          <p:nvSpPr>
            <p:cNvPr id="17" name="object 17"/>
            <p:cNvSpPr/>
            <p:nvPr/>
          </p:nvSpPr>
          <p:spPr>
            <a:xfrm>
              <a:off x="1113928" y="1039666"/>
              <a:ext cx="466090" cy="833755"/>
            </a:xfrm>
            <a:custGeom>
              <a:avLst/>
              <a:gdLst/>
              <a:ahLst/>
              <a:cxnLst/>
              <a:rect l="l" t="t" r="r" b="b"/>
              <a:pathLst>
                <a:path w="466090" h="833755">
                  <a:moveTo>
                    <a:pt x="465592" y="0"/>
                  </a:moveTo>
                  <a:lnTo>
                    <a:pt x="435225" y="87349"/>
                  </a:lnTo>
                  <a:lnTo>
                    <a:pt x="404277" y="169057"/>
                  </a:lnTo>
                  <a:lnTo>
                    <a:pt x="372965" y="245267"/>
                  </a:lnTo>
                  <a:lnTo>
                    <a:pt x="341508" y="316122"/>
                  </a:lnTo>
                  <a:lnTo>
                    <a:pt x="310123" y="381764"/>
                  </a:lnTo>
                  <a:lnTo>
                    <a:pt x="279026" y="442336"/>
                  </a:lnTo>
                  <a:lnTo>
                    <a:pt x="248436" y="497980"/>
                  </a:lnTo>
                  <a:lnTo>
                    <a:pt x="218570" y="548838"/>
                  </a:lnTo>
                  <a:lnTo>
                    <a:pt x="189645" y="595055"/>
                  </a:lnTo>
                  <a:lnTo>
                    <a:pt x="161879" y="636771"/>
                  </a:lnTo>
                  <a:lnTo>
                    <a:pt x="135489" y="674131"/>
                  </a:lnTo>
                  <a:lnTo>
                    <a:pt x="110692" y="707275"/>
                  </a:lnTo>
                  <a:lnTo>
                    <a:pt x="66750" y="761491"/>
                  </a:lnTo>
                  <a:lnTo>
                    <a:pt x="31790" y="800560"/>
                  </a:lnTo>
                  <a:lnTo>
                    <a:pt x="7553" y="825623"/>
                  </a:lnTo>
                  <a:lnTo>
                    <a:pt x="0" y="833259"/>
                  </a:lnTo>
                </a:path>
              </a:pathLst>
            </a:custGeom>
            <a:ln w="7620">
              <a:solidFill>
                <a:srgbClr val="231F20"/>
              </a:solidFill>
            </a:ln>
          </p:spPr>
          <p:txBody>
            <a:bodyPr wrap="square" lIns="0" tIns="0" rIns="0" bIns="0" rtlCol="0"/>
            <a:lstStyle/>
            <a:p>
              <a:endParaRPr/>
            </a:p>
          </p:txBody>
        </p:sp>
        <p:pic>
          <p:nvPicPr>
            <p:cNvPr id="18" name="object 18"/>
            <p:cNvPicPr/>
            <p:nvPr/>
          </p:nvPicPr>
          <p:blipFill>
            <a:blip r:embed="rId12" cstate="print"/>
            <a:stretch>
              <a:fillRect/>
            </a:stretch>
          </p:blipFill>
          <p:spPr>
            <a:xfrm>
              <a:off x="1076203" y="1802453"/>
              <a:ext cx="108066" cy="109162"/>
            </a:xfrm>
            <a:prstGeom prst="rect">
              <a:avLst/>
            </a:prstGeom>
          </p:spPr>
        </p:pic>
        <p:sp>
          <p:nvSpPr>
            <p:cNvPr id="19" name="object 19"/>
            <p:cNvSpPr/>
            <p:nvPr/>
          </p:nvSpPr>
          <p:spPr>
            <a:xfrm>
              <a:off x="1716330" y="1090054"/>
              <a:ext cx="481330" cy="822960"/>
            </a:xfrm>
            <a:custGeom>
              <a:avLst/>
              <a:gdLst/>
              <a:ahLst/>
              <a:cxnLst/>
              <a:rect l="l" t="t" r="r" b="b"/>
              <a:pathLst>
                <a:path w="481330" h="822960">
                  <a:moveTo>
                    <a:pt x="480764" y="822757"/>
                  </a:moveTo>
                  <a:lnTo>
                    <a:pt x="421441" y="751590"/>
                  </a:lnTo>
                  <a:lnTo>
                    <a:pt x="367056" y="682600"/>
                  </a:lnTo>
                  <a:lnTo>
                    <a:pt x="317403" y="615949"/>
                  </a:lnTo>
                  <a:lnTo>
                    <a:pt x="272278" y="551799"/>
                  </a:lnTo>
                  <a:lnTo>
                    <a:pt x="231478" y="490314"/>
                  </a:lnTo>
                  <a:lnTo>
                    <a:pt x="194797" y="431654"/>
                  </a:lnTo>
                  <a:lnTo>
                    <a:pt x="162033" y="375982"/>
                  </a:lnTo>
                  <a:lnTo>
                    <a:pt x="132980" y="323460"/>
                  </a:lnTo>
                  <a:lnTo>
                    <a:pt x="107435" y="274250"/>
                  </a:lnTo>
                  <a:lnTo>
                    <a:pt x="85194" y="228515"/>
                  </a:lnTo>
                  <a:lnTo>
                    <a:pt x="66052" y="186416"/>
                  </a:lnTo>
                  <a:lnTo>
                    <a:pt x="49805" y="148116"/>
                  </a:lnTo>
                  <a:lnTo>
                    <a:pt x="25181" y="83560"/>
                  </a:lnTo>
                  <a:lnTo>
                    <a:pt x="9689" y="36146"/>
                  </a:lnTo>
                  <a:lnTo>
                    <a:pt x="1695" y="7168"/>
                  </a:lnTo>
                  <a:lnTo>
                    <a:pt x="0" y="0"/>
                  </a:lnTo>
                </a:path>
              </a:pathLst>
            </a:custGeom>
            <a:ln w="7620">
              <a:solidFill>
                <a:srgbClr val="231F20"/>
              </a:solidFill>
            </a:ln>
          </p:spPr>
          <p:txBody>
            <a:bodyPr wrap="square" lIns="0" tIns="0" rIns="0" bIns="0" rtlCol="0"/>
            <a:lstStyle/>
            <a:p>
              <a:endParaRPr/>
            </a:p>
          </p:txBody>
        </p:sp>
        <p:pic>
          <p:nvPicPr>
            <p:cNvPr id="20" name="object 20"/>
            <p:cNvPicPr/>
            <p:nvPr/>
          </p:nvPicPr>
          <p:blipFill>
            <a:blip r:embed="rId13" cstate="print"/>
            <a:stretch>
              <a:fillRect/>
            </a:stretch>
          </p:blipFill>
          <p:spPr>
            <a:xfrm>
              <a:off x="1682903" y="1037290"/>
              <a:ext cx="89993" cy="114955"/>
            </a:xfrm>
            <a:prstGeom prst="rect">
              <a:avLst/>
            </a:prstGeom>
          </p:spPr>
        </p:pic>
        <p:sp>
          <p:nvSpPr>
            <p:cNvPr id="21" name="object 21"/>
            <p:cNvSpPr/>
            <p:nvPr/>
          </p:nvSpPr>
          <p:spPr>
            <a:xfrm>
              <a:off x="1739024" y="1022765"/>
              <a:ext cx="474345" cy="828675"/>
            </a:xfrm>
            <a:custGeom>
              <a:avLst/>
              <a:gdLst/>
              <a:ahLst/>
              <a:cxnLst/>
              <a:rect l="l" t="t" r="r" b="b"/>
              <a:pathLst>
                <a:path w="474344" h="828675">
                  <a:moveTo>
                    <a:pt x="0" y="0"/>
                  </a:moveTo>
                  <a:lnTo>
                    <a:pt x="59212" y="71033"/>
                  </a:lnTo>
                  <a:lnTo>
                    <a:pt x="113291" y="139659"/>
                  </a:lnTo>
                  <a:lnTo>
                    <a:pt x="162471" y="205762"/>
                  </a:lnTo>
                  <a:lnTo>
                    <a:pt x="206987" y="269231"/>
                  </a:lnTo>
                  <a:lnTo>
                    <a:pt x="247072" y="329952"/>
                  </a:lnTo>
                  <a:lnTo>
                    <a:pt x="282961" y="387814"/>
                  </a:lnTo>
                  <a:lnTo>
                    <a:pt x="314887" y="442702"/>
                  </a:lnTo>
                  <a:lnTo>
                    <a:pt x="343086" y="494504"/>
                  </a:lnTo>
                  <a:lnTo>
                    <a:pt x="367792" y="543108"/>
                  </a:lnTo>
                  <a:lnTo>
                    <a:pt x="389237" y="588399"/>
                  </a:lnTo>
                  <a:lnTo>
                    <a:pt x="407658" y="630267"/>
                  </a:lnTo>
                  <a:lnTo>
                    <a:pt x="423288" y="668597"/>
                  </a:lnTo>
                  <a:lnTo>
                    <a:pt x="447111" y="734194"/>
                  </a:lnTo>
                  <a:lnTo>
                    <a:pt x="462582" y="784287"/>
                  </a:lnTo>
                  <a:lnTo>
                    <a:pt x="471573" y="817974"/>
                  </a:lnTo>
                  <a:lnTo>
                    <a:pt x="474224" y="828383"/>
                  </a:lnTo>
                </a:path>
              </a:pathLst>
            </a:custGeom>
            <a:ln w="7620">
              <a:solidFill>
                <a:srgbClr val="231F20"/>
              </a:solidFill>
            </a:ln>
          </p:spPr>
          <p:txBody>
            <a:bodyPr wrap="square" lIns="0" tIns="0" rIns="0" bIns="0" rtlCol="0"/>
            <a:lstStyle/>
            <a:p>
              <a:endParaRPr/>
            </a:p>
          </p:txBody>
        </p:sp>
        <p:pic>
          <p:nvPicPr>
            <p:cNvPr id="22" name="object 22"/>
            <p:cNvPicPr/>
            <p:nvPr/>
          </p:nvPicPr>
          <p:blipFill>
            <a:blip r:embed="rId14" cstate="print"/>
            <a:stretch>
              <a:fillRect/>
            </a:stretch>
          </p:blipFill>
          <p:spPr>
            <a:xfrm>
              <a:off x="2155093" y="1787700"/>
              <a:ext cx="89153" cy="115711"/>
            </a:xfrm>
            <a:prstGeom prst="rect">
              <a:avLst/>
            </a:prstGeom>
          </p:spPr>
        </p:pic>
      </p:grpSp>
      <p:sp>
        <p:nvSpPr>
          <p:cNvPr id="23" name="object 23"/>
          <p:cNvSpPr txBox="1"/>
          <p:nvPr/>
        </p:nvSpPr>
        <p:spPr>
          <a:xfrm>
            <a:off x="2165268" y="1918028"/>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B3</a:t>
            </a:r>
            <a:endParaRPr sz="950">
              <a:latin typeface="Arial"/>
              <a:cs typeface="Arial"/>
            </a:endParaRPr>
          </a:p>
        </p:txBody>
      </p:sp>
      <p:sp>
        <p:nvSpPr>
          <p:cNvPr id="24" name="object 24"/>
          <p:cNvSpPr txBox="1"/>
          <p:nvPr/>
        </p:nvSpPr>
        <p:spPr>
          <a:xfrm>
            <a:off x="946431" y="1918796"/>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B2</a:t>
            </a:r>
            <a:endParaRPr sz="950">
              <a:latin typeface="Arial"/>
              <a:cs typeface="Arial"/>
            </a:endParaRPr>
          </a:p>
        </p:txBody>
      </p:sp>
      <p:sp>
        <p:nvSpPr>
          <p:cNvPr id="25" name="object 25"/>
          <p:cNvSpPr txBox="1"/>
          <p:nvPr/>
        </p:nvSpPr>
        <p:spPr>
          <a:xfrm>
            <a:off x="1667611" y="1328050"/>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26" name="object 26"/>
          <p:cNvSpPr txBox="1"/>
          <p:nvPr/>
        </p:nvSpPr>
        <p:spPr>
          <a:xfrm>
            <a:off x="1784006" y="1600299"/>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27" name="object 27"/>
          <p:cNvSpPr txBox="1"/>
          <p:nvPr/>
        </p:nvSpPr>
        <p:spPr>
          <a:xfrm>
            <a:off x="1591404" y="2090098"/>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28" name="object 28"/>
          <p:cNvSpPr txBox="1"/>
          <p:nvPr/>
        </p:nvSpPr>
        <p:spPr>
          <a:xfrm>
            <a:off x="1896223" y="1404257"/>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29" name="object 29"/>
          <p:cNvSpPr txBox="1"/>
          <p:nvPr/>
        </p:nvSpPr>
        <p:spPr>
          <a:xfrm>
            <a:off x="1860208" y="1066870"/>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30" name="object 30"/>
          <p:cNvSpPr txBox="1"/>
          <p:nvPr/>
        </p:nvSpPr>
        <p:spPr>
          <a:xfrm>
            <a:off x="1135748" y="1328051"/>
            <a:ext cx="241935" cy="229870"/>
          </a:xfrm>
          <a:prstGeom prst="rect">
            <a:avLst/>
          </a:prstGeom>
        </p:spPr>
        <p:txBody>
          <a:bodyPr vert="horz" wrap="square" lIns="0" tIns="17780" rIns="0" bIns="0" rtlCol="0">
            <a:spAutoFit/>
          </a:bodyPr>
          <a:lstStyle/>
          <a:p>
            <a:pPr marL="12700">
              <a:lnSpc>
                <a:spcPts val="780"/>
              </a:lnSpc>
              <a:spcBef>
                <a:spcPts val="140"/>
              </a:spcBef>
            </a:pPr>
            <a:r>
              <a:rPr sz="800" spc="20" dirty="0">
                <a:solidFill>
                  <a:srgbClr val="231F20"/>
                </a:solidFill>
                <a:latin typeface="Arial"/>
                <a:cs typeface="Arial"/>
              </a:rPr>
              <a:t>F</a:t>
            </a:r>
            <a:endParaRPr sz="800">
              <a:latin typeface="Arial"/>
              <a:cs typeface="Arial"/>
            </a:endParaRPr>
          </a:p>
          <a:p>
            <a:pPr marL="163195">
              <a:lnSpc>
                <a:spcPts val="780"/>
              </a:lnSpc>
            </a:pPr>
            <a:r>
              <a:rPr sz="800" spc="20" dirty="0">
                <a:solidFill>
                  <a:srgbClr val="231F20"/>
                </a:solidFill>
                <a:latin typeface="Arial"/>
                <a:cs typeface="Arial"/>
              </a:rPr>
              <a:t>T</a:t>
            </a:r>
            <a:endParaRPr sz="800">
              <a:latin typeface="Arial"/>
              <a:cs typeface="Arial"/>
            </a:endParaRPr>
          </a:p>
        </p:txBody>
      </p:sp>
      <p:sp>
        <p:nvSpPr>
          <p:cNvPr id="31" name="object 31"/>
          <p:cNvSpPr txBox="1"/>
          <p:nvPr/>
        </p:nvSpPr>
        <p:spPr>
          <a:xfrm>
            <a:off x="1592983" y="1785282"/>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F</a:t>
            </a:r>
            <a:endParaRPr sz="800">
              <a:latin typeface="Arial"/>
              <a:cs typeface="Arial"/>
            </a:endParaRPr>
          </a:p>
        </p:txBody>
      </p:sp>
      <p:sp>
        <p:nvSpPr>
          <p:cNvPr id="32" name="object 32"/>
          <p:cNvSpPr txBox="1"/>
          <p:nvPr/>
        </p:nvSpPr>
        <p:spPr>
          <a:xfrm>
            <a:off x="1398811" y="1600300"/>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F</a:t>
            </a:r>
            <a:endParaRPr sz="800">
              <a:latin typeface="Arial"/>
              <a:cs typeface="Arial"/>
            </a:endParaRPr>
          </a:p>
        </p:txBody>
      </p:sp>
      <p:sp>
        <p:nvSpPr>
          <p:cNvPr id="33" name="object 33"/>
          <p:cNvSpPr txBox="1"/>
          <p:nvPr/>
        </p:nvSpPr>
        <p:spPr>
          <a:xfrm>
            <a:off x="424975" y="1910356"/>
            <a:ext cx="452755" cy="172085"/>
          </a:xfrm>
          <a:prstGeom prst="rect">
            <a:avLst/>
          </a:prstGeom>
        </p:spPr>
        <p:txBody>
          <a:bodyPr vert="horz" wrap="square" lIns="0" tIns="13970" rIns="0" bIns="0" rtlCol="0">
            <a:spAutoFit/>
          </a:bodyPr>
          <a:lstStyle/>
          <a:p>
            <a:pPr marL="12700">
              <a:lnSpc>
                <a:spcPct val="100000"/>
              </a:lnSpc>
              <a:spcBef>
                <a:spcPts val="110"/>
              </a:spcBef>
            </a:pPr>
            <a:r>
              <a:rPr sz="950" spc="-25" dirty="0">
                <a:solidFill>
                  <a:srgbClr val="231F20"/>
                </a:solidFill>
                <a:latin typeface="Arial"/>
                <a:cs typeface="Arial"/>
              </a:rPr>
              <a:t>{F,{T,T}}</a:t>
            </a:r>
            <a:endParaRPr sz="950">
              <a:latin typeface="Arial"/>
              <a:cs typeface="Arial"/>
            </a:endParaRPr>
          </a:p>
        </p:txBody>
      </p:sp>
      <p:sp>
        <p:nvSpPr>
          <p:cNvPr id="34" name="object 34"/>
          <p:cNvSpPr txBox="1"/>
          <p:nvPr/>
        </p:nvSpPr>
        <p:spPr>
          <a:xfrm>
            <a:off x="2418229" y="1906528"/>
            <a:ext cx="452755" cy="172085"/>
          </a:xfrm>
          <a:prstGeom prst="rect">
            <a:avLst/>
          </a:prstGeom>
        </p:spPr>
        <p:txBody>
          <a:bodyPr vert="horz" wrap="square" lIns="0" tIns="13970" rIns="0" bIns="0" rtlCol="0">
            <a:spAutoFit/>
          </a:bodyPr>
          <a:lstStyle/>
          <a:p>
            <a:pPr marL="12700">
              <a:lnSpc>
                <a:spcPct val="100000"/>
              </a:lnSpc>
              <a:spcBef>
                <a:spcPts val="110"/>
              </a:spcBef>
            </a:pPr>
            <a:r>
              <a:rPr sz="950" spc="-25" dirty="0">
                <a:solidFill>
                  <a:srgbClr val="231F20"/>
                </a:solidFill>
                <a:latin typeface="Arial"/>
                <a:cs typeface="Arial"/>
              </a:rPr>
              <a:t>{T,{T,F}}</a:t>
            </a:r>
            <a:endParaRPr sz="950">
              <a:latin typeface="Arial"/>
              <a:cs typeface="Arial"/>
            </a:endParaRPr>
          </a:p>
        </p:txBody>
      </p:sp>
      <p:grpSp>
        <p:nvGrpSpPr>
          <p:cNvPr id="35" name="object 35"/>
          <p:cNvGrpSpPr/>
          <p:nvPr/>
        </p:nvGrpSpPr>
        <p:grpSpPr>
          <a:xfrm>
            <a:off x="1130180" y="1057032"/>
            <a:ext cx="1043940" cy="896619"/>
            <a:chOff x="1130180" y="1057032"/>
            <a:chExt cx="1043940" cy="896619"/>
          </a:xfrm>
        </p:grpSpPr>
        <p:sp>
          <p:nvSpPr>
            <p:cNvPr id="36" name="object 36"/>
            <p:cNvSpPr/>
            <p:nvPr/>
          </p:nvSpPr>
          <p:spPr>
            <a:xfrm>
              <a:off x="1640124" y="1111079"/>
              <a:ext cx="0" cy="407034"/>
            </a:xfrm>
            <a:custGeom>
              <a:avLst/>
              <a:gdLst/>
              <a:ahLst/>
              <a:cxnLst/>
              <a:rect l="l" t="t" r="r" b="b"/>
              <a:pathLst>
                <a:path h="407034">
                  <a:moveTo>
                    <a:pt x="0" y="407016"/>
                  </a:moveTo>
                  <a:lnTo>
                    <a:pt x="0" y="0"/>
                  </a:lnTo>
                </a:path>
              </a:pathLst>
            </a:custGeom>
            <a:ln w="7620">
              <a:solidFill>
                <a:srgbClr val="231F20"/>
              </a:solidFill>
              <a:prstDash val="lgDash"/>
            </a:ln>
          </p:spPr>
          <p:txBody>
            <a:bodyPr wrap="square" lIns="0" tIns="0" rIns="0" bIns="0" rtlCol="0"/>
            <a:lstStyle/>
            <a:p>
              <a:endParaRPr/>
            </a:p>
          </p:txBody>
        </p:sp>
        <p:pic>
          <p:nvPicPr>
            <p:cNvPr id="37" name="object 37"/>
            <p:cNvPicPr/>
            <p:nvPr/>
          </p:nvPicPr>
          <p:blipFill>
            <a:blip r:embed="rId15" cstate="print"/>
            <a:stretch>
              <a:fillRect/>
            </a:stretch>
          </p:blipFill>
          <p:spPr>
            <a:xfrm>
              <a:off x="1594042" y="1057032"/>
              <a:ext cx="92165" cy="107536"/>
            </a:xfrm>
            <a:prstGeom prst="rect">
              <a:avLst/>
            </a:prstGeom>
          </p:spPr>
        </p:pic>
        <p:sp>
          <p:nvSpPr>
            <p:cNvPr id="38" name="object 38"/>
            <p:cNvSpPr/>
            <p:nvPr/>
          </p:nvSpPr>
          <p:spPr>
            <a:xfrm>
              <a:off x="1177281" y="1712602"/>
              <a:ext cx="381635" cy="214629"/>
            </a:xfrm>
            <a:custGeom>
              <a:avLst/>
              <a:gdLst/>
              <a:ahLst/>
              <a:cxnLst/>
              <a:rect l="l" t="t" r="r" b="b"/>
              <a:pathLst>
                <a:path w="381634" h="214630">
                  <a:moveTo>
                    <a:pt x="381399" y="0"/>
                  </a:moveTo>
                  <a:lnTo>
                    <a:pt x="0" y="214544"/>
                  </a:lnTo>
                </a:path>
              </a:pathLst>
            </a:custGeom>
            <a:ln w="7620">
              <a:solidFill>
                <a:srgbClr val="231F20"/>
              </a:solidFill>
              <a:prstDash val="lgDash"/>
            </a:ln>
          </p:spPr>
          <p:txBody>
            <a:bodyPr wrap="square" lIns="0" tIns="0" rIns="0" bIns="0" rtlCol="0"/>
            <a:lstStyle/>
            <a:p>
              <a:endParaRPr/>
            </a:p>
          </p:txBody>
        </p:sp>
        <p:pic>
          <p:nvPicPr>
            <p:cNvPr id="39" name="object 39"/>
            <p:cNvPicPr/>
            <p:nvPr/>
          </p:nvPicPr>
          <p:blipFill>
            <a:blip r:embed="rId16" cstate="print"/>
            <a:stretch>
              <a:fillRect/>
            </a:stretch>
          </p:blipFill>
          <p:spPr>
            <a:xfrm>
              <a:off x="1130180" y="1860752"/>
              <a:ext cx="116317" cy="92892"/>
            </a:xfrm>
            <a:prstGeom prst="rect">
              <a:avLst/>
            </a:prstGeom>
          </p:spPr>
        </p:pic>
        <p:sp>
          <p:nvSpPr>
            <p:cNvPr id="40" name="object 40"/>
            <p:cNvSpPr/>
            <p:nvPr/>
          </p:nvSpPr>
          <p:spPr>
            <a:xfrm>
              <a:off x="1725933" y="1707916"/>
              <a:ext cx="400050" cy="205104"/>
            </a:xfrm>
            <a:custGeom>
              <a:avLst/>
              <a:gdLst/>
              <a:ahLst/>
              <a:cxnLst/>
              <a:rect l="l" t="t" r="r" b="b"/>
              <a:pathLst>
                <a:path w="400050" h="205105">
                  <a:moveTo>
                    <a:pt x="0" y="0"/>
                  </a:moveTo>
                  <a:lnTo>
                    <a:pt x="399533" y="204668"/>
                  </a:lnTo>
                </a:path>
              </a:pathLst>
            </a:custGeom>
            <a:ln w="7620">
              <a:solidFill>
                <a:srgbClr val="231F20"/>
              </a:solidFill>
              <a:prstDash val="lgDash"/>
            </a:ln>
          </p:spPr>
          <p:txBody>
            <a:bodyPr wrap="square" lIns="0" tIns="0" rIns="0" bIns="0" rtlCol="0"/>
            <a:lstStyle/>
            <a:p>
              <a:endParaRPr/>
            </a:p>
          </p:txBody>
        </p:sp>
        <p:pic>
          <p:nvPicPr>
            <p:cNvPr id="41" name="object 41"/>
            <p:cNvPicPr/>
            <p:nvPr/>
          </p:nvPicPr>
          <p:blipFill>
            <a:blip r:embed="rId17" cstate="print"/>
            <a:stretch>
              <a:fillRect/>
            </a:stretch>
          </p:blipFill>
          <p:spPr>
            <a:xfrm>
              <a:off x="2056841" y="1847177"/>
              <a:ext cx="116723" cy="90040"/>
            </a:xfrm>
            <a:prstGeom prst="rect">
              <a:avLst/>
            </a:prstGeom>
          </p:spPr>
        </p:pic>
      </p:grpSp>
      <p:sp>
        <p:nvSpPr>
          <p:cNvPr id="42" name="object 42"/>
          <p:cNvSpPr txBox="1"/>
          <p:nvPr/>
        </p:nvSpPr>
        <p:spPr>
          <a:xfrm>
            <a:off x="1589420" y="1541421"/>
            <a:ext cx="107314"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a:t>
            </a:r>
            <a:endParaRPr sz="950">
              <a:latin typeface="Arial"/>
              <a:cs typeface="Arial"/>
            </a:endParaRPr>
          </a:p>
        </p:txBody>
      </p:sp>
      <p:sp>
        <p:nvSpPr>
          <p:cNvPr id="43" name="object 43"/>
          <p:cNvSpPr txBox="1"/>
          <p:nvPr/>
        </p:nvSpPr>
        <p:spPr>
          <a:xfrm>
            <a:off x="1017783" y="824498"/>
            <a:ext cx="452755" cy="172085"/>
          </a:xfrm>
          <a:prstGeom prst="rect">
            <a:avLst/>
          </a:prstGeom>
        </p:spPr>
        <p:txBody>
          <a:bodyPr vert="horz" wrap="square" lIns="0" tIns="13970" rIns="0" bIns="0" rtlCol="0">
            <a:spAutoFit/>
          </a:bodyPr>
          <a:lstStyle/>
          <a:p>
            <a:pPr marL="12700">
              <a:lnSpc>
                <a:spcPct val="100000"/>
              </a:lnSpc>
              <a:spcBef>
                <a:spcPts val="110"/>
              </a:spcBef>
            </a:pPr>
            <a:r>
              <a:rPr sz="950" spc="-25" dirty="0">
                <a:solidFill>
                  <a:srgbClr val="231F20"/>
                </a:solidFill>
                <a:latin typeface="Arial"/>
                <a:cs typeface="Arial"/>
              </a:rPr>
              <a:t>{T,{T,F}}</a:t>
            </a:r>
            <a:endParaRPr sz="950">
              <a:latin typeface="Arial"/>
              <a:cs typeface="Arial"/>
            </a:endParaRPr>
          </a:p>
        </p:txBody>
      </p:sp>
      <p:pic>
        <p:nvPicPr>
          <p:cNvPr id="44" name="object 44"/>
          <p:cNvPicPr/>
          <p:nvPr/>
        </p:nvPicPr>
        <p:blipFill>
          <a:blip r:embed="rId18" cstate="print"/>
          <a:stretch>
            <a:fillRect/>
          </a:stretch>
        </p:blipFill>
        <p:spPr>
          <a:xfrm>
            <a:off x="2904372" y="809481"/>
            <a:ext cx="163393" cy="163394"/>
          </a:xfrm>
          <a:prstGeom prst="rect">
            <a:avLst/>
          </a:prstGeom>
        </p:spPr>
      </p:pic>
      <p:sp>
        <p:nvSpPr>
          <p:cNvPr id="45" name="object 45"/>
          <p:cNvSpPr txBox="1"/>
          <p:nvPr/>
        </p:nvSpPr>
        <p:spPr>
          <a:xfrm>
            <a:off x="3212301" y="772169"/>
            <a:ext cx="794385" cy="342265"/>
          </a:xfrm>
          <a:prstGeom prst="rect">
            <a:avLst/>
          </a:prstGeom>
        </p:spPr>
        <p:txBody>
          <a:bodyPr vert="horz" wrap="square" lIns="0" tIns="5080" rIns="0" bIns="0" rtlCol="0">
            <a:spAutoFit/>
          </a:bodyPr>
          <a:lstStyle/>
          <a:p>
            <a:pPr>
              <a:lnSpc>
                <a:spcPct val="100000"/>
              </a:lnSpc>
              <a:spcBef>
                <a:spcPts val="40"/>
              </a:spcBef>
            </a:pPr>
            <a:endParaRPr sz="450">
              <a:latin typeface="Times New Roman"/>
              <a:cs typeface="Times New Roman"/>
            </a:endParaRPr>
          </a:p>
          <a:p>
            <a:pPr marL="12700">
              <a:lnSpc>
                <a:spcPct val="100000"/>
              </a:lnSpc>
              <a:spcBef>
                <a:spcPts val="5"/>
              </a:spcBef>
            </a:pPr>
            <a:r>
              <a:rPr sz="650" spc="5" dirty="0">
                <a:solidFill>
                  <a:srgbClr val="231F20"/>
                </a:solidFill>
                <a:latin typeface="Arial"/>
                <a:cs typeface="Arial"/>
              </a:rPr>
              <a:t>Faulty</a:t>
            </a:r>
            <a:r>
              <a:rPr sz="650" spc="-40" dirty="0">
                <a:solidFill>
                  <a:srgbClr val="231F20"/>
                </a:solidFill>
                <a:latin typeface="Arial"/>
                <a:cs typeface="Arial"/>
              </a:rPr>
              <a:t> </a:t>
            </a:r>
            <a:r>
              <a:rPr sz="650" spc="5" dirty="0">
                <a:solidFill>
                  <a:srgbClr val="231F20"/>
                </a:solidFill>
                <a:latin typeface="Arial"/>
                <a:cs typeface="Arial"/>
              </a:rPr>
              <a:t>process</a:t>
            </a:r>
            <a:endParaRPr sz="650">
              <a:latin typeface="Arial"/>
              <a:cs typeface="Arial"/>
            </a:endParaRPr>
          </a:p>
          <a:p>
            <a:pPr marL="12700">
              <a:lnSpc>
                <a:spcPct val="100000"/>
              </a:lnSpc>
              <a:spcBef>
                <a:spcPts val="464"/>
              </a:spcBef>
            </a:pPr>
            <a:r>
              <a:rPr sz="650" spc="5" dirty="0">
                <a:solidFill>
                  <a:srgbClr val="231F20"/>
                </a:solidFill>
                <a:latin typeface="Arial"/>
                <a:cs typeface="Arial"/>
              </a:rPr>
              <a:t>First</a:t>
            </a:r>
            <a:r>
              <a:rPr sz="650" spc="-30" dirty="0">
                <a:solidFill>
                  <a:srgbClr val="231F20"/>
                </a:solidFill>
                <a:latin typeface="Arial"/>
                <a:cs typeface="Arial"/>
              </a:rPr>
              <a:t> </a:t>
            </a:r>
            <a:r>
              <a:rPr sz="650" spc="5" dirty="0">
                <a:solidFill>
                  <a:srgbClr val="231F20"/>
                </a:solidFill>
                <a:latin typeface="Arial"/>
                <a:cs typeface="Arial"/>
              </a:rPr>
              <a:t>message</a:t>
            </a:r>
            <a:r>
              <a:rPr sz="650" spc="-25" dirty="0">
                <a:solidFill>
                  <a:srgbClr val="231F20"/>
                </a:solidFill>
                <a:latin typeface="Arial"/>
                <a:cs typeface="Arial"/>
              </a:rPr>
              <a:t> </a:t>
            </a:r>
            <a:r>
              <a:rPr sz="650" spc="5" dirty="0">
                <a:solidFill>
                  <a:srgbClr val="231F20"/>
                </a:solidFill>
                <a:latin typeface="Arial"/>
                <a:cs typeface="Arial"/>
              </a:rPr>
              <a:t>round</a:t>
            </a:r>
            <a:endParaRPr sz="650">
              <a:latin typeface="Arial"/>
              <a:cs typeface="Arial"/>
            </a:endParaRPr>
          </a:p>
        </p:txBody>
      </p:sp>
      <p:grpSp>
        <p:nvGrpSpPr>
          <p:cNvPr id="46" name="object 46"/>
          <p:cNvGrpSpPr/>
          <p:nvPr/>
        </p:nvGrpSpPr>
        <p:grpSpPr>
          <a:xfrm>
            <a:off x="2827942" y="1017427"/>
            <a:ext cx="316865" cy="64135"/>
            <a:chOff x="2827942" y="1017427"/>
            <a:chExt cx="316865" cy="64135"/>
          </a:xfrm>
        </p:grpSpPr>
        <p:sp>
          <p:nvSpPr>
            <p:cNvPr id="47" name="object 47"/>
            <p:cNvSpPr/>
            <p:nvPr/>
          </p:nvSpPr>
          <p:spPr>
            <a:xfrm>
              <a:off x="2827942" y="1049301"/>
              <a:ext cx="279400" cy="0"/>
            </a:xfrm>
            <a:custGeom>
              <a:avLst/>
              <a:gdLst/>
              <a:ahLst/>
              <a:cxnLst/>
              <a:rect l="l" t="t" r="r" b="b"/>
              <a:pathLst>
                <a:path w="279400">
                  <a:moveTo>
                    <a:pt x="0" y="0"/>
                  </a:moveTo>
                  <a:lnTo>
                    <a:pt x="278870" y="0"/>
                  </a:lnTo>
                </a:path>
              </a:pathLst>
            </a:custGeom>
            <a:ln w="5270">
              <a:solidFill>
                <a:srgbClr val="231F20"/>
              </a:solidFill>
              <a:prstDash val="lgDash"/>
            </a:ln>
          </p:spPr>
          <p:txBody>
            <a:bodyPr wrap="square" lIns="0" tIns="0" rIns="0" bIns="0" rtlCol="0"/>
            <a:lstStyle/>
            <a:p>
              <a:endParaRPr/>
            </a:p>
          </p:txBody>
        </p:sp>
        <p:pic>
          <p:nvPicPr>
            <p:cNvPr id="48" name="object 48"/>
            <p:cNvPicPr/>
            <p:nvPr/>
          </p:nvPicPr>
          <p:blipFill>
            <a:blip r:embed="rId19" cstate="print"/>
            <a:stretch>
              <a:fillRect/>
            </a:stretch>
          </p:blipFill>
          <p:spPr>
            <a:xfrm>
              <a:off x="3069817" y="1017427"/>
              <a:ext cx="74375" cy="63751"/>
            </a:xfrm>
            <a:prstGeom prst="rect">
              <a:avLst/>
            </a:prstGeom>
          </p:spPr>
        </p:pic>
      </p:grpSp>
      <p:grpSp>
        <p:nvGrpSpPr>
          <p:cNvPr id="49" name="object 49"/>
          <p:cNvGrpSpPr/>
          <p:nvPr/>
        </p:nvGrpSpPr>
        <p:grpSpPr>
          <a:xfrm>
            <a:off x="2827942" y="1175546"/>
            <a:ext cx="316865" cy="64135"/>
            <a:chOff x="2827942" y="1175546"/>
            <a:chExt cx="316865" cy="64135"/>
          </a:xfrm>
        </p:grpSpPr>
        <p:sp>
          <p:nvSpPr>
            <p:cNvPr id="50" name="object 50"/>
            <p:cNvSpPr/>
            <p:nvPr/>
          </p:nvSpPr>
          <p:spPr>
            <a:xfrm>
              <a:off x="2827942" y="1207420"/>
              <a:ext cx="279400" cy="0"/>
            </a:xfrm>
            <a:custGeom>
              <a:avLst/>
              <a:gdLst/>
              <a:ahLst/>
              <a:cxnLst/>
              <a:rect l="l" t="t" r="r" b="b"/>
              <a:pathLst>
                <a:path w="279400">
                  <a:moveTo>
                    <a:pt x="0" y="0"/>
                  </a:moveTo>
                  <a:lnTo>
                    <a:pt x="278870" y="0"/>
                  </a:lnTo>
                </a:path>
              </a:pathLst>
            </a:custGeom>
            <a:ln w="5270">
              <a:solidFill>
                <a:srgbClr val="231F20"/>
              </a:solidFill>
            </a:ln>
          </p:spPr>
          <p:txBody>
            <a:bodyPr wrap="square" lIns="0" tIns="0" rIns="0" bIns="0" rtlCol="0"/>
            <a:lstStyle/>
            <a:p>
              <a:endParaRPr/>
            </a:p>
          </p:txBody>
        </p:sp>
        <p:pic>
          <p:nvPicPr>
            <p:cNvPr id="51" name="object 51"/>
            <p:cNvPicPr/>
            <p:nvPr/>
          </p:nvPicPr>
          <p:blipFill>
            <a:blip r:embed="rId20" cstate="print"/>
            <a:stretch>
              <a:fillRect/>
            </a:stretch>
          </p:blipFill>
          <p:spPr>
            <a:xfrm>
              <a:off x="3069817" y="1175546"/>
              <a:ext cx="74375" cy="63748"/>
            </a:xfrm>
            <a:prstGeom prst="rect">
              <a:avLst/>
            </a:prstGeom>
          </p:spPr>
        </p:pic>
      </p:grpSp>
      <p:sp>
        <p:nvSpPr>
          <p:cNvPr id="52" name="object 52"/>
          <p:cNvSpPr txBox="1"/>
          <p:nvPr/>
        </p:nvSpPr>
        <p:spPr>
          <a:xfrm>
            <a:off x="3212301" y="1145357"/>
            <a:ext cx="91630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Second</a:t>
            </a:r>
            <a:r>
              <a:rPr sz="650" spc="-20" dirty="0">
                <a:solidFill>
                  <a:srgbClr val="231F20"/>
                </a:solidFill>
                <a:latin typeface="Arial"/>
                <a:cs typeface="Arial"/>
              </a:rPr>
              <a:t> </a:t>
            </a:r>
            <a:r>
              <a:rPr sz="650" spc="5" dirty="0">
                <a:solidFill>
                  <a:srgbClr val="231F20"/>
                </a:solidFill>
                <a:latin typeface="Arial"/>
                <a:cs typeface="Arial"/>
              </a:rPr>
              <a:t>message</a:t>
            </a:r>
            <a:r>
              <a:rPr sz="650" spc="-20" dirty="0">
                <a:solidFill>
                  <a:srgbClr val="231F20"/>
                </a:solidFill>
                <a:latin typeface="Arial"/>
                <a:cs typeface="Arial"/>
              </a:rPr>
              <a:t> </a:t>
            </a:r>
            <a:r>
              <a:rPr sz="650" spc="5" dirty="0">
                <a:solidFill>
                  <a:srgbClr val="231F20"/>
                </a:solidFill>
                <a:latin typeface="Arial"/>
                <a:cs typeface="Arial"/>
              </a:rPr>
              <a:t>round</a:t>
            </a:r>
            <a:endParaRPr sz="650">
              <a:latin typeface="Arial"/>
              <a:cs typeface="Arial"/>
            </a:endParaRPr>
          </a:p>
        </p:txBody>
      </p:sp>
      <p:grpSp>
        <p:nvGrpSpPr>
          <p:cNvPr id="53" name="object 53"/>
          <p:cNvGrpSpPr/>
          <p:nvPr/>
        </p:nvGrpSpPr>
        <p:grpSpPr>
          <a:xfrm>
            <a:off x="2733253" y="1544629"/>
            <a:ext cx="1456055" cy="1303655"/>
            <a:chOff x="2733253" y="1544629"/>
            <a:chExt cx="1456055" cy="1303655"/>
          </a:xfrm>
        </p:grpSpPr>
        <p:pic>
          <p:nvPicPr>
            <p:cNvPr id="54" name="object 54"/>
            <p:cNvPicPr/>
            <p:nvPr/>
          </p:nvPicPr>
          <p:blipFill>
            <a:blip r:embed="rId21" cstate="print"/>
            <a:stretch>
              <a:fillRect/>
            </a:stretch>
          </p:blipFill>
          <p:spPr>
            <a:xfrm>
              <a:off x="3342894" y="1544629"/>
              <a:ext cx="236232" cy="236237"/>
            </a:xfrm>
            <a:prstGeom prst="rect">
              <a:avLst/>
            </a:prstGeom>
          </p:spPr>
        </p:pic>
        <p:pic>
          <p:nvPicPr>
            <p:cNvPr id="55" name="object 55"/>
            <p:cNvPicPr/>
            <p:nvPr/>
          </p:nvPicPr>
          <p:blipFill>
            <a:blip r:embed="rId22" cstate="print"/>
            <a:stretch>
              <a:fillRect/>
            </a:stretch>
          </p:blipFill>
          <p:spPr>
            <a:xfrm>
              <a:off x="2733253" y="2611499"/>
              <a:ext cx="236238" cy="236232"/>
            </a:xfrm>
            <a:prstGeom prst="rect">
              <a:avLst/>
            </a:prstGeom>
          </p:spPr>
        </p:pic>
        <p:pic>
          <p:nvPicPr>
            <p:cNvPr id="56" name="object 56"/>
            <p:cNvPicPr/>
            <p:nvPr/>
          </p:nvPicPr>
          <p:blipFill>
            <a:blip r:embed="rId23" cstate="print"/>
            <a:stretch>
              <a:fillRect/>
            </a:stretch>
          </p:blipFill>
          <p:spPr>
            <a:xfrm>
              <a:off x="3952534" y="2611499"/>
              <a:ext cx="236235" cy="236232"/>
            </a:xfrm>
            <a:prstGeom prst="rect">
              <a:avLst/>
            </a:prstGeom>
          </p:spPr>
        </p:pic>
        <p:pic>
          <p:nvPicPr>
            <p:cNvPr id="57" name="object 57"/>
            <p:cNvPicPr/>
            <p:nvPr/>
          </p:nvPicPr>
          <p:blipFill>
            <a:blip r:embed="rId24" cstate="print"/>
            <a:stretch>
              <a:fillRect/>
            </a:stretch>
          </p:blipFill>
          <p:spPr>
            <a:xfrm>
              <a:off x="3342894" y="2234303"/>
              <a:ext cx="236232" cy="236238"/>
            </a:xfrm>
            <a:prstGeom prst="rect">
              <a:avLst/>
            </a:prstGeom>
          </p:spPr>
        </p:pic>
      </p:grpSp>
      <p:sp>
        <p:nvSpPr>
          <p:cNvPr id="58" name="object 58"/>
          <p:cNvSpPr txBox="1"/>
          <p:nvPr/>
        </p:nvSpPr>
        <p:spPr>
          <a:xfrm>
            <a:off x="3392881" y="1577669"/>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B1</a:t>
            </a:r>
            <a:endParaRPr sz="950">
              <a:latin typeface="Arial"/>
              <a:cs typeface="Arial"/>
            </a:endParaRPr>
          </a:p>
        </p:txBody>
      </p:sp>
      <p:grpSp>
        <p:nvGrpSpPr>
          <p:cNvPr id="59" name="object 59"/>
          <p:cNvGrpSpPr/>
          <p:nvPr/>
        </p:nvGrpSpPr>
        <p:grpSpPr>
          <a:xfrm>
            <a:off x="2869830" y="1737707"/>
            <a:ext cx="1195705" cy="1075690"/>
            <a:chOff x="2869830" y="1737707"/>
            <a:chExt cx="1195705" cy="1075690"/>
          </a:xfrm>
        </p:grpSpPr>
        <p:sp>
          <p:nvSpPr>
            <p:cNvPr id="60" name="object 60"/>
            <p:cNvSpPr/>
            <p:nvPr/>
          </p:nvSpPr>
          <p:spPr>
            <a:xfrm>
              <a:off x="2962693" y="2657209"/>
              <a:ext cx="953135" cy="52705"/>
            </a:xfrm>
            <a:custGeom>
              <a:avLst/>
              <a:gdLst/>
              <a:ahLst/>
              <a:cxnLst/>
              <a:rect l="l" t="t" r="r" b="b"/>
              <a:pathLst>
                <a:path w="953135" h="52705">
                  <a:moveTo>
                    <a:pt x="0" y="52643"/>
                  </a:moveTo>
                  <a:lnTo>
                    <a:pt x="91293" y="36852"/>
                  </a:lnTo>
                  <a:lnTo>
                    <a:pt x="178232" y="24248"/>
                  </a:lnTo>
                  <a:lnTo>
                    <a:pt x="260780" y="14572"/>
                  </a:lnTo>
                  <a:lnTo>
                    <a:pt x="338897" y="7567"/>
                  </a:lnTo>
                  <a:lnTo>
                    <a:pt x="412545" y="2975"/>
                  </a:lnTo>
                  <a:lnTo>
                    <a:pt x="481687" y="539"/>
                  </a:lnTo>
                  <a:lnTo>
                    <a:pt x="546282" y="0"/>
                  </a:lnTo>
                  <a:lnTo>
                    <a:pt x="606294" y="1100"/>
                  </a:lnTo>
                  <a:lnTo>
                    <a:pt x="661684" y="3582"/>
                  </a:lnTo>
                  <a:lnTo>
                    <a:pt x="712413" y="7188"/>
                  </a:lnTo>
                  <a:lnTo>
                    <a:pt x="758443" y="11659"/>
                  </a:lnTo>
                  <a:lnTo>
                    <a:pt x="799736" y="16739"/>
                  </a:lnTo>
                  <a:lnTo>
                    <a:pt x="867955" y="27692"/>
                  </a:lnTo>
                  <a:lnTo>
                    <a:pt x="916765" y="37983"/>
                  </a:lnTo>
                  <a:lnTo>
                    <a:pt x="945857" y="45549"/>
                  </a:lnTo>
                  <a:lnTo>
                    <a:pt x="952914" y="47666"/>
                  </a:lnTo>
                </a:path>
              </a:pathLst>
            </a:custGeom>
            <a:ln w="7620">
              <a:solidFill>
                <a:srgbClr val="231F20"/>
              </a:solidFill>
            </a:ln>
          </p:spPr>
          <p:txBody>
            <a:bodyPr wrap="square" lIns="0" tIns="0" rIns="0" bIns="0" rtlCol="0"/>
            <a:lstStyle/>
            <a:p>
              <a:endParaRPr/>
            </a:p>
          </p:txBody>
        </p:sp>
        <p:pic>
          <p:nvPicPr>
            <p:cNvPr id="61" name="object 61"/>
            <p:cNvPicPr/>
            <p:nvPr/>
          </p:nvPicPr>
          <p:blipFill>
            <a:blip r:embed="rId25" cstate="print"/>
            <a:stretch>
              <a:fillRect/>
            </a:stretch>
          </p:blipFill>
          <p:spPr>
            <a:xfrm>
              <a:off x="3850716" y="2644831"/>
              <a:ext cx="116418" cy="87898"/>
            </a:xfrm>
            <a:prstGeom prst="rect">
              <a:avLst/>
            </a:prstGeom>
          </p:spPr>
        </p:pic>
        <p:sp>
          <p:nvSpPr>
            <p:cNvPr id="62" name="object 62"/>
            <p:cNvSpPr/>
            <p:nvPr/>
          </p:nvSpPr>
          <p:spPr>
            <a:xfrm>
              <a:off x="3008014" y="2754673"/>
              <a:ext cx="955040" cy="55244"/>
            </a:xfrm>
            <a:custGeom>
              <a:avLst/>
              <a:gdLst/>
              <a:ahLst/>
              <a:cxnLst/>
              <a:rect l="l" t="t" r="r" b="b"/>
              <a:pathLst>
                <a:path w="955039" h="55244">
                  <a:moveTo>
                    <a:pt x="954517" y="3494"/>
                  </a:moveTo>
                  <a:lnTo>
                    <a:pt x="863392" y="19257"/>
                  </a:lnTo>
                  <a:lnTo>
                    <a:pt x="776920" y="31779"/>
                  </a:lnTo>
                  <a:lnTo>
                    <a:pt x="695082" y="41319"/>
                  </a:lnTo>
                  <a:lnTo>
                    <a:pt x="617858" y="48137"/>
                  </a:lnTo>
                  <a:lnTo>
                    <a:pt x="545228" y="52491"/>
                  </a:lnTo>
                  <a:lnTo>
                    <a:pt x="477174" y="54641"/>
                  </a:lnTo>
                  <a:lnTo>
                    <a:pt x="413676" y="54847"/>
                  </a:lnTo>
                  <a:lnTo>
                    <a:pt x="354715" y="53366"/>
                  </a:lnTo>
                  <a:lnTo>
                    <a:pt x="300270" y="50460"/>
                  </a:lnTo>
                  <a:lnTo>
                    <a:pt x="250324" y="46387"/>
                  </a:lnTo>
                  <a:lnTo>
                    <a:pt x="204855" y="41406"/>
                  </a:lnTo>
                  <a:lnTo>
                    <a:pt x="163846" y="35777"/>
                  </a:lnTo>
                  <a:lnTo>
                    <a:pt x="95126" y="23611"/>
                  </a:lnTo>
                  <a:lnTo>
                    <a:pt x="44009" y="11963"/>
                  </a:lnTo>
                  <a:lnTo>
                    <a:pt x="10340" y="2907"/>
                  </a:lnTo>
                  <a:lnTo>
                    <a:pt x="0" y="0"/>
                  </a:lnTo>
                </a:path>
              </a:pathLst>
            </a:custGeom>
            <a:ln w="7620">
              <a:solidFill>
                <a:srgbClr val="231F20"/>
              </a:solidFill>
            </a:ln>
          </p:spPr>
          <p:txBody>
            <a:bodyPr wrap="square" lIns="0" tIns="0" rIns="0" bIns="0" rtlCol="0"/>
            <a:lstStyle/>
            <a:p>
              <a:endParaRPr/>
            </a:p>
          </p:txBody>
        </p:sp>
        <p:pic>
          <p:nvPicPr>
            <p:cNvPr id="63" name="object 63"/>
            <p:cNvPicPr/>
            <p:nvPr/>
          </p:nvPicPr>
          <p:blipFill>
            <a:blip r:embed="rId26" cstate="print"/>
            <a:stretch>
              <a:fillRect/>
            </a:stretch>
          </p:blipFill>
          <p:spPr>
            <a:xfrm>
              <a:off x="2955889" y="2724330"/>
              <a:ext cx="115883" cy="88909"/>
            </a:xfrm>
            <a:prstGeom prst="rect">
              <a:avLst/>
            </a:prstGeom>
          </p:spPr>
        </p:pic>
        <p:sp>
          <p:nvSpPr>
            <p:cNvPr id="64" name="object 64"/>
            <p:cNvSpPr/>
            <p:nvPr/>
          </p:nvSpPr>
          <p:spPr>
            <a:xfrm>
              <a:off x="2873640" y="1774907"/>
              <a:ext cx="457834" cy="836294"/>
            </a:xfrm>
            <a:custGeom>
              <a:avLst/>
              <a:gdLst/>
              <a:ahLst/>
              <a:cxnLst/>
              <a:rect l="l" t="t" r="r" b="b"/>
              <a:pathLst>
                <a:path w="457835" h="836294">
                  <a:moveTo>
                    <a:pt x="0" y="835967"/>
                  </a:moveTo>
                  <a:lnTo>
                    <a:pt x="30426" y="748456"/>
                  </a:lnTo>
                  <a:lnTo>
                    <a:pt x="61531" y="666299"/>
                  </a:lnTo>
                  <a:lnTo>
                    <a:pt x="93068" y="589402"/>
                  </a:lnTo>
                  <a:lnTo>
                    <a:pt x="124796" y="517675"/>
                  </a:lnTo>
                  <a:lnTo>
                    <a:pt x="156468" y="451026"/>
                  </a:lnTo>
                  <a:lnTo>
                    <a:pt x="187841" y="389365"/>
                  </a:lnTo>
                  <a:lnTo>
                    <a:pt x="218672" y="332598"/>
                  </a:lnTo>
                  <a:lnTo>
                    <a:pt x="248715" y="280637"/>
                  </a:lnTo>
                  <a:lnTo>
                    <a:pt x="277727" y="233388"/>
                  </a:lnTo>
                  <a:lnTo>
                    <a:pt x="305463" y="190760"/>
                  </a:lnTo>
                  <a:lnTo>
                    <a:pt x="331680" y="152663"/>
                  </a:lnTo>
                  <a:lnTo>
                    <a:pt x="356132" y="119004"/>
                  </a:lnTo>
                  <a:lnTo>
                    <a:pt x="398770" y="64637"/>
                  </a:lnTo>
                  <a:lnTo>
                    <a:pt x="431423" y="26928"/>
                  </a:lnTo>
                  <a:lnTo>
                    <a:pt x="452138" y="5146"/>
                  </a:lnTo>
                  <a:lnTo>
                    <a:pt x="457408" y="0"/>
                  </a:lnTo>
                </a:path>
              </a:pathLst>
            </a:custGeom>
            <a:ln w="7620">
              <a:solidFill>
                <a:srgbClr val="231F20"/>
              </a:solidFill>
            </a:ln>
          </p:spPr>
          <p:txBody>
            <a:bodyPr wrap="square" lIns="0" tIns="0" rIns="0" bIns="0" rtlCol="0"/>
            <a:lstStyle/>
            <a:p>
              <a:endParaRPr/>
            </a:p>
          </p:txBody>
        </p:sp>
        <p:pic>
          <p:nvPicPr>
            <p:cNvPr id="65" name="object 65"/>
            <p:cNvPicPr/>
            <p:nvPr/>
          </p:nvPicPr>
          <p:blipFill>
            <a:blip r:embed="rId11" cstate="print"/>
            <a:stretch>
              <a:fillRect/>
            </a:stretch>
          </p:blipFill>
          <p:spPr>
            <a:xfrm>
              <a:off x="3260528" y="1737707"/>
              <a:ext cx="109715" cy="107454"/>
            </a:xfrm>
            <a:prstGeom prst="rect">
              <a:avLst/>
            </a:prstGeom>
          </p:spPr>
        </p:pic>
        <p:sp>
          <p:nvSpPr>
            <p:cNvPr id="66" name="object 66"/>
            <p:cNvSpPr/>
            <p:nvPr/>
          </p:nvSpPr>
          <p:spPr>
            <a:xfrm>
              <a:off x="2934815" y="1759686"/>
              <a:ext cx="466090" cy="833755"/>
            </a:xfrm>
            <a:custGeom>
              <a:avLst/>
              <a:gdLst/>
              <a:ahLst/>
              <a:cxnLst/>
              <a:rect l="l" t="t" r="r" b="b"/>
              <a:pathLst>
                <a:path w="466089" h="833755">
                  <a:moveTo>
                    <a:pt x="465594" y="0"/>
                  </a:moveTo>
                  <a:lnTo>
                    <a:pt x="435226" y="87349"/>
                  </a:lnTo>
                  <a:lnTo>
                    <a:pt x="404278" y="169057"/>
                  </a:lnTo>
                  <a:lnTo>
                    <a:pt x="372966" y="245267"/>
                  </a:lnTo>
                  <a:lnTo>
                    <a:pt x="341509" y="316122"/>
                  </a:lnTo>
                  <a:lnTo>
                    <a:pt x="310123" y="381764"/>
                  </a:lnTo>
                  <a:lnTo>
                    <a:pt x="279027" y="442336"/>
                  </a:lnTo>
                  <a:lnTo>
                    <a:pt x="248437" y="497980"/>
                  </a:lnTo>
                  <a:lnTo>
                    <a:pt x="218570" y="548839"/>
                  </a:lnTo>
                  <a:lnTo>
                    <a:pt x="189645" y="595055"/>
                  </a:lnTo>
                  <a:lnTo>
                    <a:pt x="161879" y="636772"/>
                  </a:lnTo>
                  <a:lnTo>
                    <a:pt x="135489" y="674132"/>
                  </a:lnTo>
                  <a:lnTo>
                    <a:pt x="110692" y="707277"/>
                  </a:lnTo>
                  <a:lnTo>
                    <a:pt x="66750" y="761494"/>
                  </a:lnTo>
                  <a:lnTo>
                    <a:pt x="31790" y="800564"/>
                  </a:lnTo>
                  <a:lnTo>
                    <a:pt x="7553" y="825628"/>
                  </a:lnTo>
                  <a:lnTo>
                    <a:pt x="0" y="833265"/>
                  </a:lnTo>
                </a:path>
              </a:pathLst>
            </a:custGeom>
            <a:ln w="7620">
              <a:solidFill>
                <a:srgbClr val="231F20"/>
              </a:solidFill>
            </a:ln>
          </p:spPr>
          <p:txBody>
            <a:bodyPr wrap="square" lIns="0" tIns="0" rIns="0" bIns="0" rtlCol="0"/>
            <a:lstStyle/>
            <a:p>
              <a:endParaRPr/>
            </a:p>
          </p:txBody>
        </p:sp>
        <p:pic>
          <p:nvPicPr>
            <p:cNvPr id="67" name="object 67"/>
            <p:cNvPicPr/>
            <p:nvPr/>
          </p:nvPicPr>
          <p:blipFill>
            <a:blip r:embed="rId12" cstate="print"/>
            <a:stretch>
              <a:fillRect/>
            </a:stretch>
          </p:blipFill>
          <p:spPr>
            <a:xfrm>
              <a:off x="2897090" y="2522471"/>
              <a:ext cx="108066" cy="109168"/>
            </a:xfrm>
            <a:prstGeom prst="rect">
              <a:avLst/>
            </a:prstGeom>
          </p:spPr>
        </p:pic>
        <p:sp>
          <p:nvSpPr>
            <p:cNvPr id="68" name="object 68"/>
            <p:cNvSpPr/>
            <p:nvPr/>
          </p:nvSpPr>
          <p:spPr>
            <a:xfrm>
              <a:off x="3537217" y="1810072"/>
              <a:ext cx="481330" cy="822960"/>
            </a:xfrm>
            <a:custGeom>
              <a:avLst/>
              <a:gdLst/>
              <a:ahLst/>
              <a:cxnLst/>
              <a:rect l="l" t="t" r="r" b="b"/>
              <a:pathLst>
                <a:path w="481329" h="822960">
                  <a:moveTo>
                    <a:pt x="480757" y="822757"/>
                  </a:moveTo>
                  <a:lnTo>
                    <a:pt x="421436" y="751590"/>
                  </a:lnTo>
                  <a:lnTo>
                    <a:pt x="367052" y="682600"/>
                  </a:lnTo>
                  <a:lnTo>
                    <a:pt x="317399" y="615949"/>
                  </a:lnTo>
                  <a:lnTo>
                    <a:pt x="272275" y="551800"/>
                  </a:lnTo>
                  <a:lnTo>
                    <a:pt x="231475" y="490315"/>
                  </a:lnTo>
                  <a:lnTo>
                    <a:pt x="194795" y="431655"/>
                  </a:lnTo>
                  <a:lnTo>
                    <a:pt x="162031" y="375983"/>
                  </a:lnTo>
                  <a:lnTo>
                    <a:pt x="132979" y="323461"/>
                  </a:lnTo>
                  <a:lnTo>
                    <a:pt x="107434" y="274251"/>
                  </a:lnTo>
                  <a:lnTo>
                    <a:pt x="85193" y="228516"/>
                  </a:lnTo>
                  <a:lnTo>
                    <a:pt x="66051" y="186417"/>
                  </a:lnTo>
                  <a:lnTo>
                    <a:pt x="49805" y="148117"/>
                  </a:lnTo>
                  <a:lnTo>
                    <a:pt x="25181" y="83561"/>
                  </a:lnTo>
                  <a:lnTo>
                    <a:pt x="9689" y="36146"/>
                  </a:lnTo>
                  <a:lnTo>
                    <a:pt x="1695" y="7169"/>
                  </a:lnTo>
                  <a:lnTo>
                    <a:pt x="0" y="0"/>
                  </a:lnTo>
                </a:path>
              </a:pathLst>
            </a:custGeom>
            <a:ln w="7620">
              <a:solidFill>
                <a:srgbClr val="231F20"/>
              </a:solidFill>
            </a:ln>
          </p:spPr>
          <p:txBody>
            <a:bodyPr wrap="square" lIns="0" tIns="0" rIns="0" bIns="0" rtlCol="0"/>
            <a:lstStyle/>
            <a:p>
              <a:endParaRPr/>
            </a:p>
          </p:txBody>
        </p:sp>
        <p:pic>
          <p:nvPicPr>
            <p:cNvPr id="69" name="object 69"/>
            <p:cNvPicPr/>
            <p:nvPr/>
          </p:nvPicPr>
          <p:blipFill>
            <a:blip r:embed="rId13" cstate="print"/>
            <a:stretch>
              <a:fillRect/>
            </a:stretch>
          </p:blipFill>
          <p:spPr>
            <a:xfrm>
              <a:off x="3503791" y="1757316"/>
              <a:ext cx="89992" cy="114955"/>
            </a:xfrm>
            <a:prstGeom prst="rect">
              <a:avLst/>
            </a:prstGeom>
          </p:spPr>
        </p:pic>
        <p:sp>
          <p:nvSpPr>
            <p:cNvPr id="70" name="object 70"/>
            <p:cNvSpPr/>
            <p:nvPr/>
          </p:nvSpPr>
          <p:spPr>
            <a:xfrm>
              <a:off x="3559911" y="1742785"/>
              <a:ext cx="474345" cy="828675"/>
            </a:xfrm>
            <a:custGeom>
              <a:avLst/>
              <a:gdLst/>
              <a:ahLst/>
              <a:cxnLst/>
              <a:rect l="l" t="t" r="r" b="b"/>
              <a:pathLst>
                <a:path w="474345" h="828675">
                  <a:moveTo>
                    <a:pt x="0" y="0"/>
                  </a:moveTo>
                  <a:lnTo>
                    <a:pt x="59213" y="71033"/>
                  </a:lnTo>
                  <a:lnTo>
                    <a:pt x="113293" y="139659"/>
                  </a:lnTo>
                  <a:lnTo>
                    <a:pt x="162474" y="205762"/>
                  </a:lnTo>
                  <a:lnTo>
                    <a:pt x="206990" y="269231"/>
                  </a:lnTo>
                  <a:lnTo>
                    <a:pt x="247075" y="329952"/>
                  </a:lnTo>
                  <a:lnTo>
                    <a:pt x="282963" y="387814"/>
                  </a:lnTo>
                  <a:lnTo>
                    <a:pt x="314890" y="442702"/>
                  </a:lnTo>
                  <a:lnTo>
                    <a:pt x="343088" y="494504"/>
                  </a:lnTo>
                  <a:lnTo>
                    <a:pt x="367792" y="543108"/>
                  </a:lnTo>
                  <a:lnTo>
                    <a:pt x="389237" y="588399"/>
                  </a:lnTo>
                  <a:lnTo>
                    <a:pt x="407657" y="630267"/>
                  </a:lnTo>
                  <a:lnTo>
                    <a:pt x="423286" y="668597"/>
                  </a:lnTo>
                  <a:lnTo>
                    <a:pt x="447108" y="734194"/>
                  </a:lnTo>
                  <a:lnTo>
                    <a:pt x="462577" y="784287"/>
                  </a:lnTo>
                  <a:lnTo>
                    <a:pt x="471567" y="817974"/>
                  </a:lnTo>
                  <a:lnTo>
                    <a:pt x="474218" y="828383"/>
                  </a:lnTo>
                </a:path>
              </a:pathLst>
            </a:custGeom>
            <a:ln w="7620">
              <a:solidFill>
                <a:srgbClr val="231F20"/>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3975973" y="2507726"/>
              <a:ext cx="89153" cy="115709"/>
            </a:xfrm>
            <a:prstGeom prst="rect">
              <a:avLst/>
            </a:prstGeom>
          </p:spPr>
        </p:pic>
      </p:grpSp>
      <p:sp>
        <p:nvSpPr>
          <p:cNvPr id="72" name="object 72"/>
          <p:cNvSpPr txBox="1"/>
          <p:nvPr/>
        </p:nvSpPr>
        <p:spPr>
          <a:xfrm>
            <a:off x="2767322" y="2638815"/>
            <a:ext cx="174625"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B2</a:t>
            </a:r>
            <a:endParaRPr sz="950">
              <a:latin typeface="Arial"/>
              <a:cs typeface="Arial"/>
            </a:endParaRPr>
          </a:p>
        </p:txBody>
      </p:sp>
      <p:sp>
        <p:nvSpPr>
          <p:cNvPr id="73" name="object 73"/>
          <p:cNvSpPr txBox="1"/>
          <p:nvPr/>
        </p:nvSpPr>
        <p:spPr>
          <a:xfrm>
            <a:off x="3488502" y="2048069"/>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74" name="object 74"/>
          <p:cNvSpPr txBox="1"/>
          <p:nvPr/>
        </p:nvSpPr>
        <p:spPr>
          <a:xfrm>
            <a:off x="3604897" y="2320324"/>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75" name="object 75"/>
          <p:cNvSpPr txBox="1"/>
          <p:nvPr/>
        </p:nvSpPr>
        <p:spPr>
          <a:xfrm>
            <a:off x="3412295" y="2810118"/>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76" name="object 76"/>
          <p:cNvSpPr txBox="1"/>
          <p:nvPr/>
        </p:nvSpPr>
        <p:spPr>
          <a:xfrm>
            <a:off x="3717114" y="2124276"/>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77" name="object 77"/>
          <p:cNvSpPr txBox="1"/>
          <p:nvPr/>
        </p:nvSpPr>
        <p:spPr>
          <a:xfrm>
            <a:off x="3681098" y="1786889"/>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78" name="object 78"/>
          <p:cNvSpPr txBox="1"/>
          <p:nvPr/>
        </p:nvSpPr>
        <p:spPr>
          <a:xfrm>
            <a:off x="2956639" y="2048070"/>
            <a:ext cx="241935" cy="229870"/>
          </a:xfrm>
          <a:prstGeom prst="rect">
            <a:avLst/>
          </a:prstGeom>
        </p:spPr>
        <p:txBody>
          <a:bodyPr vert="horz" wrap="square" lIns="0" tIns="17780" rIns="0" bIns="0" rtlCol="0">
            <a:spAutoFit/>
          </a:bodyPr>
          <a:lstStyle/>
          <a:p>
            <a:pPr marL="12700">
              <a:lnSpc>
                <a:spcPts val="780"/>
              </a:lnSpc>
              <a:spcBef>
                <a:spcPts val="140"/>
              </a:spcBef>
            </a:pPr>
            <a:r>
              <a:rPr sz="800" spc="20" dirty="0">
                <a:solidFill>
                  <a:srgbClr val="231F20"/>
                </a:solidFill>
                <a:latin typeface="Arial"/>
                <a:cs typeface="Arial"/>
              </a:rPr>
              <a:t>F</a:t>
            </a:r>
            <a:endParaRPr sz="800">
              <a:latin typeface="Arial"/>
              <a:cs typeface="Arial"/>
            </a:endParaRPr>
          </a:p>
          <a:p>
            <a:pPr marL="163195">
              <a:lnSpc>
                <a:spcPts val="780"/>
              </a:lnSpc>
            </a:pPr>
            <a:r>
              <a:rPr sz="800" spc="20" dirty="0">
                <a:solidFill>
                  <a:srgbClr val="231F20"/>
                </a:solidFill>
                <a:latin typeface="Arial"/>
                <a:cs typeface="Arial"/>
              </a:rPr>
              <a:t>T</a:t>
            </a:r>
            <a:endParaRPr sz="800">
              <a:latin typeface="Arial"/>
              <a:cs typeface="Arial"/>
            </a:endParaRPr>
          </a:p>
        </p:txBody>
      </p:sp>
      <p:sp>
        <p:nvSpPr>
          <p:cNvPr id="79" name="object 79"/>
          <p:cNvSpPr txBox="1"/>
          <p:nvPr/>
        </p:nvSpPr>
        <p:spPr>
          <a:xfrm>
            <a:off x="3413874" y="2505301"/>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F</a:t>
            </a:r>
            <a:endParaRPr sz="800">
              <a:latin typeface="Arial"/>
              <a:cs typeface="Arial"/>
            </a:endParaRPr>
          </a:p>
        </p:txBody>
      </p:sp>
      <p:sp>
        <p:nvSpPr>
          <p:cNvPr id="80" name="object 80"/>
          <p:cNvSpPr txBox="1"/>
          <p:nvPr/>
        </p:nvSpPr>
        <p:spPr>
          <a:xfrm>
            <a:off x="3219701" y="2320325"/>
            <a:ext cx="90805" cy="153670"/>
          </a:xfrm>
          <a:prstGeom prst="rect">
            <a:avLst/>
          </a:prstGeom>
        </p:spPr>
        <p:txBody>
          <a:bodyPr vert="horz" wrap="square" lIns="0" tIns="17780" rIns="0" bIns="0" rtlCol="0">
            <a:spAutoFit/>
          </a:bodyPr>
          <a:lstStyle/>
          <a:p>
            <a:pPr marL="12700">
              <a:lnSpc>
                <a:spcPct val="100000"/>
              </a:lnSpc>
              <a:spcBef>
                <a:spcPts val="140"/>
              </a:spcBef>
            </a:pPr>
            <a:r>
              <a:rPr sz="800" spc="20" dirty="0">
                <a:solidFill>
                  <a:srgbClr val="231F20"/>
                </a:solidFill>
                <a:latin typeface="Arial"/>
                <a:cs typeface="Arial"/>
              </a:rPr>
              <a:t>T</a:t>
            </a:r>
            <a:endParaRPr sz="800">
              <a:latin typeface="Arial"/>
              <a:cs typeface="Arial"/>
            </a:endParaRPr>
          </a:p>
        </p:txBody>
      </p:sp>
      <p:sp>
        <p:nvSpPr>
          <p:cNvPr id="81" name="object 81"/>
          <p:cNvSpPr txBox="1"/>
          <p:nvPr/>
        </p:nvSpPr>
        <p:spPr>
          <a:xfrm>
            <a:off x="3985676" y="2631558"/>
            <a:ext cx="624840"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B3 </a:t>
            </a:r>
            <a:r>
              <a:rPr sz="950" spc="215" dirty="0">
                <a:solidFill>
                  <a:srgbClr val="231F20"/>
                </a:solidFill>
                <a:latin typeface="Arial"/>
                <a:cs typeface="Arial"/>
              </a:rPr>
              <a:t> </a:t>
            </a:r>
            <a:r>
              <a:rPr sz="1425" spc="-44" baseline="2923" dirty="0">
                <a:solidFill>
                  <a:srgbClr val="231F20"/>
                </a:solidFill>
                <a:latin typeface="Arial"/>
                <a:cs typeface="Arial"/>
              </a:rPr>
              <a:t>{T,{T,F</a:t>
            </a:r>
            <a:endParaRPr sz="1425" baseline="2923">
              <a:latin typeface="Arial"/>
              <a:cs typeface="Arial"/>
            </a:endParaRPr>
          </a:p>
        </p:txBody>
      </p:sp>
      <p:sp>
        <p:nvSpPr>
          <p:cNvPr id="82" name="object 82"/>
          <p:cNvSpPr txBox="1"/>
          <p:nvPr/>
        </p:nvSpPr>
        <p:spPr>
          <a:xfrm>
            <a:off x="2245866" y="2630375"/>
            <a:ext cx="452755" cy="172085"/>
          </a:xfrm>
          <a:prstGeom prst="rect">
            <a:avLst/>
          </a:prstGeom>
        </p:spPr>
        <p:txBody>
          <a:bodyPr vert="horz" wrap="square" lIns="0" tIns="13970" rIns="0" bIns="0" rtlCol="0">
            <a:spAutoFit/>
          </a:bodyPr>
          <a:lstStyle/>
          <a:p>
            <a:pPr marL="12700">
              <a:lnSpc>
                <a:spcPct val="100000"/>
              </a:lnSpc>
              <a:spcBef>
                <a:spcPts val="110"/>
              </a:spcBef>
            </a:pPr>
            <a:r>
              <a:rPr sz="950" spc="-25" dirty="0">
                <a:solidFill>
                  <a:srgbClr val="231F20"/>
                </a:solidFill>
                <a:latin typeface="Arial"/>
                <a:cs typeface="Arial"/>
              </a:rPr>
              <a:t>{T,{T,T}}</a:t>
            </a:r>
            <a:endParaRPr sz="950">
              <a:latin typeface="Arial"/>
              <a:cs typeface="Arial"/>
            </a:endParaRPr>
          </a:p>
        </p:txBody>
      </p:sp>
      <p:grpSp>
        <p:nvGrpSpPr>
          <p:cNvPr id="83" name="object 83"/>
          <p:cNvGrpSpPr/>
          <p:nvPr/>
        </p:nvGrpSpPr>
        <p:grpSpPr>
          <a:xfrm>
            <a:off x="2951073" y="1777056"/>
            <a:ext cx="1043940" cy="896619"/>
            <a:chOff x="2951073" y="1777056"/>
            <a:chExt cx="1043940" cy="896619"/>
          </a:xfrm>
        </p:grpSpPr>
        <p:sp>
          <p:nvSpPr>
            <p:cNvPr id="84" name="object 84"/>
            <p:cNvSpPr/>
            <p:nvPr/>
          </p:nvSpPr>
          <p:spPr>
            <a:xfrm>
              <a:off x="3461011" y="1831099"/>
              <a:ext cx="0" cy="407034"/>
            </a:xfrm>
            <a:custGeom>
              <a:avLst/>
              <a:gdLst/>
              <a:ahLst/>
              <a:cxnLst/>
              <a:rect l="l" t="t" r="r" b="b"/>
              <a:pathLst>
                <a:path h="407035">
                  <a:moveTo>
                    <a:pt x="0" y="407014"/>
                  </a:moveTo>
                  <a:lnTo>
                    <a:pt x="0" y="0"/>
                  </a:lnTo>
                </a:path>
              </a:pathLst>
            </a:custGeom>
            <a:ln w="7620">
              <a:solidFill>
                <a:srgbClr val="231F20"/>
              </a:solidFill>
              <a:prstDash val="lgDash"/>
            </a:ln>
          </p:spPr>
          <p:txBody>
            <a:bodyPr wrap="square" lIns="0" tIns="0" rIns="0" bIns="0" rtlCol="0"/>
            <a:lstStyle/>
            <a:p>
              <a:endParaRPr/>
            </a:p>
          </p:txBody>
        </p:sp>
        <p:pic>
          <p:nvPicPr>
            <p:cNvPr id="85" name="object 85"/>
            <p:cNvPicPr/>
            <p:nvPr/>
          </p:nvPicPr>
          <p:blipFill>
            <a:blip r:embed="rId15" cstate="print"/>
            <a:stretch>
              <a:fillRect/>
            </a:stretch>
          </p:blipFill>
          <p:spPr>
            <a:xfrm>
              <a:off x="3414928" y="1777056"/>
              <a:ext cx="92171" cy="107531"/>
            </a:xfrm>
            <a:prstGeom prst="rect">
              <a:avLst/>
            </a:prstGeom>
          </p:spPr>
        </p:pic>
        <p:sp>
          <p:nvSpPr>
            <p:cNvPr id="86" name="object 86"/>
            <p:cNvSpPr/>
            <p:nvPr/>
          </p:nvSpPr>
          <p:spPr>
            <a:xfrm>
              <a:off x="2998173" y="2432620"/>
              <a:ext cx="381635" cy="214629"/>
            </a:xfrm>
            <a:custGeom>
              <a:avLst/>
              <a:gdLst/>
              <a:ahLst/>
              <a:cxnLst/>
              <a:rect l="l" t="t" r="r" b="b"/>
              <a:pathLst>
                <a:path w="381635" h="214630">
                  <a:moveTo>
                    <a:pt x="381393" y="0"/>
                  </a:moveTo>
                  <a:lnTo>
                    <a:pt x="0" y="214551"/>
                  </a:lnTo>
                </a:path>
              </a:pathLst>
            </a:custGeom>
            <a:ln w="7620">
              <a:solidFill>
                <a:srgbClr val="231F20"/>
              </a:solidFill>
              <a:prstDash val="lgDash"/>
            </a:ln>
          </p:spPr>
          <p:txBody>
            <a:bodyPr wrap="square" lIns="0" tIns="0" rIns="0" bIns="0" rtlCol="0"/>
            <a:lstStyle/>
            <a:p>
              <a:endParaRPr/>
            </a:p>
          </p:txBody>
        </p:sp>
        <p:pic>
          <p:nvPicPr>
            <p:cNvPr id="87" name="object 87"/>
            <p:cNvPicPr/>
            <p:nvPr/>
          </p:nvPicPr>
          <p:blipFill>
            <a:blip r:embed="rId28" cstate="print"/>
            <a:stretch>
              <a:fillRect/>
            </a:stretch>
          </p:blipFill>
          <p:spPr>
            <a:xfrm>
              <a:off x="2951073" y="2580776"/>
              <a:ext cx="116311" cy="92886"/>
            </a:xfrm>
            <a:prstGeom prst="rect">
              <a:avLst/>
            </a:prstGeom>
          </p:spPr>
        </p:pic>
        <p:sp>
          <p:nvSpPr>
            <p:cNvPr id="88" name="object 88"/>
            <p:cNvSpPr/>
            <p:nvPr/>
          </p:nvSpPr>
          <p:spPr>
            <a:xfrm>
              <a:off x="3546819" y="2427935"/>
              <a:ext cx="400050" cy="205104"/>
            </a:xfrm>
            <a:custGeom>
              <a:avLst/>
              <a:gdLst/>
              <a:ahLst/>
              <a:cxnLst/>
              <a:rect l="l" t="t" r="r" b="b"/>
              <a:pathLst>
                <a:path w="400050" h="205105">
                  <a:moveTo>
                    <a:pt x="0" y="0"/>
                  </a:moveTo>
                  <a:lnTo>
                    <a:pt x="399527" y="204668"/>
                  </a:lnTo>
                </a:path>
              </a:pathLst>
            </a:custGeom>
            <a:ln w="7620">
              <a:solidFill>
                <a:srgbClr val="231F20"/>
              </a:solidFill>
              <a:prstDash val="lgDash"/>
            </a:ln>
          </p:spPr>
          <p:txBody>
            <a:bodyPr wrap="square" lIns="0" tIns="0" rIns="0" bIns="0" rtlCol="0"/>
            <a:lstStyle/>
            <a:p>
              <a:endParaRPr/>
            </a:p>
          </p:txBody>
        </p:sp>
        <p:pic>
          <p:nvPicPr>
            <p:cNvPr id="89" name="object 89"/>
            <p:cNvPicPr/>
            <p:nvPr/>
          </p:nvPicPr>
          <p:blipFill>
            <a:blip r:embed="rId29" cstate="print"/>
            <a:stretch>
              <a:fillRect/>
            </a:stretch>
          </p:blipFill>
          <p:spPr>
            <a:xfrm>
              <a:off x="3877736" y="2567197"/>
              <a:ext cx="116707" cy="90047"/>
            </a:xfrm>
            <a:prstGeom prst="rect">
              <a:avLst/>
            </a:prstGeom>
          </p:spPr>
        </p:pic>
      </p:grpSp>
      <p:sp>
        <p:nvSpPr>
          <p:cNvPr id="90" name="object 90"/>
          <p:cNvSpPr txBox="1"/>
          <p:nvPr/>
        </p:nvSpPr>
        <p:spPr>
          <a:xfrm>
            <a:off x="3410306" y="2261445"/>
            <a:ext cx="107314" cy="172085"/>
          </a:xfrm>
          <a:prstGeom prst="rect">
            <a:avLst/>
          </a:prstGeom>
        </p:spPr>
        <p:txBody>
          <a:bodyPr vert="horz" wrap="square" lIns="0" tIns="13970" rIns="0" bIns="0" rtlCol="0">
            <a:spAutoFit/>
          </a:bodyPr>
          <a:lstStyle/>
          <a:p>
            <a:pPr marL="12700">
              <a:lnSpc>
                <a:spcPct val="100000"/>
              </a:lnSpc>
              <a:spcBef>
                <a:spcPts val="110"/>
              </a:spcBef>
            </a:pPr>
            <a:r>
              <a:rPr sz="950" spc="5" dirty="0">
                <a:solidFill>
                  <a:srgbClr val="231F20"/>
                </a:solidFill>
                <a:latin typeface="Arial"/>
                <a:cs typeface="Arial"/>
              </a:rPr>
              <a:t>P</a:t>
            </a:r>
            <a:endParaRPr sz="950">
              <a:latin typeface="Arial"/>
              <a:cs typeface="Arial"/>
            </a:endParaRPr>
          </a:p>
        </p:txBody>
      </p:sp>
      <p:sp>
        <p:nvSpPr>
          <p:cNvPr id="91" name="object 91"/>
          <p:cNvSpPr txBox="1"/>
          <p:nvPr/>
        </p:nvSpPr>
        <p:spPr>
          <a:xfrm>
            <a:off x="2838676" y="1544516"/>
            <a:ext cx="452755" cy="172085"/>
          </a:xfrm>
          <a:prstGeom prst="rect">
            <a:avLst/>
          </a:prstGeom>
        </p:spPr>
        <p:txBody>
          <a:bodyPr vert="horz" wrap="square" lIns="0" tIns="13970" rIns="0" bIns="0" rtlCol="0">
            <a:spAutoFit/>
          </a:bodyPr>
          <a:lstStyle/>
          <a:p>
            <a:pPr marL="12700">
              <a:lnSpc>
                <a:spcPct val="100000"/>
              </a:lnSpc>
              <a:spcBef>
                <a:spcPts val="110"/>
              </a:spcBef>
            </a:pPr>
            <a:r>
              <a:rPr sz="950" spc="-25" dirty="0">
                <a:solidFill>
                  <a:srgbClr val="231F20"/>
                </a:solidFill>
                <a:latin typeface="Arial"/>
                <a:cs typeface="Arial"/>
              </a:rPr>
              <a:t>{T,{T,F}}</a:t>
            </a:r>
            <a:endParaRPr sz="950">
              <a:latin typeface="Arial"/>
              <a:cs typeface="Arial"/>
            </a:endParaRPr>
          </a:p>
        </p:txBody>
      </p:sp>
      <p:sp>
        <p:nvSpPr>
          <p:cNvPr id="92" name="object 92"/>
          <p:cNvSpPr txBox="1"/>
          <p:nvPr/>
        </p:nvSpPr>
        <p:spPr>
          <a:xfrm>
            <a:off x="66713" y="3327684"/>
            <a:ext cx="13671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0" action="ppaction://hlinksldjump"/>
              </a:rPr>
              <a:t>W</a:t>
            </a:r>
            <a:r>
              <a:rPr sz="600" spc="-25" dirty="0">
                <a:solidFill>
                  <a:srgbClr val="3333B2"/>
                </a:solidFill>
                <a:latin typeface="Arial"/>
                <a:cs typeface="Arial"/>
                <a:hlinkClick r:id="rId30" action="ppaction://hlinksldjump"/>
              </a:rPr>
              <a:t>h</a:t>
            </a:r>
            <a:r>
              <a:rPr sz="600" spc="-5" dirty="0">
                <a:solidFill>
                  <a:srgbClr val="3333B2"/>
                </a:solidFill>
                <a:latin typeface="Arial"/>
                <a:cs typeface="Arial"/>
                <a:hlinkClick r:id="rId30" action="ppaction://hlinksldjump"/>
              </a:rPr>
              <a:t>y h</a:t>
            </a:r>
            <a:r>
              <a:rPr sz="600" spc="-20" dirty="0">
                <a:solidFill>
                  <a:srgbClr val="3333B2"/>
                </a:solidFill>
                <a:latin typeface="Arial"/>
                <a:cs typeface="Arial"/>
                <a:hlinkClick r:id="rId30" action="ppaction://hlinksldjump"/>
              </a:rPr>
              <a:t>a</a:t>
            </a:r>
            <a:r>
              <a:rPr sz="600" spc="-5" dirty="0">
                <a:solidFill>
                  <a:srgbClr val="3333B2"/>
                </a:solidFill>
                <a:latin typeface="Arial"/>
                <a:cs typeface="Arial"/>
                <a:hlinkClick r:id="rId30" action="ppaction://hlinksldjump"/>
              </a:rPr>
              <a:t>ving </a:t>
            </a:r>
            <a:r>
              <a:rPr sz="600" b="1" spc="-5" dirty="0">
                <a:solidFill>
                  <a:srgbClr val="3333B2"/>
                </a:solidFill>
                <a:latin typeface="Arial"/>
                <a:cs typeface="Arial"/>
                <a:hlinkClick r:id="rId30" action="ppaction://hlinksldjump"/>
              </a:rPr>
              <a:t>3k</a:t>
            </a:r>
            <a:r>
              <a:rPr sz="600" b="1" spc="-85" dirty="0">
                <a:solidFill>
                  <a:srgbClr val="3333B2"/>
                </a:solidFill>
                <a:latin typeface="Arial"/>
                <a:cs typeface="Arial"/>
                <a:hlinkClick r:id="rId30" action="ppaction://hlinksldjump"/>
              </a:rPr>
              <a:t> </a:t>
            </a:r>
            <a:r>
              <a:rPr sz="600" spc="140" dirty="0">
                <a:solidFill>
                  <a:srgbClr val="3333B2"/>
                </a:solidFill>
                <a:latin typeface="Arial"/>
                <a:cs typeface="Arial"/>
                <a:hlinkClick r:id="rId30" action="ppaction://hlinksldjump"/>
              </a:rPr>
              <a:t>+</a:t>
            </a:r>
            <a:r>
              <a:rPr sz="600" spc="-85" dirty="0">
                <a:solidFill>
                  <a:srgbClr val="3333B2"/>
                </a:solidFill>
                <a:latin typeface="Arial"/>
                <a:cs typeface="Arial"/>
                <a:hlinkClick r:id="rId30" action="ppaction://hlinksldjump"/>
              </a:rPr>
              <a:t> </a:t>
            </a:r>
            <a:r>
              <a:rPr sz="600" b="1" spc="-5" dirty="0">
                <a:solidFill>
                  <a:srgbClr val="3333B2"/>
                </a:solidFill>
                <a:latin typeface="Arial"/>
                <a:cs typeface="Arial"/>
                <a:hlinkClick r:id="rId30" action="ppaction://hlinksldjump"/>
              </a:rPr>
              <a:t>1 </a:t>
            </a:r>
            <a:r>
              <a:rPr sz="600" spc="-5" dirty="0">
                <a:solidFill>
                  <a:srgbClr val="3333B2"/>
                </a:solidFill>
                <a:latin typeface="Arial"/>
                <a:cs typeface="Arial"/>
                <a:hlinkClick r:id="rId30" action="ppaction://hlinksldjump"/>
              </a:rPr>
              <a:t>processes is enough</a:t>
            </a:r>
            <a:endParaRPr sz="600">
              <a:latin typeface="Arial"/>
              <a:cs typeface="Arial"/>
            </a:endParaRPr>
          </a:p>
        </p:txBody>
      </p:sp>
      <p:sp>
        <p:nvSpPr>
          <p:cNvPr id="93" name="object 93"/>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054899" y="716"/>
            <a:ext cx="14865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Some limitations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on</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realizing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fault</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tolerance</a:t>
            </a:r>
            <a:endParaRPr sz="600">
              <a:latin typeface="Arial"/>
              <a:cs typeface="Arial"/>
            </a:endParaRPr>
          </a:p>
        </p:txBody>
      </p:sp>
      <p:sp>
        <p:nvSpPr>
          <p:cNvPr id="4" name="object 4"/>
          <p:cNvSpPr txBox="1"/>
          <p:nvPr/>
        </p:nvSpPr>
        <p:spPr>
          <a:xfrm>
            <a:off x="95300" y="188846"/>
            <a:ext cx="196278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Realizing</a:t>
            </a:r>
            <a:r>
              <a:rPr sz="1400" spc="-15" dirty="0">
                <a:solidFill>
                  <a:srgbClr val="3333B2"/>
                </a:solidFill>
                <a:latin typeface="Arial"/>
                <a:cs typeface="Arial"/>
              </a:rPr>
              <a:t> </a:t>
            </a:r>
            <a:r>
              <a:rPr sz="1400" dirty="0">
                <a:solidFill>
                  <a:srgbClr val="3333B2"/>
                </a:solidFill>
                <a:latin typeface="Arial"/>
                <a:cs typeface="Arial"/>
              </a:rPr>
              <a:t>fault</a:t>
            </a:r>
            <a:r>
              <a:rPr sz="1400" spc="-15" dirty="0">
                <a:solidFill>
                  <a:srgbClr val="3333B2"/>
                </a:solidFill>
                <a:latin typeface="Arial"/>
                <a:cs typeface="Arial"/>
              </a:rPr>
              <a:t> </a:t>
            </a:r>
            <a:r>
              <a:rPr sz="1400" spc="10" dirty="0">
                <a:solidFill>
                  <a:srgbClr val="3333B2"/>
                </a:solidFill>
                <a:latin typeface="Arial"/>
                <a:cs typeface="Arial"/>
              </a:rPr>
              <a:t>tolerance</a:t>
            </a:r>
            <a:endParaRPr sz="1400">
              <a:latin typeface="Arial"/>
              <a:cs typeface="Arial"/>
            </a:endParaRPr>
          </a:p>
        </p:txBody>
      </p:sp>
      <p:sp>
        <p:nvSpPr>
          <p:cNvPr id="5" name="object 5"/>
          <p:cNvSpPr txBox="1"/>
          <p:nvPr/>
        </p:nvSpPr>
        <p:spPr>
          <a:xfrm>
            <a:off x="317728" y="867267"/>
            <a:ext cx="3983990" cy="1686560"/>
          </a:xfrm>
          <a:prstGeom prst="rect">
            <a:avLst/>
          </a:prstGeom>
        </p:spPr>
        <p:txBody>
          <a:bodyPr vert="horz" wrap="square" lIns="0" tIns="12065" rIns="0" bIns="0" rtlCol="0">
            <a:spAutoFit/>
          </a:bodyPr>
          <a:lstStyle/>
          <a:p>
            <a:pPr marL="41910">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41910" marR="30480">
              <a:lnSpc>
                <a:spcPts val="1200"/>
              </a:lnSpc>
              <a:spcBef>
                <a:spcPts val="10"/>
              </a:spcBef>
            </a:pPr>
            <a:r>
              <a:rPr sz="1000" spc="-5" dirty="0">
                <a:latin typeface="Arial"/>
                <a:cs typeface="Arial"/>
              </a:rPr>
              <a:t>Considering</a:t>
            </a:r>
            <a:r>
              <a:rPr sz="1000"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members</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fault-tolerant</a:t>
            </a:r>
            <a:r>
              <a:rPr sz="1000" dirty="0">
                <a:latin typeface="Arial"/>
                <a:cs typeface="Arial"/>
              </a:rPr>
              <a:t> </a:t>
            </a:r>
            <a:r>
              <a:rPr sz="1000" spc="-5" dirty="0">
                <a:latin typeface="Arial"/>
                <a:cs typeface="Arial"/>
              </a:rPr>
              <a:t>process</a:t>
            </a:r>
            <a:r>
              <a:rPr sz="1000" spc="5" dirty="0">
                <a:latin typeface="Arial"/>
                <a:cs typeface="Arial"/>
              </a:rPr>
              <a:t> </a:t>
            </a:r>
            <a:r>
              <a:rPr sz="1000" spc="-5" dirty="0">
                <a:latin typeface="Arial"/>
                <a:cs typeface="Arial"/>
              </a:rPr>
              <a:t>group</a:t>
            </a:r>
            <a:r>
              <a:rPr sz="1000" dirty="0">
                <a:latin typeface="Arial"/>
                <a:cs typeface="Arial"/>
              </a:rPr>
              <a:t> </a:t>
            </a:r>
            <a:r>
              <a:rPr sz="1000" spc="-5" dirty="0">
                <a:latin typeface="Arial"/>
                <a:cs typeface="Arial"/>
              </a:rPr>
              <a:t>are</a:t>
            </a:r>
            <a:r>
              <a:rPr sz="1000" spc="5" dirty="0">
                <a:latin typeface="Arial"/>
                <a:cs typeface="Arial"/>
              </a:rPr>
              <a:t> </a:t>
            </a:r>
            <a:r>
              <a:rPr sz="1000" spc="-5" dirty="0">
                <a:latin typeface="Arial"/>
                <a:cs typeface="Arial"/>
              </a:rPr>
              <a:t>so </a:t>
            </a:r>
            <a:r>
              <a:rPr sz="1000" spc="-265" dirty="0">
                <a:latin typeface="Arial"/>
                <a:cs typeface="Arial"/>
              </a:rPr>
              <a:t> </a:t>
            </a:r>
            <a:r>
              <a:rPr sz="1000" spc="-10" dirty="0">
                <a:latin typeface="Arial"/>
                <a:cs typeface="Arial"/>
              </a:rPr>
              <a:t>tightly</a:t>
            </a:r>
            <a:r>
              <a:rPr sz="1000" dirty="0">
                <a:latin typeface="Arial"/>
                <a:cs typeface="Arial"/>
              </a:rPr>
              <a:t> </a:t>
            </a:r>
            <a:r>
              <a:rPr sz="1000" spc="-15" dirty="0">
                <a:latin typeface="Arial"/>
                <a:cs typeface="Arial"/>
              </a:rPr>
              <a:t>coupled,</a:t>
            </a:r>
            <a:r>
              <a:rPr sz="1000" dirty="0">
                <a:latin typeface="Arial"/>
                <a:cs typeface="Arial"/>
              </a:rPr>
              <a:t> </a:t>
            </a:r>
            <a:r>
              <a:rPr sz="1000" spc="-25" dirty="0">
                <a:latin typeface="Arial"/>
                <a:cs typeface="Arial"/>
              </a:rPr>
              <a:t>we</a:t>
            </a:r>
            <a:r>
              <a:rPr sz="1000" dirty="0">
                <a:latin typeface="Arial"/>
                <a:cs typeface="Arial"/>
              </a:rPr>
              <a:t> </a:t>
            </a:r>
            <a:r>
              <a:rPr sz="1000" spc="-30" dirty="0">
                <a:latin typeface="Arial"/>
                <a:cs typeface="Arial"/>
              </a:rPr>
              <a:t>may</a:t>
            </a:r>
            <a:r>
              <a:rPr sz="1000" dirty="0">
                <a:latin typeface="Arial"/>
                <a:cs typeface="Arial"/>
              </a:rPr>
              <a:t> </a:t>
            </a:r>
            <a:r>
              <a:rPr sz="1000" spc="-25" dirty="0">
                <a:latin typeface="Arial"/>
                <a:cs typeface="Arial"/>
              </a:rPr>
              <a:t>bump</a:t>
            </a:r>
            <a:r>
              <a:rPr sz="1000" dirty="0">
                <a:latin typeface="Arial"/>
                <a:cs typeface="Arial"/>
              </a:rPr>
              <a:t> </a:t>
            </a:r>
            <a:r>
              <a:rPr sz="1000" spc="-10" dirty="0">
                <a:latin typeface="Arial"/>
                <a:cs typeface="Arial"/>
              </a:rPr>
              <a:t>into</a:t>
            </a:r>
            <a:r>
              <a:rPr sz="1000" dirty="0">
                <a:latin typeface="Arial"/>
                <a:cs typeface="Arial"/>
              </a:rPr>
              <a:t> </a:t>
            </a:r>
            <a:r>
              <a:rPr sz="1000" spc="-15" dirty="0">
                <a:latin typeface="Arial"/>
                <a:cs typeface="Arial"/>
              </a:rPr>
              <a:t>considerable</a:t>
            </a:r>
            <a:r>
              <a:rPr sz="1000" dirty="0">
                <a:latin typeface="Arial"/>
                <a:cs typeface="Arial"/>
              </a:rPr>
              <a:t> </a:t>
            </a:r>
            <a:r>
              <a:rPr sz="1000" spc="-15" dirty="0">
                <a:latin typeface="Arial"/>
                <a:cs typeface="Arial"/>
              </a:rPr>
              <a:t>performance</a:t>
            </a:r>
            <a:r>
              <a:rPr sz="1000" dirty="0">
                <a:latin typeface="Arial"/>
                <a:cs typeface="Arial"/>
              </a:rPr>
              <a:t> </a:t>
            </a:r>
            <a:r>
              <a:rPr sz="1000" spc="-20" dirty="0">
                <a:latin typeface="Arial"/>
                <a:cs typeface="Arial"/>
              </a:rPr>
              <a:t>problems, </a:t>
            </a:r>
            <a:r>
              <a:rPr sz="1000" spc="-260" dirty="0">
                <a:latin typeface="Arial"/>
                <a:cs typeface="Arial"/>
              </a:rPr>
              <a:t> </a:t>
            </a:r>
            <a:r>
              <a:rPr sz="1000" spc="-10" dirty="0">
                <a:latin typeface="Arial"/>
                <a:cs typeface="Arial"/>
              </a:rPr>
              <a:t>but</a:t>
            </a:r>
            <a:r>
              <a:rPr sz="1000" spc="-5" dirty="0">
                <a:latin typeface="Arial"/>
                <a:cs typeface="Arial"/>
              </a:rPr>
              <a:t> perhaps</a:t>
            </a:r>
            <a:r>
              <a:rPr sz="1000" dirty="0">
                <a:latin typeface="Arial"/>
                <a:cs typeface="Arial"/>
              </a:rPr>
              <a:t> </a:t>
            </a:r>
            <a:r>
              <a:rPr sz="1000" spc="-20" dirty="0">
                <a:latin typeface="Arial"/>
                <a:cs typeface="Arial"/>
              </a:rPr>
              <a:t>even</a:t>
            </a:r>
            <a:r>
              <a:rPr sz="1000" spc="-5" dirty="0">
                <a:latin typeface="Arial"/>
                <a:cs typeface="Arial"/>
              </a:rPr>
              <a:t> situations</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which realizing</a:t>
            </a:r>
            <a:r>
              <a:rPr sz="1000" dirty="0">
                <a:latin typeface="Arial"/>
                <a:cs typeface="Arial"/>
              </a:rPr>
              <a:t> </a:t>
            </a:r>
            <a:r>
              <a:rPr sz="1000" spc="-10" dirty="0">
                <a:latin typeface="Arial"/>
                <a:cs typeface="Arial"/>
              </a:rPr>
              <a:t>fault</a:t>
            </a:r>
            <a:r>
              <a:rPr sz="1000" spc="-5" dirty="0">
                <a:latin typeface="Arial"/>
                <a:cs typeface="Arial"/>
              </a:rPr>
              <a:t> tolerance</a:t>
            </a:r>
            <a:r>
              <a:rPr sz="1000" dirty="0">
                <a:latin typeface="Arial"/>
                <a:cs typeface="Arial"/>
              </a:rPr>
              <a:t> </a:t>
            </a:r>
            <a:r>
              <a:rPr sz="1000" spc="-5" dirty="0">
                <a:latin typeface="Arial"/>
                <a:cs typeface="Arial"/>
              </a:rPr>
              <a:t>is </a:t>
            </a:r>
            <a:r>
              <a:rPr sz="1000" dirty="0">
                <a:latin typeface="Arial"/>
                <a:cs typeface="Arial"/>
              </a:rPr>
              <a:t> </a:t>
            </a:r>
            <a:r>
              <a:rPr sz="1000" spc="-5" dirty="0">
                <a:latin typeface="Arial"/>
                <a:cs typeface="Arial"/>
              </a:rPr>
              <a:t>impossible.</a:t>
            </a:r>
            <a:endParaRPr sz="1000">
              <a:latin typeface="Arial"/>
              <a:cs typeface="Arial"/>
            </a:endParaRPr>
          </a:p>
          <a:p>
            <a:pPr marL="41910">
              <a:lnSpc>
                <a:spcPts val="1435"/>
              </a:lnSpc>
              <a:spcBef>
                <a:spcPts val="640"/>
              </a:spcBef>
            </a:pPr>
            <a:r>
              <a:rPr sz="1200" spc="-5" dirty="0">
                <a:solidFill>
                  <a:srgbClr val="3333B2"/>
                </a:solidFill>
                <a:latin typeface="Arial"/>
                <a:cs typeface="Arial"/>
              </a:rPr>
              <a:t>Question</a:t>
            </a:r>
            <a:endParaRPr sz="1200">
              <a:latin typeface="Arial"/>
              <a:cs typeface="Arial"/>
            </a:endParaRPr>
          </a:p>
          <a:p>
            <a:pPr marL="38100">
              <a:lnSpc>
                <a:spcPts val="1195"/>
              </a:lnSpc>
            </a:pPr>
            <a:r>
              <a:rPr sz="1000" spc="-5" dirty="0">
                <a:latin typeface="Arial"/>
                <a:cs typeface="Arial"/>
              </a:rPr>
              <a:t>Are there</a:t>
            </a:r>
            <a:r>
              <a:rPr sz="1000" dirty="0">
                <a:latin typeface="Arial"/>
                <a:cs typeface="Arial"/>
              </a:rPr>
              <a:t> </a:t>
            </a:r>
            <a:r>
              <a:rPr sz="1000" spc="-5" dirty="0">
                <a:latin typeface="Arial"/>
                <a:cs typeface="Arial"/>
              </a:rPr>
              <a:t>limitations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what can</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readily</a:t>
            </a:r>
            <a:r>
              <a:rPr sz="1000" dirty="0">
                <a:latin typeface="Arial"/>
                <a:cs typeface="Arial"/>
              </a:rPr>
              <a:t> </a:t>
            </a:r>
            <a:r>
              <a:rPr sz="1000" spc="-10" dirty="0">
                <a:latin typeface="Arial"/>
                <a:cs typeface="Arial"/>
              </a:rPr>
              <a:t>achieved?</a:t>
            </a:r>
            <a:endParaRPr sz="1000">
              <a:latin typeface="Arial"/>
              <a:cs typeface="Arial"/>
            </a:endParaRPr>
          </a:p>
          <a:p>
            <a:pPr marL="318770" indent="-168275">
              <a:lnSpc>
                <a:spcPct val="100000"/>
              </a:lnSpc>
              <a:spcBef>
                <a:spcPts val="595"/>
              </a:spcBef>
              <a:buClr>
                <a:srgbClr val="3333B2"/>
              </a:buClr>
              <a:buChar char="►"/>
              <a:tabLst>
                <a:tab pos="319405" algn="l"/>
              </a:tabLst>
            </a:pPr>
            <a:r>
              <a:rPr sz="1000" spc="-5" dirty="0">
                <a:latin typeface="Arial"/>
                <a:cs typeface="Arial"/>
              </a:rPr>
              <a:t>What is</a:t>
            </a:r>
            <a:r>
              <a:rPr sz="1000" dirty="0">
                <a:latin typeface="Arial"/>
                <a:cs typeface="Arial"/>
              </a:rPr>
              <a:t> </a:t>
            </a:r>
            <a:r>
              <a:rPr sz="1000" spc="-5" dirty="0">
                <a:latin typeface="Arial"/>
                <a:cs typeface="Arial"/>
              </a:rPr>
              <a:t>needed to</a:t>
            </a:r>
            <a:r>
              <a:rPr sz="1000" dirty="0">
                <a:latin typeface="Arial"/>
                <a:cs typeface="Arial"/>
              </a:rPr>
              <a:t> </a:t>
            </a:r>
            <a:r>
              <a:rPr sz="1000" spc="-10" dirty="0">
                <a:latin typeface="Arial"/>
                <a:cs typeface="Arial"/>
              </a:rPr>
              <a:t>enable</a:t>
            </a:r>
            <a:r>
              <a:rPr sz="1000" dirty="0">
                <a:latin typeface="Arial"/>
                <a:cs typeface="Arial"/>
              </a:rPr>
              <a:t> </a:t>
            </a:r>
            <a:r>
              <a:rPr sz="1000" spc="-5" dirty="0">
                <a:latin typeface="Arial"/>
                <a:cs typeface="Arial"/>
              </a:rPr>
              <a:t>reaching consensus?</a:t>
            </a:r>
            <a:endParaRPr sz="1000">
              <a:latin typeface="Arial"/>
              <a:cs typeface="Arial"/>
            </a:endParaRPr>
          </a:p>
          <a:p>
            <a:pPr marL="318770" indent="-168275">
              <a:lnSpc>
                <a:spcPct val="100000"/>
              </a:lnSpc>
              <a:spcBef>
                <a:spcPts val="590"/>
              </a:spcBef>
              <a:buClr>
                <a:srgbClr val="3333B2"/>
              </a:buClr>
              <a:buChar char="►"/>
              <a:tabLst>
                <a:tab pos="319405" algn="l"/>
              </a:tabLst>
            </a:pPr>
            <a:r>
              <a:rPr sz="1000" spc="-5" dirty="0">
                <a:latin typeface="Arial"/>
                <a:cs typeface="Arial"/>
              </a:rPr>
              <a:t>What</a:t>
            </a:r>
            <a:r>
              <a:rPr sz="1000" spc="-10" dirty="0">
                <a:latin typeface="Arial"/>
                <a:cs typeface="Arial"/>
              </a:rPr>
              <a:t> </a:t>
            </a:r>
            <a:r>
              <a:rPr sz="1000" spc="-5" dirty="0">
                <a:latin typeface="Arial"/>
                <a:cs typeface="Arial"/>
              </a:rPr>
              <a:t>happens</a:t>
            </a:r>
            <a:r>
              <a:rPr sz="1000" spc="-10" dirty="0">
                <a:latin typeface="Arial"/>
                <a:cs typeface="Arial"/>
              </a:rPr>
              <a:t> </a:t>
            </a:r>
            <a:r>
              <a:rPr sz="1000" spc="-5" dirty="0">
                <a:latin typeface="Arial"/>
                <a:cs typeface="Arial"/>
              </a:rPr>
              <a:t>when</a:t>
            </a:r>
            <a:r>
              <a:rPr sz="1000" spc="-10" dirty="0">
                <a:latin typeface="Arial"/>
                <a:cs typeface="Arial"/>
              </a:rPr>
              <a:t> </a:t>
            </a:r>
            <a:r>
              <a:rPr sz="1000" spc="-5" dirty="0">
                <a:latin typeface="Arial"/>
                <a:cs typeface="Arial"/>
              </a:rPr>
              <a:t>groups</a:t>
            </a:r>
            <a:r>
              <a:rPr sz="1000" spc="-10" dirty="0">
                <a:latin typeface="Arial"/>
                <a:cs typeface="Arial"/>
              </a:rPr>
              <a:t> </a:t>
            </a:r>
            <a:r>
              <a:rPr sz="1000" spc="-5" dirty="0">
                <a:latin typeface="Arial"/>
                <a:cs typeface="Arial"/>
              </a:rPr>
              <a:t>are</a:t>
            </a:r>
            <a:r>
              <a:rPr sz="1000" spc="-10" dirty="0">
                <a:latin typeface="Arial"/>
                <a:cs typeface="Arial"/>
              </a:rPr>
              <a:t> </a:t>
            </a:r>
            <a:r>
              <a:rPr sz="1000" dirty="0">
                <a:latin typeface="Arial"/>
                <a:cs typeface="Arial"/>
              </a:rPr>
              <a:t>partitioned?</a:t>
            </a:r>
            <a:endParaRPr sz="1000">
              <a:latin typeface="Arial"/>
              <a:cs typeface="Arial"/>
            </a:endParaRPr>
          </a:p>
        </p:txBody>
      </p:sp>
      <p:sp>
        <p:nvSpPr>
          <p:cNvPr id="6" name="object 6"/>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000375" algn="l"/>
              </a:tabLst>
            </a:pPr>
            <a:r>
              <a:rPr sz="600" spc="-10" dirty="0">
                <a:solidFill>
                  <a:srgbClr val="3333B2"/>
                </a:solidFill>
                <a:latin typeface="Arial"/>
                <a:cs typeface="Arial"/>
                <a:hlinkClick r:id="rId3" action="ppaction://hlinksldjump"/>
              </a:rPr>
              <a:t>Fault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Some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limitations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on</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realizing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fault</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tolerance</a:t>
            </a:r>
            <a:endParaRPr sz="600">
              <a:latin typeface="Arial"/>
              <a:cs typeface="Arial"/>
            </a:endParaRPr>
          </a:p>
        </p:txBody>
      </p:sp>
      <p:sp>
        <p:nvSpPr>
          <p:cNvPr id="3" name="object 3"/>
          <p:cNvSpPr txBox="1">
            <a:spLocks noGrp="1"/>
          </p:cNvSpPr>
          <p:nvPr>
            <p:ph type="title"/>
          </p:nvPr>
        </p:nvSpPr>
        <p:spPr>
          <a:xfrm>
            <a:off x="95300" y="188846"/>
            <a:ext cx="3814445" cy="244475"/>
          </a:xfrm>
          <a:prstGeom prst="rect">
            <a:avLst/>
          </a:prstGeom>
        </p:spPr>
        <p:txBody>
          <a:bodyPr vert="horz" wrap="square" lIns="0" tIns="17145" rIns="0" bIns="0" rtlCol="0">
            <a:spAutoFit/>
          </a:bodyPr>
          <a:lstStyle/>
          <a:p>
            <a:pPr marL="12700">
              <a:lnSpc>
                <a:spcPct val="100000"/>
              </a:lnSpc>
              <a:spcBef>
                <a:spcPts val="135"/>
              </a:spcBef>
            </a:pPr>
            <a:r>
              <a:rPr spc="10" dirty="0"/>
              <a:t>Distributed</a:t>
            </a:r>
            <a:r>
              <a:rPr spc="5" dirty="0"/>
              <a:t> </a:t>
            </a:r>
            <a:r>
              <a:rPr spc="15" dirty="0"/>
              <a:t>consensus:</a:t>
            </a:r>
            <a:r>
              <a:rPr spc="105" dirty="0"/>
              <a:t> </a:t>
            </a:r>
            <a:r>
              <a:rPr spc="20" dirty="0"/>
              <a:t>when</a:t>
            </a:r>
            <a:r>
              <a:rPr spc="5" dirty="0"/>
              <a:t> </a:t>
            </a:r>
            <a:r>
              <a:rPr spc="15" dirty="0"/>
              <a:t>can</a:t>
            </a:r>
            <a:r>
              <a:rPr spc="5" dirty="0"/>
              <a:t> it</a:t>
            </a:r>
            <a:r>
              <a:rPr spc="10" dirty="0"/>
              <a:t> </a:t>
            </a:r>
            <a:r>
              <a:rPr spc="15" dirty="0"/>
              <a:t>be</a:t>
            </a:r>
            <a:r>
              <a:rPr spc="5" dirty="0"/>
              <a:t> </a:t>
            </a:r>
            <a:r>
              <a:rPr spc="15" dirty="0"/>
              <a:t>reached</a:t>
            </a:r>
          </a:p>
        </p:txBody>
      </p:sp>
      <p:sp>
        <p:nvSpPr>
          <p:cNvPr id="4" name="object 4"/>
          <p:cNvSpPr txBox="1"/>
          <p:nvPr/>
        </p:nvSpPr>
        <p:spPr>
          <a:xfrm>
            <a:off x="752491" y="1130462"/>
            <a:ext cx="5175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Synchronous</a:t>
            </a:r>
            <a:endParaRPr sz="650">
              <a:latin typeface="Arial"/>
              <a:cs typeface="Arial"/>
            </a:endParaRPr>
          </a:p>
        </p:txBody>
      </p:sp>
      <p:sp>
        <p:nvSpPr>
          <p:cNvPr id="5" name="object 5"/>
          <p:cNvSpPr txBox="1"/>
          <p:nvPr/>
        </p:nvSpPr>
        <p:spPr>
          <a:xfrm>
            <a:off x="710327" y="1475829"/>
            <a:ext cx="5600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Asynchronous</a:t>
            </a:r>
            <a:endParaRPr sz="650">
              <a:latin typeface="Arial"/>
              <a:cs typeface="Arial"/>
            </a:endParaRPr>
          </a:p>
        </p:txBody>
      </p:sp>
      <p:sp>
        <p:nvSpPr>
          <p:cNvPr id="6" name="object 6"/>
          <p:cNvSpPr txBox="1"/>
          <p:nvPr/>
        </p:nvSpPr>
        <p:spPr>
          <a:xfrm>
            <a:off x="2684825" y="754664"/>
            <a:ext cx="3352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Ordered</a:t>
            </a:r>
            <a:endParaRPr sz="650">
              <a:latin typeface="Arial"/>
              <a:cs typeface="Arial"/>
            </a:endParaRPr>
          </a:p>
        </p:txBody>
      </p:sp>
      <p:sp>
        <p:nvSpPr>
          <p:cNvPr id="7" name="object 7"/>
          <p:cNvSpPr txBox="1"/>
          <p:nvPr/>
        </p:nvSpPr>
        <p:spPr>
          <a:xfrm>
            <a:off x="1681667" y="754664"/>
            <a:ext cx="4241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Unordered</a:t>
            </a:r>
            <a:endParaRPr sz="650">
              <a:latin typeface="Arial"/>
              <a:cs typeface="Arial"/>
            </a:endParaRPr>
          </a:p>
        </p:txBody>
      </p:sp>
      <p:sp>
        <p:nvSpPr>
          <p:cNvPr id="8" name="object 8"/>
          <p:cNvSpPr txBox="1"/>
          <p:nvPr/>
        </p:nvSpPr>
        <p:spPr>
          <a:xfrm>
            <a:off x="3375774" y="1058241"/>
            <a:ext cx="3632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Bounded</a:t>
            </a:r>
            <a:endParaRPr sz="650">
              <a:latin typeface="Arial"/>
              <a:cs typeface="Arial"/>
            </a:endParaRPr>
          </a:p>
        </p:txBody>
      </p:sp>
      <p:sp>
        <p:nvSpPr>
          <p:cNvPr id="9" name="object 9"/>
          <p:cNvSpPr txBox="1"/>
          <p:nvPr/>
        </p:nvSpPr>
        <p:spPr>
          <a:xfrm>
            <a:off x="3375774" y="1412451"/>
            <a:ext cx="3632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Bounded</a:t>
            </a:r>
            <a:endParaRPr sz="650">
              <a:latin typeface="Arial"/>
              <a:cs typeface="Arial"/>
            </a:endParaRPr>
          </a:p>
        </p:txBody>
      </p:sp>
      <p:sp>
        <p:nvSpPr>
          <p:cNvPr id="10" name="object 10"/>
          <p:cNvSpPr txBox="1"/>
          <p:nvPr/>
        </p:nvSpPr>
        <p:spPr>
          <a:xfrm>
            <a:off x="3375774" y="1235304"/>
            <a:ext cx="461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Unbounded</a:t>
            </a:r>
            <a:endParaRPr sz="650">
              <a:latin typeface="Arial"/>
              <a:cs typeface="Arial"/>
            </a:endParaRPr>
          </a:p>
        </p:txBody>
      </p:sp>
      <p:graphicFrame>
        <p:nvGraphicFramePr>
          <p:cNvPr id="11" name="object 11"/>
          <p:cNvGraphicFramePr>
            <a:graphicFrameLocks noGrp="1"/>
          </p:cNvGraphicFramePr>
          <p:nvPr/>
        </p:nvGraphicFramePr>
        <p:xfrm>
          <a:off x="1412564" y="1032726"/>
          <a:ext cx="1915795" cy="690245"/>
        </p:xfrm>
        <a:graphic>
          <a:graphicData uri="http://schemas.openxmlformats.org/drawingml/2006/table">
            <a:tbl>
              <a:tblPr firstRow="1" bandRow="1">
                <a:tableStyleId>{2D5ABB26-0587-4C30-8999-92F81FD0307C}</a:tableStyleId>
              </a:tblPr>
              <a:tblGrid>
                <a:gridCol w="478790">
                  <a:extLst>
                    <a:ext uri="{9D8B030D-6E8A-4147-A177-3AD203B41FA5}">
                      <a16:colId xmlns:a16="http://schemas.microsoft.com/office/drawing/2014/main" val="20000"/>
                    </a:ext>
                  </a:extLst>
                </a:gridCol>
                <a:gridCol w="478790">
                  <a:extLst>
                    <a:ext uri="{9D8B030D-6E8A-4147-A177-3AD203B41FA5}">
                      <a16:colId xmlns:a16="http://schemas.microsoft.com/office/drawing/2014/main" val="20001"/>
                    </a:ext>
                  </a:extLst>
                </a:gridCol>
                <a:gridCol w="478790">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tblGrid>
              <a:tr h="172085">
                <a:tc>
                  <a:txBody>
                    <a:bodyPr/>
                    <a:lstStyle/>
                    <a:p>
                      <a:pPr marR="34925" algn="ctr">
                        <a:lnSpc>
                          <a:spcPct val="100000"/>
                        </a:lnSpc>
                        <a:spcBef>
                          <a:spcPts val="310"/>
                        </a:spcBef>
                      </a:pPr>
                      <a:r>
                        <a:rPr sz="650" dirty="0">
                          <a:solidFill>
                            <a:srgbClr val="231F20"/>
                          </a:solidFill>
                          <a:latin typeface="Arial"/>
                          <a:cs typeface="Arial"/>
                        </a:rPr>
                        <a:t>X</a:t>
                      </a:r>
                      <a:endParaRPr sz="650">
                        <a:latin typeface="Arial"/>
                        <a:cs typeface="Arial"/>
                      </a:endParaRPr>
                    </a:p>
                  </a:txBody>
                  <a:tcPr marL="0" marR="0" marT="39370" marB="0">
                    <a:lnL w="6350">
                      <a:solidFill>
                        <a:srgbClr val="231F20"/>
                      </a:solidFill>
                      <a:prstDash val="solid"/>
                    </a:lnL>
                    <a:lnR w="6350">
                      <a:solidFill>
                        <a:srgbClr val="231F20"/>
                      </a:solidFill>
                      <a:prstDash val="solid"/>
                    </a:lnR>
                    <a:lnT w="3175">
                      <a:solidFill>
                        <a:srgbClr val="231F20"/>
                      </a:solidFill>
                      <a:prstDash val="solid"/>
                    </a:lnT>
                    <a:lnB w="6350">
                      <a:solidFill>
                        <a:srgbClr val="231F20"/>
                      </a:solidFill>
                      <a:prstDash val="solid"/>
                    </a:lnB>
                  </a:tcPr>
                </a:tc>
                <a:tc>
                  <a:txBody>
                    <a:bodyPr/>
                    <a:lstStyle/>
                    <a:p>
                      <a:pPr marR="81280" algn="ctr">
                        <a:lnSpc>
                          <a:spcPct val="100000"/>
                        </a:lnSpc>
                        <a:spcBef>
                          <a:spcPts val="310"/>
                        </a:spcBef>
                      </a:pPr>
                      <a:r>
                        <a:rPr sz="650" dirty="0">
                          <a:solidFill>
                            <a:srgbClr val="231F20"/>
                          </a:solidFill>
                          <a:latin typeface="Arial"/>
                          <a:cs typeface="Arial"/>
                        </a:rPr>
                        <a:t>X</a:t>
                      </a:r>
                      <a:endParaRPr sz="650">
                        <a:latin typeface="Arial"/>
                        <a:cs typeface="Arial"/>
                      </a:endParaRPr>
                    </a:p>
                  </a:txBody>
                  <a:tcPr marL="0" marR="0" marT="39370" marB="0">
                    <a:lnL w="6350">
                      <a:solidFill>
                        <a:srgbClr val="231F20"/>
                      </a:solidFill>
                      <a:prstDash val="solid"/>
                    </a:lnL>
                    <a:lnR w="6350">
                      <a:solidFill>
                        <a:srgbClr val="231F20"/>
                      </a:solidFill>
                      <a:prstDash val="solid"/>
                    </a:lnR>
                    <a:lnT w="3175">
                      <a:solidFill>
                        <a:srgbClr val="231F20"/>
                      </a:solidFill>
                      <a:prstDash val="solid"/>
                    </a:lnT>
                    <a:lnB w="6350">
                      <a:solidFill>
                        <a:srgbClr val="231F20"/>
                      </a:solidFill>
                      <a:prstDash val="solid"/>
                    </a:lnB>
                  </a:tcPr>
                </a:tc>
                <a:tc>
                  <a:txBody>
                    <a:bodyPr/>
                    <a:lstStyle/>
                    <a:p>
                      <a:pPr marL="15240" algn="ctr">
                        <a:lnSpc>
                          <a:spcPct val="100000"/>
                        </a:lnSpc>
                        <a:spcBef>
                          <a:spcPts val="310"/>
                        </a:spcBef>
                      </a:pPr>
                      <a:r>
                        <a:rPr sz="650" dirty="0">
                          <a:solidFill>
                            <a:srgbClr val="231F20"/>
                          </a:solidFill>
                          <a:latin typeface="Arial"/>
                          <a:cs typeface="Arial"/>
                        </a:rPr>
                        <a:t>X</a:t>
                      </a:r>
                      <a:endParaRPr sz="650">
                        <a:latin typeface="Arial"/>
                        <a:cs typeface="Arial"/>
                      </a:endParaRPr>
                    </a:p>
                  </a:txBody>
                  <a:tcPr marL="0" marR="0" marT="39370" marB="0">
                    <a:lnL w="6350">
                      <a:solidFill>
                        <a:srgbClr val="231F20"/>
                      </a:solidFill>
                      <a:prstDash val="solid"/>
                    </a:lnL>
                    <a:lnR w="6350">
                      <a:solidFill>
                        <a:srgbClr val="231F20"/>
                      </a:solidFill>
                      <a:prstDash val="solid"/>
                    </a:lnR>
                    <a:lnT w="3175">
                      <a:solidFill>
                        <a:srgbClr val="231F20"/>
                      </a:solidFill>
                      <a:prstDash val="solid"/>
                    </a:lnT>
                    <a:lnB w="6350">
                      <a:solidFill>
                        <a:srgbClr val="231F20"/>
                      </a:solidFill>
                      <a:prstDash val="solid"/>
                    </a:lnB>
                  </a:tcPr>
                </a:tc>
                <a:tc>
                  <a:txBody>
                    <a:bodyPr/>
                    <a:lstStyle/>
                    <a:p>
                      <a:pPr marR="181610" algn="r">
                        <a:lnSpc>
                          <a:spcPct val="100000"/>
                        </a:lnSpc>
                        <a:spcBef>
                          <a:spcPts val="310"/>
                        </a:spcBef>
                      </a:pPr>
                      <a:r>
                        <a:rPr sz="650" dirty="0">
                          <a:solidFill>
                            <a:srgbClr val="231F20"/>
                          </a:solidFill>
                          <a:latin typeface="Arial"/>
                          <a:cs typeface="Arial"/>
                        </a:rPr>
                        <a:t>X</a:t>
                      </a:r>
                      <a:endParaRPr sz="650">
                        <a:latin typeface="Arial"/>
                        <a:cs typeface="Arial"/>
                      </a:endParaRPr>
                    </a:p>
                  </a:txBody>
                  <a:tcPr marL="0" marR="0" marT="39370" marB="0">
                    <a:lnL w="6350">
                      <a:solidFill>
                        <a:srgbClr val="231F20"/>
                      </a:solidFill>
                      <a:prstDash val="solid"/>
                    </a:lnL>
                    <a:lnR w="6350">
                      <a:solidFill>
                        <a:srgbClr val="231F20"/>
                      </a:solidFill>
                      <a:prstDash val="solid"/>
                    </a:lnR>
                    <a:lnT w="3175">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172720">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5240" algn="ctr">
                        <a:lnSpc>
                          <a:spcPct val="100000"/>
                        </a:lnSpc>
                        <a:spcBef>
                          <a:spcPts val="270"/>
                        </a:spcBef>
                      </a:pPr>
                      <a:r>
                        <a:rPr sz="650" dirty="0">
                          <a:solidFill>
                            <a:srgbClr val="231F20"/>
                          </a:solidFill>
                          <a:latin typeface="Arial"/>
                          <a:cs typeface="Arial"/>
                        </a:rPr>
                        <a:t>X</a:t>
                      </a:r>
                      <a:endParaRPr sz="650">
                        <a:latin typeface="Arial"/>
                        <a:cs typeface="Arial"/>
                      </a:endParaRPr>
                    </a:p>
                  </a:txBody>
                  <a:tcPr marL="0" marR="0" marT="3429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R="181610" algn="r">
                        <a:lnSpc>
                          <a:spcPct val="100000"/>
                        </a:lnSpc>
                        <a:spcBef>
                          <a:spcPts val="270"/>
                        </a:spcBef>
                      </a:pPr>
                      <a:r>
                        <a:rPr sz="650" dirty="0">
                          <a:solidFill>
                            <a:srgbClr val="231F20"/>
                          </a:solidFill>
                          <a:latin typeface="Arial"/>
                          <a:cs typeface="Arial"/>
                        </a:rPr>
                        <a:t>X</a:t>
                      </a:r>
                      <a:endParaRPr sz="650">
                        <a:latin typeface="Arial"/>
                        <a:cs typeface="Arial"/>
                      </a:endParaRPr>
                    </a:p>
                  </a:txBody>
                  <a:tcPr marL="0" marR="0" marT="3429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72720">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R="179070" algn="r">
                        <a:lnSpc>
                          <a:spcPct val="100000"/>
                        </a:lnSpc>
                        <a:spcBef>
                          <a:spcPts val="285"/>
                        </a:spcBef>
                      </a:pPr>
                      <a:r>
                        <a:rPr sz="650" dirty="0">
                          <a:solidFill>
                            <a:srgbClr val="231F20"/>
                          </a:solidFill>
                          <a:latin typeface="Arial"/>
                          <a:cs typeface="Arial"/>
                        </a:rPr>
                        <a:t>X</a:t>
                      </a:r>
                      <a:endParaRPr sz="650">
                        <a:latin typeface="Arial"/>
                        <a:cs typeface="Arial"/>
                      </a:endParaRPr>
                    </a:p>
                  </a:txBody>
                  <a:tcPr marL="0" marR="0" marT="361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72720">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3175">
                      <a:solidFill>
                        <a:srgbClr val="231F2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3175">
                      <a:solidFill>
                        <a:srgbClr val="231F2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3175">
                      <a:solidFill>
                        <a:srgbClr val="231F20"/>
                      </a:solidFill>
                      <a:prstDash val="solid"/>
                    </a:lnB>
                  </a:tcPr>
                </a:tc>
                <a:tc>
                  <a:txBody>
                    <a:bodyPr/>
                    <a:lstStyle/>
                    <a:p>
                      <a:pPr marR="179070" algn="r">
                        <a:lnSpc>
                          <a:spcPct val="100000"/>
                        </a:lnSpc>
                        <a:spcBef>
                          <a:spcPts val="420"/>
                        </a:spcBef>
                      </a:pPr>
                      <a:r>
                        <a:rPr sz="650" dirty="0">
                          <a:solidFill>
                            <a:srgbClr val="231F20"/>
                          </a:solidFill>
                          <a:latin typeface="Arial"/>
                          <a:cs typeface="Arial"/>
                        </a:rPr>
                        <a:t>X</a:t>
                      </a:r>
                      <a:endParaRPr sz="650">
                        <a:latin typeface="Arial"/>
                        <a:cs typeface="Arial"/>
                      </a:endParaRPr>
                    </a:p>
                  </a:txBody>
                  <a:tcPr marL="0" marR="0" marT="53340" marB="0">
                    <a:lnL w="6350">
                      <a:solidFill>
                        <a:srgbClr val="231F20"/>
                      </a:solidFill>
                      <a:prstDash val="solid"/>
                    </a:lnL>
                    <a:lnR w="6350">
                      <a:solidFill>
                        <a:srgbClr val="231F20"/>
                      </a:solidFill>
                      <a:prstDash val="solid"/>
                    </a:lnR>
                    <a:lnT w="6350">
                      <a:solidFill>
                        <a:srgbClr val="231F20"/>
                      </a:solidFill>
                      <a:prstDash val="solid"/>
                    </a:lnT>
                    <a:lnB w="3175">
                      <a:solidFill>
                        <a:srgbClr val="231F20"/>
                      </a:solidFill>
                      <a:prstDash val="solid"/>
                    </a:lnB>
                  </a:tcPr>
                </a:tc>
                <a:extLst>
                  <a:ext uri="{0D108BD9-81ED-4DB2-BD59-A6C34878D82A}">
                    <a16:rowId xmlns:a16="http://schemas.microsoft.com/office/drawing/2014/main" val="10003"/>
                  </a:ext>
                </a:extLst>
              </a:tr>
            </a:tbl>
          </a:graphicData>
        </a:graphic>
      </p:graphicFrame>
      <p:sp>
        <p:nvSpPr>
          <p:cNvPr id="12" name="object 12"/>
          <p:cNvSpPr txBox="1"/>
          <p:nvPr/>
        </p:nvSpPr>
        <p:spPr>
          <a:xfrm>
            <a:off x="1478395" y="1538919"/>
            <a:ext cx="2359025" cy="481330"/>
          </a:xfrm>
          <a:prstGeom prst="rect">
            <a:avLst/>
          </a:prstGeom>
        </p:spPr>
        <p:txBody>
          <a:bodyPr vert="horz" wrap="square" lIns="0" tIns="64769" rIns="0" bIns="0" rtlCol="0">
            <a:spAutoFit/>
          </a:bodyPr>
          <a:lstStyle/>
          <a:p>
            <a:pPr marR="5080" algn="r">
              <a:lnSpc>
                <a:spcPct val="100000"/>
              </a:lnSpc>
              <a:spcBef>
                <a:spcPts val="509"/>
              </a:spcBef>
            </a:pPr>
            <a:r>
              <a:rPr sz="650" spc="5" dirty="0">
                <a:solidFill>
                  <a:srgbClr val="231F20"/>
                </a:solidFill>
                <a:latin typeface="Arial"/>
                <a:cs typeface="Arial"/>
              </a:rPr>
              <a:t>Unbounded</a:t>
            </a:r>
            <a:endParaRPr sz="650">
              <a:latin typeface="Arial"/>
              <a:cs typeface="Arial"/>
            </a:endParaRPr>
          </a:p>
          <a:p>
            <a:pPr marR="550545" algn="ctr">
              <a:lnSpc>
                <a:spcPct val="100000"/>
              </a:lnSpc>
              <a:spcBef>
                <a:spcPts val="415"/>
              </a:spcBef>
              <a:tabLst>
                <a:tab pos="455295" algn="l"/>
                <a:tab pos="948055" algn="l"/>
                <a:tab pos="1441450" algn="l"/>
              </a:tabLst>
            </a:pPr>
            <a:r>
              <a:rPr sz="650" spc="5" dirty="0">
                <a:solidFill>
                  <a:srgbClr val="231F20"/>
                </a:solidFill>
                <a:latin typeface="Arial"/>
                <a:cs typeface="Arial"/>
              </a:rPr>
              <a:t>Unicast	Multicast	Unicast	Multicast</a:t>
            </a:r>
            <a:endParaRPr sz="650">
              <a:latin typeface="Arial"/>
              <a:cs typeface="Arial"/>
            </a:endParaRPr>
          </a:p>
          <a:p>
            <a:pPr marR="563880" algn="ctr">
              <a:lnSpc>
                <a:spcPct val="100000"/>
              </a:lnSpc>
              <a:spcBef>
                <a:spcPts val="415"/>
              </a:spcBef>
            </a:pPr>
            <a:r>
              <a:rPr sz="650" b="1" spc="5" dirty="0">
                <a:solidFill>
                  <a:srgbClr val="231F20"/>
                </a:solidFill>
                <a:latin typeface="Arial"/>
                <a:cs typeface="Arial"/>
              </a:rPr>
              <a:t>Message</a:t>
            </a:r>
            <a:r>
              <a:rPr sz="650" b="1" spc="-25" dirty="0">
                <a:solidFill>
                  <a:srgbClr val="231F20"/>
                </a:solidFill>
                <a:latin typeface="Arial"/>
                <a:cs typeface="Arial"/>
              </a:rPr>
              <a:t> </a:t>
            </a:r>
            <a:r>
              <a:rPr sz="650" b="1" spc="5" dirty="0">
                <a:solidFill>
                  <a:srgbClr val="231F20"/>
                </a:solidFill>
                <a:latin typeface="Arial"/>
                <a:cs typeface="Arial"/>
              </a:rPr>
              <a:t>transmission</a:t>
            </a:r>
            <a:endParaRPr sz="650">
              <a:latin typeface="Arial"/>
              <a:cs typeface="Arial"/>
            </a:endParaRPr>
          </a:p>
        </p:txBody>
      </p:sp>
      <p:sp>
        <p:nvSpPr>
          <p:cNvPr id="13" name="object 13"/>
          <p:cNvSpPr/>
          <p:nvPr/>
        </p:nvSpPr>
        <p:spPr>
          <a:xfrm>
            <a:off x="1316057" y="1042332"/>
            <a:ext cx="66040" cy="673735"/>
          </a:xfrm>
          <a:custGeom>
            <a:avLst/>
            <a:gdLst/>
            <a:ahLst/>
            <a:cxnLst/>
            <a:rect l="l" t="t" r="r" b="b"/>
            <a:pathLst>
              <a:path w="66040" h="673735">
                <a:moveTo>
                  <a:pt x="62492" y="327718"/>
                </a:moveTo>
                <a:lnTo>
                  <a:pt x="40917" y="317130"/>
                </a:lnTo>
                <a:lnTo>
                  <a:pt x="32968" y="290207"/>
                </a:lnTo>
                <a:lnTo>
                  <a:pt x="31832" y="254208"/>
                </a:lnTo>
                <a:lnTo>
                  <a:pt x="30697" y="216394"/>
                </a:lnTo>
                <a:lnTo>
                  <a:pt x="22748" y="184025"/>
                </a:lnTo>
                <a:lnTo>
                  <a:pt x="1173" y="164361"/>
                </a:lnTo>
              </a:path>
              <a:path w="66040" h="673735">
                <a:moveTo>
                  <a:pt x="65905" y="0"/>
                </a:moveTo>
                <a:lnTo>
                  <a:pt x="44330" y="10588"/>
                </a:lnTo>
                <a:lnTo>
                  <a:pt x="36381" y="37513"/>
                </a:lnTo>
                <a:lnTo>
                  <a:pt x="35245" y="73513"/>
                </a:lnTo>
                <a:lnTo>
                  <a:pt x="34110" y="111329"/>
                </a:lnTo>
                <a:lnTo>
                  <a:pt x="26161" y="143698"/>
                </a:lnTo>
                <a:lnTo>
                  <a:pt x="4586" y="163361"/>
                </a:lnTo>
              </a:path>
              <a:path w="66040" h="673735">
                <a:moveTo>
                  <a:pt x="61319" y="673569"/>
                </a:moveTo>
                <a:lnTo>
                  <a:pt x="39743" y="662982"/>
                </a:lnTo>
                <a:lnTo>
                  <a:pt x="31795" y="636058"/>
                </a:lnTo>
                <a:lnTo>
                  <a:pt x="30659" y="600060"/>
                </a:lnTo>
                <a:lnTo>
                  <a:pt x="29524" y="562246"/>
                </a:lnTo>
                <a:lnTo>
                  <a:pt x="21575" y="529877"/>
                </a:lnTo>
                <a:lnTo>
                  <a:pt x="0" y="510213"/>
                </a:lnTo>
              </a:path>
              <a:path w="66040" h="673735">
                <a:moveTo>
                  <a:pt x="64728" y="345852"/>
                </a:moveTo>
                <a:lnTo>
                  <a:pt x="43155" y="356440"/>
                </a:lnTo>
                <a:lnTo>
                  <a:pt x="35208" y="383364"/>
                </a:lnTo>
                <a:lnTo>
                  <a:pt x="34072" y="419364"/>
                </a:lnTo>
                <a:lnTo>
                  <a:pt x="32937" y="457179"/>
                </a:lnTo>
                <a:lnTo>
                  <a:pt x="24989" y="489548"/>
                </a:lnTo>
                <a:lnTo>
                  <a:pt x="3417" y="509212"/>
                </a:lnTo>
              </a:path>
            </a:pathLst>
          </a:custGeom>
          <a:ln w="5270">
            <a:solidFill>
              <a:srgbClr val="231F20"/>
            </a:solidFill>
          </a:ln>
        </p:spPr>
        <p:txBody>
          <a:bodyPr wrap="square" lIns="0" tIns="0" rIns="0" bIns="0" rtlCol="0"/>
          <a:lstStyle/>
          <a:p>
            <a:endParaRPr/>
          </a:p>
        </p:txBody>
      </p:sp>
      <p:sp>
        <p:nvSpPr>
          <p:cNvPr id="14" name="object 14"/>
          <p:cNvSpPr/>
          <p:nvPr/>
        </p:nvSpPr>
        <p:spPr>
          <a:xfrm>
            <a:off x="2408109" y="925121"/>
            <a:ext cx="883919" cy="73025"/>
          </a:xfrm>
          <a:custGeom>
            <a:avLst/>
            <a:gdLst/>
            <a:ahLst/>
            <a:cxnLst/>
            <a:rect l="l" t="t" r="r" b="b"/>
            <a:pathLst>
              <a:path w="883920" h="73025">
                <a:moveTo>
                  <a:pt x="0" y="69155"/>
                </a:moveTo>
                <a:lnTo>
                  <a:pt x="33616" y="43488"/>
                </a:lnTo>
                <a:lnTo>
                  <a:pt x="117524" y="35279"/>
                </a:lnTo>
                <a:lnTo>
                  <a:pt x="170397" y="34603"/>
                </a:lnTo>
                <a:lnTo>
                  <a:pt x="226313" y="34551"/>
                </a:lnTo>
                <a:lnTo>
                  <a:pt x="282097" y="33876"/>
                </a:lnTo>
                <a:lnTo>
                  <a:pt x="334572" y="31330"/>
                </a:lnTo>
                <a:lnTo>
                  <a:pt x="380562" y="25666"/>
                </a:lnTo>
                <a:lnTo>
                  <a:pt x="416891" y="15639"/>
                </a:lnTo>
                <a:lnTo>
                  <a:pt x="440381" y="0"/>
                </a:lnTo>
              </a:path>
              <a:path w="883920" h="73025">
                <a:moveTo>
                  <a:pt x="883462" y="73001"/>
                </a:moveTo>
                <a:lnTo>
                  <a:pt x="849846" y="47335"/>
                </a:lnTo>
                <a:lnTo>
                  <a:pt x="765940" y="39125"/>
                </a:lnTo>
                <a:lnTo>
                  <a:pt x="713068" y="38450"/>
                </a:lnTo>
                <a:lnTo>
                  <a:pt x="657152" y="38398"/>
                </a:lnTo>
                <a:lnTo>
                  <a:pt x="601369" y="37723"/>
                </a:lnTo>
                <a:lnTo>
                  <a:pt x="548893" y="35177"/>
                </a:lnTo>
                <a:lnTo>
                  <a:pt x="502903" y="29514"/>
                </a:lnTo>
                <a:lnTo>
                  <a:pt x="466573" y="19486"/>
                </a:lnTo>
                <a:lnTo>
                  <a:pt x="443080" y="3847"/>
                </a:lnTo>
              </a:path>
            </a:pathLst>
          </a:custGeom>
          <a:ln w="5270">
            <a:solidFill>
              <a:srgbClr val="231F20"/>
            </a:solidFill>
          </a:ln>
        </p:spPr>
        <p:txBody>
          <a:bodyPr wrap="square" lIns="0" tIns="0" rIns="0" bIns="0" rtlCol="0"/>
          <a:lstStyle/>
          <a:p>
            <a:endParaRPr/>
          </a:p>
        </p:txBody>
      </p:sp>
      <p:sp>
        <p:nvSpPr>
          <p:cNvPr id="15" name="object 15"/>
          <p:cNvSpPr/>
          <p:nvPr/>
        </p:nvSpPr>
        <p:spPr>
          <a:xfrm>
            <a:off x="1450779" y="925121"/>
            <a:ext cx="883919" cy="73025"/>
          </a:xfrm>
          <a:custGeom>
            <a:avLst/>
            <a:gdLst/>
            <a:ahLst/>
            <a:cxnLst/>
            <a:rect l="l" t="t" r="r" b="b"/>
            <a:pathLst>
              <a:path w="883919" h="73025">
                <a:moveTo>
                  <a:pt x="0" y="69155"/>
                </a:moveTo>
                <a:lnTo>
                  <a:pt x="33616" y="43488"/>
                </a:lnTo>
                <a:lnTo>
                  <a:pt x="117526" y="35279"/>
                </a:lnTo>
                <a:lnTo>
                  <a:pt x="170399" y="34603"/>
                </a:lnTo>
                <a:lnTo>
                  <a:pt x="226317" y="34551"/>
                </a:lnTo>
                <a:lnTo>
                  <a:pt x="282102" y="33876"/>
                </a:lnTo>
                <a:lnTo>
                  <a:pt x="334578" y="31330"/>
                </a:lnTo>
                <a:lnTo>
                  <a:pt x="380568" y="25666"/>
                </a:lnTo>
                <a:lnTo>
                  <a:pt x="416897" y="15639"/>
                </a:lnTo>
                <a:lnTo>
                  <a:pt x="440388" y="0"/>
                </a:lnTo>
              </a:path>
              <a:path w="883919" h="73025">
                <a:moveTo>
                  <a:pt x="883479" y="73001"/>
                </a:moveTo>
                <a:lnTo>
                  <a:pt x="849861" y="47335"/>
                </a:lnTo>
                <a:lnTo>
                  <a:pt x="765951" y="39125"/>
                </a:lnTo>
                <a:lnTo>
                  <a:pt x="713077" y="38450"/>
                </a:lnTo>
                <a:lnTo>
                  <a:pt x="657159" y="38398"/>
                </a:lnTo>
                <a:lnTo>
                  <a:pt x="601374" y="37723"/>
                </a:lnTo>
                <a:lnTo>
                  <a:pt x="548897" y="35177"/>
                </a:lnTo>
                <a:lnTo>
                  <a:pt x="502906" y="29514"/>
                </a:lnTo>
                <a:lnTo>
                  <a:pt x="466577" y="19486"/>
                </a:lnTo>
                <a:lnTo>
                  <a:pt x="443086" y="3847"/>
                </a:lnTo>
              </a:path>
            </a:pathLst>
          </a:custGeom>
          <a:ln w="5270">
            <a:solidFill>
              <a:srgbClr val="231F20"/>
            </a:solidFill>
          </a:ln>
        </p:spPr>
        <p:txBody>
          <a:bodyPr wrap="square" lIns="0" tIns="0" rIns="0" bIns="0" rtlCol="0"/>
          <a:lstStyle/>
          <a:p>
            <a:endParaRPr/>
          </a:p>
        </p:txBody>
      </p:sp>
      <p:sp>
        <p:nvSpPr>
          <p:cNvPr id="16" name="object 16"/>
          <p:cNvSpPr txBox="1"/>
          <p:nvPr/>
        </p:nvSpPr>
        <p:spPr>
          <a:xfrm>
            <a:off x="3888162" y="926480"/>
            <a:ext cx="109855" cy="901700"/>
          </a:xfrm>
          <a:prstGeom prst="rect">
            <a:avLst/>
          </a:prstGeom>
        </p:spPr>
        <p:txBody>
          <a:bodyPr vert="vert" wrap="square" lIns="0" tIns="0" rIns="0" bIns="0" rtlCol="0">
            <a:spAutoFit/>
          </a:bodyPr>
          <a:lstStyle/>
          <a:p>
            <a:pPr marL="12700">
              <a:lnSpc>
                <a:spcPts val="745"/>
              </a:lnSpc>
            </a:pPr>
            <a:r>
              <a:rPr sz="650" b="1" spc="5" dirty="0">
                <a:solidFill>
                  <a:srgbClr val="231F20"/>
                </a:solidFill>
                <a:latin typeface="Arial"/>
                <a:cs typeface="Arial"/>
              </a:rPr>
              <a:t>Communication</a:t>
            </a:r>
            <a:r>
              <a:rPr sz="650" b="1" spc="-35" dirty="0">
                <a:solidFill>
                  <a:srgbClr val="231F20"/>
                </a:solidFill>
                <a:latin typeface="Arial"/>
                <a:cs typeface="Arial"/>
              </a:rPr>
              <a:t> </a:t>
            </a:r>
            <a:r>
              <a:rPr sz="650" b="1" spc="5" dirty="0">
                <a:solidFill>
                  <a:srgbClr val="231F20"/>
                </a:solidFill>
                <a:latin typeface="Arial"/>
                <a:cs typeface="Arial"/>
              </a:rPr>
              <a:t>delay</a:t>
            </a:r>
            <a:endParaRPr sz="650">
              <a:latin typeface="Arial"/>
              <a:cs typeface="Arial"/>
            </a:endParaRPr>
          </a:p>
        </p:txBody>
      </p:sp>
      <p:sp>
        <p:nvSpPr>
          <p:cNvPr id="17" name="object 17"/>
          <p:cNvSpPr txBox="1"/>
          <p:nvPr/>
        </p:nvSpPr>
        <p:spPr>
          <a:xfrm>
            <a:off x="599689" y="1018020"/>
            <a:ext cx="109855" cy="728980"/>
          </a:xfrm>
          <a:prstGeom prst="rect">
            <a:avLst/>
          </a:prstGeom>
        </p:spPr>
        <p:txBody>
          <a:bodyPr vert="vert270" wrap="square" lIns="0" tIns="0" rIns="0" bIns="0" rtlCol="0">
            <a:spAutoFit/>
          </a:bodyPr>
          <a:lstStyle/>
          <a:p>
            <a:pPr marL="12700">
              <a:lnSpc>
                <a:spcPts val="745"/>
              </a:lnSpc>
            </a:pPr>
            <a:r>
              <a:rPr sz="650" b="1" spc="5" dirty="0">
                <a:solidFill>
                  <a:srgbClr val="231F20"/>
                </a:solidFill>
                <a:latin typeface="Arial"/>
                <a:cs typeface="Arial"/>
              </a:rPr>
              <a:t>Process</a:t>
            </a:r>
            <a:r>
              <a:rPr sz="650" b="1" spc="-40" dirty="0">
                <a:solidFill>
                  <a:srgbClr val="231F20"/>
                </a:solidFill>
                <a:latin typeface="Arial"/>
                <a:cs typeface="Arial"/>
              </a:rPr>
              <a:t> </a:t>
            </a:r>
            <a:r>
              <a:rPr sz="650" b="1" spc="5" dirty="0">
                <a:solidFill>
                  <a:srgbClr val="231F20"/>
                </a:solidFill>
                <a:latin typeface="Arial"/>
                <a:cs typeface="Arial"/>
              </a:rPr>
              <a:t>behavior</a:t>
            </a:r>
            <a:endParaRPr sz="650">
              <a:latin typeface="Arial"/>
              <a:cs typeface="Arial"/>
            </a:endParaRPr>
          </a:p>
        </p:txBody>
      </p:sp>
      <p:sp>
        <p:nvSpPr>
          <p:cNvPr id="18" name="object 18"/>
          <p:cNvSpPr txBox="1"/>
          <p:nvPr/>
        </p:nvSpPr>
        <p:spPr>
          <a:xfrm>
            <a:off x="1998688" y="602865"/>
            <a:ext cx="747395" cy="127000"/>
          </a:xfrm>
          <a:prstGeom prst="rect">
            <a:avLst/>
          </a:prstGeom>
        </p:spPr>
        <p:txBody>
          <a:bodyPr vert="horz" wrap="square" lIns="0" tIns="13970" rIns="0" bIns="0" rtlCol="0">
            <a:spAutoFit/>
          </a:bodyPr>
          <a:lstStyle/>
          <a:p>
            <a:pPr marL="12700">
              <a:lnSpc>
                <a:spcPct val="100000"/>
              </a:lnSpc>
              <a:spcBef>
                <a:spcPts val="110"/>
              </a:spcBef>
            </a:pPr>
            <a:r>
              <a:rPr sz="650" b="1" spc="5" dirty="0">
                <a:solidFill>
                  <a:srgbClr val="231F20"/>
                </a:solidFill>
                <a:latin typeface="Arial"/>
                <a:cs typeface="Arial"/>
              </a:rPr>
              <a:t>Message</a:t>
            </a:r>
            <a:r>
              <a:rPr sz="650" b="1" spc="-40" dirty="0">
                <a:solidFill>
                  <a:srgbClr val="231F20"/>
                </a:solidFill>
                <a:latin typeface="Arial"/>
                <a:cs typeface="Arial"/>
              </a:rPr>
              <a:t> </a:t>
            </a:r>
            <a:r>
              <a:rPr sz="650" b="1" spc="5" dirty="0">
                <a:solidFill>
                  <a:srgbClr val="231F20"/>
                </a:solidFill>
                <a:latin typeface="Arial"/>
                <a:cs typeface="Arial"/>
              </a:rPr>
              <a:t>ordering</a:t>
            </a:r>
            <a:endParaRPr sz="650">
              <a:latin typeface="Arial"/>
              <a:cs typeface="Arial"/>
            </a:endParaRPr>
          </a:p>
        </p:txBody>
      </p:sp>
      <p:sp>
        <p:nvSpPr>
          <p:cNvPr id="19" name="object 19"/>
          <p:cNvSpPr txBox="1"/>
          <p:nvPr/>
        </p:nvSpPr>
        <p:spPr>
          <a:xfrm>
            <a:off x="321894" y="2073577"/>
            <a:ext cx="2896870" cy="762000"/>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Formal</a:t>
            </a:r>
            <a:r>
              <a:rPr sz="1200" spc="-15" dirty="0">
                <a:solidFill>
                  <a:srgbClr val="3333B2"/>
                </a:solidFill>
                <a:latin typeface="Arial"/>
                <a:cs typeface="Arial"/>
              </a:rPr>
              <a:t> </a:t>
            </a:r>
            <a:r>
              <a:rPr sz="1200" spc="-5" dirty="0">
                <a:solidFill>
                  <a:srgbClr val="3333B2"/>
                </a:solidFill>
                <a:latin typeface="Arial"/>
                <a:cs typeface="Arial"/>
              </a:rPr>
              <a:t>requirements</a:t>
            </a:r>
            <a:r>
              <a:rPr sz="1200" spc="-10" dirty="0">
                <a:solidFill>
                  <a:srgbClr val="3333B2"/>
                </a:solidFill>
                <a:latin typeface="Arial"/>
                <a:cs typeface="Arial"/>
              </a:rPr>
              <a:t> </a:t>
            </a:r>
            <a:r>
              <a:rPr sz="1200" spc="-20" dirty="0">
                <a:solidFill>
                  <a:srgbClr val="3333B2"/>
                </a:solidFill>
                <a:latin typeface="Arial"/>
                <a:cs typeface="Arial"/>
              </a:rPr>
              <a:t>for</a:t>
            </a:r>
            <a:r>
              <a:rPr sz="1200" spc="-15" dirty="0">
                <a:solidFill>
                  <a:srgbClr val="3333B2"/>
                </a:solidFill>
                <a:latin typeface="Arial"/>
                <a:cs typeface="Arial"/>
              </a:rPr>
              <a:t> </a:t>
            </a:r>
            <a:r>
              <a:rPr sz="1200" spc="-5" dirty="0">
                <a:solidFill>
                  <a:srgbClr val="3333B2"/>
                </a:solidFill>
                <a:latin typeface="Arial"/>
                <a:cs typeface="Arial"/>
              </a:rPr>
              <a:t>consensus</a:t>
            </a:r>
            <a:endParaRPr sz="1200">
              <a:latin typeface="Arial"/>
              <a:cs typeface="Arial"/>
            </a:endParaRPr>
          </a:p>
          <a:p>
            <a:pPr marL="314960" indent="-168275">
              <a:lnSpc>
                <a:spcPts val="1200"/>
              </a:lnSpc>
              <a:spcBef>
                <a:spcPts val="770"/>
              </a:spcBef>
              <a:buClr>
                <a:srgbClr val="3333B2"/>
              </a:buClr>
              <a:buChar char="►"/>
              <a:tabLst>
                <a:tab pos="315595" algn="l"/>
              </a:tabLst>
            </a:pPr>
            <a:r>
              <a:rPr sz="1000" spc="-5" dirty="0">
                <a:latin typeface="Arial"/>
                <a:cs typeface="Arial"/>
              </a:rPr>
              <a:t>Processes produce the same output </a:t>
            </a:r>
            <a:r>
              <a:rPr sz="1000" spc="-10" dirty="0">
                <a:latin typeface="Arial"/>
                <a:cs typeface="Arial"/>
              </a:rPr>
              <a:t>value</a:t>
            </a:r>
            <a:endParaRPr sz="1000">
              <a:latin typeface="Arial"/>
              <a:cs typeface="Arial"/>
            </a:endParaRPr>
          </a:p>
          <a:p>
            <a:pPr marL="314960" indent="-168275">
              <a:lnSpc>
                <a:spcPts val="1195"/>
              </a:lnSpc>
              <a:buClr>
                <a:srgbClr val="3333B2"/>
              </a:buClr>
              <a:buChar char="►"/>
              <a:tabLst>
                <a:tab pos="315595" algn="l"/>
              </a:tabLst>
            </a:pPr>
            <a:r>
              <a:rPr sz="1000" spc="-5" dirty="0">
                <a:latin typeface="Arial"/>
                <a:cs typeface="Arial"/>
              </a:rPr>
              <a:t>Every</a:t>
            </a:r>
            <a:r>
              <a:rPr sz="1000" spc="-10" dirty="0">
                <a:latin typeface="Arial"/>
                <a:cs typeface="Arial"/>
              </a:rPr>
              <a:t> </a:t>
            </a:r>
            <a:r>
              <a:rPr sz="1000" spc="-5" dirty="0">
                <a:latin typeface="Arial"/>
                <a:cs typeface="Arial"/>
              </a:rPr>
              <a:t>output</a:t>
            </a:r>
            <a:r>
              <a:rPr sz="1000" spc="-10" dirty="0">
                <a:latin typeface="Arial"/>
                <a:cs typeface="Arial"/>
              </a:rPr>
              <a:t> value </a:t>
            </a:r>
            <a:r>
              <a:rPr sz="1000" spc="-5" dirty="0">
                <a:latin typeface="Arial"/>
                <a:cs typeface="Arial"/>
              </a:rPr>
              <a:t>must</a:t>
            </a:r>
            <a:r>
              <a:rPr sz="1000" spc="-10" dirty="0">
                <a:latin typeface="Arial"/>
                <a:cs typeface="Arial"/>
              </a:rPr>
              <a:t> </a:t>
            </a:r>
            <a:r>
              <a:rPr sz="1000" spc="-5" dirty="0">
                <a:latin typeface="Arial"/>
                <a:cs typeface="Arial"/>
              </a:rPr>
              <a:t>be</a:t>
            </a:r>
            <a:r>
              <a:rPr sz="1000" spc="-10" dirty="0">
                <a:latin typeface="Arial"/>
                <a:cs typeface="Arial"/>
              </a:rPr>
              <a:t> valid</a:t>
            </a:r>
            <a:endParaRPr sz="1000">
              <a:latin typeface="Arial"/>
              <a:cs typeface="Arial"/>
            </a:endParaRPr>
          </a:p>
          <a:p>
            <a:pPr marL="314960" indent="-168275">
              <a:lnSpc>
                <a:spcPts val="1200"/>
              </a:lnSpc>
              <a:buClr>
                <a:srgbClr val="3333B2"/>
              </a:buClr>
              <a:buChar char="►"/>
              <a:tabLst>
                <a:tab pos="315595" algn="l"/>
              </a:tabLst>
            </a:pPr>
            <a:r>
              <a:rPr sz="1000" spc="-5" dirty="0">
                <a:latin typeface="Arial"/>
                <a:cs typeface="Arial"/>
              </a:rPr>
              <a:t>Every</a:t>
            </a:r>
            <a:r>
              <a:rPr sz="1000" spc="-10" dirty="0">
                <a:latin typeface="Arial"/>
                <a:cs typeface="Arial"/>
              </a:rPr>
              <a:t> </a:t>
            </a:r>
            <a:r>
              <a:rPr sz="1000" spc="-5" dirty="0">
                <a:latin typeface="Arial"/>
                <a:cs typeface="Arial"/>
              </a:rPr>
              <a:t>process must </a:t>
            </a:r>
            <a:r>
              <a:rPr sz="1000" spc="-10" dirty="0">
                <a:latin typeface="Arial"/>
                <a:cs typeface="Arial"/>
              </a:rPr>
              <a:t>eventually</a:t>
            </a:r>
            <a:r>
              <a:rPr sz="1000" spc="-5" dirty="0">
                <a:latin typeface="Arial"/>
                <a:cs typeface="Arial"/>
              </a:rPr>
              <a:t> provide</a:t>
            </a:r>
            <a:r>
              <a:rPr sz="1000" spc="-10" dirty="0">
                <a:latin typeface="Arial"/>
                <a:cs typeface="Arial"/>
              </a:rPr>
              <a:t> </a:t>
            </a:r>
            <a:r>
              <a:rPr sz="1000" spc="-5" dirty="0">
                <a:latin typeface="Arial"/>
                <a:cs typeface="Arial"/>
              </a:rPr>
              <a:t>output</a:t>
            </a:r>
            <a:endParaRPr sz="1000">
              <a:latin typeface="Arial"/>
              <a:cs typeface="Arial"/>
            </a:endParaRPr>
          </a:p>
        </p:txBody>
      </p:sp>
      <p:sp>
        <p:nvSpPr>
          <p:cNvPr id="20" name="object 20"/>
          <p:cNvSpPr txBox="1"/>
          <p:nvPr/>
        </p:nvSpPr>
        <p:spPr>
          <a:xfrm>
            <a:off x="66713" y="3327684"/>
            <a:ext cx="8229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6" action="ppaction://hlinksldjump"/>
              </a:rPr>
              <a:t>On</a:t>
            </a:r>
            <a:r>
              <a:rPr sz="600" spc="-2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reaching</a:t>
            </a:r>
            <a:r>
              <a:rPr sz="600" spc="-1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consensus</a:t>
            </a:r>
            <a:endParaRPr sz="600">
              <a:latin typeface="Arial"/>
              <a:cs typeface="Arial"/>
            </a:endParaRPr>
          </a:p>
        </p:txBody>
      </p:sp>
      <p:sp>
        <p:nvSpPr>
          <p:cNvPr id="21" name="object 21"/>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377315" cy="119380"/>
          </a:xfrm>
          <a:prstGeom prst="rect">
            <a:avLst/>
          </a:prstGeom>
        </p:spPr>
        <p:txBody>
          <a:bodyPr vert="horz" wrap="square" lIns="0" tIns="8890" rIns="0" bIns="0" rtlCol="0">
            <a:spAutoFit/>
          </a:bodyPr>
          <a:lstStyle/>
          <a:p>
            <a:pPr marL="12700">
              <a:lnSpc>
                <a:spcPct val="100000"/>
              </a:lnSpc>
              <a:spcBef>
                <a:spcPts val="70"/>
              </a:spcBef>
            </a:pPr>
            <a:r>
              <a:rPr sz="600" spc="-10" dirty="0">
                <a:solidFill>
                  <a:srgbClr val="3333B2"/>
                </a:solidFill>
                <a:latin typeface="Arial"/>
                <a:cs typeface="Arial"/>
                <a:hlinkClick r:id="rId3" action="ppaction://hlinksldjump"/>
              </a:rPr>
              <a:t>Consistency, availability,</a:t>
            </a:r>
            <a:r>
              <a:rPr sz="600" spc="-5" dirty="0">
                <a:solidFill>
                  <a:srgbClr val="3333B2"/>
                </a:solidFill>
                <a:latin typeface="Arial"/>
                <a:cs typeface="Arial"/>
                <a:hlinkClick r:id="rId3" action="ppaction://hlinksldjump"/>
              </a:rPr>
              <a:t> and </a:t>
            </a:r>
            <a:r>
              <a:rPr sz="600" dirty="0">
                <a:solidFill>
                  <a:srgbClr val="3333B2"/>
                </a:solidFill>
                <a:latin typeface="Arial"/>
                <a:cs typeface="Arial"/>
                <a:hlinkClick r:id="rId3" action="ppaction://hlinksldjump"/>
              </a:rPr>
              <a:t>partitioning</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38</a:t>
            </a:r>
            <a:r>
              <a:rPr spc="-40" dirty="0"/>
              <a:t> </a:t>
            </a:r>
            <a:r>
              <a:rPr spc="-5" dirty="0"/>
              <a:t>/</a:t>
            </a:r>
            <a:r>
              <a:rPr spc="-35" dirty="0"/>
              <a:t> </a:t>
            </a:r>
            <a:r>
              <a:rPr spc="-5" dirty="0"/>
              <a:t>68</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000375" algn="l"/>
              </a:tabLst>
            </a:pPr>
            <a:r>
              <a:rPr sz="600" spc="-10" dirty="0">
                <a:solidFill>
                  <a:srgbClr val="3333B2"/>
                </a:solidFill>
                <a:latin typeface="Arial"/>
                <a:cs typeface="Arial"/>
                <a:hlinkClick r:id="rId4" action="ppaction://hlinksldjump"/>
              </a:rPr>
              <a:t>Fault</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spc="1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Some</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limitations</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on</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realizing</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fault</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tolerance</a:t>
            </a:r>
            <a:endParaRPr sz="600">
              <a:latin typeface="Arial"/>
              <a:cs typeface="Arial"/>
            </a:endParaRPr>
          </a:p>
        </p:txBody>
      </p:sp>
      <p:sp>
        <p:nvSpPr>
          <p:cNvPr id="3" name="object 3"/>
          <p:cNvSpPr txBox="1">
            <a:spLocks noGrp="1"/>
          </p:cNvSpPr>
          <p:nvPr>
            <p:ph type="title"/>
          </p:nvPr>
        </p:nvSpPr>
        <p:spPr>
          <a:xfrm>
            <a:off x="95300" y="188846"/>
            <a:ext cx="3268979" cy="244475"/>
          </a:xfrm>
          <a:prstGeom prst="rect">
            <a:avLst/>
          </a:prstGeom>
        </p:spPr>
        <p:txBody>
          <a:bodyPr vert="horz" wrap="square" lIns="0" tIns="17145" rIns="0" bIns="0" rtlCol="0">
            <a:spAutoFit/>
          </a:bodyPr>
          <a:lstStyle/>
          <a:p>
            <a:pPr marL="12700">
              <a:lnSpc>
                <a:spcPct val="100000"/>
              </a:lnSpc>
              <a:spcBef>
                <a:spcPts val="135"/>
              </a:spcBef>
            </a:pPr>
            <a:r>
              <a:rPr dirty="0"/>
              <a:t>Consistency,</a:t>
            </a:r>
            <a:r>
              <a:rPr spc="10" dirty="0"/>
              <a:t> </a:t>
            </a:r>
            <a:r>
              <a:rPr spc="-5" dirty="0"/>
              <a:t>availability,</a:t>
            </a:r>
            <a:r>
              <a:rPr spc="15" dirty="0"/>
              <a:t> and</a:t>
            </a:r>
            <a:r>
              <a:rPr spc="10" dirty="0"/>
              <a:t> </a:t>
            </a:r>
            <a:r>
              <a:rPr spc="15" dirty="0"/>
              <a:t>partitioning</a:t>
            </a:r>
          </a:p>
        </p:txBody>
      </p:sp>
      <p:sp>
        <p:nvSpPr>
          <p:cNvPr id="4" name="object 4"/>
          <p:cNvSpPr txBox="1"/>
          <p:nvPr/>
        </p:nvSpPr>
        <p:spPr>
          <a:xfrm>
            <a:off x="343128" y="707006"/>
            <a:ext cx="3916679" cy="216408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CAP</a:t>
            </a:r>
            <a:r>
              <a:rPr sz="1200" spc="-40" dirty="0">
                <a:solidFill>
                  <a:srgbClr val="3333B2"/>
                </a:solidFill>
                <a:latin typeface="Arial"/>
                <a:cs typeface="Arial"/>
              </a:rPr>
              <a:t> </a:t>
            </a:r>
            <a:r>
              <a:rPr sz="1200" spc="-5" dirty="0">
                <a:solidFill>
                  <a:srgbClr val="3333B2"/>
                </a:solidFill>
                <a:latin typeface="Arial"/>
                <a:cs typeface="Arial"/>
              </a:rPr>
              <a:t>theorem</a:t>
            </a:r>
            <a:endParaRPr sz="1200">
              <a:latin typeface="Arial"/>
              <a:cs typeface="Arial"/>
            </a:endParaRPr>
          </a:p>
          <a:p>
            <a:pPr marL="16510" marR="50800" indent="-4445">
              <a:lnSpc>
                <a:spcPts val="1200"/>
              </a:lnSpc>
              <a:spcBef>
                <a:spcPts val="10"/>
              </a:spcBef>
            </a:pPr>
            <a:r>
              <a:rPr sz="1000" spc="-10" dirty="0">
                <a:latin typeface="Arial"/>
                <a:cs typeface="Arial"/>
              </a:rPr>
              <a:t>Any</a:t>
            </a:r>
            <a:r>
              <a:rPr sz="1000" spc="-5" dirty="0">
                <a:latin typeface="Arial"/>
                <a:cs typeface="Arial"/>
              </a:rPr>
              <a:t> networked</a:t>
            </a:r>
            <a:r>
              <a:rPr sz="1000" dirty="0">
                <a:latin typeface="Arial"/>
                <a:cs typeface="Arial"/>
              </a:rPr>
              <a:t> </a:t>
            </a:r>
            <a:r>
              <a:rPr sz="1000" spc="-5" dirty="0">
                <a:latin typeface="Arial"/>
                <a:cs typeface="Arial"/>
              </a:rPr>
              <a:t>system providing</a:t>
            </a:r>
            <a:r>
              <a:rPr sz="1000" dirty="0">
                <a:latin typeface="Arial"/>
                <a:cs typeface="Arial"/>
              </a:rPr>
              <a:t> </a:t>
            </a:r>
            <a:r>
              <a:rPr sz="1000" spc="-5" dirty="0">
                <a:latin typeface="Arial"/>
                <a:cs typeface="Arial"/>
              </a:rPr>
              <a:t>shared data</a:t>
            </a:r>
            <a:r>
              <a:rPr sz="1000" dirty="0">
                <a:latin typeface="Arial"/>
                <a:cs typeface="Arial"/>
              </a:rPr>
              <a:t> </a:t>
            </a:r>
            <a:r>
              <a:rPr sz="1000" spc="-5" dirty="0">
                <a:latin typeface="Arial"/>
                <a:cs typeface="Arial"/>
              </a:rPr>
              <a:t>can provide</a:t>
            </a:r>
            <a:r>
              <a:rPr sz="1000" dirty="0">
                <a:latin typeface="Arial"/>
                <a:cs typeface="Arial"/>
              </a:rPr>
              <a:t> </a:t>
            </a:r>
            <a:r>
              <a:rPr sz="1000" spc="-5" dirty="0">
                <a:latin typeface="Arial"/>
                <a:cs typeface="Arial"/>
              </a:rPr>
              <a:t>only </a:t>
            </a:r>
            <a:r>
              <a:rPr sz="1000" spc="-10" dirty="0">
                <a:latin typeface="Arial"/>
                <a:cs typeface="Arial"/>
              </a:rPr>
              <a:t>two</a:t>
            </a:r>
            <a:r>
              <a:rPr sz="1000" dirty="0">
                <a:latin typeface="Arial"/>
                <a:cs typeface="Arial"/>
              </a:rPr>
              <a:t> </a:t>
            </a:r>
            <a:r>
              <a:rPr sz="1000" spc="-5" dirty="0">
                <a:latin typeface="Arial"/>
                <a:cs typeface="Arial"/>
              </a:rPr>
              <a:t>of </a:t>
            </a:r>
            <a:r>
              <a:rPr sz="1000" spc="-265" dirty="0">
                <a:latin typeface="Arial"/>
                <a:cs typeface="Arial"/>
              </a:rPr>
              <a:t> </a:t>
            </a:r>
            <a:r>
              <a:rPr sz="1000" spc="-5" dirty="0">
                <a:latin typeface="Arial"/>
                <a:cs typeface="Arial"/>
              </a:rPr>
              <a:t>the</a:t>
            </a:r>
            <a:r>
              <a:rPr sz="1000" spc="-10" dirty="0">
                <a:latin typeface="Arial"/>
                <a:cs typeface="Arial"/>
              </a:rPr>
              <a:t> following</a:t>
            </a:r>
            <a:r>
              <a:rPr sz="1000" spc="-5" dirty="0">
                <a:latin typeface="Arial"/>
                <a:cs typeface="Arial"/>
              </a:rPr>
              <a:t> three </a:t>
            </a:r>
            <a:r>
              <a:rPr sz="1000" dirty="0">
                <a:latin typeface="Arial"/>
                <a:cs typeface="Arial"/>
              </a:rPr>
              <a:t>properties:</a:t>
            </a:r>
            <a:endParaRPr sz="1000">
              <a:latin typeface="Arial"/>
              <a:cs typeface="Arial"/>
            </a:endParaRPr>
          </a:p>
          <a:p>
            <a:pPr marL="293370" marR="5080" indent="-196215">
              <a:lnSpc>
                <a:spcPct val="100000"/>
              </a:lnSpc>
              <a:spcBef>
                <a:spcPts val="550"/>
              </a:spcBef>
            </a:pPr>
            <a:r>
              <a:rPr sz="1000" spc="-5" dirty="0">
                <a:solidFill>
                  <a:srgbClr val="FA0000"/>
                </a:solidFill>
                <a:latin typeface="Arial"/>
                <a:cs typeface="Arial"/>
              </a:rPr>
              <a:t>C</a:t>
            </a:r>
            <a:r>
              <a:rPr sz="1000" spc="-5" dirty="0">
                <a:solidFill>
                  <a:srgbClr val="3333B2"/>
                </a:solidFill>
                <a:latin typeface="Arial"/>
                <a:cs typeface="Arial"/>
              </a:rPr>
              <a:t>:</a:t>
            </a:r>
            <a:r>
              <a:rPr sz="1000" dirty="0">
                <a:solidFill>
                  <a:srgbClr val="3333B2"/>
                </a:solidFill>
                <a:latin typeface="Arial"/>
                <a:cs typeface="Arial"/>
              </a:rPr>
              <a:t> </a:t>
            </a:r>
            <a:r>
              <a:rPr sz="1000" spc="-5" dirty="0">
                <a:solidFill>
                  <a:srgbClr val="0000FA"/>
                </a:solidFill>
                <a:latin typeface="Arial"/>
                <a:cs typeface="Arial"/>
              </a:rPr>
              <a:t>consistency</a:t>
            </a:r>
            <a:r>
              <a:rPr sz="1000" spc="-5" dirty="0">
                <a:latin typeface="Arial"/>
                <a:cs typeface="Arial"/>
              </a:rPr>
              <a:t>, </a:t>
            </a:r>
            <a:r>
              <a:rPr sz="1000" spc="-15" dirty="0">
                <a:latin typeface="Arial"/>
                <a:cs typeface="Arial"/>
              </a:rPr>
              <a:t>by </a:t>
            </a:r>
            <a:r>
              <a:rPr sz="1000" spc="-5" dirty="0">
                <a:latin typeface="Arial"/>
                <a:cs typeface="Arial"/>
              </a:rPr>
              <a:t>which a shared and replicated data item appears </a:t>
            </a:r>
            <a:r>
              <a:rPr sz="1000" spc="-270" dirty="0">
                <a:latin typeface="Arial"/>
                <a:cs typeface="Arial"/>
              </a:rPr>
              <a:t> </a:t>
            </a:r>
            <a:r>
              <a:rPr sz="1000" spc="-5" dirty="0">
                <a:latin typeface="Arial"/>
                <a:cs typeface="Arial"/>
              </a:rPr>
              <a:t>as</a:t>
            </a:r>
            <a:r>
              <a:rPr sz="1000" spc="-10" dirty="0">
                <a:latin typeface="Arial"/>
                <a:cs typeface="Arial"/>
              </a:rPr>
              <a:t> </a:t>
            </a:r>
            <a:r>
              <a:rPr sz="1000" spc="-5" dirty="0">
                <a:latin typeface="Arial"/>
                <a:cs typeface="Arial"/>
              </a:rPr>
              <a:t>a single, up-to-date </a:t>
            </a:r>
            <a:r>
              <a:rPr sz="1000" spc="-10" dirty="0">
                <a:latin typeface="Arial"/>
                <a:cs typeface="Arial"/>
              </a:rPr>
              <a:t>copy</a:t>
            </a:r>
            <a:endParaRPr sz="1000">
              <a:latin typeface="Arial"/>
              <a:cs typeface="Arial"/>
            </a:endParaRPr>
          </a:p>
          <a:p>
            <a:pPr marL="104775" marR="49530">
              <a:lnSpc>
                <a:spcPts val="1789"/>
              </a:lnSpc>
              <a:spcBef>
                <a:spcPts val="155"/>
              </a:spcBef>
            </a:pPr>
            <a:r>
              <a:rPr sz="1000" spc="-5" dirty="0">
                <a:solidFill>
                  <a:srgbClr val="FA0000"/>
                </a:solidFill>
                <a:latin typeface="Arial"/>
                <a:cs typeface="Arial"/>
              </a:rPr>
              <a:t>A</a:t>
            </a:r>
            <a:r>
              <a:rPr sz="1000" spc="-5" dirty="0">
                <a:solidFill>
                  <a:srgbClr val="3333B2"/>
                </a:solidFill>
                <a:latin typeface="Arial"/>
                <a:cs typeface="Arial"/>
              </a:rPr>
              <a:t>:</a:t>
            </a:r>
            <a:r>
              <a:rPr sz="1000" spc="260" dirty="0">
                <a:solidFill>
                  <a:srgbClr val="3333B2"/>
                </a:solidFill>
                <a:latin typeface="Arial"/>
                <a:cs typeface="Arial"/>
              </a:rPr>
              <a:t> </a:t>
            </a:r>
            <a:r>
              <a:rPr sz="1000" spc="-5" dirty="0">
                <a:solidFill>
                  <a:srgbClr val="0000FA"/>
                </a:solidFill>
                <a:latin typeface="Arial"/>
                <a:cs typeface="Arial"/>
              </a:rPr>
              <a:t>availability</a:t>
            </a:r>
            <a:r>
              <a:rPr sz="1000" spc="-5" dirty="0">
                <a:latin typeface="Arial"/>
                <a:cs typeface="Arial"/>
              </a:rPr>
              <a:t>, </a:t>
            </a:r>
            <a:r>
              <a:rPr sz="1000" spc="-15" dirty="0">
                <a:latin typeface="Arial"/>
                <a:cs typeface="Arial"/>
              </a:rPr>
              <a:t>by</a:t>
            </a:r>
            <a:r>
              <a:rPr sz="1000" spc="-5" dirty="0">
                <a:latin typeface="Arial"/>
                <a:cs typeface="Arial"/>
              </a:rPr>
              <a:t> which updates will </a:t>
            </a:r>
            <a:r>
              <a:rPr sz="1000" spc="-10" dirty="0">
                <a:latin typeface="Arial"/>
                <a:cs typeface="Arial"/>
              </a:rPr>
              <a:t>always</a:t>
            </a:r>
            <a:r>
              <a:rPr sz="1000" dirty="0">
                <a:latin typeface="Arial"/>
                <a:cs typeface="Arial"/>
              </a:rPr>
              <a:t> </a:t>
            </a:r>
            <a:r>
              <a:rPr sz="1000" spc="-5" dirty="0">
                <a:latin typeface="Arial"/>
                <a:cs typeface="Arial"/>
              </a:rPr>
              <a:t>be </a:t>
            </a:r>
            <a:r>
              <a:rPr sz="1000" spc="-10" dirty="0">
                <a:latin typeface="Arial"/>
                <a:cs typeface="Arial"/>
              </a:rPr>
              <a:t>eventually</a:t>
            </a:r>
            <a:r>
              <a:rPr sz="1000" spc="-5" dirty="0">
                <a:latin typeface="Arial"/>
                <a:cs typeface="Arial"/>
              </a:rPr>
              <a:t> </a:t>
            </a:r>
            <a:r>
              <a:rPr sz="1000" spc="-10" dirty="0">
                <a:latin typeface="Arial"/>
                <a:cs typeface="Arial"/>
              </a:rPr>
              <a:t>executed </a:t>
            </a:r>
            <a:r>
              <a:rPr sz="1000" spc="-265" dirty="0">
                <a:latin typeface="Arial"/>
                <a:cs typeface="Arial"/>
              </a:rPr>
              <a:t> </a:t>
            </a:r>
            <a:r>
              <a:rPr sz="1000" spc="-5" dirty="0">
                <a:solidFill>
                  <a:srgbClr val="FA0000"/>
                </a:solidFill>
                <a:latin typeface="Arial"/>
                <a:cs typeface="Arial"/>
              </a:rPr>
              <a:t>P</a:t>
            </a:r>
            <a:r>
              <a:rPr sz="1000" spc="-5" dirty="0">
                <a:solidFill>
                  <a:srgbClr val="3333B2"/>
                </a:solidFill>
                <a:latin typeface="Arial"/>
                <a:cs typeface="Arial"/>
              </a:rPr>
              <a:t>:</a:t>
            </a:r>
            <a:r>
              <a:rPr sz="1000" spc="260" dirty="0">
                <a:solidFill>
                  <a:srgbClr val="3333B2"/>
                </a:solidFill>
                <a:latin typeface="Arial"/>
                <a:cs typeface="Arial"/>
              </a:rPr>
              <a:t> </a:t>
            </a:r>
            <a:r>
              <a:rPr sz="1000" spc="-20" dirty="0">
                <a:latin typeface="Arial"/>
                <a:cs typeface="Arial"/>
              </a:rPr>
              <a:t>Tolerant</a:t>
            </a:r>
            <a:r>
              <a:rPr sz="1000" spc="-5" dirty="0">
                <a:latin typeface="Arial"/>
                <a:cs typeface="Arial"/>
              </a:rPr>
              <a:t> to the </a:t>
            </a:r>
            <a:r>
              <a:rPr sz="1000" dirty="0">
                <a:solidFill>
                  <a:srgbClr val="0000FA"/>
                </a:solidFill>
                <a:latin typeface="Arial"/>
                <a:cs typeface="Arial"/>
              </a:rPr>
              <a:t>partitioning</a:t>
            </a:r>
            <a:r>
              <a:rPr sz="1000" spc="-5" dirty="0">
                <a:solidFill>
                  <a:srgbClr val="0000FA"/>
                </a:solidFill>
                <a:latin typeface="Arial"/>
                <a:cs typeface="Arial"/>
              </a:rPr>
              <a:t> </a:t>
            </a:r>
            <a:r>
              <a:rPr sz="1000" spc="-5" dirty="0">
                <a:latin typeface="Arial"/>
                <a:cs typeface="Arial"/>
              </a:rPr>
              <a:t>of process </a:t>
            </a:r>
            <a:r>
              <a:rPr sz="1000" spc="-10" dirty="0">
                <a:latin typeface="Arial"/>
                <a:cs typeface="Arial"/>
              </a:rPr>
              <a:t>group.</a:t>
            </a:r>
            <a:endParaRPr sz="1000">
              <a:latin typeface="Arial"/>
              <a:cs typeface="Arial"/>
            </a:endParaRPr>
          </a:p>
          <a:p>
            <a:pPr>
              <a:lnSpc>
                <a:spcPct val="100000"/>
              </a:lnSpc>
              <a:spcBef>
                <a:spcPts val="35"/>
              </a:spcBef>
            </a:pPr>
            <a:endParaRPr sz="1150">
              <a:latin typeface="Arial"/>
              <a:cs typeface="Arial"/>
            </a:endParaRPr>
          </a:p>
          <a:p>
            <a:pPr marL="16510">
              <a:lnSpc>
                <a:spcPts val="1410"/>
              </a:lnSpc>
            </a:pPr>
            <a:r>
              <a:rPr sz="1200" spc="-5" dirty="0">
                <a:solidFill>
                  <a:srgbClr val="FA0000"/>
                </a:solidFill>
                <a:latin typeface="Arial"/>
                <a:cs typeface="Arial"/>
              </a:rPr>
              <a:t>Conclusion</a:t>
            </a:r>
            <a:endParaRPr sz="1200">
              <a:latin typeface="Arial"/>
              <a:cs typeface="Arial"/>
            </a:endParaRPr>
          </a:p>
          <a:p>
            <a:pPr marL="16510" marR="271780">
              <a:lnSpc>
                <a:spcPts val="1200"/>
              </a:lnSpc>
              <a:spcBef>
                <a:spcPts val="15"/>
              </a:spcBef>
            </a:pP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network</a:t>
            </a:r>
            <a:r>
              <a:rPr sz="1000" dirty="0">
                <a:latin typeface="Arial"/>
                <a:cs typeface="Arial"/>
              </a:rPr>
              <a:t> </a:t>
            </a:r>
            <a:r>
              <a:rPr sz="1000" spc="-5" dirty="0">
                <a:latin typeface="Arial"/>
                <a:cs typeface="Arial"/>
              </a:rPr>
              <a:t>subject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communication</a:t>
            </a:r>
            <a:r>
              <a:rPr sz="1000" dirty="0">
                <a:latin typeface="Arial"/>
                <a:cs typeface="Arial"/>
              </a:rPr>
              <a:t> </a:t>
            </a:r>
            <a:r>
              <a:rPr sz="1000" spc="-10" dirty="0">
                <a:latin typeface="Arial"/>
                <a:cs typeface="Arial"/>
              </a:rPr>
              <a:t>failures,</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impossible</a:t>
            </a:r>
            <a:r>
              <a:rPr sz="1000" dirty="0">
                <a:latin typeface="Arial"/>
                <a:cs typeface="Arial"/>
              </a:rPr>
              <a:t> </a:t>
            </a:r>
            <a:r>
              <a:rPr sz="1000" spc="-5" dirty="0">
                <a:latin typeface="Arial"/>
                <a:cs typeface="Arial"/>
              </a:rPr>
              <a:t>to </a:t>
            </a:r>
            <a:r>
              <a:rPr sz="1000" spc="-260" dirty="0">
                <a:latin typeface="Arial"/>
                <a:cs typeface="Arial"/>
              </a:rPr>
              <a:t> </a:t>
            </a:r>
            <a:r>
              <a:rPr sz="1000" spc="-5" dirty="0">
                <a:latin typeface="Arial"/>
                <a:cs typeface="Arial"/>
              </a:rPr>
              <a:t>realize an</a:t>
            </a:r>
            <a:r>
              <a:rPr sz="1000" dirty="0">
                <a:latin typeface="Arial"/>
                <a:cs typeface="Arial"/>
              </a:rPr>
              <a:t> </a:t>
            </a:r>
            <a:r>
              <a:rPr sz="1000" spc="-5" dirty="0">
                <a:latin typeface="Arial"/>
                <a:cs typeface="Arial"/>
              </a:rPr>
              <a:t>atomic</a:t>
            </a:r>
            <a:r>
              <a:rPr sz="1000" dirty="0">
                <a:latin typeface="Arial"/>
                <a:cs typeface="Arial"/>
              </a:rPr>
              <a:t> </a:t>
            </a:r>
            <a:r>
              <a:rPr sz="1000" spc="-5" dirty="0">
                <a:latin typeface="Arial"/>
                <a:cs typeface="Arial"/>
              </a:rPr>
              <a:t>read/write </a:t>
            </a:r>
            <a:r>
              <a:rPr sz="1000" spc="-5" dirty="0">
                <a:solidFill>
                  <a:srgbClr val="0000FA"/>
                </a:solidFill>
                <a:latin typeface="Arial"/>
                <a:cs typeface="Arial"/>
              </a:rPr>
              <a:t>shared</a:t>
            </a:r>
            <a:r>
              <a:rPr sz="1000" dirty="0">
                <a:solidFill>
                  <a:srgbClr val="0000FA"/>
                </a:solidFill>
                <a:latin typeface="Arial"/>
                <a:cs typeface="Arial"/>
              </a:rPr>
              <a:t> memory </a:t>
            </a:r>
            <a:r>
              <a:rPr sz="1000" spc="-5" dirty="0">
                <a:latin typeface="Arial"/>
                <a:cs typeface="Arial"/>
              </a:rPr>
              <a:t>that guarantees</a:t>
            </a:r>
            <a:r>
              <a:rPr sz="1000" dirty="0">
                <a:latin typeface="Arial"/>
                <a:cs typeface="Arial"/>
              </a:rPr>
              <a:t> </a:t>
            </a:r>
            <a:r>
              <a:rPr sz="1000" spc="-5" dirty="0">
                <a:latin typeface="Arial"/>
                <a:cs typeface="Arial"/>
              </a:rPr>
              <a:t>a </a:t>
            </a:r>
            <a:r>
              <a:rPr sz="1000" dirty="0">
                <a:latin typeface="Arial"/>
                <a:cs typeface="Arial"/>
              </a:rPr>
              <a:t> </a:t>
            </a:r>
            <a:r>
              <a:rPr sz="1000" spc="-5" dirty="0">
                <a:latin typeface="Arial"/>
                <a:cs typeface="Arial"/>
              </a:rPr>
              <a:t>response</a:t>
            </a:r>
            <a:r>
              <a:rPr sz="1000" spc="-10" dirty="0">
                <a:latin typeface="Arial"/>
                <a:cs typeface="Arial"/>
              </a:rPr>
              <a:t> </a:t>
            </a:r>
            <a:r>
              <a:rPr sz="1000" spc="-5" dirty="0">
                <a:latin typeface="Arial"/>
                <a:cs typeface="Arial"/>
              </a:rPr>
              <a:t>to </a:t>
            </a:r>
            <a:r>
              <a:rPr sz="1000" spc="-10" dirty="0">
                <a:latin typeface="Arial"/>
                <a:cs typeface="Arial"/>
              </a:rPr>
              <a:t>every</a:t>
            </a:r>
            <a:r>
              <a:rPr sz="1000" spc="-5" dirty="0">
                <a:latin typeface="Arial"/>
                <a:cs typeface="Arial"/>
              </a:rPr>
              <a:t> request.</a:t>
            </a:r>
            <a:endParaRPr sz="100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66713" y="3331252"/>
            <a:ext cx="1377315" cy="119380"/>
          </a:xfrm>
          <a:prstGeom prst="rect">
            <a:avLst/>
          </a:prstGeom>
        </p:spPr>
        <p:txBody>
          <a:bodyPr vert="horz" wrap="square" lIns="0" tIns="8890" rIns="0" bIns="0" rtlCol="0">
            <a:spAutoFit/>
          </a:bodyPr>
          <a:lstStyle/>
          <a:p>
            <a:pPr marL="12700">
              <a:lnSpc>
                <a:spcPct val="100000"/>
              </a:lnSpc>
              <a:spcBef>
                <a:spcPts val="70"/>
              </a:spcBef>
            </a:pPr>
            <a:r>
              <a:rPr sz="600" spc="-10" dirty="0">
                <a:solidFill>
                  <a:srgbClr val="3333B2"/>
                </a:solidFill>
                <a:latin typeface="Arial"/>
                <a:cs typeface="Arial"/>
                <a:hlinkClick r:id="rId2" action="ppaction://hlinksldjump"/>
              </a:rPr>
              <a:t>Consistency, availability,</a:t>
            </a:r>
            <a:r>
              <a:rPr sz="600" spc="-5" dirty="0">
                <a:solidFill>
                  <a:srgbClr val="3333B2"/>
                </a:solidFill>
                <a:latin typeface="Arial"/>
                <a:cs typeface="Arial"/>
                <a:hlinkClick r:id="rId2" action="ppaction://hlinksldjump"/>
              </a:rPr>
              <a:t> and </a:t>
            </a:r>
            <a:r>
              <a:rPr sz="600" dirty="0">
                <a:solidFill>
                  <a:srgbClr val="3333B2"/>
                </a:solidFill>
                <a:latin typeface="Arial"/>
                <a:cs typeface="Arial"/>
                <a:hlinkClick r:id="rId2" action="ppaction://hlinksldjump"/>
              </a:rPr>
              <a:t>partitioning</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054899" y="716"/>
            <a:ext cx="14865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Some limitations</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on</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realizing</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fault</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tolerance</a:t>
            </a:r>
            <a:endParaRPr sz="600">
              <a:latin typeface="Arial"/>
              <a:cs typeface="Arial"/>
            </a:endParaRPr>
          </a:p>
        </p:txBody>
      </p:sp>
      <p:sp>
        <p:nvSpPr>
          <p:cNvPr id="4" name="object 4"/>
          <p:cNvSpPr txBox="1"/>
          <p:nvPr/>
        </p:nvSpPr>
        <p:spPr>
          <a:xfrm>
            <a:off x="95300" y="188846"/>
            <a:ext cx="179768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CAP</a:t>
            </a:r>
            <a:r>
              <a:rPr sz="1400" spc="-15" dirty="0">
                <a:solidFill>
                  <a:srgbClr val="3333B2"/>
                </a:solidFill>
                <a:latin typeface="Arial"/>
                <a:cs typeface="Arial"/>
              </a:rPr>
              <a:t> </a:t>
            </a:r>
            <a:r>
              <a:rPr sz="1400" spc="15" dirty="0">
                <a:solidFill>
                  <a:srgbClr val="3333B2"/>
                </a:solidFill>
                <a:latin typeface="Arial"/>
                <a:cs typeface="Arial"/>
              </a:rPr>
              <a:t>theorem</a:t>
            </a:r>
            <a:r>
              <a:rPr sz="1400" spc="-10" dirty="0">
                <a:solidFill>
                  <a:srgbClr val="3333B2"/>
                </a:solidFill>
                <a:latin typeface="Arial"/>
                <a:cs typeface="Arial"/>
              </a:rPr>
              <a:t> </a:t>
            </a:r>
            <a:r>
              <a:rPr sz="1400" spc="10" dirty="0">
                <a:solidFill>
                  <a:srgbClr val="3333B2"/>
                </a:solidFill>
                <a:latin typeface="Arial"/>
                <a:cs typeface="Arial"/>
              </a:rPr>
              <a:t>intuition</a:t>
            </a:r>
            <a:endParaRPr sz="1400">
              <a:latin typeface="Arial"/>
              <a:cs typeface="Arial"/>
            </a:endParaRPr>
          </a:p>
        </p:txBody>
      </p:sp>
      <p:sp>
        <p:nvSpPr>
          <p:cNvPr id="5" name="object 5"/>
          <p:cNvSpPr txBox="1"/>
          <p:nvPr/>
        </p:nvSpPr>
        <p:spPr>
          <a:xfrm>
            <a:off x="271094" y="870366"/>
            <a:ext cx="3927475" cy="1207135"/>
          </a:xfrm>
          <a:prstGeom prst="rect">
            <a:avLst/>
          </a:prstGeom>
        </p:spPr>
        <p:txBody>
          <a:bodyPr vert="horz" wrap="square" lIns="0" tIns="12065" rIns="0" bIns="0" rtlCol="0">
            <a:spAutoFit/>
          </a:bodyPr>
          <a:lstStyle/>
          <a:p>
            <a:pPr marL="88900">
              <a:lnSpc>
                <a:spcPct val="100000"/>
              </a:lnSpc>
              <a:spcBef>
                <a:spcPts val="95"/>
              </a:spcBef>
            </a:pPr>
            <a:r>
              <a:rPr sz="1200" spc="-5" dirty="0">
                <a:solidFill>
                  <a:srgbClr val="3333B2"/>
                </a:solidFill>
                <a:latin typeface="Arial"/>
                <a:cs typeface="Arial"/>
              </a:rPr>
              <a:t>Simple</a:t>
            </a:r>
            <a:r>
              <a:rPr sz="1200" spc="-10" dirty="0">
                <a:solidFill>
                  <a:srgbClr val="3333B2"/>
                </a:solidFill>
                <a:latin typeface="Arial"/>
                <a:cs typeface="Arial"/>
              </a:rPr>
              <a:t> </a:t>
            </a:r>
            <a:r>
              <a:rPr sz="1200" spc="-5" dirty="0">
                <a:solidFill>
                  <a:srgbClr val="3333B2"/>
                </a:solidFill>
                <a:latin typeface="Arial"/>
                <a:cs typeface="Arial"/>
              </a:rPr>
              <a:t>situation:</a:t>
            </a:r>
            <a:r>
              <a:rPr sz="1200" spc="75" dirty="0">
                <a:solidFill>
                  <a:srgbClr val="3333B2"/>
                </a:solidFill>
                <a:latin typeface="Arial"/>
                <a:cs typeface="Arial"/>
              </a:rPr>
              <a:t> </a:t>
            </a:r>
            <a:r>
              <a:rPr sz="1200" spc="-10" dirty="0">
                <a:solidFill>
                  <a:srgbClr val="3333B2"/>
                </a:solidFill>
                <a:latin typeface="Arial"/>
                <a:cs typeface="Arial"/>
              </a:rPr>
              <a:t>two</a:t>
            </a:r>
            <a:r>
              <a:rPr sz="1200" spc="-5" dirty="0">
                <a:solidFill>
                  <a:srgbClr val="3333B2"/>
                </a:solidFill>
                <a:latin typeface="Arial"/>
                <a:cs typeface="Arial"/>
              </a:rPr>
              <a:t> interacting processes</a:t>
            </a:r>
            <a:endParaRPr sz="1200">
              <a:latin typeface="Arial"/>
              <a:cs typeface="Arial"/>
            </a:endParaRPr>
          </a:p>
          <a:p>
            <a:pPr marL="365760" indent="-168275">
              <a:lnSpc>
                <a:spcPct val="100000"/>
              </a:lnSpc>
              <a:spcBef>
                <a:spcPts val="790"/>
              </a:spcBef>
              <a:buClr>
                <a:srgbClr val="3333B2"/>
              </a:buClr>
              <a:buFont typeface="Arial"/>
              <a:buChar char="►"/>
              <a:tabLst>
                <a:tab pos="366395" algn="l"/>
              </a:tabLst>
            </a:pPr>
            <a:r>
              <a:rPr sz="1000" i="1" spc="-5" dirty="0">
                <a:latin typeface="Arial"/>
                <a:cs typeface="Arial"/>
              </a:rPr>
              <a:t>P</a:t>
            </a:r>
            <a:r>
              <a:rPr sz="1000" i="1" spc="60" dirty="0">
                <a:latin typeface="Arial"/>
                <a:cs typeface="Arial"/>
              </a:rPr>
              <a:t> </a:t>
            </a:r>
            <a:r>
              <a:rPr sz="1000" spc="-5" dirty="0">
                <a:latin typeface="Arial"/>
                <a:cs typeface="Arial"/>
              </a:rPr>
              <a:t>and</a:t>
            </a:r>
            <a:r>
              <a:rPr sz="1000" spc="-10" dirty="0">
                <a:latin typeface="Arial"/>
                <a:cs typeface="Arial"/>
              </a:rPr>
              <a:t> </a:t>
            </a:r>
            <a:r>
              <a:rPr sz="1000" i="1" spc="-5" dirty="0">
                <a:latin typeface="Arial"/>
                <a:cs typeface="Arial"/>
              </a:rPr>
              <a:t>Q</a:t>
            </a:r>
            <a:r>
              <a:rPr sz="1000" i="1" spc="40"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no longer</a:t>
            </a:r>
            <a:r>
              <a:rPr sz="1000" spc="-10" dirty="0">
                <a:latin typeface="Arial"/>
                <a:cs typeface="Arial"/>
              </a:rPr>
              <a:t> </a:t>
            </a:r>
            <a:r>
              <a:rPr sz="1000" spc="-5" dirty="0">
                <a:latin typeface="Arial"/>
                <a:cs typeface="Arial"/>
              </a:rPr>
              <a:t>communicate:</a:t>
            </a:r>
            <a:endParaRPr sz="1000">
              <a:latin typeface="Arial"/>
              <a:cs typeface="Arial"/>
            </a:endParaRPr>
          </a:p>
          <a:p>
            <a:pPr marL="642620" lvl="1" indent="-168275">
              <a:lnSpc>
                <a:spcPts val="1200"/>
              </a:lnSpc>
              <a:spcBef>
                <a:spcPts val="490"/>
              </a:spcBef>
              <a:buClr>
                <a:srgbClr val="3333B2"/>
              </a:buClr>
              <a:buChar char="►"/>
              <a:tabLst>
                <a:tab pos="643255" algn="l"/>
              </a:tabLst>
            </a:pPr>
            <a:r>
              <a:rPr sz="1000" spc="-5" dirty="0">
                <a:latin typeface="Arial"/>
                <a:cs typeface="Arial"/>
              </a:rPr>
              <a:t>Allow</a:t>
            </a:r>
            <a:r>
              <a:rPr sz="1000" spc="-10" dirty="0">
                <a:latin typeface="Arial"/>
                <a:cs typeface="Arial"/>
              </a:rPr>
              <a:t> </a:t>
            </a:r>
            <a:r>
              <a:rPr sz="1000" i="1" spc="-5" dirty="0">
                <a:latin typeface="Arial"/>
                <a:cs typeface="Arial"/>
              </a:rPr>
              <a:t>P</a:t>
            </a:r>
            <a:r>
              <a:rPr sz="1000" i="1" spc="65" dirty="0">
                <a:latin typeface="Arial"/>
                <a:cs typeface="Arial"/>
              </a:rPr>
              <a:t> </a:t>
            </a:r>
            <a:r>
              <a:rPr sz="1000" spc="-5" dirty="0">
                <a:latin typeface="Arial"/>
                <a:cs typeface="Arial"/>
              </a:rPr>
              <a:t>and</a:t>
            </a:r>
            <a:r>
              <a:rPr sz="1000" spc="-10" dirty="0">
                <a:latin typeface="Arial"/>
                <a:cs typeface="Arial"/>
              </a:rPr>
              <a:t> </a:t>
            </a:r>
            <a:r>
              <a:rPr sz="1000" i="1" spc="-5" dirty="0">
                <a:latin typeface="Arial"/>
                <a:cs typeface="Arial"/>
              </a:rPr>
              <a:t>Q</a:t>
            </a:r>
            <a:r>
              <a:rPr sz="1000" i="1" spc="45" dirty="0">
                <a:latin typeface="Arial"/>
                <a:cs typeface="Arial"/>
              </a:rPr>
              <a:t> </a:t>
            </a:r>
            <a:r>
              <a:rPr sz="1000" spc="-5" dirty="0">
                <a:latin typeface="Arial"/>
                <a:cs typeface="Arial"/>
              </a:rPr>
              <a:t>to go</a:t>
            </a:r>
            <a:r>
              <a:rPr sz="1000" spc="-10" dirty="0">
                <a:latin typeface="Arial"/>
                <a:cs typeface="Arial"/>
              </a:rPr>
              <a:t> </a:t>
            </a:r>
            <a:r>
              <a:rPr sz="1000" spc="-5" dirty="0">
                <a:latin typeface="Arial"/>
                <a:cs typeface="Arial"/>
              </a:rPr>
              <a:t>ahead </a:t>
            </a:r>
            <a:r>
              <a:rPr sz="1000" i="1" spc="-5" dirty="0">
                <a:latin typeface="メイリオ"/>
                <a:cs typeface="メイリオ"/>
              </a:rPr>
              <a:t>⇒</a:t>
            </a:r>
            <a:r>
              <a:rPr sz="1000" i="1" spc="-65" dirty="0">
                <a:latin typeface="メイリオ"/>
                <a:cs typeface="メイリオ"/>
              </a:rPr>
              <a:t> </a:t>
            </a:r>
            <a:r>
              <a:rPr sz="1000" spc="-5" dirty="0">
                <a:latin typeface="Arial"/>
                <a:cs typeface="Arial"/>
              </a:rPr>
              <a:t>no</a:t>
            </a:r>
            <a:r>
              <a:rPr sz="1000" spc="-10" dirty="0">
                <a:latin typeface="Arial"/>
                <a:cs typeface="Arial"/>
              </a:rPr>
              <a:t> </a:t>
            </a:r>
            <a:r>
              <a:rPr sz="1000" spc="-5" dirty="0">
                <a:latin typeface="Arial"/>
                <a:cs typeface="Arial"/>
              </a:rPr>
              <a:t>consistency</a:t>
            </a:r>
            <a:endParaRPr sz="1000">
              <a:latin typeface="Arial"/>
              <a:cs typeface="Arial"/>
            </a:endParaRPr>
          </a:p>
          <a:p>
            <a:pPr marL="642620" lvl="1" indent="-168275">
              <a:lnSpc>
                <a:spcPts val="1200"/>
              </a:lnSpc>
              <a:buClr>
                <a:srgbClr val="3333B2"/>
              </a:buClr>
              <a:buChar char="►"/>
              <a:tabLst>
                <a:tab pos="643255" algn="l"/>
              </a:tabLst>
            </a:pPr>
            <a:r>
              <a:rPr sz="1000" spc="-5" dirty="0">
                <a:latin typeface="Arial"/>
                <a:cs typeface="Arial"/>
              </a:rPr>
              <a:t>Allow only one</a:t>
            </a:r>
            <a:r>
              <a:rPr sz="1000" dirty="0">
                <a:latin typeface="Arial"/>
                <a:cs typeface="Arial"/>
              </a:rPr>
              <a:t> </a:t>
            </a:r>
            <a:r>
              <a:rPr sz="1000" spc="-5" dirty="0">
                <a:latin typeface="Arial"/>
                <a:cs typeface="Arial"/>
              </a:rPr>
              <a:t>of </a:t>
            </a:r>
            <a:r>
              <a:rPr sz="1000" i="1" spc="30" dirty="0">
                <a:latin typeface="Arial"/>
                <a:cs typeface="Arial"/>
              </a:rPr>
              <a:t>P</a:t>
            </a:r>
            <a:r>
              <a:rPr sz="1000" spc="30" dirty="0">
                <a:latin typeface="Arial"/>
                <a:cs typeface="Arial"/>
              </a:rPr>
              <a:t>,</a:t>
            </a:r>
            <a:r>
              <a:rPr sz="1000" spc="-5" dirty="0">
                <a:latin typeface="Arial"/>
                <a:cs typeface="Arial"/>
              </a:rPr>
              <a:t> </a:t>
            </a:r>
            <a:r>
              <a:rPr sz="1000" i="1" spc="-5" dirty="0">
                <a:latin typeface="Arial"/>
                <a:cs typeface="Arial"/>
              </a:rPr>
              <a:t>Q</a:t>
            </a:r>
            <a:r>
              <a:rPr sz="1000" i="1" spc="50" dirty="0">
                <a:latin typeface="Arial"/>
                <a:cs typeface="Arial"/>
              </a:rPr>
              <a:t> </a:t>
            </a:r>
            <a:r>
              <a:rPr sz="1000" spc="-5" dirty="0">
                <a:latin typeface="Arial"/>
                <a:cs typeface="Arial"/>
              </a:rPr>
              <a:t>to go ahead</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no </a:t>
            </a:r>
            <a:r>
              <a:rPr sz="1000" spc="-10" dirty="0">
                <a:latin typeface="Arial"/>
                <a:cs typeface="Arial"/>
              </a:rPr>
              <a:t>availability</a:t>
            </a:r>
            <a:endParaRPr sz="1000">
              <a:latin typeface="Arial"/>
              <a:cs typeface="Arial"/>
            </a:endParaRPr>
          </a:p>
          <a:p>
            <a:pPr marL="365760" marR="30480" indent="-168275">
              <a:lnSpc>
                <a:spcPct val="100000"/>
              </a:lnSpc>
              <a:spcBef>
                <a:spcPts val="595"/>
              </a:spcBef>
              <a:buClr>
                <a:srgbClr val="3333B2"/>
              </a:buClr>
              <a:buFont typeface="Arial"/>
              <a:buChar char="►"/>
              <a:tabLst>
                <a:tab pos="366395" algn="l"/>
              </a:tabLst>
            </a:pPr>
            <a:r>
              <a:rPr sz="1000" i="1" spc="-5" dirty="0">
                <a:latin typeface="Arial"/>
                <a:cs typeface="Arial"/>
              </a:rPr>
              <a:t>P</a:t>
            </a:r>
            <a:r>
              <a:rPr sz="1000" i="1" spc="65" dirty="0">
                <a:latin typeface="Arial"/>
                <a:cs typeface="Arial"/>
              </a:rPr>
              <a:t> </a:t>
            </a:r>
            <a:r>
              <a:rPr sz="1000" spc="-5" dirty="0">
                <a:latin typeface="Arial"/>
                <a:cs typeface="Arial"/>
              </a:rPr>
              <a:t>and </a:t>
            </a:r>
            <a:r>
              <a:rPr sz="1000" i="1" spc="-5" dirty="0">
                <a:latin typeface="Arial"/>
                <a:cs typeface="Arial"/>
              </a:rPr>
              <a:t>Q</a:t>
            </a:r>
            <a:r>
              <a:rPr sz="1000" i="1" spc="45" dirty="0">
                <a:latin typeface="Arial"/>
                <a:cs typeface="Arial"/>
              </a:rPr>
              <a:t> </a:t>
            </a:r>
            <a:r>
              <a:rPr sz="1000" spc="-15" dirty="0">
                <a:latin typeface="Arial"/>
                <a:cs typeface="Arial"/>
              </a:rPr>
              <a:t>have</a:t>
            </a:r>
            <a:r>
              <a:rPr sz="1000" spc="-5" dirty="0">
                <a:latin typeface="Arial"/>
                <a:cs typeface="Arial"/>
              </a:rPr>
              <a:t> to be assumed</a:t>
            </a:r>
            <a:r>
              <a:rPr sz="1000" dirty="0">
                <a:latin typeface="Arial"/>
                <a:cs typeface="Arial"/>
              </a:rPr>
              <a:t> </a:t>
            </a:r>
            <a:r>
              <a:rPr sz="1000" spc="-5" dirty="0">
                <a:latin typeface="Arial"/>
                <a:cs typeface="Arial"/>
              </a:rPr>
              <a:t>to continue communication </a:t>
            </a:r>
            <a:r>
              <a:rPr sz="1000" i="1" spc="-5" dirty="0">
                <a:latin typeface="メイリオ"/>
                <a:cs typeface="メイリオ"/>
              </a:rPr>
              <a:t>⇒</a:t>
            </a:r>
            <a:r>
              <a:rPr sz="1000" i="1" spc="-65" dirty="0">
                <a:latin typeface="メイリオ"/>
                <a:cs typeface="メイリオ"/>
              </a:rPr>
              <a:t> </a:t>
            </a:r>
            <a:r>
              <a:rPr sz="1000" spc="-5" dirty="0">
                <a:latin typeface="Arial"/>
                <a:cs typeface="Arial"/>
              </a:rPr>
              <a:t>no </a:t>
            </a:r>
            <a:r>
              <a:rPr sz="1000" spc="-260" dirty="0">
                <a:latin typeface="Arial"/>
                <a:cs typeface="Arial"/>
              </a:rPr>
              <a:t> </a:t>
            </a:r>
            <a:r>
              <a:rPr sz="1000" dirty="0">
                <a:latin typeface="Arial"/>
                <a:cs typeface="Arial"/>
              </a:rPr>
              <a:t>partitioning</a:t>
            </a:r>
            <a:r>
              <a:rPr sz="1000" spc="-10" dirty="0">
                <a:latin typeface="Arial"/>
                <a:cs typeface="Arial"/>
              </a:rPr>
              <a:t> </a:t>
            </a:r>
            <a:r>
              <a:rPr sz="1000" spc="-5" dirty="0">
                <a:latin typeface="Arial"/>
                <a:cs typeface="Arial"/>
              </a:rPr>
              <a:t>allowed.</a:t>
            </a:r>
            <a:endParaRPr sz="100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377315" cy="119380"/>
          </a:xfrm>
          <a:prstGeom prst="rect">
            <a:avLst/>
          </a:prstGeom>
        </p:spPr>
        <p:txBody>
          <a:bodyPr vert="horz" wrap="square" lIns="0" tIns="8890" rIns="0" bIns="0" rtlCol="0">
            <a:spAutoFit/>
          </a:bodyPr>
          <a:lstStyle/>
          <a:p>
            <a:pPr marL="12700">
              <a:lnSpc>
                <a:spcPct val="100000"/>
              </a:lnSpc>
              <a:spcBef>
                <a:spcPts val="70"/>
              </a:spcBef>
            </a:pPr>
            <a:r>
              <a:rPr sz="600" spc="-10" dirty="0">
                <a:solidFill>
                  <a:srgbClr val="3333B2"/>
                </a:solidFill>
                <a:latin typeface="Arial"/>
                <a:cs typeface="Arial"/>
                <a:hlinkClick r:id="rId3" action="ppaction://hlinksldjump"/>
              </a:rPr>
              <a:t>Consistency, availability,</a:t>
            </a:r>
            <a:r>
              <a:rPr sz="600" spc="-5" dirty="0">
                <a:solidFill>
                  <a:srgbClr val="3333B2"/>
                </a:solidFill>
                <a:latin typeface="Arial"/>
                <a:cs typeface="Arial"/>
                <a:hlinkClick r:id="rId3" action="ppaction://hlinksldjump"/>
              </a:rPr>
              <a:t> and </a:t>
            </a:r>
            <a:r>
              <a:rPr sz="600" dirty="0">
                <a:solidFill>
                  <a:srgbClr val="3333B2"/>
                </a:solidFill>
                <a:latin typeface="Arial"/>
                <a:cs typeface="Arial"/>
                <a:hlinkClick r:id="rId3" action="ppaction://hlinksldjump"/>
              </a:rPr>
              <a:t>partitioning</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5" action="ppaction://hlinksldjump"/>
              </a:rPr>
              <a:t>Process</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resilience</a:t>
            </a:r>
            <a:endParaRPr sz="600">
              <a:latin typeface="Arial"/>
              <a:cs typeface="Arial"/>
            </a:endParaRPr>
          </a:p>
        </p:txBody>
      </p:sp>
      <p:sp>
        <p:nvSpPr>
          <p:cNvPr id="3" name="object 3"/>
          <p:cNvSpPr txBox="1"/>
          <p:nvPr/>
        </p:nvSpPr>
        <p:spPr>
          <a:xfrm>
            <a:off x="3054899" y="716"/>
            <a:ext cx="14865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Some limitations</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on</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realizing</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fault</a:t>
            </a:r>
            <a:r>
              <a:rPr sz="600"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tolerance</a:t>
            </a:r>
            <a:endParaRPr sz="600">
              <a:latin typeface="Arial"/>
              <a:cs typeface="Arial"/>
            </a:endParaRPr>
          </a:p>
        </p:txBody>
      </p:sp>
      <p:sp>
        <p:nvSpPr>
          <p:cNvPr id="4" name="object 4"/>
          <p:cNvSpPr txBox="1"/>
          <p:nvPr/>
        </p:nvSpPr>
        <p:spPr>
          <a:xfrm>
            <a:off x="95300" y="188846"/>
            <a:ext cx="179768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CAP</a:t>
            </a:r>
            <a:r>
              <a:rPr sz="1400" spc="-15" dirty="0">
                <a:solidFill>
                  <a:srgbClr val="3333B2"/>
                </a:solidFill>
                <a:latin typeface="Arial"/>
                <a:cs typeface="Arial"/>
              </a:rPr>
              <a:t> </a:t>
            </a:r>
            <a:r>
              <a:rPr sz="1400" spc="15" dirty="0">
                <a:solidFill>
                  <a:srgbClr val="3333B2"/>
                </a:solidFill>
                <a:latin typeface="Arial"/>
                <a:cs typeface="Arial"/>
              </a:rPr>
              <a:t>theorem</a:t>
            </a:r>
            <a:r>
              <a:rPr sz="1400" spc="-10" dirty="0">
                <a:solidFill>
                  <a:srgbClr val="3333B2"/>
                </a:solidFill>
                <a:latin typeface="Arial"/>
                <a:cs typeface="Arial"/>
              </a:rPr>
              <a:t> </a:t>
            </a:r>
            <a:r>
              <a:rPr sz="1400" spc="10" dirty="0">
                <a:solidFill>
                  <a:srgbClr val="3333B2"/>
                </a:solidFill>
                <a:latin typeface="Arial"/>
                <a:cs typeface="Arial"/>
              </a:rPr>
              <a:t>intuition</a:t>
            </a:r>
            <a:endParaRPr sz="1400">
              <a:latin typeface="Arial"/>
              <a:cs typeface="Arial"/>
            </a:endParaRPr>
          </a:p>
        </p:txBody>
      </p:sp>
      <p:sp>
        <p:nvSpPr>
          <p:cNvPr id="5" name="object 5"/>
          <p:cNvSpPr txBox="1"/>
          <p:nvPr/>
        </p:nvSpPr>
        <p:spPr>
          <a:xfrm>
            <a:off x="258394" y="870366"/>
            <a:ext cx="3952875" cy="1756410"/>
          </a:xfrm>
          <a:prstGeom prst="rect">
            <a:avLst/>
          </a:prstGeom>
        </p:spPr>
        <p:txBody>
          <a:bodyPr vert="horz" wrap="square" lIns="0" tIns="12065" rIns="0" bIns="0" rtlCol="0">
            <a:spAutoFit/>
          </a:bodyPr>
          <a:lstStyle/>
          <a:p>
            <a:pPr marL="101600">
              <a:lnSpc>
                <a:spcPct val="100000"/>
              </a:lnSpc>
              <a:spcBef>
                <a:spcPts val="95"/>
              </a:spcBef>
            </a:pPr>
            <a:r>
              <a:rPr sz="1200" spc="-5" dirty="0">
                <a:solidFill>
                  <a:srgbClr val="3333B2"/>
                </a:solidFill>
                <a:latin typeface="Arial"/>
                <a:cs typeface="Arial"/>
              </a:rPr>
              <a:t>Simple</a:t>
            </a:r>
            <a:r>
              <a:rPr sz="1200" spc="-10" dirty="0">
                <a:solidFill>
                  <a:srgbClr val="3333B2"/>
                </a:solidFill>
                <a:latin typeface="Arial"/>
                <a:cs typeface="Arial"/>
              </a:rPr>
              <a:t> </a:t>
            </a:r>
            <a:r>
              <a:rPr sz="1200" spc="-5" dirty="0">
                <a:solidFill>
                  <a:srgbClr val="3333B2"/>
                </a:solidFill>
                <a:latin typeface="Arial"/>
                <a:cs typeface="Arial"/>
              </a:rPr>
              <a:t>situation:</a:t>
            </a:r>
            <a:r>
              <a:rPr sz="1200" spc="75" dirty="0">
                <a:solidFill>
                  <a:srgbClr val="3333B2"/>
                </a:solidFill>
                <a:latin typeface="Arial"/>
                <a:cs typeface="Arial"/>
              </a:rPr>
              <a:t> </a:t>
            </a:r>
            <a:r>
              <a:rPr sz="1200" spc="-10" dirty="0">
                <a:solidFill>
                  <a:srgbClr val="3333B2"/>
                </a:solidFill>
                <a:latin typeface="Arial"/>
                <a:cs typeface="Arial"/>
              </a:rPr>
              <a:t>two</a:t>
            </a:r>
            <a:r>
              <a:rPr sz="1200" spc="-5" dirty="0">
                <a:solidFill>
                  <a:srgbClr val="3333B2"/>
                </a:solidFill>
                <a:latin typeface="Arial"/>
                <a:cs typeface="Arial"/>
              </a:rPr>
              <a:t> interacting processes</a:t>
            </a:r>
            <a:endParaRPr sz="1200">
              <a:latin typeface="Arial"/>
              <a:cs typeface="Arial"/>
            </a:endParaRPr>
          </a:p>
          <a:p>
            <a:pPr marL="378460" indent="-168275">
              <a:lnSpc>
                <a:spcPct val="100000"/>
              </a:lnSpc>
              <a:spcBef>
                <a:spcPts val="790"/>
              </a:spcBef>
              <a:buClr>
                <a:srgbClr val="3333B2"/>
              </a:buClr>
              <a:buFont typeface="Arial"/>
              <a:buChar char="►"/>
              <a:tabLst>
                <a:tab pos="379095" algn="l"/>
              </a:tabLst>
            </a:pPr>
            <a:r>
              <a:rPr sz="1000" i="1" spc="-5" dirty="0">
                <a:latin typeface="Arial"/>
                <a:cs typeface="Arial"/>
              </a:rPr>
              <a:t>P</a:t>
            </a:r>
            <a:r>
              <a:rPr sz="1000" i="1" spc="60" dirty="0">
                <a:latin typeface="Arial"/>
                <a:cs typeface="Arial"/>
              </a:rPr>
              <a:t> </a:t>
            </a:r>
            <a:r>
              <a:rPr sz="1000" spc="-5" dirty="0">
                <a:latin typeface="Arial"/>
                <a:cs typeface="Arial"/>
              </a:rPr>
              <a:t>and</a:t>
            </a:r>
            <a:r>
              <a:rPr sz="1000" spc="-10" dirty="0">
                <a:latin typeface="Arial"/>
                <a:cs typeface="Arial"/>
              </a:rPr>
              <a:t> </a:t>
            </a:r>
            <a:r>
              <a:rPr sz="1000" i="1" spc="-5" dirty="0">
                <a:latin typeface="Arial"/>
                <a:cs typeface="Arial"/>
              </a:rPr>
              <a:t>Q</a:t>
            </a:r>
            <a:r>
              <a:rPr sz="1000" i="1" spc="40"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no longer</a:t>
            </a:r>
            <a:r>
              <a:rPr sz="1000" spc="-10" dirty="0">
                <a:latin typeface="Arial"/>
                <a:cs typeface="Arial"/>
              </a:rPr>
              <a:t> </a:t>
            </a:r>
            <a:r>
              <a:rPr sz="1000" spc="-5" dirty="0">
                <a:latin typeface="Arial"/>
                <a:cs typeface="Arial"/>
              </a:rPr>
              <a:t>communicate:</a:t>
            </a:r>
            <a:endParaRPr sz="1000">
              <a:latin typeface="Arial"/>
              <a:cs typeface="Arial"/>
            </a:endParaRPr>
          </a:p>
          <a:p>
            <a:pPr marL="655320" lvl="1" indent="-168275">
              <a:lnSpc>
                <a:spcPts val="1200"/>
              </a:lnSpc>
              <a:spcBef>
                <a:spcPts val="490"/>
              </a:spcBef>
              <a:buClr>
                <a:srgbClr val="3333B2"/>
              </a:buClr>
              <a:buChar char="►"/>
              <a:tabLst>
                <a:tab pos="655955" algn="l"/>
              </a:tabLst>
            </a:pPr>
            <a:r>
              <a:rPr sz="1000" spc="-5" dirty="0">
                <a:latin typeface="Arial"/>
                <a:cs typeface="Arial"/>
              </a:rPr>
              <a:t>Allow</a:t>
            </a:r>
            <a:r>
              <a:rPr sz="1000" spc="-10" dirty="0">
                <a:latin typeface="Arial"/>
                <a:cs typeface="Arial"/>
              </a:rPr>
              <a:t> </a:t>
            </a:r>
            <a:r>
              <a:rPr sz="1000" i="1" spc="-5" dirty="0">
                <a:latin typeface="Arial"/>
                <a:cs typeface="Arial"/>
              </a:rPr>
              <a:t>P</a:t>
            </a:r>
            <a:r>
              <a:rPr sz="1000" i="1" spc="65" dirty="0">
                <a:latin typeface="Arial"/>
                <a:cs typeface="Arial"/>
              </a:rPr>
              <a:t> </a:t>
            </a:r>
            <a:r>
              <a:rPr sz="1000" spc="-5" dirty="0">
                <a:latin typeface="Arial"/>
                <a:cs typeface="Arial"/>
              </a:rPr>
              <a:t>and</a:t>
            </a:r>
            <a:r>
              <a:rPr sz="1000" spc="-10" dirty="0">
                <a:latin typeface="Arial"/>
                <a:cs typeface="Arial"/>
              </a:rPr>
              <a:t> </a:t>
            </a:r>
            <a:r>
              <a:rPr sz="1000" i="1" spc="-5" dirty="0">
                <a:latin typeface="Arial"/>
                <a:cs typeface="Arial"/>
              </a:rPr>
              <a:t>Q</a:t>
            </a:r>
            <a:r>
              <a:rPr sz="1000" i="1" spc="45" dirty="0">
                <a:latin typeface="Arial"/>
                <a:cs typeface="Arial"/>
              </a:rPr>
              <a:t> </a:t>
            </a:r>
            <a:r>
              <a:rPr sz="1000" spc="-5" dirty="0">
                <a:latin typeface="Arial"/>
                <a:cs typeface="Arial"/>
              </a:rPr>
              <a:t>to go</a:t>
            </a:r>
            <a:r>
              <a:rPr sz="1000" spc="-10" dirty="0">
                <a:latin typeface="Arial"/>
                <a:cs typeface="Arial"/>
              </a:rPr>
              <a:t> </a:t>
            </a:r>
            <a:r>
              <a:rPr sz="1000" spc="-5" dirty="0">
                <a:latin typeface="Arial"/>
                <a:cs typeface="Arial"/>
              </a:rPr>
              <a:t>ahead </a:t>
            </a:r>
            <a:r>
              <a:rPr sz="1000" i="1" spc="-5" dirty="0">
                <a:latin typeface="メイリオ"/>
                <a:cs typeface="メイリオ"/>
              </a:rPr>
              <a:t>⇒</a:t>
            </a:r>
            <a:r>
              <a:rPr sz="1000" i="1" spc="-65" dirty="0">
                <a:latin typeface="メイリオ"/>
                <a:cs typeface="メイリオ"/>
              </a:rPr>
              <a:t> </a:t>
            </a:r>
            <a:r>
              <a:rPr sz="1000" spc="-5" dirty="0">
                <a:latin typeface="Arial"/>
                <a:cs typeface="Arial"/>
              </a:rPr>
              <a:t>no</a:t>
            </a:r>
            <a:r>
              <a:rPr sz="1000" spc="-10" dirty="0">
                <a:latin typeface="Arial"/>
                <a:cs typeface="Arial"/>
              </a:rPr>
              <a:t> </a:t>
            </a:r>
            <a:r>
              <a:rPr sz="1000" spc="-5" dirty="0">
                <a:latin typeface="Arial"/>
                <a:cs typeface="Arial"/>
              </a:rPr>
              <a:t>consistency</a:t>
            </a:r>
            <a:endParaRPr sz="1000">
              <a:latin typeface="Arial"/>
              <a:cs typeface="Arial"/>
            </a:endParaRPr>
          </a:p>
          <a:p>
            <a:pPr marL="655320" lvl="1" indent="-168275">
              <a:lnSpc>
                <a:spcPts val="1200"/>
              </a:lnSpc>
              <a:buClr>
                <a:srgbClr val="3333B2"/>
              </a:buClr>
              <a:buChar char="►"/>
              <a:tabLst>
                <a:tab pos="655955" algn="l"/>
              </a:tabLst>
            </a:pPr>
            <a:r>
              <a:rPr sz="1000" spc="-5" dirty="0">
                <a:latin typeface="Arial"/>
                <a:cs typeface="Arial"/>
              </a:rPr>
              <a:t>Allow only one</a:t>
            </a:r>
            <a:r>
              <a:rPr sz="1000" dirty="0">
                <a:latin typeface="Arial"/>
                <a:cs typeface="Arial"/>
              </a:rPr>
              <a:t> </a:t>
            </a:r>
            <a:r>
              <a:rPr sz="1000" spc="-5" dirty="0">
                <a:latin typeface="Arial"/>
                <a:cs typeface="Arial"/>
              </a:rPr>
              <a:t>of </a:t>
            </a:r>
            <a:r>
              <a:rPr sz="1000" i="1" spc="30" dirty="0">
                <a:latin typeface="Arial"/>
                <a:cs typeface="Arial"/>
              </a:rPr>
              <a:t>P</a:t>
            </a:r>
            <a:r>
              <a:rPr sz="1000" spc="30" dirty="0">
                <a:latin typeface="Arial"/>
                <a:cs typeface="Arial"/>
              </a:rPr>
              <a:t>,</a:t>
            </a:r>
            <a:r>
              <a:rPr sz="1000" spc="-5" dirty="0">
                <a:latin typeface="Arial"/>
                <a:cs typeface="Arial"/>
              </a:rPr>
              <a:t> </a:t>
            </a:r>
            <a:r>
              <a:rPr sz="1000" i="1" spc="-5" dirty="0">
                <a:latin typeface="Arial"/>
                <a:cs typeface="Arial"/>
              </a:rPr>
              <a:t>Q</a:t>
            </a:r>
            <a:r>
              <a:rPr sz="1000" i="1" spc="50" dirty="0">
                <a:latin typeface="Arial"/>
                <a:cs typeface="Arial"/>
              </a:rPr>
              <a:t> </a:t>
            </a:r>
            <a:r>
              <a:rPr sz="1000" spc="-5" dirty="0">
                <a:latin typeface="Arial"/>
                <a:cs typeface="Arial"/>
              </a:rPr>
              <a:t>to go ahead</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no </a:t>
            </a:r>
            <a:r>
              <a:rPr sz="1000" spc="-10" dirty="0">
                <a:latin typeface="Arial"/>
                <a:cs typeface="Arial"/>
              </a:rPr>
              <a:t>availability</a:t>
            </a:r>
            <a:endParaRPr sz="1000">
              <a:latin typeface="Arial"/>
              <a:cs typeface="Arial"/>
            </a:endParaRPr>
          </a:p>
          <a:p>
            <a:pPr marL="378460" marR="43180" indent="-168275">
              <a:lnSpc>
                <a:spcPct val="100000"/>
              </a:lnSpc>
              <a:spcBef>
                <a:spcPts val="595"/>
              </a:spcBef>
              <a:buClr>
                <a:srgbClr val="3333B2"/>
              </a:buClr>
              <a:buFont typeface="Arial"/>
              <a:buChar char="►"/>
              <a:tabLst>
                <a:tab pos="379095" algn="l"/>
              </a:tabLst>
            </a:pPr>
            <a:r>
              <a:rPr sz="1000" i="1" spc="-5" dirty="0">
                <a:latin typeface="Arial"/>
                <a:cs typeface="Arial"/>
              </a:rPr>
              <a:t>P</a:t>
            </a:r>
            <a:r>
              <a:rPr sz="1000" i="1" spc="65" dirty="0">
                <a:latin typeface="Arial"/>
                <a:cs typeface="Arial"/>
              </a:rPr>
              <a:t> </a:t>
            </a:r>
            <a:r>
              <a:rPr sz="1000" spc="-5" dirty="0">
                <a:latin typeface="Arial"/>
                <a:cs typeface="Arial"/>
              </a:rPr>
              <a:t>and </a:t>
            </a:r>
            <a:r>
              <a:rPr sz="1000" i="1" spc="-5" dirty="0">
                <a:latin typeface="Arial"/>
                <a:cs typeface="Arial"/>
              </a:rPr>
              <a:t>Q</a:t>
            </a:r>
            <a:r>
              <a:rPr sz="1000" i="1" spc="45" dirty="0">
                <a:latin typeface="Arial"/>
                <a:cs typeface="Arial"/>
              </a:rPr>
              <a:t> </a:t>
            </a:r>
            <a:r>
              <a:rPr sz="1000" spc="-15" dirty="0">
                <a:latin typeface="Arial"/>
                <a:cs typeface="Arial"/>
              </a:rPr>
              <a:t>have</a:t>
            </a:r>
            <a:r>
              <a:rPr sz="1000" spc="-5" dirty="0">
                <a:latin typeface="Arial"/>
                <a:cs typeface="Arial"/>
              </a:rPr>
              <a:t> to be assumed</a:t>
            </a:r>
            <a:r>
              <a:rPr sz="1000" dirty="0">
                <a:latin typeface="Arial"/>
                <a:cs typeface="Arial"/>
              </a:rPr>
              <a:t> </a:t>
            </a:r>
            <a:r>
              <a:rPr sz="1000" spc="-5" dirty="0">
                <a:latin typeface="Arial"/>
                <a:cs typeface="Arial"/>
              </a:rPr>
              <a:t>to continue communication </a:t>
            </a:r>
            <a:r>
              <a:rPr sz="1000" i="1" spc="-5" dirty="0">
                <a:latin typeface="メイリオ"/>
                <a:cs typeface="メイリオ"/>
              </a:rPr>
              <a:t>⇒</a:t>
            </a:r>
            <a:r>
              <a:rPr sz="1000" i="1" spc="-65" dirty="0">
                <a:latin typeface="メイリオ"/>
                <a:cs typeface="メイリオ"/>
              </a:rPr>
              <a:t> </a:t>
            </a:r>
            <a:r>
              <a:rPr sz="1000" spc="-5" dirty="0">
                <a:latin typeface="Arial"/>
                <a:cs typeface="Arial"/>
              </a:rPr>
              <a:t>no </a:t>
            </a:r>
            <a:r>
              <a:rPr sz="1000" spc="-260" dirty="0">
                <a:latin typeface="Arial"/>
                <a:cs typeface="Arial"/>
              </a:rPr>
              <a:t> </a:t>
            </a:r>
            <a:r>
              <a:rPr sz="1000" dirty="0">
                <a:latin typeface="Arial"/>
                <a:cs typeface="Arial"/>
              </a:rPr>
              <a:t>partitioning</a:t>
            </a:r>
            <a:r>
              <a:rPr sz="1000" spc="-10" dirty="0">
                <a:latin typeface="Arial"/>
                <a:cs typeface="Arial"/>
              </a:rPr>
              <a:t> </a:t>
            </a:r>
            <a:r>
              <a:rPr sz="1000" spc="-5" dirty="0">
                <a:latin typeface="Arial"/>
                <a:cs typeface="Arial"/>
              </a:rPr>
              <a:t>allowed.</a:t>
            </a:r>
            <a:endParaRPr sz="1000">
              <a:latin typeface="Arial"/>
              <a:cs typeface="Arial"/>
            </a:endParaRPr>
          </a:p>
          <a:p>
            <a:pPr>
              <a:lnSpc>
                <a:spcPct val="100000"/>
              </a:lnSpc>
              <a:spcBef>
                <a:spcPts val="10"/>
              </a:spcBef>
            </a:pPr>
            <a:endParaRPr sz="1300">
              <a:latin typeface="Arial"/>
              <a:cs typeface="Arial"/>
            </a:endParaRPr>
          </a:p>
          <a:p>
            <a:pPr marL="101600">
              <a:lnSpc>
                <a:spcPct val="100000"/>
              </a:lnSpc>
            </a:pPr>
            <a:r>
              <a:rPr sz="1200" spc="-5" dirty="0">
                <a:solidFill>
                  <a:srgbClr val="FA0000"/>
                </a:solidFill>
                <a:latin typeface="Arial"/>
                <a:cs typeface="Arial"/>
              </a:rPr>
              <a:t>Fundamental</a:t>
            </a:r>
            <a:r>
              <a:rPr sz="1200" spc="-30" dirty="0">
                <a:solidFill>
                  <a:srgbClr val="FA0000"/>
                </a:solidFill>
                <a:latin typeface="Arial"/>
                <a:cs typeface="Arial"/>
              </a:rPr>
              <a:t> </a:t>
            </a:r>
            <a:r>
              <a:rPr sz="1200" spc="-5" dirty="0">
                <a:solidFill>
                  <a:srgbClr val="FA0000"/>
                </a:solidFill>
                <a:latin typeface="Arial"/>
                <a:cs typeface="Arial"/>
              </a:rPr>
              <a:t>question</a:t>
            </a:r>
            <a:endParaRPr sz="1200">
              <a:latin typeface="Arial"/>
              <a:cs typeface="Arial"/>
            </a:endParaRPr>
          </a:p>
          <a:p>
            <a:pPr marL="95250">
              <a:lnSpc>
                <a:spcPct val="100000"/>
              </a:lnSpc>
              <a:spcBef>
                <a:spcPts val="175"/>
              </a:spcBef>
            </a:pPr>
            <a:r>
              <a:rPr sz="1000" spc="-5" dirty="0">
                <a:latin typeface="Arial"/>
                <a:cs typeface="Arial"/>
              </a:rPr>
              <a:t>What are</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practical ramifications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 CAP</a:t>
            </a:r>
            <a:r>
              <a:rPr sz="1000" dirty="0">
                <a:latin typeface="Arial"/>
                <a:cs typeface="Arial"/>
              </a:rPr>
              <a:t> </a:t>
            </a:r>
            <a:r>
              <a:rPr sz="1000" spc="-5" dirty="0">
                <a:latin typeface="Arial"/>
                <a:cs typeface="Arial"/>
              </a:rPr>
              <a:t>theorem?</a:t>
            </a:r>
            <a:endParaRPr sz="1000">
              <a:latin typeface="Arial"/>
              <a:cs typeface="Arial"/>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40</a:t>
            </a:r>
            <a:r>
              <a:rPr spc="-40" dirty="0"/>
              <a:t> </a:t>
            </a:r>
            <a:r>
              <a:rPr spc="-5" dirty="0"/>
              <a:t>/</a:t>
            </a:r>
            <a:r>
              <a:rPr spc="-35" dirty="0"/>
              <a:t> </a:t>
            </a:r>
            <a:r>
              <a:rPr spc="-5" dirty="0"/>
              <a:t>68</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958526" y="716"/>
            <a:ext cx="5829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Failure</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detection</a:t>
            </a:r>
            <a:endParaRPr sz="600">
              <a:latin typeface="Arial"/>
              <a:cs typeface="Arial"/>
            </a:endParaRPr>
          </a:p>
        </p:txBody>
      </p:sp>
      <p:sp>
        <p:nvSpPr>
          <p:cNvPr id="4" name="object 4"/>
          <p:cNvSpPr txBox="1"/>
          <p:nvPr/>
        </p:nvSpPr>
        <p:spPr>
          <a:xfrm>
            <a:off x="57200" y="188846"/>
            <a:ext cx="3962400" cy="2730500"/>
          </a:xfrm>
          <a:prstGeom prst="rect">
            <a:avLst/>
          </a:prstGeom>
        </p:spPr>
        <p:txBody>
          <a:bodyPr vert="horz" wrap="square" lIns="0" tIns="17145" rIns="0" bIns="0" rtlCol="0">
            <a:spAutoFit/>
          </a:bodyPr>
          <a:lstStyle/>
          <a:p>
            <a:pPr marL="50800">
              <a:lnSpc>
                <a:spcPct val="100000"/>
              </a:lnSpc>
              <a:spcBef>
                <a:spcPts val="135"/>
              </a:spcBef>
            </a:pPr>
            <a:r>
              <a:rPr sz="1400" dirty="0">
                <a:solidFill>
                  <a:srgbClr val="3333B2"/>
                </a:solidFill>
                <a:latin typeface="Arial"/>
                <a:cs typeface="Arial"/>
              </a:rPr>
              <a:t>Failure</a:t>
            </a:r>
            <a:r>
              <a:rPr sz="1400" spc="-25" dirty="0">
                <a:solidFill>
                  <a:srgbClr val="3333B2"/>
                </a:solidFill>
                <a:latin typeface="Arial"/>
                <a:cs typeface="Arial"/>
              </a:rPr>
              <a:t> </a:t>
            </a:r>
            <a:r>
              <a:rPr sz="1400" spc="15" dirty="0">
                <a:solidFill>
                  <a:srgbClr val="3333B2"/>
                </a:solidFill>
                <a:latin typeface="Arial"/>
                <a:cs typeface="Arial"/>
              </a:rPr>
              <a:t>detection</a:t>
            </a:r>
            <a:endParaRPr sz="1400">
              <a:latin typeface="Arial"/>
              <a:cs typeface="Arial"/>
            </a:endParaRPr>
          </a:p>
          <a:p>
            <a:pPr marL="302260">
              <a:lnSpc>
                <a:spcPts val="1420"/>
              </a:lnSpc>
              <a:spcBef>
                <a:spcPts val="1510"/>
              </a:spcBef>
            </a:pPr>
            <a:r>
              <a:rPr sz="1200" spc="-5" dirty="0">
                <a:solidFill>
                  <a:srgbClr val="3333B2"/>
                </a:solidFill>
                <a:latin typeface="Arial"/>
                <a:cs typeface="Arial"/>
              </a:rPr>
              <a:t>Issue</a:t>
            </a:r>
            <a:endParaRPr sz="1200">
              <a:latin typeface="Arial"/>
              <a:cs typeface="Arial"/>
            </a:endParaRPr>
          </a:p>
          <a:p>
            <a:pPr marL="302260">
              <a:lnSpc>
                <a:spcPts val="1180"/>
              </a:lnSpc>
            </a:pPr>
            <a:r>
              <a:rPr sz="1000" spc="-10" dirty="0">
                <a:latin typeface="Arial"/>
                <a:cs typeface="Arial"/>
              </a:rPr>
              <a:t>How</a:t>
            </a:r>
            <a:r>
              <a:rPr sz="1000" spc="-5" dirty="0">
                <a:latin typeface="Arial"/>
                <a:cs typeface="Arial"/>
              </a:rPr>
              <a:t> can</a:t>
            </a:r>
            <a:r>
              <a:rPr sz="1000" dirty="0">
                <a:latin typeface="Arial"/>
                <a:cs typeface="Arial"/>
              </a:rPr>
              <a:t> </a:t>
            </a:r>
            <a:r>
              <a:rPr sz="1000" spc="-10" dirty="0">
                <a:latin typeface="Arial"/>
                <a:cs typeface="Arial"/>
              </a:rPr>
              <a:t>we</a:t>
            </a:r>
            <a:r>
              <a:rPr sz="1000" spc="-5" dirty="0">
                <a:latin typeface="Arial"/>
                <a:cs typeface="Arial"/>
              </a:rPr>
              <a:t> </a:t>
            </a:r>
            <a:r>
              <a:rPr sz="1000" spc="-5" dirty="0">
                <a:solidFill>
                  <a:srgbClr val="FA0000"/>
                </a:solidFill>
                <a:latin typeface="Arial"/>
                <a:cs typeface="Arial"/>
              </a:rPr>
              <a:t>reliably</a:t>
            </a:r>
            <a:r>
              <a:rPr sz="1000" dirty="0">
                <a:solidFill>
                  <a:srgbClr val="FA0000"/>
                </a:solidFill>
                <a:latin typeface="Arial"/>
                <a:cs typeface="Arial"/>
              </a:rPr>
              <a:t> </a:t>
            </a:r>
            <a:r>
              <a:rPr sz="1000" spc="-5" dirty="0">
                <a:solidFill>
                  <a:srgbClr val="FA0000"/>
                </a:solidFill>
                <a:latin typeface="Arial"/>
                <a:cs typeface="Arial"/>
              </a:rPr>
              <a:t>detect</a:t>
            </a:r>
            <a:r>
              <a:rPr sz="1000" dirty="0">
                <a:solidFill>
                  <a:srgbClr val="FA0000"/>
                </a:solidFill>
                <a:latin typeface="Arial"/>
                <a:cs typeface="Arial"/>
              </a:rPr>
              <a:t> </a:t>
            </a:r>
            <a:r>
              <a:rPr sz="1000" spc="-5" dirty="0">
                <a:latin typeface="Arial"/>
                <a:cs typeface="Arial"/>
              </a:rPr>
              <a:t>that a</a:t>
            </a:r>
            <a:r>
              <a:rPr sz="1000" dirty="0">
                <a:latin typeface="Arial"/>
                <a:cs typeface="Arial"/>
              </a:rPr>
              <a:t> </a:t>
            </a:r>
            <a:r>
              <a:rPr sz="1000" spc="-5" dirty="0">
                <a:latin typeface="Arial"/>
                <a:cs typeface="Arial"/>
              </a:rPr>
              <a:t>process has</a:t>
            </a:r>
            <a:r>
              <a:rPr sz="1000" dirty="0">
                <a:latin typeface="Arial"/>
                <a:cs typeface="Arial"/>
              </a:rPr>
              <a:t> </a:t>
            </a:r>
            <a:r>
              <a:rPr sz="1000" spc="-5" dirty="0">
                <a:solidFill>
                  <a:srgbClr val="FA0000"/>
                </a:solidFill>
                <a:latin typeface="Arial"/>
                <a:cs typeface="Arial"/>
              </a:rPr>
              <a:t>actually</a:t>
            </a:r>
            <a:r>
              <a:rPr sz="1000" dirty="0">
                <a:solidFill>
                  <a:srgbClr val="FA0000"/>
                </a:solidFill>
                <a:latin typeface="Arial"/>
                <a:cs typeface="Arial"/>
              </a:rPr>
              <a:t> </a:t>
            </a:r>
            <a:r>
              <a:rPr sz="1000" spc="-5" dirty="0">
                <a:solidFill>
                  <a:srgbClr val="FA0000"/>
                </a:solidFill>
                <a:latin typeface="Arial"/>
                <a:cs typeface="Arial"/>
              </a:rPr>
              <a:t>crashed</a:t>
            </a:r>
            <a:r>
              <a:rPr sz="1000" spc="-5" dirty="0">
                <a:latin typeface="Arial"/>
                <a:cs typeface="Arial"/>
              </a:rPr>
              <a:t>?</a:t>
            </a:r>
            <a:endParaRPr sz="1000">
              <a:latin typeface="Arial"/>
              <a:cs typeface="Arial"/>
            </a:endParaRPr>
          </a:p>
          <a:p>
            <a:pPr marL="302260">
              <a:lnSpc>
                <a:spcPct val="100000"/>
              </a:lnSpc>
              <a:spcBef>
                <a:spcPts val="695"/>
              </a:spcBef>
            </a:pPr>
            <a:r>
              <a:rPr sz="1200" spc="-5" dirty="0">
                <a:solidFill>
                  <a:srgbClr val="3333B2"/>
                </a:solidFill>
                <a:latin typeface="Arial"/>
                <a:cs typeface="Arial"/>
              </a:rPr>
              <a:t>General</a:t>
            </a:r>
            <a:r>
              <a:rPr sz="1200" spc="-45" dirty="0">
                <a:solidFill>
                  <a:srgbClr val="3333B2"/>
                </a:solidFill>
                <a:latin typeface="Arial"/>
                <a:cs typeface="Arial"/>
              </a:rPr>
              <a:t> </a:t>
            </a:r>
            <a:r>
              <a:rPr sz="1200" spc="-5" dirty="0">
                <a:solidFill>
                  <a:srgbClr val="3333B2"/>
                </a:solidFill>
                <a:latin typeface="Arial"/>
                <a:cs typeface="Arial"/>
              </a:rPr>
              <a:t>model</a:t>
            </a:r>
            <a:endParaRPr sz="1200">
              <a:latin typeface="Arial"/>
              <a:cs typeface="Arial"/>
            </a:endParaRPr>
          </a:p>
          <a:p>
            <a:pPr marL="579755" indent="-168275">
              <a:lnSpc>
                <a:spcPct val="100000"/>
              </a:lnSpc>
              <a:spcBef>
                <a:spcPts val="540"/>
              </a:spcBef>
              <a:buClr>
                <a:srgbClr val="3333B2"/>
              </a:buClr>
              <a:buChar char="►"/>
              <a:tabLst>
                <a:tab pos="580390" algn="l"/>
              </a:tabLst>
            </a:pPr>
            <a:r>
              <a:rPr sz="1000" spc="-5" dirty="0">
                <a:latin typeface="Arial"/>
                <a:cs typeface="Arial"/>
              </a:rPr>
              <a:t>Each</a:t>
            </a:r>
            <a:r>
              <a:rPr sz="1000" dirty="0">
                <a:latin typeface="Arial"/>
                <a:cs typeface="Arial"/>
              </a:rPr>
              <a:t> </a:t>
            </a:r>
            <a:r>
              <a:rPr sz="1000" spc="-5" dirty="0">
                <a:latin typeface="Arial"/>
                <a:cs typeface="Arial"/>
              </a:rPr>
              <a:t>process</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equipped</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failure</a:t>
            </a:r>
            <a:r>
              <a:rPr sz="1000" dirty="0">
                <a:latin typeface="Arial"/>
                <a:cs typeface="Arial"/>
              </a:rPr>
              <a:t> </a:t>
            </a:r>
            <a:r>
              <a:rPr sz="1000" spc="-5" dirty="0">
                <a:latin typeface="Arial"/>
                <a:cs typeface="Arial"/>
              </a:rPr>
              <a:t>detection</a:t>
            </a:r>
            <a:r>
              <a:rPr sz="1000" dirty="0">
                <a:latin typeface="Arial"/>
                <a:cs typeface="Arial"/>
              </a:rPr>
              <a:t> </a:t>
            </a:r>
            <a:r>
              <a:rPr sz="1000" spc="-5" dirty="0">
                <a:latin typeface="Arial"/>
                <a:cs typeface="Arial"/>
              </a:rPr>
              <a:t>module</a:t>
            </a:r>
            <a:endParaRPr sz="1000">
              <a:latin typeface="Arial"/>
              <a:cs typeface="Arial"/>
            </a:endParaRPr>
          </a:p>
          <a:p>
            <a:pPr marL="579755" indent="-168275">
              <a:lnSpc>
                <a:spcPct val="100000"/>
              </a:lnSpc>
              <a:spcBef>
                <a:spcPts val="595"/>
              </a:spcBef>
              <a:buClr>
                <a:srgbClr val="3333B2"/>
              </a:buClr>
              <a:buChar char="►"/>
              <a:tabLst>
                <a:tab pos="580390" algn="l"/>
              </a:tabLst>
            </a:pPr>
            <a:r>
              <a:rPr sz="1000" spc="-5" dirty="0">
                <a:latin typeface="Arial"/>
                <a:cs typeface="Arial"/>
              </a:rPr>
              <a:t>A process</a:t>
            </a:r>
            <a:r>
              <a:rPr sz="1000" dirty="0">
                <a:latin typeface="Arial"/>
                <a:cs typeface="Arial"/>
              </a:rPr>
              <a:t> </a:t>
            </a:r>
            <a:r>
              <a:rPr sz="1000" i="1" spc="-5" dirty="0">
                <a:latin typeface="Arial"/>
                <a:cs typeface="Arial"/>
              </a:rPr>
              <a:t>P</a:t>
            </a:r>
            <a:r>
              <a:rPr sz="1000" i="1" spc="65" dirty="0">
                <a:latin typeface="Arial"/>
                <a:cs typeface="Arial"/>
              </a:rPr>
              <a:t> </a:t>
            </a:r>
            <a:r>
              <a:rPr sz="1000" spc="-5" dirty="0">
                <a:solidFill>
                  <a:srgbClr val="0000FA"/>
                </a:solidFill>
                <a:latin typeface="Arial"/>
                <a:cs typeface="Arial"/>
              </a:rPr>
              <a:t>probes</a:t>
            </a:r>
            <a:r>
              <a:rPr sz="1000" dirty="0">
                <a:solidFill>
                  <a:srgbClr val="0000FA"/>
                </a:solidFill>
                <a:latin typeface="Arial"/>
                <a:cs typeface="Arial"/>
              </a:rPr>
              <a:t> </a:t>
            </a:r>
            <a:r>
              <a:rPr sz="1000" spc="-5" dirty="0">
                <a:latin typeface="Arial"/>
                <a:cs typeface="Arial"/>
              </a:rPr>
              <a:t>another process</a:t>
            </a:r>
            <a:r>
              <a:rPr sz="1000" dirty="0">
                <a:latin typeface="Arial"/>
                <a:cs typeface="Arial"/>
              </a:rPr>
              <a:t> </a:t>
            </a:r>
            <a:r>
              <a:rPr sz="1000" i="1" spc="-5" dirty="0">
                <a:latin typeface="Arial"/>
                <a:cs typeface="Arial"/>
              </a:rPr>
              <a:t>Q</a:t>
            </a:r>
            <a:r>
              <a:rPr sz="1000" i="1" spc="50" dirty="0">
                <a:latin typeface="Arial"/>
                <a:cs typeface="Arial"/>
              </a:rPr>
              <a:t> </a:t>
            </a:r>
            <a:r>
              <a:rPr sz="1000" spc="-15" dirty="0">
                <a:latin typeface="Arial"/>
                <a:cs typeface="Arial"/>
              </a:rPr>
              <a:t>for</a:t>
            </a:r>
            <a:r>
              <a:rPr sz="1000" spc="-5" dirty="0">
                <a:latin typeface="Arial"/>
                <a:cs typeface="Arial"/>
              </a:rPr>
              <a:t> a</a:t>
            </a:r>
            <a:r>
              <a:rPr sz="1000" dirty="0">
                <a:latin typeface="Arial"/>
                <a:cs typeface="Arial"/>
              </a:rPr>
              <a:t> </a:t>
            </a:r>
            <a:r>
              <a:rPr sz="1000" spc="-5" dirty="0">
                <a:latin typeface="Arial"/>
                <a:cs typeface="Arial"/>
              </a:rPr>
              <a:t>reaction</a:t>
            </a:r>
            <a:endParaRPr sz="1000">
              <a:latin typeface="Arial"/>
              <a:cs typeface="Arial"/>
            </a:endParaRPr>
          </a:p>
          <a:p>
            <a:pPr marL="579755" indent="-168275">
              <a:lnSpc>
                <a:spcPct val="100000"/>
              </a:lnSpc>
              <a:spcBef>
                <a:spcPts val="595"/>
              </a:spcBef>
              <a:buClr>
                <a:srgbClr val="3333B2"/>
              </a:buClr>
              <a:buChar char="►"/>
              <a:tabLst>
                <a:tab pos="580390" algn="l"/>
              </a:tabLst>
            </a:pPr>
            <a:r>
              <a:rPr sz="1000" spc="-5" dirty="0">
                <a:latin typeface="Arial"/>
                <a:cs typeface="Arial"/>
              </a:rPr>
              <a:t>If </a:t>
            </a:r>
            <a:r>
              <a:rPr sz="1000" i="1" spc="-5" dirty="0">
                <a:latin typeface="Arial"/>
                <a:cs typeface="Arial"/>
              </a:rPr>
              <a:t>Q</a:t>
            </a:r>
            <a:r>
              <a:rPr sz="1000" i="1" spc="45" dirty="0">
                <a:latin typeface="Arial"/>
                <a:cs typeface="Arial"/>
              </a:rPr>
              <a:t> </a:t>
            </a:r>
            <a:r>
              <a:rPr sz="1000" spc="-5" dirty="0">
                <a:latin typeface="Arial"/>
                <a:cs typeface="Arial"/>
              </a:rPr>
              <a:t>reacts:</a:t>
            </a:r>
            <a:r>
              <a:rPr sz="1000" spc="60" dirty="0">
                <a:latin typeface="Arial"/>
                <a:cs typeface="Arial"/>
              </a:rPr>
              <a:t> </a:t>
            </a:r>
            <a:r>
              <a:rPr sz="1000" i="1" spc="-5" dirty="0">
                <a:latin typeface="Arial"/>
                <a:cs typeface="Arial"/>
              </a:rPr>
              <a:t>Q</a:t>
            </a:r>
            <a:r>
              <a:rPr sz="1000" i="1" spc="45" dirty="0">
                <a:latin typeface="Arial"/>
                <a:cs typeface="Arial"/>
              </a:rPr>
              <a:t> </a:t>
            </a:r>
            <a:r>
              <a:rPr sz="1000" spc="-5" dirty="0">
                <a:latin typeface="Arial"/>
                <a:cs typeface="Arial"/>
              </a:rPr>
              <a:t>is considered</a:t>
            </a:r>
            <a:r>
              <a:rPr sz="1000" dirty="0">
                <a:latin typeface="Arial"/>
                <a:cs typeface="Arial"/>
              </a:rPr>
              <a:t> </a:t>
            </a:r>
            <a:r>
              <a:rPr sz="1000" spc="-5" dirty="0">
                <a:latin typeface="Arial"/>
                <a:cs typeface="Arial"/>
              </a:rPr>
              <a:t>to be </a:t>
            </a:r>
            <a:r>
              <a:rPr sz="1000" spc="-10" dirty="0">
                <a:latin typeface="Arial"/>
                <a:cs typeface="Arial"/>
              </a:rPr>
              <a:t>alive</a:t>
            </a:r>
            <a:r>
              <a:rPr sz="1000" spc="-5" dirty="0">
                <a:latin typeface="Arial"/>
                <a:cs typeface="Arial"/>
              </a:rPr>
              <a:t> </a:t>
            </a:r>
            <a:r>
              <a:rPr sz="1000" spc="-10" dirty="0">
                <a:latin typeface="Arial"/>
                <a:cs typeface="Arial"/>
              </a:rPr>
              <a:t>(by</a:t>
            </a:r>
            <a:r>
              <a:rPr sz="1000" spc="-5" dirty="0">
                <a:latin typeface="Arial"/>
                <a:cs typeface="Arial"/>
              </a:rPr>
              <a:t> </a:t>
            </a:r>
            <a:r>
              <a:rPr sz="1000" i="1" spc="30" dirty="0">
                <a:latin typeface="Arial"/>
                <a:cs typeface="Arial"/>
              </a:rPr>
              <a:t>P</a:t>
            </a:r>
            <a:r>
              <a:rPr sz="1000" spc="30" dirty="0">
                <a:latin typeface="Arial"/>
                <a:cs typeface="Arial"/>
              </a:rPr>
              <a:t>)</a:t>
            </a:r>
            <a:endParaRPr sz="1000">
              <a:latin typeface="Arial"/>
              <a:cs typeface="Arial"/>
            </a:endParaRPr>
          </a:p>
          <a:p>
            <a:pPr marL="579755" marR="43180" indent="-168275">
              <a:lnSpc>
                <a:spcPct val="100000"/>
              </a:lnSpc>
              <a:spcBef>
                <a:spcPts val="590"/>
              </a:spcBef>
              <a:buClr>
                <a:srgbClr val="3333B2"/>
              </a:buClr>
              <a:buChar char="►"/>
              <a:tabLst>
                <a:tab pos="580390" algn="l"/>
              </a:tabLst>
            </a:pPr>
            <a:r>
              <a:rPr sz="1000" spc="-5" dirty="0">
                <a:latin typeface="Arial"/>
                <a:cs typeface="Arial"/>
              </a:rPr>
              <a:t>If </a:t>
            </a:r>
            <a:r>
              <a:rPr sz="1000" i="1" spc="-5" dirty="0">
                <a:latin typeface="Arial"/>
                <a:cs typeface="Arial"/>
              </a:rPr>
              <a:t>Q</a:t>
            </a:r>
            <a:r>
              <a:rPr sz="1000" i="1" spc="50" dirty="0">
                <a:latin typeface="Arial"/>
                <a:cs typeface="Arial"/>
              </a:rPr>
              <a:t> </a:t>
            </a:r>
            <a:r>
              <a:rPr sz="1000" spc="-5" dirty="0">
                <a:latin typeface="Arial"/>
                <a:cs typeface="Arial"/>
              </a:rPr>
              <a:t>does</a:t>
            </a:r>
            <a:r>
              <a:rPr sz="1000" dirty="0">
                <a:latin typeface="Arial"/>
                <a:cs typeface="Arial"/>
              </a:rPr>
              <a:t> </a:t>
            </a:r>
            <a:r>
              <a:rPr sz="1000" spc="-5" dirty="0">
                <a:latin typeface="Arial"/>
                <a:cs typeface="Arial"/>
              </a:rPr>
              <a:t>not react</a:t>
            </a:r>
            <a:r>
              <a:rPr sz="1000" dirty="0">
                <a:latin typeface="Arial"/>
                <a:cs typeface="Arial"/>
              </a:rPr>
              <a:t> </a:t>
            </a:r>
            <a:r>
              <a:rPr sz="1000" spc="-5" dirty="0">
                <a:latin typeface="Arial"/>
                <a:cs typeface="Arial"/>
              </a:rPr>
              <a:t>with</a:t>
            </a:r>
            <a:r>
              <a:rPr sz="1000" dirty="0">
                <a:latin typeface="Arial"/>
                <a:cs typeface="Arial"/>
              </a:rPr>
              <a:t> </a:t>
            </a:r>
            <a:r>
              <a:rPr sz="1000" i="1" spc="-5" dirty="0">
                <a:latin typeface="Arial"/>
                <a:cs typeface="Arial"/>
              </a:rPr>
              <a:t>t</a:t>
            </a:r>
            <a:r>
              <a:rPr sz="1000" i="1" spc="90" dirty="0">
                <a:latin typeface="Arial"/>
                <a:cs typeface="Arial"/>
              </a:rPr>
              <a:t> </a:t>
            </a:r>
            <a:r>
              <a:rPr sz="1000" spc="-5" dirty="0">
                <a:latin typeface="Arial"/>
                <a:cs typeface="Arial"/>
              </a:rPr>
              <a:t>time units:</a:t>
            </a:r>
            <a:r>
              <a:rPr sz="1000" spc="65" dirty="0">
                <a:latin typeface="Arial"/>
                <a:cs typeface="Arial"/>
              </a:rPr>
              <a:t> </a:t>
            </a:r>
            <a:r>
              <a:rPr sz="1000" i="1" spc="-5" dirty="0">
                <a:latin typeface="Arial"/>
                <a:cs typeface="Arial"/>
              </a:rPr>
              <a:t>Q</a:t>
            </a:r>
            <a:r>
              <a:rPr sz="1000" i="1" spc="50" dirty="0">
                <a:latin typeface="Arial"/>
                <a:cs typeface="Arial"/>
              </a:rPr>
              <a:t> </a:t>
            </a:r>
            <a:r>
              <a:rPr sz="1000" spc="-5" dirty="0">
                <a:latin typeface="Arial"/>
                <a:cs typeface="Arial"/>
              </a:rPr>
              <a:t>is</a:t>
            </a:r>
            <a:r>
              <a:rPr sz="1000" dirty="0">
                <a:latin typeface="Arial"/>
                <a:cs typeface="Arial"/>
              </a:rPr>
              <a:t> </a:t>
            </a:r>
            <a:r>
              <a:rPr sz="1000" spc="-5" dirty="0">
                <a:solidFill>
                  <a:srgbClr val="0000FA"/>
                </a:solidFill>
                <a:latin typeface="Arial"/>
                <a:cs typeface="Arial"/>
              </a:rPr>
              <a:t>suspected </a:t>
            </a:r>
            <a:r>
              <a:rPr sz="1000" spc="-5" dirty="0">
                <a:latin typeface="Arial"/>
                <a:cs typeface="Arial"/>
              </a:rPr>
              <a:t>to</a:t>
            </a:r>
            <a:r>
              <a:rPr sz="1000" dirty="0">
                <a:latin typeface="Arial"/>
                <a:cs typeface="Arial"/>
              </a:rPr>
              <a:t> </a:t>
            </a:r>
            <a:r>
              <a:rPr sz="1000" spc="-15" dirty="0">
                <a:latin typeface="Arial"/>
                <a:cs typeface="Arial"/>
              </a:rPr>
              <a:t>have </a:t>
            </a:r>
            <a:r>
              <a:rPr sz="1000" spc="-260" dirty="0">
                <a:latin typeface="Arial"/>
                <a:cs typeface="Arial"/>
              </a:rPr>
              <a:t> </a:t>
            </a:r>
            <a:r>
              <a:rPr sz="1000" spc="-5" dirty="0">
                <a:latin typeface="Arial"/>
                <a:cs typeface="Arial"/>
              </a:rPr>
              <a:t>crashed</a:t>
            </a:r>
            <a:endParaRPr sz="1000">
              <a:latin typeface="Arial"/>
              <a:cs typeface="Arial"/>
            </a:endParaRPr>
          </a:p>
          <a:p>
            <a:pPr>
              <a:lnSpc>
                <a:spcPct val="100000"/>
              </a:lnSpc>
              <a:spcBef>
                <a:spcPts val="35"/>
              </a:spcBef>
            </a:pPr>
            <a:endParaRPr sz="1100">
              <a:latin typeface="Arial"/>
              <a:cs typeface="Arial"/>
            </a:endParaRPr>
          </a:p>
          <a:p>
            <a:pPr marL="302260">
              <a:lnSpc>
                <a:spcPct val="100000"/>
              </a:lnSpc>
              <a:spcBef>
                <a:spcPts val="5"/>
              </a:spcBef>
            </a:pPr>
            <a:r>
              <a:rPr sz="1200" spc="-5" dirty="0">
                <a:solidFill>
                  <a:srgbClr val="FA0000"/>
                </a:solidFill>
                <a:latin typeface="Arial"/>
                <a:cs typeface="Arial"/>
              </a:rPr>
              <a:t>Observation</a:t>
            </a:r>
            <a:r>
              <a:rPr sz="1200" spc="-10" dirty="0">
                <a:solidFill>
                  <a:srgbClr val="FA0000"/>
                </a:solidFill>
                <a:latin typeface="Arial"/>
                <a:cs typeface="Arial"/>
              </a:rPr>
              <a:t> </a:t>
            </a:r>
            <a:r>
              <a:rPr sz="1200" spc="-20" dirty="0">
                <a:solidFill>
                  <a:srgbClr val="FA0000"/>
                </a:solidFill>
                <a:latin typeface="Arial"/>
                <a:cs typeface="Arial"/>
              </a:rPr>
              <a:t>for</a:t>
            </a:r>
            <a:r>
              <a:rPr sz="1200" spc="-5" dirty="0">
                <a:solidFill>
                  <a:srgbClr val="FA0000"/>
                </a:solidFill>
                <a:latin typeface="Arial"/>
                <a:cs typeface="Arial"/>
              </a:rPr>
              <a:t> a synchronous system</a:t>
            </a:r>
            <a:endParaRPr sz="1200">
              <a:latin typeface="Arial"/>
              <a:cs typeface="Arial"/>
            </a:endParaRPr>
          </a:p>
          <a:p>
            <a:pPr marL="1243330">
              <a:lnSpc>
                <a:spcPct val="100000"/>
              </a:lnSpc>
              <a:spcBef>
                <a:spcPts val="1075"/>
              </a:spcBef>
            </a:pPr>
            <a:r>
              <a:rPr sz="1000" spc="-5" dirty="0">
                <a:latin typeface="Arial"/>
                <a:cs typeface="Arial"/>
              </a:rPr>
              <a:t>a suspected c</a:t>
            </a:r>
            <a:r>
              <a:rPr sz="1000" spc="-15" dirty="0">
                <a:latin typeface="Arial"/>
                <a:cs typeface="Arial"/>
              </a:rPr>
              <a:t>r</a:t>
            </a:r>
            <a:r>
              <a:rPr sz="1000" spc="-5" dirty="0">
                <a:latin typeface="Arial"/>
                <a:cs typeface="Arial"/>
              </a:rPr>
              <a:t>ash </a:t>
            </a:r>
            <a:r>
              <a:rPr sz="1000" i="1" spc="-30" dirty="0">
                <a:latin typeface="メイリオ"/>
                <a:cs typeface="メイリオ"/>
              </a:rPr>
              <a:t>≡</a:t>
            </a:r>
            <a:r>
              <a:rPr sz="1000" i="1" spc="-65" dirty="0">
                <a:latin typeface="メイリオ"/>
                <a:cs typeface="メイリオ"/>
              </a:rPr>
              <a:t> </a:t>
            </a:r>
            <a:r>
              <a:rPr sz="1000" spc="-5" dirty="0">
                <a:latin typeface="Arial"/>
                <a:cs typeface="Arial"/>
              </a:rPr>
              <a:t>a kn</a:t>
            </a:r>
            <a:r>
              <a:rPr sz="1000" spc="-20" dirty="0">
                <a:latin typeface="Arial"/>
                <a:cs typeface="Arial"/>
              </a:rPr>
              <a:t>o</a:t>
            </a:r>
            <a:r>
              <a:rPr sz="1000" spc="-5" dirty="0">
                <a:latin typeface="Arial"/>
                <a:cs typeface="Arial"/>
              </a:rPr>
              <a:t>wn c</a:t>
            </a:r>
            <a:r>
              <a:rPr sz="1000" spc="-15" dirty="0">
                <a:latin typeface="Arial"/>
                <a:cs typeface="Arial"/>
              </a:rPr>
              <a:t>r</a:t>
            </a:r>
            <a:r>
              <a:rPr sz="1000" spc="-5" dirty="0">
                <a:latin typeface="Arial"/>
                <a:cs typeface="Arial"/>
              </a:rPr>
              <a:t>ash</a:t>
            </a:r>
            <a:endParaRPr sz="1000">
              <a:latin typeface="Arial"/>
              <a:cs typeface="Aria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41</a:t>
            </a:r>
            <a:r>
              <a:rPr spc="-40" dirty="0"/>
              <a:t> </a:t>
            </a:r>
            <a:r>
              <a:rPr spc="-5" dirty="0"/>
              <a:t>/</a:t>
            </a:r>
            <a:r>
              <a:rPr spc="-35" dirty="0"/>
              <a:t> </a:t>
            </a:r>
            <a:r>
              <a:rPr spc="-5" dirty="0"/>
              <a:t>68</a:t>
            </a:r>
          </a:p>
        </p:txBody>
      </p:sp>
      <p:sp>
        <p:nvSpPr>
          <p:cNvPr id="2" name="object 2"/>
          <p:cNvSpPr txBox="1"/>
          <p:nvPr/>
        </p:nvSpPr>
        <p:spPr>
          <a:xfrm>
            <a:off x="66713" y="716"/>
            <a:ext cx="12001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Process</a:t>
            </a:r>
            <a:r>
              <a:rPr sz="60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resilience</a:t>
            </a:r>
            <a:endParaRPr sz="600">
              <a:latin typeface="Arial"/>
              <a:cs typeface="Arial"/>
            </a:endParaRPr>
          </a:p>
        </p:txBody>
      </p:sp>
      <p:sp>
        <p:nvSpPr>
          <p:cNvPr id="3" name="object 3"/>
          <p:cNvSpPr txBox="1"/>
          <p:nvPr/>
        </p:nvSpPr>
        <p:spPr>
          <a:xfrm>
            <a:off x="3958526" y="716"/>
            <a:ext cx="58293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262685"/>
                </a:solidFill>
                <a:latin typeface="Arial"/>
                <a:cs typeface="Arial"/>
                <a:hlinkClick r:id="rId5" action="ppaction://hlinksldjump"/>
              </a:rPr>
              <a:t>Failure</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detection</a:t>
            </a:r>
            <a:endParaRPr sz="600">
              <a:latin typeface="Arial"/>
              <a:cs typeface="Arial"/>
            </a:endParaRPr>
          </a:p>
        </p:txBody>
      </p:sp>
      <p:sp>
        <p:nvSpPr>
          <p:cNvPr id="4" name="object 4"/>
          <p:cNvSpPr txBox="1"/>
          <p:nvPr/>
        </p:nvSpPr>
        <p:spPr>
          <a:xfrm>
            <a:off x="95300" y="188846"/>
            <a:ext cx="2053589"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Practical</a:t>
            </a:r>
            <a:r>
              <a:rPr sz="1400" spc="-20" dirty="0">
                <a:solidFill>
                  <a:srgbClr val="3333B2"/>
                </a:solidFill>
                <a:latin typeface="Arial"/>
                <a:cs typeface="Arial"/>
              </a:rPr>
              <a:t> </a:t>
            </a:r>
            <a:r>
              <a:rPr sz="1400" spc="5" dirty="0">
                <a:solidFill>
                  <a:srgbClr val="3333B2"/>
                </a:solidFill>
                <a:latin typeface="Arial"/>
                <a:cs typeface="Arial"/>
              </a:rPr>
              <a:t>failure</a:t>
            </a:r>
            <a:r>
              <a:rPr sz="1400" spc="-20" dirty="0">
                <a:solidFill>
                  <a:srgbClr val="3333B2"/>
                </a:solidFill>
                <a:latin typeface="Arial"/>
                <a:cs typeface="Arial"/>
              </a:rPr>
              <a:t> </a:t>
            </a:r>
            <a:r>
              <a:rPr sz="1400" spc="15" dirty="0">
                <a:solidFill>
                  <a:srgbClr val="3333B2"/>
                </a:solidFill>
                <a:latin typeface="Arial"/>
                <a:cs typeface="Arial"/>
              </a:rPr>
              <a:t>detection</a:t>
            </a:r>
            <a:endParaRPr sz="1400">
              <a:latin typeface="Arial"/>
              <a:cs typeface="Arial"/>
            </a:endParaRPr>
          </a:p>
        </p:txBody>
      </p:sp>
      <p:sp>
        <p:nvSpPr>
          <p:cNvPr id="5" name="object 5"/>
          <p:cNvSpPr txBox="1"/>
          <p:nvPr/>
        </p:nvSpPr>
        <p:spPr>
          <a:xfrm>
            <a:off x="321894" y="1029523"/>
            <a:ext cx="3989070" cy="128079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Implementation</a:t>
            </a:r>
            <a:endParaRPr sz="1200">
              <a:latin typeface="Arial"/>
              <a:cs typeface="Arial"/>
            </a:endParaRPr>
          </a:p>
          <a:p>
            <a:pPr marL="314960" indent="-168275">
              <a:lnSpc>
                <a:spcPct val="100000"/>
              </a:lnSpc>
              <a:spcBef>
                <a:spcPts val="770"/>
              </a:spcBef>
              <a:buClr>
                <a:srgbClr val="3333B2"/>
              </a:buClr>
              <a:buChar char="►"/>
              <a:tabLst>
                <a:tab pos="315595" algn="l"/>
              </a:tabLst>
            </a:pPr>
            <a:r>
              <a:rPr sz="1000" spc="-5" dirty="0">
                <a:latin typeface="Arial"/>
                <a:cs typeface="Arial"/>
              </a:rPr>
              <a:t>If </a:t>
            </a:r>
            <a:r>
              <a:rPr sz="1000" i="1" spc="-5" dirty="0">
                <a:latin typeface="Arial"/>
                <a:cs typeface="Arial"/>
              </a:rPr>
              <a:t>P</a:t>
            </a:r>
            <a:r>
              <a:rPr sz="1000" i="1" spc="65" dirty="0">
                <a:latin typeface="Arial"/>
                <a:cs typeface="Arial"/>
              </a:rPr>
              <a:t> </a:t>
            </a:r>
            <a:r>
              <a:rPr sz="1000" spc="-5" dirty="0">
                <a:latin typeface="Arial"/>
                <a:cs typeface="Arial"/>
              </a:rPr>
              <a:t>did not recei</a:t>
            </a:r>
            <a:r>
              <a:rPr sz="1000" spc="-30" dirty="0">
                <a:latin typeface="Arial"/>
                <a:cs typeface="Arial"/>
              </a:rPr>
              <a:t>v</a:t>
            </a:r>
            <a:r>
              <a:rPr sz="1000" spc="-10" dirty="0">
                <a:latin typeface="Arial"/>
                <a:cs typeface="Arial"/>
              </a:rPr>
              <a:t>e</a:t>
            </a:r>
            <a:r>
              <a:rPr sz="1000" spc="-5" dirty="0">
                <a:latin typeface="Arial"/>
                <a:cs typeface="Arial"/>
              </a:rPr>
              <a:t> </a:t>
            </a:r>
            <a:r>
              <a:rPr sz="1000" spc="-10" dirty="0">
                <a:solidFill>
                  <a:srgbClr val="0000FA"/>
                </a:solidFill>
                <a:latin typeface="Arial"/>
                <a:cs typeface="Arial"/>
              </a:rPr>
              <a:t>hea</a:t>
            </a:r>
            <a:r>
              <a:rPr sz="1000" spc="30" dirty="0">
                <a:solidFill>
                  <a:srgbClr val="0000FA"/>
                </a:solidFill>
                <a:latin typeface="Arial"/>
                <a:cs typeface="Arial"/>
              </a:rPr>
              <a:t>r</a:t>
            </a:r>
            <a:r>
              <a:rPr sz="1000" spc="-5" dirty="0">
                <a:solidFill>
                  <a:srgbClr val="0000FA"/>
                </a:solidFill>
                <a:latin typeface="Arial"/>
                <a:cs typeface="Arial"/>
              </a:rPr>
              <a:t>tbeat </a:t>
            </a:r>
            <a:r>
              <a:rPr sz="1000" spc="-5" dirty="0">
                <a:latin typeface="Arial"/>
                <a:cs typeface="Arial"/>
              </a:rPr>
              <a:t>from </a:t>
            </a:r>
            <a:r>
              <a:rPr sz="1000" i="1" spc="-5" dirty="0">
                <a:latin typeface="Arial"/>
                <a:cs typeface="Arial"/>
              </a:rPr>
              <a:t>Q</a:t>
            </a:r>
            <a:r>
              <a:rPr sz="1000" i="1" spc="45" dirty="0">
                <a:latin typeface="Arial"/>
                <a:cs typeface="Arial"/>
              </a:rPr>
              <a:t> </a:t>
            </a:r>
            <a:r>
              <a:rPr sz="1000" spc="-5" dirty="0">
                <a:latin typeface="Arial"/>
                <a:cs typeface="Arial"/>
              </a:rPr>
              <a:t>within time </a:t>
            </a:r>
            <a:r>
              <a:rPr sz="1000" i="1" spc="-5" dirty="0">
                <a:latin typeface="Arial"/>
                <a:cs typeface="Arial"/>
              </a:rPr>
              <a:t>t</a:t>
            </a:r>
            <a:r>
              <a:rPr sz="1000" i="1" spc="-190" dirty="0">
                <a:latin typeface="Arial"/>
                <a:cs typeface="Arial"/>
              </a:rPr>
              <a:t> </a:t>
            </a:r>
            <a:r>
              <a:rPr sz="1000" spc="-5" dirty="0">
                <a:latin typeface="Arial"/>
                <a:cs typeface="Arial"/>
              </a:rPr>
              <a:t>:</a:t>
            </a:r>
            <a:r>
              <a:rPr sz="1000" spc="60" dirty="0">
                <a:latin typeface="Arial"/>
                <a:cs typeface="Arial"/>
              </a:rPr>
              <a:t> </a:t>
            </a:r>
            <a:r>
              <a:rPr sz="1000" i="1" spc="-5" dirty="0">
                <a:solidFill>
                  <a:srgbClr val="FA0000"/>
                </a:solidFill>
                <a:latin typeface="Arial"/>
                <a:cs typeface="Arial"/>
              </a:rPr>
              <a:t>P</a:t>
            </a:r>
            <a:r>
              <a:rPr sz="1000" i="1" spc="65" dirty="0">
                <a:solidFill>
                  <a:srgbClr val="FA0000"/>
                </a:solidFill>
                <a:latin typeface="Arial"/>
                <a:cs typeface="Arial"/>
              </a:rPr>
              <a:t> </a:t>
            </a:r>
            <a:r>
              <a:rPr sz="1000" spc="-5" dirty="0">
                <a:solidFill>
                  <a:srgbClr val="FA0000"/>
                </a:solidFill>
                <a:latin typeface="Arial"/>
                <a:cs typeface="Arial"/>
              </a:rPr>
              <a:t>suspects </a:t>
            </a:r>
            <a:r>
              <a:rPr sz="1000" i="1" spc="40" dirty="0">
                <a:solidFill>
                  <a:srgbClr val="FA0000"/>
                </a:solidFill>
                <a:latin typeface="Arial"/>
                <a:cs typeface="Arial"/>
              </a:rPr>
              <a:t>Q</a:t>
            </a:r>
            <a:r>
              <a:rPr sz="1000" spc="-5" dirty="0">
                <a:latin typeface="Arial"/>
                <a:cs typeface="Arial"/>
              </a:rPr>
              <a:t>.</a:t>
            </a:r>
            <a:endParaRPr sz="1000">
              <a:latin typeface="Arial"/>
              <a:cs typeface="Arial"/>
            </a:endParaRPr>
          </a:p>
          <a:p>
            <a:pPr marL="314960" indent="-168275">
              <a:lnSpc>
                <a:spcPct val="100000"/>
              </a:lnSpc>
              <a:spcBef>
                <a:spcPts val="595"/>
              </a:spcBef>
              <a:buClr>
                <a:srgbClr val="3333B2"/>
              </a:buClr>
              <a:buChar char="►"/>
              <a:tabLst>
                <a:tab pos="315595" algn="l"/>
              </a:tabLst>
            </a:pPr>
            <a:r>
              <a:rPr sz="1000" spc="-5" dirty="0">
                <a:latin typeface="Arial"/>
                <a:cs typeface="Arial"/>
              </a:rPr>
              <a:t>If</a:t>
            </a:r>
            <a:r>
              <a:rPr sz="1000" spc="-10" dirty="0">
                <a:latin typeface="Arial"/>
                <a:cs typeface="Arial"/>
              </a:rPr>
              <a:t> </a:t>
            </a:r>
            <a:r>
              <a:rPr sz="1000" i="1" spc="-5" dirty="0">
                <a:latin typeface="Arial"/>
                <a:cs typeface="Arial"/>
              </a:rPr>
              <a:t>Q</a:t>
            </a:r>
            <a:r>
              <a:rPr sz="1000" i="1" spc="45" dirty="0">
                <a:latin typeface="Arial"/>
                <a:cs typeface="Arial"/>
              </a:rPr>
              <a:t> </a:t>
            </a:r>
            <a:r>
              <a:rPr sz="1000" spc="-5" dirty="0">
                <a:latin typeface="Arial"/>
                <a:cs typeface="Arial"/>
              </a:rPr>
              <a:t>later sends a message (which is received </a:t>
            </a:r>
            <a:r>
              <a:rPr sz="1000" spc="-15" dirty="0">
                <a:latin typeface="Arial"/>
                <a:cs typeface="Arial"/>
              </a:rPr>
              <a:t>by</a:t>
            </a:r>
            <a:r>
              <a:rPr sz="1000" spc="-5" dirty="0">
                <a:latin typeface="Arial"/>
                <a:cs typeface="Arial"/>
              </a:rPr>
              <a:t> </a:t>
            </a:r>
            <a:r>
              <a:rPr sz="1000" i="1" spc="20" dirty="0">
                <a:latin typeface="Arial"/>
                <a:cs typeface="Arial"/>
              </a:rPr>
              <a:t>P</a:t>
            </a:r>
            <a:r>
              <a:rPr sz="1000" spc="20" dirty="0">
                <a:latin typeface="Arial"/>
                <a:cs typeface="Arial"/>
              </a:rPr>
              <a:t>):</a:t>
            </a:r>
            <a:endParaRPr sz="1000">
              <a:latin typeface="Arial"/>
              <a:cs typeface="Arial"/>
            </a:endParaRPr>
          </a:p>
          <a:p>
            <a:pPr marL="591820" lvl="1" indent="-168275">
              <a:lnSpc>
                <a:spcPts val="1200"/>
              </a:lnSpc>
              <a:spcBef>
                <a:spcPts val="495"/>
              </a:spcBef>
              <a:buClr>
                <a:srgbClr val="3333B2"/>
              </a:buClr>
              <a:buFont typeface="Arial"/>
              <a:buChar char="►"/>
              <a:tabLst>
                <a:tab pos="592455" algn="l"/>
              </a:tabLst>
            </a:pPr>
            <a:r>
              <a:rPr sz="1000" i="1" spc="-5" dirty="0">
                <a:latin typeface="Arial"/>
                <a:cs typeface="Arial"/>
              </a:rPr>
              <a:t>P</a:t>
            </a:r>
            <a:r>
              <a:rPr sz="1000" i="1" spc="50" dirty="0">
                <a:latin typeface="Arial"/>
                <a:cs typeface="Arial"/>
              </a:rPr>
              <a:t> </a:t>
            </a:r>
            <a:r>
              <a:rPr sz="1000" spc="-5" dirty="0">
                <a:latin typeface="Arial"/>
                <a:cs typeface="Arial"/>
              </a:rPr>
              <a:t>stops</a:t>
            </a:r>
            <a:r>
              <a:rPr sz="1000" spc="-15" dirty="0">
                <a:latin typeface="Arial"/>
                <a:cs typeface="Arial"/>
              </a:rPr>
              <a:t> </a:t>
            </a:r>
            <a:r>
              <a:rPr sz="1000" spc="-5" dirty="0">
                <a:latin typeface="Arial"/>
                <a:cs typeface="Arial"/>
              </a:rPr>
              <a:t>suspecting</a:t>
            </a:r>
            <a:r>
              <a:rPr sz="1000" spc="-15" dirty="0">
                <a:latin typeface="Arial"/>
                <a:cs typeface="Arial"/>
              </a:rPr>
              <a:t> </a:t>
            </a:r>
            <a:r>
              <a:rPr sz="1000" i="1" spc="-5" dirty="0">
                <a:latin typeface="Arial"/>
                <a:cs typeface="Arial"/>
              </a:rPr>
              <a:t>Q</a:t>
            </a:r>
            <a:endParaRPr sz="1000">
              <a:latin typeface="Arial"/>
              <a:cs typeface="Arial"/>
            </a:endParaRPr>
          </a:p>
          <a:p>
            <a:pPr marL="591820" lvl="1" indent="-168275">
              <a:lnSpc>
                <a:spcPts val="1200"/>
              </a:lnSpc>
              <a:buClr>
                <a:srgbClr val="3333B2"/>
              </a:buClr>
              <a:buFont typeface="Arial"/>
              <a:buChar char="►"/>
              <a:tabLst>
                <a:tab pos="592455" algn="l"/>
              </a:tabLst>
            </a:pPr>
            <a:r>
              <a:rPr sz="1000" i="1" spc="-5" dirty="0">
                <a:latin typeface="Arial"/>
                <a:cs typeface="Arial"/>
              </a:rPr>
              <a:t>P</a:t>
            </a:r>
            <a:r>
              <a:rPr sz="1000" i="1" spc="60" dirty="0">
                <a:latin typeface="Arial"/>
                <a:cs typeface="Arial"/>
              </a:rPr>
              <a:t> </a:t>
            </a:r>
            <a:r>
              <a:rPr sz="1000" spc="-5" dirty="0">
                <a:latin typeface="Arial"/>
                <a:cs typeface="Arial"/>
              </a:rPr>
              <a:t>increases</a:t>
            </a:r>
            <a:r>
              <a:rPr sz="1000" spc="-10" dirty="0">
                <a:latin typeface="Arial"/>
                <a:cs typeface="Arial"/>
              </a:rPr>
              <a:t> </a:t>
            </a:r>
            <a:r>
              <a:rPr sz="1000" spc="-5" dirty="0">
                <a:latin typeface="Arial"/>
                <a:cs typeface="Arial"/>
              </a:rPr>
              <a:t>the timeout</a:t>
            </a:r>
            <a:r>
              <a:rPr sz="1000" spc="-10" dirty="0">
                <a:latin typeface="Arial"/>
                <a:cs typeface="Arial"/>
              </a:rPr>
              <a:t> value</a:t>
            </a:r>
            <a:r>
              <a:rPr sz="1000" spc="-5" dirty="0">
                <a:latin typeface="Arial"/>
                <a:cs typeface="Arial"/>
              </a:rPr>
              <a:t> </a:t>
            </a:r>
            <a:r>
              <a:rPr sz="1000" i="1" spc="-5" dirty="0">
                <a:latin typeface="Arial"/>
                <a:cs typeface="Arial"/>
              </a:rPr>
              <a:t>t</a:t>
            </a:r>
            <a:endParaRPr sz="1000">
              <a:latin typeface="Arial"/>
              <a:cs typeface="Arial"/>
            </a:endParaRPr>
          </a:p>
          <a:p>
            <a:pPr marL="314960" indent="-168275">
              <a:lnSpc>
                <a:spcPct val="100000"/>
              </a:lnSpc>
              <a:spcBef>
                <a:spcPts val="590"/>
              </a:spcBef>
              <a:buClr>
                <a:srgbClr val="3333B2"/>
              </a:buClr>
              <a:buChar char="►"/>
              <a:tabLst>
                <a:tab pos="315595" algn="l"/>
              </a:tabLst>
            </a:pPr>
            <a:r>
              <a:rPr sz="1000" spc="-5" dirty="0">
                <a:solidFill>
                  <a:srgbClr val="FA0000"/>
                </a:solidFill>
                <a:latin typeface="Arial"/>
                <a:cs typeface="Arial"/>
              </a:rPr>
              <a:t>Note</a:t>
            </a:r>
            <a:r>
              <a:rPr sz="1000" spc="-5" dirty="0">
                <a:latin typeface="Arial"/>
                <a:cs typeface="Arial"/>
              </a:rPr>
              <a:t>:</a:t>
            </a:r>
            <a:r>
              <a:rPr sz="1000" spc="60" dirty="0">
                <a:latin typeface="Arial"/>
                <a:cs typeface="Arial"/>
              </a:rPr>
              <a:t> </a:t>
            </a:r>
            <a:r>
              <a:rPr sz="1000" spc="-5" dirty="0">
                <a:latin typeface="Arial"/>
                <a:cs typeface="Arial"/>
              </a:rPr>
              <a:t>if </a:t>
            </a:r>
            <a:r>
              <a:rPr sz="1000" i="1" spc="-5" dirty="0">
                <a:latin typeface="Arial"/>
                <a:cs typeface="Arial"/>
              </a:rPr>
              <a:t>Q</a:t>
            </a:r>
            <a:r>
              <a:rPr sz="1000" i="1" spc="45" dirty="0">
                <a:latin typeface="Arial"/>
                <a:cs typeface="Arial"/>
              </a:rPr>
              <a:t> </a:t>
            </a:r>
            <a:r>
              <a:rPr sz="1000" spc="-5" dirty="0">
                <a:latin typeface="Arial"/>
                <a:cs typeface="Arial"/>
              </a:rPr>
              <a:t>did crash, </a:t>
            </a:r>
            <a:r>
              <a:rPr sz="1000" i="1" spc="-5" dirty="0">
                <a:latin typeface="Arial"/>
                <a:cs typeface="Arial"/>
              </a:rPr>
              <a:t>P</a:t>
            </a:r>
            <a:r>
              <a:rPr sz="1000" i="1" spc="65" dirty="0">
                <a:latin typeface="Arial"/>
                <a:cs typeface="Arial"/>
              </a:rPr>
              <a:t> </a:t>
            </a:r>
            <a:r>
              <a:rPr sz="1000" spc="-5" dirty="0">
                <a:latin typeface="Arial"/>
                <a:cs typeface="Arial"/>
              </a:rPr>
              <a:t>will </a:t>
            </a:r>
            <a:r>
              <a:rPr sz="1000" spc="-10" dirty="0">
                <a:latin typeface="Arial"/>
                <a:cs typeface="Arial"/>
              </a:rPr>
              <a:t>keep</a:t>
            </a:r>
            <a:r>
              <a:rPr sz="1000" dirty="0">
                <a:latin typeface="Arial"/>
                <a:cs typeface="Arial"/>
              </a:rPr>
              <a:t> </a:t>
            </a:r>
            <a:r>
              <a:rPr sz="1000" spc="-5" dirty="0">
                <a:latin typeface="Arial"/>
                <a:cs typeface="Arial"/>
              </a:rPr>
              <a:t>suspecting </a:t>
            </a:r>
            <a:r>
              <a:rPr sz="1000" i="1" spc="20" dirty="0">
                <a:latin typeface="Arial"/>
                <a:cs typeface="Arial"/>
              </a:rPr>
              <a:t>Q</a:t>
            </a:r>
            <a:r>
              <a:rPr sz="1000" spc="20" dirty="0">
                <a:latin typeface="Arial"/>
                <a:cs typeface="Arial"/>
              </a:rPr>
              <a:t>.</a:t>
            </a:r>
            <a:endParaRPr sz="1000">
              <a:latin typeface="Arial"/>
              <a:cs typeface="Arial"/>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8224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tolerance:</a:t>
            </a:r>
            <a:r>
              <a:rPr sz="600" spc="160" dirty="0">
                <a:solidFill>
                  <a:srgbClr val="3333B2"/>
                </a:solidFill>
                <a:latin typeface="Arial"/>
                <a:cs typeface="Arial"/>
              </a:rPr>
              <a:t> </a:t>
            </a:r>
            <a:r>
              <a:rPr sz="600" spc="-5" dirty="0">
                <a:solidFill>
                  <a:srgbClr val="3333B2"/>
                </a:solidFill>
                <a:latin typeface="Arial"/>
                <a:cs typeface="Arial"/>
                <a:hlinkClick r:id="rId3" action="ppaction://hlinksldjump"/>
              </a:rPr>
              <a:t>Reliable</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client-server</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communication</a:t>
            </a:r>
            <a:endParaRPr sz="600">
              <a:latin typeface="Arial"/>
              <a:cs typeface="Arial"/>
            </a:endParaRPr>
          </a:p>
        </p:txBody>
      </p:sp>
      <p:sp>
        <p:nvSpPr>
          <p:cNvPr id="3" name="object 3"/>
          <p:cNvSpPr txBox="1"/>
          <p:nvPr/>
        </p:nvSpPr>
        <p:spPr>
          <a:xfrm>
            <a:off x="3104776" y="716"/>
            <a:ext cx="14370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RPC semantics in</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the presence</a:t>
            </a:r>
            <a:r>
              <a:rPr sz="60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of failures</a:t>
            </a:r>
            <a:endParaRPr sz="600">
              <a:latin typeface="Arial"/>
              <a:cs typeface="Arial"/>
            </a:endParaRPr>
          </a:p>
        </p:txBody>
      </p:sp>
      <p:sp>
        <p:nvSpPr>
          <p:cNvPr id="4" name="object 4"/>
          <p:cNvSpPr txBox="1"/>
          <p:nvPr/>
        </p:nvSpPr>
        <p:spPr>
          <a:xfrm>
            <a:off x="95300" y="188846"/>
            <a:ext cx="3740785" cy="1834514"/>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Reliable</a:t>
            </a:r>
            <a:r>
              <a:rPr sz="1400" spc="-10" dirty="0">
                <a:solidFill>
                  <a:srgbClr val="3333B2"/>
                </a:solidFill>
                <a:latin typeface="Arial"/>
                <a:cs typeface="Arial"/>
              </a:rPr>
              <a:t> </a:t>
            </a:r>
            <a:r>
              <a:rPr sz="1400" spc="15" dirty="0">
                <a:solidFill>
                  <a:srgbClr val="3333B2"/>
                </a:solidFill>
                <a:latin typeface="Arial"/>
                <a:cs typeface="Arial"/>
              </a:rPr>
              <a:t>remote</a:t>
            </a:r>
            <a:r>
              <a:rPr sz="1400" spc="-5" dirty="0">
                <a:solidFill>
                  <a:srgbClr val="3333B2"/>
                </a:solidFill>
                <a:latin typeface="Arial"/>
                <a:cs typeface="Arial"/>
              </a:rPr>
              <a:t> </a:t>
            </a:r>
            <a:r>
              <a:rPr sz="1400" spc="15" dirty="0">
                <a:solidFill>
                  <a:srgbClr val="3333B2"/>
                </a:solidFill>
                <a:latin typeface="Arial"/>
                <a:cs typeface="Arial"/>
              </a:rPr>
              <a:t>procedure</a:t>
            </a:r>
            <a:r>
              <a:rPr sz="1400" spc="-5" dirty="0">
                <a:solidFill>
                  <a:srgbClr val="3333B2"/>
                </a:solidFill>
                <a:latin typeface="Arial"/>
                <a:cs typeface="Arial"/>
              </a:rPr>
              <a:t> </a:t>
            </a:r>
            <a:r>
              <a:rPr sz="1400" spc="10" dirty="0">
                <a:solidFill>
                  <a:srgbClr val="3333B2"/>
                </a:solidFill>
                <a:latin typeface="Arial"/>
                <a:cs typeface="Arial"/>
              </a:rPr>
              <a:t>calls</a:t>
            </a:r>
            <a:endParaRPr sz="1400">
              <a:latin typeface="Arial"/>
              <a:cs typeface="Arial"/>
            </a:endParaRPr>
          </a:p>
          <a:p>
            <a:pPr>
              <a:lnSpc>
                <a:spcPct val="100000"/>
              </a:lnSpc>
              <a:spcBef>
                <a:spcPts val="25"/>
              </a:spcBef>
            </a:pPr>
            <a:endParaRPr sz="1650">
              <a:latin typeface="Arial"/>
              <a:cs typeface="Arial"/>
            </a:endParaRPr>
          </a:p>
          <a:p>
            <a:pPr marL="257175">
              <a:lnSpc>
                <a:spcPct val="100000"/>
              </a:lnSpc>
            </a:pPr>
            <a:r>
              <a:rPr sz="1200" spc="-5" dirty="0">
                <a:solidFill>
                  <a:srgbClr val="3333B2"/>
                </a:solidFill>
                <a:latin typeface="Arial"/>
                <a:cs typeface="Arial"/>
              </a:rPr>
              <a:t>What</a:t>
            </a:r>
            <a:r>
              <a:rPr sz="1200" spc="-25" dirty="0">
                <a:solidFill>
                  <a:srgbClr val="3333B2"/>
                </a:solidFill>
                <a:latin typeface="Arial"/>
                <a:cs typeface="Arial"/>
              </a:rPr>
              <a:t> </a:t>
            </a:r>
            <a:r>
              <a:rPr sz="1200" spc="-5" dirty="0">
                <a:solidFill>
                  <a:srgbClr val="3333B2"/>
                </a:solidFill>
                <a:latin typeface="Arial"/>
                <a:cs typeface="Arial"/>
              </a:rPr>
              <a:t>can</a:t>
            </a:r>
            <a:r>
              <a:rPr sz="1200" spc="-20" dirty="0">
                <a:solidFill>
                  <a:srgbClr val="3333B2"/>
                </a:solidFill>
                <a:latin typeface="Arial"/>
                <a:cs typeface="Arial"/>
              </a:rPr>
              <a:t> </a:t>
            </a:r>
            <a:r>
              <a:rPr sz="1200" spc="-5" dirty="0">
                <a:solidFill>
                  <a:srgbClr val="3333B2"/>
                </a:solidFill>
                <a:latin typeface="Arial"/>
                <a:cs typeface="Arial"/>
              </a:rPr>
              <a:t>go</a:t>
            </a:r>
            <a:r>
              <a:rPr sz="1200" spc="-20" dirty="0">
                <a:solidFill>
                  <a:srgbClr val="3333B2"/>
                </a:solidFill>
                <a:latin typeface="Arial"/>
                <a:cs typeface="Arial"/>
              </a:rPr>
              <a:t> </a:t>
            </a:r>
            <a:r>
              <a:rPr sz="1200" spc="-5" dirty="0">
                <a:solidFill>
                  <a:srgbClr val="3333B2"/>
                </a:solidFill>
                <a:latin typeface="Arial"/>
                <a:cs typeface="Arial"/>
              </a:rPr>
              <a:t>wrong?</a:t>
            </a:r>
            <a:endParaRPr sz="1200">
              <a:latin typeface="Arial"/>
              <a:cs typeface="Arial"/>
            </a:endParaRPr>
          </a:p>
          <a:p>
            <a:pPr marL="541655" indent="-175895">
              <a:lnSpc>
                <a:spcPct val="100000"/>
              </a:lnSpc>
              <a:spcBef>
                <a:spcPts val="790"/>
              </a:spcBef>
              <a:buClr>
                <a:srgbClr val="3333B2"/>
              </a:buClr>
              <a:buAutoNum type="arabicPeriod"/>
              <a:tabLst>
                <a:tab pos="542290" algn="l"/>
              </a:tabLst>
            </a:pPr>
            <a:r>
              <a:rPr sz="1000" spc="-5" dirty="0">
                <a:latin typeface="Arial"/>
                <a:cs typeface="Arial"/>
              </a:rPr>
              <a:t>The client is </a:t>
            </a:r>
            <a:r>
              <a:rPr sz="1000" spc="-10" dirty="0">
                <a:latin typeface="Arial"/>
                <a:cs typeface="Arial"/>
              </a:rPr>
              <a:t>unable</a:t>
            </a:r>
            <a:r>
              <a:rPr sz="1000" spc="-5" dirty="0">
                <a:latin typeface="Arial"/>
                <a:cs typeface="Arial"/>
              </a:rPr>
              <a:t> to</a:t>
            </a:r>
            <a:r>
              <a:rPr sz="1000" dirty="0">
                <a:latin typeface="Arial"/>
                <a:cs typeface="Arial"/>
              </a:rPr>
              <a:t> </a:t>
            </a:r>
            <a:r>
              <a:rPr sz="1000" spc="-5" dirty="0">
                <a:latin typeface="Arial"/>
                <a:cs typeface="Arial"/>
              </a:rPr>
              <a:t>locate the </a:t>
            </a:r>
            <a:r>
              <a:rPr sz="1000" spc="-10" dirty="0">
                <a:latin typeface="Arial"/>
                <a:cs typeface="Arial"/>
              </a:rPr>
              <a:t>server.</a:t>
            </a:r>
            <a:endParaRPr sz="1000">
              <a:latin typeface="Arial"/>
              <a:cs typeface="Arial"/>
            </a:endParaRPr>
          </a:p>
          <a:p>
            <a:pPr marL="541655" indent="-175895">
              <a:lnSpc>
                <a:spcPct val="100000"/>
              </a:lnSpc>
              <a:spcBef>
                <a:spcPts val="595"/>
              </a:spcBef>
              <a:buClr>
                <a:srgbClr val="3333B2"/>
              </a:buClr>
              <a:buAutoNum type="arabicPeriod"/>
              <a:tabLst>
                <a:tab pos="542290" algn="l"/>
              </a:tabLst>
            </a:pPr>
            <a:r>
              <a:rPr sz="1000" spc="-5" dirty="0">
                <a:latin typeface="Arial"/>
                <a:cs typeface="Arial"/>
              </a:rPr>
              <a:t>The request</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lost.</a:t>
            </a:r>
            <a:endParaRPr sz="1000">
              <a:latin typeface="Arial"/>
              <a:cs typeface="Arial"/>
            </a:endParaRPr>
          </a:p>
          <a:p>
            <a:pPr marL="541655" indent="-175895">
              <a:lnSpc>
                <a:spcPct val="100000"/>
              </a:lnSpc>
              <a:spcBef>
                <a:spcPts val="590"/>
              </a:spcBef>
              <a:buClr>
                <a:srgbClr val="3333B2"/>
              </a:buClr>
              <a:buAutoNum type="arabicPeriod"/>
              <a:tabLst>
                <a:tab pos="542290" algn="l"/>
              </a:tabLst>
            </a:pPr>
            <a:r>
              <a:rPr sz="1000" spc="-5" dirty="0">
                <a:latin typeface="Arial"/>
                <a:cs typeface="Arial"/>
              </a:rPr>
              <a:t>The server crashes</a:t>
            </a:r>
            <a:r>
              <a:rPr sz="1000" dirty="0">
                <a:latin typeface="Arial"/>
                <a:cs typeface="Arial"/>
              </a:rPr>
              <a:t> </a:t>
            </a:r>
            <a:r>
              <a:rPr sz="1000" spc="-5" dirty="0">
                <a:latin typeface="Arial"/>
                <a:cs typeface="Arial"/>
              </a:rPr>
              <a:t>after receiving</a:t>
            </a:r>
            <a:r>
              <a:rPr sz="1000" dirty="0">
                <a:latin typeface="Arial"/>
                <a:cs typeface="Arial"/>
              </a:rPr>
              <a:t> </a:t>
            </a:r>
            <a:r>
              <a:rPr sz="1000" spc="-5" dirty="0">
                <a:latin typeface="Arial"/>
                <a:cs typeface="Arial"/>
              </a:rPr>
              <a:t>a request.</a:t>
            </a:r>
            <a:endParaRPr sz="1000">
              <a:latin typeface="Arial"/>
              <a:cs typeface="Arial"/>
            </a:endParaRPr>
          </a:p>
          <a:p>
            <a:pPr marL="541655" indent="-175895">
              <a:lnSpc>
                <a:spcPct val="100000"/>
              </a:lnSpc>
              <a:spcBef>
                <a:spcPts val="595"/>
              </a:spcBef>
              <a:buClr>
                <a:srgbClr val="3333B2"/>
              </a:buClr>
              <a:buAutoNum type="arabicPeriod"/>
              <a:tabLst>
                <a:tab pos="542290" algn="l"/>
              </a:tabLst>
            </a:pPr>
            <a:r>
              <a:rPr sz="1000" spc="-5" dirty="0">
                <a:latin typeface="Arial"/>
                <a:cs typeface="Arial"/>
              </a:rPr>
              <a:t>The reply</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 client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lost.</a:t>
            </a:r>
            <a:endParaRPr sz="1000">
              <a:latin typeface="Arial"/>
              <a:cs typeface="Arial"/>
            </a:endParaRPr>
          </a:p>
          <a:p>
            <a:pPr marL="541655" indent="-175895">
              <a:lnSpc>
                <a:spcPct val="100000"/>
              </a:lnSpc>
              <a:spcBef>
                <a:spcPts val="595"/>
              </a:spcBef>
              <a:buClr>
                <a:srgbClr val="3333B2"/>
              </a:buClr>
              <a:buAutoNum type="arabicPeriod"/>
              <a:tabLst>
                <a:tab pos="542290" algn="l"/>
              </a:tabLst>
            </a:pPr>
            <a:r>
              <a:rPr sz="1000" spc="-5" dirty="0">
                <a:latin typeface="Arial"/>
                <a:cs typeface="Arial"/>
              </a:rPr>
              <a:t>The client crashes after sending</a:t>
            </a:r>
            <a:r>
              <a:rPr sz="1000" dirty="0">
                <a:latin typeface="Arial"/>
                <a:cs typeface="Arial"/>
              </a:rPr>
              <a:t> </a:t>
            </a:r>
            <a:r>
              <a:rPr sz="1000" spc="-5" dirty="0">
                <a:latin typeface="Arial"/>
                <a:cs typeface="Arial"/>
              </a:rPr>
              <a:t>a request.</a:t>
            </a:r>
            <a:endParaRPr sz="1000">
              <a:latin typeface="Arial"/>
              <a:cs typeface="Arial"/>
            </a:endParaRP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42</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8224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0" dirty="0">
                <a:solidFill>
                  <a:srgbClr val="3333B2"/>
                </a:solidFill>
                <a:latin typeface="Arial"/>
                <a:cs typeface="Arial"/>
              </a:rPr>
              <a:t> </a:t>
            </a:r>
            <a:r>
              <a:rPr sz="600" spc="-5" dirty="0">
                <a:solidFill>
                  <a:srgbClr val="3333B2"/>
                </a:solidFill>
                <a:latin typeface="Arial"/>
                <a:cs typeface="Arial"/>
                <a:hlinkClick r:id="rId4" action="ppaction://hlinksldjump"/>
              </a:rPr>
              <a:t>Reliable</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client-server</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04776" y="716"/>
            <a:ext cx="14370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RPC semantics in</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the presence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 failures</a:t>
            </a:r>
            <a:endParaRPr sz="600">
              <a:latin typeface="Arial"/>
              <a:cs typeface="Arial"/>
            </a:endParaRPr>
          </a:p>
        </p:txBody>
      </p:sp>
      <p:sp>
        <p:nvSpPr>
          <p:cNvPr id="4" name="object 4"/>
          <p:cNvSpPr txBox="1"/>
          <p:nvPr/>
        </p:nvSpPr>
        <p:spPr>
          <a:xfrm>
            <a:off x="95300" y="188846"/>
            <a:ext cx="3740785" cy="268795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Reliable</a:t>
            </a:r>
            <a:r>
              <a:rPr sz="1400" spc="-5" dirty="0">
                <a:solidFill>
                  <a:srgbClr val="3333B2"/>
                </a:solidFill>
                <a:latin typeface="Arial"/>
                <a:cs typeface="Arial"/>
              </a:rPr>
              <a:t> </a:t>
            </a:r>
            <a:r>
              <a:rPr sz="1400" spc="15" dirty="0">
                <a:solidFill>
                  <a:srgbClr val="3333B2"/>
                </a:solidFill>
                <a:latin typeface="Arial"/>
                <a:cs typeface="Arial"/>
              </a:rPr>
              <a:t>remote</a:t>
            </a:r>
            <a:r>
              <a:rPr sz="1400" dirty="0">
                <a:solidFill>
                  <a:srgbClr val="3333B2"/>
                </a:solidFill>
                <a:latin typeface="Arial"/>
                <a:cs typeface="Arial"/>
              </a:rPr>
              <a:t> </a:t>
            </a:r>
            <a:r>
              <a:rPr sz="1400" spc="15" dirty="0">
                <a:solidFill>
                  <a:srgbClr val="3333B2"/>
                </a:solidFill>
                <a:latin typeface="Arial"/>
                <a:cs typeface="Arial"/>
              </a:rPr>
              <a:t>procedure</a:t>
            </a:r>
            <a:r>
              <a:rPr sz="1400" spc="-5" dirty="0">
                <a:solidFill>
                  <a:srgbClr val="3333B2"/>
                </a:solidFill>
                <a:latin typeface="Arial"/>
                <a:cs typeface="Arial"/>
              </a:rPr>
              <a:t> </a:t>
            </a:r>
            <a:r>
              <a:rPr sz="1400" spc="10" dirty="0">
                <a:solidFill>
                  <a:srgbClr val="3333B2"/>
                </a:solidFill>
                <a:latin typeface="Arial"/>
                <a:cs typeface="Arial"/>
              </a:rPr>
              <a:t>calls</a:t>
            </a:r>
            <a:endParaRPr sz="1400">
              <a:latin typeface="Arial"/>
              <a:cs typeface="Arial"/>
            </a:endParaRPr>
          </a:p>
          <a:p>
            <a:pPr>
              <a:lnSpc>
                <a:spcPct val="100000"/>
              </a:lnSpc>
              <a:spcBef>
                <a:spcPts val="25"/>
              </a:spcBef>
            </a:pPr>
            <a:endParaRPr sz="1650">
              <a:latin typeface="Arial"/>
              <a:cs typeface="Arial"/>
            </a:endParaRPr>
          </a:p>
          <a:p>
            <a:pPr marL="257175">
              <a:lnSpc>
                <a:spcPct val="100000"/>
              </a:lnSpc>
            </a:pPr>
            <a:r>
              <a:rPr sz="1200" spc="-5" dirty="0">
                <a:solidFill>
                  <a:srgbClr val="3333B2"/>
                </a:solidFill>
                <a:latin typeface="Arial"/>
                <a:cs typeface="Arial"/>
              </a:rPr>
              <a:t>What</a:t>
            </a:r>
            <a:r>
              <a:rPr sz="1200" spc="-25" dirty="0">
                <a:solidFill>
                  <a:srgbClr val="3333B2"/>
                </a:solidFill>
                <a:latin typeface="Arial"/>
                <a:cs typeface="Arial"/>
              </a:rPr>
              <a:t> </a:t>
            </a:r>
            <a:r>
              <a:rPr sz="1200" spc="-5" dirty="0">
                <a:solidFill>
                  <a:srgbClr val="3333B2"/>
                </a:solidFill>
                <a:latin typeface="Arial"/>
                <a:cs typeface="Arial"/>
              </a:rPr>
              <a:t>can</a:t>
            </a:r>
            <a:r>
              <a:rPr sz="1200" spc="-20" dirty="0">
                <a:solidFill>
                  <a:srgbClr val="3333B2"/>
                </a:solidFill>
                <a:latin typeface="Arial"/>
                <a:cs typeface="Arial"/>
              </a:rPr>
              <a:t> </a:t>
            </a:r>
            <a:r>
              <a:rPr sz="1200" spc="-5" dirty="0">
                <a:solidFill>
                  <a:srgbClr val="3333B2"/>
                </a:solidFill>
                <a:latin typeface="Arial"/>
                <a:cs typeface="Arial"/>
              </a:rPr>
              <a:t>go</a:t>
            </a:r>
            <a:r>
              <a:rPr sz="1200" spc="-20" dirty="0">
                <a:solidFill>
                  <a:srgbClr val="3333B2"/>
                </a:solidFill>
                <a:latin typeface="Arial"/>
                <a:cs typeface="Arial"/>
              </a:rPr>
              <a:t> </a:t>
            </a:r>
            <a:r>
              <a:rPr sz="1200" spc="-5" dirty="0">
                <a:solidFill>
                  <a:srgbClr val="3333B2"/>
                </a:solidFill>
                <a:latin typeface="Arial"/>
                <a:cs typeface="Arial"/>
              </a:rPr>
              <a:t>wrong?</a:t>
            </a:r>
            <a:endParaRPr sz="1200">
              <a:latin typeface="Arial"/>
              <a:cs typeface="Arial"/>
            </a:endParaRPr>
          </a:p>
          <a:p>
            <a:pPr marL="541655" indent="-175895">
              <a:lnSpc>
                <a:spcPct val="100000"/>
              </a:lnSpc>
              <a:spcBef>
                <a:spcPts val="790"/>
              </a:spcBef>
              <a:buClr>
                <a:srgbClr val="3333B2"/>
              </a:buClr>
              <a:buAutoNum type="arabicPeriod"/>
              <a:tabLst>
                <a:tab pos="542290" algn="l"/>
              </a:tabLst>
            </a:pPr>
            <a:r>
              <a:rPr sz="1000" spc="-5" dirty="0">
                <a:latin typeface="Arial"/>
                <a:cs typeface="Arial"/>
              </a:rPr>
              <a:t>The client is </a:t>
            </a:r>
            <a:r>
              <a:rPr sz="1000" spc="-10" dirty="0">
                <a:latin typeface="Arial"/>
                <a:cs typeface="Arial"/>
              </a:rPr>
              <a:t>unable</a:t>
            </a:r>
            <a:r>
              <a:rPr sz="1000" spc="-5" dirty="0">
                <a:latin typeface="Arial"/>
                <a:cs typeface="Arial"/>
              </a:rPr>
              <a:t> to</a:t>
            </a:r>
            <a:r>
              <a:rPr sz="1000" dirty="0">
                <a:latin typeface="Arial"/>
                <a:cs typeface="Arial"/>
              </a:rPr>
              <a:t> </a:t>
            </a:r>
            <a:r>
              <a:rPr sz="1000" spc="-5" dirty="0">
                <a:latin typeface="Arial"/>
                <a:cs typeface="Arial"/>
              </a:rPr>
              <a:t>locate the </a:t>
            </a:r>
            <a:r>
              <a:rPr sz="1000" spc="-10" dirty="0">
                <a:latin typeface="Arial"/>
                <a:cs typeface="Arial"/>
              </a:rPr>
              <a:t>server.</a:t>
            </a:r>
            <a:endParaRPr sz="1000">
              <a:latin typeface="Arial"/>
              <a:cs typeface="Arial"/>
            </a:endParaRPr>
          </a:p>
          <a:p>
            <a:pPr marL="541655" indent="-175895">
              <a:lnSpc>
                <a:spcPct val="100000"/>
              </a:lnSpc>
              <a:spcBef>
                <a:spcPts val="595"/>
              </a:spcBef>
              <a:buClr>
                <a:srgbClr val="3333B2"/>
              </a:buClr>
              <a:buAutoNum type="arabicPeriod"/>
              <a:tabLst>
                <a:tab pos="542290" algn="l"/>
              </a:tabLst>
            </a:pPr>
            <a:r>
              <a:rPr sz="1000" spc="-5" dirty="0">
                <a:latin typeface="Arial"/>
                <a:cs typeface="Arial"/>
              </a:rPr>
              <a:t>The request</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lost.</a:t>
            </a:r>
            <a:endParaRPr sz="1000">
              <a:latin typeface="Arial"/>
              <a:cs typeface="Arial"/>
            </a:endParaRPr>
          </a:p>
          <a:p>
            <a:pPr marL="541655" indent="-175895">
              <a:lnSpc>
                <a:spcPct val="100000"/>
              </a:lnSpc>
              <a:spcBef>
                <a:spcPts val="590"/>
              </a:spcBef>
              <a:buClr>
                <a:srgbClr val="3333B2"/>
              </a:buClr>
              <a:buAutoNum type="arabicPeriod"/>
              <a:tabLst>
                <a:tab pos="542290" algn="l"/>
              </a:tabLst>
            </a:pPr>
            <a:r>
              <a:rPr sz="1000" spc="-5" dirty="0">
                <a:latin typeface="Arial"/>
                <a:cs typeface="Arial"/>
              </a:rPr>
              <a:t>The server crashes</a:t>
            </a:r>
            <a:r>
              <a:rPr sz="1000" dirty="0">
                <a:latin typeface="Arial"/>
                <a:cs typeface="Arial"/>
              </a:rPr>
              <a:t> </a:t>
            </a:r>
            <a:r>
              <a:rPr sz="1000" spc="-5" dirty="0">
                <a:latin typeface="Arial"/>
                <a:cs typeface="Arial"/>
              </a:rPr>
              <a:t>after receiving</a:t>
            </a:r>
            <a:r>
              <a:rPr sz="1000" dirty="0">
                <a:latin typeface="Arial"/>
                <a:cs typeface="Arial"/>
              </a:rPr>
              <a:t> </a:t>
            </a:r>
            <a:r>
              <a:rPr sz="1000" spc="-5" dirty="0">
                <a:latin typeface="Arial"/>
                <a:cs typeface="Arial"/>
              </a:rPr>
              <a:t>a request.</a:t>
            </a:r>
            <a:endParaRPr sz="1000">
              <a:latin typeface="Arial"/>
              <a:cs typeface="Arial"/>
            </a:endParaRPr>
          </a:p>
          <a:p>
            <a:pPr marL="541655" indent="-175895">
              <a:lnSpc>
                <a:spcPct val="100000"/>
              </a:lnSpc>
              <a:spcBef>
                <a:spcPts val="595"/>
              </a:spcBef>
              <a:buClr>
                <a:srgbClr val="3333B2"/>
              </a:buClr>
              <a:buAutoNum type="arabicPeriod"/>
              <a:tabLst>
                <a:tab pos="542290" algn="l"/>
              </a:tabLst>
            </a:pPr>
            <a:r>
              <a:rPr sz="1000" spc="-5" dirty="0">
                <a:latin typeface="Arial"/>
                <a:cs typeface="Arial"/>
              </a:rPr>
              <a:t>The reply</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the client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lost.</a:t>
            </a:r>
            <a:endParaRPr sz="1000">
              <a:latin typeface="Arial"/>
              <a:cs typeface="Arial"/>
            </a:endParaRPr>
          </a:p>
          <a:p>
            <a:pPr marL="541655" indent="-175895">
              <a:lnSpc>
                <a:spcPct val="100000"/>
              </a:lnSpc>
              <a:spcBef>
                <a:spcPts val="595"/>
              </a:spcBef>
              <a:buClr>
                <a:srgbClr val="3333B2"/>
              </a:buClr>
              <a:buAutoNum type="arabicPeriod"/>
              <a:tabLst>
                <a:tab pos="542290" algn="l"/>
              </a:tabLst>
            </a:pPr>
            <a:r>
              <a:rPr sz="1000" spc="-5" dirty="0">
                <a:latin typeface="Arial"/>
                <a:cs typeface="Arial"/>
              </a:rPr>
              <a:t>The client crashes after sending</a:t>
            </a:r>
            <a:r>
              <a:rPr sz="1000" dirty="0">
                <a:latin typeface="Arial"/>
                <a:cs typeface="Arial"/>
              </a:rPr>
              <a:t> </a:t>
            </a:r>
            <a:r>
              <a:rPr sz="1000" spc="-5" dirty="0">
                <a:latin typeface="Arial"/>
                <a:cs typeface="Arial"/>
              </a:rPr>
              <a:t>a request.</a:t>
            </a:r>
            <a:endParaRPr sz="1000">
              <a:latin typeface="Arial"/>
              <a:cs typeface="Arial"/>
            </a:endParaRPr>
          </a:p>
          <a:p>
            <a:pPr>
              <a:lnSpc>
                <a:spcPct val="100000"/>
              </a:lnSpc>
              <a:spcBef>
                <a:spcPts val="15"/>
              </a:spcBef>
            </a:pPr>
            <a:endParaRPr sz="1300">
              <a:latin typeface="Arial"/>
              <a:cs typeface="Arial"/>
            </a:endParaRPr>
          </a:p>
          <a:p>
            <a:pPr marL="259715">
              <a:lnSpc>
                <a:spcPct val="100000"/>
              </a:lnSpc>
            </a:pPr>
            <a:r>
              <a:rPr sz="1200" spc="-60" dirty="0">
                <a:solidFill>
                  <a:srgbClr val="3333B2"/>
                </a:solidFill>
                <a:latin typeface="Arial"/>
                <a:cs typeface="Arial"/>
              </a:rPr>
              <a:t>Two</a:t>
            </a:r>
            <a:r>
              <a:rPr sz="1200" spc="-20" dirty="0">
                <a:solidFill>
                  <a:srgbClr val="3333B2"/>
                </a:solidFill>
                <a:latin typeface="Arial"/>
                <a:cs typeface="Arial"/>
              </a:rPr>
              <a:t> </a:t>
            </a:r>
            <a:r>
              <a:rPr sz="1200" spc="-5" dirty="0">
                <a:solidFill>
                  <a:srgbClr val="3333B2"/>
                </a:solidFill>
                <a:latin typeface="Arial"/>
                <a:cs typeface="Arial"/>
              </a:rPr>
              <a:t>“easy”</a:t>
            </a:r>
            <a:r>
              <a:rPr sz="1200" spc="-20" dirty="0">
                <a:solidFill>
                  <a:srgbClr val="3333B2"/>
                </a:solidFill>
                <a:latin typeface="Arial"/>
                <a:cs typeface="Arial"/>
              </a:rPr>
              <a:t> </a:t>
            </a:r>
            <a:r>
              <a:rPr sz="1200" spc="-5" dirty="0">
                <a:solidFill>
                  <a:srgbClr val="3333B2"/>
                </a:solidFill>
                <a:latin typeface="Arial"/>
                <a:cs typeface="Arial"/>
              </a:rPr>
              <a:t>solutions</a:t>
            </a:r>
            <a:endParaRPr sz="1200">
              <a:latin typeface="Arial"/>
              <a:cs typeface="Arial"/>
            </a:endParaRPr>
          </a:p>
          <a:p>
            <a:pPr marL="366395" marR="549275">
              <a:lnSpc>
                <a:spcPct val="149400"/>
              </a:lnSpc>
              <a:spcBef>
                <a:spcPts val="185"/>
              </a:spcBef>
            </a:pPr>
            <a:r>
              <a:rPr sz="1000" spc="-5" dirty="0">
                <a:solidFill>
                  <a:srgbClr val="3333B2"/>
                </a:solidFill>
                <a:latin typeface="Arial"/>
                <a:cs typeface="Arial"/>
              </a:rPr>
              <a:t>1:</a:t>
            </a:r>
            <a:r>
              <a:rPr sz="1000" spc="10" dirty="0">
                <a:solidFill>
                  <a:srgbClr val="3333B2"/>
                </a:solidFill>
                <a:latin typeface="Arial"/>
                <a:cs typeface="Arial"/>
              </a:rPr>
              <a:t> </a:t>
            </a:r>
            <a:r>
              <a:rPr sz="1000" spc="-5" dirty="0">
                <a:latin typeface="Arial"/>
                <a:cs typeface="Arial"/>
              </a:rPr>
              <a:t>(cannot</a:t>
            </a:r>
            <a:r>
              <a:rPr sz="1000" dirty="0">
                <a:latin typeface="Arial"/>
                <a:cs typeface="Arial"/>
              </a:rPr>
              <a:t> </a:t>
            </a:r>
            <a:r>
              <a:rPr sz="1000" spc="-5" dirty="0">
                <a:latin typeface="Arial"/>
                <a:cs typeface="Arial"/>
              </a:rPr>
              <a:t>locate</a:t>
            </a:r>
            <a:r>
              <a:rPr sz="1000" dirty="0">
                <a:latin typeface="Arial"/>
                <a:cs typeface="Arial"/>
              </a:rPr>
              <a:t> </a:t>
            </a:r>
            <a:r>
              <a:rPr sz="1000" spc="-5" dirty="0">
                <a:latin typeface="Arial"/>
                <a:cs typeface="Arial"/>
              </a:rPr>
              <a:t>server):</a:t>
            </a:r>
            <a:r>
              <a:rPr sz="1000" spc="65" dirty="0">
                <a:latin typeface="Arial"/>
                <a:cs typeface="Arial"/>
              </a:rPr>
              <a:t> </a:t>
            </a:r>
            <a:r>
              <a:rPr sz="1000" spc="-5" dirty="0">
                <a:latin typeface="Arial"/>
                <a:cs typeface="Arial"/>
              </a:rPr>
              <a:t>just</a:t>
            </a:r>
            <a:r>
              <a:rPr sz="1000" dirty="0">
                <a:latin typeface="Arial"/>
                <a:cs typeface="Arial"/>
              </a:rPr>
              <a:t> report</a:t>
            </a:r>
            <a:r>
              <a:rPr sz="1000" spc="5" dirty="0">
                <a:latin typeface="Arial"/>
                <a:cs typeface="Arial"/>
              </a:rPr>
              <a:t> </a:t>
            </a:r>
            <a:r>
              <a:rPr sz="1000" spc="-10" dirty="0">
                <a:latin typeface="Arial"/>
                <a:cs typeface="Arial"/>
              </a:rPr>
              <a:t>back</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client </a:t>
            </a:r>
            <a:r>
              <a:rPr sz="1000" spc="-265" dirty="0">
                <a:latin typeface="Arial"/>
                <a:cs typeface="Arial"/>
              </a:rPr>
              <a:t> </a:t>
            </a:r>
            <a:r>
              <a:rPr sz="1000" spc="-5" dirty="0">
                <a:solidFill>
                  <a:srgbClr val="3333B2"/>
                </a:solidFill>
                <a:latin typeface="Arial"/>
                <a:cs typeface="Arial"/>
              </a:rPr>
              <a:t>2:</a:t>
            </a:r>
            <a:r>
              <a:rPr sz="1000" dirty="0">
                <a:solidFill>
                  <a:srgbClr val="3333B2"/>
                </a:solidFill>
                <a:latin typeface="Arial"/>
                <a:cs typeface="Arial"/>
              </a:rPr>
              <a:t> </a:t>
            </a:r>
            <a:r>
              <a:rPr sz="1000" spc="-5" dirty="0">
                <a:latin typeface="Arial"/>
                <a:cs typeface="Arial"/>
              </a:rPr>
              <a:t>(request </a:t>
            </a:r>
            <a:r>
              <a:rPr sz="1000" spc="-10" dirty="0">
                <a:latin typeface="Arial"/>
                <a:cs typeface="Arial"/>
              </a:rPr>
              <a:t>was</a:t>
            </a:r>
            <a:r>
              <a:rPr sz="1000" spc="-5" dirty="0">
                <a:latin typeface="Arial"/>
                <a:cs typeface="Arial"/>
              </a:rPr>
              <a:t> lost):</a:t>
            </a:r>
            <a:r>
              <a:rPr sz="1000" spc="60" dirty="0">
                <a:latin typeface="Arial"/>
                <a:cs typeface="Arial"/>
              </a:rPr>
              <a:t> </a:t>
            </a:r>
            <a:r>
              <a:rPr sz="1000" spc="-5" dirty="0">
                <a:latin typeface="Arial"/>
                <a:cs typeface="Arial"/>
              </a:rPr>
              <a:t>just resend message</a:t>
            </a:r>
            <a:endParaRPr sz="1000">
              <a:latin typeface="Arial"/>
              <a:cs typeface="Arial"/>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8224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0" dirty="0">
                <a:solidFill>
                  <a:srgbClr val="3333B2"/>
                </a:solidFill>
                <a:latin typeface="Arial"/>
                <a:cs typeface="Arial"/>
              </a:rPr>
              <a:t> </a:t>
            </a:r>
            <a:r>
              <a:rPr sz="600" spc="-5" dirty="0">
                <a:solidFill>
                  <a:srgbClr val="3333B2"/>
                </a:solidFill>
                <a:latin typeface="Arial"/>
                <a:cs typeface="Arial"/>
                <a:hlinkClick r:id="rId4" action="ppaction://hlinksldjump"/>
              </a:rPr>
              <a:t>Reliable</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client-server</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04776" y="716"/>
            <a:ext cx="14370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RPC semantics in</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the presence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 failures</a:t>
            </a:r>
            <a:endParaRPr sz="600">
              <a:latin typeface="Arial"/>
              <a:cs typeface="Arial"/>
            </a:endParaRPr>
          </a:p>
        </p:txBody>
      </p:sp>
      <p:sp>
        <p:nvSpPr>
          <p:cNvPr id="4" name="object 4"/>
          <p:cNvSpPr txBox="1"/>
          <p:nvPr/>
        </p:nvSpPr>
        <p:spPr>
          <a:xfrm>
            <a:off x="95300" y="188846"/>
            <a:ext cx="221805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Reliable</a:t>
            </a:r>
            <a:r>
              <a:rPr sz="1400" spc="-15" dirty="0">
                <a:solidFill>
                  <a:srgbClr val="3333B2"/>
                </a:solidFill>
                <a:latin typeface="Arial"/>
                <a:cs typeface="Arial"/>
              </a:rPr>
              <a:t> </a:t>
            </a:r>
            <a:r>
              <a:rPr sz="1400" spc="20" dirty="0">
                <a:solidFill>
                  <a:srgbClr val="3333B2"/>
                </a:solidFill>
                <a:latin typeface="Arial"/>
                <a:cs typeface="Arial"/>
              </a:rPr>
              <a:t>RPC:</a:t>
            </a:r>
            <a:r>
              <a:rPr sz="1400" spc="-15" dirty="0">
                <a:solidFill>
                  <a:srgbClr val="3333B2"/>
                </a:solidFill>
                <a:latin typeface="Arial"/>
                <a:cs typeface="Arial"/>
              </a:rPr>
              <a:t> </a:t>
            </a:r>
            <a:r>
              <a:rPr sz="1400" spc="15" dirty="0">
                <a:solidFill>
                  <a:srgbClr val="3333B2"/>
                </a:solidFill>
                <a:latin typeface="Arial"/>
                <a:cs typeface="Arial"/>
              </a:rPr>
              <a:t>server</a:t>
            </a:r>
            <a:r>
              <a:rPr sz="1400" spc="-10" dirty="0">
                <a:solidFill>
                  <a:srgbClr val="3333B2"/>
                </a:solidFill>
                <a:latin typeface="Arial"/>
                <a:cs typeface="Arial"/>
              </a:rPr>
              <a:t> </a:t>
            </a:r>
            <a:r>
              <a:rPr sz="1400" spc="10" dirty="0">
                <a:solidFill>
                  <a:srgbClr val="3333B2"/>
                </a:solidFill>
                <a:latin typeface="Arial"/>
                <a:cs typeface="Arial"/>
              </a:rPr>
              <a:t>crash</a:t>
            </a:r>
            <a:endParaRPr sz="1400">
              <a:latin typeface="Arial"/>
              <a:cs typeface="Arial"/>
            </a:endParaRPr>
          </a:p>
        </p:txBody>
      </p:sp>
      <p:sp>
        <p:nvSpPr>
          <p:cNvPr id="5" name="object 5"/>
          <p:cNvSpPr txBox="1"/>
          <p:nvPr/>
        </p:nvSpPr>
        <p:spPr>
          <a:xfrm>
            <a:off x="1014394" y="737630"/>
            <a:ext cx="330200" cy="384175"/>
          </a:xfrm>
          <a:prstGeom prst="rect">
            <a:avLst/>
          </a:prstGeom>
        </p:spPr>
        <p:txBody>
          <a:bodyPr vert="horz" wrap="square" lIns="0" tIns="12065" rIns="0" bIns="0" rtlCol="0">
            <a:spAutoFit/>
          </a:bodyPr>
          <a:lstStyle/>
          <a:p>
            <a:pPr marL="12700" marR="5080" algn="just">
              <a:lnSpc>
                <a:spcPct val="120700"/>
              </a:lnSpc>
              <a:spcBef>
                <a:spcPts val="95"/>
              </a:spcBef>
            </a:pPr>
            <a:r>
              <a:rPr sz="650" spc="5" dirty="0">
                <a:solidFill>
                  <a:srgbClr val="231F20"/>
                </a:solidFill>
                <a:latin typeface="Arial"/>
                <a:cs typeface="Arial"/>
              </a:rPr>
              <a:t>Receive  Execute  Reply</a:t>
            </a:r>
            <a:endParaRPr sz="650">
              <a:latin typeface="Arial"/>
              <a:cs typeface="Arial"/>
            </a:endParaRPr>
          </a:p>
        </p:txBody>
      </p:sp>
      <p:grpSp>
        <p:nvGrpSpPr>
          <p:cNvPr id="6" name="object 6"/>
          <p:cNvGrpSpPr/>
          <p:nvPr/>
        </p:nvGrpSpPr>
        <p:grpSpPr>
          <a:xfrm>
            <a:off x="644353" y="730834"/>
            <a:ext cx="744220" cy="424180"/>
            <a:chOff x="644353" y="730834"/>
            <a:chExt cx="744220" cy="424180"/>
          </a:xfrm>
        </p:grpSpPr>
        <p:sp>
          <p:nvSpPr>
            <p:cNvPr id="7" name="object 7"/>
            <p:cNvSpPr/>
            <p:nvPr/>
          </p:nvSpPr>
          <p:spPr>
            <a:xfrm>
              <a:off x="644353" y="733469"/>
              <a:ext cx="741680" cy="418465"/>
            </a:xfrm>
            <a:custGeom>
              <a:avLst/>
              <a:gdLst/>
              <a:ahLst/>
              <a:cxnLst/>
              <a:rect l="l" t="t" r="r" b="b"/>
              <a:pathLst>
                <a:path w="741680" h="418465">
                  <a:moveTo>
                    <a:pt x="322978" y="418317"/>
                  </a:moveTo>
                  <a:lnTo>
                    <a:pt x="741300" y="418317"/>
                  </a:lnTo>
                  <a:lnTo>
                    <a:pt x="741300" y="0"/>
                  </a:lnTo>
                  <a:lnTo>
                    <a:pt x="322978" y="0"/>
                  </a:lnTo>
                  <a:lnTo>
                    <a:pt x="322978" y="418317"/>
                  </a:lnTo>
                  <a:close/>
                </a:path>
                <a:path w="741680" h="418465">
                  <a:moveTo>
                    <a:pt x="0" y="59759"/>
                  </a:moveTo>
                  <a:lnTo>
                    <a:pt x="283804" y="59759"/>
                  </a:lnTo>
                </a:path>
              </a:pathLst>
            </a:custGeom>
            <a:ln w="5270">
              <a:solidFill>
                <a:srgbClr val="231F20"/>
              </a:solidFill>
            </a:ln>
          </p:spPr>
          <p:txBody>
            <a:bodyPr wrap="square" lIns="0" tIns="0" rIns="0" bIns="0" rtlCol="0"/>
            <a:lstStyle/>
            <a:p>
              <a:endParaRPr/>
            </a:p>
          </p:txBody>
        </p:sp>
        <p:pic>
          <p:nvPicPr>
            <p:cNvPr id="8" name="object 8"/>
            <p:cNvPicPr/>
            <p:nvPr/>
          </p:nvPicPr>
          <p:blipFill>
            <a:blip r:embed="rId5" cstate="print"/>
            <a:stretch>
              <a:fillRect/>
            </a:stretch>
          </p:blipFill>
          <p:spPr>
            <a:xfrm>
              <a:off x="891160" y="761349"/>
              <a:ext cx="74376" cy="63753"/>
            </a:xfrm>
            <a:prstGeom prst="rect">
              <a:avLst/>
            </a:prstGeom>
          </p:spPr>
        </p:pic>
        <p:sp>
          <p:nvSpPr>
            <p:cNvPr id="9" name="object 9"/>
            <p:cNvSpPr/>
            <p:nvPr/>
          </p:nvSpPr>
          <p:spPr>
            <a:xfrm>
              <a:off x="683532" y="1092024"/>
              <a:ext cx="283845" cy="0"/>
            </a:xfrm>
            <a:custGeom>
              <a:avLst/>
              <a:gdLst/>
              <a:ahLst/>
              <a:cxnLst/>
              <a:rect l="l" t="t" r="r" b="b"/>
              <a:pathLst>
                <a:path w="283844">
                  <a:moveTo>
                    <a:pt x="283800" y="0"/>
                  </a:moveTo>
                  <a:lnTo>
                    <a:pt x="0" y="0"/>
                  </a:lnTo>
                </a:path>
              </a:pathLst>
            </a:custGeom>
            <a:ln w="5270">
              <a:solidFill>
                <a:srgbClr val="231F20"/>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646152" y="1060150"/>
              <a:ext cx="74375" cy="63752"/>
            </a:xfrm>
            <a:prstGeom prst="rect">
              <a:avLst/>
            </a:prstGeom>
          </p:spPr>
        </p:pic>
      </p:grpSp>
      <p:sp>
        <p:nvSpPr>
          <p:cNvPr id="11" name="object 11"/>
          <p:cNvSpPr txBox="1"/>
          <p:nvPr/>
        </p:nvSpPr>
        <p:spPr>
          <a:xfrm>
            <a:off x="685713" y="651378"/>
            <a:ext cx="208279"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REQ</a:t>
            </a:r>
            <a:endParaRPr sz="650">
              <a:latin typeface="Arial"/>
              <a:cs typeface="Arial"/>
            </a:endParaRPr>
          </a:p>
        </p:txBody>
      </p:sp>
      <p:sp>
        <p:nvSpPr>
          <p:cNvPr id="12" name="object 12"/>
          <p:cNvSpPr txBox="1"/>
          <p:nvPr/>
        </p:nvSpPr>
        <p:spPr>
          <a:xfrm>
            <a:off x="695286" y="950182"/>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a:t>
            </a:r>
            <a:endParaRPr sz="650">
              <a:latin typeface="Arial"/>
              <a:cs typeface="Arial"/>
            </a:endParaRPr>
          </a:p>
        </p:txBody>
      </p:sp>
      <p:sp>
        <p:nvSpPr>
          <p:cNvPr id="13" name="object 13"/>
          <p:cNvSpPr txBox="1"/>
          <p:nvPr/>
        </p:nvSpPr>
        <p:spPr>
          <a:xfrm>
            <a:off x="1044271" y="606558"/>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14" name="object 14"/>
          <p:cNvSpPr txBox="1"/>
          <p:nvPr/>
        </p:nvSpPr>
        <p:spPr>
          <a:xfrm>
            <a:off x="2299625" y="739298"/>
            <a:ext cx="330200" cy="264795"/>
          </a:xfrm>
          <a:prstGeom prst="rect">
            <a:avLst/>
          </a:prstGeom>
        </p:spPr>
        <p:txBody>
          <a:bodyPr vert="horz" wrap="square" lIns="0" tIns="12065" rIns="0" bIns="0" rtlCol="0">
            <a:spAutoFit/>
          </a:bodyPr>
          <a:lstStyle/>
          <a:p>
            <a:pPr marL="12700" marR="5080">
              <a:lnSpc>
                <a:spcPct val="120700"/>
              </a:lnSpc>
              <a:spcBef>
                <a:spcPts val="95"/>
              </a:spcBef>
            </a:pPr>
            <a:r>
              <a:rPr sz="650" spc="5" dirty="0">
                <a:solidFill>
                  <a:srgbClr val="231F20"/>
                </a:solidFill>
                <a:latin typeface="Arial"/>
                <a:cs typeface="Arial"/>
              </a:rPr>
              <a:t>Receive  Execute</a:t>
            </a:r>
            <a:endParaRPr sz="650">
              <a:latin typeface="Arial"/>
              <a:cs typeface="Arial"/>
            </a:endParaRPr>
          </a:p>
        </p:txBody>
      </p:sp>
      <p:sp>
        <p:nvSpPr>
          <p:cNvPr id="15" name="object 15"/>
          <p:cNvSpPr txBox="1"/>
          <p:nvPr/>
        </p:nvSpPr>
        <p:spPr>
          <a:xfrm>
            <a:off x="2297383" y="1017327"/>
            <a:ext cx="254000" cy="90170"/>
          </a:xfrm>
          <a:prstGeom prst="rect">
            <a:avLst/>
          </a:prstGeom>
          <a:ln w="5270">
            <a:solidFill>
              <a:srgbClr val="231F20"/>
            </a:solidFill>
          </a:ln>
        </p:spPr>
        <p:txBody>
          <a:bodyPr vert="horz" wrap="square" lIns="0" tIns="0" rIns="0" bIns="0" rtlCol="0">
            <a:spAutoFit/>
          </a:bodyPr>
          <a:lstStyle/>
          <a:p>
            <a:pPr marL="14604">
              <a:lnSpc>
                <a:spcPts val="705"/>
              </a:lnSpc>
            </a:pPr>
            <a:r>
              <a:rPr sz="650" spc="5" dirty="0">
                <a:solidFill>
                  <a:srgbClr val="231F20"/>
                </a:solidFill>
                <a:latin typeface="Arial"/>
                <a:cs typeface="Arial"/>
              </a:rPr>
              <a:t>Crash</a:t>
            </a:r>
            <a:endParaRPr sz="650">
              <a:latin typeface="Arial"/>
              <a:cs typeface="Arial"/>
            </a:endParaRPr>
          </a:p>
        </p:txBody>
      </p:sp>
      <p:grpSp>
        <p:nvGrpSpPr>
          <p:cNvPr id="16" name="object 16"/>
          <p:cNvGrpSpPr/>
          <p:nvPr/>
        </p:nvGrpSpPr>
        <p:grpSpPr>
          <a:xfrm>
            <a:off x="1925878" y="732505"/>
            <a:ext cx="748030" cy="424180"/>
            <a:chOff x="1925878" y="732505"/>
            <a:chExt cx="748030" cy="424180"/>
          </a:xfrm>
        </p:grpSpPr>
        <p:sp>
          <p:nvSpPr>
            <p:cNvPr id="17" name="object 17"/>
            <p:cNvSpPr/>
            <p:nvPr/>
          </p:nvSpPr>
          <p:spPr>
            <a:xfrm>
              <a:off x="1925878" y="735141"/>
              <a:ext cx="745490" cy="418465"/>
            </a:xfrm>
            <a:custGeom>
              <a:avLst/>
              <a:gdLst/>
              <a:ahLst/>
              <a:cxnLst/>
              <a:rect l="l" t="t" r="r" b="b"/>
              <a:pathLst>
                <a:path w="745489" h="418465">
                  <a:moveTo>
                    <a:pt x="326697" y="418317"/>
                  </a:moveTo>
                  <a:lnTo>
                    <a:pt x="745010" y="418317"/>
                  </a:lnTo>
                  <a:lnTo>
                    <a:pt x="745010" y="0"/>
                  </a:lnTo>
                  <a:lnTo>
                    <a:pt x="326697" y="0"/>
                  </a:lnTo>
                  <a:lnTo>
                    <a:pt x="326697" y="418317"/>
                  </a:lnTo>
                  <a:close/>
                </a:path>
                <a:path w="745489" h="418465">
                  <a:moveTo>
                    <a:pt x="0" y="59759"/>
                  </a:moveTo>
                  <a:lnTo>
                    <a:pt x="283799" y="59759"/>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7" cstate="print"/>
            <a:stretch>
              <a:fillRect/>
            </a:stretch>
          </p:blipFill>
          <p:spPr>
            <a:xfrm>
              <a:off x="2172682" y="763021"/>
              <a:ext cx="74375" cy="63753"/>
            </a:xfrm>
            <a:prstGeom prst="rect">
              <a:avLst/>
            </a:prstGeom>
          </p:spPr>
        </p:pic>
        <p:sp>
          <p:nvSpPr>
            <p:cNvPr id="19" name="object 19"/>
            <p:cNvSpPr/>
            <p:nvPr/>
          </p:nvSpPr>
          <p:spPr>
            <a:xfrm>
              <a:off x="1968771" y="1093700"/>
              <a:ext cx="283845" cy="0"/>
            </a:xfrm>
            <a:custGeom>
              <a:avLst/>
              <a:gdLst/>
              <a:ahLst/>
              <a:cxnLst/>
              <a:rect l="l" t="t" r="r" b="b"/>
              <a:pathLst>
                <a:path w="283844">
                  <a:moveTo>
                    <a:pt x="283804" y="0"/>
                  </a:moveTo>
                  <a:lnTo>
                    <a:pt x="0" y="0"/>
                  </a:lnTo>
                </a:path>
              </a:pathLst>
            </a:custGeom>
            <a:ln w="5270">
              <a:solidFill>
                <a:srgbClr val="231F20"/>
              </a:solidFill>
              <a:prstDash val="lgDash"/>
            </a:ln>
          </p:spPr>
          <p:txBody>
            <a:bodyPr wrap="square" lIns="0" tIns="0" rIns="0" bIns="0" rtlCol="0"/>
            <a:lstStyle/>
            <a:p>
              <a:endParaRPr/>
            </a:p>
          </p:txBody>
        </p:sp>
        <p:pic>
          <p:nvPicPr>
            <p:cNvPr id="20" name="object 20"/>
            <p:cNvPicPr/>
            <p:nvPr/>
          </p:nvPicPr>
          <p:blipFill>
            <a:blip r:embed="rId8" cstate="print"/>
            <a:stretch>
              <a:fillRect/>
            </a:stretch>
          </p:blipFill>
          <p:spPr>
            <a:xfrm>
              <a:off x="1931392" y="1061822"/>
              <a:ext cx="74375" cy="63752"/>
            </a:xfrm>
            <a:prstGeom prst="rect">
              <a:avLst/>
            </a:prstGeom>
          </p:spPr>
        </p:pic>
      </p:grpSp>
      <p:sp>
        <p:nvSpPr>
          <p:cNvPr id="21" name="object 21"/>
          <p:cNvSpPr txBox="1"/>
          <p:nvPr/>
        </p:nvSpPr>
        <p:spPr>
          <a:xfrm>
            <a:off x="1970948" y="651378"/>
            <a:ext cx="208279"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REQ</a:t>
            </a:r>
            <a:endParaRPr sz="650">
              <a:latin typeface="Arial"/>
              <a:cs typeface="Arial"/>
            </a:endParaRPr>
          </a:p>
        </p:txBody>
      </p:sp>
      <p:sp>
        <p:nvSpPr>
          <p:cNvPr id="22" name="object 22"/>
          <p:cNvSpPr txBox="1"/>
          <p:nvPr/>
        </p:nvSpPr>
        <p:spPr>
          <a:xfrm>
            <a:off x="1836488" y="950182"/>
            <a:ext cx="3302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No REP</a:t>
            </a:r>
            <a:endParaRPr sz="650">
              <a:latin typeface="Arial"/>
              <a:cs typeface="Arial"/>
            </a:endParaRPr>
          </a:p>
        </p:txBody>
      </p:sp>
      <p:sp>
        <p:nvSpPr>
          <p:cNvPr id="23" name="object 23"/>
          <p:cNvSpPr txBox="1"/>
          <p:nvPr/>
        </p:nvSpPr>
        <p:spPr>
          <a:xfrm>
            <a:off x="2329511" y="606558"/>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24" name="object 24"/>
          <p:cNvSpPr txBox="1"/>
          <p:nvPr/>
        </p:nvSpPr>
        <p:spPr>
          <a:xfrm>
            <a:off x="3584877" y="759304"/>
            <a:ext cx="3302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Receive</a:t>
            </a:r>
            <a:endParaRPr sz="650">
              <a:latin typeface="Arial"/>
              <a:cs typeface="Arial"/>
            </a:endParaRPr>
          </a:p>
        </p:txBody>
      </p:sp>
      <p:sp>
        <p:nvSpPr>
          <p:cNvPr id="25" name="object 25"/>
          <p:cNvSpPr txBox="1"/>
          <p:nvPr/>
        </p:nvSpPr>
        <p:spPr>
          <a:xfrm>
            <a:off x="3582635" y="897806"/>
            <a:ext cx="254000" cy="90170"/>
          </a:xfrm>
          <a:prstGeom prst="rect">
            <a:avLst/>
          </a:prstGeom>
          <a:ln w="5270">
            <a:solidFill>
              <a:srgbClr val="231F20"/>
            </a:solidFill>
          </a:ln>
        </p:spPr>
        <p:txBody>
          <a:bodyPr vert="horz" wrap="square" lIns="0" tIns="0" rIns="0" bIns="0" rtlCol="0">
            <a:spAutoFit/>
          </a:bodyPr>
          <a:lstStyle/>
          <a:p>
            <a:pPr marL="14604">
              <a:lnSpc>
                <a:spcPts val="705"/>
              </a:lnSpc>
            </a:pPr>
            <a:r>
              <a:rPr sz="650" spc="5" dirty="0">
                <a:solidFill>
                  <a:srgbClr val="231F20"/>
                </a:solidFill>
                <a:latin typeface="Arial"/>
                <a:cs typeface="Arial"/>
              </a:rPr>
              <a:t>Crash</a:t>
            </a:r>
            <a:endParaRPr sz="650">
              <a:latin typeface="Arial"/>
              <a:cs typeface="Arial"/>
            </a:endParaRPr>
          </a:p>
        </p:txBody>
      </p:sp>
      <p:grpSp>
        <p:nvGrpSpPr>
          <p:cNvPr id="26" name="object 26"/>
          <p:cNvGrpSpPr/>
          <p:nvPr/>
        </p:nvGrpSpPr>
        <p:grpSpPr>
          <a:xfrm>
            <a:off x="3216635" y="734181"/>
            <a:ext cx="742315" cy="424180"/>
            <a:chOff x="3216635" y="734181"/>
            <a:chExt cx="742315" cy="424180"/>
          </a:xfrm>
        </p:grpSpPr>
        <p:sp>
          <p:nvSpPr>
            <p:cNvPr id="27" name="object 27"/>
            <p:cNvSpPr/>
            <p:nvPr/>
          </p:nvSpPr>
          <p:spPr>
            <a:xfrm>
              <a:off x="3219271" y="736817"/>
              <a:ext cx="737235" cy="418465"/>
            </a:xfrm>
            <a:custGeom>
              <a:avLst/>
              <a:gdLst/>
              <a:ahLst/>
              <a:cxnLst/>
              <a:rect l="l" t="t" r="r" b="b"/>
              <a:pathLst>
                <a:path w="737235" h="418465">
                  <a:moveTo>
                    <a:pt x="318544" y="418317"/>
                  </a:moveTo>
                  <a:lnTo>
                    <a:pt x="736865" y="418317"/>
                  </a:lnTo>
                  <a:lnTo>
                    <a:pt x="736865" y="0"/>
                  </a:lnTo>
                  <a:lnTo>
                    <a:pt x="318544" y="0"/>
                  </a:lnTo>
                  <a:lnTo>
                    <a:pt x="318544" y="418317"/>
                  </a:lnTo>
                  <a:close/>
                </a:path>
                <a:path w="737235" h="418465">
                  <a:moveTo>
                    <a:pt x="0" y="59758"/>
                  </a:moveTo>
                  <a:lnTo>
                    <a:pt x="283799" y="59758"/>
                  </a:lnTo>
                </a:path>
              </a:pathLst>
            </a:custGeom>
            <a:ln w="5270">
              <a:solidFill>
                <a:srgbClr val="231F20"/>
              </a:solidFill>
            </a:ln>
          </p:spPr>
          <p:txBody>
            <a:bodyPr wrap="square" lIns="0" tIns="0" rIns="0" bIns="0" rtlCol="0"/>
            <a:lstStyle/>
            <a:p>
              <a:endParaRPr/>
            </a:p>
          </p:txBody>
        </p:sp>
        <p:pic>
          <p:nvPicPr>
            <p:cNvPr id="28" name="object 28"/>
            <p:cNvPicPr/>
            <p:nvPr/>
          </p:nvPicPr>
          <p:blipFill>
            <a:blip r:embed="rId9" cstate="print"/>
            <a:stretch>
              <a:fillRect/>
            </a:stretch>
          </p:blipFill>
          <p:spPr>
            <a:xfrm>
              <a:off x="3466074" y="764701"/>
              <a:ext cx="74376" cy="63748"/>
            </a:xfrm>
            <a:prstGeom prst="rect">
              <a:avLst/>
            </a:prstGeom>
          </p:spPr>
        </p:pic>
        <p:sp>
          <p:nvSpPr>
            <p:cNvPr id="29" name="object 29"/>
            <p:cNvSpPr/>
            <p:nvPr/>
          </p:nvSpPr>
          <p:spPr>
            <a:xfrm>
              <a:off x="3254015" y="1094301"/>
              <a:ext cx="283845" cy="0"/>
            </a:xfrm>
            <a:custGeom>
              <a:avLst/>
              <a:gdLst/>
              <a:ahLst/>
              <a:cxnLst/>
              <a:rect l="l" t="t" r="r" b="b"/>
              <a:pathLst>
                <a:path w="283845">
                  <a:moveTo>
                    <a:pt x="283799" y="0"/>
                  </a:moveTo>
                  <a:lnTo>
                    <a:pt x="0" y="0"/>
                  </a:lnTo>
                </a:path>
              </a:pathLst>
            </a:custGeom>
            <a:ln w="5270">
              <a:solidFill>
                <a:srgbClr val="231F20"/>
              </a:solidFill>
              <a:prstDash val="lgDash"/>
            </a:ln>
          </p:spPr>
          <p:txBody>
            <a:bodyPr wrap="square" lIns="0" tIns="0" rIns="0" bIns="0" rtlCol="0"/>
            <a:lstStyle/>
            <a:p>
              <a:endParaRPr/>
            </a:p>
          </p:txBody>
        </p:sp>
        <p:pic>
          <p:nvPicPr>
            <p:cNvPr id="30" name="object 30"/>
            <p:cNvPicPr/>
            <p:nvPr/>
          </p:nvPicPr>
          <p:blipFill>
            <a:blip r:embed="rId10" cstate="print"/>
            <a:stretch>
              <a:fillRect/>
            </a:stretch>
          </p:blipFill>
          <p:spPr>
            <a:xfrm>
              <a:off x="3216635" y="1062423"/>
              <a:ext cx="74379" cy="63752"/>
            </a:xfrm>
            <a:prstGeom prst="rect">
              <a:avLst/>
            </a:prstGeom>
          </p:spPr>
        </p:pic>
      </p:grpSp>
      <p:sp>
        <p:nvSpPr>
          <p:cNvPr id="31" name="object 31"/>
          <p:cNvSpPr txBox="1"/>
          <p:nvPr/>
        </p:nvSpPr>
        <p:spPr>
          <a:xfrm>
            <a:off x="3256200" y="651378"/>
            <a:ext cx="208279"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REQ</a:t>
            </a:r>
            <a:endParaRPr sz="650">
              <a:latin typeface="Arial"/>
              <a:cs typeface="Arial"/>
            </a:endParaRPr>
          </a:p>
        </p:txBody>
      </p:sp>
      <p:sp>
        <p:nvSpPr>
          <p:cNvPr id="35" name="object 35"/>
          <p:cNvSpPr txBox="1"/>
          <p:nvPr/>
        </p:nvSpPr>
        <p:spPr>
          <a:xfrm>
            <a:off x="66713" y="3331252"/>
            <a:ext cx="535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1" action="ppaction://hlinksldjump"/>
              </a:rPr>
              <a:t>Se</a:t>
            </a:r>
            <a:r>
              <a:rPr sz="600" spc="10" dirty="0">
                <a:solidFill>
                  <a:srgbClr val="3333B2"/>
                </a:solidFill>
                <a:latin typeface="Arial"/>
                <a:cs typeface="Arial"/>
                <a:hlinkClick r:id="rId11" action="ppaction://hlinksldjump"/>
              </a:rPr>
              <a:t>r</a:t>
            </a:r>
            <a:r>
              <a:rPr sz="600" spc="-20" dirty="0">
                <a:solidFill>
                  <a:srgbClr val="3333B2"/>
                </a:solidFill>
                <a:latin typeface="Arial"/>
                <a:cs typeface="Arial"/>
                <a:hlinkClick r:id="rId11" action="ppaction://hlinksldjump"/>
              </a:rPr>
              <a:t>v</a:t>
            </a:r>
            <a:r>
              <a:rPr sz="600" spc="-5" dirty="0">
                <a:solidFill>
                  <a:srgbClr val="3333B2"/>
                </a:solidFill>
                <a:latin typeface="Arial"/>
                <a:cs typeface="Arial"/>
                <a:hlinkClick r:id="rId11" action="ppaction://hlinksldjump"/>
              </a:rPr>
              <a:t>er c</a:t>
            </a:r>
            <a:r>
              <a:rPr sz="600" spc="-15" dirty="0">
                <a:solidFill>
                  <a:srgbClr val="3333B2"/>
                </a:solidFill>
                <a:latin typeface="Arial"/>
                <a:cs typeface="Arial"/>
                <a:hlinkClick r:id="rId11" action="ppaction://hlinksldjump"/>
              </a:rPr>
              <a:t>r</a:t>
            </a:r>
            <a:r>
              <a:rPr sz="600" spc="-5" dirty="0">
                <a:solidFill>
                  <a:srgbClr val="3333B2"/>
                </a:solidFill>
                <a:latin typeface="Arial"/>
                <a:cs typeface="Arial"/>
                <a:hlinkClick r:id="rId11" action="ppaction://hlinksldjump"/>
              </a:rPr>
              <a:t>ashes</a:t>
            </a:r>
            <a:endParaRPr sz="600">
              <a:latin typeface="Arial"/>
              <a:cs typeface="Arial"/>
            </a:endParaRPr>
          </a:p>
        </p:txBody>
      </p:sp>
      <p:sp>
        <p:nvSpPr>
          <p:cNvPr id="36" name="object 3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43</a:t>
            </a:r>
            <a:r>
              <a:rPr spc="-40" dirty="0"/>
              <a:t> </a:t>
            </a:r>
            <a:r>
              <a:rPr spc="-5" dirty="0"/>
              <a:t>/</a:t>
            </a:r>
            <a:r>
              <a:rPr spc="-35" dirty="0"/>
              <a:t> </a:t>
            </a:r>
            <a:r>
              <a:rPr spc="-5" dirty="0"/>
              <a:t>68</a:t>
            </a:r>
          </a:p>
        </p:txBody>
      </p:sp>
      <p:sp>
        <p:nvSpPr>
          <p:cNvPr id="32" name="object 32"/>
          <p:cNvSpPr txBox="1"/>
          <p:nvPr/>
        </p:nvSpPr>
        <p:spPr>
          <a:xfrm>
            <a:off x="3121740" y="950783"/>
            <a:ext cx="3302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No REP</a:t>
            </a:r>
            <a:endParaRPr sz="650">
              <a:latin typeface="Arial"/>
              <a:cs typeface="Arial"/>
            </a:endParaRPr>
          </a:p>
        </p:txBody>
      </p:sp>
      <p:sp>
        <p:nvSpPr>
          <p:cNvPr id="33" name="object 33"/>
          <p:cNvSpPr txBox="1"/>
          <p:nvPr/>
        </p:nvSpPr>
        <p:spPr>
          <a:xfrm>
            <a:off x="3614759" y="606558"/>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34" name="object 34"/>
          <p:cNvSpPr txBox="1"/>
          <p:nvPr/>
        </p:nvSpPr>
        <p:spPr>
          <a:xfrm>
            <a:off x="303250" y="1383225"/>
            <a:ext cx="3950335" cy="1605915"/>
          </a:xfrm>
          <a:prstGeom prst="rect">
            <a:avLst/>
          </a:prstGeom>
        </p:spPr>
        <p:txBody>
          <a:bodyPr vert="horz" wrap="square" lIns="0" tIns="12065" rIns="0" bIns="0" rtlCol="0">
            <a:spAutoFit/>
          </a:bodyPr>
          <a:lstStyle/>
          <a:p>
            <a:pPr marL="635000">
              <a:lnSpc>
                <a:spcPct val="100000"/>
              </a:lnSpc>
              <a:spcBef>
                <a:spcPts val="95"/>
              </a:spcBef>
              <a:tabLst>
                <a:tab pos="1880870" algn="l"/>
                <a:tab pos="3172460" algn="l"/>
              </a:tabLst>
            </a:pPr>
            <a:r>
              <a:rPr sz="1000" spc="-5" dirty="0">
                <a:latin typeface="Arial"/>
                <a:cs typeface="Arial"/>
              </a:rPr>
              <a:t>(a)	(b)	(c)</a:t>
            </a:r>
            <a:endParaRPr sz="1000">
              <a:latin typeface="Arial"/>
              <a:cs typeface="Arial"/>
            </a:endParaRPr>
          </a:p>
          <a:p>
            <a:pPr>
              <a:lnSpc>
                <a:spcPct val="100000"/>
              </a:lnSpc>
              <a:spcBef>
                <a:spcPts val="50"/>
              </a:spcBef>
            </a:pPr>
            <a:endParaRPr sz="1250">
              <a:latin typeface="Arial"/>
              <a:cs typeface="Arial"/>
            </a:endParaRPr>
          </a:p>
          <a:p>
            <a:pPr marL="56515">
              <a:lnSpc>
                <a:spcPts val="1410"/>
              </a:lnSpc>
            </a:pPr>
            <a:r>
              <a:rPr sz="1200" spc="-10" dirty="0">
                <a:solidFill>
                  <a:srgbClr val="3333B2"/>
                </a:solidFill>
                <a:latin typeface="Arial"/>
                <a:cs typeface="Arial"/>
              </a:rPr>
              <a:t>Problem</a:t>
            </a:r>
            <a:endParaRPr sz="1200">
              <a:latin typeface="Arial"/>
              <a:cs typeface="Arial"/>
            </a:endParaRPr>
          </a:p>
          <a:p>
            <a:pPr marL="56515" marR="43180" indent="-6350">
              <a:lnSpc>
                <a:spcPts val="1200"/>
              </a:lnSpc>
              <a:spcBef>
                <a:spcPts val="15"/>
              </a:spcBef>
            </a:pPr>
            <a:r>
              <a:rPr sz="1000" spc="-5" dirty="0">
                <a:latin typeface="Arial"/>
                <a:cs typeface="Arial"/>
              </a:rPr>
              <a:t>Where (a)</a:t>
            </a:r>
            <a:r>
              <a:rPr sz="1000" dirty="0">
                <a:latin typeface="Arial"/>
                <a:cs typeface="Arial"/>
              </a:rPr>
              <a:t> </a:t>
            </a:r>
            <a:r>
              <a:rPr sz="1000" spc="-5" dirty="0">
                <a:latin typeface="Arial"/>
                <a:cs typeface="Arial"/>
              </a:rPr>
              <a:t>is the</a:t>
            </a:r>
            <a:r>
              <a:rPr sz="1000" dirty="0">
                <a:latin typeface="Arial"/>
                <a:cs typeface="Arial"/>
              </a:rPr>
              <a:t> normal</a:t>
            </a:r>
            <a:r>
              <a:rPr sz="1000" spc="-5" dirty="0">
                <a:latin typeface="Arial"/>
                <a:cs typeface="Arial"/>
              </a:rPr>
              <a:t> case,</a:t>
            </a:r>
            <a:r>
              <a:rPr sz="1000" dirty="0">
                <a:latin typeface="Arial"/>
                <a:cs typeface="Arial"/>
              </a:rPr>
              <a:t> </a:t>
            </a:r>
            <a:r>
              <a:rPr sz="1000" spc="-5" dirty="0">
                <a:latin typeface="Arial"/>
                <a:cs typeface="Arial"/>
              </a:rPr>
              <a:t>situations (b)</a:t>
            </a:r>
            <a:r>
              <a:rPr sz="1000" dirty="0">
                <a:latin typeface="Arial"/>
                <a:cs typeface="Arial"/>
              </a:rPr>
              <a:t> </a:t>
            </a:r>
            <a:r>
              <a:rPr sz="1000" spc="-5" dirty="0">
                <a:latin typeface="Arial"/>
                <a:cs typeface="Arial"/>
              </a:rPr>
              <a:t>and (c)</a:t>
            </a:r>
            <a:r>
              <a:rPr sz="1000" dirty="0">
                <a:latin typeface="Arial"/>
                <a:cs typeface="Arial"/>
              </a:rPr>
              <a:t> </a:t>
            </a:r>
            <a:r>
              <a:rPr sz="1000" spc="-5" dirty="0">
                <a:latin typeface="Arial"/>
                <a:cs typeface="Arial"/>
              </a:rPr>
              <a:t>require different </a:t>
            </a:r>
            <a:r>
              <a:rPr sz="1000" dirty="0">
                <a:latin typeface="Arial"/>
                <a:cs typeface="Arial"/>
              </a:rPr>
              <a:t> </a:t>
            </a:r>
            <a:r>
              <a:rPr sz="1000" spc="-10" dirty="0">
                <a:latin typeface="Arial"/>
                <a:cs typeface="Arial"/>
              </a:rPr>
              <a:t>solutions.</a:t>
            </a:r>
            <a:r>
              <a:rPr sz="1000" spc="65" dirty="0">
                <a:latin typeface="Arial"/>
                <a:cs typeface="Arial"/>
              </a:rPr>
              <a:t> </a:t>
            </a:r>
            <a:r>
              <a:rPr sz="1000" spc="-25" dirty="0">
                <a:latin typeface="Arial"/>
                <a:cs typeface="Arial"/>
              </a:rPr>
              <a:t>However,</a:t>
            </a:r>
            <a:r>
              <a:rPr sz="1000" spc="-5" dirty="0">
                <a:latin typeface="Arial"/>
                <a:cs typeface="Arial"/>
              </a:rPr>
              <a:t> </a:t>
            </a:r>
            <a:r>
              <a:rPr sz="1000" spc="-15" dirty="0">
                <a:latin typeface="Arial"/>
                <a:cs typeface="Arial"/>
              </a:rPr>
              <a:t>we</a:t>
            </a:r>
            <a:r>
              <a:rPr sz="1000" spc="-5" dirty="0">
                <a:latin typeface="Arial"/>
                <a:cs typeface="Arial"/>
              </a:rPr>
              <a:t> don’t </a:t>
            </a:r>
            <a:r>
              <a:rPr sz="1000" spc="-10" dirty="0">
                <a:latin typeface="Arial"/>
                <a:cs typeface="Arial"/>
              </a:rPr>
              <a:t>know</a:t>
            </a:r>
            <a:r>
              <a:rPr sz="1000" spc="-5" dirty="0">
                <a:latin typeface="Arial"/>
                <a:cs typeface="Arial"/>
              </a:rPr>
              <a:t> what happened.</a:t>
            </a:r>
            <a:r>
              <a:rPr sz="1000" spc="65" dirty="0">
                <a:latin typeface="Arial"/>
                <a:cs typeface="Arial"/>
              </a:rPr>
              <a:t> </a:t>
            </a:r>
            <a:r>
              <a:rPr sz="1000" spc="-50" dirty="0">
                <a:latin typeface="Arial"/>
                <a:cs typeface="Arial"/>
              </a:rPr>
              <a:t>Two</a:t>
            </a:r>
            <a:r>
              <a:rPr sz="1000" spc="-5" dirty="0">
                <a:latin typeface="Arial"/>
                <a:cs typeface="Arial"/>
              </a:rPr>
              <a:t> approaches:</a:t>
            </a:r>
            <a:endParaRPr sz="1000">
              <a:latin typeface="Arial"/>
              <a:cs typeface="Arial"/>
            </a:endParaRPr>
          </a:p>
          <a:p>
            <a:pPr marL="333375" marR="59690" indent="-168275">
              <a:lnSpc>
                <a:spcPct val="100000"/>
              </a:lnSpc>
              <a:spcBef>
                <a:spcPts val="545"/>
              </a:spcBef>
              <a:buClr>
                <a:srgbClr val="3333B2"/>
              </a:buClr>
              <a:buChar char="►"/>
              <a:tabLst>
                <a:tab pos="334010" algn="l"/>
              </a:tabLst>
            </a:pPr>
            <a:r>
              <a:rPr sz="1000" spc="-5" dirty="0">
                <a:solidFill>
                  <a:srgbClr val="FA0000"/>
                </a:solidFill>
                <a:latin typeface="Arial"/>
                <a:cs typeface="Arial"/>
              </a:rPr>
              <a:t>At-least-once-semantics:</a:t>
            </a:r>
            <a:r>
              <a:rPr sz="1000" spc="70" dirty="0">
                <a:solidFill>
                  <a:srgbClr val="FA0000"/>
                </a:solidFill>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server</a:t>
            </a:r>
            <a:r>
              <a:rPr sz="1000" spc="5" dirty="0">
                <a:latin typeface="Arial"/>
                <a:cs typeface="Arial"/>
              </a:rPr>
              <a:t> </a:t>
            </a:r>
            <a:r>
              <a:rPr sz="1000" spc="-5" dirty="0">
                <a:latin typeface="Arial"/>
                <a:cs typeface="Arial"/>
              </a:rPr>
              <a:t>guarantees</a:t>
            </a:r>
            <a:r>
              <a:rPr sz="1000" spc="5" dirty="0">
                <a:latin typeface="Arial"/>
                <a:cs typeface="Arial"/>
              </a:rPr>
              <a:t> </a:t>
            </a:r>
            <a:r>
              <a:rPr sz="1000" spc="-5" dirty="0">
                <a:latin typeface="Arial"/>
                <a:cs typeface="Arial"/>
              </a:rPr>
              <a:t>it</a:t>
            </a:r>
            <a:r>
              <a:rPr sz="1000" spc="5" dirty="0">
                <a:latin typeface="Arial"/>
                <a:cs typeface="Arial"/>
              </a:rPr>
              <a:t> </a:t>
            </a:r>
            <a:r>
              <a:rPr sz="1000" spc="-5" dirty="0">
                <a:latin typeface="Arial"/>
                <a:cs typeface="Arial"/>
              </a:rPr>
              <a:t>will</a:t>
            </a:r>
            <a:r>
              <a:rPr sz="1000" spc="5" dirty="0">
                <a:latin typeface="Arial"/>
                <a:cs typeface="Arial"/>
              </a:rPr>
              <a:t> </a:t>
            </a:r>
            <a:r>
              <a:rPr sz="1000" dirty="0">
                <a:latin typeface="Arial"/>
                <a:cs typeface="Arial"/>
              </a:rPr>
              <a:t>carry</a:t>
            </a:r>
            <a:r>
              <a:rPr sz="1000" spc="5" dirty="0">
                <a:latin typeface="Arial"/>
                <a:cs typeface="Arial"/>
              </a:rPr>
              <a:t> </a:t>
            </a:r>
            <a:r>
              <a:rPr sz="1000" spc="-5" dirty="0">
                <a:latin typeface="Arial"/>
                <a:cs typeface="Arial"/>
              </a:rPr>
              <a:t>out </a:t>
            </a:r>
            <a:r>
              <a:rPr sz="1000" spc="-265" dirty="0">
                <a:latin typeface="Arial"/>
                <a:cs typeface="Arial"/>
              </a:rPr>
              <a:t> </a:t>
            </a:r>
            <a:r>
              <a:rPr sz="1000" spc="-5" dirty="0">
                <a:latin typeface="Arial"/>
                <a:cs typeface="Arial"/>
              </a:rPr>
              <a:t>an</a:t>
            </a:r>
            <a:r>
              <a:rPr sz="1000" spc="-10" dirty="0">
                <a:latin typeface="Arial"/>
                <a:cs typeface="Arial"/>
              </a:rPr>
              <a:t> </a:t>
            </a:r>
            <a:r>
              <a:rPr sz="1000" spc="-5" dirty="0">
                <a:latin typeface="Arial"/>
                <a:cs typeface="Arial"/>
              </a:rPr>
              <a:t>operation at least once, no matter what.</a:t>
            </a:r>
            <a:endParaRPr sz="1000">
              <a:latin typeface="Arial"/>
              <a:cs typeface="Arial"/>
            </a:endParaRPr>
          </a:p>
          <a:p>
            <a:pPr marL="333375" marR="53975" indent="-168275">
              <a:lnSpc>
                <a:spcPct val="100000"/>
              </a:lnSpc>
              <a:spcBef>
                <a:spcPts val="590"/>
              </a:spcBef>
              <a:buClr>
                <a:srgbClr val="3333B2"/>
              </a:buClr>
              <a:buChar char="►"/>
              <a:tabLst>
                <a:tab pos="334010" algn="l"/>
              </a:tabLst>
            </a:pPr>
            <a:r>
              <a:rPr sz="1000" spc="-5" dirty="0">
                <a:solidFill>
                  <a:srgbClr val="FA0000"/>
                </a:solidFill>
                <a:latin typeface="Arial"/>
                <a:cs typeface="Arial"/>
              </a:rPr>
              <a:t>At-most-once-semantics:</a:t>
            </a:r>
            <a:r>
              <a:rPr sz="1000" spc="70" dirty="0">
                <a:solidFill>
                  <a:srgbClr val="FA0000"/>
                </a:solidFill>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server</a:t>
            </a:r>
            <a:r>
              <a:rPr sz="1000" spc="5" dirty="0">
                <a:latin typeface="Arial"/>
                <a:cs typeface="Arial"/>
              </a:rPr>
              <a:t> </a:t>
            </a:r>
            <a:r>
              <a:rPr sz="1000" spc="-5" dirty="0">
                <a:latin typeface="Arial"/>
                <a:cs typeface="Arial"/>
              </a:rPr>
              <a:t>guarantees</a:t>
            </a:r>
            <a:r>
              <a:rPr sz="1000" dirty="0">
                <a:latin typeface="Arial"/>
                <a:cs typeface="Arial"/>
              </a:rPr>
              <a:t> </a:t>
            </a:r>
            <a:r>
              <a:rPr sz="1000" spc="-5" dirty="0">
                <a:latin typeface="Arial"/>
                <a:cs typeface="Arial"/>
              </a:rPr>
              <a:t>it</a:t>
            </a:r>
            <a:r>
              <a:rPr sz="1000" spc="5" dirty="0">
                <a:latin typeface="Arial"/>
                <a:cs typeface="Arial"/>
              </a:rPr>
              <a:t> </a:t>
            </a:r>
            <a:r>
              <a:rPr sz="1000" spc="-5" dirty="0">
                <a:latin typeface="Arial"/>
                <a:cs typeface="Arial"/>
              </a:rPr>
              <a:t>will</a:t>
            </a:r>
            <a:r>
              <a:rPr sz="1000" spc="5" dirty="0">
                <a:latin typeface="Arial"/>
                <a:cs typeface="Arial"/>
              </a:rPr>
              <a:t> </a:t>
            </a:r>
            <a:r>
              <a:rPr sz="1000" dirty="0">
                <a:latin typeface="Arial"/>
                <a:cs typeface="Arial"/>
              </a:rPr>
              <a:t>carry</a:t>
            </a:r>
            <a:r>
              <a:rPr sz="1000" spc="5" dirty="0">
                <a:latin typeface="Arial"/>
                <a:cs typeface="Arial"/>
              </a:rPr>
              <a:t> </a:t>
            </a:r>
            <a:r>
              <a:rPr sz="1000" spc="-5" dirty="0">
                <a:latin typeface="Arial"/>
                <a:cs typeface="Arial"/>
              </a:rPr>
              <a:t>out </a:t>
            </a:r>
            <a:r>
              <a:rPr sz="1000" spc="-265" dirty="0">
                <a:latin typeface="Arial"/>
                <a:cs typeface="Arial"/>
              </a:rPr>
              <a:t> </a:t>
            </a:r>
            <a:r>
              <a:rPr sz="1000" spc="-5" dirty="0">
                <a:latin typeface="Arial"/>
                <a:cs typeface="Arial"/>
              </a:rPr>
              <a:t>an</a:t>
            </a:r>
            <a:r>
              <a:rPr sz="1000" spc="-10" dirty="0">
                <a:latin typeface="Arial"/>
                <a:cs typeface="Arial"/>
              </a:rPr>
              <a:t> </a:t>
            </a:r>
            <a:r>
              <a:rPr sz="1000" spc="-5" dirty="0">
                <a:latin typeface="Arial"/>
                <a:cs typeface="Arial"/>
              </a:rPr>
              <a:t>operation at most once.</a:t>
            </a:r>
            <a:endParaRPr sz="1000">
              <a:latin typeface="Arial"/>
              <a:cs typeface="Arial"/>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535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Se</a:t>
            </a:r>
            <a:r>
              <a:rPr sz="600" spc="10" dirty="0">
                <a:solidFill>
                  <a:srgbClr val="3333B2"/>
                </a:solidFill>
                <a:latin typeface="Arial"/>
                <a:cs typeface="Arial"/>
                <a:hlinkClick r:id="rId3" action="ppaction://hlinksldjump"/>
              </a:rPr>
              <a:t>r</a:t>
            </a:r>
            <a:r>
              <a:rPr sz="600" spc="-20" dirty="0">
                <a:solidFill>
                  <a:srgbClr val="3333B2"/>
                </a:solidFill>
                <a:latin typeface="Arial"/>
                <a:cs typeface="Arial"/>
                <a:hlinkClick r:id="rId3" action="ppaction://hlinksldjump"/>
              </a:rPr>
              <a:t>v</a:t>
            </a:r>
            <a:r>
              <a:rPr sz="600" spc="-5" dirty="0">
                <a:solidFill>
                  <a:srgbClr val="3333B2"/>
                </a:solidFill>
                <a:latin typeface="Arial"/>
                <a:cs typeface="Arial"/>
                <a:hlinkClick r:id="rId3" action="ppaction://hlinksldjump"/>
              </a:rPr>
              <a:t>er c</a:t>
            </a:r>
            <a:r>
              <a:rPr sz="600" spc="-15"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ashes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44</a:t>
            </a:r>
            <a:r>
              <a:rPr spc="-40" dirty="0"/>
              <a:t> </a:t>
            </a:r>
            <a:r>
              <a:rPr spc="-5" dirty="0"/>
              <a:t>/</a:t>
            </a:r>
            <a:r>
              <a:rPr spc="-35" dirty="0"/>
              <a:t> </a:t>
            </a:r>
            <a:r>
              <a:rPr spc="-5" dirty="0"/>
              <a:t>68</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050540" algn="l"/>
              </a:tabLst>
            </a:pPr>
            <a:r>
              <a:rPr sz="600" spc="-10" dirty="0">
                <a:solidFill>
                  <a:srgbClr val="3333B2"/>
                </a:solidFill>
                <a:latin typeface="Arial"/>
                <a:cs typeface="Arial"/>
                <a:hlinkClick r:id="rId4" action="ppaction://hlinksldjump"/>
              </a:rPr>
              <a:t>Fault</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5" action="ppaction://hlinksldjump"/>
              </a:rPr>
              <a:t>Reliable</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client-server</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RPC</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semantics in the</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presence of</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failures</a:t>
            </a:r>
            <a:endParaRPr sz="600">
              <a:latin typeface="Arial"/>
              <a:cs typeface="Arial"/>
            </a:endParaRPr>
          </a:p>
        </p:txBody>
      </p:sp>
      <p:sp>
        <p:nvSpPr>
          <p:cNvPr id="3" name="object 3"/>
          <p:cNvSpPr txBox="1">
            <a:spLocks noGrp="1"/>
          </p:cNvSpPr>
          <p:nvPr>
            <p:ph type="title"/>
          </p:nvPr>
        </p:nvSpPr>
        <p:spPr>
          <a:xfrm>
            <a:off x="95300" y="188846"/>
            <a:ext cx="4124325" cy="244475"/>
          </a:xfrm>
          <a:prstGeom prst="rect">
            <a:avLst/>
          </a:prstGeom>
        </p:spPr>
        <p:txBody>
          <a:bodyPr vert="horz" wrap="square" lIns="0" tIns="17145" rIns="0" bIns="0" rtlCol="0">
            <a:spAutoFit/>
          </a:bodyPr>
          <a:lstStyle/>
          <a:p>
            <a:pPr marL="12700">
              <a:lnSpc>
                <a:spcPct val="100000"/>
              </a:lnSpc>
              <a:spcBef>
                <a:spcPts val="135"/>
              </a:spcBef>
            </a:pPr>
            <a:r>
              <a:rPr spc="5" dirty="0"/>
              <a:t>Why</a:t>
            </a:r>
            <a:r>
              <a:rPr spc="10" dirty="0"/>
              <a:t> fully transparent </a:t>
            </a:r>
            <a:r>
              <a:rPr spc="15" dirty="0"/>
              <a:t>server</a:t>
            </a:r>
            <a:r>
              <a:rPr spc="10" dirty="0"/>
              <a:t> recovery</a:t>
            </a:r>
            <a:r>
              <a:rPr spc="15" dirty="0"/>
              <a:t> </a:t>
            </a:r>
            <a:r>
              <a:rPr spc="10" dirty="0"/>
              <a:t>is impossible</a:t>
            </a:r>
          </a:p>
        </p:txBody>
      </p:sp>
      <p:sp>
        <p:nvSpPr>
          <p:cNvPr id="4" name="object 4"/>
          <p:cNvSpPr txBox="1"/>
          <p:nvPr/>
        </p:nvSpPr>
        <p:spPr>
          <a:xfrm>
            <a:off x="342595" y="421001"/>
            <a:ext cx="3715385" cy="2750820"/>
          </a:xfrm>
          <a:prstGeom prst="rect">
            <a:avLst/>
          </a:prstGeom>
        </p:spPr>
        <p:txBody>
          <a:bodyPr vert="horz" wrap="square" lIns="0" tIns="40005" rIns="0" bIns="0" rtlCol="0">
            <a:spAutoFit/>
          </a:bodyPr>
          <a:lstStyle/>
          <a:p>
            <a:pPr marL="12700">
              <a:lnSpc>
                <a:spcPct val="100000"/>
              </a:lnSpc>
              <a:spcBef>
                <a:spcPts val="315"/>
              </a:spcBef>
            </a:pPr>
            <a:r>
              <a:rPr sz="1200" spc="-5" dirty="0">
                <a:solidFill>
                  <a:srgbClr val="3333B2"/>
                </a:solidFill>
                <a:latin typeface="Arial"/>
                <a:cs typeface="Arial"/>
              </a:rPr>
              <a:t>Three</a:t>
            </a:r>
            <a:r>
              <a:rPr sz="1200" spc="-10" dirty="0">
                <a:solidFill>
                  <a:srgbClr val="3333B2"/>
                </a:solidFill>
                <a:latin typeface="Arial"/>
                <a:cs typeface="Arial"/>
              </a:rPr>
              <a:t> </a:t>
            </a:r>
            <a:r>
              <a:rPr sz="1200" spc="-5" dirty="0">
                <a:solidFill>
                  <a:srgbClr val="3333B2"/>
                </a:solidFill>
                <a:latin typeface="Arial"/>
                <a:cs typeface="Arial"/>
              </a:rPr>
              <a:t>type</a:t>
            </a:r>
            <a:r>
              <a:rPr sz="1200" spc="-10" dirty="0">
                <a:solidFill>
                  <a:srgbClr val="3333B2"/>
                </a:solidFill>
                <a:latin typeface="Arial"/>
                <a:cs typeface="Arial"/>
              </a:rPr>
              <a:t> </a:t>
            </a:r>
            <a:r>
              <a:rPr sz="1200" spc="-5" dirty="0">
                <a:solidFill>
                  <a:srgbClr val="3333B2"/>
                </a:solidFill>
                <a:latin typeface="Arial"/>
                <a:cs typeface="Arial"/>
              </a:rPr>
              <a:t>of</a:t>
            </a:r>
            <a:r>
              <a:rPr sz="1200" spc="-10" dirty="0">
                <a:solidFill>
                  <a:srgbClr val="3333B2"/>
                </a:solidFill>
                <a:latin typeface="Arial"/>
                <a:cs typeface="Arial"/>
              </a:rPr>
              <a:t> </a:t>
            </a:r>
            <a:r>
              <a:rPr sz="1200" spc="-15" dirty="0">
                <a:solidFill>
                  <a:srgbClr val="3333B2"/>
                </a:solidFill>
                <a:latin typeface="Arial"/>
                <a:cs typeface="Arial"/>
              </a:rPr>
              <a:t>events</a:t>
            </a:r>
            <a:r>
              <a:rPr sz="1200" spc="-5" dirty="0">
                <a:solidFill>
                  <a:srgbClr val="3333B2"/>
                </a:solidFill>
                <a:latin typeface="Arial"/>
                <a:cs typeface="Arial"/>
              </a:rPr>
              <a:t> at</a:t>
            </a:r>
            <a:r>
              <a:rPr sz="1200" spc="-10" dirty="0">
                <a:solidFill>
                  <a:srgbClr val="3333B2"/>
                </a:solidFill>
                <a:latin typeface="Arial"/>
                <a:cs typeface="Arial"/>
              </a:rPr>
              <a:t> </a:t>
            </a:r>
            <a:r>
              <a:rPr sz="1200" spc="-5" dirty="0">
                <a:solidFill>
                  <a:srgbClr val="3333B2"/>
                </a:solidFill>
                <a:latin typeface="Arial"/>
                <a:cs typeface="Arial"/>
              </a:rPr>
              <a:t>the</a:t>
            </a:r>
            <a:r>
              <a:rPr sz="1200" spc="-10" dirty="0">
                <a:solidFill>
                  <a:srgbClr val="3333B2"/>
                </a:solidFill>
                <a:latin typeface="Arial"/>
                <a:cs typeface="Arial"/>
              </a:rPr>
              <a:t> </a:t>
            </a:r>
            <a:r>
              <a:rPr sz="1200" spc="-5" dirty="0">
                <a:solidFill>
                  <a:srgbClr val="3333B2"/>
                </a:solidFill>
                <a:latin typeface="Arial"/>
                <a:cs typeface="Arial"/>
              </a:rPr>
              <a:t>server</a:t>
            </a:r>
            <a:endParaRPr sz="1200">
              <a:latin typeface="Arial"/>
              <a:cs typeface="Arial"/>
            </a:endParaRPr>
          </a:p>
          <a:p>
            <a:pPr marL="12700">
              <a:lnSpc>
                <a:spcPct val="100000"/>
              </a:lnSpc>
              <a:spcBef>
                <a:spcPts val="180"/>
              </a:spcBef>
            </a:pPr>
            <a:r>
              <a:rPr sz="1000" spc="-5" dirty="0">
                <a:latin typeface="Arial"/>
                <a:cs typeface="Arial"/>
              </a:rPr>
              <a:t>(Assume 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requested</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update</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document.)</a:t>
            </a:r>
            <a:endParaRPr sz="1000">
              <a:latin typeface="Arial"/>
              <a:cs typeface="Arial"/>
            </a:endParaRPr>
          </a:p>
          <a:p>
            <a:pPr marL="84455">
              <a:lnSpc>
                <a:spcPts val="1200"/>
              </a:lnSpc>
              <a:spcBef>
                <a:spcPts val="595"/>
              </a:spcBef>
            </a:pPr>
            <a:r>
              <a:rPr sz="1000" spc="-5" dirty="0">
                <a:solidFill>
                  <a:srgbClr val="3333B2"/>
                </a:solidFill>
                <a:latin typeface="Arial"/>
                <a:cs typeface="Arial"/>
              </a:rPr>
              <a:t>M:</a:t>
            </a:r>
            <a:r>
              <a:rPr sz="1000" spc="254" dirty="0">
                <a:solidFill>
                  <a:srgbClr val="3333B2"/>
                </a:solidFill>
                <a:latin typeface="Arial"/>
                <a:cs typeface="Arial"/>
              </a:rPr>
              <a:t> </a:t>
            </a:r>
            <a:r>
              <a:rPr sz="1000" spc="-5" dirty="0">
                <a:latin typeface="Arial"/>
                <a:cs typeface="Arial"/>
              </a:rPr>
              <a:t>send</a:t>
            </a:r>
            <a:r>
              <a:rPr sz="1000" spc="-10"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completion</a:t>
            </a:r>
            <a:r>
              <a:rPr sz="1000" spc="-10" dirty="0">
                <a:latin typeface="Arial"/>
                <a:cs typeface="Arial"/>
              </a:rPr>
              <a:t> </a:t>
            </a:r>
            <a:r>
              <a:rPr sz="1000" spc="-5" dirty="0">
                <a:latin typeface="Arial"/>
                <a:cs typeface="Arial"/>
              </a:rPr>
              <a:t>message</a:t>
            </a:r>
            <a:endParaRPr sz="1000">
              <a:latin typeface="Arial"/>
              <a:cs typeface="Arial"/>
            </a:endParaRPr>
          </a:p>
          <a:p>
            <a:pPr marL="98425" marR="1099185" indent="6350">
              <a:lnSpc>
                <a:spcPts val="1200"/>
              </a:lnSpc>
              <a:spcBef>
                <a:spcPts val="40"/>
              </a:spcBef>
            </a:pPr>
            <a:r>
              <a:rPr sz="1000" spc="-5" dirty="0">
                <a:solidFill>
                  <a:srgbClr val="3333B2"/>
                </a:solidFill>
                <a:latin typeface="Arial"/>
                <a:cs typeface="Arial"/>
              </a:rPr>
              <a:t>P:</a:t>
            </a:r>
            <a:r>
              <a:rPr sz="1000" spc="265" dirty="0">
                <a:solidFill>
                  <a:srgbClr val="3333B2"/>
                </a:solidFill>
                <a:latin typeface="Arial"/>
                <a:cs typeface="Arial"/>
              </a:rPr>
              <a:t> </a:t>
            </a:r>
            <a:r>
              <a:rPr sz="1000" spc="-5" dirty="0">
                <a:latin typeface="Arial"/>
                <a:cs typeface="Arial"/>
              </a:rPr>
              <a:t>complete the processing</a:t>
            </a:r>
            <a:r>
              <a:rPr sz="1000" dirty="0">
                <a:latin typeface="Arial"/>
                <a:cs typeface="Arial"/>
              </a:rPr>
              <a:t> </a:t>
            </a:r>
            <a:r>
              <a:rPr sz="1000" spc="-5" dirty="0">
                <a:latin typeface="Arial"/>
                <a:cs typeface="Arial"/>
              </a:rPr>
              <a:t>of the document </a:t>
            </a:r>
            <a:r>
              <a:rPr sz="1000" spc="-260" dirty="0">
                <a:latin typeface="Arial"/>
                <a:cs typeface="Arial"/>
              </a:rPr>
              <a:t> </a:t>
            </a:r>
            <a:r>
              <a:rPr sz="1000" spc="-5" dirty="0">
                <a:solidFill>
                  <a:srgbClr val="3333B2"/>
                </a:solidFill>
                <a:latin typeface="Arial"/>
                <a:cs typeface="Arial"/>
              </a:rPr>
              <a:t>C:</a:t>
            </a:r>
            <a:r>
              <a:rPr sz="1000" spc="254" dirty="0">
                <a:solidFill>
                  <a:srgbClr val="3333B2"/>
                </a:solidFill>
                <a:latin typeface="Arial"/>
                <a:cs typeface="Arial"/>
              </a:rPr>
              <a:t> </a:t>
            </a:r>
            <a:r>
              <a:rPr sz="1000" spc="-5" dirty="0">
                <a:latin typeface="Arial"/>
                <a:cs typeface="Arial"/>
              </a:rPr>
              <a:t>crash</a:t>
            </a:r>
            <a:endParaRPr sz="1000">
              <a:latin typeface="Arial"/>
              <a:cs typeface="Arial"/>
            </a:endParaRPr>
          </a:p>
          <a:p>
            <a:pPr>
              <a:lnSpc>
                <a:spcPct val="100000"/>
              </a:lnSpc>
              <a:spcBef>
                <a:spcPts val="45"/>
              </a:spcBef>
            </a:pPr>
            <a:endParaRPr sz="1000">
              <a:latin typeface="Arial"/>
              <a:cs typeface="Arial"/>
            </a:endParaRPr>
          </a:p>
          <a:p>
            <a:pPr marL="17145">
              <a:lnSpc>
                <a:spcPct val="100000"/>
              </a:lnSpc>
            </a:pPr>
            <a:r>
              <a:rPr sz="1200" spc="-5" dirty="0">
                <a:solidFill>
                  <a:srgbClr val="3333B2"/>
                </a:solidFill>
                <a:latin typeface="Arial"/>
                <a:cs typeface="Arial"/>
              </a:rPr>
              <a:t>Six</a:t>
            </a:r>
            <a:r>
              <a:rPr sz="1200" spc="-10" dirty="0">
                <a:solidFill>
                  <a:srgbClr val="3333B2"/>
                </a:solidFill>
                <a:latin typeface="Arial"/>
                <a:cs typeface="Arial"/>
              </a:rPr>
              <a:t> possible </a:t>
            </a:r>
            <a:r>
              <a:rPr sz="1200" spc="-5" dirty="0">
                <a:solidFill>
                  <a:srgbClr val="3333B2"/>
                </a:solidFill>
                <a:latin typeface="Arial"/>
                <a:cs typeface="Arial"/>
              </a:rPr>
              <a:t>orderings</a:t>
            </a:r>
            <a:endParaRPr sz="1200">
              <a:latin typeface="Arial"/>
              <a:cs typeface="Arial"/>
            </a:endParaRPr>
          </a:p>
          <a:p>
            <a:pPr marL="12700">
              <a:lnSpc>
                <a:spcPct val="100000"/>
              </a:lnSpc>
              <a:spcBef>
                <a:spcPts val="190"/>
              </a:spcBef>
            </a:pPr>
            <a:r>
              <a:rPr sz="1000" spc="-5" dirty="0">
                <a:latin typeface="Arial"/>
                <a:cs typeface="Arial"/>
              </a:rPr>
              <a:t>(Actions</a:t>
            </a:r>
            <a:r>
              <a:rPr sz="1000" spc="-10" dirty="0">
                <a:latin typeface="Arial"/>
                <a:cs typeface="Arial"/>
              </a:rPr>
              <a:t> </a:t>
            </a:r>
            <a:r>
              <a:rPr sz="1000" spc="-5" dirty="0">
                <a:latin typeface="Arial"/>
                <a:cs typeface="Arial"/>
              </a:rPr>
              <a:t>between </a:t>
            </a:r>
            <a:r>
              <a:rPr sz="1000" spc="-10" dirty="0">
                <a:latin typeface="Arial"/>
                <a:cs typeface="Arial"/>
              </a:rPr>
              <a:t>brackets</a:t>
            </a:r>
            <a:r>
              <a:rPr sz="1000" spc="-5" dirty="0">
                <a:latin typeface="Arial"/>
                <a:cs typeface="Arial"/>
              </a:rPr>
              <a:t> </a:t>
            </a:r>
            <a:r>
              <a:rPr sz="1000" spc="-15" dirty="0">
                <a:latin typeface="Arial"/>
                <a:cs typeface="Arial"/>
              </a:rPr>
              <a:t>never</a:t>
            </a:r>
            <a:r>
              <a:rPr sz="1000" spc="-5" dirty="0">
                <a:latin typeface="Arial"/>
                <a:cs typeface="Arial"/>
              </a:rPr>
              <a:t> </a:t>
            </a:r>
            <a:r>
              <a:rPr sz="1000" spc="-10" dirty="0">
                <a:latin typeface="Arial"/>
                <a:cs typeface="Arial"/>
              </a:rPr>
              <a:t>take</a:t>
            </a:r>
            <a:r>
              <a:rPr sz="1000" spc="-5" dirty="0">
                <a:latin typeface="Arial"/>
                <a:cs typeface="Arial"/>
              </a:rPr>
              <a:t> place)</a:t>
            </a:r>
            <a:endParaRPr sz="1000">
              <a:latin typeface="Arial"/>
              <a:cs typeface="Arial"/>
            </a:endParaRPr>
          </a:p>
          <a:p>
            <a:pPr marL="294005" indent="-175260">
              <a:lnSpc>
                <a:spcPts val="1200"/>
              </a:lnSpc>
              <a:spcBef>
                <a:spcPts val="595"/>
              </a:spcBef>
              <a:buClr>
                <a:srgbClr val="3333B2"/>
              </a:buClr>
              <a:buFont typeface="Arial"/>
              <a:buAutoNum type="arabicPeriod"/>
              <a:tabLst>
                <a:tab pos="294640" algn="l"/>
              </a:tabLst>
            </a:pPr>
            <a:r>
              <a:rPr sz="1000" i="1" spc="-5" dirty="0">
                <a:latin typeface="Arial"/>
                <a:cs typeface="Arial"/>
              </a:rPr>
              <a:t>M</a:t>
            </a:r>
            <a:r>
              <a:rPr sz="1000" i="1" spc="20"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P</a:t>
            </a:r>
            <a:r>
              <a:rPr sz="1000" i="1" spc="10" dirty="0">
                <a:latin typeface="Arial"/>
                <a:cs typeface="Arial"/>
              </a:rPr>
              <a:t> </a:t>
            </a:r>
            <a:r>
              <a:rPr sz="1000" i="1" spc="-5" dirty="0">
                <a:latin typeface="メイリオ"/>
                <a:cs typeface="メイリオ"/>
              </a:rPr>
              <a:t>→</a:t>
            </a:r>
            <a:r>
              <a:rPr sz="1000" i="1" spc="-120" dirty="0">
                <a:latin typeface="メイリオ"/>
                <a:cs typeface="メイリオ"/>
              </a:rPr>
              <a:t> </a:t>
            </a:r>
            <a:r>
              <a:rPr sz="1000" i="1" spc="55" dirty="0">
                <a:latin typeface="Arial"/>
                <a:cs typeface="Arial"/>
              </a:rPr>
              <a:t>C</a:t>
            </a:r>
            <a:r>
              <a:rPr sz="1000" spc="-5" dirty="0">
                <a:latin typeface="Arial"/>
                <a:cs typeface="Arial"/>
              </a:rPr>
              <a:t>:</a:t>
            </a:r>
            <a:r>
              <a:rPr sz="1000" spc="60" dirty="0">
                <a:latin typeface="Arial"/>
                <a:cs typeface="Arial"/>
              </a:rPr>
              <a:t> </a:t>
            </a:r>
            <a:r>
              <a:rPr sz="1000" spc="-5" dirty="0">
                <a:latin typeface="Arial"/>
                <a:cs typeface="Arial"/>
              </a:rPr>
              <a:t>C</a:t>
            </a:r>
            <a:r>
              <a:rPr sz="1000" spc="-15" dirty="0">
                <a:latin typeface="Arial"/>
                <a:cs typeface="Arial"/>
              </a:rPr>
              <a:t>r</a:t>
            </a:r>
            <a:r>
              <a:rPr sz="1000" spc="-5" dirty="0">
                <a:latin typeface="Arial"/>
                <a:cs typeface="Arial"/>
              </a:rPr>
              <a:t>ash after repo</a:t>
            </a:r>
            <a:r>
              <a:rPr sz="1000" spc="30" dirty="0">
                <a:latin typeface="Arial"/>
                <a:cs typeface="Arial"/>
              </a:rPr>
              <a:t>r</a:t>
            </a:r>
            <a:r>
              <a:rPr sz="1000" spc="-5" dirty="0">
                <a:latin typeface="Arial"/>
                <a:cs typeface="Arial"/>
              </a:rPr>
              <a:t>ting completion.</a:t>
            </a:r>
            <a:endParaRPr sz="1000">
              <a:latin typeface="Arial"/>
              <a:cs typeface="Arial"/>
            </a:endParaRPr>
          </a:p>
          <a:p>
            <a:pPr marL="294005" marR="5080" indent="-175260">
              <a:lnSpc>
                <a:spcPts val="1200"/>
              </a:lnSpc>
              <a:spcBef>
                <a:spcPts val="40"/>
              </a:spcBef>
              <a:buClr>
                <a:srgbClr val="3333B2"/>
              </a:buClr>
              <a:buFont typeface="Arial"/>
              <a:buAutoNum type="arabicPeriod"/>
              <a:tabLst>
                <a:tab pos="294640" algn="l"/>
              </a:tabLst>
            </a:pPr>
            <a:r>
              <a:rPr sz="1000" i="1" spc="-5" dirty="0">
                <a:latin typeface="Arial"/>
                <a:cs typeface="Arial"/>
              </a:rPr>
              <a:t>M</a:t>
            </a:r>
            <a:r>
              <a:rPr sz="1000" i="1" spc="20"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C</a:t>
            </a:r>
            <a:r>
              <a:rPr sz="1000" i="1" dirty="0">
                <a:latin typeface="Arial"/>
                <a:cs typeface="Arial"/>
              </a:rPr>
              <a:t> </a:t>
            </a:r>
            <a:r>
              <a:rPr sz="1000" i="1" spc="-5" dirty="0">
                <a:latin typeface="メイリオ"/>
                <a:cs typeface="メイリオ"/>
              </a:rPr>
              <a:t>→</a:t>
            </a:r>
            <a:r>
              <a:rPr sz="1000" i="1" spc="-114" dirty="0">
                <a:latin typeface="メイリオ"/>
                <a:cs typeface="メイリオ"/>
              </a:rPr>
              <a:t> </a:t>
            </a:r>
            <a:r>
              <a:rPr sz="1000" i="1" spc="30" dirty="0">
                <a:latin typeface="Arial"/>
                <a:cs typeface="Arial"/>
              </a:rPr>
              <a:t>P</a:t>
            </a:r>
            <a:r>
              <a:rPr sz="1000" spc="30" dirty="0">
                <a:latin typeface="Arial"/>
                <a:cs typeface="Arial"/>
              </a:rPr>
              <a:t>:</a:t>
            </a:r>
            <a:r>
              <a:rPr sz="1000" spc="60" dirty="0">
                <a:latin typeface="Arial"/>
                <a:cs typeface="Arial"/>
              </a:rPr>
              <a:t> </a:t>
            </a:r>
            <a:r>
              <a:rPr sz="1000" spc="-5" dirty="0">
                <a:latin typeface="Arial"/>
                <a:cs typeface="Arial"/>
              </a:rPr>
              <a:t>Crash after</a:t>
            </a:r>
            <a:r>
              <a:rPr sz="1000" dirty="0">
                <a:latin typeface="Arial"/>
                <a:cs typeface="Arial"/>
              </a:rPr>
              <a:t> reporting</a:t>
            </a:r>
            <a:r>
              <a:rPr sz="1000" spc="-5" dirty="0">
                <a:latin typeface="Arial"/>
                <a:cs typeface="Arial"/>
              </a:rPr>
              <a:t> completion, </a:t>
            </a:r>
            <a:r>
              <a:rPr sz="1000" spc="-10" dirty="0">
                <a:latin typeface="Arial"/>
                <a:cs typeface="Arial"/>
              </a:rPr>
              <a:t>but</a:t>
            </a:r>
            <a:r>
              <a:rPr sz="1000" dirty="0">
                <a:latin typeface="Arial"/>
                <a:cs typeface="Arial"/>
              </a:rPr>
              <a:t> </a:t>
            </a:r>
            <a:r>
              <a:rPr sz="1000" spc="-10" dirty="0">
                <a:latin typeface="Arial"/>
                <a:cs typeface="Arial"/>
              </a:rPr>
              <a:t>before</a:t>
            </a:r>
            <a:r>
              <a:rPr sz="1000" spc="-5" dirty="0">
                <a:latin typeface="Arial"/>
                <a:cs typeface="Arial"/>
              </a:rPr>
              <a:t> the </a:t>
            </a:r>
            <a:r>
              <a:rPr sz="1000" spc="-265" dirty="0">
                <a:latin typeface="Arial"/>
                <a:cs typeface="Arial"/>
              </a:rPr>
              <a:t> </a:t>
            </a:r>
            <a:r>
              <a:rPr sz="1000" spc="-5" dirty="0">
                <a:latin typeface="Arial"/>
                <a:cs typeface="Arial"/>
              </a:rPr>
              <a:t>update.</a:t>
            </a:r>
            <a:endParaRPr sz="1000">
              <a:latin typeface="Arial"/>
              <a:cs typeface="Arial"/>
            </a:endParaRPr>
          </a:p>
          <a:p>
            <a:pPr marL="294005" indent="-175260">
              <a:lnSpc>
                <a:spcPts val="1150"/>
              </a:lnSpc>
              <a:buClr>
                <a:srgbClr val="3333B2"/>
              </a:buClr>
              <a:buFont typeface="Arial"/>
              <a:buAutoNum type="arabicPeriod"/>
              <a:tabLst>
                <a:tab pos="294640" algn="l"/>
              </a:tabLst>
            </a:pPr>
            <a:r>
              <a:rPr sz="1000" i="1" spc="-5" dirty="0">
                <a:latin typeface="Arial"/>
                <a:cs typeface="Arial"/>
              </a:rPr>
              <a:t>P</a:t>
            </a:r>
            <a:r>
              <a:rPr sz="1000" i="1" spc="10" dirty="0">
                <a:latin typeface="Arial"/>
                <a:cs typeface="Arial"/>
              </a:rPr>
              <a:t> </a:t>
            </a:r>
            <a:r>
              <a:rPr sz="1000" i="1" spc="-5" dirty="0">
                <a:latin typeface="メイリオ"/>
                <a:cs typeface="メイリオ"/>
              </a:rPr>
              <a:t>→</a:t>
            </a:r>
            <a:r>
              <a:rPr sz="1000" i="1" spc="-120" dirty="0">
                <a:latin typeface="メイリオ"/>
                <a:cs typeface="メイリオ"/>
              </a:rPr>
              <a:t> </a:t>
            </a:r>
            <a:r>
              <a:rPr sz="1000" i="1" spc="-5" dirty="0">
                <a:latin typeface="Arial"/>
                <a:cs typeface="Arial"/>
              </a:rPr>
              <a:t>M</a:t>
            </a:r>
            <a:r>
              <a:rPr sz="1000" i="1" spc="25" dirty="0">
                <a:latin typeface="Arial"/>
                <a:cs typeface="Arial"/>
              </a:rPr>
              <a:t> </a:t>
            </a:r>
            <a:r>
              <a:rPr sz="1000" i="1" spc="-5" dirty="0">
                <a:latin typeface="メイリオ"/>
                <a:cs typeface="メイリオ"/>
              </a:rPr>
              <a:t>→</a:t>
            </a:r>
            <a:r>
              <a:rPr sz="1000" i="1" spc="-120" dirty="0">
                <a:latin typeface="メイリオ"/>
                <a:cs typeface="メイリオ"/>
              </a:rPr>
              <a:t> </a:t>
            </a:r>
            <a:r>
              <a:rPr sz="1000" i="1" spc="25" dirty="0">
                <a:latin typeface="Arial"/>
                <a:cs typeface="Arial"/>
              </a:rPr>
              <a:t>C</a:t>
            </a:r>
            <a:r>
              <a:rPr sz="1000" spc="25" dirty="0">
                <a:latin typeface="Arial"/>
                <a:cs typeface="Arial"/>
              </a:rPr>
              <a:t>:</a:t>
            </a:r>
            <a:r>
              <a:rPr sz="1000" spc="65" dirty="0">
                <a:latin typeface="Arial"/>
                <a:cs typeface="Arial"/>
              </a:rPr>
              <a:t> </a:t>
            </a:r>
            <a:r>
              <a:rPr sz="1000" spc="-5" dirty="0">
                <a:latin typeface="Arial"/>
                <a:cs typeface="Arial"/>
              </a:rPr>
              <a:t>Crash after </a:t>
            </a:r>
            <a:r>
              <a:rPr sz="1000" dirty="0">
                <a:latin typeface="Arial"/>
                <a:cs typeface="Arial"/>
              </a:rPr>
              <a:t>reporting </a:t>
            </a:r>
            <a:r>
              <a:rPr sz="1000" spc="-5" dirty="0">
                <a:latin typeface="Arial"/>
                <a:cs typeface="Arial"/>
              </a:rPr>
              <a:t>completion, and</a:t>
            </a:r>
            <a:r>
              <a:rPr sz="1000" dirty="0">
                <a:latin typeface="Arial"/>
                <a:cs typeface="Arial"/>
              </a:rPr>
              <a:t> </a:t>
            </a:r>
            <a:r>
              <a:rPr sz="1000" spc="-5" dirty="0">
                <a:latin typeface="Arial"/>
                <a:cs typeface="Arial"/>
              </a:rPr>
              <a:t>after the</a:t>
            </a:r>
            <a:endParaRPr sz="1000">
              <a:latin typeface="Arial"/>
              <a:cs typeface="Arial"/>
            </a:endParaRPr>
          </a:p>
          <a:p>
            <a:pPr marL="294005">
              <a:lnSpc>
                <a:spcPts val="1195"/>
              </a:lnSpc>
            </a:pPr>
            <a:r>
              <a:rPr sz="1000" spc="-5" dirty="0">
                <a:latin typeface="Arial"/>
                <a:cs typeface="Arial"/>
              </a:rPr>
              <a:t>update.</a:t>
            </a:r>
            <a:endParaRPr sz="1000">
              <a:latin typeface="Arial"/>
              <a:cs typeface="Arial"/>
            </a:endParaRPr>
          </a:p>
          <a:p>
            <a:pPr marL="294005" indent="-175260">
              <a:lnSpc>
                <a:spcPts val="1195"/>
              </a:lnSpc>
              <a:buClr>
                <a:srgbClr val="3333B2"/>
              </a:buClr>
              <a:buFont typeface="Arial"/>
              <a:buAutoNum type="arabicPeriod" startAt="4"/>
              <a:tabLst>
                <a:tab pos="294640" algn="l"/>
              </a:tabLst>
            </a:pPr>
            <a:r>
              <a:rPr sz="1000" i="1" spc="-5" dirty="0">
                <a:latin typeface="Arial"/>
                <a:cs typeface="Arial"/>
              </a:rPr>
              <a:t>P</a:t>
            </a:r>
            <a:r>
              <a:rPr sz="1000" i="1" spc="10" dirty="0">
                <a:latin typeface="Arial"/>
                <a:cs typeface="Arial"/>
              </a:rPr>
              <a:t> </a:t>
            </a:r>
            <a:r>
              <a:rPr sz="1000" i="1" spc="-5" dirty="0">
                <a:latin typeface="メイリオ"/>
                <a:cs typeface="メイリオ"/>
              </a:rPr>
              <a:t>→</a:t>
            </a:r>
            <a:r>
              <a:rPr sz="1000" i="1" spc="-120" dirty="0">
                <a:latin typeface="メイリオ"/>
                <a:cs typeface="メイリオ"/>
              </a:rPr>
              <a:t> </a:t>
            </a:r>
            <a:r>
              <a:rPr sz="1000" i="1" spc="55" dirty="0">
                <a:latin typeface="Arial"/>
                <a:cs typeface="Arial"/>
              </a:rPr>
              <a:t>C</a:t>
            </a:r>
            <a:r>
              <a:rPr sz="1000" spc="50" dirty="0">
                <a:latin typeface="Arial"/>
                <a:cs typeface="Arial"/>
              </a:rPr>
              <a:t>(</a:t>
            </a:r>
            <a:r>
              <a:rPr sz="1000" i="1" spc="-5" dirty="0">
                <a:latin typeface="メイリオ"/>
                <a:cs typeface="メイリオ"/>
              </a:rPr>
              <a:t>→</a:t>
            </a:r>
            <a:r>
              <a:rPr sz="1000" i="1" spc="-120" dirty="0">
                <a:latin typeface="メイリオ"/>
                <a:cs typeface="メイリオ"/>
              </a:rPr>
              <a:t> </a:t>
            </a:r>
            <a:r>
              <a:rPr sz="1000" i="1" spc="75" dirty="0">
                <a:latin typeface="Arial"/>
                <a:cs typeface="Arial"/>
              </a:rPr>
              <a:t>M</a:t>
            </a:r>
            <a:r>
              <a:rPr sz="1000" spc="50" dirty="0">
                <a:latin typeface="Arial"/>
                <a:cs typeface="Arial"/>
              </a:rPr>
              <a:t>)</a:t>
            </a:r>
            <a:r>
              <a:rPr sz="1000" spc="-5" dirty="0">
                <a:latin typeface="Arial"/>
                <a:cs typeface="Arial"/>
              </a:rPr>
              <a:t>:</a:t>
            </a:r>
            <a:r>
              <a:rPr sz="1000" spc="60" dirty="0">
                <a:latin typeface="Arial"/>
                <a:cs typeface="Arial"/>
              </a:rPr>
              <a:t> </a:t>
            </a:r>
            <a:r>
              <a:rPr sz="1000" spc="-5" dirty="0">
                <a:latin typeface="Arial"/>
                <a:cs typeface="Arial"/>
              </a:rPr>
              <a:t>Update took plac</a:t>
            </a:r>
            <a:r>
              <a:rPr sz="1000" spc="-20" dirty="0">
                <a:latin typeface="Arial"/>
                <a:cs typeface="Arial"/>
              </a:rPr>
              <a:t>e</a:t>
            </a:r>
            <a:r>
              <a:rPr sz="1000" spc="-5" dirty="0">
                <a:latin typeface="Arial"/>
                <a:cs typeface="Arial"/>
              </a:rPr>
              <a:t>, and then a c</a:t>
            </a:r>
            <a:r>
              <a:rPr sz="1000" spc="-15" dirty="0">
                <a:latin typeface="Arial"/>
                <a:cs typeface="Arial"/>
              </a:rPr>
              <a:t>r</a:t>
            </a:r>
            <a:r>
              <a:rPr sz="1000" spc="-5" dirty="0">
                <a:latin typeface="Arial"/>
                <a:cs typeface="Arial"/>
              </a:rPr>
              <a:t>ash.</a:t>
            </a:r>
            <a:endParaRPr sz="1000">
              <a:latin typeface="Arial"/>
              <a:cs typeface="Arial"/>
            </a:endParaRPr>
          </a:p>
          <a:p>
            <a:pPr marL="294005" indent="-175260">
              <a:lnSpc>
                <a:spcPts val="1195"/>
              </a:lnSpc>
              <a:buClr>
                <a:srgbClr val="3333B2"/>
              </a:buClr>
              <a:buFont typeface="Arial"/>
              <a:buAutoNum type="arabicPeriod" startAt="4"/>
              <a:tabLst>
                <a:tab pos="294640" algn="l"/>
              </a:tabLst>
            </a:pPr>
            <a:r>
              <a:rPr sz="1000" i="1" spc="55" dirty="0">
                <a:latin typeface="Arial"/>
                <a:cs typeface="Arial"/>
              </a:rPr>
              <a:t>C</a:t>
            </a:r>
            <a:r>
              <a:rPr sz="1000" spc="50" dirty="0">
                <a:latin typeface="Arial"/>
                <a:cs typeface="Arial"/>
              </a:rPr>
              <a:t>(</a:t>
            </a:r>
            <a:r>
              <a:rPr sz="1000" i="1" spc="-5" dirty="0">
                <a:latin typeface="メイリオ"/>
                <a:cs typeface="メイリオ"/>
              </a:rPr>
              <a:t>→</a:t>
            </a:r>
            <a:r>
              <a:rPr sz="1000" i="1" spc="-120" dirty="0">
                <a:latin typeface="メイリオ"/>
                <a:cs typeface="メイリオ"/>
              </a:rPr>
              <a:t> </a:t>
            </a:r>
            <a:r>
              <a:rPr sz="1000" i="1" spc="-5" dirty="0">
                <a:latin typeface="Arial"/>
                <a:cs typeface="Arial"/>
              </a:rPr>
              <a:t>P</a:t>
            </a:r>
            <a:r>
              <a:rPr sz="1000" i="1" spc="10" dirty="0">
                <a:latin typeface="Arial"/>
                <a:cs typeface="Arial"/>
              </a:rPr>
              <a:t> </a:t>
            </a:r>
            <a:r>
              <a:rPr sz="1000" i="1" spc="-5" dirty="0">
                <a:latin typeface="メイリオ"/>
                <a:cs typeface="メイリオ"/>
              </a:rPr>
              <a:t>→</a:t>
            </a:r>
            <a:r>
              <a:rPr sz="1000" i="1" spc="-120" dirty="0">
                <a:latin typeface="メイリオ"/>
                <a:cs typeface="メイリオ"/>
              </a:rPr>
              <a:t> </a:t>
            </a:r>
            <a:r>
              <a:rPr sz="1000" i="1" spc="75" dirty="0">
                <a:latin typeface="Arial"/>
                <a:cs typeface="Arial"/>
              </a:rPr>
              <a:t>M</a:t>
            </a:r>
            <a:r>
              <a:rPr sz="1000" spc="50" dirty="0">
                <a:latin typeface="Arial"/>
                <a:cs typeface="Arial"/>
              </a:rPr>
              <a:t>)</a:t>
            </a:r>
            <a:r>
              <a:rPr sz="1000" spc="-5" dirty="0">
                <a:latin typeface="Arial"/>
                <a:cs typeface="Arial"/>
              </a:rPr>
              <a:t>:</a:t>
            </a:r>
            <a:r>
              <a:rPr sz="1000" spc="60" dirty="0">
                <a:latin typeface="Arial"/>
                <a:cs typeface="Arial"/>
              </a:rPr>
              <a:t> </a:t>
            </a:r>
            <a:r>
              <a:rPr sz="1000" spc="-5" dirty="0">
                <a:latin typeface="Arial"/>
                <a:cs typeface="Arial"/>
              </a:rPr>
              <a:t>C</a:t>
            </a:r>
            <a:r>
              <a:rPr sz="1000" spc="-15" dirty="0">
                <a:latin typeface="Arial"/>
                <a:cs typeface="Arial"/>
              </a:rPr>
              <a:t>r</a:t>
            </a:r>
            <a:r>
              <a:rPr sz="1000" spc="-5" dirty="0">
                <a:latin typeface="Arial"/>
                <a:cs typeface="Arial"/>
              </a:rPr>
              <a:t>ash be</a:t>
            </a:r>
            <a:r>
              <a:rPr sz="1000" spc="-35" dirty="0">
                <a:latin typeface="Arial"/>
                <a:cs typeface="Arial"/>
              </a:rPr>
              <a:t>f</a:t>
            </a:r>
            <a:r>
              <a:rPr sz="1000" spc="-5" dirty="0">
                <a:latin typeface="Arial"/>
                <a:cs typeface="Arial"/>
              </a:rPr>
              <a:t>ore doing a</a:t>
            </a:r>
            <a:r>
              <a:rPr sz="1000" spc="-20" dirty="0">
                <a:latin typeface="Arial"/>
                <a:cs typeface="Arial"/>
              </a:rPr>
              <a:t>n</a:t>
            </a:r>
            <a:r>
              <a:rPr sz="1000" spc="-5" dirty="0">
                <a:latin typeface="Arial"/>
                <a:cs typeface="Arial"/>
              </a:rPr>
              <a:t>ything</a:t>
            </a:r>
            <a:endParaRPr sz="1000">
              <a:latin typeface="Arial"/>
              <a:cs typeface="Arial"/>
            </a:endParaRPr>
          </a:p>
          <a:p>
            <a:pPr marL="294005" indent="-175260">
              <a:lnSpc>
                <a:spcPts val="1200"/>
              </a:lnSpc>
              <a:buClr>
                <a:srgbClr val="3333B2"/>
              </a:buClr>
              <a:buFont typeface="Arial"/>
              <a:buAutoNum type="arabicPeriod" startAt="4"/>
              <a:tabLst>
                <a:tab pos="294640" algn="l"/>
              </a:tabLst>
            </a:pPr>
            <a:r>
              <a:rPr sz="1000" i="1" spc="55" dirty="0">
                <a:latin typeface="Arial"/>
                <a:cs typeface="Arial"/>
              </a:rPr>
              <a:t>C</a:t>
            </a:r>
            <a:r>
              <a:rPr sz="1000" spc="50" dirty="0">
                <a:latin typeface="Arial"/>
                <a:cs typeface="Arial"/>
              </a:rPr>
              <a:t>(</a:t>
            </a:r>
            <a:r>
              <a:rPr sz="1000" i="1" spc="-5" dirty="0">
                <a:latin typeface="メイリオ"/>
                <a:cs typeface="メイリオ"/>
              </a:rPr>
              <a:t>→</a:t>
            </a:r>
            <a:r>
              <a:rPr sz="1000" i="1" spc="-120" dirty="0">
                <a:latin typeface="メイリオ"/>
                <a:cs typeface="メイリオ"/>
              </a:rPr>
              <a:t> </a:t>
            </a:r>
            <a:r>
              <a:rPr sz="1000" i="1" spc="-5" dirty="0">
                <a:latin typeface="Arial"/>
                <a:cs typeface="Arial"/>
              </a:rPr>
              <a:t>M</a:t>
            </a:r>
            <a:r>
              <a:rPr sz="1000" i="1" spc="20" dirty="0">
                <a:latin typeface="Arial"/>
                <a:cs typeface="Arial"/>
              </a:rPr>
              <a:t> </a:t>
            </a:r>
            <a:r>
              <a:rPr sz="1000" i="1" spc="-5" dirty="0">
                <a:latin typeface="メイリオ"/>
                <a:cs typeface="メイリオ"/>
              </a:rPr>
              <a:t>→</a:t>
            </a:r>
            <a:r>
              <a:rPr sz="1000" i="1" spc="-120" dirty="0">
                <a:latin typeface="メイリオ"/>
                <a:cs typeface="メイリオ"/>
              </a:rPr>
              <a:t> </a:t>
            </a:r>
            <a:r>
              <a:rPr sz="1000" i="1" spc="60" dirty="0">
                <a:latin typeface="Arial"/>
                <a:cs typeface="Arial"/>
              </a:rPr>
              <a:t>P</a:t>
            </a:r>
            <a:r>
              <a:rPr sz="1000" spc="50" dirty="0">
                <a:latin typeface="Arial"/>
                <a:cs typeface="Arial"/>
              </a:rPr>
              <a:t>)</a:t>
            </a:r>
            <a:r>
              <a:rPr sz="1000" spc="-5" dirty="0">
                <a:latin typeface="Arial"/>
                <a:cs typeface="Arial"/>
              </a:rPr>
              <a:t>:</a:t>
            </a:r>
            <a:r>
              <a:rPr sz="1000" spc="60" dirty="0">
                <a:latin typeface="Arial"/>
                <a:cs typeface="Arial"/>
              </a:rPr>
              <a:t> </a:t>
            </a:r>
            <a:r>
              <a:rPr sz="1000" spc="-5" dirty="0">
                <a:latin typeface="Arial"/>
                <a:cs typeface="Arial"/>
              </a:rPr>
              <a:t>C</a:t>
            </a:r>
            <a:r>
              <a:rPr sz="1000" spc="-15" dirty="0">
                <a:latin typeface="Arial"/>
                <a:cs typeface="Arial"/>
              </a:rPr>
              <a:t>r</a:t>
            </a:r>
            <a:r>
              <a:rPr sz="1000" spc="-5" dirty="0">
                <a:latin typeface="Arial"/>
                <a:cs typeface="Arial"/>
              </a:rPr>
              <a:t>ash be</a:t>
            </a:r>
            <a:r>
              <a:rPr sz="1000" spc="-35" dirty="0">
                <a:latin typeface="Arial"/>
                <a:cs typeface="Arial"/>
              </a:rPr>
              <a:t>f</a:t>
            </a:r>
            <a:r>
              <a:rPr sz="1000" spc="-5" dirty="0">
                <a:latin typeface="Arial"/>
                <a:cs typeface="Arial"/>
              </a:rPr>
              <a:t>ore doing a</a:t>
            </a:r>
            <a:r>
              <a:rPr sz="1000" spc="-20" dirty="0">
                <a:latin typeface="Arial"/>
                <a:cs typeface="Arial"/>
              </a:rPr>
              <a:t>n</a:t>
            </a:r>
            <a:r>
              <a:rPr sz="1000" spc="-5" dirty="0">
                <a:latin typeface="Arial"/>
                <a:cs typeface="Arial"/>
              </a:rPr>
              <a:t>ything</a:t>
            </a:r>
            <a:endParaRPr sz="1000">
              <a:latin typeface="Arial"/>
              <a:cs typeface="Arial"/>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1" name="object 11"/>
          <p:cNvSpPr txBox="1"/>
          <p:nvPr/>
        </p:nvSpPr>
        <p:spPr>
          <a:xfrm>
            <a:off x="66713" y="3331252"/>
            <a:ext cx="53594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Se</a:t>
            </a:r>
            <a:r>
              <a:rPr sz="600" spc="10" dirty="0">
                <a:solidFill>
                  <a:srgbClr val="3333B2"/>
                </a:solidFill>
                <a:latin typeface="Arial"/>
                <a:cs typeface="Arial"/>
                <a:hlinkClick r:id="rId2" action="ppaction://hlinksldjump"/>
              </a:rPr>
              <a:t>r</a:t>
            </a:r>
            <a:r>
              <a:rPr sz="600" spc="-20" dirty="0">
                <a:solidFill>
                  <a:srgbClr val="3333B2"/>
                </a:solidFill>
                <a:latin typeface="Arial"/>
                <a:cs typeface="Arial"/>
                <a:hlinkClick r:id="rId2" action="ppaction://hlinksldjump"/>
              </a:rPr>
              <a:t>v</a:t>
            </a:r>
            <a:r>
              <a:rPr sz="600" spc="-5" dirty="0">
                <a:solidFill>
                  <a:srgbClr val="3333B2"/>
                </a:solidFill>
                <a:latin typeface="Arial"/>
                <a:cs typeface="Arial"/>
                <a:hlinkClick r:id="rId2" action="ppaction://hlinksldjump"/>
              </a:rPr>
              <a:t>er c</a:t>
            </a:r>
            <a:r>
              <a:rPr sz="600" spc="-15" dirty="0">
                <a:solidFill>
                  <a:srgbClr val="3333B2"/>
                </a:solidFill>
                <a:latin typeface="Arial"/>
                <a:cs typeface="Arial"/>
                <a:hlinkClick r:id="rId2" action="ppaction://hlinksldjump"/>
              </a:rPr>
              <a:t>r</a:t>
            </a:r>
            <a:r>
              <a:rPr sz="600" spc="-5" dirty="0">
                <a:solidFill>
                  <a:srgbClr val="3333B2"/>
                </a:solidFill>
                <a:latin typeface="Arial"/>
                <a:cs typeface="Arial"/>
                <a:hlinkClick r:id="rId2" action="ppaction://hlinksldjump"/>
              </a:rPr>
              <a:t>ashes</a:t>
            </a:r>
            <a:endParaRPr sz="600">
              <a:latin typeface="Arial"/>
              <a:cs typeface="Arial"/>
            </a:endParaRPr>
          </a:p>
        </p:txBody>
      </p:sp>
      <p:sp>
        <p:nvSpPr>
          <p:cNvPr id="12" name="object 1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45</a:t>
            </a:r>
            <a:r>
              <a:rPr spc="-40" dirty="0"/>
              <a:t> </a:t>
            </a:r>
            <a:r>
              <a:rPr spc="-5" dirty="0"/>
              <a:t>/</a:t>
            </a:r>
            <a:r>
              <a:rPr spc="-35" dirty="0"/>
              <a:t> </a:t>
            </a:r>
            <a:r>
              <a:rPr spc="-5" dirty="0"/>
              <a:t>68</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050540" algn="l"/>
              </a:tabLst>
            </a:pPr>
            <a:r>
              <a:rPr sz="600" spc="-10" dirty="0">
                <a:solidFill>
                  <a:srgbClr val="3333B2"/>
                </a:solidFill>
                <a:latin typeface="Arial"/>
                <a:cs typeface="Arial"/>
                <a:hlinkClick r:id="rId3" action="ppaction://hlinksldjump"/>
              </a:rPr>
              <a:t>Fault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80" dirty="0">
                <a:solidFill>
                  <a:srgbClr val="3333B2"/>
                </a:solidFill>
                <a:latin typeface="Arial"/>
                <a:cs typeface="Arial"/>
              </a:rPr>
              <a:t> </a:t>
            </a:r>
            <a:r>
              <a:rPr sz="600" spc="-5" dirty="0">
                <a:solidFill>
                  <a:srgbClr val="3333B2"/>
                </a:solidFill>
                <a:latin typeface="Arial"/>
                <a:cs typeface="Arial"/>
                <a:hlinkClick r:id="rId4" action="ppaction://hlinksldjump"/>
              </a:rPr>
              <a:t>Reliable</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client-server</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RPC</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semantics in the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presence of</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failures</a:t>
            </a:r>
            <a:endParaRPr sz="600">
              <a:latin typeface="Arial"/>
              <a:cs typeface="Arial"/>
            </a:endParaRPr>
          </a:p>
        </p:txBody>
      </p:sp>
      <p:sp>
        <p:nvSpPr>
          <p:cNvPr id="3" name="object 3"/>
          <p:cNvSpPr txBox="1">
            <a:spLocks noGrp="1"/>
          </p:cNvSpPr>
          <p:nvPr>
            <p:ph type="title"/>
          </p:nvPr>
        </p:nvSpPr>
        <p:spPr>
          <a:xfrm>
            <a:off x="95300" y="188846"/>
            <a:ext cx="4124325" cy="244475"/>
          </a:xfrm>
          <a:prstGeom prst="rect">
            <a:avLst/>
          </a:prstGeom>
        </p:spPr>
        <p:txBody>
          <a:bodyPr vert="horz" wrap="square" lIns="0" tIns="17145" rIns="0" bIns="0" rtlCol="0">
            <a:spAutoFit/>
          </a:bodyPr>
          <a:lstStyle/>
          <a:p>
            <a:pPr marL="12700">
              <a:lnSpc>
                <a:spcPct val="100000"/>
              </a:lnSpc>
              <a:spcBef>
                <a:spcPts val="135"/>
              </a:spcBef>
            </a:pPr>
            <a:r>
              <a:rPr spc="5" dirty="0"/>
              <a:t>Why</a:t>
            </a:r>
            <a:r>
              <a:rPr spc="10" dirty="0"/>
              <a:t> fully transparent </a:t>
            </a:r>
            <a:r>
              <a:rPr spc="15" dirty="0"/>
              <a:t>server</a:t>
            </a:r>
            <a:r>
              <a:rPr spc="10" dirty="0"/>
              <a:t> recovery</a:t>
            </a:r>
            <a:r>
              <a:rPr spc="15" dirty="0"/>
              <a:t> </a:t>
            </a:r>
            <a:r>
              <a:rPr spc="10" dirty="0"/>
              <a:t>is impossible</a:t>
            </a:r>
          </a:p>
        </p:txBody>
      </p:sp>
      <p:sp>
        <p:nvSpPr>
          <p:cNvPr id="4" name="object 4"/>
          <p:cNvSpPr txBox="1"/>
          <p:nvPr/>
        </p:nvSpPr>
        <p:spPr>
          <a:xfrm>
            <a:off x="615296" y="1103817"/>
            <a:ext cx="920115" cy="160020"/>
          </a:xfrm>
          <a:prstGeom prst="rect">
            <a:avLst/>
          </a:prstGeom>
        </p:spPr>
        <p:txBody>
          <a:bodyPr vert="horz" wrap="square" lIns="0" tIns="16510" rIns="0" bIns="0" rtlCol="0">
            <a:spAutoFit/>
          </a:bodyPr>
          <a:lstStyle/>
          <a:p>
            <a:pPr marL="12700">
              <a:lnSpc>
                <a:spcPct val="100000"/>
              </a:lnSpc>
              <a:spcBef>
                <a:spcPts val="130"/>
              </a:spcBef>
            </a:pPr>
            <a:r>
              <a:rPr sz="850" b="1" spc="15" dirty="0">
                <a:solidFill>
                  <a:srgbClr val="231F20"/>
                </a:solidFill>
                <a:latin typeface="Arial"/>
                <a:cs typeface="Arial"/>
              </a:rPr>
              <a:t>Reissue</a:t>
            </a:r>
            <a:r>
              <a:rPr sz="850" b="1" spc="-35" dirty="0">
                <a:solidFill>
                  <a:srgbClr val="231F20"/>
                </a:solidFill>
                <a:latin typeface="Arial"/>
                <a:cs typeface="Arial"/>
              </a:rPr>
              <a:t> </a:t>
            </a:r>
            <a:r>
              <a:rPr sz="850" b="1" spc="10" dirty="0">
                <a:solidFill>
                  <a:srgbClr val="231F20"/>
                </a:solidFill>
                <a:latin typeface="Arial"/>
                <a:cs typeface="Arial"/>
              </a:rPr>
              <a:t>strategy</a:t>
            </a:r>
            <a:endParaRPr sz="850">
              <a:latin typeface="Arial"/>
              <a:cs typeface="Arial"/>
            </a:endParaRPr>
          </a:p>
        </p:txBody>
      </p:sp>
      <p:graphicFrame>
        <p:nvGraphicFramePr>
          <p:cNvPr id="5" name="object 5"/>
          <p:cNvGraphicFramePr>
            <a:graphicFrameLocks noGrp="1"/>
          </p:cNvGraphicFramePr>
          <p:nvPr/>
        </p:nvGraphicFramePr>
        <p:xfrm>
          <a:off x="440731" y="1277925"/>
          <a:ext cx="1260475" cy="688340"/>
        </p:xfrm>
        <a:graphic>
          <a:graphicData uri="http://schemas.openxmlformats.org/drawingml/2006/table">
            <a:tbl>
              <a:tblPr firstRow="1" bandRow="1">
                <a:tableStyleId>{2D5ABB26-0587-4C30-8999-92F81FD0307C}</a:tableStyleId>
              </a:tblPr>
              <a:tblGrid>
                <a:gridCol w="1260475">
                  <a:extLst>
                    <a:ext uri="{9D8B030D-6E8A-4147-A177-3AD203B41FA5}">
                      <a16:colId xmlns:a16="http://schemas.microsoft.com/office/drawing/2014/main" val="20000"/>
                    </a:ext>
                  </a:extLst>
                </a:gridCol>
              </a:tblGrid>
              <a:tr h="172085">
                <a:tc>
                  <a:txBody>
                    <a:bodyPr/>
                    <a:lstStyle/>
                    <a:p>
                      <a:pPr marL="5715" algn="ctr">
                        <a:lnSpc>
                          <a:spcPct val="100000"/>
                        </a:lnSpc>
                        <a:spcBef>
                          <a:spcPts val="90"/>
                        </a:spcBef>
                      </a:pPr>
                      <a:r>
                        <a:rPr sz="850" spc="15" dirty="0">
                          <a:solidFill>
                            <a:srgbClr val="231F20"/>
                          </a:solidFill>
                          <a:latin typeface="Arial"/>
                          <a:cs typeface="Arial"/>
                        </a:rPr>
                        <a:t>Always</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172085">
                <a:tc>
                  <a:txBody>
                    <a:bodyPr/>
                    <a:lstStyle/>
                    <a:p>
                      <a:pPr marL="6350" algn="ctr">
                        <a:lnSpc>
                          <a:spcPct val="100000"/>
                        </a:lnSpc>
                        <a:spcBef>
                          <a:spcPts val="90"/>
                        </a:spcBef>
                      </a:pPr>
                      <a:r>
                        <a:rPr sz="850" spc="15" dirty="0">
                          <a:solidFill>
                            <a:srgbClr val="231F20"/>
                          </a:solidFill>
                          <a:latin typeface="Arial"/>
                          <a:cs typeface="Arial"/>
                        </a:rPr>
                        <a:t>Never</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72085">
                <a:tc>
                  <a:txBody>
                    <a:bodyPr/>
                    <a:lstStyle/>
                    <a:p>
                      <a:pPr marL="5080" algn="ctr">
                        <a:lnSpc>
                          <a:spcPct val="100000"/>
                        </a:lnSpc>
                        <a:spcBef>
                          <a:spcPts val="85"/>
                        </a:spcBef>
                      </a:pPr>
                      <a:r>
                        <a:rPr sz="850" spc="15" dirty="0">
                          <a:solidFill>
                            <a:srgbClr val="231F20"/>
                          </a:solidFill>
                          <a:latin typeface="Arial"/>
                          <a:cs typeface="Arial"/>
                        </a:rPr>
                        <a:t>Only</a:t>
                      </a:r>
                      <a:r>
                        <a:rPr sz="850" spc="-20" dirty="0">
                          <a:solidFill>
                            <a:srgbClr val="231F20"/>
                          </a:solidFill>
                          <a:latin typeface="Arial"/>
                          <a:cs typeface="Arial"/>
                        </a:rPr>
                        <a:t> </a:t>
                      </a:r>
                      <a:r>
                        <a:rPr sz="850" spc="15" dirty="0">
                          <a:solidFill>
                            <a:srgbClr val="231F20"/>
                          </a:solidFill>
                          <a:latin typeface="Arial"/>
                          <a:cs typeface="Arial"/>
                        </a:rPr>
                        <a:t>when</a:t>
                      </a:r>
                      <a:r>
                        <a:rPr sz="850" spc="-60" dirty="0">
                          <a:solidFill>
                            <a:srgbClr val="231F20"/>
                          </a:solidFill>
                          <a:latin typeface="Arial"/>
                          <a:cs typeface="Arial"/>
                        </a:rPr>
                        <a:t> </a:t>
                      </a:r>
                      <a:r>
                        <a:rPr sz="850" spc="15" dirty="0">
                          <a:solidFill>
                            <a:srgbClr val="231F20"/>
                          </a:solidFill>
                          <a:latin typeface="Arial"/>
                          <a:cs typeface="Arial"/>
                        </a:rPr>
                        <a:t>ACKed</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72085">
                <a:tc>
                  <a:txBody>
                    <a:bodyPr/>
                    <a:lstStyle/>
                    <a:p>
                      <a:pPr marL="1270" algn="ctr">
                        <a:lnSpc>
                          <a:spcPct val="100000"/>
                        </a:lnSpc>
                        <a:spcBef>
                          <a:spcPts val="85"/>
                        </a:spcBef>
                      </a:pPr>
                      <a:r>
                        <a:rPr sz="850" spc="15" dirty="0">
                          <a:solidFill>
                            <a:srgbClr val="231F20"/>
                          </a:solidFill>
                          <a:latin typeface="Arial"/>
                          <a:cs typeface="Arial"/>
                        </a:rPr>
                        <a:t>Only</a:t>
                      </a:r>
                      <a:r>
                        <a:rPr sz="850" spc="-10" dirty="0">
                          <a:solidFill>
                            <a:srgbClr val="231F20"/>
                          </a:solidFill>
                          <a:latin typeface="Arial"/>
                          <a:cs typeface="Arial"/>
                        </a:rPr>
                        <a:t> </a:t>
                      </a:r>
                      <a:r>
                        <a:rPr sz="850" spc="15" dirty="0">
                          <a:solidFill>
                            <a:srgbClr val="231F20"/>
                          </a:solidFill>
                          <a:latin typeface="Arial"/>
                          <a:cs typeface="Arial"/>
                        </a:rPr>
                        <a:t>when</a:t>
                      </a:r>
                      <a:r>
                        <a:rPr sz="850" spc="-10" dirty="0">
                          <a:solidFill>
                            <a:srgbClr val="231F20"/>
                          </a:solidFill>
                          <a:latin typeface="Arial"/>
                          <a:cs typeface="Arial"/>
                        </a:rPr>
                        <a:t> </a:t>
                      </a:r>
                      <a:r>
                        <a:rPr sz="850" spc="10" dirty="0">
                          <a:solidFill>
                            <a:srgbClr val="231F20"/>
                          </a:solidFill>
                          <a:latin typeface="Arial"/>
                          <a:cs typeface="Arial"/>
                        </a:rPr>
                        <a:t>not</a:t>
                      </a:r>
                      <a:r>
                        <a:rPr sz="850" spc="-50" dirty="0">
                          <a:solidFill>
                            <a:srgbClr val="231F20"/>
                          </a:solidFill>
                          <a:latin typeface="Arial"/>
                          <a:cs typeface="Arial"/>
                        </a:rPr>
                        <a:t> </a:t>
                      </a:r>
                      <a:r>
                        <a:rPr sz="850" spc="15" dirty="0">
                          <a:solidFill>
                            <a:srgbClr val="231F20"/>
                          </a:solidFill>
                          <a:latin typeface="Arial"/>
                          <a:cs typeface="Arial"/>
                        </a:rPr>
                        <a:t>ACKed</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bl>
          </a:graphicData>
        </a:graphic>
      </p:graphicFrame>
      <p:graphicFrame>
        <p:nvGraphicFramePr>
          <p:cNvPr id="6" name="object 6"/>
          <p:cNvGraphicFramePr>
            <a:graphicFrameLocks noGrp="1"/>
          </p:cNvGraphicFramePr>
          <p:nvPr/>
        </p:nvGraphicFramePr>
        <p:xfrm>
          <a:off x="886937" y="2001527"/>
          <a:ext cx="3291840" cy="683895"/>
        </p:xfrm>
        <a:graphic>
          <a:graphicData uri="http://schemas.openxmlformats.org/drawingml/2006/table">
            <a:tbl>
              <a:tblPr firstRow="1" bandRow="1">
                <a:tableStyleId>{2D5ABB26-0587-4C30-8999-92F81FD0307C}</a:tableStyleId>
              </a:tblPr>
              <a:tblGrid>
                <a:gridCol w="722630">
                  <a:extLst>
                    <a:ext uri="{9D8B030D-6E8A-4147-A177-3AD203B41FA5}">
                      <a16:colId xmlns:a16="http://schemas.microsoft.com/office/drawing/2014/main" val="20000"/>
                    </a:ext>
                  </a:extLst>
                </a:gridCol>
                <a:gridCol w="225425">
                  <a:extLst>
                    <a:ext uri="{9D8B030D-6E8A-4147-A177-3AD203B41FA5}">
                      <a16:colId xmlns:a16="http://schemas.microsoft.com/office/drawing/2014/main" val="20001"/>
                    </a:ext>
                  </a:extLst>
                </a:gridCol>
                <a:gridCol w="2343785">
                  <a:extLst>
                    <a:ext uri="{9D8B030D-6E8A-4147-A177-3AD203B41FA5}">
                      <a16:colId xmlns:a16="http://schemas.microsoft.com/office/drawing/2014/main" val="20002"/>
                    </a:ext>
                  </a:extLst>
                </a:gridCol>
              </a:tblGrid>
              <a:tr h="137795">
                <a:tc>
                  <a:txBody>
                    <a:bodyPr/>
                    <a:lstStyle/>
                    <a:p>
                      <a:pPr marL="31750">
                        <a:lnSpc>
                          <a:spcPts val="855"/>
                        </a:lnSpc>
                      </a:pPr>
                      <a:r>
                        <a:rPr sz="850" b="1" spc="10" dirty="0">
                          <a:solidFill>
                            <a:srgbClr val="231F20"/>
                          </a:solidFill>
                          <a:latin typeface="Arial"/>
                          <a:cs typeface="Arial"/>
                        </a:rPr>
                        <a:t>Client</a:t>
                      </a:r>
                      <a:endParaRPr sz="850">
                        <a:latin typeface="Arial"/>
                        <a:cs typeface="Arial"/>
                      </a:endParaRPr>
                    </a:p>
                  </a:txBody>
                  <a:tcPr marL="0" marR="0" marT="0" marB="0"/>
                </a:tc>
                <a:tc>
                  <a:txBody>
                    <a:bodyPr/>
                    <a:lstStyle/>
                    <a:p>
                      <a:pPr>
                        <a:lnSpc>
                          <a:spcPct val="100000"/>
                        </a:lnSpc>
                      </a:pPr>
                      <a:endParaRPr sz="700">
                        <a:latin typeface="Times New Roman"/>
                        <a:cs typeface="Times New Roman"/>
                      </a:endParaRPr>
                    </a:p>
                  </a:txBody>
                  <a:tcPr marL="0" marR="0" marT="0" marB="0"/>
                </a:tc>
                <a:tc>
                  <a:txBody>
                    <a:bodyPr/>
                    <a:lstStyle/>
                    <a:p>
                      <a:pPr marL="482600">
                        <a:lnSpc>
                          <a:spcPts val="855"/>
                        </a:lnSpc>
                        <a:tabLst>
                          <a:tab pos="1964055" algn="l"/>
                        </a:tabLst>
                      </a:pPr>
                      <a:r>
                        <a:rPr sz="850" b="1" spc="15" dirty="0">
                          <a:solidFill>
                            <a:srgbClr val="231F20"/>
                          </a:solidFill>
                          <a:latin typeface="Arial"/>
                          <a:cs typeface="Arial"/>
                        </a:rPr>
                        <a:t>Server	Server</a:t>
                      </a:r>
                      <a:endParaRPr sz="850">
                        <a:latin typeface="Arial"/>
                        <a:cs typeface="Arial"/>
                      </a:endParaRPr>
                    </a:p>
                  </a:txBody>
                  <a:tcPr marL="0" marR="0" marT="0" marB="0"/>
                </a:tc>
                <a:extLst>
                  <a:ext uri="{0D108BD9-81ED-4DB2-BD59-A6C34878D82A}">
                    <a16:rowId xmlns:a16="http://schemas.microsoft.com/office/drawing/2014/main" val="10000"/>
                  </a:ext>
                </a:extLst>
              </a:tr>
              <a:tr h="195580">
                <a:tc>
                  <a:txBody>
                    <a:bodyPr/>
                    <a:lstStyle/>
                    <a:p>
                      <a:pPr marR="67945" algn="r">
                        <a:lnSpc>
                          <a:spcPct val="100000"/>
                        </a:lnSpc>
                        <a:spcBef>
                          <a:spcPts val="155"/>
                        </a:spcBef>
                      </a:pPr>
                      <a:r>
                        <a:rPr sz="1000" spc="-5" dirty="0">
                          <a:latin typeface="Arial"/>
                          <a:cs typeface="Arial"/>
                        </a:rPr>
                        <a:t>OK</a:t>
                      </a:r>
                      <a:endParaRPr sz="1000">
                        <a:latin typeface="Arial"/>
                        <a:cs typeface="Arial"/>
                      </a:endParaRPr>
                    </a:p>
                  </a:txBody>
                  <a:tcPr marL="0" marR="0" marT="19685" marB="0"/>
                </a:tc>
                <a:tc>
                  <a:txBody>
                    <a:bodyPr/>
                    <a:lstStyle/>
                    <a:p>
                      <a:pPr algn="ctr">
                        <a:lnSpc>
                          <a:spcPct val="100000"/>
                        </a:lnSpc>
                        <a:spcBef>
                          <a:spcPts val="155"/>
                        </a:spcBef>
                      </a:pPr>
                      <a:r>
                        <a:rPr sz="1000" dirty="0">
                          <a:latin typeface="Arial"/>
                          <a:cs typeface="Arial"/>
                        </a:rPr>
                        <a:t>=</a:t>
                      </a:r>
                      <a:endParaRPr sz="1000">
                        <a:latin typeface="Arial"/>
                        <a:cs typeface="Arial"/>
                      </a:endParaRPr>
                    </a:p>
                  </a:txBody>
                  <a:tcPr marL="0" marR="0" marT="19685" marB="0"/>
                </a:tc>
                <a:tc>
                  <a:txBody>
                    <a:bodyPr/>
                    <a:lstStyle/>
                    <a:p>
                      <a:pPr marL="75565">
                        <a:lnSpc>
                          <a:spcPct val="100000"/>
                        </a:lnSpc>
                        <a:spcBef>
                          <a:spcPts val="155"/>
                        </a:spcBef>
                      </a:pPr>
                      <a:r>
                        <a:rPr sz="1000" spc="-5" dirty="0">
                          <a:latin typeface="Arial"/>
                          <a:cs typeface="Arial"/>
                        </a:rPr>
                        <a:t>Document</a:t>
                      </a:r>
                      <a:r>
                        <a:rPr sz="1000" spc="-20" dirty="0">
                          <a:latin typeface="Arial"/>
                          <a:cs typeface="Arial"/>
                        </a:rPr>
                        <a:t> </a:t>
                      </a:r>
                      <a:r>
                        <a:rPr sz="1000" spc="-5" dirty="0">
                          <a:latin typeface="Arial"/>
                          <a:cs typeface="Arial"/>
                        </a:rPr>
                        <a:t>updated</a:t>
                      </a:r>
                      <a:r>
                        <a:rPr sz="1000" spc="-20" dirty="0">
                          <a:latin typeface="Arial"/>
                          <a:cs typeface="Arial"/>
                        </a:rPr>
                        <a:t> </a:t>
                      </a:r>
                      <a:r>
                        <a:rPr sz="1000" spc="-5" dirty="0">
                          <a:latin typeface="Arial"/>
                          <a:cs typeface="Arial"/>
                        </a:rPr>
                        <a:t>once</a:t>
                      </a:r>
                      <a:endParaRPr sz="1000">
                        <a:latin typeface="Arial"/>
                        <a:cs typeface="Arial"/>
                      </a:endParaRPr>
                    </a:p>
                  </a:txBody>
                  <a:tcPr marL="0" marR="0" marT="19685" marB="0"/>
                </a:tc>
                <a:extLst>
                  <a:ext uri="{0D108BD9-81ED-4DB2-BD59-A6C34878D82A}">
                    <a16:rowId xmlns:a16="http://schemas.microsoft.com/office/drawing/2014/main" val="10001"/>
                  </a:ext>
                </a:extLst>
              </a:tr>
              <a:tr h="181610">
                <a:tc>
                  <a:txBody>
                    <a:bodyPr/>
                    <a:lstStyle/>
                    <a:p>
                      <a:pPr marR="67945" algn="r">
                        <a:lnSpc>
                          <a:spcPct val="100000"/>
                        </a:lnSpc>
                        <a:spcBef>
                          <a:spcPts val="50"/>
                        </a:spcBef>
                      </a:pPr>
                      <a:r>
                        <a:rPr sz="1000" spc="-5" dirty="0">
                          <a:latin typeface="Arial"/>
                          <a:cs typeface="Arial"/>
                        </a:rPr>
                        <a:t>DUP</a:t>
                      </a:r>
                      <a:endParaRPr sz="1000">
                        <a:latin typeface="Arial"/>
                        <a:cs typeface="Arial"/>
                      </a:endParaRPr>
                    </a:p>
                  </a:txBody>
                  <a:tcPr marL="0" marR="0" marT="6350" marB="0"/>
                </a:tc>
                <a:tc>
                  <a:txBody>
                    <a:bodyPr/>
                    <a:lstStyle/>
                    <a:p>
                      <a:pPr algn="ctr">
                        <a:lnSpc>
                          <a:spcPct val="100000"/>
                        </a:lnSpc>
                        <a:spcBef>
                          <a:spcPts val="50"/>
                        </a:spcBef>
                      </a:pPr>
                      <a:r>
                        <a:rPr sz="1000" dirty="0">
                          <a:latin typeface="Arial"/>
                          <a:cs typeface="Arial"/>
                        </a:rPr>
                        <a:t>=</a:t>
                      </a:r>
                      <a:endParaRPr sz="1000">
                        <a:latin typeface="Arial"/>
                        <a:cs typeface="Arial"/>
                      </a:endParaRPr>
                    </a:p>
                  </a:txBody>
                  <a:tcPr marL="0" marR="0" marT="6350" marB="0"/>
                </a:tc>
                <a:tc>
                  <a:txBody>
                    <a:bodyPr/>
                    <a:lstStyle/>
                    <a:p>
                      <a:pPr marL="75565">
                        <a:lnSpc>
                          <a:spcPct val="100000"/>
                        </a:lnSpc>
                        <a:spcBef>
                          <a:spcPts val="50"/>
                        </a:spcBef>
                      </a:pPr>
                      <a:r>
                        <a:rPr sz="1000" spc="-5" dirty="0">
                          <a:latin typeface="Arial"/>
                          <a:cs typeface="Arial"/>
                        </a:rPr>
                        <a:t>Document</a:t>
                      </a:r>
                      <a:r>
                        <a:rPr sz="1000" spc="-20" dirty="0">
                          <a:latin typeface="Arial"/>
                          <a:cs typeface="Arial"/>
                        </a:rPr>
                        <a:t> </a:t>
                      </a:r>
                      <a:r>
                        <a:rPr sz="1000" spc="-5" dirty="0">
                          <a:latin typeface="Arial"/>
                          <a:cs typeface="Arial"/>
                        </a:rPr>
                        <a:t>updated</a:t>
                      </a:r>
                      <a:r>
                        <a:rPr sz="1000" spc="-20" dirty="0">
                          <a:latin typeface="Arial"/>
                          <a:cs typeface="Arial"/>
                        </a:rPr>
                        <a:t> </a:t>
                      </a:r>
                      <a:r>
                        <a:rPr sz="1000" spc="-5" dirty="0">
                          <a:latin typeface="Arial"/>
                          <a:cs typeface="Arial"/>
                        </a:rPr>
                        <a:t>twice</a:t>
                      </a:r>
                      <a:endParaRPr sz="1000">
                        <a:latin typeface="Arial"/>
                        <a:cs typeface="Arial"/>
                      </a:endParaRPr>
                    </a:p>
                  </a:txBody>
                  <a:tcPr marL="0" marR="0" marT="6350" marB="0"/>
                </a:tc>
                <a:extLst>
                  <a:ext uri="{0D108BD9-81ED-4DB2-BD59-A6C34878D82A}">
                    <a16:rowId xmlns:a16="http://schemas.microsoft.com/office/drawing/2014/main" val="10002"/>
                  </a:ext>
                </a:extLst>
              </a:tr>
              <a:tr h="168910">
                <a:tc>
                  <a:txBody>
                    <a:bodyPr/>
                    <a:lstStyle/>
                    <a:p>
                      <a:pPr marR="67945" algn="r">
                        <a:lnSpc>
                          <a:spcPts val="1185"/>
                        </a:lnSpc>
                        <a:spcBef>
                          <a:spcPts val="50"/>
                        </a:spcBef>
                      </a:pPr>
                      <a:r>
                        <a:rPr sz="1000" spc="-10" dirty="0">
                          <a:latin typeface="Arial"/>
                          <a:cs typeface="Arial"/>
                        </a:rPr>
                        <a:t>ZERO</a:t>
                      </a:r>
                      <a:endParaRPr sz="1000">
                        <a:latin typeface="Arial"/>
                        <a:cs typeface="Arial"/>
                      </a:endParaRPr>
                    </a:p>
                  </a:txBody>
                  <a:tcPr marL="0" marR="0" marT="6350" marB="0"/>
                </a:tc>
                <a:tc>
                  <a:txBody>
                    <a:bodyPr/>
                    <a:lstStyle/>
                    <a:p>
                      <a:pPr algn="ctr">
                        <a:lnSpc>
                          <a:spcPts val="1185"/>
                        </a:lnSpc>
                        <a:spcBef>
                          <a:spcPts val="50"/>
                        </a:spcBef>
                      </a:pPr>
                      <a:r>
                        <a:rPr sz="1000" dirty="0">
                          <a:latin typeface="Arial"/>
                          <a:cs typeface="Arial"/>
                        </a:rPr>
                        <a:t>=</a:t>
                      </a:r>
                      <a:endParaRPr sz="1000">
                        <a:latin typeface="Arial"/>
                        <a:cs typeface="Arial"/>
                      </a:endParaRPr>
                    </a:p>
                  </a:txBody>
                  <a:tcPr marL="0" marR="0" marT="6350" marB="0"/>
                </a:tc>
                <a:tc>
                  <a:txBody>
                    <a:bodyPr/>
                    <a:lstStyle/>
                    <a:p>
                      <a:pPr marL="75565">
                        <a:lnSpc>
                          <a:spcPts val="1185"/>
                        </a:lnSpc>
                        <a:spcBef>
                          <a:spcPts val="50"/>
                        </a:spcBef>
                      </a:pPr>
                      <a:r>
                        <a:rPr sz="1000" spc="-5" dirty="0">
                          <a:latin typeface="Arial"/>
                          <a:cs typeface="Arial"/>
                        </a:rPr>
                        <a:t>Document</a:t>
                      </a:r>
                      <a:r>
                        <a:rPr sz="1000" spc="-15"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update</a:t>
                      </a:r>
                      <a:r>
                        <a:rPr sz="1000" spc="-10" dirty="0">
                          <a:latin typeface="Arial"/>
                          <a:cs typeface="Arial"/>
                        </a:rPr>
                        <a:t> </a:t>
                      </a:r>
                      <a:r>
                        <a:rPr sz="1000" spc="-5" dirty="0">
                          <a:latin typeface="Arial"/>
                          <a:cs typeface="Arial"/>
                        </a:rPr>
                        <a:t>at</a:t>
                      </a:r>
                      <a:r>
                        <a:rPr sz="1000" spc="-10" dirty="0">
                          <a:latin typeface="Arial"/>
                          <a:cs typeface="Arial"/>
                        </a:rPr>
                        <a:t> </a:t>
                      </a:r>
                      <a:r>
                        <a:rPr sz="1000" spc="-5" dirty="0">
                          <a:latin typeface="Arial"/>
                          <a:cs typeface="Arial"/>
                        </a:rPr>
                        <a:t>all</a:t>
                      </a:r>
                      <a:endParaRPr sz="1000">
                        <a:latin typeface="Arial"/>
                        <a:cs typeface="Arial"/>
                      </a:endParaRPr>
                    </a:p>
                  </a:txBody>
                  <a:tcPr marL="0" marR="0" marT="6350" marB="0"/>
                </a:tc>
                <a:extLst>
                  <a:ext uri="{0D108BD9-81ED-4DB2-BD59-A6C34878D82A}">
                    <a16:rowId xmlns:a16="http://schemas.microsoft.com/office/drawing/2014/main" val="10003"/>
                  </a:ext>
                </a:extLst>
              </a:tr>
            </a:tbl>
          </a:graphicData>
        </a:graphic>
      </p:graphicFrame>
      <p:sp>
        <p:nvSpPr>
          <p:cNvPr id="7" name="object 7"/>
          <p:cNvSpPr txBox="1"/>
          <p:nvPr/>
        </p:nvSpPr>
        <p:spPr>
          <a:xfrm>
            <a:off x="1867829" y="903990"/>
            <a:ext cx="1261110" cy="359410"/>
          </a:xfrm>
          <a:prstGeom prst="rect">
            <a:avLst/>
          </a:prstGeom>
        </p:spPr>
        <p:txBody>
          <a:bodyPr vert="horz" wrap="square" lIns="0" tIns="11430" rIns="0" bIns="0" rtlCol="0">
            <a:spAutoFit/>
          </a:bodyPr>
          <a:lstStyle/>
          <a:p>
            <a:pPr marL="12700" marR="5080" indent="200025">
              <a:lnSpc>
                <a:spcPct val="128899"/>
              </a:lnSpc>
              <a:spcBef>
                <a:spcPts val="90"/>
              </a:spcBef>
              <a:tabLst>
                <a:tab pos="415925" algn="l"/>
                <a:tab pos="925194" algn="l"/>
              </a:tabLst>
            </a:pPr>
            <a:r>
              <a:rPr sz="850" b="1" spc="10" dirty="0">
                <a:solidFill>
                  <a:srgbClr val="231F20"/>
                </a:solidFill>
                <a:latin typeface="Arial"/>
                <a:cs typeface="Arial"/>
              </a:rPr>
              <a:t>Strategy </a:t>
            </a:r>
            <a:r>
              <a:rPr sz="850" b="1" spc="25" dirty="0">
                <a:solidFill>
                  <a:srgbClr val="231F20"/>
                </a:solidFill>
                <a:latin typeface="Arial"/>
                <a:cs typeface="Arial"/>
              </a:rPr>
              <a:t>M </a:t>
            </a:r>
            <a:r>
              <a:rPr sz="850" spc="20" dirty="0">
                <a:solidFill>
                  <a:srgbClr val="231F20"/>
                </a:solidFill>
                <a:latin typeface="Arial Unicode MS"/>
                <a:cs typeface="Arial Unicode MS"/>
              </a:rPr>
              <a:t>→  </a:t>
            </a:r>
            <a:r>
              <a:rPr sz="850" b="1" spc="20" dirty="0">
                <a:solidFill>
                  <a:srgbClr val="231F20"/>
                </a:solidFill>
                <a:latin typeface="Arial"/>
                <a:cs typeface="Arial"/>
              </a:rPr>
              <a:t>P </a:t>
            </a:r>
            <a:r>
              <a:rPr sz="850" b="1" spc="25" dirty="0">
                <a:solidFill>
                  <a:srgbClr val="231F20"/>
                </a:solidFill>
                <a:latin typeface="Arial"/>
                <a:cs typeface="Arial"/>
              </a:rPr>
              <a:t> </a:t>
            </a:r>
            <a:r>
              <a:rPr sz="850" b="1" spc="20" dirty="0">
                <a:solidFill>
                  <a:srgbClr val="231F20"/>
                </a:solidFill>
                <a:latin typeface="Arial"/>
                <a:cs typeface="Arial"/>
              </a:rPr>
              <a:t>MPC</a:t>
            </a:r>
            <a:r>
              <a:rPr sz="850" b="1" dirty="0">
                <a:solidFill>
                  <a:srgbClr val="231F20"/>
                </a:solidFill>
                <a:latin typeface="Arial"/>
                <a:cs typeface="Arial"/>
              </a:rPr>
              <a:t>	</a:t>
            </a:r>
            <a:r>
              <a:rPr sz="850" b="1" spc="15" dirty="0">
                <a:solidFill>
                  <a:srgbClr val="231F20"/>
                </a:solidFill>
                <a:latin typeface="Arial"/>
                <a:cs typeface="Arial"/>
              </a:rPr>
              <a:t>MC(P)</a:t>
            </a:r>
            <a:r>
              <a:rPr sz="850" b="1" dirty="0">
                <a:solidFill>
                  <a:srgbClr val="231F20"/>
                </a:solidFill>
                <a:latin typeface="Arial"/>
                <a:cs typeface="Arial"/>
              </a:rPr>
              <a:t>	</a:t>
            </a:r>
            <a:r>
              <a:rPr sz="850" b="1" spc="15" dirty="0">
                <a:solidFill>
                  <a:srgbClr val="231F20"/>
                </a:solidFill>
                <a:latin typeface="Arial"/>
                <a:cs typeface="Arial"/>
              </a:rPr>
              <a:t>C(MP)</a:t>
            </a:r>
            <a:endParaRPr sz="850">
              <a:latin typeface="Arial"/>
              <a:cs typeface="Arial"/>
            </a:endParaRPr>
          </a:p>
        </p:txBody>
      </p:sp>
      <p:graphicFrame>
        <p:nvGraphicFramePr>
          <p:cNvPr id="8" name="object 8"/>
          <p:cNvGraphicFramePr>
            <a:graphicFrameLocks noGrp="1"/>
          </p:cNvGraphicFramePr>
          <p:nvPr/>
        </p:nvGraphicFramePr>
        <p:xfrm>
          <a:off x="1796642" y="1277925"/>
          <a:ext cx="1386840" cy="688340"/>
        </p:xfrm>
        <a:graphic>
          <a:graphicData uri="http://schemas.openxmlformats.org/drawingml/2006/table">
            <a:tbl>
              <a:tblPr firstRow="1" bandRow="1">
                <a:tableStyleId>{2D5ABB26-0587-4C30-8999-92F81FD0307C}</a:tableStyleId>
              </a:tblPr>
              <a:tblGrid>
                <a:gridCol w="408940">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88950">
                  <a:extLst>
                    <a:ext uri="{9D8B030D-6E8A-4147-A177-3AD203B41FA5}">
                      <a16:colId xmlns:a16="http://schemas.microsoft.com/office/drawing/2014/main" val="20002"/>
                    </a:ext>
                  </a:extLst>
                </a:gridCol>
              </a:tblGrid>
              <a:tr h="172085">
                <a:tc>
                  <a:txBody>
                    <a:bodyPr/>
                    <a:lstStyle/>
                    <a:p>
                      <a:pPr marL="1270" algn="ctr">
                        <a:lnSpc>
                          <a:spcPct val="100000"/>
                        </a:lnSpc>
                        <a:spcBef>
                          <a:spcPts val="90"/>
                        </a:spcBef>
                      </a:pPr>
                      <a:r>
                        <a:rPr sz="850" spc="20" dirty="0">
                          <a:solidFill>
                            <a:srgbClr val="231F20"/>
                          </a:solidFill>
                          <a:latin typeface="Arial"/>
                          <a:cs typeface="Arial"/>
                        </a:rPr>
                        <a:t>DUP</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635" algn="ctr">
                        <a:lnSpc>
                          <a:spcPct val="100000"/>
                        </a:lnSpc>
                        <a:spcBef>
                          <a:spcPts val="90"/>
                        </a:spcBef>
                      </a:pPr>
                      <a:r>
                        <a:rPr sz="850" spc="20" dirty="0">
                          <a:solidFill>
                            <a:srgbClr val="231F20"/>
                          </a:solidFill>
                          <a:latin typeface="Arial"/>
                          <a:cs typeface="Arial"/>
                        </a:rPr>
                        <a:t>OK</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algn="ctr">
                        <a:lnSpc>
                          <a:spcPct val="100000"/>
                        </a:lnSpc>
                        <a:spcBef>
                          <a:spcPts val="90"/>
                        </a:spcBef>
                      </a:pPr>
                      <a:r>
                        <a:rPr sz="850" spc="20" dirty="0">
                          <a:solidFill>
                            <a:srgbClr val="231F20"/>
                          </a:solidFill>
                          <a:latin typeface="Arial"/>
                          <a:cs typeface="Arial"/>
                        </a:rPr>
                        <a:t>OK</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172085">
                <a:tc>
                  <a:txBody>
                    <a:bodyPr/>
                    <a:lstStyle/>
                    <a:p>
                      <a:pPr marL="1270" algn="ctr">
                        <a:lnSpc>
                          <a:spcPct val="100000"/>
                        </a:lnSpc>
                        <a:spcBef>
                          <a:spcPts val="90"/>
                        </a:spcBef>
                      </a:pPr>
                      <a:r>
                        <a:rPr sz="850" spc="20" dirty="0">
                          <a:solidFill>
                            <a:srgbClr val="231F20"/>
                          </a:solidFill>
                          <a:latin typeface="Arial"/>
                          <a:cs typeface="Arial"/>
                        </a:rPr>
                        <a:t>OK</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175" algn="ctr">
                        <a:lnSpc>
                          <a:spcPct val="100000"/>
                        </a:lnSpc>
                        <a:spcBef>
                          <a:spcPts val="90"/>
                        </a:spcBef>
                      </a:pPr>
                      <a:r>
                        <a:rPr sz="850" spc="20" dirty="0">
                          <a:solidFill>
                            <a:srgbClr val="231F20"/>
                          </a:solidFill>
                          <a:latin typeface="Arial"/>
                          <a:cs typeface="Arial"/>
                        </a:rPr>
                        <a:t>ZERO</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175" algn="ctr">
                        <a:lnSpc>
                          <a:spcPct val="100000"/>
                        </a:lnSpc>
                        <a:spcBef>
                          <a:spcPts val="90"/>
                        </a:spcBef>
                      </a:pPr>
                      <a:r>
                        <a:rPr sz="850" spc="20" dirty="0">
                          <a:solidFill>
                            <a:srgbClr val="231F20"/>
                          </a:solidFill>
                          <a:latin typeface="Arial"/>
                          <a:cs typeface="Arial"/>
                        </a:rPr>
                        <a:t>ZERO</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72085">
                <a:tc>
                  <a:txBody>
                    <a:bodyPr/>
                    <a:lstStyle/>
                    <a:p>
                      <a:pPr marL="1270" algn="ctr">
                        <a:lnSpc>
                          <a:spcPct val="100000"/>
                        </a:lnSpc>
                        <a:spcBef>
                          <a:spcPts val="85"/>
                        </a:spcBef>
                      </a:pPr>
                      <a:r>
                        <a:rPr sz="850" spc="20" dirty="0">
                          <a:solidFill>
                            <a:srgbClr val="231F20"/>
                          </a:solidFill>
                          <a:latin typeface="Arial"/>
                          <a:cs typeface="Arial"/>
                        </a:rPr>
                        <a:t>DUP</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635" algn="ctr">
                        <a:lnSpc>
                          <a:spcPct val="100000"/>
                        </a:lnSpc>
                        <a:spcBef>
                          <a:spcPts val="85"/>
                        </a:spcBef>
                      </a:pPr>
                      <a:r>
                        <a:rPr sz="850" spc="20" dirty="0">
                          <a:solidFill>
                            <a:srgbClr val="231F20"/>
                          </a:solidFill>
                          <a:latin typeface="Arial"/>
                          <a:cs typeface="Arial"/>
                        </a:rPr>
                        <a:t>OK</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175" algn="ctr">
                        <a:lnSpc>
                          <a:spcPct val="100000"/>
                        </a:lnSpc>
                        <a:spcBef>
                          <a:spcPts val="85"/>
                        </a:spcBef>
                      </a:pPr>
                      <a:r>
                        <a:rPr sz="850" spc="20" dirty="0">
                          <a:solidFill>
                            <a:srgbClr val="231F20"/>
                          </a:solidFill>
                          <a:latin typeface="Arial"/>
                          <a:cs typeface="Arial"/>
                        </a:rPr>
                        <a:t>ZERO</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72085">
                <a:tc>
                  <a:txBody>
                    <a:bodyPr/>
                    <a:lstStyle/>
                    <a:p>
                      <a:pPr marL="1270" algn="ctr">
                        <a:lnSpc>
                          <a:spcPct val="100000"/>
                        </a:lnSpc>
                        <a:spcBef>
                          <a:spcPts val="85"/>
                        </a:spcBef>
                      </a:pPr>
                      <a:r>
                        <a:rPr sz="850" spc="20" dirty="0">
                          <a:solidFill>
                            <a:srgbClr val="231F20"/>
                          </a:solidFill>
                          <a:latin typeface="Arial"/>
                          <a:cs typeface="Arial"/>
                        </a:rPr>
                        <a:t>OK</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3175" algn="ctr">
                        <a:lnSpc>
                          <a:spcPct val="100000"/>
                        </a:lnSpc>
                        <a:spcBef>
                          <a:spcPts val="85"/>
                        </a:spcBef>
                      </a:pPr>
                      <a:r>
                        <a:rPr sz="850" spc="20" dirty="0">
                          <a:solidFill>
                            <a:srgbClr val="231F20"/>
                          </a:solidFill>
                          <a:latin typeface="Arial"/>
                          <a:cs typeface="Arial"/>
                        </a:rPr>
                        <a:t>ZERO</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algn="ctr">
                        <a:lnSpc>
                          <a:spcPct val="100000"/>
                        </a:lnSpc>
                        <a:spcBef>
                          <a:spcPts val="85"/>
                        </a:spcBef>
                      </a:pPr>
                      <a:r>
                        <a:rPr sz="850" spc="20" dirty="0">
                          <a:solidFill>
                            <a:srgbClr val="231F20"/>
                          </a:solidFill>
                          <a:latin typeface="Arial"/>
                          <a:cs typeface="Arial"/>
                        </a:rPr>
                        <a:t>OK</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bl>
          </a:graphicData>
        </a:graphic>
      </p:graphicFrame>
      <p:sp>
        <p:nvSpPr>
          <p:cNvPr id="9" name="object 9"/>
          <p:cNvSpPr txBox="1"/>
          <p:nvPr/>
        </p:nvSpPr>
        <p:spPr>
          <a:xfrm>
            <a:off x="3348685" y="903990"/>
            <a:ext cx="1261110" cy="359410"/>
          </a:xfrm>
          <a:prstGeom prst="rect">
            <a:avLst/>
          </a:prstGeom>
        </p:spPr>
        <p:txBody>
          <a:bodyPr vert="horz" wrap="square" lIns="0" tIns="11430" rIns="0" bIns="0" rtlCol="0">
            <a:spAutoFit/>
          </a:bodyPr>
          <a:lstStyle/>
          <a:p>
            <a:pPr marL="12700" marR="5080" indent="200025">
              <a:lnSpc>
                <a:spcPct val="128899"/>
              </a:lnSpc>
              <a:spcBef>
                <a:spcPts val="90"/>
              </a:spcBef>
              <a:tabLst>
                <a:tab pos="447040" algn="l"/>
                <a:tab pos="925194" algn="l"/>
              </a:tabLst>
            </a:pPr>
            <a:r>
              <a:rPr sz="850" b="1" spc="10" dirty="0">
                <a:solidFill>
                  <a:srgbClr val="231F20"/>
                </a:solidFill>
                <a:latin typeface="Arial"/>
                <a:cs typeface="Arial"/>
              </a:rPr>
              <a:t>Strategy </a:t>
            </a:r>
            <a:r>
              <a:rPr sz="850" b="1" spc="20" dirty="0">
                <a:solidFill>
                  <a:srgbClr val="231F20"/>
                </a:solidFill>
                <a:latin typeface="Arial"/>
                <a:cs typeface="Arial"/>
              </a:rPr>
              <a:t>P </a:t>
            </a:r>
            <a:r>
              <a:rPr sz="850" spc="20" dirty="0">
                <a:solidFill>
                  <a:srgbClr val="231F20"/>
                </a:solidFill>
                <a:latin typeface="Arial Unicode MS"/>
                <a:cs typeface="Arial Unicode MS"/>
              </a:rPr>
              <a:t>→  </a:t>
            </a:r>
            <a:r>
              <a:rPr sz="850" b="1" spc="25" dirty="0">
                <a:solidFill>
                  <a:srgbClr val="231F20"/>
                </a:solidFill>
                <a:latin typeface="Arial"/>
                <a:cs typeface="Arial"/>
              </a:rPr>
              <a:t>M </a:t>
            </a:r>
            <a:r>
              <a:rPr sz="850" b="1" spc="30" dirty="0">
                <a:solidFill>
                  <a:srgbClr val="231F20"/>
                </a:solidFill>
                <a:latin typeface="Arial"/>
                <a:cs typeface="Arial"/>
              </a:rPr>
              <a:t> </a:t>
            </a:r>
            <a:r>
              <a:rPr sz="850" b="1" spc="20" dirty="0">
                <a:solidFill>
                  <a:srgbClr val="231F20"/>
                </a:solidFill>
                <a:latin typeface="Arial"/>
                <a:cs typeface="Arial"/>
              </a:rPr>
              <a:t>PMC</a:t>
            </a:r>
            <a:r>
              <a:rPr sz="850" b="1" dirty="0">
                <a:solidFill>
                  <a:srgbClr val="231F20"/>
                </a:solidFill>
                <a:latin typeface="Arial"/>
                <a:cs typeface="Arial"/>
              </a:rPr>
              <a:t>	</a:t>
            </a:r>
            <a:r>
              <a:rPr sz="850" b="1" spc="15" dirty="0">
                <a:solidFill>
                  <a:srgbClr val="231F20"/>
                </a:solidFill>
                <a:latin typeface="Arial"/>
                <a:cs typeface="Arial"/>
              </a:rPr>
              <a:t>PC(M)</a:t>
            </a:r>
            <a:r>
              <a:rPr sz="850" b="1" dirty="0">
                <a:solidFill>
                  <a:srgbClr val="231F20"/>
                </a:solidFill>
                <a:latin typeface="Arial"/>
                <a:cs typeface="Arial"/>
              </a:rPr>
              <a:t>	</a:t>
            </a:r>
            <a:r>
              <a:rPr sz="850" b="1" spc="15" dirty="0">
                <a:solidFill>
                  <a:srgbClr val="231F20"/>
                </a:solidFill>
                <a:latin typeface="Arial"/>
                <a:cs typeface="Arial"/>
              </a:rPr>
              <a:t>C(PM)</a:t>
            </a:r>
            <a:endParaRPr sz="850">
              <a:latin typeface="Arial"/>
              <a:cs typeface="Arial"/>
            </a:endParaRPr>
          </a:p>
        </p:txBody>
      </p:sp>
      <p:graphicFrame>
        <p:nvGraphicFramePr>
          <p:cNvPr id="10" name="object 10"/>
          <p:cNvGraphicFramePr>
            <a:graphicFrameLocks noGrp="1"/>
          </p:cNvGraphicFramePr>
          <p:nvPr/>
        </p:nvGraphicFramePr>
        <p:xfrm>
          <a:off x="3278266" y="1277925"/>
          <a:ext cx="1327785" cy="688340"/>
        </p:xfrm>
        <a:graphic>
          <a:graphicData uri="http://schemas.openxmlformats.org/drawingml/2006/table">
            <a:tbl>
              <a:tblPr firstRow="1" bandRow="1">
                <a:tableStyleId>{2D5ABB26-0587-4C30-8999-92F81FD0307C}</a:tableStyleId>
              </a:tblPr>
              <a:tblGrid>
                <a:gridCol w="408940">
                  <a:extLst>
                    <a:ext uri="{9D8B030D-6E8A-4147-A177-3AD203B41FA5}">
                      <a16:colId xmlns:a16="http://schemas.microsoft.com/office/drawing/2014/main" val="20000"/>
                    </a:ext>
                  </a:extLst>
                </a:gridCol>
                <a:gridCol w="488950">
                  <a:extLst>
                    <a:ext uri="{9D8B030D-6E8A-4147-A177-3AD203B41FA5}">
                      <a16:colId xmlns:a16="http://schemas.microsoft.com/office/drawing/2014/main" val="20001"/>
                    </a:ext>
                  </a:extLst>
                </a:gridCol>
                <a:gridCol w="429895">
                  <a:extLst>
                    <a:ext uri="{9D8B030D-6E8A-4147-A177-3AD203B41FA5}">
                      <a16:colId xmlns:a16="http://schemas.microsoft.com/office/drawing/2014/main" val="20002"/>
                    </a:ext>
                  </a:extLst>
                </a:gridCol>
              </a:tblGrid>
              <a:tr h="172085">
                <a:tc>
                  <a:txBody>
                    <a:bodyPr/>
                    <a:lstStyle/>
                    <a:p>
                      <a:pPr marR="77470" algn="r">
                        <a:lnSpc>
                          <a:spcPct val="100000"/>
                        </a:lnSpc>
                        <a:spcBef>
                          <a:spcPts val="90"/>
                        </a:spcBef>
                      </a:pPr>
                      <a:r>
                        <a:rPr sz="850" spc="20" dirty="0">
                          <a:solidFill>
                            <a:srgbClr val="231F20"/>
                          </a:solidFill>
                          <a:latin typeface="Arial"/>
                          <a:cs typeface="Arial"/>
                        </a:rPr>
                        <a:t>DUP</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27000">
                        <a:lnSpc>
                          <a:spcPct val="100000"/>
                        </a:lnSpc>
                        <a:spcBef>
                          <a:spcPts val="90"/>
                        </a:spcBef>
                      </a:pPr>
                      <a:r>
                        <a:rPr sz="850" spc="20" dirty="0">
                          <a:solidFill>
                            <a:srgbClr val="231F20"/>
                          </a:solidFill>
                          <a:latin typeface="Arial"/>
                          <a:cs typeface="Arial"/>
                        </a:rPr>
                        <a:t>DUP</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59055" algn="ctr">
                        <a:lnSpc>
                          <a:spcPct val="100000"/>
                        </a:lnSpc>
                        <a:spcBef>
                          <a:spcPts val="90"/>
                        </a:spcBef>
                      </a:pPr>
                      <a:r>
                        <a:rPr sz="850" spc="20" dirty="0">
                          <a:solidFill>
                            <a:srgbClr val="231F20"/>
                          </a:solidFill>
                          <a:latin typeface="Arial"/>
                          <a:cs typeface="Arial"/>
                        </a:rPr>
                        <a:t>OK</a:t>
                      </a:r>
                      <a:endParaRPr sz="850">
                        <a:latin typeface="Arial"/>
                        <a:cs typeface="Arial"/>
                      </a:endParaRPr>
                    </a:p>
                  </a:txBody>
                  <a:tcPr marL="0" marR="0" marT="11430" marB="0">
                    <a:lnL w="6350">
                      <a:solidFill>
                        <a:srgbClr val="231F20"/>
                      </a:solidFill>
                      <a:prstDash val="solid"/>
                    </a:lnL>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172085">
                <a:tc>
                  <a:txBody>
                    <a:bodyPr/>
                    <a:lstStyle/>
                    <a:p>
                      <a:pPr marR="115570" algn="r">
                        <a:lnSpc>
                          <a:spcPct val="100000"/>
                        </a:lnSpc>
                        <a:spcBef>
                          <a:spcPts val="90"/>
                        </a:spcBef>
                      </a:pPr>
                      <a:r>
                        <a:rPr sz="850" spc="20" dirty="0">
                          <a:solidFill>
                            <a:srgbClr val="231F20"/>
                          </a:solidFill>
                          <a:latin typeface="Arial"/>
                          <a:cs typeface="Arial"/>
                        </a:rPr>
                        <a:t>OK</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63830">
                        <a:lnSpc>
                          <a:spcPct val="100000"/>
                        </a:lnSpc>
                        <a:spcBef>
                          <a:spcPts val="90"/>
                        </a:spcBef>
                      </a:pPr>
                      <a:r>
                        <a:rPr sz="850" spc="20" dirty="0">
                          <a:solidFill>
                            <a:srgbClr val="231F20"/>
                          </a:solidFill>
                          <a:latin typeface="Arial"/>
                          <a:cs typeface="Arial"/>
                        </a:rPr>
                        <a:t>OK</a:t>
                      </a:r>
                      <a:endParaRPr sz="850">
                        <a:latin typeface="Arial"/>
                        <a:cs typeface="Arial"/>
                      </a:endParaRPr>
                    </a:p>
                  </a:txBody>
                  <a:tcPr marL="0" marR="0" marT="1143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62865" algn="ctr">
                        <a:lnSpc>
                          <a:spcPct val="100000"/>
                        </a:lnSpc>
                        <a:spcBef>
                          <a:spcPts val="90"/>
                        </a:spcBef>
                      </a:pPr>
                      <a:r>
                        <a:rPr sz="850" spc="20" dirty="0">
                          <a:solidFill>
                            <a:srgbClr val="231F20"/>
                          </a:solidFill>
                          <a:latin typeface="Arial"/>
                          <a:cs typeface="Arial"/>
                        </a:rPr>
                        <a:t>ZERO</a:t>
                      </a:r>
                      <a:endParaRPr sz="850">
                        <a:latin typeface="Arial"/>
                        <a:cs typeface="Arial"/>
                      </a:endParaRPr>
                    </a:p>
                  </a:txBody>
                  <a:tcPr marL="0" marR="0" marT="11430" marB="0">
                    <a:lnL w="6350">
                      <a:solidFill>
                        <a:srgbClr val="231F20"/>
                      </a:solidFill>
                      <a:prstDash val="solid"/>
                    </a:lnL>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72085">
                <a:tc>
                  <a:txBody>
                    <a:bodyPr/>
                    <a:lstStyle/>
                    <a:p>
                      <a:pPr marR="77470" algn="r">
                        <a:lnSpc>
                          <a:spcPct val="100000"/>
                        </a:lnSpc>
                        <a:spcBef>
                          <a:spcPts val="85"/>
                        </a:spcBef>
                      </a:pPr>
                      <a:r>
                        <a:rPr sz="850" spc="20" dirty="0">
                          <a:solidFill>
                            <a:srgbClr val="231F20"/>
                          </a:solidFill>
                          <a:latin typeface="Arial"/>
                          <a:cs typeface="Arial"/>
                        </a:rPr>
                        <a:t>DUP</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63830">
                        <a:lnSpc>
                          <a:spcPct val="100000"/>
                        </a:lnSpc>
                        <a:spcBef>
                          <a:spcPts val="85"/>
                        </a:spcBef>
                      </a:pPr>
                      <a:r>
                        <a:rPr sz="850" spc="20" dirty="0">
                          <a:solidFill>
                            <a:srgbClr val="231F20"/>
                          </a:solidFill>
                          <a:latin typeface="Arial"/>
                          <a:cs typeface="Arial"/>
                        </a:rPr>
                        <a:t>OK</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62865" algn="ctr">
                        <a:lnSpc>
                          <a:spcPct val="100000"/>
                        </a:lnSpc>
                        <a:spcBef>
                          <a:spcPts val="85"/>
                        </a:spcBef>
                      </a:pPr>
                      <a:r>
                        <a:rPr sz="850" spc="20" dirty="0">
                          <a:solidFill>
                            <a:srgbClr val="231F20"/>
                          </a:solidFill>
                          <a:latin typeface="Arial"/>
                          <a:cs typeface="Arial"/>
                        </a:rPr>
                        <a:t>ZERO</a:t>
                      </a:r>
                      <a:endParaRPr sz="850">
                        <a:latin typeface="Arial"/>
                        <a:cs typeface="Arial"/>
                      </a:endParaRPr>
                    </a:p>
                  </a:txBody>
                  <a:tcPr marL="0" marR="0" marT="10795" marB="0">
                    <a:lnL w="6350">
                      <a:solidFill>
                        <a:srgbClr val="231F20"/>
                      </a:solidFill>
                      <a:prstDash val="solid"/>
                    </a:lnL>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72085">
                <a:tc>
                  <a:txBody>
                    <a:bodyPr/>
                    <a:lstStyle/>
                    <a:p>
                      <a:pPr marR="115570" algn="r">
                        <a:lnSpc>
                          <a:spcPct val="100000"/>
                        </a:lnSpc>
                        <a:spcBef>
                          <a:spcPts val="85"/>
                        </a:spcBef>
                      </a:pPr>
                      <a:r>
                        <a:rPr sz="850" spc="20" dirty="0">
                          <a:solidFill>
                            <a:srgbClr val="231F20"/>
                          </a:solidFill>
                          <a:latin typeface="Arial"/>
                          <a:cs typeface="Arial"/>
                        </a:rPr>
                        <a:t>OK</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127000">
                        <a:lnSpc>
                          <a:spcPct val="100000"/>
                        </a:lnSpc>
                        <a:spcBef>
                          <a:spcPts val="85"/>
                        </a:spcBef>
                      </a:pPr>
                      <a:r>
                        <a:rPr sz="850" spc="20" dirty="0">
                          <a:solidFill>
                            <a:srgbClr val="231F20"/>
                          </a:solidFill>
                          <a:latin typeface="Arial"/>
                          <a:cs typeface="Arial"/>
                        </a:rPr>
                        <a:t>DUP</a:t>
                      </a:r>
                      <a:endParaRPr sz="850">
                        <a:latin typeface="Arial"/>
                        <a:cs typeface="Arial"/>
                      </a:endParaRPr>
                    </a:p>
                  </a:txBody>
                  <a:tcPr marL="0" marR="0" marT="1079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a:txBody>
                    <a:bodyPr/>
                    <a:lstStyle/>
                    <a:p>
                      <a:pPr marL="59055" algn="ctr">
                        <a:lnSpc>
                          <a:spcPct val="100000"/>
                        </a:lnSpc>
                        <a:spcBef>
                          <a:spcPts val="85"/>
                        </a:spcBef>
                      </a:pPr>
                      <a:r>
                        <a:rPr sz="850" spc="20" dirty="0">
                          <a:solidFill>
                            <a:srgbClr val="231F20"/>
                          </a:solidFill>
                          <a:latin typeface="Arial"/>
                          <a:cs typeface="Arial"/>
                        </a:rPr>
                        <a:t>OK</a:t>
                      </a:r>
                      <a:endParaRPr sz="850">
                        <a:latin typeface="Arial"/>
                        <a:cs typeface="Arial"/>
                      </a:endParaRPr>
                    </a:p>
                  </a:txBody>
                  <a:tcPr marL="0" marR="0" marT="10795" marB="0">
                    <a:lnL w="6350">
                      <a:solidFill>
                        <a:srgbClr val="231F20"/>
                      </a:solidFill>
                      <a:prstDash val="solid"/>
                    </a:lnL>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8224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0" dirty="0">
                <a:solidFill>
                  <a:srgbClr val="3333B2"/>
                </a:solidFill>
                <a:latin typeface="Arial"/>
                <a:cs typeface="Arial"/>
              </a:rPr>
              <a:t> </a:t>
            </a:r>
            <a:r>
              <a:rPr sz="600" spc="-5" dirty="0">
                <a:solidFill>
                  <a:srgbClr val="3333B2"/>
                </a:solidFill>
                <a:latin typeface="Arial"/>
                <a:cs typeface="Arial"/>
                <a:hlinkClick r:id="rId4" action="ppaction://hlinksldjump"/>
              </a:rPr>
              <a:t>Reliable</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client-server</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04776" y="716"/>
            <a:ext cx="14370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RPC semantics in</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the presence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 failures</a:t>
            </a:r>
            <a:endParaRPr sz="600">
              <a:latin typeface="Arial"/>
              <a:cs typeface="Arial"/>
            </a:endParaRPr>
          </a:p>
        </p:txBody>
      </p:sp>
      <p:sp>
        <p:nvSpPr>
          <p:cNvPr id="4" name="object 4"/>
          <p:cNvSpPr txBox="1"/>
          <p:nvPr/>
        </p:nvSpPr>
        <p:spPr>
          <a:xfrm>
            <a:off x="82600" y="188846"/>
            <a:ext cx="4216400" cy="2584450"/>
          </a:xfrm>
          <a:prstGeom prst="rect">
            <a:avLst/>
          </a:prstGeom>
        </p:spPr>
        <p:txBody>
          <a:bodyPr vert="horz" wrap="square" lIns="0" tIns="17145" rIns="0" bIns="0" rtlCol="0">
            <a:spAutoFit/>
          </a:bodyPr>
          <a:lstStyle/>
          <a:p>
            <a:pPr marL="25400">
              <a:lnSpc>
                <a:spcPct val="100000"/>
              </a:lnSpc>
              <a:spcBef>
                <a:spcPts val="135"/>
              </a:spcBef>
            </a:pPr>
            <a:r>
              <a:rPr sz="1400" spc="10" dirty="0">
                <a:solidFill>
                  <a:srgbClr val="3333B2"/>
                </a:solidFill>
                <a:latin typeface="Arial"/>
                <a:cs typeface="Arial"/>
              </a:rPr>
              <a:t>Reliable</a:t>
            </a:r>
            <a:r>
              <a:rPr sz="1400" dirty="0">
                <a:solidFill>
                  <a:srgbClr val="3333B2"/>
                </a:solidFill>
                <a:latin typeface="Arial"/>
                <a:cs typeface="Arial"/>
              </a:rPr>
              <a:t> </a:t>
            </a:r>
            <a:r>
              <a:rPr sz="1400" spc="20" dirty="0">
                <a:solidFill>
                  <a:srgbClr val="3333B2"/>
                </a:solidFill>
                <a:latin typeface="Arial"/>
                <a:cs typeface="Arial"/>
              </a:rPr>
              <a:t>RPC:</a:t>
            </a:r>
            <a:r>
              <a:rPr sz="1400" spc="5" dirty="0">
                <a:solidFill>
                  <a:srgbClr val="3333B2"/>
                </a:solidFill>
                <a:latin typeface="Arial"/>
                <a:cs typeface="Arial"/>
              </a:rPr>
              <a:t> </a:t>
            </a:r>
            <a:r>
              <a:rPr sz="1400" spc="10" dirty="0">
                <a:solidFill>
                  <a:srgbClr val="3333B2"/>
                </a:solidFill>
                <a:latin typeface="Arial"/>
                <a:cs typeface="Arial"/>
              </a:rPr>
              <a:t>lost</a:t>
            </a:r>
            <a:r>
              <a:rPr sz="1400" dirty="0">
                <a:solidFill>
                  <a:srgbClr val="3333B2"/>
                </a:solidFill>
                <a:latin typeface="Arial"/>
                <a:cs typeface="Arial"/>
              </a:rPr>
              <a:t> </a:t>
            </a:r>
            <a:r>
              <a:rPr sz="1400" spc="10" dirty="0">
                <a:solidFill>
                  <a:srgbClr val="3333B2"/>
                </a:solidFill>
                <a:latin typeface="Arial"/>
                <a:cs typeface="Arial"/>
              </a:rPr>
              <a:t>reply</a:t>
            </a:r>
            <a:r>
              <a:rPr sz="1400" spc="5" dirty="0">
                <a:solidFill>
                  <a:srgbClr val="3333B2"/>
                </a:solidFill>
                <a:latin typeface="Arial"/>
                <a:cs typeface="Arial"/>
              </a:rPr>
              <a:t> </a:t>
            </a:r>
            <a:r>
              <a:rPr sz="1400" spc="15" dirty="0">
                <a:solidFill>
                  <a:srgbClr val="3333B2"/>
                </a:solidFill>
                <a:latin typeface="Arial"/>
                <a:cs typeface="Arial"/>
              </a:rPr>
              <a:t>messages</a:t>
            </a:r>
            <a:endParaRPr sz="1400">
              <a:latin typeface="Arial"/>
              <a:cs typeface="Arial"/>
            </a:endParaRPr>
          </a:p>
          <a:p>
            <a:pPr>
              <a:lnSpc>
                <a:spcPct val="100000"/>
              </a:lnSpc>
              <a:spcBef>
                <a:spcPts val="15"/>
              </a:spcBef>
            </a:pPr>
            <a:endParaRPr sz="2600">
              <a:latin typeface="Arial"/>
              <a:cs typeface="Arial"/>
            </a:endParaRPr>
          </a:p>
          <a:p>
            <a:pPr marL="272415">
              <a:lnSpc>
                <a:spcPts val="1410"/>
              </a:lnSpc>
            </a:pPr>
            <a:r>
              <a:rPr sz="1200" spc="-5" dirty="0">
                <a:solidFill>
                  <a:srgbClr val="3333B2"/>
                </a:solidFill>
                <a:latin typeface="Arial"/>
                <a:cs typeface="Arial"/>
              </a:rPr>
              <a:t>The</a:t>
            </a:r>
            <a:r>
              <a:rPr sz="1200" spc="-30" dirty="0">
                <a:solidFill>
                  <a:srgbClr val="3333B2"/>
                </a:solidFill>
                <a:latin typeface="Arial"/>
                <a:cs typeface="Arial"/>
              </a:rPr>
              <a:t> </a:t>
            </a:r>
            <a:r>
              <a:rPr sz="1200" spc="-5" dirty="0">
                <a:solidFill>
                  <a:srgbClr val="3333B2"/>
                </a:solidFill>
                <a:latin typeface="Arial"/>
                <a:cs typeface="Arial"/>
              </a:rPr>
              <a:t>real</a:t>
            </a:r>
            <a:r>
              <a:rPr sz="1200" spc="-25" dirty="0">
                <a:solidFill>
                  <a:srgbClr val="3333B2"/>
                </a:solidFill>
                <a:latin typeface="Arial"/>
                <a:cs typeface="Arial"/>
              </a:rPr>
              <a:t> </a:t>
            </a:r>
            <a:r>
              <a:rPr sz="1200" spc="-5" dirty="0">
                <a:solidFill>
                  <a:srgbClr val="3333B2"/>
                </a:solidFill>
                <a:latin typeface="Arial"/>
                <a:cs typeface="Arial"/>
              </a:rPr>
              <a:t>issue</a:t>
            </a:r>
            <a:endParaRPr sz="1200">
              <a:latin typeface="Arial"/>
              <a:cs typeface="Arial"/>
            </a:endParaRPr>
          </a:p>
          <a:p>
            <a:pPr marL="276860" marR="104139" indent="-6350">
              <a:lnSpc>
                <a:spcPts val="1200"/>
              </a:lnSpc>
              <a:spcBef>
                <a:spcPts val="10"/>
              </a:spcBef>
            </a:pPr>
            <a:r>
              <a:rPr sz="1000" spc="-5" dirty="0">
                <a:latin typeface="Arial"/>
                <a:cs typeface="Arial"/>
              </a:rPr>
              <a:t>What the</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notices,</a:t>
            </a:r>
            <a:r>
              <a:rPr sz="1000" dirty="0">
                <a:latin typeface="Arial"/>
                <a:cs typeface="Arial"/>
              </a:rPr>
              <a:t> </a:t>
            </a:r>
            <a:r>
              <a:rPr sz="1000" spc="-5" dirty="0">
                <a:latin typeface="Arial"/>
                <a:cs typeface="Arial"/>
              </a:rPr>
              <a:t>is that</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not getting</a:t>
            </a:r>
            <a:r>
              <a:rPr sz="1000" dirty="0">
                <a:latin typeface="Arial"/>
                <a:cs typeface="Arial"/>
              </a:rPr>
              <a:t> </a:t>
            </a:r>
            <a:r>
              <a:rPr sz="1000" spc="-5" dirty="0">
                <a:latin typeface="Arial"/>
                <a:cs typeface="Arial"/>
              </a:rPr>
              <a:t>an</a:t>
            </a:r>
            <a:r>
              <a:rPr sz="1000" dirty="0">
                <a:latin typeface="Arial"/>
                <a:cs typeface="Arial"/>
              </a:rPr>
              <a:t> </a:t>
            </a:r>
            <a:r>
              <a:rPr sz="1000" spc="-15" dirty="0">
                <a:latin typeface="Arial"/>
                <a:cs typeface="Arial"/>
              </a:rPr>
              <a:t>answer.</a:t>
            </a:r>
            <a:r>
              <a:rPr sz="1000" spc="65" dirty="0">
                <a:latin typeface="Arial"/>
                <a:cs typeface="Arial"/>
              </a:rPr>
              <a:t> </a:t>
            </a:r>
            <a:r>
              <a:rPr sz="1000" spc="-20" dirty="0">
                <a:latin typeface="Arial"/>
                <a:cs typeface="Arial"/>
              </a:rPr>
              <a:t>However,</a:t>
            </a:r>
            <a:r>
              <a:rPr sz="1000" dirty="0">
                <a:latin typeface="Arial"/>
                <a:cs typeface="Arial"/>
              </a:rPr>
              <a:t> </a:t>
            </a:r>
            <a:r>
              <a:rPr sz="1000" spc="-5" dirty="0">
                <a:latin typeface="Arial"/>
                <a:cs typeface="Arial"/>
              </a:rPr>
              <a:t>it </a:t>
            </a:r>
            <a:r>
              <a:rPr sz="1000" spc="-265" dirty="0">
                <a:latin typeface="Arial"/>
                <a:cs typeface="Arial"/>
              </a:rPr>
              <a:t> </a:t>
            </a:r>
            <a:r>
              <a:rPr sz="1000" spc="-5" dirty="0">
                <a:solidFill>
                  <a:srgbClr val="0000FA"/>
                </a:solidFill>
                <a:latin typeface="Arial"/>
                <a:cs typeface="Arial"/>
              </a:rPr>
              <a:t>cannot decide</a:t>
            </a:r>
            <a:r>
              <a:rPr sz="1000" dirty="0">
                <a:solidFill>
                  <a:srgbClr val="0000FA"/>
                </a:solidFill>
                <a:latin typeface="Arial"/>
                <a:cs typeface="Arial"/>
              </a:rPr>
              <a:t> </a:t>
            </a:r>
            <a:r>
              <a:rPr sz="1000" spc="-5" dirty="0">
                <a:latin typeface="Arial"/>
                <a:cs typeface="Arial"/>
              </a:rPr>
              <a:t>whether</a:t>
            </a:r>
            <a:r>
              <a:rPr sz="1000" dirty="0">
                <a:latin typeface="Arial"/>
                <a:cs typeface="Arial"/>
              </a:rPr>
              <a:t> </a:t>
            </a:r>
            <a:r>
              <a:rPr sz="1000" spc="-5" dirty="0">
                <a:latin typeface="Arial"/>
                <a:cs typeface="Arial"/>
              </a:rPr>
              <a:t>this is</a:t>
            </a:r>
            <a:r>
              <a:rPr sz="1000" dirty="0">
                <a:latin typeface="Arial"/>
                <a:cs typeface="Arial"/>
              </a:rPr>
              <a:t> </a:t>
            </a:r>
            <a:r>
              <a:rPr sz="1000" spc="-5" dirty="0">
                <a:latin typeface="Arial"/>
                <a:cs typeface="Arial"/>
              </a:rPr>
              <a:t>caused</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a </a:t>
            </a:r>
            <a:r>
              <a:rPr sz="1000" spc="-5" dirty="0">
                <a:solidFill>
                  <a:srgbClr val="0000FA"/>
                </a:solidFill>
                <a:latin typeface="Arial"/>
                <a:cs typeface="Arial"/>
              </a:rPr>
              <a:t>lost</a:t>
            </a:r>
            <a:r>
              <a:rPr sz="1000" dirty="0">
                <a:solidFill>
                  <a:srgbClr val="0000FA"/>
                </a:solidFill>
                <a:latin typeface="Arial"/>
                <a:cs typeface="Arial"/>
              </a:rPr>
              <a:t> </a:t>
            </a:r>
            <a:r>
              <a:rPr sz="1000" spc="-5" dirty="0">
                <a:solidFill>
                  <a:srgbClr val="0000FA"/>
                </a:solidFill>
                <a:latin typeface="Arial"/>
                <a:cs typeface="Arial"/>
              </a:rPr>
              <a:t>request</a:t>
            </a:r>
            <a:r>
              <a:rPr sz="1000" spc="-5" dirty="0">
                <a:latin typeface="Arial"/>
                <a:cs typeface="Arial"/>
              </a:rPr>
              <a:t>,</a:t>
            </a:r>
            <a:r>
              <a:rPr sz="1000" dirty="0">
                <a:latin typeface="Arial"/>
                <a:cs typeface="Arial"/>
              </a:rPr>
              <a:t> </a:t>
            </a:r>
            <a:r>
              <a:rPr sz="1000" spc="-5" dirty="0">
                <a:solidFill>
                  <a:srgbClr val="0000FA"/>
                </a:solidFill>
                <a:latin typeface="Arial"/>
                <a:cs typeface="Arial"/>
              </a:rPr>
              <a:t>a</a:t>
            </a:r>
            <a:r>
              <a:rPr sz="1000" dirty="0">
                <a:solidFill>
                  <a:srgbClr val="0000FA"/>
                </a:solidFill>
                <a:latin typeface="Arial"/>
                <a:cs typeface="Arial"/>
              </a:rPr>
              <a:t> </a:t>
            </a:r>
            <a:r>
              <a:rPr sz="1000" spc="-5" dirty="0">
                <a:solidFill>
                  <a:srgbClr val="0000FA"/>
                </a:solidFill>
                <a:latin typeface="Arial"/>
                <a:cs typeface="Arial"/>
              </a:rPr>
              <a:t>crashed </a:t>
            </a:r>
            <a:r>
              <a:rPr sz="1000" dirty="0">
                <a:solidFill>
                  <a:srgbClr val="0000FA"/>
                </a:solidFill>
                <a:latin typeface="Arial"/>
                <a:cs typeface="Arial"/>
              </a:rPr>
              <a:t> </a:t>
            </a:r>
            <a:r>
              <a:rPr sz="1000" spc="-5" dirty="0">
                <a:solidFill>
                  <a:srgbClr val="0000FA"/>
                </a:solidFill>
                <a:latin typeface="Arial"/>
                <a:cs typeface="Arial"/>
              </a:rPr>
              <a:t>server</a:t>
            </a:r>
            <a:r>
              <a:rPr sz="1000" spc="-5" dirty="0">
                <a:latin typeface="Arial"/>
                <a:cs typeface="Arial"/>
              </a:rPr>
              <a:t>,</a:t>
            </a:r>
            <a:r>
              <a:rPr sz="1000" spc="-10" dirty="0">
                <a:latin typeface="Arial"/>
                <a:cs typeface="Arial"/>
              </a:rPr>
              <a:t> </a:t>
            </a:r>
            <a:r>
              <a:rPr sz="1000" spc="-5" dirty="0">
                <a:latin typeface="Arial"/>
                <a:cs typeface="Arial"/>
              </a:rPr>
              <a:t>or a </a:t>
            </a:r>
            <a:r>
              <a:rPr sz="1000" spc="-5" dirty="0">
                <a:solidFill>
                  <a:srgbClr val="0000FA"/>
                </a:solidFill>
                <a:latin typeface="Arial"/>
                <a:cs typeface="Arial"/>
              </a:rPr>
              <a:t>lost response</a:t>
            </a:r>
            <a:r>
              <a:rPr sz="1000" spc="-5" dirty="0">
                <a:latin typeface="Arial"/>
                <a:cs typeface="Arial"/>
              </a:rPr>
              <a:t>.</a:t>
            </a:r>
            <a:endParaRPr sz="1000">
              <a:latin typeface="Arial"/>
              <a:cs typeface="Arial"/>
            </a:endParaRPr>
          </a:p>
          <a:p>
            <a:pPr marL="276860">
              <a:lnSpc>
                <a:spcPts val="1410"/>
              </a:lnSpc>
              <a:spcBef>
                <a:spcPts val="645"/>
              </a:spcBef>
            </a:pPr>
            <a:r>
              <a:rPr sz="1200" spc="-5" dirty="0">
                <a:solidFill>
                  <a:srgbClr val="3333B2"/>
                </a:solidFill>
                <a:latin typeface="Arial"/>
                <a:cs typeface="Arial"/>
              </a:rPr>
              <a:t>Partial</a:t>
            </a:r>
            <a:r>
              <a:rPr sz="1200" spc="-35"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276860" marR="118745">
              <a:lnSpc>
                <a:spcPts val="1200"/>
              </a:lnSpc>
              <a:spcBef>
                <a:spcPts val="15"/>
              </a:spcBef>
            </a:pPr>
            <a:r>
              <a:rPr sz="1000" spc="-5" dirty="0">
                <a:latin typeface="Arial"/>
                <a:cs typeface="Arial"/>
              </a:rPr>
              <a:t>Design</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such</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its</a:t>
            </a:r>
            <a:r>
              <a:rPr sz="1000" dirty="0">
                <a:latin typeface="Arial"/>
                <a:cs typeface="Arial"/>
              </a:rPr>
              <a:t> </a:t>
            </a:r>
            <a:r>
              <a:rPr sz="1000" spc="-5" dirty="0">
                <a:latin typeface="Arial"/>
                <a:cs typeface="Arial"/>
              </a:rPr>
              <a:t>operations</a:t>
            </a:r>
            <a:r>
              <a:rPr sz="1000" spc="5" dirty="0">
                <a:latin typeface="Arial"/>
                <a:cs typeface="Arial"/>
              </a:rPr>
              <a:t> </a:t>
            </a:r>
            <a:r>
              <a:rPr sz="1000" spc="-5" dirty="0">
                <a:latin typeface="Arial"/>
                <a:cs typeface="Arial"/>
              </a:rPr>
              <a:t>are</a:t>
            </a:r>
            <a:r>
              <a:rPr sz="1000" spc="5" dirty="0">
                <a:latin typeface="Arial"/>
                <a:cs typeface="Arial"/>
              </a:rPr>
              <a:t> </a:t>
            </a:r>
            <a:r>
              <a:rPr sz="1000" spc="-5" dirty="0">
                <a:solidFill>
                  <a:srgbClr val="FA0000"/>
                </a:solidFill>
                <a:latin typeface="Arial"/>
                <a:cs typeface="Arial"/>
              </a:rPr>
              <a:t>idempotent</a:t>
            </a:r>
            <a:r>
              <a:rPr sz="1000" spc="-5" dirty="0">
                <a:latin typeface="Arial"/>
                <a:cs typeface="Arial"/>
              </a:rPr>
              <a:t>:</a:t>
            </a:r>
            <a:r>
              <a:rPr sz="1000" spc="70" dirty="0">
                <a:latin typeface="Arial"/>
                <a:cs typeface="Arial"/>
              </a:rPr>
              <a:t> </a:t>
            </a:r>
            <a:r>
              <a:rPr sz="1000" spc="-5" dirty="0">
                <a:latin typeface="Arial"/>
                <a:cs typeface="Arial"/>
              </a:rPr>
              <a:t>repeating </a:t>
            </a:r>
            <a:r>
              <a:rPr sz="1000" spc="-265" dirty="0">
                <a:latin typeface="Arial"/>
                <a:cs typeface="Arial"/>
              </a:rPr>
              <a:t> </a:t>
            </a:r>
            <a:r>
              <a:rPr sz="1000" spc="-5" dirty="0">
                <a:latin typeface="Arial"/>
                <a:cs typeface="Arial"/>
              </a:rPr>
              <a:t>the same operation</a:t>
            </a:r>
            <a:r>
              <a:rPr sz="1000" dirty="0">
                <a:latin typeface="Arial"/>
                <a:cs typeface="Arial"/>
              </a:rPr>
              <a:t> </a:t>
            </a:r>
            <a:r>
              <a:rPr sz="1000" spc="-5" dirty="0">
                <a:latin typeface="Arial"/>
                <a:cs typeface="Arial"/>
              </a:rPr>
              <a:t>is the</a:t>
            </a:r>
            <a:r>
              <a:rPr sz="1000" dirty="0">
                <a:latin typeface="Arial"/>
                <a:cs typeface="Arial"/>
              </a:rPr>
              <a:t> </a:t>
            </a:r>
            <a:r>
              <a:rPr sz="1000" spc="-5" dirty="0">
                <a:latin typeface="Arial"/>
                <a:cs typeface="Arial"/>
              </a:rPr>
              <a:t>same as</a:t>
            </a:r>
            <a:r>
              <a:rPr sz="1000" dirty="0">
                <a:latin typeface="Arial"/>
                <a:cs typeface="Arial"/>
              </a:rPr>
              <a:t> carrying</a:t>
            </a:r>
            <a:r>
              <a:rPr sz="1000" spc="-5" dirty="0">
                <a:latin typeface="Arial"/>
                <a:cs typeface="Arial"/>
              </a:rPr>
              <a:t> it out</a:t>
            </a:r>
            <a:r>
              <a:rPr sz="1000" dirty="0">
                <a:latin typeface="Arial"/>
                <a:cs typeface="Arial"/>
              </a:rPr>
              <a:t> </a:t>
            </a:r>
            <a:r>
              <a:rPr sz="1000" spc="-10" dirty="0">
                <a:latin typeface="Arial"/>
                <a:cs typeface="Arial"/>
              </a:rPr>
              <a:t>exactly</a:t>
            </a:r>
            <a:r>
              <a:rPr sz="1000" spc="-5" dirty="0">
                <a:latin typeface="Arial"/>
                <a:cs typeface="Arial"/>
              </a:rPr>
              <a:t> once:</a:t>
            </a:r>
            <a:endParaRPr sz="1000">
              <a:latin typeface="Arial"/>
              <a:cs typeface="Arial"/>
            </a:endParaRPr>
          </a:p>
          <a:p>
            <a:pPr marL="554355" indent="-168275">
              <a:lnSpc>
                <a:spcPts val="1200"/>
              </a:lnSpc>
              <a:spcBef>
                <a:spcPts val="545"/>
              </a:spcBef>
              <a:buClr>
                <a:srgbClr val="3333B2"/>
              </a:buClr>
              <a:buChar char="►"/>
              <a:tabLst>
                <a:tab pos="554990" algn="l"/>
              </a:tabLst>
            </a:pPr>
            <a:r>
              <a:rPr sz="1000" spc="-5" dirty="0">
                <a:latin typeface="Arial"/>
                <a:cs typeface="Arial"/>
              </a:rPr>
              <a:t>pure</a:t>
            </a:r>
            <a:r>
              <a:rPr sz="1000" spc="-25" dirty="0">
                <a:latin typeface="Arial"/>
                <a:cs typeface="Arial"/>
              </a:rPr>
              <a:t> </a:t>
            </a:r>
            <a:r>
              <a:rPr sz="1000" spc="-5" dirty="0">
                <a:latin typeface="Arial"/>
                <a:cs typeface="Arial"/>
              </a:rPr>
              <a:t>read</a:t>
            </a:r>
            <a:r>
              <a:rPr sz="1000" spc="-20" dirty="0">
                <a:latin typeface="Arial"/>
                <a:cs typeface="Arial"/>
              </a:rPr>
              <a:t> </a:t>
            </a:r>
            <a:r>
              <a:rPr sz="1000" spc="-5" dirty="0">
                <a:latin typeface="Arial"/>
                <a:cs typeface="Arial"/>
              </a:rPr>
              <a:t>operations</a:t>
            </a:r>
            <a:endParaRPr sz="1000">
              <a:latin typeface="Arial"/>
              <a:cs typeface="Arial"/>
            </a:endParaRPr>
          </a:p>
          <a:p>
            <a:pPr marL="554355" indent="-168275">
              <a:lnSpc>
                <a:spcPts val="1200"/>
              </a:lnSpc>
              <a:buClr>
                <a:srgbClr val="3333B2"/>
              </a:buClr>
              <a:buChar char="►"/>
              <a:tabLst>
                <a:tab pos="554990" algn="l"/>
              </a:tabLst>
            </a:pPr>
            <a:r>
              <a:rPr sz="1000" dirty="0">
                <a:latin typeface="Arial"/>
                <a:cs typeface="Arial"/>
              </a:rPr>
              <a:t>strict</a:t>
            </a:r>
            <a:r>
              <a:rPr sz="1000" spc="-15" dirty="0">
                <a:latin typeface="Arial"/>
                <a:cs typeface="Arial"/>
              </a:rPr>
              <a:t> </a:t>
            </a:r>
            <a:r>
              <a:rPr sz="1000" spc="-10" dirty="0">
                <a:latin typeface="Arial"/>
                <a:cs typeface="Arial"/>
              </a:rPr>
              <a:t>overwrite</a:t>
            </a:r>
            <a:r>
              <a:rPr sz="1000" spc="-15" dirty="0">
                <a:latin typeface="Arial"/>
                <a:cs typeface="Arial"/>
              </a:rPr>
              <a:t> </a:t>
            </a:r>
            <a:r>
              <a:rPr sz="1000" spc="-5" dirty="0">
                <a:latin typeface="Arial"/>
                <a:cs typeface="Arial"/>
              </a:rPr>
              <a:t>operations</a:t>
            </a:r>
            <a:endParaRPr sz="1000">
              <a:latin typeface="Arial"/>
              <a:cs typeface="Arial"/>
            </a:endParaRPr>
          </a:p>
          <a:p>
            <a:pPr marL="276860" marR="43180">
              <a:lnSpc>
                <a:spcPct val="100000"/>
              </a:lnSpc>
              <a:spcBef>
                <a:spcPts val="595"/>
              </a:spcBef>
            </a:pPr>
            <a:r>
              <a:rPr sz="1000" spc="-15" dirty="0">
                <a:latin typeface="Arial"/>
                <a:cs typeface="Arial"/>
              </a:rPr>
              <a:t>Many</a:t>
            </a:r>
            <a:r>
              <a:rPr sz="1000" spc="-5" dirty="0">
                <a:latin typeface="Arial"/>
                <a:cs typeface="Arial"/>
              </a:rPr>
              <a:t> </a:t>
            </a:r>
            <a:r>
              <a:rPr sz="1000" spc="-10" dirty="0">
                <a:latin typeface="Arial"/>
                <a:cs typeface="Arial"/>
              </a:rPr>
              <a:t>operations</a:t>
            </a:r>
            <a:r>
              <a:rPr sz="1000" dirty="0">
                <a:latin typeface="Arial"/>
                <a:cs typeface="Arial"/>
              </a:rPr>
              <a:t> </a:t>
            </a:r>
            <a:r>
              <a:rPr sz="1000" spc="-10" dirty="0">
                <a:latin typeface="Arial"/>
                <a:cs typeface="Arial"/>
              </a:rPr>
              <a:t>are</a:t>
            </a:r>
            <a:r>
              <a:rPr sz="1000" spc="-5" dirty="0">
                <a:latin typeface="Arial"/>
                <a:cs typeface="Arial"/>
              </a:rPr>
              <a:t> </a:t>
            </a:r>
            <a:r>
              <a:rPr sz="1000" spc="-10" dirty="0">
                <a:solidFill>
                  <a:srgbClr val="0000FA"/>
                </a:solidFill>
                <a:latin typeface="Arial"/>
                <a:cs typeface="Arial"/>
              </a:rPr>
              <a:t>inherently</a:t>
            </a:r>
            <a:r>
              <a:rPr sz="1000" dirty="0">
                <a:solidFill>
                  <a:srgbClr val="0000FA"/>
                </a:solidFill>
                <a:latin typeface="Arial"/>
                <a:cs typeface="Arial"/>
              </a:rPr>
              <a:t> </a:t>
            </a:r>
            <a:r>
              <a:rPr sz="1000" spc="-10" dirty="0">
                <a:solidFill>
                  <a:srgbClr val="0000FA"/>
                </a:solidFill>
                <a:latin typeface="Arial"/>
                <a:cs typeface="Arial"/>
              </a:rPr>
              <a:t>nonidempotent</a:t>
            </a:r>
            <a:r>
              <a:rPr sz="1000" spc="-10" dirty="0">
                <a:latin typeface="Arial"/>
                <a:cs typeface="Arial"/>
              </a:rPr>
              <a:t>,</a:t>
            </a:r>
            <a:r>
              <a:rPr sz="1000" spc="-5" dirty="0">
                <a:latin typeface="Arial"/>
                <a:cs typeface="Arial"/>
              </a:rPr>
              <a:t> </a:t>
            </a:r>
            <a:r>
              <a:rPr sz="1000" spc="-10" dirty="0">
                <a:latin typeface="Arial"/>
                <a:cs typeface="Arial"/>
              </a:rPr>
              <a:t>such</a:t>
            </a:r>
            <a:r>
              <a:rPr sz="1000" dirty="0">
                <a:latin typeface="Arial"/>
                <a:cs typeface="Arial"/>
              </a:rPr>
              <a:t> </a:t>
            </a:r>
            <a:r>
              <a:rPr sz="1000" spc="-10" dirty="0">
                <a:latin typeface="Arial"/>
                <a:cs typeface="Arial"/>
              </a:rPr>
              <a:t>as</a:t>
            </a:r>
            <a:r>
              <a:rPr sz="1000" spc="-5" dirty="0">
                <a:latin typeface="Arial"/>
                <a:cs typeface="Arial"/>
              </a:rPr>
              <a:t> </a:t>
            </a:r>
            <a:r>
              <a:rPr sz="1000" spc="-15" dirty="0">
                <a:latin typeface="Arial"/>
                <a:cs typeface="Arial"/>
              </a:rPr>
              <a:t>many</a:t>
            </a:r>
            <a:r>
              <a:rPr sz="1000" dirty="0">
                <a:latin typeface="Arial"/>
                <a:cs typeface="Arial"/>
              </a:rPr>
              <a:t> </a:t>
            </a:r>
            <a:r>
              <a:rPr sz="1000" spc="-10" dirty="0">
                <a:latin typeface="Arial"/>
                <a:cs typeface="Arial"/>
              </a:rPr>
              <a:t>banking </a:t>
            </a:r>
            <a:r>
              <a:rPr sz="1000" spc="-265" dirty="0">
                <a:latin typeface="Arial"/>
                <a:cs typeface="Arial"/>
              </a:rPr>
              <a:t> </a:t>
            </a:r>
            <a:r>
              <a:rPr sz="1000" spc="-5" dirty="0">
                <a:latin typeface="Arial"/>
                <a:cs typeface="Arial"/>
              </a:rPr>
              <a:t>transactions.</a:t>
            </a:r>
            <a:endParaRPr sz="1000">
              <a:latin typeface="Arial"/>
              <a:cs typeface="Arial"/>
            </a:endParaRPr>
          </a:p>
        </p:txBody>
      </p:sp>
      <p:sp>
        <p:nvSpPr>
          <p:cNvPr id="5" name="object 5"/>
          <p:cNvSpPr txBox="1"/>
          <p:nvPr/>
        </p:nvSpPr>
        <p:spPr>
          <a:xfrm>
            <a:off x="66713" y="3327684"/>
            <a:ext cx="7219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Lost</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reply</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messages</a:t>
            </a:r>
            <a:endParaRPr sz="600">
              <a:latin typeface="Arial"/>
              <a:cs typeface="Arial"/>
            </a:endParaRPr>
          </a:p>
        </p:txBody>
      </p:sp>
      <p:sp>
        <p:nvSpPr>
          <p:cNvPr id="6" name="object 6"/>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822450"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0" dirty="0">
                <a:solidFill>
                  <a:srgbClr val="3333B2"/>
                </a:solidFill>
                <a:latin typeface="Arial"/>
                <a:cs typeface="Arial"/>
              </a:rPr>
              <a:t> </a:t>
            </a:r>
            <a:r>
              <a:rPr sz="600" spc="-5" dirty="0">
                <a:solidFill>
                  <a:srgbClr val="3333B2"/>
                </a:solidFill>
                <a:latin typeface="Arial"/>
                <a:cs typeface="Arial"/>
                <a:hlinkClick r:id="rId4" action="ppaction://hlinksldjump"/>
              </a:rPr>
              <a:t>Reliable</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client-server</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communication</a:t>
            </a:r>
            <a:endParaRPr sz="600">
              <a:latin typeface="Arial"/>
              <a:cs typeface="Arial"/>
            </a:endParaRPr>
          </a:p>
        </p:txBody>
      </p:sp>
      <p:sp>
        <p:nvSpPr>
          <p:cNvPr id="3" name="object 3"/>
          <p:cNvSpPr txBox="1"/>
          <p:nvPr/>
        </p:nvSpPr>
        <p:spPr>
          <a:xfrm>
            <a:off x="3104776" y="716"/>
            <a:ext cx="14370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RPC semantics in</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the presence</a:t>
            </a:r>
            <a:r>
              <a:rPr sz="60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 failures</a:t>
            </a:r>
            <a:endParaRPr sz="600">
              <a:latin typeface="Arial"/>
              <a:cs typeface="Arial"/>
            </a:endParaRPr>
          </a:p>
        </p:txBody>
      </p:sp>
      <p:sp>
        <p:nvSpPr>
          <p:cNvPr id="4" name="object 4"/>
          <p:cNvSpPr txBox="1"/>
          <p:nvPr/>
        </p:nvSpPr>
        <p:spPr>
          <a:xfrm>
            <a:off x="95300" y="188846"/>
            <a:ext cx="213614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Reliable</a:t>
            </a:r>
            <a:r>
              <a:rPr sz="1400" spc="-10" dirty="0">
                <a:solidFill>
                  <a:srgbClr val="3333B2"/>
                </a:solidFill>
                <a:latin typeface="Arial"/>
                <a:cs typeface="Arial"/>
              </a:rPr>
              <a:t> </a:t>
            </a:r>
            <a:r>
              <a:rPr sz="1400" spc="20" dirty="0">
                <a:solidFill>
                  <a:srgbClr val="3333B2"/>
                </a:solidFill>
                <a:latin typeface="Arial"/>
                <a:cs typeface="Arial"/>
              </a:rPr>
              <a:t>RPC:</a:t>
            </a:r>
            <a:r>
              <a:rPr sz="1400" spc="-10" dirty="0">
                <a:solidFill>
                  <a:srgbClr val="3333B2"/>
                </a:solidFill>
                <a:latin typeface="Arial"/>
                <a:cs typeface="Arial"/>
              </a:rPr>
              <a:t> </a:t>
            </a:r>
            <a:r>
              <a:rPr sz="1400" spc="10" dirty="0">
                <a:solidFill>
                  <a:srgbClr val="3333B2"/>
                </a:solidFill>
                <a:latin typeface="Arial"/>
                <a:cs typeface="Arial"/>
              </a:rPr>
              <a:t>client</a:t>
            </a:r>
            <a:r>
              <a:rPr sz="1400" spc="-10" dirty="0">
                <a:solidFill>
                  <a:srgbClr val="3333B2"/>
                </a:solidFill>
                <a:latin typeface="Arial"/>
                <a:cs typeface="Arial"/>
              </a:rPr>
              <a:t> </a:t>
            </a:r>
            <a:r>
              <a:rPr sz="1400" spc="10" dirty="0">
                <a:solidFill>
                  <a:srgbClr val="3333B2"/>
                </a:solidFill>
                <a:latin typeface="Arial"/>
                <a:cs typeface="Arial"/>
              </a:rPr>
              <a:t>crash</a:t>
            </a:r>
            <a:endParaRPr sz="1400">
              <a:latin typeface="Arial"/>
              <a:cs typeface="Arial"/>
            </a:endParaRPr>
          </a:p>
        </p:txBody>
      </p:sp>
      <p:sp>
        <p:nvSpPr>
          <p:cNvPr id="5" name="object 5"/>
          <p:cNvSpPr txBox="1"/>
          <p:nvPr/>
        </p:nvSpPr>
        <p:spPr>
          <a:xfrm>
            <a:off x="317982" y="839734"/>
            <a:ext cx="3772535" cy="996950"/>
          </a:xfrm>
          <a:prstGeom prst="rect">
            <a:avLst/>
          </a:prstGeom>
        </p:spPr>
        <p:txBody>
          <a:bodyPr vert="horz" wrap="square" lIns="0" tIns="12065" rIns="0" bIns="0" rtlCol="0">
            <a:spAutoFit/>
          </a:bodyPr>
          <a:lstStyle/>
          <a:p>
            <a:pPr marL="41910">
              <a:lnSpc>
                <a:spcPts val="1410"/>
              </a:lnSpc>
              <a:spcBef>
                <a:spcPts val="95"/>
              </a:spcBef>
            </a:pPr>
            <a:r>
              <a:rPr sz="1200" spc="-10" dirty="0">
                <a:solidFill>
                  <a:srgbClr val="3333B2"/>
                </a:solidFill>
                <a:latin typeface="Arial"/>
                <a:cs typeface="Arial"/>
              </a:rPr>
              <a:t>Problem</a:t>
            </a:r>
            <a:endParaRPr sz="1200">
              <a:latin typeface="Arial"/>
              <a:cs typeface="Arial"/>
            </a:endParaRPr>
          </a:p>
          <a:p>
            <a:pPr marL="41910" marR="30480"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is</a:t>
            </a:r>
            <a:r>
              <a:rPr sz="1000" spc="5" dirty="0">
                <a:latin typeface="Arial"/>
                <a:cs typeface="Arial"/>
              </a:rPr>
              <a:t> </a:t>
            </a:r>
            <a:r>
              <a:rPr sz="1000" spc="-5" dirty="0">
                <a:latin typeface="Arial"/>
                <a:cs typeface="Arial"/>
              </a:rPr>
              <a:t>doing</a:t>
            </a:r>
            <a:r>
              <a:rPr sz="1000" dirty="0">
                <a:latin typeface="Arial"/>
                <a:cs typeface="Arial"/>
              </a:rPr>
              <a:t> </a:t>
            </a:r>
            <a:r>
              <a:rPr sz="1000" spc="-5" dirty="0">
                <a:latin typeface="Arial"/>
                <a:cs typeface="Arial"/>
              </a:rPr>
              <a:t>work</a:t>
            </a:r>
            <a:r>
              <a:rPr sz="1000" spc="5"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holding</a:t>
            </a:r>
            <a:r>
              <a:rPr sz="1000" spc="5" dirty="0">
                <a:latin typeface="Arial"/>
                <a:cs typeface="Arial"/>
              </a:rPr>
              <a:t> </a:t>
            </a:r>
            <a:r>
              <a:rPr sz="1000" spc="-5" dirty="0">
                <a:latin typeface="Arial"/>
                <a:cs typeface="Arial"/>
              </a:rPr>
              <a:t>resources</a:t>
            </a:r>
            <a:r>
              <a:rPr sz="1000" dirty="0">
                <a:latin typeface="Arial"/>
                <a:cs typeface="Arial"/>
              </a:rPr>
              <a:t> </a:t>
            </a:r>
            <a:r>
              <a:rPr sz="1000" spc="-15" dirty="0">
                <a:latin typeface="Arial"/>
                <a:cs typeface="Arial"/>
              </a:rPr>
              <a:t>for</a:t>
            </a:r>
            <a:r>
              <a:rPr sz="1000" spc="5" dirty="0">
                <a:latin typeface="Arial"/>
                <a:cs typeface="Arial"/>
              </a:rPr>
              <a:t> </a:t>
            </a:r>
            <a:r>
              <a:rPr sz="1000" spc="-5" dirty="0">
                <a:latin typeface="Arial"/>
                <a:cs typeface="Arial"/>
              </a:rPr>
              <a:t>nothing</a:t>
            </a:r>
            <a:r>
              <a:rPr sz="1000" dirty="0">
                <a:latin typeface="Arial"/>
                <a:cs typeface="Arial"/>
              </a:rPr>
              <a:t> </a:t>
            </a:r>
            <a:r>
              <a:rPr sz="1000" spc="-5" dirty="0">
                <a:latin typeface="Arial"/>
                <a:cs typeface="Arial"/>
              </a:rPr>
              <a:t>(called </a:t>
            </a:r>
            <a:r>
              <a:rPr sz="1000" spc="-260" dirty="0">
                <a:latin typeface="Arial"/>
                <a:cs typeface="Arial"/>
              </a:rPr>
              <a:t> </a:t>
            </a:r>
            <a:r>
              <a:rPr sz="1000" spc="-5" dirty="0">
                <a:latin typeface="Arial"/>
                <a:cs typeface="Arial"/>
              </a:rPr>
              <a:t>doing</a:t>
            </a:r>
            <a:r>
              <a:rPr sz="1000" spc="-10" dirty="0">
                <a:latin typeface="Arial"/>
                <a:cs typeface="Arial"/>
              </a:rPr>
              <a:t> </a:t>
            </a:r>
            <a:r>
              <a:rPr sz="1000" spc="-5" dirty="0">
                <a:latin typeface="Arial"/>
                <a:cs typeface="Arial"/>
              </a:rPr>
              <a:t>an </a:t>
            </a:r>
            <a:r>
              <a:rPr sz="1000" dirty="0">
                <a:solidFill>
                  <a:srgbClr val="FA0000"/>
                </a:solidFill>
                <a:latin typeface="Arial"/>
                <a:cs typeface="Arial"/>
              </a:rPr>
              <a:t>orphan</a:t>
            </a:r>
            <a:r>
              <a:rPr sz="1000" spc="-5" dirty="0">
                <a:solidFill>
                  <a:srgbClr val="FA0000"/>
                </a:solidFill>
                <a:latin typeface="Arial"/>
                <a:cs typeface="Arial"/>
              </a:rPr>
              <a:t> </a:t>
            </a:r>
            <a:r>
              <a:rPr sz="1000" spc="-5" dirty="0">
                <a:latin typeface="Arial"/>
                <a:cs typeface="Arial"/>
              </a:rPr>
              <a:t>computation).</a:t>
            </a:r>
            <a:endParaRPr sz="1000">
              <a:latin typeface="Arial"/>
              <a:cs typeface="Arial"/>
            </a:endParaRPr>
          </a:p>
          <a:p>
            <a:pPr marL="41910">
              <a:lnSpc>
                <a:spcPct val="100000"/>
              </a:lnSpc>
              <a:spcBef>
                <a:spcPts val="650"/>
              </a:spcBef>
            </a:pPr>
            <a:r>
              <a:rPr sz="1200" spc="-5" dirty="0">
                <a:solidFill>
                  <a:srgbClr val="3333B2"/>
                </a:solidFill>
                <a:latin typeface="Arial"/>
                <a:cs typeface="Arial"/>
              </a:rPr>
              <a:t>Solution</a:t>
            </a:r>
            <a:endParaRPr sz="1200">
              <a:latin typeface="Arial"/>
              <a:cs typeface="Arial"/>
            </a:endParaRPr>
          </a:p>
          <a:p>
            <a:pPr marL="318770" indent="-168275">
              <a:lnSpc>
                <a:spcPct val="100000"/>
              </a:lnSpc>
              <a:spcBef>
                <a:spcPts val="540"/>
              </a:spcBef>
              <a:buClr>
                <a:srgbClr val="3333B2"/>
              </a:buClr>
              <a:buChar char="►"/>
              <a:tabLst>
                <a:tab pos="319405" algn="l"/>
              </a:tabLst>
            </a:pPr>
            <a:r>
              <a:rPr sz="1000" dirty="0">
                <a:solidFill>
                  <a:srgbClr val="0000FA"/>
                </a:solidFill>
                <a:latin typeface="Arial"/>
                <a:cs typeface="Arial"/>
              </a:rPr>
              <a:t>Orphan </a:t>
            </a:r>
            <a:r>
              <a:rPr sz="1000" spc="-5" dirty="0">
                <a:solidFill>
                  <a:srgbClr val="0000FA"/>
                </a:solidFill>
                <a:latin typeface="Arial"/>
                <a:cs typeface="Arial"/>
              </a:rPr>
              <a:t>is</a:t>
            </a:r>
            <a:r>
              <a:rPr sz="1000" dirty="0">
                <a:solidFill>
                  <a:srgbClr val="0000FA"/>
                </a:solidFill>
                <a:latin typeface="Arial"/>
                <a:cs typeface="Arial"/>
              </a:rPr>
              <a:t> </a:t>
            </a:r>
            <a:r>
              <a:rPr sz="1000" spc="-5" dirty="0">
                <a:solidFill>
                  <a:srgbClr val="0000FA"/>
                </a:solidFill>
                <a:latin typeface="Arial"/>
                <a:cs typeface="Arial"/>
              </a:rPr>
              <a:t>killed</a:t>
            </a:r>
            <a:r>
              <a:rPr sz="1000" dirty="0">
                <a:solidFill>
                  <a:srgbClr val="0000FA"/>
                </a:solidFill>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rolled</a:t>
            </a:r>
            <a:r>
              <a:rPr sz="1000" dirty="0">
                <a:latin typeface="Arial"/>
                <a:cs typeface="Arial"/>
              </a:rPr>
              <a:t> </a:t>
            </a:r>
            <a:r>
              <a:rPr sz="1000" spc="-10" dirty="0">
                <a:latin typeface="Arial"/>
                <a:cs typeface="Arial"/>
              </a:rPr>
              <a:t>back)</a:t>
            </a:r>
            <a:r>
              <a:rPr sz="1000" dirty="0">
                <a:latin typeface="Arial"/>
                <a:cs typeface="Arial"/>
              </a:rPr>
              <a:t> </a:t>
            </a:r>
            <a:r>
              <a:rPr sz="1000" spc="-15" dirty="0">
                <a:latin typeface="Arial"/>
                <a:cs typeface="Arial"/>
              </a:rPr>
              <a:t>by</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when</a:t>
            </a:r>
            <a:r>
              <a:rPr sz="1000" dirty="0">
                <a:latin typeface="Arial"/>
                <a:cs typeface="Arial"/>
              </a:rPr>
              <a:t> </a:t>
            </a:r>
            <a:r>
              <a:rPr sz="1000" spc="-5" dirty="0">
                <a:latin typeface="Arial"/>
                <a:cs typeface="Arial"/>
              </a:rPr>
              <a:t>it</a:t>
            </a:r>
            <a:r>
              <a:rPr sz="1000" dirty="0">
                <a:latin typeface="Arial"/>
                <a:cs typeface="Arial"/>
              </a:rPr>
              <a:t> </a:t>
            </a:r>
            <a:r>
              <a:rPr sz="1000" spc="-10" dirty="0">
                <a:latin typeface="Arial"/>
                <a:cs typeface="Arial"/>
              </a:rPr>
              <a:t>recovers</a:t>
            </a:r>
            <a:endParaRPr sz="1000">
              <a:latin typeface="Arial"/>
              <a:cs typeface="Arial"/>
            </a:endParaRPr>
          </a:p>
        </p:txBody>
      </p:sp>
      <p:sp>
        <p:nvSpPr>
          <p:cNvPr id="6" name="object 6"/>
          <p:cNvSpPr txBox="1"/>
          <p:nvPr/>
        </p:nvSpPr>
        <p:spPr>
          <a:xfrm>
            <a:off x="456704" y="1887123"/>
            <a:ext cx="3787140"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5" dirty="0">
                <a:latin typeface="Arial"/>
                <a:cs typeface="Arial"/>
              </a:rPr>
              <a:t>Client broadcasts </a:t>
            </a:r>
            <a:r>
              <a:rPr sz="1000" spc="-10" dirty="0">
                <a:solidFill>
                  <a:srgbClr val="0000FA"/>
                </a:solidFill>
                <a:latin typeface="Arial"/>
                <a:cs typeface="Arial"/>
              </a:rPr>
              <a:t>new</a:t>
            </a:r>
            <a:r>
              <a:rPr sz="1000" spc="-5" dirty="0">
                <a:solidFill>
                  <a:srgbClr val="0000FA"/>
                </a:solidFill>
                <a:latin typeface="Arial"/>
                <a:cs typeface="Arial"/>
              </a:rPr>
              <a:t> epoch number </a:t>
            </a:r>
            <a:r>
              <a:rPr sz="1000" spc="-5" dirty="0">
                <a:latin typeface="Arial"/>
                <a:cs typeface="Arial"/>
              </a:rPr>
              <a:t>when</a:t>
            </a:r>
            <a:r>
              <a:rPr sz="1000" dirty="0">
                <a:latin typeface="Arial"/>
                <a:cs typeface="Arial"/>
              </a:rPr>
              <a:t> </a:t>
            </a:r>
            <a:r>
              <a:rPr sz="1000" spc="-5" dirty="0">
                <a:latin typeface="Arial"/>
                <a:cs typeface="Arial"/>
              </a:rPr>
              <a:t>recovering </a:t>
            </a:r>
            <a:r>
              <a:rPr sz="1000" i="1" spc="-5" dirty="0">
                <a:latin typeface="メイリオ"/>
                <a:cs typeface="メイリオ"/>
              </a:rPr>
              <a:t>⇒</a:t>
            </a:r>
            <a:r>
              <a:rPr sz="1000" i="1" spc="-65" dirty="0">
                <a:latin typeface="メイリオ"/>
                <a:cs typeface="メイリオ"/>
              </a:rPr>
              <a:t> </a:t>
            </a:r>
            <a:r>
              <a:rPr sz="1000" spc="-5" dirty="0">
                <a:latin typeface="Arial"/>
                <a:cs typeface="Arial"/>
              </a:rPr>
              <a:t>server</a:t>
            </a:r>
            <a:endParaRPr sz="1000">
              <a:latin typeface="Arial"/>
              <a:cs typeface="Arial"/>
            </a:endParaRPr>
          </a:p>
        </p:txBody>
      </p:sp>
      <p:sp>
        <p:nvSpPr>
          <p:cNvPr id="7" name="object 7"/>
          <p:cNvSpPr txBox="1"/>
          <p:nvPr/>
        </p:nvSpPr>
        <p:spPr>
          <a:xfrm>
            <a:off x="431304" y="1963033"/>
            <a:ext cx="3853815" cy="633095"/>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kills</a:t>
            </a:r>
            <a:r>
              <a:rPr sz="1000" spc="-35" dirty="0">
                <a:latin typeface="Arial"/>
                <a:cs typeface="Arial"/>
              </a:rPr>
              <a:t> </a:t>
            </a:r>
            <a:r>
              <a:rPr sz="1000" spc="-10" dirty="0">
                <a:latin typeface="Arial"/>
                <a:cs typeface="Arial"/>
              </a:rPr>
              <a:t>client’s</a:t>
            </a:r>
            <a:r>
              <a:rPr sz="1000" spc="-30" dirty="0">
                <a:latin typeface="Arial"/>
                <a:cs typeface="Arial"/>
              </a:rPr>
              <a:t> </a:t>
            </a:r>
            <a:r>
              <a:rPr sz="1000" dirty="0">
                <a:latin typeface="Arial"/>
                <a:cs typeface="Arial"/>
              </a:rPr>
              <a:t>orphans</a:t>
            </a:r>
            <a:endParaRPr sz="1000">
              <a:latin typeface="Arial"/>
              <a:cs typeface="Arial"/>
            </a:endParaRPr>
          </a:p>
          <a:p>
            <a:pPr marL="205740" marR="30480" indent="-168275">
              <a:lnSpc>
                <a:spcPct val="100000"/>
              </a:lnSpc>
              <a:spcBef>
                <a:spcPts val="590"/>
              </a:spcBef>
              <a:buClr>
                <a:srgbClr val="3333B2"/>
              </a:buClr>
              <a:buChar char="►"/>
              <a:tabLst>
                <a:tab pos="206375" algn="l"/>
              </a:tabLst>
            </a:pPr>
            <a:r>
              <a:rPr sz="1000" spc="-15" dirty="0">
                <a:latin typeface="Arial"/>
                <a:cs typeface="Arial"/>
              </a:rPr>
              <a:t>Require</a:t>
            </a:r>
            <a:r>
              <a:rPr sz="1000" dirty="0">
                <a:latin typeface="Arial"/>
                <a:cs typeface="Arial"/>
              </a:rPr>
              <a:t> </a:t>
            </a:r>
            <a:r>
              <a:rPr sz="1000" spc="-15" dirty="0">
                <a:latin typeface="Arial"/>
                <a:cs typeface="Arial"/>
              </a:rPr>
              <a:t>computations</a:t>
            </a:r>
            <a:r>
              <a:rPr sz="1000" dirty="0">
                <a:latin typeface="Arial"/>
                <a:cs typeface="Arial"/>
              </a:rPr>
              <a:t> </a:t>
            </a:r>
            <a:r>
              <a:rPr sz="1000" spc="-10" dirty="0">
                <a:latin typeface="Arial"/>
                <a:cs typeface="Arial"/>
              </a:rPr>
              <a:t>to</a:t>
            </a:r>
            <a:r>
              <a:rPr sz="1000" spc="5" dirty="0">
                <a:latin typeface="Arial"/>
                <a:cs typeface="Arial"/>
              </a:rPr>
              <a:t> </a:t>
            </a:r>
            <a:r>
              <a:rPr sz="1000" spc="-15" dirty="0">
                <a:solidFill>
                  <a:srgbClr val="0000FA"/>
                </a:solidFill>
                <a:latin typeface="Arial"/>
                <a:cs typeface="Arial"/>
              </a:rPr>
              <a:t>complete</a:t>
            </a:r>
            <a:r>
              <a:rPr sz="1000" dirty="0">
                <a:solidFill>
                  <a:srgbClr val="0000FA"/>
                </a:solidFill>
                <a:latin typeface="Arial"/>
                <a:cs typeface="Arial"/>
              </a:rPr>
              <a:t> </a:t>
            </a:r>
            <a:r>
              <a:rPr sz="1000" spc="-10" dirty="0">
                <a:solidFill>
                  <a:srgbClr val="0000FA"/>
                </a:solidFill>
                <a:latin typeface="Arial"/>
                <a:cs typeface="Arial"/>
              </a:rPr>
              <a:t>in</a:t>
            </a:r>
            <a:r>
              <a:rPr sz="1000" dirty="0">
                <a:solidFill>
                  <a:srgbClr val="0000FA"/>
                </a:solidFill>
                <a:latin typeface="Arial"/>
                <a:cs typeface="Arial"/>
              </a:rPr>
              <a:t> </a:t>
            </a:r>
            <a:r>
              <a:rPr sz="1000" spc="-15" dirty="0">
                <a:solidFill>
                  <a:srgbClr val="0000FA"/>
                </a:solidFill>
                <a:latin typeface="Arial"/>
                <a:cs typeface="Arial"/>
              </a:rPr>
              <a:t>a</a:t>
            </a:r>
            <a:r>
              <a:rPr sz="1000" spc="5" dirty="0">
                <a:solidFill>
                  <a:srgbClr val="0000FA"/>
                </a:solidFill>
                <a:latin typeface="Arial"/>
                <a:cs typeface="Arial"/>
              </a:rPr>
              <a:t> </a:t>
            </a:r>
            <a:r>
              <a:rPr sz="1000" i="1" spc="-15" dirty="0">
                <a:solidFill>
                  <a:srgbClr val="0000FA"/>
                </a:solidFill>
                <a:latin typeface="Arial"/>
                <a:cs typeface="Arial"/>
              </a:rPr>
              <a:t>T</a:t>
            </a:r>
            <a:r>
              <a:rPr sz="1000" i="1" spc="145" dirty="0">
                <a:solidFill>
                  <a:srgbClr val="0000FA"/>
                </a:solidFill>
                <a:latin typeface="Arial"/>
                <a:cs typeface="Arial"/>
              </a:rPr>
              <a:t> </a:t>
            </a:r>
            <a:r>
              <a:rPr sz="1000" spc="-15" dirty="0">
                <a:solidFill>
                  <a:srgbClr val="0000FA"/>
                </a:solidFill>
                <a:latin typeface="Arial"/>
                <a:cs typeface="Arial"/>
              </a:rPr>
              <a:t>time</a:t>
            </a:r>
            <a:r>
              <a:rPr sz="1000" dirty="0">
                <a:solidFill>
                  <a:srgbClr val="0000FA"/>
                </a:solidFill>
                <a:latin typeface="Arial"/>
                <a:cs typeface="Arial"/>
              </a:rPr>
              <a:t> </a:t>
            </a:r>
            <a:r>
              <a:rPr sz="1000" spc="-10" dirty="0">
                <a:solidFill>
                  <a:srgbClr val="0000FA"/>
                </a:solidFill>
                <a:latin typeface="Arial"/>
                <a:cs typeface="Arial"/>
              </a:rPr>
              <a:t>units</a:t>
            </a:r>
            <a:r>
              <a:rPr sz="1000" spc="-10" dirty="0">
                <a:latin typeface="Arial"/>
                <a:cs typeface="Arial"/>
              </a:rPr>
              <a:t>.</a:t>
            </a:r>
            <a:r>
              <a:rPr sz="1000" spc="70" dirty="0">
                <a:latin typeface="Arial"/>
                <a:cs typeface="Arial"/>
              </a:rPr>
              <a:t> </a:t>
            </a:r>
            <a:r>
              <a:rPr sz="1000" spc="-15" dirty="0">
                <a:latin typeface="Arial"/>
                <a:cs typeface="Arial"/>
              </a:rPr>
              <a:t>Old</a:t>
            </a:r>
            <a:r>
              <a:rPr sz="1000" spc="5" dirty="0">
                <a:latin typeface="Arial"/>
                <a:cs typeface="Arial"/>
              </a:rPr>
              <a:t> </a:t>
            </a:r>
            <a:r>
              <a:rPr sz="1000" spc="-15" dirty="0">
                <a:latin typeface="Arial"/>
                <a:cs typeface="Arial"/>
              </a:rPr>
              <a:t>ones</a:t>
            </a:r>
            <a:r>
              <a:rPr sz="1000" dirty="0">
                <a:latin typeface="Arial"/>
                <a:cs typeface="Arial"/>
              </a:rPr>
              <a:t> </a:t>
            </a:r>
            <a:r>
              <a:rPr sz="1000" spc="-15" dirty="0">
                <a:latin typeface="Arial"/>
                <a:cs typeface="Arial"/>
              </a:rPr>
              <a:t>are </a:t>
            </a:r>
            <a:r>
              <a:rPr sz="1000" spc="-265" dirty="0">
                <a:latin typeface="Arial"/>
                <a:cs typeface="Arial"/>
              </a:rPr>
              <a:t> </a:t>
            </a:r>
            <a:r>
              <a:rPr sz="1000" spc="-5" dirty="0">
                <a:latin typeface="Arial"/>
                <a:cs typeface="Arial"/>
              </a:rPr>
              <a:t>simply</a:t>
            </a:r>
            <a:r>
              <a:rPr sz="1000" spc="-10" dirty="0">
                <a:latin typeface="Arial"/>
                <a:cs typeface="Arial"/>
              </a:rPr>
              <a:t> removed.</a:t>
            </a:r>
            <a:endParaRPr sz="1000">
              <a:latin typeface="Arial"/>
              <a:cs typeface="Arial"/>
            </a:endParaRPr>
          </a:p>
        </p:txBody>
      </p:sp>
      <p:sp>
        <p:nvSpPr>
          <p:cNvPr id="8" name="object 8"/>
          <p:cNvSpPr txBox="1"/>
          <p:nvPr/>
        </p:nvSpPr>
        <p:spPr>
          <a:xfrm>
            <a:off x="66713" y="3327684"/>
            <a:ext cx="50609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Client c</a:t>
            </a:r>
            <a:r>
              <a:rPr sz="600" spc="-15" dirty="0">
                <a:solidFill>
                  <a:srgbClr val="3333B2"/>
                </a:solidFill>
                <a:latin typeface="Arial"/>
                <a:cs typeface="Arial"/>
                <a:hlinkClick r:id="rId5" action="ppaction://hlinksldjump"/>
              </a:rPr>
              <a:t>r</a:t>
            </a:r>
            <a:r>
              <a:rPr sz="600" spc="-5" dirty="0">
                <a:solidFill>
                  <a:srgbClr val="3333B2"/>
                </a:solidFill>
                <a:latin typeface="Arial"/>
                <a:cs typeface="Arial"/>
                <a:hlinkClick r:id="rId5" action="ppaction://hlinksldjump"/>
              </a:rPr>
              <a:t>ashes</a:t>
            </a:r>
            <a:endParaRPr sz="600">
              <a:latin typeface="Arial"/>
              <a:cs typeface="Arial"/>
            </a:endParaRPr>
          </a:p>
        </p:txBody>
      </p:sp>
      <p:sp>
        <p:nvSpPr>
          <p:cNvPr id="9" name="object 9"/>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6021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Reliable group communication</a:t>
            </a:r>
            <a:endParaRPr sz="600">
              <a:latin typeface="Arial"/>
              <a:cs typeface="Arial"/>
            </a:endParaRPr>
          </a:p>
        </p:txBody>
      </p:sp>
      <p:sp>
        <p:nvSpPr>
          <p:cNvPr id="3" name="object 3"/>
          <p:cNvSpPr txBox="1">
            <a:spLocks noGrp="1"/>
          </p:cNvSpPr>
          <p:nvPr>
            <p:ph type="title"/>
          </p:nvPr>
        </p:nvSpPr>
        <p:spPr>
          <a:xfrm>
            <a:off x="95300" y="188846"/>
            <a:ext cx="3005455" cy="244475"/>
          </a:xfrm>
          <a:prstGeom prst="rect">
            <a:avLst/>
          </a:prstGeom>
        </p:spPr>
        <p:txBody>
          <a:bodyPr vert="horz" wrap="square" lIns="0" tIns="17145" rIns="0" bIns="0" rtlCol="0">
            <a:spAutoFit/>
          </a:bodyPr>
          <a:lstStyle/>
          <a:p>
            <a:pPr marL="12700">
              <a:lnSpc>
                <a:spcPct val="100000"/>
              </a:lnSpc>
              <a:spcBef>
                <a:spcPts val="135"/>
              </a:spcBef>
            </a:pPr>
            <a:r>
              <a:rPr spc="15" dirty="0"/>
              <a:t>Simple</a:t>
            </a:r>
            <a:r>
              <a:rPr spc="-10" dirty="0"/>
              <a:t> </a:t>
            </a:r>
            <a:r>
              <a:rPr spc="10" dirty="0"/>
              <a:t>reliable</a:t>
            </a:r>
            <a:r>
              <a:rPr spc="-10" dirty="0"/>
              <a:t> </a:t>
            </a:r>
            <a:r>
              <a:rPr spc="10" dirty="0"/>
              <a:t>group</a:t>
            </a:r>
            <a:r>
              <a:rPr spc="-10" dirty="0"/>
              <a:t> </a:t>
            </a:r>
            <a:r>
              <a:rPr spc="15" dirty="0"/>
              <a:t>communication</a:t>
            </a:r>
          </a:p>
        </p:txBody>
      </p:sp>
      <p:sp>
        <p:nvSpPr>
          <p:cNvPr id="4" name="object 4"/>
          <p:cNvSpPr txBox="1"/>
          <p:nvPr/>
        </p:nvSpPr>
        <p:spPr>
          <a:xfrm>
            <a:off x="343128" y="536953"/>
            <a:ext cx="3727450" cy="87503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Intuition</a:t>
            </a:r>
            <a:endParaRPr sz="1200">
              <a:latin typeface="Arial"/>
              <a:cs typeface="Arial"/>
            </a:endParaRPr>
          </a:p>
          <a:p>
            <a:pPr marL="16510" marR="5080" indent="-4445">
              <a:lnSpc>
                <a:spcPts val="1200"/>
              </a:lnSpc>
              <a:spcBef>
                <a:spcPts val="10"/>
              </a:spcBef>
            </a:pPr>
            <a:r>
              <a:rPr sz="1000" spc="-5" dirty="0">
                <a:latin typeface="Arial"/>
                <a:cs typeface="Arial"/>
              </a:rPr>
              <a:t>A message sent to</a:t>
            </a:r>
            <a:r>
              <a:rPr sz="1000" dirty="0">
                <a:latin typeface="Arial"/>
                <a:cs typeface="Arial"/>
              </a:rPr>
              <a:t> </a:t>
            </a:r>
            <a:r>
              <a:rPr sz="1000" spc="-5" dirty="0">
                <a:latin typeface="Arial"/>
                <a:cs typeface="Arial"/>
              </a:rPr>
              <a:t>a process group</a:t>
            </a:r>
            <a:r>
              <a:rPr sz="1000" dirty="0">
                <a:latin typeface="Arial"/>
                <a:cs typeface="Arial"/>
              </a:rPr>
              <a:t> </a:t>
            </a:r>
            <a:r>
              <a:rPr sz="1000" b="1" spc="-5" dirty="0">
                <a:latin typeface="Arial"/>
                <a:cs typeface="Arial"/>
              </a:rPr>
              <a:t>G </a:t>
            </a:r>
            <a:r>
              <a:rPr sz="1000" spc="-5" dirty="0">
                <a:latin typeface="Arial"/>
                <a:cs typeface="Arial"/>
              </a:rPr>
              <a:t>should be delivered</a:t>
            </a:r>
            <a:r>
              <a:rPr sz="1000" dirty="0">
                <a:latin typeface="Arial"/>
                <a:cs typeface="Arial"/>
              </a:rPr>
              <a:t> </a:t>
            </a:r>
            <a:r>
              <a:rPr sz="1000" spc="-5" dirty="0">
                <a:latin typeface="Arial"/>
                <a:cs typeface="Arial"/>
              </a:rPr>
              <a:t>to each </a:t>
            </a:r>
            <a:r>
              <a:rPr sz="1000" spc="-260" dirty="0">
                <a:latin typeface="Arial"/>
                <a:cs typeface="Arial"/>
              </a:rPr>
              <a:t> </a:t>
            </a:r>
            <a:r>
              <a:rPr sz="1000" spc="-5" dirty="0">
                <a:latin typeface="Arial"/>
                <a:cs typeface="Arial"/>
              </a:rPr>
              <a:t>member of</a:t>
            </a:r>
            <a:r>
              <a:rPr sz="1000" dirty="0">
                <a:latin typeface="Arial"/>
                <a:cs typeface="Arial"/>
              </a:rPr>
              <a:t> </a:t>
            </a:r>
            <a:r>
              <a:rPr sz="1000" b="1" spc="-5" dirty="0">
                <a:latin typeface="Arial"/>
                <a:cs typeface="Arial"/>
              </a:rPr>
              <a:t>G</a:t>
            </a:r>
            <a:r>
              <a:rPr sz="1000" spc="-5" dirty="0">
                <a:latin typeface="Arial"/>
                <a:cs typeface="Arial"/>
              </a:rPr>
              <a:t>.</a:t>
            </a:r>
            <a:r>
              <a:rPr sz="1000" spc="65" dirty="0">
                <a:latin typeface="Arial"/>
                <a:cs typeface="Arial"/>
              </a:rPr>
              <a:t> </a:t>
            </a:r>
            <a:r>
              <a:rPr sz="1000" dirty="0">
                <a:solidFill>
                  <a:srgbClr val="FA0000"/>
                </a:solidFill>
                <a:latin typeface="Arial"/>
                <a:cs typeface="Arial"/>
              </a:rPr>
              <a:t>Important</a:t>
            </a:r>
            <a:r>
              <a:rPr sz="1000" dirty="0">
                <a:latin typeface="Arial"/>
                <a:cs typeface="Arial"/>
              </a:rPr>
              <a:t>:</a:t>
            </a:r>
            <a:r>
              <a:rPr sz="1000" spc="65" dirty="0">
                <a:latin typeface="Arial"/>
                <a:cs typeface="Arial"/>
              </a:rPr>
              <a:t> </a:t>
            </a:r>
            <a:r>
              <a:rPr sz="1000" spc="-10" dirty="0">
                <a:latin typeface="Arial"/>
                <a:cs typeface="Arial"/>
              </a:rPr>
              <a:t>make</a:t>
            </a:r>
            <a:r>
              <a:rPr sz="1000" dirty="0">
                <a:latin typeface="Arial"/>
                <a:cs typeface="Arial"/>
              </a:rPr>
              <a:t> </a:t>
            </a:r>
            <a:r>
              <a:rPr sz="1000" spc="-5" dirty="0">
                <a:latin typeface="Arial"/>
                <a:cs typeface="Arial"/>
              </a:rPr>
              <a:t>distinction</a:t>
            </a:r>
            <a:r>
              <a:rPr sz="1000" dirty="0">
                <a:latin typeface="Arial"/>
                <a:cs typeface="Arial"/>
              </a:rPr>
              <a:t> </a:t>
            </a:r>
            <a:r>
              <a:rPr sz="1000" spc="-5" dirty="0">
                <a:latin typeface="Arial"/>
                <a:cs typeface="Arial"/>
              </a:rPr>
              <a:t>between</a:t>
            </a:r>
            <a:r>
              <a:rPr sz="1000" dirty="0">
                <a:latin typeface="Arial"/>
                <a:cs typeface="Arial"/>
              </a:rPr>
              <a:t> </a:t>
            </a:r>
            <a:r>
              <a:rPr sz="1000" spc="-5" dirty="0">
                <a:latin typeface="Arial"/>
                <a:cs typeface="Arial"/>
              </a:rPr>
              <a:t>receiving and </a:t>
            </a:r>
            <a:r>
              <a:rPr sz="1000" dirty="0">
                <a:latin typeface="Arial"/>
                <a:cs typeface="Arial"/>
              </a:rPr>
              <a:t> </a:t>
            </a:r>
            <a:r>
              <a:rPr sz="1000" spc="-5" dirty="0">
                <a:latin typeface="Arial"/>
                <a:cs typeface="Arial"/>
              </a:rPr>
              <a:t>delivering</a:t>
            </a:r>
            <a:r>
              <a:rPr sz="1000" spc="-10" dirty="0">
                <a:latin typeface="Arial"/>
                <a:cs typeface="Arial"/>
              </a:rPr>
              <a:t> </a:t>
            </a:r>
            <a:r>
              <a:rPr sz="1000" spc="-5" dirty="0">
                <a:latin typeface="Arial"/>
                <a:cs typeface="Arial"/>
              </a:rPr>
              <a:t>messages.</a:t>
            </a:r>
            <a:endParaRPr sz="1000">
              <a:latin typeface="Arial"/>
              <a:cs typeface="Arial"/>
            </a:endParaRPr>
          </a:p>
          <a:p>
            <a:pPr marL="664845">
              <a:lnSpc>
                <a:spcPct val="100000"/>
              </a:lnSpc>
              <a:spcBef>
                <a:spcPts val="885"/>
              </a:spcBef>
              <a:tabLst>
                <a:tab pos="1784985" algn="l"/>
                <a:tab pos="2944495" algn="l"/>
              </a:tabLst>
            </a:pPr>
            <a:r>
              <a:rPr sz="650" spc="5" dirty="0">
                <a:solidFill>
                  <a:srgbClr val="231F20"/>
                </a:solidFill>
                <a:latin typeface="Arial"/>
                <a:cs typeface="Arial"/>
              </a:rPr>
              <a:t>Sender	</a:t>
            </a:r>
            <a:r>
              <a:rPr sz="975" spc="7" baseline="4273" dirty="0">
                <a:solidFill>
                  <a:srgbClr val="231F20"/>
                </a:solidFill>
                <a:latin typeface="Arial"/>
                <a:cs typeface="Arial"/>
              </a:rPr>
              <a:t>Recipient	Recipient</a:t>
            </a:r>
            <a:endParaRPr sz="975" baseline="4273">
              <a:latin typeface="Arial"/>
              <a:cs typeface="Arial"/>
            </a:endParaRPr>
          </a:p>
        </p:txBody>
      </p:sp>
      <p:grpSp>
        <p:nvGrpSpPr>
          <p:cNvPr id="5" name="object 5"/>
          <p:cNvGrpSpPr/>
          <p:nvPr/>
        </p:nvGrpSpPr>
        <p:grpSpPr>
          <a:xfrm>
            <a:off x="667546" y="1454704"/>
            <a:ext cx="3273425" cy="1489075"/>
            <a:chOff x="667546" y="1454704"/>
            <a:chExt cx="3273425" cy="1489075"/>
          </a:xfrm>
        </p:grpSpPr>
        <p:sp>
          <p:nvSpPr>
            <p:cNvPr id="6" name="object 6"/>
            <p:cNvSpPr/>
            <p:nvPr/>
          </p:nvSpPr>
          <p:spPr>
            <a:xfrm>
              <a:off x="670182" y="1457339"/>
              <a:ext cx="949325" cy="1212850"/>
            </a:xfrm>
            <a:custGeom>
              <a:avLst/>
              <a:gdLst/>
              <a:ahLst/>
              <a:cxnLst/>
              <a:rect l="l" t="t" r="r" b="b"/>
              <a:pathLst>
                <a:path w="949325" h="1212850">
                  <a:moveTo>
                    <a:pt x="0" y="1212288"/>
                  </a:moveTo>
                  <a:lnTo>
                    <a:pt x="948752" y="1212288"/>
                  </a:lnTo>
                  <a:lnTo>
                    <a:pt x="948752" y="0"/>
                  </a:lnTo>
                  <a:lnTo>
                    <a:pt x="0" y="0"/>
                  </a:lnTo>
                  <a:lnTo>
                    <a:pt x="0" y="1212288"/>
                  </a:lnTo>
                  <a:close/>
                </a:path>
                <a:path w="949325" h="1212850">
                  <a:moveTo>
                    <a:pt x="474377" y="316251"/>
                  </a:moveTo>
                  <a:lnTo>
                    <a:pt x="474377" y="436998"/>
                  </a:lnTo>
                </a:path>
              </a:pathLst>
            </a:custGeom>
            <a:ln w="5270">
              <a:solidFill>
                <a:srgbClr val="231F20"/>
              </a:solidFill>
            </a:ln>
          </p:spPr>
          <p:txBody>
            <a:bodyPr wrap="square" lIns="0" tIns="0" rIns="0" bIns="0" rtlCol="0"/>
            <a:lstStyle/>
            <a:p>
              <a:endParaRPr/>
            </a:p>
          </p:txBody>
        </p:sp>
        <p:sp>
          <p:nvSpPr>
            <p:cNvPr id="7" name="object 7"/>
            <p:cNvSpPr/>
            <p:nvPr/>
          </p:nvSpPr>
          <p:spPr>
            <a:xfrm>
              <a:off x="1112681" y="1857328"/>
              <a:ext cx="64135" cy="74930"/>
            </a:xfrm>
            <a:custGeom>
              <a:avLst/>
              <a:gdLst/>
              <a:ahLst/>
              <a:cxnLst/>
              <a:rect l="l" t="t" r="r" b="b"/>
              <a:pathLst>
                <a:path w="64134" h="74930">
                  <a:moveTo>
                    <a:pt x="63753" y="0"/>
                  </a:moveTo>
                  <a:lnTo>
                    <a:pt x="47814" y="5982"/>
                  </a:lnTo>
                  <a:lnTo>
                    <a:pt x="31876" y="7976"/>
                  </a:lnTo>
                  <a:lnTo>
                    <a:pt x="15938" y="5982"/>
                  </a:lnTo>
                  <a:lnTo>
                    <a:pt x="0" y="0"/>
                  </a:lnTo>
                  <a:lnTo>
                    <a:pt x="31878" y="74387"/>
                  </a:lnTo>
                  <a:lnTo>
                    <a:pt x="63753" y="0"/>
                  </a:lnTo>
                  <a:close/>
                </a:path>
              </a:pathLst>
            </a:custGeom>
            <a:solidFill>
              <a:srgbClr val="231F20"/>
            </a:solidFill>
          </p:spPr>
          <p:txBody>
            <a:bodyPr wrap="square" lIns="0" tIns="0" rIns="0" bIns="0" rtlCol="0"/>
            <a:lstStyle/>
            <a:p>
              <a:endParaRPr/>
            </a:p>
          </p:txBody>
        </p:sp>
        <p:sp>
          <p:nvSpPr>
            <p:cNvPr id="8" name="object 8"/>
            <p:cNvSpPr/>
            <p:nvPr/>
          </p:nvSpPr>
          <p:spPr>
            <a:xfrm>
              <a:off x="1144552" y="2195254"/>
              <a:ext cx="0" cy="121285"/>
            </a:xfrm>
            <a:custGeom>
              <a:avLst/>
              <a:gdLst/>
              <a:ahLst/>
              <a:cxnLst/>
              <a:rect l="l" t="t" r="r" b="b"/>
              <a:pathLst>
                <a:path h="121285">
                  <a:moveTo>
                    <a:pt x="0" y="0"/>
                  </a:moveTo>
                  <a:lnTo>
                    <a:pt x="0" y="120743"/>
                  </a:lnTo>
                </a:path>
              </a:pathLst>
            </a:custGeom>
            <a:ln w="5270">
              <a:solidFill>
                <a:srgbClr val="231F20"/>
              </a:solidFill>
            </a:ln>
          </p:spPr>
          <p:txBody>
            <a:bodyPr wrap="square" lIns="0" tIns="0" rIns="0" bIns="0" rtlCol="0"/>
            <a:lstStyle/>
            <a:p>
              <a:endParaRPr/>
            </a:p>
          </p:txBody>
        </p:sp>
        <p:sp>
          <p:nvSpPr>
            <p:cNvPr id="9" name="object 9"/>
            <p:cNvSpPr/>
            <p:nvPr/>
          </p:nvSpPr>
          <p:spPr>
            <a:xfrm>
              <a:off x="1112677" y="2279002"/>
              <a:ext cx="64135" cy="74930"/>
            </a:xfrm>
            <a:custGeom>
              <a:avLst/>
              <a:gdLst/>
              <a:ahLst/>
              <a:cxnLst/>
              <a:rect l="l" t="t" r="r" b="b"/>
              <a:pathLst>
                <a:path w="64134" h="74930">
                  <a:moveTo>
                    <a:pt x="63753" y="0"/>
                  </a:moveTo>
                  <a:lnTo>
                    <a:pt x="47814" y="5975"/>
                  </a:lnTo>
                  <a:lnTo>
                    <a:pt x="31876" y="7967"/>
                  </a:lnTo>
                  <a:lnTo>
                    <a:pt x="15938" y="5975"/>
                  </a:lnTo>
                  <a:lnTo>
                    <a:pt x="0" y="0"/>
                  </a:lnTo>
                  <a:lnTo>
                    <a:pt x="31874" y="74375"/>
                  </a:lnTo>
                  <a:lnTo>
                    <a:pt x="63753" y="0"/>
                  </a:lnTo>
                  <a:close/>
                </a:path>
              </a:pathLst>
            </a:custGeom>
            <a:solidFill>
              <a:srgbClr val="231F20"/>
            </a:solidFill>
          </p:spPr>
          <p:txBody>
            <a:bodyPr wrap="square" lIns="0" tIns="0" rIns="0" bIns="0" rtlCol="0"/>
            <a:lstStyle/>
            <a:p>
              <a:endParaRPr/>
            </a:p>
          </p:txBody>
        </p:sp>
        <p:sp>
          <p:nvSpPr>
            <p:cNvPr id="10" name="object 10"/>
            <p:cNvSpPr/>
            <p:nvPr/>
          </p:nvSpPr>
          <p:spPr>
            <a:xfrm>
              <a:off x="828309" y="2669628"/>
              <a:ext cx="2952115" cy="264160"/>
            </a:xfrm>
            <a:custGeom>
              <a:avLst/>
              <a:gdLst/>
              <a:ahLst/>
              <a:cxnLst/>
              <a:rect l="l" t="t" r="r" b="b"/>
              <a:pathLst>
                <a:path w="2952115" h="264160">
                  <a:moveTo>
                    <a:pt x="0" y="263537"/>
                  </a:moveTo>
                  <a:lnTo>
                    <a:pt x="2951668" y="263537"/>
                  </a:lnTo>
                </a:path>
                <a:path w="2952115" h="264160">
                  <a:moveTo>
                    <a:pt x="316250" y="0"/>
                  </a:moveTo>
                  <a:lnTo>
                    <a:pt x="316250" y="263537"/>
                  </a:lnTo>
                </a:path>
              </a:pathLst>
            </a:custGeom>
            <a:ln w="21083">
              <a:solidFill>
                <a:srgbClr val="231F20"/>
              </a:solidFill>
            </a:ln>
          </p:spPr>
          <p:txBody>
            <a:bodyPr wrap="square" lIns="0" tIns="0" rIns="0" bIns="0" rtlCol="0"/>
            <a:lstStyle/>
            <a:p>
              <a:endParaRPr/>
            </a:p>
          </p:txBody>
        </p:sp>
        <p:sp>
          <p:nvSpPr>
            <p:cNvPr id="11" name="object 11"/>
            <p:cNvSpPr/>
            <p:nvPr/>
          </p:nvSpPr>
          <p:spPr>
            <a:xfrm>
              <a:off x="1829766" y="1457339"/>
              <a:ext cx="949325" cy="1212850"/>
            </a:xfrm>
            <a:custGeom>
              <a:avLst/>
              <a:gdLst/>
              <a:ahLst/>
              <a:cxnLst/>
              <a:rect l="l" t="t" r="r" b="b"/>
              <a:pathLst>
                <a:path w="949325" h="1212850">
                  <a:moveTo>
                    <a:pt x="0" y="1212288"/>
                  </a:moveTo>
                  <a:lnTo>
                    <a:pt x="948747" y="1212288"/>
                  </a:lnTo>
                  <a:lnTo>
                    <a:pt x="948747" y="0"/>
                  </a:lnTo>
                  <a:lnTo>
                    <a:pt x="0" y="0"/>
                  </a:lnTo>
                  <a:lnTo>
                    <a:pt x="0" y="1212288"/>
                  </a:lnTo>
                  <a:close/>
                </a:path>
                <a:path w="949325" h="1212850">
                  <a:moveTo>
                    <a:pt x="474376" y="474376"/>
                  </a:moveTo>
                  <a:lnTo>
                    <a:pt x="474376" y="353629"/>
                  </a:lnTo>
                </a:path>
              </a:pathLst>
            </a:custGeom>
            <a:ln w="5270">
              <a:solidFill>
                <a:srgbClr val="231F20"/>
              </a:solidFill>
            </a:ln>
          </p:spPr>
          <p:txBody>
            <a:bodyPr wrap="square" lIns="0" tIns="0" rIns="0" bIns="0" rtlCol="0"/>
            <a:lstStyle/>
            <a:p>
              <a:endParaRPr/>
            </a:p>
          </p:txBody>
        </p:sp>
        <p:sp>
          <p:nvSpPr>
            <p:cNvPr id="12" name="object 12"/>
            <p:cNvSpPr/>
            <p:nvPr/>
          </p:nvSpPr>
          <p:spPr>
            <a:xfrm>
              <a:off x="2272267" y="1773590"/>
              <a:ext cx="64135" cy="74930"/>
            </a:xfrm>
            <a:custGeom>
              <a:avLst/>
              <a:gdLst/>
              <a:ahLst/>
              <a:cxnLst/>
              <a:rect l="l" t="t" r="r" b="b"/>
              <a:pathLst>
                <a:path w="64135" h="74930">
                  <a:moveTo>
                    <a:pt x="31875" y="0"/>
                  </a:moveTo>
                  <a:lnTo>
                    <a:pt x="0" y="74377"/>
                  </a:lnTo>
                  <a:lnTo>
                    <a:pt x="15937" y="68400"/>
                  </a:lnTo>
                  <a:lnTo>
                    <a:pt x="31875" y="66408"/>
                  </a:lnTo>
                  <a:lnTo>
                    <a:pt x="47813" y="68400"/>
                  </a:lnTo>
                  <a:lnTo>
                    <a:pt x="63751" y="74377"/>
                  </a:lnTo>
                  <a:lnTo>
                    <a:pt x="31875" y="0"/>
                  </a:lnTo>
                  <a:close/>
                </a:path>
              </a:pathLst>
            </a:custGeom>
            <a:solidFill>
              <a:srgbClr val="231F20"/>
            </a:solidFill>
          </p:spPr>
          <p:txBody>
            <a:bodyPr wrap="square" lIns="0" tIns="0" rIns="0" bIns="0" rtlCol="0"/>
            <a:lstStyle/>
            <a:p>
              <a:endParaRPr/>
            </a:p>
          </p:txBody>
        </p:sp>
        <p:sp>
          <p:nvSpPr>
            <p:cNvPr id="13" name="object 13"/>
            <p:cNvSpPr/>
            <p:nvPr/>
          </p:nvSpPr>
          <p:spPr>
            <a:xfrm>
              <a:off x="2304143" y="2232633"/>
              <a:ext cx="0" cy="121285"/>
            </a:xfrm>
            <a:custGeom>
              <a:avLst/>
              <a:gdLst/>
              <a:ahLst/>
              <a:cxnLst/>
              <a:rect l="l" t="t" r="r" b="b"/>
              <a:pathLst>
                <a:path h="121285">
                  <a:moveTo>
                    <a:pt x="0" y="120743"/>
                  </a:moveTo>
                  <a:lnTo>
                    <a:pt x="0" y="0"/>
                  </a:lnTo>
                </a:path>
              </a:pathLst>
            </a:custGeom>
            <a:ln w="5270">
              <a:solidFill>
                <a:srgbClr val="231F20"/>
              </a:solidFill>
            </a:ln>
          </p:spPr>
          <p:txBody>
            <a:bodyPr wrap="square" lIns="0" tIns="0" rIns="0" bIns="0" rtlCol="0"/>
            <a:lstStyle/>
            <a:p>
              <a:endParaRPr/>
            </a:p>
          </p:txBody>
        </p:sp>
        <p:sp>
          <p:nvSpPr>
            <p:cNvPr id="14" name="object 14"/>
            <p:cNvSpPr/>
            <p:nvPr/>
          </p:nvSpPr>
          <p:spPr>
            <a:xfrm>
              <a:off x="2272256" y="2195254"/>
              <a:ext cx="64135" cy="74930"/>
            </a:xfrm>
            <a:custGeom>
              <a:avLst/>
              <a:gdLst/>
              <a:ahLst/>
              <a:cxnLst/>
              <a:rect l="l" t="t" r="r" b="b"/>
              <a:pathLst>
                <a:path w="64135" h="74930">
                  <a:moveTo>
                    <a:pt x="31886" y="0"/>
                  </a:moveTo>
                  <a:lnTo>
                    <a:pt x="0" y="74376"/>
                  </a:lnTo>
                  <a:lnTo>
                    <a:pt x="15938" y="68400"/>
                  </a:lnTo>
                  <a:lnTo>
                    <a:pt x="31877" y="66408"/>
                  </a:lnTo>
                  <a:lnTo>
                    <a:pt x="47818" y="68400"/>
                  </a:lnTo>
                  <a:lnTo>
                    <a:pt x="63762" y="74376"/>
                  </a:lnTo>
                  <a:lnTo>
                    <a:pt x="31886" y="0"/>
                  </a:lnTo>
                  <a:close/>
                </a:path>
              </a:pathLst>
            </a:custGeom>
            <a:solidFill>
              <a:srgbClr val="231F20"/>
            </a:solidFill>
          </p:spPr>
          <p:txBody>
            <a:bodyPr wrap="square" lIns="0" tIns="0" rIns="0" bIns="0" rtlCol="0"/>
            <a:lstStyle/>
            <a:p>
              <a:endParaRPr/>
            </a:p>
          </p:txBody>
        </p:sp>
        <p:sp>
          <p:nvSpPr>
            <p:cNvPr id="15" name="object 15"/>
            <p:cNvSpPr/>
            <p:nvPr/>
          </p:nvSpPr>
          <p:spPr>
            <a:xfrm>
              <a:off x="2304153" y="2669628"/>
              <a:ext cx="0" cy="264160"/>
            </a:xfrm>
            <a:custGeom>
              <a:avLst/>
              <a:gdLst/>
              <a:ahLst/>
              <a:cxnLst/>
              <a:rect l="l" t="t" r="r" b="b"/>
              <a:pathLst>
                <a:path h="264160">
                  <a:moveTo>
                    <a:pt x="0" y="0"/>
                  </a:moveTo>
                  <a:lnTo>
                    <a:pt x="0" y="263537"/>
                  </a:lnTo>
                </a:path>
              </a:pathLst>
            </a:custGeom>
            <a:ln w="21083">
              <a:solidFill>
                <a:srgbClr val="231F20"/>
              </a:solidFill>
            </a:ln>
          </p:spPr>
          <p:txBody>
            <a:bodyPr wrap="square" lIns="0" tIns="0" rIns="0" bIns="0" rtlCol="0"/>
            <a:lstStyle/>
            <a:p>
              <a:endParaRPr/>
            </a:p>
          </p:txBody>
        </p:sp>
        <p:sp>
          <p:nvSpPr>
            <p:cNvPr id="16" name="object 16"/>
            <p:cNvSpPr/>
            <p:nvPr/>
          </p:nvSpPr>
          <p:spPr>
            <a:xfrm>
              <a:off x="2989350" y="1457339"/>
              <a:ext cx="949325" cy="1212850"/>
            </a:xfrm>
            <a:custGeom>
              <a:avLst/>
              <a:gdLst/>
              <a:ahLst/>
              <a:cxnLst/>
              <a:rect l="l" t="t" r="r" b="b"/>
              <a:pathLst>
                <a:path w="949325" h="1212850">
                  <a:moveTo>
                    <a:pt x="0" y="1212288"/>
                  </a:moveTo>
                  <a:lnTo>
                    <a:pt x="948747" y="1212288"/>
                  </a:lnTo>
                  <a:lnTo>
                    <a:pt x="948747" y="0"/>
                  </a:lnTo>
                  <a:lnTo>
                    <a:pt x="0" y="0"/>
                  </a:lnTo>
                  <a:lnTo>
                    <a:pt x="0" y="1212288"/>
                  </a:lnTo>
                  <a:close/>
                </a:path>
                <a:path w="949325" h="1212850">
                  <a:moveTo>
                    <a:pt x="474376" y="474376"/>
                  </a:moveTo>
                  <a:lnTo>
                    <a:pt x="474376" y="353629"/>
                  </a:lnTo>
                </a:path>
              </a:pathLst>
            </a:custGeom>
            <a:ln w="5270">
              <a:solidFill>
                <a:srgbClr val="231F20"/>
              </a:solidFill>
            </a:ln>
          </p:spPr>
          <p:txBody>
            <a:bodyPr wrap="square" lIns="0" tIns="0" rIns="0" bIns="0" rtlCol="0"/>
            <a:lstStyle/>
            <a:p>
              <a:endParaRPr/>
            </a:p>
          </p:txBody>
        </p:sp>
        <p:sp>
          <p:nvSpPr>
            <p:cNvPr id="17" name="object 17"/>
            <p:cNvSpPr/>
            <p:nvPr/>
          </p:nvSpPr>
          <p:spPr>
            <a:xfrm>
              <a:off x="3431851" y="1773590"/>
              <a:ext cx="64135" cy="74930"/>
            </a:xfrm>
            <a:custGeom>
              <a:avLst/>
              <a:gdLst/>
              <a:ahLst/>
              <a:cxnLst/>
              <a:rect l="l" t="t" r="r" b="b"/>
              <a:pathLst>
                <a:path w="64135" h="74930">
                  <a:moveTo>
                    <a:pt x="31875" y="0"/>
                  </a:moveTo>
                  <a:lnTo>
                    <a:pt x="0" y="74377"/>
                  </a:lnTo>
                  <a:lnTo>
                    <a:pt x="15937" y="68400"/>
                  </a:lnTo>
                  <a:lnTo>
                    <a:pt x="31875" y="66408"/>
                  </a:lnTo>
                  <a:lnTo>
                    <a:pt x="47813" y="68400"/>
                  </a:lnTo>
                  <a:lnTo>
                    <a:pt x="63751" y="74377"/>
                  </a:lnTo>
                  <a:lnTo>
                    <a:pt x="31875" y="0"/>
                  </a:lnTo>
                  <a:close/>
                </a:path>
              </a:pathLst>
            </a:custGeom>
            <a:solidFill>
              <a:srgbClr val="231F20"/>
            </a:solidFill>
          </p:spPr>
          <p:txBody>
            <a:bodyPr wrap="square" lIns="0" tIns="0" rIns="0" bIns="0" rtlCol="0"/>
            <a:lstStyle/>
            <a:p>
              <a:endParaRPr/>
            </a:p>
          </p:txBody>
        </p:sp>
        <p:sp>
          <p:nvSpPr>
            <p:cNvPr id="18" name="object 18"/>
            <p:cNvSpPr/>
            <p:nvPr/>
          </p:nvSpPr>
          <p:spPr>
            <a:xfrm>
              <a:off x="3463727" y="2232633"/>
              <a:ext cx="0" cy="121285"/>
            </a:xfrm>
            <a:custGeom>
              <a:avLst/>
              <a:gdLst/>
              <a:ahLst/>
              <a:cxnLst/>
              <a:rect l="l" t="t" r="r" b="b"/>
              <a:pathLst>
                <a:path h="121285">
                  <a:moveTo>
                    <a:pt x="0" y="120743"/>
                  </a:moveTo>
                  <a:lnTo>
                    <a:pt x="0" y="0"/>
                  </a:lnTo>
                </a:path>
              </a:pathLst>
            </a:custGeom>
            <a:ln w="5270">
              <a:solidFill>
                <a:srgbClr val="231F20"/>
              </a:solidFill>
            </a:ln>
          </p:spPr>
          <p:txBody>
            <a:bodyPr wrap="square" lIns="0" tIns="0" rIns="0" bIns="0" rtlCol="0"/>
            <a:lstStyle/>
            <a:p>
              <a:endParaRPr/>
            </a:p>
          </p:txBody>
        </p:sp>
        <p:sp>
          <p:nvSpPr>
            <p:cNvPr id="19" name="object 19"/>
            <p:cNvSpPr/>
            <p:nvPr/>
          </p:nvSpPr>
          <p:spPr>
            <a:xfrm>
              <a:off x="3431840" y="2195254"/>
              <a:ext cx="64135" cy="74930"/>
            </a:xfrm>
            <a:custGeom>
              <a:avLst/>
              <a:gdLst/>
              <a:ahLst/>
              <a:cxnLst/>
              <a:rect l="l" t="t" r="r" b="b"/>
              <a:pathLst>
                <a:path w="64135" h="74930">
                  <a:moveTo>
                    <a:pt x="31886" y="0"/>
                  </a:moveTo>
                  <a:lnTo>
                    <a:pt x="0" y="74376"/>
                  </a:lnTo>
                  <a:lnTo>
                    <a:pt x="15944" y="68400"/>
                  </a:lnTo>
                  <a:lnTo>
                    <a:pt x="31885" y="66408"/>
                  </a:lnTo>
                  <a:lnTo>
                    <a:pt x="47824" y="68400"/>
                  </a:lnTo>
                  <a:lnTo>
                    <a:pt x="63762" y="74376"/>
                  </a:lnTo>
                  <a:lnTo>
                    <a:pt x="31886" y="0"/>
                  </a:lnTo>
                  <a:close/>
                </a:path>
              </a:pathLst>
            </a:custGeom>
            <a:solidFill>
              <a:srgbClr val="231F20"/>
            </a:solidFill>
          </p:spPr>
          <p:txBody>
            <a:bodyPr wrap="square" lIns="0" tIns="0" rIns="0" bIns="0" rtlCol="0"/>
            <a:lstStyle/>
            <a:p>
              <a:endParaRPr/>
            </a:p>
          </p:txBody>
        </p:sp>
        <p:sp>
          <p:nvSpPr>
            <p:cNvPr id="20" name="object 20"/>
            <p:cNvSpPr/>
            <p:nvPr/>
          </p:nvSpPr>
          <p:spPr>
            <a:xfrm>
              <a:off x="3463748" y="2669628"/>
              <a:ext cx="0" cy="264160"/>
            </a:xfrm>
            <a:custGeom>
              <a:avLst/>
              <a:gdLst/>
              <a:ahLst/>
              <a:cxnLst/>
              <a:rect l="l" t="t" r="r" b="b"/>
              <a:pathLst>
                <a:path h="264160">
                  <a:moveTo>
                    <a:pt x="0" y="0"/>
                  </a:moveTo>
                  <a:lnTo>
                    <a:pt x="0" y="263537"/>
                  </a:lnTo>
                </a:path>
              </a:pathLst>
            </a:custGeom>
            <a:ln w="21083">
              <a:solidFill>
                <a:srgbClr val="231F20"/>
              </a:solidFill>
            </a:ln>
          </p:spPr>
          <p:txBody>
            <a:bodyPr wrap="square" lIns="0" tIns="0" rIns="0" bIns="0" rtlCol="0"/>
            <a:lstStyle/>
            <a:p>
              <a:endParaRPr/>
            </a:p>
          </p:txBody>
        </p:sp>
        <p:sp>
          <p:nvSpPr>
            <p:cNvPr id="21" name="object 21"/>
            <p:cNvSpPr/>
            <p:nvPr/>
          </p:nvSpPr>
          <p:spPr>
            <a:xfrm>
              <a:off x="1197268" y="2669628"/>
              <a:ext cx="1002030" cy="211454"/>
            </a:xfrm>
            <a:custGeom>
              <a:avLst/>
              <a:gdLst/>
              <a:ahLst/>
              <a:cxnLst/>
              <a:rect l="l" t="t" r="r" b="b"/>
              <a:pathLst>
                <a:path w="1002030" h="211455">
                  <a:moveTo>
                    <a:pt x="0" y="0"/>
                  </a:moveTo>
                  <a:lnTo>
                    <a:pt x="0" y="52709"/>
                  </a:lnTo>
                  <a:lnTo>
                    <a:pt x="4392" y="101025"/>
                  </a:lnTo>
                  <a:lnTo>
                    <a:pt x="17568" y="140556"/>
                  </a:lnTo>
                  <a:lnTo>
                    <a:pt x="70275" y="193263"/>
                  </a:lnTo>
                  <a:lnTo>
                    <a:pt x="109806" y="206440"/>
                  </a:lnTo>
                  <a:lnTo>
                    <a:pt x="158123" y="210832"/>
                  </a:lnTo>
                  <a:lnTo>
                    <a:pt x="843328" y="210832"/>
                  </a:lnTo>
                  <a:lnTo>
                    <a:pt x="891645" y="206440"/>
                  </a:lnTo>
                  <a:lnTo>
                    <a:pt x="931177" y="193263"/>
                  </a:lnTo>
                  <a:lnTo>
                    <a:pt x="983885" y="140556"/>
                  </a:lnTo>
                  <a:lnTo>
                    <a:pt x="997061" y="101025"/>
                  </a:lnTo>
                  <a:lnTo>
                    <a:pt x="1001453" y="52709"/>
                  </a:lnTo>
                  <a:lnTo>
                    <a:pt x="1001453" y="37379"/>
                  </a:lnTo>
                </a:path>
              </a:pathLst>
            </a:custGeom>
            <a:ln w="5270">
              <a:solidFill>
                <a:srgbClr val="231F20"/>
              </a:solidFill>
            </a:ln>
          </p:spPr>
          <p:txBody>
            <a:bodyPr wrap="square" lIns="0" tIns="0" rIns="0" bIns="0" rtlCol="0"/>
            <a:lstStyle/>
            <a:p>
              <a:endParaRPr/>
            </a:p>
          </p:txBody>
        </p:sp>
        <p:pic>
          <p:nvPicPr>
            <p:cNvPr id="22" name="object 22"/>
            <p:cNvPicPr/>
            <p:nvPr/>
          </p:nvPicPr>
          <p:blipFill>
            <a:blip r:embed="rId5" cstate="print"/>
            <a:stretch>
              <a:fillRect/>
            </a:stretch>
          </p:blipFill>
          <p:spPr>
            <a:xfrm>
              <a:off x="2166846" y="2669628"/>
              <a:ext cx="63751" cy="74379"/>
            </a:xfrm>
            <a:prstGeom prst="rect">
              <a:avLst/>
            </a:prstGeom>
          </p:spPr>
        </p:pic>
        <p:sp>
          <p:nvSpPr>
            <p:cNvPr id="23" name="object 23"/>
            <p:cNvSpPr/>
            <p:nvPr/>
          </p:nvSpPr>
          <p:spPr>
            <a:xfrm>
              <a:off x="1987892" y="2707008"/>
              <a:ext cx="1370965" cy="173990"/>
            </a:xfrm>
            <a:custGeom>
              <a:avLst/>
              <a:gdLst/>
              <a:ahLst/>
              <a:cxnLst/>
              <a:rect l="l" t="t" r="r" b="b"/>
              <a:pathLst>
                <a:path w="1370964" h="173989">
                  <a:moveTo>
                    <a:pt x="0" y="173453"/>
                  </a:moveTo>
                  <a:lnTo>
                    <a:pt x="1212299" y="173453"/>
                  </a:lnTo>
                  <a:lnTo>
                    <a:pt x="1260612" y="169061"/>
                  </a:lnTo>
                  <a:lnTo>
                    <a:pt x="1300140" y="155884"/>
                  </a:lnTo>
                  <a:lnTo>
                    <a:pt x="1352845" y="103177"/>
                  </a:lnTo>
                  <a:lnTo>
                    <a:pt x="1366022" y="63646"/>
                  </a:lnTo>
                  <a:lnTo>
                    <a:pt x="1370414" y="15329"/>
                  </a:lnTo>
                  <a:lnTo>
                    <a:pt x="1370414" y="0"/>
                  </a:lnTo>
                </a:path>
              </a:pathLst>
            </a:custGeom>
            <a:ln w="5270">
              <a:solidFill>
                <a:srgbClr val="231F20"/>
              </a:solidFill>
            </a:ln>
          </p:spPr>
          <p:txBody>
            <a:bodyPr wrap="square" lIns="0" tIns="0" rIns="0" bIns="0" rtlCol="0"/>
            <a:lstStyle/>
            <a:p>
              <a:endParaRPr/>
            </a:p>
          </p:txBody>
        </p:sp>
        <p:pic>
          <p:nvPicPr>
            <p:cNvPr id="24" name="object 24"/>
            <p:cNvPicPr/>
            <p:nvPr/>
          </p:nvPicPr>
          <p:blipFill>
            <a:blip r:embed="rId6" cstate="print"/>
            <a:stretch>
              <a:fillRect/>
            </a:stretch>
          </p:blipFill>
          <p:spPr>
            <a:xfrm>
              <a:off x="3326430" y="2669628"/>
              <a:ext cx="63762" cy="74379"/>
            </a:xfrm>
            <a:prstGeom prst="rect">
              <a:avLst/>
            </a:prstGeom>
          </p:spPr>
        </p:pic>
        <p:sp>
          <p:nvSpPr>
            <p:cNvPr id="25" name="object 25"/>
            <p:cNvSpPr/>
            <p:nvPr/>
          </p:nvSpPr>
          <p:spPr>
            <a:xfrm>
              <a:off x="2514968" y="1806270"/>
              <a:ext cx="706120" cy="531495"/>
            </a:xfrm>
            <a:custGeom>
              <a:avLst/>
              <a:gdLst/>
              <a:ahLst/>
              <a:cxnLst/>
              <a:rect l="l" t="t" r="r" b="b"/>
              <a:pathLst>
                <a:path w="706119" h="531494">
                  <a:moveTo>
                    <a:pt x="699833" y="0"/>
                  </a:moveTo>
                  <a:lnTo>
                    <a:pt x="0" y="0"/>
                  </a:lnTo>
                  <a:lnTo>
                    <a:pt x="0" y="113512"/>
                  </a:lnTo>
                  <a:lnTo>
                    <a:pt x="699833" y="113512"/>
                  </a:lnTo>
                  <a:lnTo>
                    <a:pt x="699833" y="0"/>
                  </a:lnTo>
                  <a:close/>
                </a:path>
                <a:path w="706119" h="531494">
                  <a:moveTo>
                    <a:pt x="705827" y="417614"/>
                  </a:moveTo>
                  <a:lnTo>
                    <a:pt x="5994" y="417614"/>
                  </a:lnTo>
                  <a:lnTo>
                    <a:pt x="5994" y="531126"/>
                  </a:lnTo>
                  <a:lnTo>
                    <a:pt x="705827" y="531126"/>
                  </a:lnTo>
                  <a:lnTo>
                    <a:pt x="705827" y="417614"/>
                  </a:lnTo>
                  <a:close/>
                </a:path>
              </a:pathLst>
            </a:custGeom>
            <a:solidFill>
              <a:srgbClr val="FFFFFF"/>
            </a:solidFill>
          </p:spPr>
          <p:txBody>
            <a:bodyPr wrap="square" lIns="0" tIns="0" rIns="0" bIns="0" rtlCol="0"/>
            <a:lstStyle/>
            <a:p>
              <a:endParaRPr/>
            </a:p>
          </p:txBody>
        </p:sp>
      </p:grpSp>
      <p:sp>
        <p:nvSpPr>
          <p:cNvPr id="26" name="object 26"/>
          <p:cNvSpPr txBox="1"/>
          <p:nvPr/>
        </p:nvSpPr>
        <p:spPr>
          <a:xfrm>
            <a:off x="2533496" y="2211301"/>
            <a:ext cx="7378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Message</a:t>
            </a:r>
            <a:r>
              <a:rPr sz="650" spc="-45" dirty="0">
                <a:solidFill>
                  <a:srgbClr val="231F20"/>
                </a:solidFill>
                <a:latin typeface="Arial"/>
                <a:cs typeface="Arial"/>
              </a:rPr>
              <a:t> </a:t>
            </a:r>
            <a:r>
              <a:rPr sz="650" spc="5" dirty="0">
                <a:solidFill>
                  <a:srgbClr val="231F20"/>
                </a:solidFill>
                <a:latin typeface="Arial"/>
                <a:cs typeface="Arial"/>
              </a:rPr>
              <a:t>reception</a:t>
            </a:r>
            <a:endParaRPr sz="650">
              <a:latin typeface="Arial"/>
              <a:cs typeface="Arial"/>
            </a:endParaRPr>
          </a:p>
        </p:txBody>
      </p:sp>
      <p:sp>
        <p:nvSpPr>
          <p:cNvPr id="38" name="object 3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48</a:t>
            </a:r>
            <a:r>
              <a:rPr spc="-40" dirty="0"/>
              <a:t> </a:t>
            </a:r>
            <a:r>
              <a:rPr spc="-5" dirty="0"/>
              <a:t>/</a:t>
            </a:r>
            <a:r>
              <a:rPr spc="-35" dirty="0"/>
              <a:t> </a:t>
            </a:r>
            <a:r>
              <a:rPr spc="-5" dirty="0"/>
              <a:t>68</a:t>
            </a:r>
          </a:p>
        </p:txBody>
      </p:sp>
      <p:sp>
        <p:nvSpPr>
          <p:cNvPr id="27" name="object 27"/>
          <p:cNvSpPr txBox="1"/>
          <p:nvPr/>
        </p:nvSpPr>
        <p:spPr>
          <a:xfrm>
            <a:off x="2532059" y="1789633"/>
            <a:ext cx="6819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Message</a:t>
            </a:r>
            <a:r>
              <a:rPr sz="650" spc="-45" dirty="0">
                <a:solidFill>
                  <a:srgbClr val="231F20"/>
                </a:solidFill>
                <a:latin typeface="Arial"/>
                <a:cs typeface="Arial"/>
              </a:rPr>
              <a:t> </a:t>
            </a:r>
            <a:r>
              <a:rPr sz="650" spc="5" dirty="0">
                <a:solidFill>
                  <a:srgbClr val="231F20"/>
                </a:solidFill>
                <a:latin typeface="Arial"/>
                <a:cs typeface="Arial"/>
              </a:rPr>
              <a:t>delivery</a:t>
            </a:r>
            <a:endParaRPr sz="650">
              <a:latin typeface="Arial"/>
              <a:cs typeface="Arial"/>
            </a:endParaRPr>
          </a:p>
        </p:txBody>
      </p:sp>
      <p:sp>
        <p:nvSpPr>
          <p:cNvPr id="28" name="object 28"/>
          <p:cNvSpPr txBox="1"/>
          <p:nvPr/>
        </p:nvSpPr>
        <p:spPr>
          <a:xfrm>
            <a:off x="722891" y="1931712"/>
            <a:ext cx="843915" cy="264160"/>
          </a:xfrm>
          <a:prstGeom prst="rect">
            <a:avLst/>
          </a:prstGeom>
          <a:ln w="5270">
            <a:solidFill>
              <a:srgbClr val="231F20"/>
            </a:solidFill>
          </a:ln>
        </p:spPr>
        <p:txBody>
          <a:bodyPr vert="horz" wrap="square" lIns="0" tIns="40005" rIns="0" bIns="0" rtlCol="0">
            <a:spAutoFit/>
          </a:bodyPr>
          <a:lstStyle/>
          <a:p>
            <a:pPr marL="189865" marR="92075" indent="-136525">
              <a:lnSpc>
                <a:spcPts val="740"/>
              </a:lnSpc>
              <a:spcBef>
                <a:spcPts val="315"/>
              </a:spcBef>
            </a:pPr>
            <a:r>
              <a:rPr sz="650" spc="5" dirty="0">
                <a:solidFill>
                  <a:srgbClr val="231F20"/>
                </a:solidFill>
                <a:latin typeface="Arial"/>
                <a:cs typeface="Arial"/>
              </a:rPr>
              <a:t>Message-handling  component</a:t>
            </a:r>
            <a:endParaRPr sz="650">
              <a:latin typeface="Arial"/>
              <a:cs typeface="Arial"/>
            </a:endParaRPr>
          </a:p>
        </p:txBody>
      </p:sp>
      <p:sp>
        <p:nvSpPr>
          <p:cNvPr id="29" name="object 29"/>
          <p:cNvSpPr txBox="1"/>
          <p:nvPr/>
        </p:nvSpPr>
        <p:spPr>
          <a:xfrm>
            <a:off x="1882482" y="1931712"/>
            <a:ext cx="843915" cy="264160"/>
          </a:xfrm>
          <a:prstGeom prst="rect">
            <a:avLst/>
          </a:prstGeom>
          <a:ln w="5270">
            <a:solidFill>
              <a:srgbClr val="231F20"/>
            </a:solidFill>
          </a:ln>
        </p:spPr>
        <p:txBody>
          <a:bodyPr vert="horz" wrap="square" lIns="0" tIns="40005" rIns="0" bIns="0" rtlCol="0">
            <a:spAutoFit/>
          </a:bodyPr>
          <a:lstStyle/>
          <a:p>
            <a:pPr marL="189865" marR="92075" indent="-136525">
              <a:lnSpc>
                <a:spcPts val="740"/>
              </a:lnSpc>
              <a:spcBef>
                <a:spcPts val="315"/>
              </a:spcBef>
            </a:pPr>
            <a:r>
              <a:rPr sz="650" spc="5" dirty="0">
                <a:solidFill>
                  <a:srgbClr val="231F20"/>
                </a:solidFill>
                <a:latin typeface="Arial"/>
                <a:cs typeface="Arial"/>
              </a:rPr>
              <a:t>Message-handling  component</a:t>
            </a:r>
            <a:endParaRPr sz="650">
              <a:latin typeface="Arial"/>
              <a:cs typeface="Arial"/>
            </a:endParaRPr>
          </a:p>
        </p:txBody>
      </p:sp>
      <p:sp>
        <p:nvSpPr>
          <p:cNvPr id="30" name="object 30"/>
          <p:cNvSpPr txBox="1"/>
          <p:nvPr/>
        </p:nvSpPr>
        <p:spPr>
          <a:xfrm>
            <a:off x="3042066" y="1931712"/>
            <a:ext cx="843915" cy="264160"/>
          </a:xfrm>
          <a:prstGeom prst="rect">
            <a:avLst/>
          </a:prstGeom>
          <a:ln w="5270">
            <a:solidFill>
              <a:srgbClr val="231F20"/>
            </a:solidFill>
          </a:ln>
        </p:spPr>
        <p:txBody>
          <a:bodyPr vert="horz" wrap="square" lIns="0" tIns="40005" rIns="0" bIns="0" rtlCol="0">
            <a:spAutoFit/>
          </a:bodyPr>
          <a:lstStyle/>
          <a:p>
            <a:pPr marL="189865" marR="92075" indent="-136525">
              <a:lnSpc>
                <a:spcPts val="740"/>
              </a:lnSpc>
              <a:spcBef>
                <a:spcPts val="315"/>
              </a:spcBef>
            </a:pPr>
            <a:r>
              <a:rPr sz="650" spc="5" dirty="0">
                <a:solidFill>
                  <a:srgbClr val="231F20"/>
                </a:solidFill>
                <a:latin typeface="Arial"/>
                <a:cs typeface="Arial"/>
              </a:rPr>
              <a:t>Message-handling  component</a:t>
            </a:r>
            <a:endParaRPr sz="650">
              <a:latin typeface="Arial"/>
              <a:cs typeface="Arial"/>
            </a:endParaRPr>
          </a:p>
        </p:txBody>
      </p:sp>
      <p:sp>
        <p:nvSpPr>
          <p:cNvPr id="31" name="object 31"/>
          <p:cNvSpPr txBox="1"/>
          <p:nvPr/>
        </p:nvSpPr>
        <p:spPr>
          <a:xfrm>
            <a:off x="722891" y="1510049"/>
            <a:ext cx="843915" cy="264160"/>
          </a:xfrm>
          <a:prstGeom prst="rect">
            <a:avLst/>
          </a:prstGeom>
          <a:solidFill>
            <a:srgbClr val="E6E7E8"/>
          </a:solidFill>
          <a:ln w="5270">
            <a:solidFill>
              <a:srgbClr val="231F20"/>
            </a:solidFill>
          </a:ln>
        </p:spPr>
        <p:txBody>
          <a:bodyPr vert="horz" wrap="square" lIns="0" tIns="29845" rIns="0" bIns="0" rtlCol="0">
            <a:spAutoFit/>
          </a:bodyPr>
          <a:lstStyle/>
          <a:p>
            <a:pPr marL="190500" marR="60960" indent="-138430">
              <a:lnSpc>
                <a:spcPts val="740"/>
              </a:lnSpc>
              <a:spcBef>
                <a:spcPts val="235"/>
              </a:spcBef>
            </a:pPr>
            <a:r>
              <a:rPr sz="650" spc="5" dirty="0">
                <a:solidFill>
                  <a:srgbClr val="231F20"/>
                </a:solidFill>
                <a:latin typeface="Arial"/>
                <a:cs typeface="Arial"/>
              </a:rPr>
              <a:t>Group membership  functionality</a:t>
            </a:r>
            <a:endParaRPr sz="650">
              <a:latin typeface="Arial"/>
              <a:cs typeface="Arial"/>
            </a:endParaRPr>
          </a:p>
        </p:txBody>
      </p:sp>
      <p:sp>
        <p:nvSpPr>
          <p:cNvPr id="32" name="object 32"/>
          <p:cNvSpPr txBox="1"/>
          <p:nvPr/>
        </p:nvSpPr>
        <p:spPr>
          <a:xfrm>
            <a:off x="1882482" y="1510049"/>
            <a:ext cx="843915" cy="264160"/>
          </a:xfrm>
          <a:prstGeom prst="rect">
            <a:avLst/>
          </a:prstGeom>
          <a:solidFill>
            <a:srgbClr val="E6E7E8"/>
          </a:solidFill>
          <a:ln w="5270">
            <a:solidFill>
              <a:srgbClr val="231F20"/>
            </a:solidFill>
          </a:ln>
        </p:spPr>
        <p:txBody>
          <a:bodyPr vert="horz" wrap="square" lIns="0" tIns="29845" rIns="0" bIns="0" rtlCol="0">
            <a:spAutoFit/>
          </a:bodyPr>
          <a:lstStyle/>
          <a:p>
            <a:pPr marL="190500" marR="60960" indent="-138430">
              <a:lnSpc>
                <a:spcPts val="740"/>
              </a:lnSpc>
              <a:spcBef>
                <a:spcPts val="235"/>
              </a:spcBef>
            </a:pPr>
            <a:r>
              <a:rPr sz="650" spc="5" dirty="0">
                <a:solidFill>
                  <a:srgbClr val="231F20"/>
                </a:solidFill>
                <a:latin typeface="Arial"/>
                <a:cs typeface="Arial"/>
              </a:rPr>
              <a:t>Group membership  functionality</a:t>
            </a:r>
            <a:endParaRPr sz="650">
              <a:latin typeface="Arial"/>
              <a:cs typeface="Arial"/>
            </a:endParaRPr>
          </a:p>
        </p:txBody>
      </p:sp>
      <p:sp>
        <p:nvSpPr>
          <p:cNvPr id="33" name="object 33"/>
          <p:cNvSpPr txBox="1"/>
          <p:nvPr/>
        </p:nvSpPr>
        <p:spPr>
          <a:xfrm>
            <a:off x="3042066" y="1510049"/>
            <a:ext cx="843915" cy="264160"/>
          </a:xfrm>
          <a:prstGeom prst="rect">
            <a:avLst/>
          </a:prstGeom>
          <a:solidFill>
            <a:srgbClr val="E6E7E8"/>
          </a:solidFill>
          <a:ln w="5270">
            <a:solidFill>
              <a:srgbClr val="231F20"/>
            </a:solidFill>
          </a:ln>
        </p:spPr>
        <p:txBody>
          <a:bodyPr vert="horz" wrap="square" lIns="0" tIns="29845" rIns="0" bIns="0" rtlCol="0">
            <a:spAutoFit/>
          </a:bodyPr>
          <a:lstStyle/>
          <a:p>
            <a:pPr marL="190500" marR="60960" indent="-138430">
              <a:lnSpc>
                <a:spcPts val="740"/>
              </a:lnSpc>
              <a:spcBef>
                <a:spcPts val="235"/>
              </a:spcBef>
            </a:pPr>
            <a:r>
              <a:rPr sz="650" spc="5" dirty="0">
                <a:solidFill>
                  <a:srgbClr val="231F20"/>
                </a:solidFill>
                <a:latin typeface="Arial"/>
                <a:cs typeface="Arial"/>
              </a:rPr>
              <a:t>Group membership  functionality</a:t>
            </a:r>
            <a:endParaRPr sz="650">
              <a:latin typeface="Arial"/>
              <a:cs typeface="Arial"/>
            </a:endParaRPr>
          </a:p>
        </p:txBody>
      </p:sp>
      <p:sp>
        <p:nvSpPr>
          <p:cNvPr id="34" name="object 34"/>
          <p:cNvSpPr txBox="1"/>
          <p:nvPr/>
        </p:nvSpPr>
        <p:spPr>
          <a:xfrm>
            <a:off x="722891" y="2353377"/>
            <a:ext cx="843915" cy="264160"/>
          </a:xfrm>
          <a:prstGeom prst="rect">
            <a:avLst/>
          </a:prstGeom>
          <a:ln w="5270">
            <a:solidFill>
              <a:srgbClr val="231F20"/>
            </a:solidFill>
          </a:ln>
        </p:spPr>
        <p:txBody>
          <a:bodyPr vert="horz" wrap="square" lIns="0" tIns="3810" rIns="0" bIns="0" rtlCol="0">
            <a:spAutoFit/>
          </a:bodyPr>
          <a:lstStyle/>
          <a:p>
            <a:pPr>
              <a:lnSpc>
                <a:spcPct val="100000"/>
              </a:lnSpc>
              <a:spcBef>
                <a:spcPts val="30"/>
              </a:spcBef>
            </a:pPr>
            <a:endParaRPr sz="550">
              <a:latin typeface="Times New Roman"/>
              <a:cs typeface="Times New Roman"/>
            </a:endParaRPr>
          </a:p>
          <a:p>
            <a:pPr marL="263525">
              <a:lnSpc>
                <a:spcPct val="100000"/>
              </a:lnSpc>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35" name="object 35"/>
          <p:cNvSpPr txBox="1"/>
          <p:nvPr/>
        </p:nvSpPr>
        <p:spPr>
          <a:xfrm>
            <a:off x="1882482" y="2353377"/>
            <a:ext cx="843915" cy="264160"/>
          </a:xfrm>
          <a:prstGeom prst="rect">
            <a:avLst/>
          </a:prstGeom>
          <a:ln w="5270">
            <a:solidFill>
              <a:srgbClr val="231F20"/>
            </a:solidFill>
          </a:ln>
        </p:spPr>
        <p:txBody>
          <a:bodyPr vert="horz" wrap="square" lIns="0" tIns="3810" rIns="0" bIns="0" rtlCol="0">
            <a:spAutoFit/>
          </a:bodyPr>
          <a:lstStyle/>
          <a:p>
            <a:pPr>
              <a:lnSpc>
                <a:spcPct val="100000"/>
              </a:lnSpc>
              <a:spcBef>
                <a:spcPts val="30"/>
              </a:spcBef>
            </a:pPr>
            <a:endParaRPr sz="550">
              <a:latin typeface="Times New Roman"/>
              <a:cs typeface="Times New Roman"/>
            </a:endParaRPr>
          </a:p>
          <a:p>
            <a:pPr marL="263525">
              <a:lnSpc>
                <a:spcPct val="100000"/>
              </a:lnSpc>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36" name="object 36"/>
          <p:cNvSpPr txBox="1"/>
          <p:nvPr/>
        </p:nvSpPr>
        <p:spPr>
          <a:xfrm>
            <a:off x="3042066" y="2353377"/>
            <a:ext cx="843915" cy="264160"/>
          </a:xfrm>
          <a:prstGeom prst="rect">
            <a:avLst/>
          </a:prstGeom>
          <a:ln w="5270">
            <a:solidFill>
              <a:srgbClr val="231F20"/>
            </a:solidFill>
          </a:ln>
        </p:spPr>
        <p:txBody>
          <a:bodyPr vert="horz" wrap="square" lIns="0" tIns="3810" rIns="0" bIns="0" rtlCol="0">
            <a:spAutoFit/>
          </a:bodyPr>
          <a:lstStyle/>
          <a:p>
            <a:pPr>
              <a:lnSpc>
                <a:spcPct val="100000"/>
              </a:lnSpc>
              <a:spcBef>
                <a:spcPts val="30"/>
              </a:spcBef>
            </a:pPr>
            <a:endParaRPr sz="550">
              <a:latin typeface="Times New Roman"/>
              <a:cs typeface="Times New Roman"/>
            </a:endParaRPr>
          </a:p>
          <a:p>
            <a:pPr marL="263525">
              <a:lnSpc>
                <a:spcPct val="100000"/>
              </a:lnSpc>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37" name="object 37"/>
          <p:cNvSpPr txBox="1"/>
          <p:nvPr/>
        </p:nvSpPr>
        <p:spPr>
          <a:xfrm>
            <a:off x="3398323" y="2940578"/>
            <a:ext cx="334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Network</a:t>
            </a:r>
            <a:endParaRPr sz="650">
              <a:latin typeface="Arial"/>
              <a:cs typeface="Arial"/>
            </a:endParaRP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49</a:t>
            </a:r>
            <a:r>
              <a:rPr spc="-40" dirty="0"/>
              <a:t> </a:t>
            </a:r>
            <a:r>
              <a:rPr spc="-5" dirty="0"/>
              <a:t>/</a:t>
            </a:r>
            <a:r>
              <a:rPr spc="-35" dirty="0"/>
              <a:t> </a:t>
            </a:r>
            <a:r>
              <a:rPr spc="-5" dirty="0"/>
              <a:t>68</a:t>
            </a:r>
          </a:p>
        </p:txBody>
      </p:sp>
      <p:sp>
        <p:nvSpPr>
          <p:cNvPr id="2" name="object 2"/>
          <p:cNvSpPr txBox="1"/>
          <p:nvPr/>
        </p:nvSpPr>
        <p:spPr>
          <a:xfrm>
            <a:off x="66713" y="716"/>
            <a:ext cx="16021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Reliable group communication</a:t>
            </a:r>
            <a:endParaRPr sz="600">
              <a:latin typeface="Arial"/>
              <a:cs typeface="Arial"/>
            </a:endParaRPr>
          </a:p>
        </p:txBody>
      </p:sp>
      <p:sp>
        <p:nvSpPr>
          <p:cNvPr id="3" name="object 3"/>
          <p:cNvSpPr txBox="1">
            <a:spLocks noGrp="1"/>
          </p:cNvSpPr>
          <p:nvPr>
            <p:ph type="title"/>
          </p:nvPr>
        </p:nvSpPr>
        <p:spPr>
          <a:xfrm>
            <a:off x="95300" y="188846"/>
            <a:ext cx="3410585" cy="244475"/>
          </a:xfrm>
          <a:prstGeom prst="rect">
            <a:avLst/>
          </a:prstGeom>
        </p:spPr>
        <p:txBody>
          <a:bodyPr vert="horz" wrap="square" lIns="0" tIns="17145" rIns="0" bIns="0" rtlCol="0">
            <a:spAutoFit/>
          </a:bodyPr>
          <a:lstStyle/>
          <a:p>
            <a:pPr marL="12700">
              <a:lnSpc>
                <a:spcPct val="100000"/>
              </a:lnSpc>
              <a:spcBef>
                <a:spcPts val="135"/>
              </a:spcBef>
            </a:pPr>
            <a:r>
              <a:rPr spc="15" dirty="0"/>
              <a:t>Less</a:t>
            </a:r>
            <a:r>
              <a:rPr spc="-5" dirty="0"/>
              <a:t> </a:t>
            </a:r>
            <a:r>
              <a:rPr spc="15" dirty="0"/>
              <a:t>simple</a:t>
            </a:r>
            <a:r>
              <a:rPr spc="-5" dirty="0"/>
              <a:t> </a:t>
            </a:r>
            <a:r>
              <a:rPr spc="10" dirty="0"/>
              <a:t>reliable</a:t>
            </a:r>
            <a:r>
              <a:rPr dirty="0"/>
              <a:t> </a:t>
            </a:r>
            <a:r>
              <a:rPr spc="10" dirty="0"/>
              <a:t>group</a:t>
            </a:r>
            <a:r>
              <a:rPr spc="-5" dirty="0"/>
              <a:t> </a:t>
            </a:r>
            <a:r>
              <a:rPr spc="15" dirty="0"/>
              <a:t>communication</a:t>
            </a:r>
          </a:p>
        </p:txBody>
      </p:sp>
      <p:sp>
        <p:nvSpPr>
          <p:cNvPr id="4" name="object 4"/>
          <p:cNvSpPr txBox="1"/>
          <p:nvPr/>
        </p:nvSpPr>
        <p:spPr>
          <a:xfrm>
            <a:off x="342595" y="970760"/>
            <a:ext cx="3917315" cy="1461135"/>
          </a:xfrm>
          <a:prstGeom prst="rect">
            <a:avLst/>
          </a:prstGeom>
        </p:spPr>
        <p:txBody>
          <a:bodyPr vert="horz" wrap="square" lIns="0" tIns="22860" rIns="0" bIns="0" rtlCol="0">
            <a:spAutoFit/>
          </a:bodyPr>
          <a:lstStyle/>
          <a:p>
            <a:pPr marL="17145" marR="635000">
              <a:lnSpc>
                <a:spcPts val="1390"/>
              </a:lnSpc>
              <a:spcBef>
                <a:spcPts val="180"/>
              </a:spcBef>
            </a:pPr>
            <a:r>
              <a:rPr sz="1200" spc="-10" dirty="0">
                <a:solidFill>
                  <a:srgbClr val="3333B2"/>
                </a:solidFill>
                <a:latin typeface="Arial"/>
                <a:cs typeface="Arial"/>
              </a:rPr>
              <a:t>Reliable</a:t>
            </a:r>
            <a:r>
              <a:rPr sz="1200" spc="-5" dirty="0">
                <a:solidFill>
                  <a:srgbClr val="3333B2"/>
                </a:solidFill>
                <a:latin typeface="Arial"/>
                <a:cs typeface="Arial"/>
              </a:rPr>
              <a:t> communication in the presence</a:t>
            </a:r>
            <a:r>
              <a:rPr sz="1200" dirty="0">
                <a:solidFill>
                  <a:srgbClr val="3333B2"/>
                </a:solidFill>
                <a:latin typeface="Arial"/>
                <a:cs typeface="Arial"/>
              </a:rPr>
              <a:t> </a:t>
            </a:r>
            <a:r>
              <a:rPr sz="1200" spc="-5" dirty="0">
                <a:solidFill>
                  <a:srgbClr val="3333B2"/>
                </a:solidFill>
                <a:latin typeface="Arial"/>
                <a:cs typeface="Arial"/>
              </a:rPr>
              <a:t>of </a:t>
            </a:r>
            <a:r>
              <a:rPr sz="1200" spc="-10" dirty="0">
                <a:solidFill>
                  <a:srgbClr val="3333B2"/>
                </a:solidFill>
                <a:latin typeface="Arial"/>
                <a:cs typeface="Arial"/>
              </a:rPr>
              <a:t>faulty </a:t>
            </a:r>
            <a:r>
              <a:rPr sz="1200" spc="-320" dirty="0">
                <a:solidFill>
                  <a:srgbClr val="3333B2"/>
                </a:solidFill>
                <a:latin typeface="Arial"/>
                <a:cs typeface="Arial"/>
              </a:rPr>
              <a:t> </a:t>
            </a:r>
            <a:r>
              <a:rPr sz="1200" spc="-5" dirty="0">
                <a:solidFill>
                  <a:srgbClr val="3333B2"/>
                </a:solidFill>
                <a:latin typeface="Arial"/>
                <a:cs typeface="Arial"/>
              </a:rPr>
              <a:t>processes</a:t>
            </a:r>
            <a:endParaRPr sz="1200">
              <a:latin typeface="Arial"/>
              <a:cs typeface="Arial"/>
            </a:endParaRPr>
          </a:p>
          <a:p>
            <a:pPr marL="17145" marR="5080">
              <a:lnSpc>
                <a:spcPct val="100000"/>
              </a:lnSpc>
              <a:spcBef>
                <a:spcPts val="145"/>
              </a:spcBef>
            </a:pPr>
            <a:r>
              <a:rPr sz="1000" spc="-5" dirty="0">
                <a:latin typeface="Arial"/>
                <a:cs typeface="Arial"/>
              </a:rPr>
              <a:t>Group communication is reliable</a:t>
            </a:r>
            <a:r>
              <a:rPr sz="1000" dirty="0">
                <a:latin typeface="Arial"/>
                <a:cs typeface="Arial"/>
              </a:rPr>
              <a:t> </a:t>
            </a:r>
            <a:r>
              <a:rPr sz="1000" spc="-5" dirty="0">
                <a:latin typeface="Arial"/>
                <a:cs typeface="Arial"/>
              </a:rPr>
              <a:t>when it can</a:t>
            </a:r>
            <a:r>
              <a:rPr sz="1000" dirty="0">
                <a:latin typeface="Arial"/>
                <a:cs typeface="Arial"/>
              </a:rPr>
              <a:t> </a:t>
            </a:r>
            <a:r>
              <a:rPr sz="1000" spc="-5" dirty="0">
                <a:latin typeface="Arial"/>
                <a:cs typeface="Arial"/>
              </a:rPr>
              <a:t>be guaranteed that</a:t>
            </a:r>
            <a:r>
              <a:rPr sz="1000" dirty="0">
                <a:latin typeface="Arial"/>
                <a:cs typeface="Arial"/>
              </a:rPr>
              <a:t> </a:t>
            </a:r>
            <a:r>
              <a:rPr sz="1000" spc="-5" dirty="0">
                <a:latin typeface="Arial"/>
                <a:cs typeface="Arial"/>
              </a:rPr>
              <a:t>a </a:t>
            </a:r>
            <a:r>
              <a:rPr sz="1000" dirty="0">
                <a:latin typeface="Arial"/>
                <a:cs typeface="Arial"/>
              </a:rPr>
              <a:t> </a:t>
            </a:r>
            <a:r>
              <a:rPr sz="1000" spc="-15" dirty="0">
                <a:latin typeface="Arial"/>
                <a:cs typeface="Arial"/>
              </a:rPr>
              <a:t>message</a:t>
            </a:r>
            <a:r>
              <a:rPr sz="1000" spc="-5" dirty="0">
                <a:latin typeface="Arial"/>
                <a:cs typeface="Arial"/>
              </a:rPr>
              <a:t> </a:t>
            </a:r>
            <a:r>
              <a:rPr sz="1000" spc="-10" dirty="0">
                <a:latin typeface="Arial"/>
                <a:cs typeface="Arial"/>
              </a:rPr>
              <a:t>is</a:t>
            </a:r>
            <a:r>
              <a:rPr sz="1000" dirty="0">
                <a:latin typeface="Arial"/>
                <a:cs typeface="Arial"/>
              </a:rPr>
              <a:t> </a:t>
            </a:r>
            <a:r>
              <a:rPr sz="1000" spc="-15" dirty="0">
                <a:solidFill>
                  <a:srgbClr val="0000FA"/>
                </a:solidFill>
                <a:latin typeface="Arial"/>
                <a:cs typeface="Arial"/>
              </a:rPr>
              <a:t>received</a:t>
            </a:r>
            <a:r>
              <a:rPr sz="1000" dirty="0">
                <a:solidFill>
                  <a:srgbClr val="0000FA"/>
                </a:solidFill>
                <a:latin typeface="Arial"/>
                <a:cs typeface="Arial"/>
              </a:rPr>
              <a:t> </a:t>
            </a:r>
            <a:r>
              <a:rPr sz="1000" spc="-15" dirty="0">
                <a:solidFill>
                  <a:srgbClr val="0000FA"/>
                </a:solidFill>
                <a:latin typeface="Arial"/>
                <a:cs typeface="Arial"/>
              </a:rPr>
              <a:t>and</a:t>
            </a:r>
            <a:r>
              <a:rPr sz="1000" dirty="0">
                <a:solidFill>
                  <a:srgbClr val="0000FA"/>
                </a:solidFill>
                <a:latin typeface="Arial"/>
                <a:cs typeface="Arial"/>
              </a:rPr>
              <a:t> </a:t>
            </a:r>
            <a:r>
              <a:rPr sz="1000" spc="-15" dirty="0">
                <a:solidFill>
                  <a:srgbClr val="0000FA"/>
                </a:solidFill>
                <a:latin typeface="Arial"/>
                <a:cs typeface="Arial"/>
              </a:rPr>
              <a:t>subsequently</a:t>
            </a:r>
            <a:r>
              <a:rPr sz="1000" dirty="0">
                <a:solidFill>
                  <a:srgbClr val="0000FA"/>
                </a:solidFill>
                <a:latin typeface="Arial"/>
                <a:cs typeface="Arial"/>
              </a:rPr>
              <a:t> </a:t>
            </a:r>
            <a:r>
              <a:rPr sz="1000" spc="-15" dirty="0">
                <a:solidFill>
                  <a:srgbClr val="0000FA"/>
                </a:solidFill>
                <a:latin typeface="Arial"/>
                <a:cs typeface="Arial"/>
              </a:rPr>
              <a:t>delivered</a:t>
            </a:r>
            <a:r>
              <a:rPr sz="1000" spc="5" dirty="0">
                <a:solidFill>
                  <a:srgbClr val="0000FA"/>
                </a:solidFill>
                <a:latin typeface="Arial"/>
                <a:cs typeface="Arial"/>
              </a:rPr>
              <a:t> </a:t>
            </a:r>
            <a:r>
              <a:rPr sz="1000" spc="-25" dirty="0">
                <a:latin typeface="Arial"/>
                <a:cs typeface="Arial"/>
              </a:rPr>
              <a:t>by</a:t>
            </a:r>
            <a:r>
              <a:rPr sz="1000" dirty="0">
                <a:latin typeface="Arial"/>
                <a:cs typeface="Arial"/>
              </a:rPr>
              <a:t> </a:t>
            </a:r>
            <a:r>
              <a:rPr sz="1000" spc="-10" dirty="0">
                <a:latin typeface="Arial"/>
                <a:cs typeface="Arial"/>
              </a:rPr>
              <a:t>all</a:t>
            </a:r>
            <a:r>
              <a:rPr sz="1000" dirty="0">
                <a:latin typeface="Arial"/>
                <a:cs typeface="Arial"/>
              </a:rPr>
              <a:t> </a:t>
            </a:r>
            <a:r>
              <a:rPr sz="1000" spc="-15" dirty="0">
                <a:solidFill>
                  <a:srgbClr val="0000FA"/>
                </a:solidFill>
                <a:latin typeface="Arial"/>
                <a:cs typeface="Arial"/>
              </a:rPr>
              <a:t>nonfaulty</a:t>
            </a:r>
            <a:r>
              <a:rPr sz="1000" dirty="0">
                <a:solidFill>
                  <a:srgbClr val="0000FA"/>
                </a:solidFill>
                <a:latin typeface="Arial"/>
                <a:cs typeface="Arial"/>
              </a:rPr>
              <a:t> </a:t>
            </a:r>
            <a:r>
              <a:rPr sz="1000" spc="-15" dirty="0">
                <a:solidFill>
                  <a:srgbClr val="0000FA"/>
                </a:solidFill>
                <a:latin typeface="Arial"/>
                <a:cs typeface="Arial"/>
              </a:rPr>
              <a:t>group </a:t>
            </a:r>
            <a:r>
              <a:rPr sz="1000" spc="-265" dirty="0">
                <a:solidFill>
                  <a:srgbClr val="0000FA"/>
                </a:solidFill>
                <a:latin typeface="Arial"/>
                <a:cs typeface="Arial"/>
              </a:rPr>
              <a:t> </a:t>
            </a:r>
            <a:r>
              <a:rPr sz="1000" spc="-5" dirty="0">
                <a:solidFill>
                  <a:srgbClr val="0000FA"/>
                </a:solidFill>
                <a:latin typeface="Arial"/>
                <a:cs typeface="Arial"/>
              </a:rPr>
              <a:t>members</a:t>
            </a:r>
            <a:r>
              <a:rPr sz="1000" spc="-5" dirty="0">
                <a:latin typeface="Arial"/>
                <a:cs typeface="Arial"/>
              </a:rPr>
              <a:t>.</a:t>
            </a:r>
            <a:endParaRPr sz="1000">
              <a:latin typeface="Arial"/>
              <a:cs typeface="Arial"/>
            </a:endParaRPr>
          </a:p>
          <a:p>
            <a:pPr marL="12700">
              <a:lnSpc>
                <a:spcPct val="100000"/>
              </a:lnSpc>
              <a:spcBef>
                <a:spcPts val="680"/>
              </a:spcBef>
            </a:pPr>
            <a:r>
              <a:rPr sz="1200" spc="-30" dirty="0">
                <a:solidFill>
                  <a:srgbClr val="3333B2"/>
                </a:solidFill>
                <a:latin typeface="Arial"/>
                <a:cs typeface="Arial"/>
              </a:rPr>
              <a:t>Tricky</a:t>
            </a:r>
            <a:r>
              <a:rPr sz="1200" spc="-40" dirty="0">
                <a:solidFill>
                  <a:srgbClr val="3333B2"/>
                </a:solidFill>
                <a:latin typeface="Arial"/>
                <a:cs typeface="Arial"/>
              </a:rPr>
              <a:t> </a:t>
            </a:r>
            <a:r>
              <a:rPr sz="1200" spc="5" dirty="0">
                <a:solidFill>
                  <a:srgbClr val="3333B2"/>
                </a:solidFill>
                <a:latin typeface="Arial"/>
                <a:cs typeface="Arial"/>
              </a:rPr>
              <a:t>part</a:t>
            </a:r>
            <a:endParaRPr sz="1200">
              <a:latin typeface="Arial"/>
              <a:cs typeface="Arial"/>
            </a:endParaRPr>
          </a:p>
          <a:p>
            <a:pPr marL="17145" marR="135890" indent="-4445">
              <a:lnSpc>
                <a:spcPct val="100000"/>
              </a:lnSpc>
              <a:spcBef>
                <a:spcPts val="180"/>
              </a:spcBef>
            </a:pPr>
            <a:r>
              <a:rPr sz="1000" spc="-5" dirty="0">
                <a:latin typeface="Arial"/>
                <a:cs typeface="Arial"/>
              </a:rPr>
              <a:t>Agreement is</a:t>
            </a:r>
            <a:r>
              <a:rPr sz="1000" dirty="0">
                <a:latin typeface="Arial"/>
                <a:cs typeface="Arial"/>
              </a:rPr>
              <a:t> </a:t>
            </a:r>
            <a:r>
              <a:rPr sz="1000" spc="-5" dirty="0">
                <a:latin typeface="Arial"/>
                <a:cs typeface="Arial"/>
              </a:rPr>
              <a:t>needed</a:t>
            </a:r>
            <a:r>
              <a:rPr sz="1000" dirty="0">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what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group</a:t>
            </a:r>
            <a:r>
              <a:rPr sz="1000" dirty="0">
                <a:latin typeface="Arial"/>
                <a:cs typeface="Arial"/>
              </a:rPr>
              <a:t> </a:t>
            </a:r>
            <a:r>
              <a:rPr sz="1000" spc="-5" dirty="0">
                <a:latin typeface="Arial"/>
                <a:cs typeface="Arial"/>
              </a:rPr>
              <a:t>actually</a:t>
            </a:r>
            <a:r>
              <a:rPr sz="1000" dirty="0">
                <a:latin typeface="Arial"/>
                <a:cs typeface="Arial"/>
              </a:rPr>
              <a:t> </a:t>
            </a:r>
            <a:r>
              <a:rPr sz="1000" spc="-5" dirty="0">
                <a:latin typeface="Arial"/>
                <a:cs typeface="Arial"/>
              </a:rPr>
              <a:t>looks </a:t>
            </a:r>
            <a:r>
              <a:rPr sz="1000" spc="-10" dirty="0">
                <a:latin typeface="Arial"/>
                <a:cs typeface="Arial"/>
              </a:rPr>
              <a:t>like</a:t>
            </a:r>
            <a:r>
              <a:rPr sz="1000" dirty="0">
                <a:latin typeface="Arial"/>
                <a:cs typeface="Arial"/>
              </a:rPr>
              <a:t> </a:t>
            </a:r>
            <a:r>
              <a:rPr sz="1000" spc="-10" dirty="0">
                <a:latin typeface="Arial"/>
                <a:cs typeface="Arial"/>
              </a:rPr>
              <a:t>before</a:t>
            </a:r>
            <a:r>
              <a:rPr sz="1000" dirty="0">
                <a:latin typeface="Arial"/>
                <a:cs typeface="Arial"/>
              </a:rPr>
              <a:t> </a:t>
            </a:r>
            <a:r>
              <a:rPr sz="1000" spc="-5" dirty="0">
                <a:latin typeface="Arial"/>
                <a:cs typeface="Arial"/>
              </a:rPr>
              <a:t>a </a:t>
            </a:r>
            <a:r>
              <a:rPr sz="1000" spc="-260" dirty="0">
                <a:latin typeface="Arial"/>
                <a:cs typeface="Arial"/>
              </a:rPr>
              <a:t> </a:t>
            </a:r>
            <a:r>
              <a:rPr sz="1000" spc="-5" dirty="0">
                <a:latin typeface="Arial"/>
                <a:cs typeface="Arial"/>
              </a:rPr>
              <a:t>received</a:t>
            </a:r>
            <a:r>
              <a:rPr sz="1000" spc="-10" dirty="0">
                <a:latin typeface="Arial"/>
                <a:cs typeface="Arial"/>
              </a:rPr>
              <a:t> </a:t>
            </a:r>
            <a:r>
              <a:rPr sz="1000" spc="-5" dirty="0">
                <a:latin typeface="Arial"/>
                <a:cs typeface="Arial"/>
              </a:rPr>
              <a:t>message can be delivered.</a:t>
            </a:r>
            <a:endParaRPr sz="1000">
              <a:latin typeface="Arial"/>
              <a:cs typeface="Arial"/>
            </a:endParaRP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6021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5" dirty="0">
                <a:solidFill>
                  <a:srgbClr val="3333B2"/>
                </a:solidFill>
                <a:latin typeface="Arial"/>
                <a:cs typeface="Arial"/>
              </a:rPr>
              <a:t> </a:t>
            </a:r>
            <a:r>
              <a:rPr sz="600" spc="-5" dirty="0">
                <a:solidFill>
                  <a:srgbClr val="3333B2"/>
                </a:solidFill>
                <a:latin typeface="Arial"/>
                <a:cs typeface="Arial"/>
                <a:hlinkClick r:id="rId4" action="ppaction://hlinksldjump"/>
              </a:rPr>
              <a:t>Reliable group communication</a:t>
            </a:r>
            <a:endParaRPr sz="600">
              <a:latin typeface="Arial"/>
              <a:cs typeface="Arial"/>
            </a:endParaRPr>
          </a:p>
        </p:txBody>
      </p:sp>
      <p:sp>
        <p:nvSpPr>
          <p:cNvPr id="3" name="object 3"/>
          <p:cNvSpPr txBox="1">
            <a:spLocks noGrp="1"/>
          </p:cNvSpPr>
          <p:nvPr>
            <p:ph type="title"/>
          </p:nvPr>
        </p:nvSpPr>
        <p:spPr>
          <a:xfrm>
            <a:off x="95300" y="188846"/>
            <a:ext cx="3005455" cy="244475"/>
          </a:xfrm>
          <a:prstGeom prst="rect">
            <a:avLst/>
          </a:prstGeom>
        </p:spPr>
        <p:txBody>
          <a:bodyPr vert="horz" wrap="square" lIns="0" tIns="17145" rIns="0" bIns="0" rtlCol="0">
            <a:spAutoFit/>
          </a:bodyPr>
          <a:lstStyle/>
          <a:p>
            <a:pPr marL="12700">
              <a:lnSpc>
                <a:spcPct val="100000"/>
              </a:lnSpc>
              <a:spcBef>
                <a:spcPts val="135"/>
              </a:spcBef>
            </a:pPr>
            <a:r>
              <a:rPr spc="15" dirty="0"/>
              <a:t>Simple</a:t>
            </a:r>
            <a:r>
              <a:rPr spc="-10" dirty="0"/>
              <a:t> </a:t>
            </a:r>
            <a:r>
              <a:rPr spc="10" dirty="0"/>
              <a:t>reliable</a:t>
            </a:r>
            <a:r>
              <a:rPr spc="-5" dirty="0"/>
              <a:t> </a:t>
            </a:r>
            <a:r>
              <a:rPr spc="10" dirty="0"/>
              <a:t>group</a:t>
            </a:r>
            <a:r>
              <a:rPr spc="-10" dirty="0"/>
              <a:t> </a:t>
            </a:r>
            <a:r>
              <a:rPr spc="15" dirty="0"/>
              <a:t>communication</a:t>
            </a:r>
          </a:p>
        </p:txBody>
      </p:sp>
      <p:grpSp>
        <p:nvGrpSpPr>
          <p:cNvPr id="4" name="object 4"/>
          <p:cNvGrpSpPr/>
          <p:nvPr/>
        </p:nvGrpSpPr>
        <p:grpSpPr>
          <a:xfrm>
            <a:off x="672393" y="1528645"/>
            <a:ext cx="483870" cy="454025"/>
            <a:chOff x="672393" y="1528645"/>
            <a:chExt cx="483870" cy="454025"/>
          </a:xfrm>
        </p:grpSpPr>
        <p:sp>
          <p:nvSpPr>
            <p:cNvPr id="5" name="object 5"/>
            <p:cNvSpPr/>
            <p:nvPr/>
          </p:nvSpPr>
          <p:spPr>
            <a:xfrm>
              <a:off x="675250" y="1531502"/>
              <a:ext cx="478155" cy="448309"/>
            </a:xfrm>
            <a:custGeom>
              <a:avLst/>
              <a:gdLst/>
              <a:ahLst/>
              <a:cxnLst/>
              <a:rect l="l" t="t" r="r" b="b"/>
              <a:pathLst>
                <a:path w="478155" h="448310">
                  <a:moveTo>
                    <a:pt x="0" y="448198"/>
                  </a:moveTo>
                  <a:lnTo>
                    <a:pt x="478083" y="448198"/>
                  </a:lnTo>
                  <a:lnTo>
                    <a:pt x="478083" y="0"/>
                  </a:lnTo>
                  <a:lnTo>
                    <a:pt x="0" y="0"/>
                  </a:lnTo>
                  <a:lnTo>
                    <a:pt x="0" y="448198"/>
                  </a:lnTo>
                  <a:close/>
                </a:path>
              </a:pathLst>
            </a:custGeom>
            <a:ln w="5270">
              <a:solidFill>
                <a:srgbClr val="231F20"/>
              </a:solidFill>
            </a:ln>
          </p:spPr>
          <p:txBody>
            <a:bodyPr wrap="square" lIns="0" tIns="0" rIns="0" bIns="0" rtlCol="0"/>
            <a:lstStyle/>
            <a:p>
              <a:endParaRPr/>
            </a:p>
          </p:txBody>
        </p:sp>
        <p:sp>
          <p:nvSpPr>
            <p:cNvPr id="6" name="object 6"/>
            <p:cNvSpPr/>
            <p:nvPr/>
          </p:nvSpPr>
          <p:spPr>
            <a:xfrm>
              <a:off x="899115" y="1800417"/>
              <a:ext cx="224790" cy="57785"/>
            </a:xfrm>
            <a:custGeom>
              <a:avLst/>
              <a:gdLst/>
              <a:ahLst/>
              <a:cxnLst/>
              <a:rect l="l" t="t" r="r" b="b"/>
              <a:pathLst>
                <a:path w="224790" h="57785">
                  <a:moveTo>
                    <a:pt x="112166" y="0"/>
                  </a:moveTo>
                  <a:lnTo>
                    <a:pt x="68576" y="2266"/>
                  </a:lnTo>
                  <a:lnTo>
                    <a:pt x="32915" y="8442"/>
                  </a:lnTo>
                  <a:lnTo>
                    <a:pt x="8838" y="17587"/>
                  </a:lnTo>
                  <a:lnTo>
                    <a:pt x="0" y="28765"/>
                  </a:lnTo>
                  <a:lnTo>
                    <a:pt x="8838" y="39943"/>
                  </a:lnTo>
                  <a:lnTo>
                    <a:pt x="32915" y="49087"/>
                  </a:lnTo>
                  <a:lnTo>
                    <a:pt x="68576" y="55260"/>
                  </a:lnTo>
                  <a:lnTo>
                    <a:pt x="112166" y="57526"/>
                  </a:lnTo>
                  <a:lnTo>
                    <a:pt x="155756" y="55260"/>
                  </a:lnTo>
                  <a:lnTo>
                    <a:pt x="191417" y="49087"/>
                  </a:lnTo>
                  <a:lnTo>
                    <a:pt x="215495" y="39943"/>
                  </a:lnTo>
                  <a:lnTo>
                    <a:pt x="224333" y="28765"/>
                  </a:lnTo>
                  <a:lnTo>
                    <a:pt x="215495" y="17587"/>
                  </a:lnTo>
                  <a:lnTo>
                    <a:pt x="191417" y="8442"/>
                  </a:lnTo>
                  <a:lnTo>
                    <a:pt x="155756" y="2266"/>
                  </a:lnTo>
                  <a:lnTo>
                    <a:pt x="112166" y="0"/>
                  </a:lnTo>
                  <a:close/>
                </a:path>
              </a:pathLst>
            </a:custGeom>
            <a:ln w="5270">
              <a:solidFill>
                <a:srgbClr val="231F20"/>
              </a:solidFill>
            </a:ln>
          </p:spPr>
          <p:txBody>
            <a:bodyPr wrap="square" lIns="0" tIns="0" rIns="0" bIns="0" rtlCol="0"/>
            <a:lstStyle/>
            <a:p>
              <a:endParaRPr/>
            </a:p>
          </p:txBody>
        </p:sp>
        <p:sp>
          <p:nvSpPr>
            <p:cNvPr id="7" name="object 7"/>
            <p:cNvSpPr/>
            <p:nvPr/>
          </p:nvSpPr>
          <p:spPr>
            <a:xfrm>
              <a:off x="899115" y="1829964"/>
              <a:ext cx="224790" cy="120014"/>
            </a:xfrm>
            <a:custGeom>
              <a:avLst/>
              <a:gdLst/>
              <a:ahLst/>
              <a:cxnLst/>
              <a:rect l="l" t="t" r="r" b="b"/>
              <a:pathLst>
                <a:path w="224790" h="120014">
                  <a:moveTo>
                    <a:pt x="224333" y="0"/>
                  </a:moveTo>
                  <a:lnTo>
                    <a:pt x="215495" y="11178"/>
                  </a:lnTo>
                  <a:lnTo>
                    <a:pt x="191417" y="20324"/>
                  </a:lnTo>
                  <a:lnTo>
                    <a:pt x="155756" y="26498"/>
                  </a:lnTo>
                  <a:lnTo>
                    <a:pt x="112166" y="28765"/>
                  </a:lnTo>
                  <a:lnTo>
                    <a:pt x="68576" y="26498"/>
                  </a:lnTo>
                  <a:lnTo>
                    <a:pt x="32915" y="20324"/>
                  </a:lnTo>
                  <a:lnTo>
                    <a:pt x="8838" y="11178"/>
                  </a:lnTo>
                  <a:lnTo>
                    <a:pt x="0" y="0"/>
                  </a:lnTo>
                  <a:lnTo>
                    <a:pt x="0" y="91088"/>
                  </a:lnTo>
                  <a:lnTo>
                    <a:pt x="16617" y="107068"/>
                  </a:lnTo>
                  <a:lnTo>
                    <a:pt x="58160" y="116656"/>
                  </a:lnTo>
                  <a:lnTo>
                    <a:pt x="112166" y="119852"/>
                  </a:lnTo>
                  <a:lnTo>
                    <a:pt x="166173" y="116656"/>
                  </a:lnTo>
                  <a:lnTo>
                    <a:pt x="207716" y="107068"/>
                  </a:lnTo>
                  <a:lnTo>
                    <a:pt x="224333" y="91088"/>
                  </a:lnTo>
                  <a:lnTo>
                    <a:pt x="224333" y="0"/>
                  </a:lnTo>
                  <a:close/>
                </a:path>
              </a:pathLst>
            </a:custGeom>
            <a:solidFill>
              <a:srgbClr val="BCBEC0"/>
            </a:solidFill>
          </p:spPr>
          <p:txBody>
            <a:bodyPr wrap="square" lIns="0" tIns="0" rIns="0" bIns="0" rtlCol="0"/>
            <a:lstStyle/>
            <a:p>
              <a:endParaRPr/>
            </a:p>
          </p:txBody>
        </p:sp>
        <p:sp>
          <p:nvSpPr>
            <p:cNvPr id="8" name="object 8"/>
            <p:cNvSpPr/>
            <p:nvPr/>
          </p:nvSpPr>
          <p:spPr>
            <a:xfrm>
              <a:off x="899115" y="1829964"/>
              <a:ext cx="224790" cy="120014"/>
            </a:xfrm>
            <a:custGeom>
              <a:avLst/>
              <a:gdLst/>
              <a:ahLst/>
              <a:cxnLst/>
              <a:rect l="l" t="t" r="r" b="b"/>
              <a:pathLst>
                <a:path w="224790" h="120014">
                  <a:moveTo>
                    <a:pt x="0" y="91088"/>
                  </a:moveTo>
                  <a:lnTo>
                    <a:pt x="16617" y="107068"/>
                  </a:lnTo>
                  <a:lnTo>
                    <a:pt x="58160" y="116656"/>
                  </a:lnTo>
                  <a:lnTo>
                    <a:pt x="112166" y="119852"/>
                  </a:lnTo>
                  <a:lnTo>
                    <a:pt x="166173" y="116656"/>
                  </a:lnTo>
                  <a:lnTo>
                    <a:pt x="207716" y="107068"/>
                  </a:lnTo>
                  <a:lnTo>
                    <a:pt x="224333" y="91088"/>
                  </a:lnTo>
                  <a:lnTo>
                    <a:pt x="224333" y="0"/>
                  </a:lnTo>
                  <a:lnTo>
                    <a:pt x="215495" y="11178"/>
                  </a:lnTo>
                  <a:lnTo>
                    <a:pt x="191417" y="20324"/>
                  </a:lnTo>
                  <a:lnTo>
                    <a:pt x="155756" y="26498"/>
                  </a:lnTo>
                  <a:lnTo>
                    <a:pt x="112166" y="28765"/>
                  </a:lnTo>
                  <a:lnTo>
                    <a:pt x="68576" y="26498"/>
                  </a:lnTo>
                  <a:lnTo>
                    <a:pt x="32915" y="20324"/>
                  </a:lnTo>
                  <a:lnTo>
                    <a:pt x="8838" y="11178"/>
                  </a:lnTo>
                  <a:lnTo>
                    <a:pt x="0" y="0"/>
                  </a:lnTo>
                  <a:lnTo>
                    <a:pt x="0" y="91088"/>
                  </a:lnTo>
                  <a:close/>
                </a:path>
              </a:pathLst>
            </a:custGeom>
            <a:ln w="5270">
              <a:solidFill>
                <a:srgbClr val="231F20"/>
              </a:solidFill>
            </a:ln>
          </p:spPr>
          <p:txBody>
            <a:bodyPr wrap="square" lIns="0" tIns="0" rIns="0" bIns="0" rtlCol="0"/>
            <a:lstStyle/>
            <a:p>
              <a:endParaRPr/>
            </a:p>
          </p:txBody>
        </p:sp>
      </p:grpSp>
      <p:sp>
        <p:nvSpPr>
          <p:cNvPr id="9" name="object 9"/>
          <p:cNvSpPr txBox="1"/>
          <p:nvPr/>
        </p:nvSpPr>
        <p:spPr>
          <a:xfrm>
            <a:off x="786169" y="1561379"/>
            <a:ext cx="172720" cy="104775"/>
          </a:xfrm>
          <a:prstGeom prst="rect">
            <a:avLst/>
          </a:prstGeom>
          <a:ln w="5270">
            <a:solidFill>
              <a:srgbClr val="231F20"/>
            </a:solidFill>
          </a:ln>
        </p:spPr>
        <p:txBody>
          <a:bodyPr vert="horz" wrap="square" lIns="0" tIns="0" rIns="0" bIns="0" rtlCol="0">
            <a:spAutoFit/>
          </a:bodyPr>
          <a:lstStyle/>
          <a:p>
            <a:pPr>
              <a:lnSpc>
                <a:spcPts val="775"/>
              </a:lnSpc>
            </a:pPr>
            <a:r>
              <a:rPr sz="650" spc="5" dirty="0">
                <a:solidFill>
                  <a:srgbClr val="231F20"/>
                </a:solidFill>
                <a:latin typeface="Arial"/>
                <a:cs typeface="Arial"/>
              </a:rPr>
              <a:t>M25</a:t>
            </a:r>
            <a:endParaRPr sz="650">
              <a:latin typeface="Arial"/>
              <a:cs typeface="Arial"/>
            </a:endParaRPr>
          </a:p>
        </p:txBody>
      </p:sp>
      <p:grpSp>
        <p:nvGrpSpPr>
          <p:cNvPr id="10" name="object 10"/>
          <p:cNvGrpSpPr/>
          <p:nvPr/>
        </p:nvGrpSpPr>
        <p:grpSpPr>
          <a:xfrm>
            <a:off x="837434" y="1528645"/>
            <a:ext cx="3098165" cy="454025"/>
            <a:chOff x="837434" y="1528645"/>
            <a:chExt cx="3098165" cy="454025"/>
          </a:xfrm>
        </p:grpSpPr>
        <p:sp>
          <p:nvSpPr>
            <p:cNvPr id="11" name="object 11"/>
            <p:cNvSpPr/>
            <p:nvPr/>
          </p:nvSpPr>
          <p:spPr>
            <a:xfrm>
              <a:off x="840291" y="1665961"/>
              <a:ext cx="420370" cy="196850"/>
            </a:xfrm>
            <a:custGeom>
              <a:avLst/>
              <a:gdLst/>
              <a:ahLst/>
              <a:cxnLst/>
              <a:rect l="l" t="t" r="r" b="b"/>
              <a:pathLst>
                <a:path w="420369" h="196850">
                  <a:moveTo>
                    <a:pt x="283157" y="196412"/>
                  </a:moveTo>
                  <a:lnTo>
                    <a:pt x="420248" y="86765"/>
                  </a:lnTo>
                </a:path>
                <a:path w="420369" h="196850">
                  <a:moveTo>
                    <a:pt x="0" y="0"/>
                  </a:moveTo>
                  <a:lnTo>
                    <a:pt x="4096" y="34728"/>
                  </a:lnTo>
                  <a:lnTo>
                    <a:pt x="20791" y="53785"/>
                  </a:lnTo>
                  <a:lnTo>
                    <a:pt x="52891" y="61815"/>
                  </a:lnTo>
                  <a:lnTo>
                    <a:pt x="103202" y="63459"/>
                  </a:lnTo>
                  <a:lnTo>
                    <a:pt x="140928" y="74375"/>
                  </a:lnTo>
                  <a:lnTo>
                    <a:pt x="160252" y="98802"/>
                  </a:lnTo>
                  <a:lnTo>
                    <a:pt x="167331" y="123309"/>
                  </a:lnTo>
                  <a:lnTo>
                    <a:pt x="168322" y="134463"/>
                  </a:lnTo>
                </a:path>
              </a:pathLst>
            </a:custGeom>
            <a:ln w="5270">
              <a:solidFill>
                <a:srgbClr val="231F20"/>
              </a:solidFill>
            </a:ln>
          </p:spPr>
          <p:txBody>
            <a:bodyPr wrap="square" lIns="0" tIns="0" rIns="0" bIns="0" rtlCol="0"/>
            <a:lstStyle/>
            <a:p>
              <a:endParaRPr/>
            </a:p>
          </p:txBody>
        </p:sp>
        <p:sp>
          <p:nvSpPr>
            <p:cNvPr id="12" name="object 12"/>
            <p:cNvSpPr/>
            <p:nvPr/>
          </p:nvSpPr>
          <p:spPr>
            <a:xfrm>
              <a:off x="976834" y="1763342"/>
              <a:ext cx="64135" cy="74930"/>
            </a:xfrm>
            <a:custGeom>
              <a:avLst/>
              <a:gdLst/>
              <a:ahLst/>
              <a:cxnLst/>
              <a:rect l="l" t="t" r="r" b="b"/>
              <a:pathLst>
                <a:path w="64134" h="74930">
                  <a:moveTo>
                    <a:pt x="0" y="0"/>
                  </a:moveTo>
                  <a:lnTo>
                    <a:pt x="31680" y="74461"/>
                  </a:lnTo>
                  <a:lnTo>
                    <a:pt x="63753" y="168"/>
                  </a:lnTo>
                  <a:lnTo>
                    <a:pt x="47798" y="6101"/>
                  </a:lnTo>
                  <a:lnTo>
                    <a:pt x="31854" y="8051"/>
                  </a:lnTo>
                  <a:lnTo>
                    <a:pt x="15921" y="6018"/>
                  </a:lnTo>
                  <a:lnTo>
                    <a:pt x="0" y="0"/>
                  </a:lnTo>
                  <a:close/>
                </a:path>
              </a:pathLst>
            </a:custGeom>
            <a:solidFill>
              <a:srgbClr val="231F20"/>
            </a:solidFill>
          </p:spPr>
          <p:txBody>
            <a:bodyPr wrap="square" lIns="0" tIns="0" rIns="0" bIns="0" rtlCol="0"/>
            <a:lstStyle/>
            <a:p>
              <a:endParaRPr/>
            </a:p>
          </p:txBody>
        </p:sp>
        <p:sp>
          <p:nvSpPr>
            <p:cNvPr id="13" name="object 13"/>
            <p:cNvSpPr/>
            <p:nvPr/>
          </p:nvSpPr>
          <p:spPr>
            <a:xfrm>
              <a:off x="1750930" y="1531502"/>
              <a:ext cx="2181860" cy="448309"/>
            </a:xfrm>
            <a:custGeom>
              <a:avLst/>
              <a:gdLst/>
              <a:ahLst/>
              <a:cxnLst/>
              <a:rect l="l" t="t" r="r" b="b"/>
              <a:pathLst>
                <a:path w="2181860" h="448310">
                  <a:moveTo>
                    <a:pt x="0" y="448198"/>
                  </a:moveTo>
                  <a:lnTo>
                    <a:pt x="478067" y="448198"/>
                  </a:lnTo>
                  <a:lnTo>
                    <a:pt x="478067" y="0"/>
                  </a:lnTo>
                  <a:lnTo>
                    <a:pt x="0" y="0"/>
                  </a:lnTo>
                  <a:lnTo>
                    <a:pt x="0" y="448198"/>
                  </a:lnTo>
                  <a:close/>
                </a:path>
                <a:path w="2181860" h="448310">
                  <a:moveTo>
                    <a:pt x="567717" y="448198"/>
                  </a:moveTo>
                  <a:lnTo>
                    <a:pt x="1045792" y="448198"/>
                  </a:lnTo>
                  <a:lnTo>
                    <a:pt x="1045792" y="0"/>
                  </a:lnTo>
                  <a:lnTo>
                    <a:pt x="567717" y="0"/>
                  </a:lnTo>
                  <a:lnTo>
                    <a:pt x="567717" y="448198"/>
                  </a:lnTo>
                  <a:close/>
                </a:path>
                <a:path w="2181860" h="448310">
                  <a:moveTo>
                    <a:pt x="1135434" y="448198"/>
                  </a:moveTo>
                  <a:lnTo>
                    <a:pt x="1613513" y="448198"/>
                  </a:lnTo>
                  <a:lnTo>
                    <a:pt x="1613513" y="0"/>
                  </a:lnTo>
                  <a:lnTo>
                    <a:pt x="1135434" y="0"/>
                  </a:lnTo>
                  <a:lnTo>
                    <a:pt x="1135434" y="448198"/>
                  </a:lnTo>
                  <a:close/>
                </a:path>
                <a:path w="2181860" h="448310">
                  <a:moveTo>
                    <a:pt x="1703162" y="448198"/>
                  </a:moveTo>
                  <a:lnTo>
                    <a:pt x="2181241" y="448198"/>
                  </a:lnTo>
                  <a:lnTo>
                    <a:pt x="2181241" y="0"/>
                  </a:lnTo>
                  <a:lnTo>
                    <a:pt x="1703162" y="0"/>
                  </a:lnTo>
                  <a:lnTo>
                    <a:pt x="1703162" y="448198"/>
                  </a:lnTo>
                  <a:close/>
                </a:path>
              </a:pathLst>
            </a:custGeom>
            <a:ln w="5270">
              <a:solidFill>
                <a:srgbClr val="231F20"/>
              </a:solidFill>
            </a:ln>
          </p:spPr>
          <p:txBody>
            <a:bodyPr wrap="square" lIns="0" tIns="0" rIns="0" bIns="0" rtlCol="0"/>
            <a:lstStyle/>
            <a:p>
              <a:endParaRPr/>
            </a:p>
          </p:txBody>
        </p:sp>
      </p:grpSp>
      <p:sp>
        <p:nvSpPr>
          <p:cNvPr id="14" name="object 14"/>
          <p:cNvSpPr txBox="1"/>
          <p:nvPr/>
        </p:nvSpPr>
        <p:spPr>
          <a:xfrm>
            <a:off x="1232308" y="1550286"/>
            <a:ext cx="288290" cy="220979"/>
          </a:xfrm>
          <a:prstGeom prst="rect">
            <a:avLst/>
          </a:prstGeom>
        </p:spPr>
        <p:txBody>
          <a:bodyPr vert="horz" wrap="square" lIns="0" tIns="21590" rIns="0" bIns="0" rtlCol="0">
            <a:spAutoFit/>
          </a:bodyPr>
          <a:lstStyle/>
          <a:p>
            <a:pPr marL="36195" marR="5080" indent="-24130">
              <a:lnSpc>
                <a:spcPts val="740"/>
              </a:lnSpc>
              <a:spcBef>
                <a:spcPts val="170"/>
              </a:spcBef>
            </a:pPr>
            <a:r>
              <a:rPr sz="650" spc="5" dirty="0">
                <a:solidFill>
                  <a:srgbClr val="231F20"/>
                </a:solidFill>
                <a:latin typeface="Arial"/>
                <a:cs typeface="Arial"/>
              </a:rPr>
              <a:t>History  </a:t>
            </a:r>
            <a:r>
              <a:rPr sz="650" dirty="0">
                <a:solidFill>
                  <a:srgbClr val="231F20"/>
                </a:solidFill>
                <a:latin typeface="Arial"/>
                <a:cs typeface="Arial"/>
              </a:rPr>
              <a:t>buffer</a:t>
            </a:r>
            <a:endParaRPr sz="650">
              <a:latin typeface="Arial"/>
              <a:cs typeface="Arial"/>
            </a:endParaRPr>
          </a:p>
        </p:txBody>
      </p:sp>
      <p:grpSp>
        <p:nvGrpSpPr>
          <p:cNvPr id="15" name="object 15"/>
          <p:cNvGrpSpPr/>
          <p:nvPr/>
        </p:nvGrpSpPr>
        <p:grpSpPr>
          <a:xfrm>
            <a:off x="783308" y="1663104"/>
            <a:ext cx="1358265" cy="439420"/>
            <a:chOff x="783308" y="1663104"/>
            <a:chExt cx="1358265" cy="439420"/>
          </a:xfrm>
        </p:grpSpPr>
        <p:sp>
          <p:nvSpPr>
            <p:cNvPr id="16" name="object 16"/>
            <p:cNvSpPr/>
            <p:nvPr/>
          </p:nvSpPr>
          <p:spPr>
            <a:xfrm>
              <a:off x="786165" y="1665961"/>
              <a:ext cx="1233805" cy="433705"/>
            </a:xfrm>
            <a:custGeom>
              <a:avLst/>
              <a:gdLst/>
              <a:ahLst/>
              <a:cxnLst/>
              <a:rect l="l" t="t" r="r" b="b"/>
              <a:pathLst>
                <a:path w="1233805" h="433705">
                  <a:moveTo>
                    <a:pt x="4" y="0"/>
                  </a:moveTo>
                  <a:lnTo>
                    <a:pt x="4" y="350311"/>
                  </a:lnTo>
                </a:path>
                <a:path w="1233805" h="433705">
                  <a:moveTo>
                    <a:pt x="0" y="350311"/>
                  </a:moveTo>
                  <a:lnTo>
                    <a:pt x="5779" y="388482"/>
                  </a:lnTo>
                  <a:lnTo>
                    <a:pt x="22977" y="414194"/>
                  </a:lnTo>
                  <a:lnTo>
                    <a:pt x="51380" y="428702"/>
                  </a:lnTo>
                  <a:lnTo>
                    <a:pt x="90776" y="433259"/>
                  </a:lnTo>
                </a:path>
                <a:path w="1233805" h="433705">
                  <a:moveTo>
                    <a:pt x="90776" y="433259"/>
                  </a:moveTo>
                  <a:lnTo>
                    <a:pt x="1233686" y="433259"/>
                  </a:lnTo>
                </a:path>
              </a:pathLst>
            </a:custGeom>
            <a:ln w="5270">
              <a:solidFill>
                <a:srgbClr val="231F20"/>
              </a:solidFill>
            </a:ln>
          </p:spPr>
          <p:txBody>
            <a:bodyPr wrap="square" lIns="0" tIns="0" rIns="0" bIns="0" rtlCol="0"/>
            <a:lstStyle/>
            <a:p>
              <a:endParaRPr/>
            </a:p>
          </p:txBody>
        </p:sp>
        <p:pic>
          <p:nvPicPr>
            <p:cNvPr id="17" name="object 17"/>
            <p:cNvPicPr/>
            <p:nvPr/>
          </p:nvPicPr>
          <p:blipFill>
            <a:blip r:embed="rId5" cstate="print"/>
            <a:stretch>
              <a:fillRect/>
            </a:stretch>
          </p:blipFill>
          <p:spPr>
            <a:xfrm>
              <a:off x="2017217" y="1972202"/>
              <a:ext cx="124152" cy="129654"/>
            </a:xfrm>
            <a:prstGeom prst="rect">
              <a:avLst/>
            </a:prstGeom>
          </p:spPr>
        </p:pic>
      </p:grpSp>
      <p:sp>
        <p:nvSpPr>
          <p:cNvPr id="18" name="object 18"/>
          <p:cNvSpPr txBox="1"/>
          <p:nvPr/>
        </p:nvSpPr>
        <p:spPr>
          <a:xfrm>
            <a:off x="1989968" y="1830302"/>
            <a:ext cx="209550" cy="104775"/>
          </a:xfrm>
          <a:prstGeom prst="rect">
            <a:avLst/>
          </a:prstGeom>
          <a:ln w="5270">
            <a:solidFill>
              <a:srgbClr val="231F20"/>
            </a:solidFill>
          </a:ln>
        </p:spPr>
        <p:txBody>
          <a:bodyPr vert="horz" wrap="square" lIns="0" tIns="0" rIns="0" bIns="0" rtlCol="0">
            <a:spAutoFit/>
          </a:bodyPr>
          <a:lstStyle/>
          <a:p>
            <a:pPr marL="24130">
              <a:lnSpc>
                <a:spcPts val="775"/>
              </a:lnSpc>
            </a:pPr>
            <a:r>
              <a:rPr sz="650" spc="5" dirty="0">
                <a:solidFill>
                  <a:srgbClr val="231F20"/>
                </a:solidFill>
                <a:latin typeface="Arial"/>
                <a:cs typeface="Arial"/>
              </a:rPr>
              <a:t>M25</a:t>
            </a:r>
            <a:endParaRPr sz="650">
              <a:latin typeface="Arial"/>
              <a:cs typeface="Arial"/>
            </a:endParaRPr>
          </a:p>
        </p:txBody>
      </p:sp>
      <p:sp>
        <p:nvSpPr>
          <p:cNvPr id="19" name="object 19"/>
          <p:cNvSpPr txBox="1"/>
          <p:nvPr/>
        </p:nvSpPr>
        <p:spPr>
          <a:xfrm>
            <a:off x="2557686" y="1830302"/>
            <a:ext cx="209550" cy="104775"/>
          </a:xfrm>
          <a:prstGeom prst="rect">
            <a:avLst/>
          </a:prstGeom>
          <a:ln w="5270">
            <a:solidFill>
              <a:srgbClr val="231F20"/>
            </a:solidFill>
          </a:ln>
        </p:spPr>
        <p:txBody>
          <a:bodyPr vert="horz" wrap="square" lIns="0" tIns="0" rIns="0" bIns="0" rtlCol="0">
            <a:spAutoFit/>
          </a:bodyPr>
          <a:lstStyle/>
          <a:p>
            <a:pPr marL="24130">
              <a:lnSpc>
                <a:spcPts val="775"/>
              </a:lnSpc>
            </a:pPr>
            <a:r>
              <a:rPr sz="650" spc="5" dirty="0">
                <a:solidFill>
                  <a:srgbClr val="231F20"/>
                </a:solidFill>
                <a:latin typeface="Arial"/>
                <a:cs typeface="Arial"/>
              </a:rPr>
              <a:t>M25</a:t>
            </a:r>
            <a:endParaRPr sz="650">
              <a:latin typeface="Arial"/>
              <a:cs typeface="Arial"/>
            </a:endParaRPr>
          </a:p>
        </p:txBody>
      </p:sp>
      <p:sp>
        <p:nvSpPr>
          <p:cNvPr id="20" name="object 20"/>
          <p:cNvSpPr txBox="1"/>
          <p:nvPr/>
        </p:nvSpPr>
        <p:spPr>
          <a:xfrm>
            <a:off x="3125403" y="1830302"/>
            <a:ext cx="209550" cy="104775"/>
          </a:xfrm>
          <a:prstGeom prst="rect">
            <a:avLst/>
          </a:prstGeom>
          <a:ln w="5270">
            <a:solidFill>
              <a:srgbClr val="231F20"/>
            </a:solidFill>
          </a:ln>
        </p:spPr>
        <p:txBody>
          <a:bodyPr vert="horz" wrap="square" lIns="0" tIns="0" rIns="0" bIns="0" rtlCol="0">
            <a:spAutoFit/>
          </a:bodyPr>
          <a:lstStyle/>
          <a:p>
            <a:pPr marL="24130">
              <a:lnSpc>
                <a:spcPts val="775"/>
              </a:lnSpc>
            </a:pPr>
            <a:r>
              <a:rPr sz="650" spc="5" dirty="0">
                <a:solidFill>
                  <a:srgbClr val="231F20"/>
                </a:solidFill>
                <a:latin typeface="Arial"/>
                <a:cs typeface="Arial"/>
              </a:rPr>
              <a:t>M25</a:t>
            </a:r>
            <a:endParaRPr sz="650">
              <a:latin typeface="Arial"/>
              <a:cs typeface="Arial"/>
            </a:endParaRPr>
          </a:p>
        </p:txBody>
      </p:sp>
      <p:sp>
        <p:nvSpPr>
          <p:cNvPr id="21" name="object 21"/>
          <p:cNvSpPr txBox="1"/>
          <p:nvPr/>
        </p:nvSpPr>
        <p:spPr>
          <a:xfrm>
            <a:off x="3693130" y="1830302"/>
            <a:ext cx="209550" cy="104775"/>
          </a:xfrm>
          <a:prstGeom prst="rect">
            <a:avLst/>
          </a:prstGeom>
          <a:ln w="5270">
            <a:solidFill>
              <a:srgbClr val="231F20"/>
            </a:solidFill>
          </a:ln>
        </p:spPr>
        <p:txBody>
          <a:bodyPr vert="horz" wrap="square" lIns="0" tIns="0" rIns="0" bIns="0" rtlCol="0">
            <a:spAutoFit/>
          </a:bodyPr>
          <a:lstStyle/>
          <a:p>
            <a:pPr marL="24130">
              <a:lnSpc>
                <a:spcPts val="775"/>
              </a:lnSpc>
            </a:pPr>
            <a:r>
              <a:rPr sz="650" spc="5" dirty="0">
                <a:solidFill>
                  <a:srgbClr val="231F20"/>
                </a:solidFill>
                <a:latin typeface="Arial"/>
                <a:cs typeface="Arial"/>
              </a:rPr>
              <a:t>M25</a:t>
            </a:r>
            <a:endParaRPr sz="650">
              <a:latin typeface="Arial"/>
              <a:cs typeface="Arial"/>
            </a:endParaRPr>
          </a:p>
        </p:txBody>
      </p:sp>
      <p:sp>
        <p:nvSpPr>
          <p:cNvPr id="22" name="object 22"/>
          <p:cNvSpPr txBox="1"/>
          <p:nvPr/>
        </p:nvSpPr>
        <p:spPr>
          <a:xfrm>
            <a:off x="1768103" y="1674369"/>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24</a:t>
            </a:r>
            <a:endParaRPr sz="650">
              <a:latin typeface="Arial"/>
              <a:cs typeface="Arial"/>
            </a:endParaRPr>
          </a:p>
        </p:txBody>
      </p:sp>
      <p:sp>
        <p:nvSpPr>
          <p:cNvPr id="23" name="object 23"/>
          <p:cNvSpPr txBox="1"/>
          <p:nvPr/>
        </p:nvSpPr>
        <p:spPr>
          <a:xfrm>
            <a:off x="2903546" y="1674369"/>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23</a:t>
            </a:r>
            <a:endParaRPr sz="650">
              <a:latin typeface="Arial"/>
              <a:cs typeface="Arial"/>
            </a:endParaRPr>
          </a:p>
        </p:txBody>
      </p:sp>
      <p:sp>
        <p:nvSpPr>
          <p:cNvPr id="24" name="object 24"/>
          <p:cNvSpPr txBox="1"/>
          <p:nvPr/>
        </p:nvSpPr>
        <p:spPr>
          <a:xfrm>
            <a:off x="2335827" y="1674369"/>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24</a:t>
            </a:r>
            <a:endParaRPr sz="650">
              <a:latin typeface="Arial"/>
              <a:cs typeface="Arial"/>
            </a:endParaRPr>
          </a:p>
        </p:txBody>
      </p:sp>
      <p:sp>
        <p:nvSpPr>
          <p:cNvPr id="25" name="object 25"/>
          <p:cNvSpPr txBox="1"/>
          <p:nvPr/>
        </p:nvSpPr>
        <p:spPr>
          <a:xfrm>
            <a:off x="3471262" y="1674369"/>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24</a:t>
            </a:r>
            <a:endParaRPr sz="650">
              <a:latin typeface="Arial"/>
              <a:cs typeface="Arial"/>
            </a:endParaRPr>
          </a:p>
        </p:txBody>
      </p:sp>
      <p:sp>
        <p:nvSpPr>
          <p:cNvPr id="26" name="object 26"/>
          <p:cNvSpPr/>
          <p:nvPr/>
        </p:nvSpPr>
        <p:spPr>
          <a:xfrm>
            <a:off x="794771" y="2129102"/>
            <a:ext cx="3107690" cy="0"/>
          </a:xfrm>
          <a:custGeom>
            <a:avLst/>
            <a:gdLst/>
            <a:ahLst/>
            <a:cxnLst/>
            <a:rect l="l" t="t" r="r" b="b"/>
            <a:pathLst>
              <a:path w="3107690">
                <a:moveTo>
                  <a:pt x="0" y="0"/>
                </a:moveTo>
                <a:lnTo>
                  <a:pt x="3107514" y="0"/>
                </a:lnTo>
              </a:path>
            </a:pathLst>
          </a:custGeom>
          <a:ln w="15812">
            <a:solidFill>
              <a:srgbClr val="231F20"/>
            </a:solidFill>
          </a:ln>
        </p:spPr>
        <p:txBody>
          <a:bodyPr wrap="square" lIns="0" tIns="0" rIns="0" bIns="0" rtlCol="0"/>
          <a:lstStyle/>
          <a:p>
            <a:endParaRPr/>
          </a:p>
        </p:txBody>
      </p:sp>
      <p:sp>
        <p:nvSpPr>
          <p:cNvPr id="27" name="object 27"/>
          <p:cNvSpPr txBox="1"/>
          <p:nvPr/>
        </p:nvSpPr>
        <p:spPr>
          <a:xfrm>
            <a:off x="347294" y="406676"/>
            <a:ext cx="3931285" cy="1125220"/>
          </a:xfrm>
          <a:prstGeom prst="rect">
            <a:avLst/>
          </a:prstGeom>
        </p:spPr>
        <p:txBody>
          <a:bodyPr vert="horz" wrap="square" lIns="0" tIns="33020" rIns="0" bIns="0" rtlCol="0">
            <a:spAutoFit/>
          </a:bodyPr>
          <a:lstStyle/>
          <a:p>
            <a:pPr marL="12700" marR="5080">
              <a:lnSpc>
                <a:spcPct val="103899"/>
              </a:lnSpc>
              <a:spcBef>
                <a:spcPts val="260"/>
              </a:spcBef>
            </a:pPr>
            <a:r>
              <a:rPr sz="1200" spc="-10" dirty="0">
                <a:solidFill>
                  <a:srgbClr val="3333B2"/>
                </a:solidFill>
                <a:latin typeface="Arial"/>
                <a:cs typeface="Arial"/>
              </a:rPr>
              <a:t>Reliable</a:t>
            </a:r>
            <a:r>
              <a:rPr sz="1200" dirty="0">
                <a:solidFill>
                  <a:srgbClr val="3333B2"/>
                </a:solidFill>
                <a:latin typeface="Arial"/>
                <a:cs typeface="Arial"/>
              </a:rPr>
              <a:t> </a:t>
            </a:r>
            <a:r>
              <a:rPr sz="1200" spc="-5" dirty="0">
                <a:solidFill>
                  <a:srgbClr val="3333B2"/>
                </a:solidFill>
                <a:latin typeface="Arial"/>
                <a:cs typeface="Arial"/>
              </a:rPr>
              <a:t>communication,</a:t>
            </a:r>
            <a:r>
              <a:rPr sz="1200" dirty="0">
                <a:solidFill>
                  <a:srgbClr val="3333B2"/>
                </a:solidFill>
                <a:latin typeface="Arial"/>
                <a:cs typeface="Arial"/>
              </a:rPr>
              <a:t> </a:t>
            </a:r>
            <a:r>
              <a:rPr sz="1200" spc="-15" dirty="0">
                <a:solidFill>
                  <a:srgbClr val="3333B2"/>
                </a:solidFill>
                <a:latin typeface="Arial"/>
                <a:cs typeface="Arial"/>
              </a:rPr>
              <a:t>but</a:t>
            </a:r>
            <a:r>
              <a:rPr sz="1200" spc="5" dirty="0">
                <a:solidFill>
                  <a:srgbClr val="3333B2"/>
                </a:solidFill>
                <a:latin typeface="Arial"/>
                <a:cs typeface="Arial"/>
              </a:rPr>
              <a:t> </a:t>
            </a:r>
            <a:r>
              <a:rPr sz="1200" spc="-5" dirty="0">
                <a:solidFill>
                  <a:srgbClr val="3333B2"/>
                </a:solidFill>
                <a:latin typeface="Arial"/>
                <a:cs typeface="Arial"/>
              </a:rPr>
              <a:t>assume</a:t>
            </a:r>
            <a:r>
              <a:rPr sz="1200" dirty="0">
                <a:solidFill>
                  <a:srgbClr val="3333B2"/>
                </a:solidFill>
                <a:latin typeface="Arial"/>
                <a:cs typeface="Arial"/>
              </a:rPr>
              <a:t> </a:t>
            </a:r>
            <a:r>
              <a:rPr sz="1200" spc="-10" dirty="0">
                <a:solidFill>
                  <a:srgbClr val="3333B2"/>
                </a:solidFill>
                <a:latin typeface="Arial"/>
                <a:cs typeface="Arial"/>
              </a:rPr>
              <a:t>nonfaulty</a:t>
            </a:r>
            <a:r>
              <a:rPr sz="1200" dirty="0">
                <a:solidFill>
                  <a:srgbClr val="3333B2"/>
                </a:solidFill>
                <a:latin typeface="Arial"/>
                <a:cs typeface="Arial"/>
              </a:rPr>
              <a:t> </a:t>
            </a:r>
            <a:r>
              <a:rPr sz="1200" spc="-5" dirty="0">
                <a:solidFill>
                  <a:srgbClr val="3333B2"/>
                </a:solidFill>
                <a:latin typeface="Arial"/>
                <a:cs typeface="Arial"/>
              </a:rPr>
              <a:t>processes </a:t>
            </a:r>
            <a:r>
              <a:rPr sz="1200" dirty="0">
                <a:solidFill>
                  <a:srgbClr val="3333B2"/>
                </a:solidFill>
                <a:latin typeface="Arial"/>
                <a:cs typeface="Arial"/>
              </a:rPr>
              <a:t> </a:t>
            </a:r>
            <a:r>
              <a:rPr sz="1000" spc="-5" dirty="0">
                <a:latin typeface="Arial"/>
                <a:cs typeface="Arial"/>
              </a:rPr>
              <a:t>Reliable</a:t>
            </a:r>
            <a:r>
              <a:rPr sz="1000" spc="-10" dirty="0">
                <a:latin typeface="Arial"/>
                <a:cs typeface="Arial"/>
              </a:rPr>
              <a:t> </a:t>
            </a:r>
            <a:r>
              <a:rPr sz="1000" spc="-5" dirty="0">
                <a:latin typeface="Arial"/>
                <a:cs typeface="Arial"/>
              </a:rPr>
              <a:t>group communication </a:t>
            </a:r>
            <a:r>
              <a:rPr sz="1000" spc="-10" dirty="0">
                <a:latin typeface="Arial"/>
                <a:cs typeface="Arial"/>
              </a:rPr>
              <a:t>now</a:t>
            </a:r>
            <a:r>
              <a:rPr sz="1000" spc="-5" dirty="0">
                <a:latin typeface="Arial"/>
                <a:cs typeface="Arial"/>
              </a:rPr>
              <a:t> boils </a:t>
            </a:r>
            <a:r>
              <a:rPr sz="1000" spc="-10" dirty="0">
                <a:latin typeface="Arial"/>
                <a:cs typeface="Arial"/>
              </a:rPr>
              <a:t>down</a:t>
            </a:r>
            <a:r>
              <a:rPr sz="1000" spc="-5" dirty="0">
                <a:latin typeface="Arial"/>
                <a:cs typeface="Arial"/>
              </a:rPr>
              <a:t> to </a:t>
            </a:r>
            <a:r>
              <a:rPr sz="1000" spc="-5" dirty="0">
                <a:solidFill>
                  <a:srgbClr val="FA0000"/>
                </a:solidFill>
                <a:latin typeface="Arial"/>
                <a:cs typeface="Arial"/>
              </a:rPr>
              <a:t>reliable multicasting</a:t>
            </a:r>
            <a:r>
              <a:rPr sz="1000" spc="-5" dirty="0">
                <a:latin typeface="Arial"/>
                <a:cs typeface="Arial"/>
              </a:rPr>
              <a:t>: </a:t>
            </a:r>
            <a:r>
              <a:rPr sz="1000" spc="-265" dirty="0">
                <a:latin typeface="Arial"/>
                <a:cs typeface="Arial"/>
              </a:rPr>
              <a:t> </a:t>
            </a:r>
            <a:r>
              <a:rPr sz="1000" spc="-5" dirty="0">
                <a:latin typeface="Arial"/>
                <a:cs typeface="Arial"/>
              </a:rPr>
              <a:t>is a message</a:t>
            </a:r>
            <a:r>
              <a:rPr sz="1000" dirty="0">
                <a:latin typeface="Arial"/>
                <a:cs typeface="Arial"/>
              </a:rPr>
              <a:t> </a:t>
            </a:r>
            <a:r>
              <a:rPr sz="1000" spc="-10" dirty="0">
                <a:latin typeface="Arial"/>
                <a:cs typeface="Arial"/>
              </a:rPr>
              <a:t>received</a:t>
            </a:r>
            <a:r>
              <a:rPr sz="1000" spc="-5" dirty="0">
                <a:latin typeface="Arial"/>
                <a:cs typeface="Arial"/>
              </a:rPr>
              <a:t> and</a:t>
            </a:r>
            <a:r>
              <a:rPr sz="1000" dirty="0">
                <a:latin typeface="Arial"/>
                <a:cs typeface="Arial"/>
              </a:rPr>
              <a:t> </a:t>
            </a:r>
            <a:r>
              <a:rPr sz="1000" spc="-10" dirty="0">
                <a:latin typeface="Arial"/>
                <a:cs typeface="Arial"/>
              </a:rPr>
              <a:t>delivered</a:t>
            </a:r>
            <a:r>
              <a:rPr sz="1000" spc="-5" dirty="0">
                <a:latin typeface="Arial"/>
                <a:cs typeface="Arial"/>
              </a:rPr>
              <a:t> to</a:t>
            </a:r>
            <a:r>
              <a:rPr sz="1000" dirty="0">
                <a:latin typeface="Arial"/>
                <a:cs typeface="Arial"/>
              </a:rPr>
              <a:t> </a:t>
            </a:r>
            <a:r>
              <a:rPr sz="1000" spc="-5" dirty="0">
                <a:latin typeface="Arial"/>
                <a:cs typeface="Arial"/>
              </a:rPr>
              <a:t>each recipient,</a:t>
            </a:r>
            <a:r>
              <a:rPr sz="1000" dirty="0">
                <a:latin typeface="Arial"/>
                <a:cs typeface="Arial"/>
              </a:rPr>
              <a:t> </a:t>
            </a:r>
            <a:r>
              <a:rPr sz="1000" spc="-5" dirty="0">
                <a:solidFill>
                  <a:srgbClr val="0000FA"/>
                </a:solidFill>
                <a:latin typeface="Arial"/>
                <a:cs typeface="Arial"/>
              </a:rPr>
              <a:t>as intended</a:t>
            </a:r>
            <a:r>
              <a:rPr sz="1000" dirty="0">
                <a:solidFill>
                  <a:srgbClr val="0000FA"/>
                </a:solidFill>
                <a:latin typeface="Arial"/>
                <a:cs typeface="Arial"/>
              </a:rPr>
              <a:t> </a:t>
            </a:r>
            <a:r>
              <a:rPr sz="1000" spc="-15" dirty="0">
                <a:solidFill>
                  <a:srgbClr val="0000FA"/>
                </a:solidFill>
                <a:latin typeface="Arial"/>
                <a:cs typeface="Arial"/>
              </a:rPr>
              <a:t>by </a:t>
            </a:r>
            <a:r>
              <a:rPr sz="1000" spc="-265" dirty="0">
                <a:solidFill>
                  <a:srgbClr val="0000FA"/>
                </a:solidFill>
                <a:latin typeface="Arial"/>
                <a:cs typeface="Arial"/>
              </a:rPr>
              <a:t> </a:t>
            </a:r>
            <a:r>
              <a:rPr sz="1000" spc="-5" dirty="0">
                <a:solidFill>
                  <a:srgbClr val="0000FA"/>
                </a:solidFill>
                <a:latin typeface="Arial"/>
                <a:cs typeface="Arial"/>
              </a:rPr>
              <a:t>the</a:t>
            </a:r>
            <a:r>
              <a:rPr sz="1000" spc="-10" dirty="0">
                <a:solidFill>
                  <a:srgbClr val="0000FA"/>
                </a:solidFill>
                <a:latin typeface="Arial"/>
                <a:cs typeface="Arial"/>
              </a:rPr>
              <a:t> </a:t>
            </a:r>
            <a:r>
              <a:rPr sz="1000" spc="-5" dirty="0">
                <a:solidFill>
                  <a:srgbClr val="0000FA"/>
                </a:solidFill>
                <a:latin typeface="Arial"/>
                <a:cs typeface="Arial"/>
              </a:rPr>
              <a:t>sender</a:t>
            </a:r>
            <a:r>
              <a:rPr sz="1000" spc="-5" dirty="0">
                <a:latin typeface="Arial"/>
                <a:cs typeface="Arial"/>
              </a:rPr>
              <a:t>.</a:t>
            </a:r>
            <a:endParaRPr sz="1000">
              <a:latin typeface="Arial"/>
              <a:cs typeface="Arial"/>
            </a:endParaRPr>
          </a:p>
          <a:p>
            <a:pPr marL="1971039" marR="1328420">
              <a:lnSpc>
                <a:spcPts val="740"/>
              </a:lnSpc>
              <a:spcBef>
                <a:spcPts val="385"/>
              </a:spcBef>
            </a:pPr>
            <a:r>
              <a:rPr sz="650" spc="5" dirty="0">
                <a:solidFill>
                  <a:srgbClr val="231F20"/>
                </a:solidFill>
                <a:latin typeface="Arial"/>
                <a:cs typeface="Arial"/>
              </a:rPr>
              <a:t>Receiver missed  message</a:t>
            </a:r>
            <a:r>
              <a:rPr sz="650" spc="-15" dirty="0">
                <a:solidFill>
                  <a:srgbClr val="231F20"/>
                </a:solidFill>
                <a:latin typeface="Arial"/>
                <a:cs typeface="Arial"/>
              </a:rPr>
              <a:t> </a:t>
            </a:r>
            <a:r>
              <a:rPr sz="650" spc="5" dirty="0">
                <a:solidFill>
                  <a:srgbClr val="231F20"/>
                </a:solidFill>
                <a:latin typeface="Arial"/>
                <a:cs typeface="Arial"/>
              </a:rPr>
              <a:t>#24</a:t>
            </a:r>
            <a:endParaRPr sz="650">
              <a:latin typeface="Arial"/>
              <a:cs typeface="Arial"/>
            </a:endParaRPr>
          </a:p>
          <a:p>
            <a:pPr>
              <a:lnSpc>
                <a:spcPct val="100000"/>
              </a:lnSpc>
              <a:spcBef>
                <a:spcPts val="5"/>
              </a:spcBef>
            </a:pPr>
            <a:endParaRPr sz="500">
              <a:latin typeface="Arial"/>
              <a:cs typeface="Arial"/>
            </a:endParaRPr>
          </a:p>
          <a:p>
            <a:pPr marL="417195">
              <a:lnSpc>
                <a:spcPct val="100000"/>
              </a:lnSpc>
              <a:tabLst>
                <a:tab pos="1463040" algn="l"/>
                <a:tab pos="2030730" algn="l"/>
                <a:tab pos="2598420" algn="l"/>
                <a:tab pos="3166110" algn="l"/>
              </a:tabLst>
            </a:pPr>
            <a:r>
              <a:rPr sz="650" spc="5" dirty="0">
                <a:solidFill>
                  <a:srgbClr val="231F20"/>
                </a:solidFill>
                <a:latin typeface="Arial"/>
                <a:cs typeface="Arial"/>
              </a:rPr>
              <a:t>Sender	Receiver	Receiver	Receiver	Receiver</a:t>
            </a:r>
            <a:endParaRPr sz="650">
              <a:latin typeface="Arial"/>
              <a:cs typeface="Arial"/>
            </a:endParaRPr>
          </a:p>
        </p:txBody>
      </p:sp>
      <p:grpSp>
        <p:nvGrpSpPr>
          <p:cNvPr id="28" name="object 28"/>
          <p:cNvGrpSpPr/>
          <p:nvPr/>
        </p:nvGrpSpPr>
        <p:grpSpPr>
          <a:xfrm>
            <a:off x="906382" y="1350192"/>
            <a:ext cx="2968625" cy="779145"/>
            <a:chOff x="906382" y="1350192"/>
            <a:chExt cx="2968625" cy="779145"/>
          </a:xfrm>
        </p:grpSpPr>
        <p:sp>
          <p:nvSpPr>
            <p:cNvPr id="29" name="object 29"/>
            <p:cNvSpPr/>
            <p:nvPr/>
          </p:nvSpPr>
          <p:spPr>
            <a:xfrm>
              <a:off x="2019852" y="2099221"/>
              <a:ext cx="598170" cy="0"/>
            </a:xfrm>
            <a:custGeom>
              <a:avLst/>
              <a:gdLst/>
              <a:ahLst/>
              <a:cxnLst/>
              <a:rect l="l" t="t" r="r" b="b"/>
              <a:pathLst>
                <a:path w="598169">
                  <a:moveTo>
                    <a:pt x="0" y="0"/>
                  </a:moveTo>
                  <a:lnTo>
                    <a:pt x="597590" y="0"/>
                  </a:lnTo>
                </a:path>
              </a:pathLst>
            </a:custGeom>
            <a:ln w="5270">
              <a:solidFill>
                <a:srgbClr val="231F20"/>
              </a:solidFill>
            </a:ln>
          </p:spPr>
          <p:txBody>
            <a:bodyPr wrap="square" lIns="0" tIns="0" rIns="0" bIns="0" rtlCol="0"/>
            <a:lstStyle/>
            <a:p>
              <a:endParaRPr/>
            </a:p>
          </p:txBody>
        </p:sp>
        <p:pic>
          <p:nvPicPr>
            <p:cNvPr id="30" name="object 30"/>
            <p:cNvPicPr/>
            <p:nvPr/>
          </p:nvPicPr>
          <p:blipFill>
            <a:blip r:embed="rId6" cstate="print"/>
            <a:stretch>
              <a:fillRect/>
            </a:stretch>
          </p:blipFill>
          <p:spPr>
            <a:xfrm>
              <a:off x="2614807" y="1972202"/>
              <a:ext cx="124152" cy="129654"/>
            </a:xfrm>
            <a:prstGeom prst="rect">
              <a:avLst/>
            </a:prstGeom>
          </p:spPr>
        </p:pic>
        <p:sp>
          <p:nvSpPr>
            <p:cNvPr id="31" name="object 31"/>
            <p:cNvSpPr/>
            <p:nvPr/>
          </p:nvSpPr>
          <p:spPr>
            <a:xfrm>
              <a:off x="2617443" y="2099221"/>
              <a:ext cx="568325" cy="0"/>
            </a:xfrm>
            <a:custGeom>
              <a:avLst/>
              <a:gdLst/>
              <a:ahLst/>
              <a:cxnLst/>
              <a:rect l="l" t="t" r="r" b="b"/>
              <a:pathLst>
                <a:path w="568325">
                  <a:moveTo>
                    <a:pt x="0" y="0"/>
                  </a:moveTo>
                  <a:lnTo>
                    <a:pt x="567727" y="0"/>
                  </a:lnTo>
                </a:path>
              </a:pathLst>
            </a:custGeom>
            <a:ln w="5270">
              <a:solidFill>
                <a:srgbClr val="231F20"/>
              </a:solidFill>
            </a:ln>
          </p:spPr>
          <p:txBody>
            <a:bodyPr wrap="square" lIns="0" tIns="0" rIns="0" bIns="0" rtlCol="0"/>
            <a:lstStyle/>
            <a:p>
              <a:endParaRPr/>
            </a:p>
          </p:txBody>
        </p:sp>
        <p:pic>
          <p:nvPicPr>
            <p:cNvPr id="32" name="object 32"/>
            <p:cNvPicPr/>
            <p:nvPr/>
          </p:nvPicPr>
          <p:blipFill>
            <a:blip r:embed="rId7" cstate="print"/>
            <a:stretch>
              <a:fillRect/>
            </a:stretch>
          </p:blipFill>
          <p:spPr>
            <a:xfrm>
              <a:off x="3182535" y="1972202"/>
              <a:ext cx="124152" cy="129654"/>
            </a:xfrm>
            <a:prstGeom prst="rect">
              <a:avLst/>
            </a:prstGeom>
          </p:spPr>
        </p:pic>
        <p:sp>
          <p:nvSpPr>
            <p:cNvPr id="33" name="object 33"/>
            <p:cNvSpPr/>
            <p:nvPr/>
          </p:nvSpPr>
          <p:spPr>
            <a:xfrm>
              <a:off x="3185170" y="2099221"/>
              <a:ext cx="568325" cy="0"/>
            </a:xfrm>
            <a:custGeom>
              <a:avLst/>
              <a:gdLst/>
              <a:ahLst/>
              <a:cxnLst/>
              <a:rect l="l" t="t" r="r" b="b"/>
              <a:pathLst>
                <a:path w="568325">
                  <a:moveTo>
                    <a:pt x="0" y="0"/>
                  </a:moveTo>
                  <a:lnTo>
                    <a:pt x="567717" y="0"/>
                  </a:lnTo>
                </a:path>
              </a:pathLst>
            </a:custGeom>
            <a:ln w="5270">
              <a:solidFill>
                <a:srgbClr val="231F20"/>
              </a:solidFill>
            </a:ln>
          </p:spPr>
          <p:txBody>
            <a:bodyPr wrap="square" lIns="0" tIns="0" rIns="0" bIns="0" rtlCol="0"/>
            <a:lstStyle/>
            <a:p>
              <a:endParaRPr/>
            </a:p>
          </p:txBody>
        </p:sp>
        <p:pic>
          <p:nvPicPr>
            <p:cNvPr id="34" name="object 34"/>
            <p:cNvPicPr/>
            <p:nvPr/>
          </p:nvPicPr>
          <p:blipFill>
            <a:blip r:embed="rId8" cstate="print"/>
            <a:stretch>
              <a:fillRect/>
            </a:stretch>
          </p:blipFill>
          <p:spPr>
            <a:xfrm>
              <a:off x="3750252" y="1972202"/>
              <a:ext cx="124152" cy="129654"/>
            </a:xfrm>
            <a:prstGeom prst="rect">
              <a:avLst/>
            </a:prstGeom>
          </p:spPr>
        </p:pic>
        <p:sp>
          <p:nvSpPr>
            <p:cNvPr id="35" name="object 35"/>
            <p:cNvSpPr/>
            <p:nvPr/>
          </p:nvSpPr>
          <p:spPr>
            <a:xfrm>
              <a:off x="914288" y="1979700"/>
              <a:ext cx="2779395" cy="149860"/>
            </a:xfrm>
            <a:custGeom>
              <a:avLst/>
              <a:gdLst/>
              <a:ahLst/>
              <a:cxnLst/>
              <a:rect l="l" t="t" r="r" b="b"/>
              <a:pathLst>
                <a:path w="2779395" h="149860">
                  <a:moveTo>
                    <a:pt x="1075680" y="0"/>
                  </a:moveTo>
                  <a:lnTo>
                    <a:pt x="1075680" y="149401"/>
                  </a:lnTo>
                </a:path>
                <a:path w="2779395" h="149860">
                  <a:moveTo>
                    <a:pt x="1643397" y="0"/>
                  </a:moveTo>
                  <a:lnTo>
                    <a:pt x="1643397" y="149401"/>
                  </a:lnTo>
                </a:path>
                <a:path w="2779395" h="149860">
                  <a:moveTo>
                    <a:pt x="2211114" y="0"/>
                  </a:moveTo>
                  <a:lnTo>
                    <a:pt x="2211114" y="149401"/>
                  </a:lnTo>
                </a:path>
                <a:path w="2779395" h="149860">
                  <a:moveTo>
                    <a:pt x="2778842" y="0"/>
                  </a:moveTo>
                  <a:lnTo>
                    <a:pt x="2778842" y="149401"/>
                  </a:lnTo>
                </a:path>
                <a:path w="2779395" h="149860">
                  <a:moveTo>
                    <a:pt x="0" y="0"/>
                  </a:moveTo>
                  <a:lnTo>
                    <a:pt x="0" y="149401"/>
                  </a:lnTo>
                </a:path>
              </a:pathLst>
            </a:custGeom>
            <a:ln w="15812">
              <a:solidFill>
                <a:srgbClr val="231F20"/>
              </a:solidFill>
            </a:ln>
          </p:spPr>
          <p:txBody>
            <a:bodyPr wrap="square" lIns="0" tIns="0" rIns="0" bIns="0" rtlCol="0"/>
            <a:lstStyle/>
            <a:p>
              <a:endParaRPr/>
            </a:p>
          </p:txBody>
        </p:sp>
        <p:sp>
          <p:nvSpPr>
            <p:cNvPr id="36" name="object 36"/>
            <p:cNvSpPr/>
            <p:nvPr/>
          </p:nvSpPr>
          <p:spPr>
            <a:xfrm>
              <a:off x="2766851" y="1352827"/>
              <a:ext cx="128270" cy="179070"/>
            </a:xfrm>
            <a:custGeom>
              <a:avLst/>
              <a:gdLst/>
              <a:ahLst/>
              <a:cxnLst/>
              <a:rect l="l" t="t" r="r" b="b"/>
              <a:pathLst>
                <a:path w="128269" h="179069">
                  <a:moveTo>
                    <a:pt x="0" y="0"/>
                  </a:moveTo>
                  <a:lnTo>
                    <a:pt x="127883" y="178921"/>
                  </a:lnTo>
                </a:path>
              </a:pathLst>
            </a:custGeom>
            <a:ln w="5270">
              <a:solidFill>
                <a:srgbClr val="231F20"/>
              </a:solidFill>
            </a:ln>
          </p:spPr>
          <p:txBody>
            <a:bodyPr wrap="square" lIns="0" tIns="0" rIns="0" bIns="0" rtlCol="0"/>
            <a:lstStyle/>
            <a:p>
              <a:endParaRPr/>
            </a:p>
          </p:txBody>
        </p:sp>
      </p:grpSp>
      <p:sp>
        <p:nvSpPr>
          <p:cNvPr id="37" name="object 37"/>
          <p:cNvSpPr txBox="1"/>
          <p:nvPr/>
        </p:nvSpPr>
        <p:spPr>
          <a:xfrm>
            <a:off x="752190" y="2097976"/>
            <a:ext cx="365125" cy="275590"/>
          </a:xfrm>
          <a:prstGeom prst="rect">
            <a:avLst/>
          </a:prstGeom>
        </p:spPr>
        <p:txBody>
          <a:bodyPr vert="horz" wrap="square" lIns="0" tIns="38100" rIns="0" bIns="0" rtlCol="0">
            <a:spAutoFit/>
          </a:bodyPr>
          <a:lstStyle/>
          <a:p>
            <a:pPr marL="42545">
              <a:lnSpc>
                <a:spcPct val="100000"/>
              </a:lnSpc>
              <a:spcBef>
                <a:spcPts val="300"/>
              </a:spcBef>
            </a:pPr>
            <a:r>
              <a:rPr sz="650" spc="5" dirty="0">
                <a:solidFill>
                  <a:srgbClr val="231F20"/>
                </a:solidFill>
                <a:latin typeface="Arial"/>
                <a:cs typeface="Arial"/>
              </a:rPr>
              <a:t>Network</a:t>
            </a:r>
            <a:endParaRPr sz="650">
              <a:latin typeface="Arial"/>
              <a:cs typeface="Arial"/>
            </a:endParaRPr>
          </a:p>
          <a:p>
            <a:pPr marL="12700">
              <a:lnSpc>
                <a:spcPct val="100000"/>
              </a:lnSpc>
              <a:spcBef>
                <a:spcPts val="204"/>
              </a:spcBef>
            </a:pPr>
            <a:r>
              <a:rPr sz="650" spc="5" dirty="0">
                <a:solidFill>
                  <a:srgbClr val="231F20"/>
                </a:solidFill>
                <a:latin typeface="Arial"/>
                <a:cs typeface="Arial"/>
              </a:rPr>
              <a:t>Sender</a:t>
            </a:r>
            <a:endParaRPr sz="650">
              <a:latin typeface="Arial"/>
              <a:cs typeface="Arial"/>
            </a:endParaRPr>
          </a:p>
        </p:txBody>
      </p:sp>
      <p:sp>
        <p:nvSpPr>
          <p:cNvPr id="38" name="object 38"/>
          <p:cNvSpPr txBox="1"/>
          <p:nvPr/>
        </p:nvSpPr>
        <p:spPr>
          <a:xfrm>
            <a:off x="1797989" y="2246647"/>
            <a:ext cx="3581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Receiver</a:t>
            </a:r>
            <a:endParaRPr sz="650">
              <a:latin typeface="Arial"/>
              <a:cs typeface="Arial"/>
            </a:endParaRPr>
          </a:p>
        </p:txBody>
      </p:sp>
      <p:sp>
        <p:nvSpPr>
          <p:cNvPr id="39" name="object 39"/>
          <p:cNvSpPr txBox="1"/>
          <p:nvPr/>
        </p:nvSpPr>
        <p:spPr>
          <a:xfrm>
            <a:off x="2365709" y="2246647"/>
            <a:ext cx="3581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Receiver</a:t>
            </a:r>
            <a:endParaRPr sz="650">
              <a:latin typeface="Arial"/>
              <a:cs typeface="Arial"/>
            </a:endParaRPr>
          </a:p>
        </p:txBody>
      </p:sp>
      <p:sp>
        <p:nvSpPr>
          <p:cNvPr id="40" name="object 40"/>
          <p:cNvSpPr txBox="1"/>
          <p:nvPr/>
        </p:nvSpPr>
        <p:spPr>
          <a:xfrm>
            <a:off x="2933429" y="2246647"/>
            <a:ext cx="3581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Receiver</a:t>
            </a:r>
            <a:endParaRPr sz="650">
              <a:latin typeface="Arial"/>
              <a:cs typeface="Arial"/>
            </a:endParaRPr>
          </a:p>
        </p:txBody>
      </p:sp>
      <p:sp>
        <p:nvSpPr>
          <p:cNvPr id="41" name="object 41"/>
          <p:cNvSpPr txBox="1"/>
          <p:nvPr/>
        </p:nvSpPr>
        <p:spPr>
          <a:xfrm>
            <a:off x="3501152" y="2246647"/>
            <a:ext cx="3581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Receiver</a:t>
            </a:r>
            <a:endParaRPr sz="650">
              <a:latin typeface="Arial"/>
              <a:cs typeface="Arial"/>
            </a:endParaRPr>
          </a:p>
        </p:txBody>
      </p:sp>
      <p:grpSp>
        <p:nvGrpSpPr>
          <p:cNvPr id="42" name="object 42"/>
          <p:cNvGrpSpPr/>
          <p:nvPr/>
        </p:nvGrpSpPr>
        <p:grpSpPr>
          <a:xfrm>
            <a:off x="672393" y="2369062"/>
            <a:ext cx="3263265" cy="664845"/>
            <a:chOff x="672393" y="2369062"/>
            <a:chExt cx="3263265" cy="664845"/>
          </a:xfrm>
        </p:grpSpPr>
        <p:sp>
          <p:nvSpPr>
            <p:cNvPr id="43" name="object 43"/>
            <p:cNvSpPr/>
            <p:nvPr/>
          </p:nvSpPr>
          <p:spPr>
            <a:xfrm>
              <a:off x="675250" y="2371920"/>
              <a:ext cx="1553845" cy="569595"/>
            </a:xfrm>
            <a:custGeom>
              <a:avLst/>
              <a:gdLst/>
              <a:ahLst/>
              <a:cxnLst/>
              <a:rect l="l" t="t" r="r" b="b"/>
              <a:pathLst>
                <a:path w="1553845" h="569594">
                  <a:moveTo>
                    <a:pt x="0" y="449832"/>
                  </a:moveTo>
                  <a:lnTo>
                    <a:pt x="478083" y="449832"/>
                  </a:lnTo>
                  <a:lnTo>
                    <a:pt x="478083" y="0"/>
                  </a:lnTo>
                  <a:lnTo>
                    <a:pt x="0" y="0"/>
                  </a:lnTo>
                  <a:lnTo>
                    <a:pt x="0" y="449832"/>
                  </a:lnTo>
                  <a:close/>
                </a:path>
                <a:path w="1553845" h="569594">
                  <a:moveTo>
                    <a:pt x="1075679" y="449832"/>
                  </a:moveTo>
                  <a:lnTo>
                    <a:pt x="1553746" y="449832"/>
                  </a:lnTo>
                  <a:lnTo>
                    <a:pt x="1553746" y="0"/>
                  </a:lnTo>
                  <a:lnTo>
                    <a:pt x="1075679" y="0"/>
                  </a:lnTo>
                  <a:lnTo>
                    <a:pt x="1075679" y="449832"/>
                  </a:lnTo>
                  <a:close/>
                </a:path>
                <a:path w="1553845" h="569594">
                  <a:moveTo>
                    <a:pt x="1434242" y="419951"/>
                  </a:moveTo>
                  <a:lnTo>
                    <a:pt x="1434242" y="479710"/>
                  </a:lnTo>
                </a:path>
                <a:path w="1553845" h="569594">
                  <a:moveTo>
                    <a:pt x="1434242" y="479710"/>
                  </a:moveTo>
                  <a:lnTo>
                    <a:pt x="1428639" y="518928"/>
                  </a:lnTo>
                  <a:lnTo>
                    <a:pt x="1411831" y="546940"/>
                  </a:lnTo>
                  <a:lnTo>
                    <a:pt x="1383818" y="563747"/>
                  </a:lnTo>
                  <a:lnTo>
                    <a:pt x="1344601" y="569349"/>
                  </a:lnTo>
                </a:path>
                <a:path w="1553845" h="569594">
                  <a:moveTo>
                    <a:pt x="1344601" y="569349"/>
                  </a:moveTo>
                  <a:lnTo>
                    <a:pt x="478084" y="569349"/>
                  </a:lnTo>
                </a:path>
              </a:pathLst>
            </a:custGeom>
            <a:ln w="5270">
              <a:solidFill>
                <a:srgbClr val="231F20"/>
              </a:solidFill>
            </a:ln>
          </p:spPr>
          <p:txBody>
            <a:bodyPr wrap="square" lIns="0" tIns="0" rIns="0" bIns="0" rtlCol="0"/>
            <a:lstStyle/>
            <a:p>
              <a:endParaRPr/>
            </a:p>
          </p:txBody>
        </p:sp>
        <p:pic>
          <p:nvPicPr>
            <p:cNvPr id="44" name="object 44"/>
            <p:cNvPicPr/>
            <p:nvPr/>
          </p:nvPicPr>
          <p:blipFill>
            <a:blip r:embed="rId9" cstate="print"/>
            <a:stretch>
              <a:fillRect/>
            </a:stretch>
          </p:blipFill>
          <p:spPr>
            <a:xfrm>
              <a:off x="1031902" y="2821889"/>
              <a:ext cx="124067" cy="122016"/>
            </a:xfrm>
            <a:prstGeom prst="rect">
              <a:avLst/>
            </a:prstGeom>
          </p:spPr>
        </p:pic>
        <p:sp>
          <p:nvSpPr>
            <p:cNvPr id="45" name="object 45"/>
            <p:cNvSpPr/>
            <p:nvPr/>
          </p:nvSpPr>
          <p:spPr>
            <a:xfrm>
              <a:off x="1093571" y="2371920"/>
              <a:ext cx="1703705" cy="599440"/>
            </a:xfrm>
            <a:custGeom>
              <a:avLst/>
              <a:gdLst/>
              <a:ahLst/>
              <a:cxnLst/>
              <a:rect l="l" t="t" r="r" b="b"/>
              <a:pathLst>
                <a:path w="1703705" h="599439">
                  <a:moveTo>
                    <a:pt x="1225076" y="449832"/>
                  </a:moveTo>
                  <a:lnTo>
                    <a:pt x="1703151" y="449832"/>
                  </a:lnTo>
                  <a:lnTo>
                    <a:pt x="1703151" y="0"/>
                  </a:lnTo>
                  <a:lnTo>
                    <a:pt x="1225076" y="0"/>
                  </a:lnTo>
                  <a:lnTo>
                    <a:pt x="1225076" y="449832"/>
                  </a:lnTo>
                  <a:close/>
                </a:path>
                <a:path w="1703705" h="599439">
                  <a:moveTo>
                    <a:pt x="1583638" y="419951"/>
                  </a:moveTo>
                  <a:lnTo>
                    <a:pt x="1583638" y="509590"/>
                  </a:lnTo>
                </a:path>
                <a:path w="1703705" h="599439">
                  <a:moveTo>
                    <a:pt x="1583638" y="509590"/>
                  </a:moveTo>
                  <a:lnTo>
                    <a:pt x="1578035" y="548808"/>
                  </a:lnTo>
                  <a:lnTo>
                    <a:pt x="1561227" y="576820"/>
                  </a:lnTo>
                  <a:lnTo>
                    <a:pt x="1533214" y="593628"/>
                  </a:lnTo>
                  <a:lnTo>
                    <a:pt x="1493998" y="599231"/>
                  </a:lnTo>
                </a:path>
                <a:path w="1703705" h="599439">
                  <a:moveTo>
                    <a:pt x="1493998" y="599231"/>
                  </a:moveTo>
                  <a:lnTo>
                    <a:pt x="0" y="599231"/>
                  </a:lnTo>
                </a:path>
              </a:pathLst>
            </a:custGeom>
            <a:ln w="5270">
              <a:solidFill>
                <a:srgbClr val="231F20"/>
              </a:solidFill>
            </a:ln>
          </p:spPr>
          <p:txBody>
            <a:bodyPr wrap="square" lIns="0" tIns="0" rIns="0" bIns="0" rtlCol="0"/>
            <a:lstStyle/>
            <a:p>
              <a:endParaRPr/>
            </a:p>
          </p:txBody>
        </p:sp>
        <p:pic>
          <p:nvPicPr>
            <p:cNvPr id="46" name="object 46"/>
            <p:cNvPicPr/>
            <p:nvPr/>
          </p:nvPicPr>
          <p:blipFill>
            <a:blip r:embed="rId10" cstate="print"/>
            <a:stretch>
              <a:fillRect/>
            </a:stretch>
          </p:blipFill>
          <p:spPr>
            <a:xfrm>
              <a:off x="942070" y="2821753"/>
              <a:ext cx="154136" cy="152034"/>
            </a:xfrm>
            <a:prstGeom prst="rect">
              <a:avLst/>
            </a:prstGeom>
          </p:spPr>
        </p:pic>
        <p:sp>
          <p:nvSpPr>
            <p:cNvPr id="47" name="object 47"/>
            <p:cNvSpPr/>
            <p:nvPr/>
          </p:nvSpPr>
          <p:spPr>
            <a:xfrm>
              <a:off x="1003932" y="2371920"/>
              <a:ext cx="2360930" cy="629285"/>
            </a:xfrm>
            <a:custGeom>
              <a:avLst/>
              <a:gdLst/>
              <a:ahLst/>
              <a:cxnLst/>
              <a:rect l="l" t="t" r="r" b="b"/>
              <a:pathLst>
                <a:path w="2360929" h="629285">
                  <a:moveTo>
                    <a:pt x="1882432" y="449832"/>
                  </a:moveTo>
                  <a:lnTo>
                    <a:pt x="2360512" y="449832"/>
                  </a:lnTo>
                  <a:lnTo>
                    <a:pt x="2360512" y="0"/>
                  </a:lnTo>
                  <a:lnTo>
                    <a:pt x="1882432" y="0"/>
                  </a:lnTo>
                  <a:lnTo>
                    <a:pt x="1882432" y="449832"/>
                  </a:lnTo>
                  <a:close/>
                </a:path>
                <a:path w="2360929" h="629285">
                  <a:moveTo>
                    <a:pt x="2240995" y="419951"/>
                  </a:moveTo>
                  <a:lnTo>
                    <a:pt x="2240995" y="539472"/>
                  </a:lnTo>
                </a:path>
                <a:path w="2360929" h="629285">
                  <a:moveTo>
                    <a:pt x="2240995" y="539472"/>
                  </a:moveTo>
                  <a:lnTo>
                    <a:pt x="2235392" y="578689"/>
                  </a:lnTo>
                  <a:lnTo>
                    <a:pt x="2218583" y="606701"/>
                  </a:lnTo>
                  <a:lnTo>
                    <a:pt x="2190571" y="623509"/>
                  </a:lnTo>
                  <a:lnTo>
                    <a:pt x="2151354" y="629112"/>
                  </a:lnTo>
                </a:path>
                <a:path w="2360929" h="629285">
                  <a:moveTo>
                    <a:pt x="2151354" y="629112"/>
                  </a:moveTo>
                  <a:lnTo>
                    <a:pt x="0" y="629112"/>
                  </a:lnTo>
                </a:path>
              </a:pathLst>
            </a:custGeom>
            <a:ln w="5270">
              <a:solidFill>
                <a:srgbClr val="231F20"/>
              </a:solidFill>
            </a:ln>
          </p:spPr>
          <p:txBody>
            <a:bodyPr wrap="square" lIns="0" tIns="0" rIns="0" bIns="0" rtlCol="0"/>
            <a:lstStyle/>
            <a:p>
              <a:endParaRPr/>
            </a:p>
          </p:txBody>
        </p:sp>
        <p:pic>
          <p:nvPicPr>
            <p:cNvPr id="48" name="object 48"/>
            <p:cNvPicPr/>
            <p:nvPr/>
          </p:nvPicPr>
          <p:blipFill>
            <a:blip r:embed="rId11" cstate="print"/>
            <a:stretch>
              <a:fillRect/>
            </a:stretch>
          </p:blipFill>
          <p:spPr>
            <a:xfrm>
              <a:off x="852532" y="2821753"/>
              <a:ext cx="154034" cy="181914"/>
            </a:xfrm>
            <a:prstGeom prst="rect">
              <a:avLst/>
            </a:prstGeom>
          </p:spPr>
        </p:pic>
        <p:sp>
          <p:nvSpPr>
            <p:cNvPr id="49" name="object 49"/>
            <p:cNvSpPr/>
            <p:nvPr/>
          </p:nvSpPr>
          <p:spPr>
            <a:xfrm>
              <a:off x="914288" y="2371920"/>
              <a:ext cx="3018155" cy="659130"/>
            </a:xfrm>
            <a:custGeom>
              <a:avLst/>
              <a:gdLst/>
              <a:ahLst/>
              <a:cxnLst/>
              <a:rect l="l" t="t" r="r" b="b"/>
              <a:pathLst>
                <a:path w="3018154" h="659130">
                  <a:moveTo>
                    <a:pt x="2539804" y="449832"/>
                  </a:moveTo>
                  <a:lnTo>
                    <a:pt x="3017883" y="449832"/>
                  </a:lnTo>
                  <a:lnTo>
                    <a:pt x="3017883" y="0"/>
                  </a:lnTo>
                  <a:lnTo>
                    <a:pt x="2539804" y="0"/>
                  </a:lnTo>
                  <a:lnTo>
                    <a:pt x="2539804" y="449832"/>
                  </a:lnTo>
                  <a:close/>
                </a:path>
                <a:path w="3018154" h="659130">
                  <a:moveTo>
                    <a:pt x="2898356" y="419951"/>
                  </a:moveTo>
                  <a:lnTo>
                    <a:pt x="2898356" y="569349"/>
                  </a:lnTo>
                </a:path>
                <a:path w="3018154" h="659130">
                  <a:moveTo>
                    <a:pt x="2898356" y="569349"/>
                  </a:moveTo>
                  <a:lnTo>
                    <a:pt x="2892754" y="608568"/>
                  </a:lnTo>
                  <a:lnTo>
                    <a:pt x="2875948" y="636580"/>
                  </a:lnTo>
                  <a:lnTo>
                    <a:pt x="2847936" y="653387"/>
                  </a:lnTo>
                  <a:lnTo>
                    <a:pt x="2808715" y="658989"/>
                  </a:lnTo>
                </a:path>
                <a:path w="3018154" h="659130">
                  <a:moveTo>
                    <a:pt x="2808715" y="658989"/>
                  </a:moveTo>
                  <a:lnTo>
                    <a:pt x="0" y="658989"/>
                  </a:lnTo>
                </a:path>
              </a:pathLst>
            </a:custGeom>
            <a:ln w="5270">
              <a:solidFill>
                <a:srgbClr val="231F20"/>
              </a:solidFill>
            </a:ln>
          </p:spPr>
          <p:txBody>
            <a:bodyPr wrap="square" lIns="0" tIns="0" rIns="0" bIns="0" rtlCol="0"/>
            <a:lstStyle/>
            <a:p>
              <a:endParaRPr/>
            </a:p>
          </p:txBody>
        </p:sp>
        <p:pic>
          <p:nvPicPr>
            <p:cNvPr id="50" name="object 50"/>
            <p:cNvPicPr/>
            <p:nvPr/>
          </p:nvPicPr>
          <p:blipFill>
            <a:blip r:embed="rId12" cstate="print"/>
            <a:stretch>
              <a:fillRect/>
            </a:stretch>
          </p:blipFill>
          <p:spPr>
            <a:xfrm>
              <a:off x="763206" y="2821753"/>
              <a:ext cx="153717" cy="211792"/>
            </a:xfrm>
            <a:prstGeom prst="rect">
              <a:avLst/>
            </a:prstGeom>
          </p:spPr>
        </p:pic>
      </p:grpSp>
      <p:sp>
        <p:nvSpPr>
          <p:cNvPr id="51" name="object 51"/>
          <p:cNvSpPr txBox="1"/>
          <p:nvPr/>
        </p:nvSpPr>
        <p:spPr>
          <a:xfrm>
            <a:off x="2001523" y="2657413"/>
            <a:ext cx="1898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M25</a:t>
            </a:r>
            <a:endParaRPr sz="650">
              <a:latin typeface="Arial"/>
              <a:cs typeface="Arial"/>
            </a:endParaRPr>
          </a:p>
        </p:txBody>
      </p:sp>
      <p:sp>
        <p:nvSpPr>
          <p:cNvPr id="52" name="object 52"/>
          <p:cNvSpPr txBox="1"/>
          <p:nvPr/>
        </p:nvSpPr>
        <p:spPr>
          <a:xfrm>
            <a:off x="2569243" y="2657413"/>
            <a:ext cx="1898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M25</a:t>
            </a:r>
            <a:endParaRPr sz="650">
              <a:latin typeface="Arial"/>
              <a:cs typeface="Arial"/>
            </a:endParaRPr>
          </a:p>
        </p:txBody>
      </p:sp>
      <p:sp>
        <p:nvSpPr>
          <p:cNvPr id="53" name="object 53"/>
          <p:cNvSpPr txBox="1"/>
          <p:nvPr/>
        </p:nvSpPr>
        <p:spPr>
          <a:xfrm>
            <a:off x="3136967" y="2657413"/>
            <a:ext cx="1898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M25</a:t>
            </a:r>
            <a:endParaRPr sz="650">
              <a:latin typeface="Arial"/>
              <a:cs typeface="Arial"/>
            </a:endParaRPr>
          </a:p>
        </p:txBody>
      </p:sp>
      <p:sp>
        <p:nvSpPr>
          <p:cNvPr id="54" name="object 54"/>
          <p:cNvSpPr txBox="1"/>
          <p:nvPr/>
        </p:nvSpPr>
        <p:spPr>
          <a:xfrm>
            <a:off x="3704683" y="2657413"/>
            <a:ext cx="1898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M25</a:t>
            </a:r>
            <a:endParaRPr sz="650">
              <a:latin typeface="Arial"/>
              <a:cs typeface="Arial"/>
            </a:endParaRPr>
          </a:p>
        </p:txBody>
      </p:sp>
      <p:sp>
        <p:nvSpPr>
          <p:cNvPr id="55" name="object 55"/>
          <p:cNvSpPr/>
          <p:nvPr/>
        </p:nvSpPr>
        <p:spPr>
          <a:xfrm>
            <a:off x="1989968" y="2672351"/>
            <a:ext cx="1912620" cy="104775"/>
          </a:xfrm>
          <a:custGeom>
            <a:avLst/>
            <a:gdLst/>
            <a:ahLst/>
            <a:cxnLst/>
            <a:rect l="l" t="t" r="r" b="b"/>
            <a:pathLst>
              <a:path w="1912620" h="104775">
                <a:moveTo>
                  <a:pt x="0" y="104582"/>
                </a:moveTo>
                <a:lnTo>
                  <a:pt x="209156" y="104582"/>
                </a:lnTo>
                <a:lnTo>
                  <a:pt x="209156" y="0"/>
                </a:lnTo>
                <a:lnTo>
                  <a:pt x="0" y="0"/>
                </a:lnTo>
                <a:lnTo>
                  <a:pt x="0" y="104582"/>
                </a:lnTo>
                <a:close/>
              </a:path>
              <a:path w="1912620" h="104775">
                <a:moveTo>
                  <a:pt x="567717" y="104582"/>
                </a:moveTo>
                <a:lnTo>
                  <a:pt x="776877" y="104582"/>
                </a:lnTo>
                <a:lnTo>
                  <a:pt x="776877" y="0"/>
                </a:lnTo>
                <a:lnTo>
                  <a:pt x="567717" y="0"/>
                </a:lnTo>
                <a:lnTo>
                  <a:pt x="567717" y="104582"/>
                </a:lnTo>
                <a:close/>
              </a:path>
              <a:path w="1912620" h="104775">
                <a:moveTo>
                  <a:pt x="1135434" y="104582"/>
                </a:moveTo>
                <a:lnTo>
                  <a:pt x="1344590" y="104582"/>
                </a:lnTo>
                <a:lnTo>
                  <a:pt x="1344590" y="0"/>
                </a:lnTo>
                <a:lnTo>
                  <a:pt x="1135434" y="0"/>
                </a:lnTo>
                <a:lnTo>
                  <a:pt x="1135434" y="104582"/>
                </a:lnTo>
                <a:close/>
              </a:path>
              <a:path w="1912620" h="104775">
                <a:moveTo>
                  <a:pt x="1703162" y="104582"/>
                </a:moveTo>
                <a:lnTo>
                  <a:pt x="1912318" y="104582"/>
                </a:lnTo>
                <a:lnTo>
                  <a:pt x="1912318" y="0"/>
                </a:lnTo>
                <a:lnTo>
                  <a:pt x="1703162" y="0"/>
                </a:lnTo>
                <a:lnTo>
                  <a:pt x="1703162" y="104582"/>
                </a:lnTo>
                <a:close/>
              </a:path>
            </a:pathLst>
          </a:custGeom>
          <a:ln w="5270">
            <a:solidFill>
              <a:srgbClr val="231F20"/>
            </a:solidFill>
          </a:ln>
        </p:spPr>
        <p:txBody>
          <a:bodyPr wrap="square" lIns="0" tIns="0" rIns="0" bIns="0" rtlCol="0"/>
          <a:lstStyle/>
          <a:p>
            <a:endParaRPr/>
          </a:p>
        </p:txBody>
      </p:sp>
      <p:sp>
        <p:nvSpPr>
          <p:cNvPr id="56" name="object 56"/>
          <p:cNvSpPr txBox="1"/>
          <p:nvPr/>
        </p:nvSpPr>
        <p:spPr>
          <a:xfrm>
            <a:off x="1768103" y="2516427"/>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25</a:t>
            </a:r>
            <a:endParaRPr sz="650">
              <a:latin typeface="Arial"/>
              <a:cs typeface="Arial"/>
            </a:endParaRPr>
          </a:p>
        </p:txBody>
      </p:sp>
      <p:sp>
        <p:nvSpPr>
          <p:cNvPr id="57" name="object 57"/>
          <p:cNvSpPr txBox="1"/>
          <p:nvPr/>
        </p:nvSpPr>
        <p:spPr>
          <a:xfrm>
            <a:off x="2903546" y="2516427"/>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23</a:t>
            </a:r>
            <a:endParaRPr sz="650">
              <a:latin typeface="Arial"/>
              <a:cs typeface="Arial"/>
            </a:endParaRPr>
          </a:p>
        </p:txBody>
      </p:sp>
      <p:sp>
        <p:nvSpPr>
          <p:cNvPr id="58" name="object 58"/>
          <p:cNvSpPr txBox="1"/>
          <p:nvPr/>
        </p:nvSpPr>
        <p:spPr>
          <a:xfrm>
            <a:off x="2335827" y="2516427"/>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24</a:t>
            </a:r>
            <a:endParaRPr sz="650">
              <a:latin typeface="Arial"/>
              <a:cs typeface="Arial"/>
            </a:endParaRPr>
          </a:p>
        </p:txBody>
      </p:sp>
      <p:sp>
        <p:nvSpPr>
          <p:cNvPr id="59" name="object 59"/>
          <p:cNvSpPr txBox="1"/>
          <p:nvPr/>
        </p:nvSpPr>
        <p:spPr>
          <a:xfrm>
            <a:off x="3471262" y="2516427"/>
            <a:ext cx="3752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Last</a:t>
            </a:r>
            <a:r>
              <a:rPr sz="650" spc="-35" dirty="0">
                <a:solidFill>
                  <a:srgbClr val="231F20"/>
                </a:solidFill>
                <a:latin typeface="Arial"/>
                <a:cs typeface="Arial"/>
              </a:rPr>
              <a:t> </a:t>
            </a:r>
            <a:r>
              <a:rPr sz="650" spc="5" dirty="0">
                <a:solidFill>
                  <a:srgbClr val="231F20"/>
                </a:solidFill>
                <a:latin typeface="Arial"/>
                <a:cs typeface="Arial"/>
              </a:rPr>
              <a:t>=</a:t>
            </a:r>
            <a:r>
              <a:rPr sz="650" spc="-30" dirty="0">
                <a:solidFill>
                  <a:srgbClr val="231F20"/>
                </a:solidFill>
                <a:latin typeface="Arial"/>
                <a:cs typeface="Arial"/>
              </a:rPr>
              <a:t> </a:t>
            </a:r>
            <a:r>
              <a:rPr sz="650" spc="5" dirty="0">
                <a:solidFill>
                  <a:srgbClr val="231F20"/>
                </a:solidFill>
                <a:latin typeface="Arial"/>
                <a:cs typeface="Arial"/>
              </a:rPr>
              <a:t>24</a:t>
            </a:r>
            <a:endParaRPr sz="650">
              <a:latin typeface="Arial"/>
              <a:cs typeface="Arial"/>
            </a:endParaRPr>
          </a:p>
        </p:txBody>
      </p:sp>
      <p:sp>
        <p:nvSpPr>
          <p:cNvPr id="60" name="object 60"/>
          <p:cNvSpPr/>
          <p:nvPr/>
        </p:nvSpPr>
        <p:spPr>
          <a:xfrm>
            <a:off x="794771" y="2821753"/>
            <a:ext cx="3107690" cy="239395"/>
          </a:xfrm>
          <a:custGeom>
            <a:avLst/>
            <a:gdLst/>
            <a:ahLst/>
            <a:cxnLst/>
            <a:rect l="l" t="t" r="r" b="b"/>
            <a:pathLst>
              <a:path w="3107690" h="239394">
                <a:moveTo>
                  <a:pt x="0" y="239041"/>
                </a:moveTo>
                <a:lnTo>
                  <a:pt x="3107514" y="239041"/>
                </a:lnTo>
              </a:path>
              <a:path w="3107690" h="239394">
                <a:moveTo>
                  <a:pt x="1195197" y="0"/>
                </a:moveTo>
                <a:lnTo>
                  <a:pt x="1195197" y="239041"/>
                </a:lnTo>
              </a:path>
              <a:path w="3107690" h="239394">
                <a:moveTo>
                  <a:pt x="1762914" y="0"/>
                </a:moveTo>
                <a:lnTo>
                  <a:pt x="1762914" y="239041"/>
                </a:lnTo>
              </a:path>
              <a:path w="3107690" h="239394">
                <a:moveTo>
                  <a:pt x="2330631" y="0"/>
                </a:moveTo>
                <a:lnTo>
                  <a:pt x="2330631" y="239041"/>
                </a:lnTo>
              </a:path>
              <a:path w="3107690" h="239394">
                <a:moveTo>
                  <a:pt x="2898359" y="0"/>
                </a:moveTo>
                <a:lnTo>
                  <a:pt x="2898359" y="239041"/>
                </a:lnTo>
              </a:path>
              <a:path w="3107690" h="239394">
                <a:moveTo>
                  <a:pt x="134464" y="0"/>
                </a:moveTo>
                <a:lnTo>
                  <a:pt x="134464" y="239041"/>
                </a:lnTo>
              </a:path>
            </a:pathLst>
          </a:custGeom>
          <a:ln w="15812">
            <a:solidFill>
              <a:srgbClr val="231F20"/>
            </a:solidFill>
          </a:ln>
        </p:spPr>
        <p:txBody>
          <a:bodyPr wrap="square" lIns="0" tIns="0" rIns="0" bIns="0" rtlCol="0"/>
          <a:lstStyle/>
          <a:p>
            <a:endParaRPr/>
          </a:p>
        </p:txBody>
      </p:sp>
      <p:sp>
        <p:nvSpPr>
          <p:cNvPr id="61" name="object 61"/>
          <p:cNvSpPr txBox="1"/>
          <p:nvPr/>
        </p:nvSpPr>
        <p:spPr>
          <a:xfrm>
            <a:off x="1529070" y="2814366"/>
            <a:ext cx="3162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ACK 25</a:t>
            </a:r>
            <a:endParaRPr sz="650">
              <a:latin typeface="Arial"/>
              <a:cs typeface="Arial"/>
            </a:endParaRPr>
          </a:p>
        </p:txBody>
      </p:sp>
      <p:sp>
        <p:nvSpPr>
          <p:cNvPr id="62" name="object 62"/>
          <p:cNvSpPr txBox="1"/>
          <p:nvPr/>
        </p:nvSpPr>
        <p:spPr>
          <a:xfrm>
            <a:off x="2156552" y="2844248"/>
            <a:ext cx="3162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ACK 25</a:t>
            </a:r>
            <a:endParaRPr sz="650">
              <a:latin typeface="Arial"/>
              <a:cs typeface="Arial"/>
            </a:endParaRPr>
          </a:p>
        </p:txBody>
      </p:sp>
      <p:sp>
        <p:nvSpPr>
          <p:cNvPr id="63" name="object 63"/>
          <p:cNvSpPr txBox="1"/>
          <p:nvPr/>
        </p:nvSpPr>
        <p:spPr>
          <a:xfrm>
            <a:off x="3351754" y="2904006"/>
            <a:ext cx="3162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ACK 25</a:t>
            </a:r>
            <a:endParaRPr sz="650">
              <a:latin typeface="Arial"/>
              <a:cs typeface="Arial"/>
            </a:endParaRPr>
          </a:p>
        </p:txBody>
      </p:sp>
      <p:sp>
        <p:nvSpPr>
          <p:cNvPr id="64" name="object 64"/>
          <p:cNvSpPr txBox="1"/>
          <p:nvPr/>
        </p:nvSpPr>
        <p:spPr>
          <a:xfrm>
            <a:off x="2694395" y="2874125"/>
            <a:ext cx="41020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Missed 24</a:t>
            </a:r>
            <a:endParaRPr sz="650">
              <a:latin typeface="Arial"/>
              <a:cs typeface="Arial"/>
            </a:endParaRPr>
          </a:p>
        </p:txBody>
      </p:sp>
      <p:sp>
        <p:nvSpPr>
          <p:cNvPr id="65" name="object 65"/>
          <p:cNvSpPr txBox="1"/>
          <p:nvPr/>
        </p:nvSpPr>
        <p:spPr>
          <a:xfrm>
            <a:off x="782068" y="3051778"/>
            <a:ext cx="334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Network</a:t>
            </a:r>
            <a:endParaRPr sz="650">
              <a:latin typeface="Arial"/>
              <a:cs typeface="Arial"/>
            </a:endParaRPr>
          </a:p>
        </p:txBody>
      </p:sp>
      <p:pic>
        <p:nvPicPr>
          <p:cNvPr id="66" name="object 66"/>
          <p:cNvPicPr/>
          <p:nvPr/>
        </p:nvPicPr>
        <p:blipFill>
          <a:blip r:embed="rId13" cstate="print"/>
          <a:stretch>
            <a:fillRect/>
          </a:stretch>
        </p:blipFill>
        <p:spPr>
          <a:xfrm>
            <a:off x="747077" y="2608323"/>
            <a:ext cx="229605" cy="154670"/>
          </a:xfrm>
          <a:prstGeom prst="rect">
            <a:avLst/>
          </a:prstGeom>
        </p:spPr>
      </p:pic>
      <p:sp>
        <p:nvSpPr>
          <p:cNvPr id="67" name="object 6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50</a:t>
            </a:r>
            <a:r>
              <a:rPr spc="-40" dirty="0"/>
              <a:t> </a:t>
            </a:r>
            <a:r>
              <a:rPr spc="-5" dirty="0"/>
              <a:t>/</a:t>
            </a:r>
            <a:r>
              <a:rPr spc="-35" dirty="0"/>
              <a:t> </a:t>
            </a:r>
            <a:r>
              <a:rPr spc="-5" dirty="0"/>
              <a:t>68</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51</a:t>
            </a:r>
            <a:r>
              <a:rPr spc="-40" dirty="0"/>
              <a:t> </a:t>
            </a:r>
            <a:r>
              <a:rPr spc="-5" dirty="0"/>
              <a:t>/</a:t>
            </a:r>
            <a:r>
              <a:rPr spc="-35" dirty="0"/>
              <a:t> </a:t>
            </a:r>
            <a:r>
              <a:rPr spc="-5" dirty="0"/>
              <a:t>68</a:t>
            </a: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322830" cy="244475"/>
          </a:xfrm>
          <a:prstGeom prst="rect">
            <a:avLst/>
          </a:prstGeom>
        </p:spPr>
        <p:txBody>
          <a:bodyPr vert="horz" wrap="square" lIns="0" tIns="17145" rIns="0" bIns="0" rtlCol="0">
            <a:spAutoFit/>
          </a:bodyPr>
          <a:lstStyle/>
          <a:p>
            <a:pPr marL="12700">
              <a:lnSpc>
                <a:spcPct val="100000"/>
              </a:lnSpc>
              <a:spcBef>
                <a:spcPts val="135"/>
              </a:spcBef>
            </a:pPr>
            <a:r>
              <a:rPr spc="10" dirty="0"/>
              <a:t>Distributed</a:t>
            </a:r>
            <a:r>
              <a:rPr spc="-10" dirty="0"/>
              <a:t> </a:t>
            </a:r>
            <a:r>
              <a:rPr spc="15" dirty="0"/>
              <a:t>commit</a:t>
            </a:r>
            <a:r>
              <a:rPr spc="-10" dirty="0"/>
              <a:t> </a:t>
            </a:r>
            <a:r>
              <a:rPr spc="15" dirty="0"/>
              <a:t>protocols</a:t>
            </a:r>
          </a:p>
        </p:txBody>
      </p:sp>
      <p:sp>
        <p:nvSpPr>
          <p:cNvPr id="4" name="object 4"/>
          <p:cNvSpPr txBox="1"/>
          <p:nvPr/>
        </p:nvSpPr>
        <p:spPr>
          <a:xfrm>
            <a:off x="321894" y="1107285"/>
            <a:ext cx="3761104" cy="1112520"/>
          </a:xfrm>
          <a:prstGeom prst="rect">
            <a:avLst/>
          </a:prstGeom>
        </p:spPr>
        <p:txBody>
          <a:bodyPr vert="horz" wrap="square" lIns="0" tIns="12065" rIns="0" bIns="0" rtlCol="0">
            <a:spAutoFit/>
          </a:bodyPr>
          <a:lstStyle/>
          <a:p>
            <a:pPr marL="38100">
              <a:lnSpc>
                <a:spcPts val="1410"/>
              </a:lnSpc>
              <a:spcBef>
                <a:spcPts val="95"/>
              </a:spcBef>
            </a:pPr>
            <a:r>
              <a:rPr sz="1200" spc="-10" dirty="0">
                <a:solidFill>
                  <a:srgbClr val="3333B2"/>
                </a:solidFill>
                <a:latin typeface="Arial"/>
                <a:cs typeface="Arial"/>
              </a:rPr>
              <a:t>Problem</a:t>
            </a:r>
            <a:endParaRPr sz="1200">
              <a:latin typeface="Arial"/>
              <a:cs typeface="Arial"/>
            </a:endParaRPr>
          </a:p>
          <a:p>
            <a:pPr marL="38100" marR="33020">
              <a:lnSpc>
                <a:spcPts val="1200"/>
              </a:lnSpc>
              <a:spcBef>
                <a:spcPts val="10"/>
              </a:spcBef>
            </a:pPr>
            <a:r>
              <a:rPr sz="1000" spc="-15" dirty="0">
                <a:latin typeface="Arial"/>
                <a:cs typeface="Arial"/>
              </a:rPr>
              <a:t>Have</a:t>
            </a:r>
            <a:r>
              <a:rPr sz="1000" spc="-5" dirty="0">
                <a:latin typeface="Arial"/>
                <a:cs typeface="Arial"/>
              </a:rPr>
              <a:t> an</a:t>
            </a:r>
            <a:r>
              <a:rPr sz="1000" dirty="0">
                <a:latin typeface="Arial"/>
                <a:cs typeface="Arial"/>
              </a:rPr>
              <a:t> </a:t>
            </a:r>
            <a:r>
              <a:rPr sz="1000" spc="-5" dirty="0">
                <a:latin typeface="Arial"/>
                <a:cs typeface="Arial"/>
              </a:rPr>
              <a:t>operation being</a:t>
            </a:r>
            <a:r>
              <a:rPr sz="1000" dirty="0">
                <a:latin typeface="Arial"/>
                <a:cs typeface="Arial"/>
              </a:rPr>
              <a:t> </a:t>
            </a:r>
            <a:r>
              <a:rPr sz="1000" spc="-5" dirty="0">
                <a:latin typeface="Arial"/>
                <a:cs typeface="Arial"/>
              </a:rPr>
              <a:t>performed </a:t>
            </a:r>
            <a:r>
              <a:rPr sz="1000" spc="-15" dirty="0">
                <a:latin typeface="Arial"/>
                <a:cs typeface="Arial"/>
              </a:rPr>
              <a:t>by</a:t>
            </a:r>
            <a:r>
              <a:rPr sz="1000" dirty="0">
                <a:latin typeface="Arial"/>
                <a:cs typeface="Arial"/>
              </a:rPr>
              <a:t> </a:t>
            </a:r>
            <a:r>
              <a:rPr sz="1000" spc="-5" dirty="0">
                <a:latin typeface="Arial"/>
                <a:cs typeface="Arial"/>
              </a:rPr>
              <a:t>each member</a:t>
            </a:r>
            <a:r>
              <a:rPr sz="1000" dirty="0">
                <a:latin typeface="Arial"/>
                <a:cs typeface="Arial"/>
              </a:rPr>
              <a:t> </a:t>
            </a:r>
            <a:r>
              <a:rPr sz="1000" spc="-5" dirty="0">
                <a:latin typeface="Arial"/>
                <a:cs typeface="Arial"/>
              </a:rPr>
              <a:t>of a</a:t>
            </a:r>
            <a:r>
              <a:rPr sz="1000" dirty="0">
                <a:latin typeface="Arial"/>
                <a:cs typeface="Arial"/>
              </a:rPr>
              <a:t> </a:t>
            </a:r>
            <a:r>
              <a:rPr sz="1000" spc="-5" dirty="0">
                <a:latin typeface="Arial"/>
                <a:cs typeface="Arial"/>
              </a:rPr>
              <a:t>process </a:t>
            </a:r>
            <a:r>
              <a:rPr sz="1000" spc="-265" dirty="0">
                <a:latin typeface="Arial"/>
                <a:cs typeface="Arial"/>
              </a:rPr>
              <a:t> </a:t>
            </a:r>
            <a:r>
              <a:rPr sz="1000" spc="-10" dirty="0">
                <a:latin typeface="Arial"/>
                <a:cs typeface="Arial"/>
              </a:rPr>
              <a:t>group, </a:t>
            </a:r>
            <a:r>
              <a:rPr sz="1000" spc="-5" dirty="0">
                <a:latin typeface="Arial"/>
                <a:cs typeface="Arial"/>
              </a:rPr>
              <a:t>or none at all.</a:t>
            </a:r>
            <a:endParaRPr sz="1000">
              <a:latin typeface="Arial"/>
              <a:cs typeface="Arial"/>
            </a:endParaRPr>
          </a:p>
          <a:p>
            <a:pPr marL="314960" marR="292735" indent="-168275">
              <a:lnSpc>
                <a:spcPct val="100000"/>
              </a:lnSpc>
              <a:spcBef>
                <a:spcPts val="550"/>
              </a:spcBef>
              <a:buClr>
                <a:srgbClr val="3333B2"/>
              </a:buClr>
              <a:buChar char="►"/>
              <a:tabLst>
                <a:tab pos="315595" algn="l"/>
              </a:tabLst>
            </a:pPr>
            <a:r>
              <a:rPr sz="1000" spc="-5" dirty="0">
                <a:solidFill>
                  <a:srgbClr val="0000FA"/>
                </a:solidFill>
                <a:latin typeface="Arial"/>
                <a:cs typeface="Arial"/>
              </a:rPr>
              <a:t>Reliable multicasting</a:t>
            </a:r>
            <a:r>
              <a:rPr sz="1000" spc="-5" dirty="0">
                <a:latin typeface="Arial"/>
                <a:cs typeface="Arial"/>
              </a:rPr>
              <a:t>:</a:t>
            </a:r>
            <a:r>
              <a:rPr sz="1000" spc="60" dirty="0">
                <a:latin typeface="Arial"/>
                <a:cs typeface="Arial"/>
              </a:rPr>
              <a:t> </a:t>
            </a:r>
            <a:r>
              <a:rPr sz="1000" spc="-5" dirty="0">
                <a:latin typeface="Arial"/>
                <a:cs typeface="Arial"/>
              </a:rPr>
              <a:t>a message is to be delivered to all </a:t>
            </a:r>
            <a:r>
              <a:rPr sz="1000" spc="-265" dirty="0">
                <a:latin typeface="Arial"/>
                <a:cs typeface="Arial"/>
              </a:rPr>
              <a:t> </a:t>
            </a:r>
            <a:r>
              <a:rPr sz="1000" spc="-5" dirty="0">
                <a:latin typeface="Arial"/>
                <a:cs typeface="Arial"/>
              </a:rPr>
              <a:t>recipients.</a:t>
            </a:r>
            <a:endParaRPr sz="1000">
              <a:latin typeface="Arial"/>
              <a:cs typeface="Arial"/>
            </a:endParaRPr>
          </a:p>
          <a:p>
            <a:pPr marL="314960" indent="-168275">
              <a:lnSpc>
                <a:spcPct val="100000"/>
              </a:lnSpc>
              <a:spcBef>
                <a:spcPts val="590"/>
              </a:spcBef>
              <a:buClr>
                <a:srgbClr val="3333B2"/>
              </a:buClr>
              <a:buChar char="►"/>
              <a:tabLst>
                <a:tab pos="315595" algn="l"/>
              </a:tabLst>
            </a:pPr>
            <a:r>
              <a:rPr sz="1000" spc="-5" dirty="0">
                <a:solidFill>
                  <a:srgbClr val="0000FA"/>
                </a:solidFill>
                <a:latin typeface="Arial"/>
                <a:cs typeface="Arial"/>
              </a:rPr>
              <a:t>Distributed</a:t>
            </a:r>
            <a:r>
              <a:rPr sz="1000" dirty="0">
                <a:solidFill>
                  <a:srgbClr val="0000FA"/>
                </a:solidFill>
                <a:latin typeface="Arial"/>
                <a:cs typeface="Arial"/>
              </a:rPr>
              <a:t> </a:t>
            </a:r>
            <a:r>
              <a:rPr sz="1000" spc="-5" dirty="0">
                <a:solidFill>
                  <a:srgbClr val="0000FA"/>
                </a:solidFill>
                <a:latin typeface="Arial"/>
                <a:cs typeface="Arial"/>
              </a:rPr>
              <a:t>transaction</a:t>
            </a:r>
            <a:r>
              <a:rPr sz="1000" spc="-5" dirty="0">
                <a:latin typeface="Arial"/>
                <a:cs typeface="Arial"/>
              </a:rPr>
              <a:t>:</a:t>
            </a:r>
            <a:r>
              <a:rPr sz="1000" spc="65"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local</a:t>
            </a:r>
            <a:r>
              <a:rPr sz="1000" dirty="0">
                <a:latin typeface="Arial"/>
                <a:cs typeface="Arial"/>
              </a:rPr>
              <a:t> </a:t>
            </a:r>
            <a:r>
              <a:rPr sz="1000" spc="-5" dirty="0">
                <a:latin typeface="Arial"/>
                <a:cs typeface="Arial"/>
              </a:rPr>
              <a:t>transaction</a:t>
            </a:r>
            <a:r>
              <a:rPr sz="1000" dirty="0">
                <a:latin typeface="Arial"/>
                <a:cs typeface="Arial"/>
              </a:rPr>
              <a:t> </a:t>
            </a:r>
            <a:r>
              <a:rPr sz="1000" spc="-5" dirty="0">
                <a:latin typeface="Arial"/>
                <a:cs typeface="Arial"/>
              </a:rPr>
              <a:t>must</a:t>
            </a:r>
            <a:r>
              <a:rPr sz="1000" dirty="0">
                <a:latin typeface="Arial"/>
                <a:cs typeface="Arial"/>
              </a:rPr>
              <a:t> </a:t>
            </a:r>
            <a:r>
              <a:rPr sz="1000" spc="-5" dirty="0">
                <a:latin typeface="Arial"/>
                <a:cs typeface="Arial"/>
              </a:rPr>
              <a:t>succeed.</a:t>
            </a:r>
            <a:endParaRPr sz="1000">
              <a:latin typeface="Arial"/>
              <a:cs typeface="Arial"/>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52</a:t>
            </a:r>
            <a:r>
              <a:rPr spc="-40" dirty="0"/>
              <a:t> </a:t>
            </a:r>
            <a:r>
              <a:rPr spc="-5" dirty="0"/>
              <a:t>/</a:t>
            </a:r>
            <a:r>
              <a:rPr spc="-35" dirty="0"/>
              <a:t> </a:t>
            </a:r>
            <a:r>
              <a:rPr spc="-5" dirty="0"/>
              <a:t>68</a:t>
            </a: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766060" cy="244475"/>
          </a:xfrm>
          <a:prstGeom prst="rect">
            <a:avLst/>
          </a:prstGeom>
        </p:spPr>
        <p:txBody>
          <a:bodyPr vert="horz" wrap="square" lIns="0" tIns="17145" rIns="0" bIns="0" rtlCol="0">
            <a:spAutoFit/>
          </a:bodyPr>
          <a:lstStyle/>
          <a:p>
            <a:pPr marL="12700">
              <a:lnSpc>
                <a:spcPct val="100000"/>
              </a:lnSpc>
              <a:spcBef>
                <a:spcPts val="135"/>
              </a:spcBef>
            </a:pPr>
            <a:r>
              <a:rPr spc="-5" dirty="0"/>
              <a:t>Two-phase</a:t>
            </a:r>
            <a:r>
              <a:rPr spc="-10" dirty="0"/>
              <a:t> </a:t>
            </a:r>
            <a:r>
              <a:rPr spc="15" dirty="0"/>
              <a:t>commit</a:t>
            </a:r>
            <a:r>
              <a:rPr spc="-5" dirty="0"/>
              <a:t> </a:t>
            </a:r>
            <a:r>
              <a:rPr spc="15" dirty="0"/>
              <a:t>protocol</a:t>
            </a:r>
            <a:r>
              <a:rPr spc="-5" dirty="0"/>
              <a:t> </a:t>
            </a:r>
            <a:r>
              <a:rPr spc="15" dirty="0"/>
              <a:t>(2PC)</a:t>
            </a:r>
          </a:p>
        </p:txBody>
      </p:sp>
      <p:sp>
        <p:nvSpPr>
          <p:cNvPr id="4" name="object 4"/>
          <p:cNvSpPr txBox="1"/>
          <p:nvPr/>
        </p:nvSpPr>
        <p:spPr>
          <a:xfrm>
            <a:off x="317982" y="611007"/>
            <a:ext cx="3968750" cy="2327275"/>
          </a:xfrm>
          <a:prstGeom prst="rect">
            <a:avLst/>
          </a:prstGeom>
        </p:spPr>
        <p:txBody>
          <a:bodyPr vert="horz" wrap="square" lIns="0" tIns="12065" rIns="0" bIns="0" rtlCol="0">
            <a:spAutoFit/>
          </a:bodyPr>
          <a:lstStyle/>
          <a:p>
            <a:pPr marL="41910">
              <a:lnSpc>
                <a:spcPts val="1410"/>
              </a:lnSpc>
              <a:spcBef>
                <a:spcPts val="95"/>
              </a:spcBef>
            </a:pPr>
            <a:r>
              <a:rPr sz="1200" spc="-5" dirty="0">
                <a:solidFill>
                  <a:srgbClr val="3333B2"/>
                </a:solidFill>
                <a:latin typeface="Arial"/>
                <a:cs typeface="Arial"/>
              </a:rPr>
              <a:t>Essence</a:t>
            </a:r>
            <a:endParaRPr sz="1200">
              <a:latin typeface="Arial"/>
              <a:cs typeface="Arial"/>
            </a:endParaRPr>
          </a:p>
          <a:p>
            <a:pPr marL="41910" marR="30480" indent="-4445">
              <a:lnSpc>
                <a:spcPts val="1200"/>
              </a:lnSpc>
              <a:spcBef>
                <a:spcPts val="10"/>
              </a:spcBef>
            </a:pPr>
            <a:r>
              <a:rPr sz="1000" spc="-15" dirty="0">
                <a:latin typeface="Arial"/>
                <a:cs typeface="Arial"/>
              </a:rPr>
              <a:t>The</a:t>
            </a:r>
            <a:r>
              <a:rPr sz="1000" spc="-5" dirty="0">
                <a:latin typeface="Arial"/>
                <a:cs typeface="Arial"/>
              </a:rPr>
              <a:t> </a:t>
            </a:r>
            <a:r>
              <a:rPr sz="1000" spc="-10" dirty="0">
                <a:latin typeface="Arial"/>
                <a:cs typeface="Arial"/>
              </a:rPr>
              <a:t>client</a:t>
            </a:r>
            <a:r>
              <a:rPr sz="1000" spc="-5" dirty="0">
                <a:latin typeface="Arial"/>
                <a:cs typeface="Arial"/>
              </a:rPr>
              <a:t> </a:t>
            </a:r>
            <a:r>
              <a:rPr sz="1000" spc="-15" dirty="0">
                <a:latin typeface="Arial"/>
                <a:cs typeface="Arial"/>
              </a:rPr>
              <a:t>who</a:t>
            </a:r>
            <a:r>
              <a:rPr sz="1000" dirty="0">
                <a:latin typeface="Arial"/>
                <a:cs typeface="Arial"/>
              </a:rPr>
              <a:t> </a:t>
            </a:r>
            <a:r>
              <a:rPr sz="1000" spc="-10" dirty="0">
                <a:latin typeface="Arial"/>
                <a:cs typeface="Arial"/>
              </a:rPr>
              <a:t>initiated</a:t>
            </a:r>
            <a:r>
              <a:rPr sz="1000" spc="-5" dirty="0">
                <a:latin typeface="Arial"/>
                <a:cs typeface="Arial"/>
              </a:rPr>
              <a:t> </a:t>
            </a:r>
            <a:r>
              <a:rPr sz="1000" spc="-15" dirty="0">
                <a:latin typeface="Arial"/>
                <a:cs typeface="Arial"/>
              </a:rPr>
              <a:t>the</a:t>
            </a:r>
            <a:r>
              <a:rPr sz="1000" dirty="0">
                <a:latin typeface="Arial"/>
                <a:cs typeface="Arial"/>
              </a:rPr>
              <a:t> </a:t>
            </a:r>
            <a:r>
              <a:rPr sz="1000" spc="-15" dirty="0">
                <a:latin typeface="Arial"/>
                <a:cs typeface="Arial"/>
              </a:rPr>
              <a:t>computation</a:t>
            </a:r>
            <a:r>
              <a:rPr sz="1000" spc="-5" dirty="0">
                <a:latin typeface="Arial"/>
                <a:cs typeface="Arial"/>
              </a:rPr>
              <a:t> </a:t>
            </a:r>
            <a:r>
              <a:rPr sz="1000" spc="-15" dirty="0">
                <a:latin typeface="Arial"/>
                <a:cs typeface="Arial"/>
              </a:rPr>
              <a:t>acts</a:t>
            </a:r>
            <a:r>
              <a:rPr sz="1000" dirty="0">
                <a:latin typeface="Arial"/>
                <a:cs typeface="Arial"/>
              </a:rPr>
              <a:t> </a:t>
            </a:r>
            <a:r>
              <a:rPr sz="1000" spc="-15" dirty="0">
                <a:latin typeface="Arial"/>
                <a:cs typeface="Arial"/>
              </a:rPr>
              <a:t>as</a:t>
            </a:r>
            <a:r>
              <a:rPr sz="1000" spc="-5" dirty="0">
                <a:latin typeface="Arial"/>
                <a:cs typeface="Arial"/>
              </a:rPr>
              <a:t> </a:t>
            </a:r>
            <a:r>
              <a:rPr sz="1000" spc="-15" dirty="0">
                <a:solidFill>
                  <a:srgbClr val="FA0000"/>
                </a:solidFill>
                <a:latin typeface="Arial"/>
                <a:cs typeface="Arial"/>
              </a:rPr>
              <a:t>coordinator</a:t>
            </a:r>
            <a:r>
              <a:rPr sz="1000" spc="-15" dirty="0">
                <a:latin typeface="Arial"/>
                <a:cs typeface="Arial"/>
              </a:rPr>
              <a:t>;</a:t>
            </a:r>
            <a:r>
              <a:rPr sz="1000" dirty="0">
                <a:latin typeface="Arial"/>
                <a:cs typeface="Arial"/>
              </a:rPr>
              <a:t> </a:t>
            </a:r>
            <a:r>
              <a:rPr sz="1000" spc="-15" dirty="0">
                <a:latin typeface="Arial"/>
                <a:cs typeface="Arial"/>
              </a:rPr>
              <a:t>processes </a:t>
            </a:r>
            <a:r>
              <a:rPr sz="1000" spc="-265" dirty="0">
                <a:latin typeface="Arial"/>
                <a:cs typeface="Arial"/>
              </a:rPr>
              <a:t> </a:t>
            </a:r>
            <a:r>
              <a:rPr sz="1000" spc="-5" dirty="0">
                <a:latin typeface="Arial"/>
                <a:cs typeface="Arial"/>
              </a:rPr>
              <a:t>required</a:t>
            </a:r>
            <a:r>
              <a:rPr sz="1000" spc="-10" dirty="0">
                <a:latin typeface="Arial"/>
                <a:cs typeface="Arial"/>
              </a:rPr>
              <a:t> </a:t>
            </a:r>
            <a:r>
              <a:rPr sz="1000" spc="-5" dirty="0">
                <a:latin typeface="Arial"/>
                <a:cs typeface="Arial"/>
              </a:rPr>
              <a:t>to commit are the </a:t>
            </a:r>
            <a:r>
              <a:rPr sz="1000" dirty="0">
                <a:solidFill>
                  <a:srgbClr val="0000FA"/>
                </a:solidFill>
                <a:latin typeface="Arial"/>
                <a:cs typeface="Arial"/>
              </a:rPr>
              <a:t>participants</a:t>
            </a:r>
            <a:r>
              <a:rPr sz="1000" dirty="0">
                <a:latin typeface="Arial"/>
                <a:cs typeface="Arial"/>
              </a:rPr>
              <a:t>.</a:t>
            </a:r>
            <a:endParaRPr sz="1000">
              <a:latin typeface="Arial"/>
              <a:cs typeface="Arial"/>
            </a:endParaRPr>
          </a:p>
          <a:p>
            <a:pPr marL="314325" marR="257810" indent="-163830">
              <a:lnSpc>
                <a:spcPct val="100000"/>
              </a:lnSpc>
              <a:spcBef>
                <a:spcPts val="550"/>
              </a:spcBef>
              <a:buClr>
                <a:srgbClr val="3333B2"/>
              </a:buClr>
              <a:buChar char="►"/>
              <a:tabLst>
                <a:tab pos="319405" algn="l"/>
              </a:tabLst>
            </a:pPr>
            <a:r>
              <a:rPr sz="1000" spc="-5" dirty="0">
                <a:solidFill>
                  <a:srgbClr val="FA0000"/>
                </a:solidFill>
                <a:latin typeface="Arial"/>
                <a:cs typeface="Arial"/>
              </a:rPr>
              <a:t>Phase</a:t>
            </a:r>
            <a:r>
              <a:rPr sz="1000" dirty="0">
                <a:solidFill>
                  <a:srgbClr val="FA0000"/>
                </a:solidFill>
                <a:latin typeface="Arial"/>
                <a:cs typeface="Arial"/>
              </a:rPr>
              <a:t> </a:t>
            </a:r>
            <a:r>
              <a:rPr sz="1000" spc="-5" dirty="0">
                <a:solidFill>
                  <a:srgbClr val="FA0000"/>
                </a:solidFill>
                <a:latin typeface="Arial"/>
                <a:cs typeface="Arial"/>
              </a:rPr>
              <a:t>1a:</a:t>
            </a:r>
            <a:r>
              <a:rPr sz="1000" spc="65" dirty="0">
                <a:solidFill>
                  <a:srgbClr val="FA0000"/>
                </a:solidFill>
                <a:latin typeface="Arial"/>
                <a:cs typeface="Arial"/>
              </a:rPr>
              <a:t> </a:t>
            </a:r>
            <a:r>
              <a:rPr sz="1000" spc="-5" dirty="0">
                <a:latin typeface="Arial"/>
                <a:cs typeface="Arial"/>
              </a:rPr>
              <a:t>Coordinator</a:t>
            </a:r>
            <a:r>
              <a:rPr sz="1000" dirty="0">
                <a:latin typeface="Arial"/>
                <a:cs typeface="Arial"/>
              </a:rPr>
              <a:t> </a:t>
            </a:r>
            <a:r>
              <a:rPr sz="1000" spc="-5" dirty="0">
                <a:latin typeface="Arial"/>
                <a:cs typeface="Arial"/>
              </a:rPr>
              <a:t>sends</a:t>
            </a:r>
            <a:r>
              <a:rPr sz="1000" spc="30" dirty="0">
                <a:latin typeface="Arial"/>
                <a:cs typeface="Arial"/>
              </a:rPr>
              <a:t> </a:t>
            </a:r>
            <a:r>
              <a:rPr sz="800" spc="30" dirty="0">
                <a:latin typeface="Arial"/>
                <a:cs typeface="Arial"/>
              </a:rPr>
              <a:t>VOTE</a:t>
            </a:r>
            <a:r>
              <a:rPr sz="1000" spc="30" dirty="0">
                <a:latin typeface="Arial"/>
                <a:cs typeface="Arial"/>
              </a:rPr>
              <a:t>-</a:t>
            </a:r>
            <a:r>
              <a:rPr sz="800" spc="30" dirty="0">
                <a:latin typeface="Arial"/>
                <a:cs typeface="Arial"/>
              </a:rPr>
              <a:t>REQUEST</a:t>
            </a:r>
            <a:r>
              <a:rPr sz="800" spc="80" dirty="0">
                <a:latin typeface="Arial"/>
                <a:cs typeface="Arial"/>
              </a:rPr>
              <a:t> </a:t>
            </a:r>
            <a:r>
              <a:rPr sz="1000" spc="-5" dirty="0">
                <a:latin typeface="Arial"/>
                <a:cs typeface="Arial"/>
              </a:rPr>
              <a:t>to</a:t>
            </a:r>
            <a:r>
              <a:rPr sz="1000" dirty="0">
                <a:latin typeface="Arial"/>
                <a:cs typeface="Arial"/>
              </a:rPr>
              <a:t> participants </a:t>
            </a:r>
            <a:r>
              <a:rPr sz="1000" spc="-260" dirty="0">
                <a:latin typeface="Arial"/>
                <a:cs typeface="Arial"/>
              </a:rPr>
              <a:t> </a:t>
            </a:r>
            <a:r>
              <a:rPr sz="1000" spc="-5" dirty="0">
                <a:latin typeface="Arial"/>
                <a:cs typeface="Arial"/>
              </a:rPr>
              <a:t>(also</a:t>
            </a:r>
            <a:r>
              <a:rPr sz="1000" spc="-10" dirty="0">
                <a:latin typeface="Arial"/>
                <a:cs typeface="Arial"/>
              </a:rPr>
              <a:t> </a:t>
            </a:r>
            <a:r>
              <a:rPr sz="1000" spc="-5" dirty="0">
                <a:latin typeface="Arial"/>
                <a:cs typeface="Arial"/>
              </a:rPr>
              <a:t>called a </a:t>
            </a:r>
            <a:r>
              <a:rPr sz="1000" spc="-5" dirty="0">
                <a:solidFill>
                  <a:srgbClr val="0000FA"/>
                </a:solidFill>
                <a:latin typeface="Arial"/>
                <a:cs typeface="Arial"/>
              </a:rPr>
              <a:t>pre-write</a:t>
            </a:r>
            <a:r>
              <a:rPr sz="1000" spc="-5" dirty="0">
                <a:latin typeface="Arial"/>
                <a:cs typeface="Arial"/>
              </a:rPr>
              <a:t>)</a:t>
            </a:r>
            <a:endParaRPr sz="1000">
              <a:latin typeface="Arial"/>
              <a:cs typeface="Arial"/>
            </a:endParaRPr>
          </a:p>
          <a:p>
            <a:pPr marL="318135" marR="131445" indent="-167640">
              <a:lnSpc>
                <a:spcPct val="100000"/>
              </a:lnSpc>
              <a:spcBef>
                <a:spcPts val="590"/>
              </a:spcBef>
              <a:buClr>
                <a:srgbClr val="3333B2"/>
              </a:buClr>
              <a:buChar char="►"/>
              <a:tabLst>
                <a:tab pos="319405" algn="l"/>
              </a:tabLst>
            </a:pPr>
            <a:r>
              <a:rPr sz="1000" spc="-5" dirty="0">
                <a:solidFill>
                  <a:srgbClr val="FA0000"/>
                </a:solidFill>
                <a:latin typeface="Arial"/>
                <a:cs typeface="Arial"/>
              </a:rPr>
              <a:t>Phase 1b:</a:t>
            </a:r>
            <a:r>
              <a:rPr sz="1000" spc="60" dirty="0">
                <a:solidFill>
                  <a:srgbClr val="FA0000"/>
                </a:solidFill>
                <a:latin typeface="Arial"/>
                <a:cs typeface="Arial"/>
              </a:rPr>
              <a:t> </a:t>
            </a:r>
            <a:r>
              <a:rPr sz="1000" spc="-5" dirty="0">
                <a:latin typeface="Arial"/>
                <a:cs typeface="Arial"/>
              </a:rPr>
              <a:t>When</a:t>
            </a:r>
            <a:r>
              <a:rPr sz="1000" dirty="0">
                <a:latin typeface="Arial"/>
                <a:cs typeface="Arial"/>
              </a:rPr>
              <a:t> participant</a:t>
            </a:r>
            <a:r>
              <a:rPr sz="1000" spc="-5" dirty="0">
                <a:latin typeface="Arial"/>
                <a:cs typeface="Arial"/>
              </a:rPr>
              <a:t> receives</a:t>
            </a:r>
            <a:r>
              <a:rPr sz="1000" spc="20" dirty="0">
                <a:latin typeface="Arial"/>
                <a:cs typeface="Arial"/>
              </a:rPr>
              <a:t> </a:t>
            </a:r>
            <a:r>
              <a:rPr sz="800" spc="30" dirty="0">
                <a:latin typeface="Arial"/>
                <a:cs typeface="Arial"/>
              </a:rPr>
              <a:t>VOTE</a:t>
            </a:r>
            <a:r>
              <a:rPr sz="1000" spc="30" dirty="0">
                <a:latin typeface="Arial"/>
                <a:cs typeface="Arial"/>
              </a:rPr>
              <a:t>-</a:t>
            </a:r>
            <a:r>
              <a:rPr sz="800" spc="30" dirty="0">
                <a:latin typeface="Arial"/>
                <a:cs typeface="Arial"/>
              </a:rPr>
              <a:t>REQUEST</a:t>
            </a:r>
            <a:r>
              <a:rPr sz="800" spc="80" dirty="0">
                <a:latin typeface="Arial"/>
                <a:cs typeface="Arial"/>
              </a:rPr>
              <a:t> </a:t>
            </a:r>
            <a:r>
              <a:rPr sz="1000" spc="-5" dirty="0">
                <a:latin typeface="Arial"/>
                <a:cs typeface="Arial"/>
              </a:rPr>
              <a:t>it </a:t>
            </a:r>
            <a:r>
              <a:rPr sz="1000" dirty="0">
                <a:latin typeface="Arial"/>
                <a:cs typeface="Arial"/>
              </a:rPr>
              <a:t>returns </a:t>
            </a:r>
            <a:r>
              <a:rPr sz="1000" spc="-265" dirty="0">
                <a:latin typeface="Arial"/>
                <a:cs typeface="Arial"/>
              </a:rPr>
              <a:t> </a:t>
            </a:r>
            <a:r>
              <a:rPr sz="1000" spc="-5" dirty="0">
                <a:latin typeface="Arial"/>
                <a:cs typeface="Arial"/>
              </a:rPr>
              <a:t>either</a:t>
            </a:r>
            <a:r>
              <a:rPr sz="1000" spc="25" dirty="0">
                <a:latin typeface="Arial"/>
                <a:cs typeface="Arial"/>
              </a:rPr>
              <a:t> </a:t>
            </a:r>
            <a:r>
              <a:rPr sz="800" spc="30" dirty="0">
                <a:latin typeface="Arial"/>
                <a:cs typeface="Arial"/>
              </a:rPr>
              <a:t>VOTE</a:t>
            </a:r>
            <a:r>
              <a:rPr sz="1000" spc="30" dirty="0">
                <a:latin typeface="Arial"/>
                <a:cs typeface="Arial"/>
              </a:rPr>
              <a:t>-</a:t>
            </a:r>
            <a:r>
              <a:rPr sz="800" spc="30" dirty="0">
                <a:latin typeface="Arial"/>
                <a:cs typeface="Arial"/>
              </a:rPr>
              <a:t>COMMIT</a:t>
            </a:r>
            <a:r>
              <a:rPr sz="800" spc="80" dirty="0">
                <a:latin typeface="Arial"/>
                <a:cs typeface="Arial"/>
              </a:rPr>
              <a:t> </a:t>
            </a:r>
            <a:r>
              <a:rPr sz="1000" spc="-5" dirty="0">
                <a:latin typeface="Arial"/>
                <a:cs typeface="Arial"/>
              </a:rPr>
              <a:t>or</a:t>
            </a:r>
            <a:r>
              <a:rPr sz="1000" spc="25" dirty="0">
                <a:latin typeface="Arial"/>
                <a:cs typeface="Arial"/>
              </a:rPr>
              <a:t> </a:t>
            </a:r>
            <a:r>
              <a:rPr sz="800" spc="30" dirty="0">
                <a:latin typeface="Arial"/>
                <a:cs typeface="Arial"/>
              </a:rPr>
              <a:t>VOTE</a:t>
            </a:r>
            <a:r>
              <a:rPr sz="1000" spc="30" dirty="0">
                <a:latin typeface="Arial"/>
                <a:cs typeface="Arial"/>
              </a:rPr>
              <a:t>-</a:t>
            </a:r>
            <a:r>
              <a:rPr sz="800" spc="30" dirty="0">
                <a:latin typeface="Arial"/>
                <a:cs typeface="Arial"/>
              </a:rPr>
              <a:t>ABORT</a:t>
            </a:r>
            <a:r>
              <a:rPr sz="800" spc="80" dirty="0">
                <a:latin typeface="Arial"/>
                <a:cs typeface="Arial"/>
              </a:rPr>
              <a:t> </a:t>
            </a:r>
            <a:r>
              <a:rPr sz="1000" spc="-5" dirty="0">
                <a:latin typeface="Arial"/>
                <a:cs typeface="Arial"/>
              </a:rPr>
              <a:t>to</a:t>
            </a:r>
            <a:r>
              <a:rPr sz="1000" spc="5" dirty="0">
                <a:latin typeface="Arial"/>
                <a:cs typeface="Arial"/>
              </a:rPr>
              <a:t> </a:t>
            </a:r>
            <a:r>
              <a:rPr sz="1000" spc="-10" dirty="0">
                <a:latin typeface="Arial"/>
                <a:cs typeface="Arial"/>
              </a:rPr>
              <a:t>coordinator.</a:t>
            </a:r>
            <a:r>
              <a:rPr sz="1000" spc="65" dirty="0">
                <a:latin typeface="Arial"/>
                <a:cs typeface="Arial"/>
              </a:rPr>
              <a:t> </a:t>
            </a:r>
            <a:r>
              <a:rPr sz="1000" spc="-5" dirty="0">
                <a:latin typeface="Arial"/>
                <a:cs typeface="Arial"/>
              </a:rPr>
              <a:t>If</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sends </a:t>
            </a:r>
            <a:r>
              <a:rPr sz="1000" dirty="0">
                <a:latin typeface="Arial"/>
                <a:cs typeface="Arial"/>
              </a:rPr>
              <a:t> </a:t>
            </a:r>
            <a:r>
              <a:rPr sz="800" spc="25" dirty="0">
                <a:latin typeface="Arial"/>
                <a:cs typeface="Arial"/>
              </a:rPr>
              <a:t>VOTE</a:t>
            </a:r>
            <a:r>
              <a:rPr sz="1000" spc="25" dirty="0">
                <a:latin typeface="Arial"/>
                <a:cs typeface="Arial"/>
              </a:rPr>
              <a:t>-</a:t>
            </a:r>
            <a:r>
              <a:rPr sz="800" spc="25" dirty="0">
                <a:latin typeface="Arial"/>
                <a:cs typeface="Arial"/>
              </a:rPr>
              <a:t>ABORT</a:t>
            </a:r>
            <a:r>
              <a:rPr sz="1000" spc="25" dirty="0">
                <a:latin typeface="Arial"/>
                <a:cs typeface="Arial"/>
              </a:rPr>
              <a:t>,</a:t>
            </a:r>
            <a:r>
              <a:rPr sz="1000" spc="-5" dirty="0">
                <a:latin typeface="Arial"/>
                <a:cs typeface="Arial"/>
              </a:rPr>
              <a:t> it </a:t>
            </a:r>
            <a:r>
              <a:rPr sz="1000" dirty="0">
                <a:latin typeface="Arial"/>
                <a:cs typeface="Arial"/>
              </a:rPr>
              <a:t>aborts</a:t>
            </a:r>
            <a:r>
              <a:rPr sz="1000" spc="-5" dirty="0">
                <a:latin typeface="Arial"/>
                <a:cs typeface="Arial"/>
              </a:rPr>
              <a:t> its local</a:t>
            </a:r>
            <a:r>
              <a:rPr sz="1000" dirty="0">
                <a:latin typeface="Arial"/>
                <a:cs typeface="Arial"/>
              </a:rPr>
              <a:t> </a:t>
            </a:r>
            <a:r>
              <a:rPr sz="1000" spc="-5" dirty="0">
                <a:latin typeface="Arial"/>
                <a:cs typeface="Arial"/>
              </a:rPr>
              <a:t>computation</a:t>
            </a:r>
            <a:endParaRPr sz="1000">
              <a:latin typeface="Arial"/>
              <a:cs typeface="Arial"/>
            </a:endParaRPr>
          </a:p>
          <a:p>
            <a:pPr marL="318770" marR="41275" indent="-168275">
              <a:lnSpc>
                <a:spcPct val="100000"/>
              </a:lnSpc>
              <a:spcBef>
                <a:spcPts val="585"/>
              </a:spcBef>
              <a:buClr>
                <a:srgbClr val="3333B2"/>
              </a:buClr>
              <a:buChar char="►"/>
              <a:tabLst>
                <a:tab pos="319405" algn="l"/>
              </a:tabLst>
            </a:pPr>
            <a:r>
              <a:rPr sz="1000" spc="-5" dirty="0">
                <a:solidFill>
                  <a:srgbClr val="FA0000"/>
                </a:solidFill>
                <a:latin typeface="Arial"/>
                <a:cs typeface="Arial"/>
              </a:rPr>
              <a:t>Phase</a:t>
            </a:r>
            <a:r>
              <a:rPr sz="1000" dirty="0">
                <a:solidFill>
                  <a:srgbClr val="FA0000"/>
                </a:solidFill>
                <a:latin typeface="Arial"/>
                <a:cs typeface="Arial"/>
              </a:rPr>
              <a:t> </a:t>
            </a:r>
            <a:r>
              <a:rPr sz="1000" spc="-5" dirty="0">
                <a:solidFill>
                  <a:srgbClr val="FA0000"/>
                </a:solidFill>
                <a:latin typeface="Arial"/>
                <a:cs typeface="Arial"/>
              </a:rPr>
              <a:t>2a:</a:t>
            </a:r>
            <a:r>
              <a:rPr sz="1000" spc="70" dirty="0">
                <a:solidFill>
                  <a:srgbClr val="FA0000"/>
                </a:solidFill>
                <a:latin typeface="Arial"/>
                <a:cs typeface="Arial"/>
              </a:rPr>
              <a:t> </a:t>
            </a:r>
            <a:r>
              <a:rPr sz="1000" spc="-5" dirty="0">
                <a:latin typeface="Arial"/>
                <a:cs typeface="Arial"/>
              </a:rPr>
              <a:t>Coordinator</a:t>
            </a:r>
            <a:r>
              <a:rPr sz="1000" spc="5" dirty="0">
                <a:latin typeface="Arial"/>
                <a:cs typeface="Arial"/>
              </a:rPr>
              <a:t> </a:t>
            </a:r>
            <a:r>
              <a:rPr sz="1000" spc="-5" dirty="0">
                <a:latin typeface="Arial"/>
                <a:cs typeface="Arial"/>
              </a:rPr>
              <a:t>collects</a:t>
            </a:r>
            <a:r>
              <a:rPr sz="1000" dirty="0">
                <a:latin typeface="Arial"/>
                <a:cs typeface="Arial"/>
              </a:rPr>
              <a:t> </a:t>
            </a:r>
            <a:r>
              <a:rPr sz="1000" spc="-5" dirty="0">
                <a:latin typeface="Arial"/>
                <a:cs typeface="Arial"/>
              </a:rPr>
              <a:t>all</a:t>
            </a:r>
            <a:r>
              <a:rPr sz="1000" spc="5" dirty="0">
                <a:latin typeface="Arial"/>
                <a:cs typeface="Arial"/>
              </a:rPr>
              <a:t> </a:t>
            </a:r>
            <a:r>
              <a:rPr sz="1000" spc="-10" dirty="0">
                <a:latin typeface="Arial"/>
                <a:cs typeface="Arial"/>
              </a:rPr>
              <a:t>votes;</a:t>
            </a:r>
            <a:r>
              <a:rPr sz="1000" dirty="0">
                <a:latin typeface="Arial"/>
                <a:cs typeface="Arial"/>
              </a:rPr>
              <a:t> </a:t>
            </a:r>
            <a:r>
              <a:rPr sz="1000" spc="-5" dirty="0">
                <a:latin typeface="Arial"/>
                <a:cs typeface="Arial"/>
              </a:rPr>
              <a:t>if</a:t>
            </a:r>
            <a:r>
              <a:rPr sz="1000" spc="5" dirty="0">
                <a:latin typeface="Arial"/>
                <a:cs typeface="Arial"/>
              </a:rPr>
              <a:t> </a:t>
            </a:r>
            <a:r>
              <a:rPr sz="1000" spc="-5" dirty="0">
                <a:latin typeface="Arial"/>
                <a:cs typeface="Arial"/>
              </a:rPr>
              <a:t>all</a:t>
            </a:r>
            <a:r>
              <a:rPr sz="1000" spc="5" dirty="0">
                <a:latin typeface="Arial"/>
                <a:cs typeface="Arial"/>
              </a:rPr>
              <a:t> </a:t>
            </a:r>
            <a:r>
              <a:rPr sz="1000" spc="-5" dirty="0">
                <a:latin typeface="Arial"/>
                <a:cs typeface="Arial"/>
              </a:rPr>
              <a:t>are</a:t>
            </a:r>
            <a:r>
              <a:rPr sz="1000" spc="25" dirty="0">
                <a:latin typeface="Arial"/>
                <a:cs typeface="Arial"/>
              </a:rPr>
              <a:t> </a:t>
            </a:r>
            <a:r>
              <a:rPr sz="800" spc="30" dirty="0">
                <a:latin typeface="Arial"/>
                <a:cs typeface="Arial"/>
              </a:rPr>
              <a:t>VOTE</a:t>
            </a:r>
            <a:r>
              <a:rPr sz="1000" spc="30" dirty="0">
                <a:latin typeface="Arial"/>
                <a:cs typeface="Arial"/>
              </a:rPr>
              <a:t>-</a:t>
            </a:r>
            <a:r>
              <a:rPr sz="800" spc="30" dirty="0">
                <a:latin typeface="Arial"/>
                <a:cs typeface="Arial"/>
              </a:rPr>
              <a:t>COMMIT</a:t>
            </a:r>
            <a:r>
              <a:rPr sz="1000" spc="30" dirty="0">
                <a:latin typeface="Arial"/>
                <a:cs typeface="Arial"/>
              </a:rPr>
              <a:t>, </a:t>
            </a:r>
            <a:r>
              <a:rPr sz="1000" spc="-26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sends</a:t>
            </a:r>
            <a:r>
              <a:rPr sz="1000" spc="35" dirty="0">
                <a:latin typeface="Arial"/>
                <a:cs typeface="Arial"/>
              </a:rPr>
              <a:t> </a:t>
            </a:r>
            <a:r>
              <a:rPr sz="800" spc="35" dirty="0">
                <a:latin typeface="Arial"/>
                <a:cs typeface="Arial"/>
              </a:rPr>
              <a:t>GLOBAL</a:t>
            </a:r>
            <a:r>
              <a:rPr sz="1000" spc="35" dirty="0">
                <a:latin typeface="Arial"/>
                <a:cs typeface="Arial"/>
              </a:rPr>
              <a:t>-</a:t>
            </a:r>
            <a:r>
              <a:rPr sz="800" spc="35" dirty="0">
                <a:latin typeface="Arial"/>
                <a:cs typeface="Arial"/>
              </a:rPr>
              <a:t>COMMIT</a:t>
            </a:r>
            <a:r>
              <a:rPr sz="800" spc="85"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all</a:t>
            </a:r>
            <a:r>
              <a:rPr sz="1000" dirty="0">
                <a:latin typeface="Arial"/>
                <a:cs typeface="Arial"/>
              </a:rPr>
              <a:t> </a:t>
            </a:r>
            <a:r>
              <a:rPr sz="1000" spc="-5" dirty="0">
                <a:latin typeface="Arial"/>
                <a:cs typeface="Arial"/>
              </a:rPr>
              <a:t>participants,</a:t>
            </a:r>
            <a:r>
              <a:rPr sz="1000" spc="5" dirty="0">
                <a:latin typeface="Arial"/>
                <a:cs typeface="Arial"/>
              </a:rPr>
              <a:t> </a:t>
            </a:r>
            <a:r>
              <a:rPr sz="1000" spc="-5" dirty="0">
                <a:latin typeface="Arial"/>
                <a:cs typeface="Arial"/>
              </a:rPr>
              <a:t>otherwise</a:t>
            </a:r>
            <a:r>
              <a:rPr sz="1000" spc="5" dirty="0">
                <a:latin typeface="Arial"/>
                <a:cs typeface="Arial"/>
              </a:rPr>
              <a:t> </a:t>
            </a:r>
            <a:r>
              <a:rPr sz="1000" spc="-5" dirty="0">
                <a:latin typeface="Arial"/>
                <a:cs typeface="Arial"/>
              </a:rPr>
              <a:t>it</a:t>
            </a:r>
            <a:r>
              <a:rPr sz="1000" spc="5" dirty="0">
                <a:latin typeface="Arial"/>
                <a:cs typeface="Arial"/>
              </a:rPr>
              <a:t> </a:t>
            </a:r>
            <a:r>
              <a:rPr sz="1000" spc="-5" dirty="0">
                <a:latin typeface="Arial"/>
                <a:cs typeface="Arial"/>
              </a:rPr>
              <a:t>sends </a:t>
            </a:r>
            <a:r>
              <a:rPr sz="1000" dirty="0">
                <a:latin typeface="Arial"/>
                <a:cs typeface="Arial"/>
              </a:rPr>
              <a:t> </a:t>
            </a:r>
            <a:r>
              <a:rPr sz="800" spc="35" dirty="0">
                <a:latin typeface="Arial"/>
                <a:cs typeface="Arial"/>
              </a:rPr>
              <a:t>GLOBAL</a:t>
            </a:r>
            <a:r>
              <a:rPr sz="1000" spc="35" dirty="0">
                <a:latin typeface="Arial"/>
                <a:cs typeface="Arial"/>
              </a:rPr>
              <a:t>-</a:t>
            </a:r>
            <a:r>
              <a:rPr sz="800" spc="35" dirty="0">
                <a:latin typeface="Arial"/>
                <a:cs typeface="Arial"/>
              </a:rPr>
              <a:t>ABORT</a:t>
            </a:r>
            <a:endParaRPr sz="800">
              <a:latin typeface="Arial"/>
              <a:cs typeface="Arial"/>
            </a:endParaRPr>
          </a:p>
          <a:p>
            <a:pPr marL="318770" indent="-168275">
              <a:lnSpc>
                <a:spcPts val="1200"/>
              </a:lnSpc>
              <a:spcBef>
                <a:spcPts val="585"/>
              </a:spcBef>
              <a:buClr>
                <a:srgbClr val="3333B2"/>
              </a:buClr>
              <a:buChar char="►"/>
              <a:tabLst>
                <a:tab pos="319405" algn="l"/>
              </a:tabLst>
            </a:pPr>
            <a:r>
              <a:rPr sz="1000" spc="-5" dirty="0">
                <a:solidFill>
                  <a:srgbClr val="FA0000"/>
                </a:solidFill>
                <a:latin typeface="Arial"/>
                <a:cs typeface="Arial"/>
              </a:rPr>
              <a:t>Phase 2b:</a:t>
            </a:r>
            <a:r>
              <a:rPr sz="1000" spc="65" dirty="0">
                <a:solidFill>
                  <a:srgbClr val="FA0000"/>
                </a:solidFill>
                <a:latin typeface="Arial"/>
                <a:cs typeface="Arial"/>
              </a:rPr>
              <a:t> </a:t>
            </a:r>
            <a:r>
              <a:rPr sz="1000" spc="-5" dirty="0">
                <a:latin typeface="Arial"/>
                <a:cs typeface="Arial"/>
              </a:rPr>
              <a:t>Each</a:t>
            </a:r>
            <a:r>
              <a:rPr sz="1000" dirty="0">
                <a:latin typeface="Arial"/>
                <a:cs typeface="Arial"/>
              </a:rPr>
              <a:t> participant</a:t>
            </a:r>
            <a:r>
              <a:rPr sz="1000" spc="-5" dirty="0">
                <a:latin typeface="Arial"/>
                <a:cs typeface="Arial"/>
              </a:rPr>
              <a:t> waits</a:t>
            </a:r>
            <a:r>
              <a:rPr sz="1000" dirty="0">
                <a:latin typeface="Arial"/>
                <a:cs typeface="Arial"/>
              </a:rPr>
              <a:t> </a:t>
            </a:r>
            <a:r>
              <a:rPr sz="1000" spc="-15" dirty="0">
                <a:latin typeface="Arial"/>
                <a:cs typeface="Arial"/>
              </a:rPr>
              <a:t>for</a:t>
            </a:r>
            <a:r>
              <a:rPr sz="1000" spc="25" dirty="0">
                <a:latin typeface="Arial"/>
                <a:cs typeface="Arial"/>
              </a:rPr>
              <a:t> </a:t>
            </a:r>
            <a:r>
              <a:rPr sz="800" spc="35" dirty="0">
                <a:latin typeface="Arial"/>
                <a:cs typeface="Arial"/>
              </a:rPr>
              <a:t>GLOBAL</a:t>
            </a:r>
            <a:r>
              <a:rPr sz="1000" spc="35" dirty="0">
                <a:latin typeface="Arial"/>
                <a:cs typeface="Arial"/>
              </a:rPr>
              <a:t>-</a:t>
            </a:r>
            <a:r>
              <a:rPr sz="800" spc="35" dirty="0">
                <a:latin typeface="Arial"/>
                <a:cs typeface="Arial"/>
              </a:rPr>
              <a:t>COMMIT</a:t>
            </a:r>
            <a:r>
              <a:rPr sz="800" spc="80" dirty="0">
                <a:latin typeface="Arial"/>
                <a:cs typeface="Arial"/>
              </a:rPr>
              <a:t> </a:t>
            </a:r>
            <a:r>
              <a:rPr sz="1000" spc="-5" dirty="0">
                <a:latin typeface="Arial"/>
                <a:cs typeface="Arial"/>
              </a:rPr>
              <a:t>or</a:t>
            </a:r>
            <a:endParaRPr sz="1000">
              <a:latin typeface="Arial"/>
              <a:cs typeface="Arial"/>
            </a:endParaRPr>
          </a:p>
          <a:p>
            <a:pPr marL="321945">
              <a:lnSpc>
                <a:spcPts val="1200"/>
              </a:lnSpc>
            </a:pPr>
            <a:r>
              <a:rPr sz="800" spc="35" dirty="0">
                <a:latin typeface="Arial"/>
                <a:cs typeface="Arial"/>
              </a:rPr>
              <a:t>GLOBAL</a:t>
            </a:r>
            <a:r>
              <a:rPr sz="1000" spc="35" dirty="0">
                <a:latin typeface="Arial"/>
                <a:cs typeface="Arial"/>
              </a:rPr>
              <a:t>-</a:t>
            </a:r>
            <a:r>
              <a:rPr sz="800" spc="35" dirty="0">
                <a:latin typeface="Arial"/>
                <a:cs typeface="Arial"/>
              </a:rPr>
              <a:t>ABORT</a:t>
            </a:r>
            <a:r>
              <a:rPr sz="800" spc="75"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handles</a:t>
            </a:r>
            <a:r>
              <a:rPr sz="1000" dirty="0">
                <a:latin typeface="Arial"/>
                <a:cs typeface="Arial"/>
              </a:rPr>
              <a:t> </a:t>
            </a:r>
            <a:r>
              <a:rPr sz="1000" spc="-15" dirty="0">
                <a:latin typeface="Arial"/>
                <a:cs typeface="Arial"/>
              </a:rPr>
              <a:t>accordingly.</a:t>
            </a:r>
            <a:endParaRPr sz="1000">
              <a:latin typeface="Arial"/>
              <a:cs typeface="Arial"/>
            </a:endParaRP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263140" cy="244475"/>
          </a:xfrm>
          <a:prstGeom prst="rect">
            <a:avLst/>
          </a:prstGeom>
        </p:spPr>
        <p:txBody>
          <a:bodyPr vert="horz" wrap="square" lIns="0" tIns="17145" rIns="0" bIns="0" rtlCol="0">
            <a:spAutoFit/>
          </a:bodyPr>
          <a:lstStyle/>
          <a:p>
            <a:pPr marL="12700">
              <a:lnSpc>
                <a:spcPct val="100000"/>
              </a:lnSpc>
              <a:spcBef>
                <a:spcPts val="135"/>
              </a:spcBef>
            </a:pPr>
            <a:r>
              <a:rPr spc="20" dirty="0"/>
              <a:t>2PC</a:t>
            </a:r>
            <a:r>
              <a:rPr spc="-5" dirty="0"/>
              <a:t> </a:t>
            </a:r>
            <a:r>
              <a:rPr spc="10" dirty="0"/>
              <a:t>-</a:t>
            </a:r>
            <a:r>
              <a:rPr spc="-5" dirty="0"/>
              <a:t> </a:t>
            </a:r>
            <a:r>
              <a:rPr spc="10" dirty="0"/>
              <a:t>Finite</a:t>
            </a:r>
            <a:r>
              <a:rPr spc="-5" dirty="0"/>
              <a:t> </a:t>
            </a:r>
            <a:r>
              <a:rPr spc="15" dirty="0"/>
              <a:t>state</a:t>
            </a:r>
            <a:r>
              <a:rPr spc="-5" dirty="0"/>
              <a:t> </a:t>
            </a:r>
            <a:r>
              <a:rPr spc="15" dirty="0"/>
              <a:t>machines</a:t>
            </a:r>
          </a:p>
        </p:txBody>
      </p:sp>
      <p:grpSp>
        <p:nvGrpSpPr>
          <p:cNvPr id="4" name="object 4"/>
          <p:cNvGrpSpPr/>
          <p:nvPr/>
        </p:nvGrpSpPr>
        <p:grpSpPr>
          <a:xfrm>
            <a:off x="682159" y="1199042"/>
            <a:ext cx="1114425" cy="826135"/>
            <a:chOff x="682159" y="1199042"/>
            <a:chExt cx="1114425" cy="826135"/>
          </a:xfrm>
        </p:grpSpPr>
        <p:sp>
          <p:nvSpPr>
            <p:cNvPr id="5" name="object 5"/>
            <p:cNvSpPr/>
            <p:nvPr/>
          </p:nvSpPr>
          <p:spPr>
            <a:xfrm>
              <a:off x="1012714" y="1201678"/>
              <a:ext cx="781050" cy="815975"/>
            </a:xfrm>
            <a:custGeom>
              <a:avLst/>
              <a:gdLst/>
              <a:ahLst/>
              <a:cxnLst/>
              <a:rect l="l" t="t" r="r" b="b"/>
              <a:pathLst>
                <a:path w="781050" h="815975">
                  <a:moveTo>
                    <a:pt x="399059" y="670906"/>
                  </a:moveTo>
                  <a:lnTo>
                    <a:pt x="727893" y="670906"/>
                  </a:lnTo>
                </a:path>
                <a:path w="781050" h="815975">
                  <a:moveTo>
                    <a:pt x="727893" y="670906"/>
                  </a:moveTo>
                  <a:lnTo>
                    <a:pt x="748484" y="675090"/>
                  </a:lnTo>
                  <a:lnTo>
                    <a:pt x="765347" y="686482"/>
                  </a:lnTo>
                  <a:lnTo>
                    <a:pt x="776741" y="703342"/>
                  </a:lnTo>
                  <a:lnTo>
                    <a:pt x="780925" y="723931"/>
                  </a:lnTo>
                </a:path>
                <a:path w="781050" h="815975">
                  <a:moveTo>
                    <a:pt x="780925" y="723931"/>
                  </a:moveTo>
                  <a:lnTo>
                    <a:pt x="780925" y="762834"/>
                  </a:lnTo>
                </a:path>
                <a:path w="781050" h="815975">
                  <a:moveTo>
                    <a:pt x="780925" y="762834"/>
                  </a:moveTo>
                  <a:lnTo>
                    <a:pt x="776741" y="783427"/>
                  </a:lnTo>
                  <a:lnTo>
                    <a:pt x="765347" y="800292"/>
                  </a:lnTo>
                  <a:lnTo>
                    <a:pt x="748484" y="811687"/>
                  </a:lnTo>
                  <a:lnTo>
                    <a:pt x="727893" y="815873"/>
                  </a:lnTo>
                </a:path>
                <a:path w="781050" h="815975">
                  <a:moveTo>
                    <a:pt x="727893" y="815873"/>
                  </a:moveTo>
                  <a:lnTo>
                    <a:pt x="399059" y="815873"/>
                  </a:lnTo>
                </a:path>
                <a:path w="781050" h="815975">
                  <a:moveTo>
                    <a:pt x="399059" y="815873"/>
                  </a:moveTo>
                  <a:lnTo>
                    <a:pt x="378466" y="811687"/>
                  </a:lnTo>
                  <a:lnTo>
                    <a:pt x="361601" y="800292"/>
                  </a:lnTo>
                  <a:lnTo>
                    <a:pt x="350206" y="783427"/>
                  </a:lnTo>
                  <a:lnTo>
                    <a:pt x="346020" y="762834"/>
                  </a:lnTo>
                </a:path>
                <a:path w="781050" h="815975">
                  <a:moveTo>
                    <a:pt x="346020" y="762834"/>
                  </a:moveTo>
                  <a:lnTo>
                    <a:pt x="346020" y="723931"/>
                  </a:lnTo>
                </a:path>
                <a:path w="781050" h="815975">
                  <a:moveTo>
                    <a:pt x="346020" y="723931"/>
                  </a:moveTo>
                  <a:lnTo>
                    <a:pt x="350206" y="703342"/>
                  </a:lnTo>
                  <a:lnTo>
                    <a:pt x="361601" y="686482"/>
                  </a:lnTo>
                  <a:lnTo>
                    <a:pt x="378466" y="675090"/>
                  </a:lnTo>
                  <a:lnTo>
                    <a:pt x="399059" y="670906"/>
                  </a:lnTo>
                </a:path>
                <a:path w="781050" h="815975">
                  <a:moveTo>
                    <a:pt x="53038" y="0"/>
                  </a:moveTo>
                  <a:lnTo>
                    <a:pt x="381867" y="0"/>
                  </a:lnTo>
                </a:path>
                <a:path w="781050" h="815975">
                  <a:moveTo>
                    <a:pt x="381867" y="0"/>
                  </a:moveTo>
                  <a:lnTo>
                    <a:pt x="402460" y="4185"/>
                  </a:lnTo>
                  <a:lnTo>
                    <a:pt x="419323" y="15582"/>
                  </a:lnTo>
                  <a:lnTo>
                    <a:pt x="430717" y="32448"/>
                  </a:lnTo>
                  <a:lnTo>
                    <a:pt x="434902" y="53042"/>
                  </a:lnTo>
                </a:path>
                <a:path w="781050" h="815975">
                  <a:moveTo>
                    <a:pt x="434902" y="53042"/>
                  </a:moveTo>
                  <a:lnTo>
                    <a:pt x="434902" y="91937"/>
                  </a:lnTo>
                </a:path>
                <a:path w="781050" h="815975">
                  <a:moveTo>
                    <a:pt x="434902" y="91937"/>
                  </a:moveTo>
                  <a:lnTo>
                    <a:pt x="430717" y="112529"/>
                  </a:lnTo>
                  <a:lnTo>
                    <a:pt x="419323" y="129392"/>
                  </a:lnTo>
                  <a:lnTo>
                    <a:pt x="402460" y="140786"/>
                  </a:lnTo>
                  <a:lnTo>
                    <a:pt x="381867" y="144971"/>
                  </a:lnTo>
                </a:path>
                <a:path w="781050" h="815975">
                  <a:moveTo>
                    <a:pt x="381867" y="144971"/>
                  </a:moveTo>
                  <a:lnTo>
                    <a:pt x="53038" y="144971"/>
                  </a:lnTo>
                </a:path>
                <a:path w="781050" h="815975">
                  <a:moveTo>
                    <a:pt x="53038" y="144971"/>
                  </a:moveTo>
                  <a:lnTo>
                    <a:pt x="32445" y="140786"/>
                  </a:lnTo>
                  <a:lnTo>
                    <a:pt x="15580" y="129392"/>
                  </a:lnTo>
                  <a:lnTo>
                    <a:pt x="4185" y="112529"/>
                  </a:lnTo>
                  <a:lnTo>
                    <a:pt x="0" y="91937"/>
                  </a:lnTo>
                </a:path>
                <a:path w="781050" h="815975">
                  <a:moveTo>
                    <a:pt x="0" y="91937"/>
                  </a:moveTo>
                  <a:lnTo>
                    <a:pt x="0" y="53042"/>
                  </a:lnTo>
                </a:path>
                <a:path w="781050" h="815975">
                  <a:moveTo>
                    <a:pt x="0" y="53042"/>
                  </a:moveTo>
                  <a:lnTo>
                    <a:pt x="4185" y="32448"/>
                  </a:lnTo>
                  <a:lnTo>
                    <a:pt x="15580" y="15582"/>
                  </a:lnTo>
                  <a:lnTo>
                    <a:pt x="32445" y="4185"/>
                  </a:lnTo>
                  <a:lnTo>
                    <a:pt x="53038" y="0"/>
                  </a:lnTo>
                </a:path>
                <a:path w="781050" h="815975">
                  <a:moveTo>
                    <a:pt x="63641" y="318223"/>
                  </a:moveTo>
                  <a:lnTo>
                    <a:pt x="392475" y="318223"/>
                  </a:lnTo>
                </a:path>
                <a:path w="781050" h="815975">
                  <a:moveTo>
                    <a:pt x="392475" y="318223"/>
                  </a:moveTo>
                  <a:lnTo>
                    <a:pt x="413067" y="322408"/>
                  </a:lnTo>
                  <a:lnTo>
                    <a:pt x="429930" y="333803"/>
                  </a:lnTo>
                  <a:lnTo>
                    <a:pt x="441324" y="350668"/>
                  </a:lnTo>
                  <a:lnTo>
                    <a:pt x="445509" y="371261"/>
                  </a:lnTo>
                </a:path>
                <a:path w="781050" h="815975">
                  <a:moveTo>
                    <a:pt x="445509" y="371261"/>
                  </a:moveTo>
                  <a:lnTo>
                    <a:pt x="445509" y="410155"/>
                  </a:lnTo>
                </a:path>
                <a:path w="781050" h="815975">
                  <a:moveTo>
                    <a:pt x="445509" y="410155"/>
                  </a:moveTo>
                  <a:lnTo>
                    <a:pt x="441324" y="430747"/>
                  </a:lnTo>
                  <a:lnTo>
                    <a:pt x="429930" y="447611"/>
                  </a:lnTo>
                  <a:lnTo>
                    <a:pt x="413067" y="459005"/>
                  </a:lnTo>
                  <a:lnTo>
                    <a:pt x="392475" y="463190"/>
                  </a:lnTo>
                </a:path>
                <a:path w="781050" h="815975">
                  <a:moveTo>
                    <a:pt x="392475" y="463190"/>
                  </a:moveTo>
                  <a:lnTo>
                    <a:pt x="63641" y="463190"/>
                  </a:lnTo>
                </a:path>
                <a:path w="781050" h="815975">
                  <a:moveTo>
                    <a:pt x="63641" y="463190"/>
                  </a:moveTo>
                  <a:lnTo>
                    <a:pt x="43050" y="459005"/>
                  </a:lnTo>
                  <a:lnTo>
                    <a:pt x="26187" y="447611"/>
                  </a:lnTo>
                  <a:lnTo>
                    <a:pt x="14791" y="430747"/>
                  </a:lnTo>
                  <a:lnTo>
                    <a:pt x="10606" y="410155"/>
                  </a:lnTo>
                </a:path>
                <a:path w="781050" h="815975">
                  <a:moveTo>
                    <a:pt x="10606" y="410155"/>
                  </a:moveTo>
                  <a:lnTo>
                    <a:pt x="10606" y="371261"/>
                  </a:lnTo>
                </a:path>
                <a:path w="781050" h="815975">
                  <a:moveTo>
                    <a:pt x="10606" y="371261"/>
                  </a:moveTo>
                  <a:lnTo>
                    <a:pt x="14791" y="350668"/>
                  </a:lnTo>
                  <a:lnTo>
                    <a:pt x="26187" y="333803"/>
                  </a:lnTo>
                  <a:lnTo>
                    <a:pt x="43050" y="322408"/>
                  </a:lnTo>
                  <a:lnTo>
                    <a:pt x="63641" y="318223"/>
                  </a:lnTo>
                </a:path>
                <a:path w="781050" h="815975">
                  <a:moveTo>
                    <a:pt x="212146" y="144971"/>
                  </a:moveTo>
                  <a:lnTo>
                    <a:pt x="213163" y="280847"/>
                  </a:lnTo>
                </a:path>
              </a:pathLst>
            </a:custGeom>
            <a:ln w="5270">
              <a:solidFill>
                <a:srgbClr val="231F20"/>
              </a:solidFill>
            </a:ln>
          </p:spPr>
          <p:txBody>
            <a:bodyPr wrap="square" lIns="0" tIns="0" rIns="0" bIns="0" rtlCol="0"/>
            <a:lstStyle/>
            <a:p>
              <a:endParaRPr/>
            </a:p>
          </p:txBody>
        </p:sp>
        <p:sp>
          <p:nvSpPr>
            <p:cNvPr id="6" name="object 6"/>
            <p:cNvSpPr/>
            <p:nvPr/>
          </p:nvSpPr>
          <p:spPr>
            <a:xfrm>
              <a:off x="1193723" y="1445286"/>
              <a:ext cx="64135" cy="74930"/>
            </a:xfrm>
            <a:custGeom>
              <a:avLst/>
              <a:gdLst/>
              <a:ahLst/>
              <a:cxnLst/>
              <a:rect l="l" t="t" r="r" b="b"/>
              <a:pathLst>
                <a:path w="64134" h="74930">
                  <a:moveTo>
                    <a:pt x="63747" y="0"/>
                  </a:moveTo>
                  <a:lnTo>
                    <a:pt x="47856" y="6096"/>
                  </a:lnTo>
                  <a:lnTo>
                    <a:pt x="31933" y="8208"/>
                  </a:lnTo>
                  <a:lnTo>
                    <a:pt x="15981" y="6335"/>
                  </a:lnTo>
                  <a:lnTo>
                    <a:pt x="0" y="477"/>
                  </a:lnTo>
                  <a:lnTo>
                    <a:pt x="32429" y="74615"/>
                  </a:lnTo>
                  <a:lnTo>
                    <a:pt x="63747" y="0"/>
                  </a:lnTo>
                  <a:close/>
                </a:path>
              </a:pathLst>
            </a:custGeom>
            <a:solidFill>
              <a:srgbClr val="231F20"/>
            </a:solidFill>
          </p:spPr>
          <p:txBody>
            <a:bodyPr wrap="square" lIns="0" tIns="0" rIns="0" bIns="0" rtlCol="0"/>
            <a:lstStyle/>
            <a:p>
              <a:endParaRPr/>
            </a:p>
          </p:txBody>
        </p:sp>
        <p:pic>
          <p:nvPicPr>
            <p:cNvPr id="7" name="object 7"/>
            <p:cNvPicPr/>
            <p:nvPr/>
          </p:nvPicPr>
          <p:blipFill>
            <a:blip r:embed="rId5" cstate="print"/>
            <a:stretch>
              <a:fillRect/>
            </a:stretch>
          </p:blipFill>
          <p:spPr>
            <a:xfrm>
              <a:off x="1338909" y="1662233"/>
              <a:ext cx="211592" cy="210351"/>
            </a:xfrm>
            <a:prstGeom prst="rect">
              <a:avLst/>
            </a:prstGeom>
          </p:spPr>
        </p:pic>
        <p:sp>
          <p:nvSpPr>
            <p:cNvPr id="8" name="object 8"/>
            <p:cNvSpPr/>
            <p:nvPr/>
          </p:nvSpPr>
          <p:spPr>
            <a:xfrm>
              <a:off x="684794" y="1877014"/>
              <a:ext cx="434975" cy="145415"/>
            </a:xfrm>
            <a:custGeom>
              <a:avLst/>
              <a:gdLst/>
              <a:ahLst/>
              <a:cxnLst/>
              <a:rect l="l" t="t" r="r" b="b"/>
              <a:pathLst>
                <a:path w="434975" h="145414">
                  <a:moveTo>
                    <a:pt x="53034" y="0"/>
                  </a:moveTo>
                  <a:lnTo>
                    <a:pt x="381864" y="0"/>
                  </a:lnTo>
                </a:path>
                <a:path w="434975" h="145414">
                  <a:moveTo>
                    <a:pt x="381864" y="0"/>
                  </a:moveTo>
                  <a:lnTo>
                    <a:pt x="402458" y="4185"/>
                  </a:lnTo>
                  <a:lnTo>
                    <a:pt x="419321" y="15580"/>
                  </a:lnTo>
                  <a:lnTo>
                    <a:pt x="430714" y="32443"/>
                  </a:lnTo>
                  <a:lnTo>
                    <a:pt x="434898" y="53034"/>
                  </a:lnTo>
                </a:path>
                <a:path w="434975" h="145414">
                  <a:moveTo>
                    <a:pt x="434898" y="53034"/>
                  </a:moveTo>
                  <a:lnTo>
                    <a:pt x="434898" y="91928"/>
                  </a:lnTo>
                </a:path>
                <a:path w="434975" h="145414">
                  <a:moveTo>
                    <a:pt x="434898" y="91928"/>
                  </a:moveTo>
                  <a:lnTo>
                    <a:pt x="430714" y="112525"/>
                  </a:lnTo>
                  <a:lnTo>
                    <a:pt x="419321" y="129389"/>
                  </a:lnTo>
                  <a:lnTo>
                    <a:pt x="402458" y="140783"/>
                  </a:lnTo>
                  <a:lnTo>
                    <a:pt x="381864" y="144967"/>
                  </a:lnTo>
                </a:path>
                <a:path w="434975" h="145414">
                  <a:moveTo>
                    <a:pt x="381864" y="144967"/>
                  </a:moveTo>
                  <a:lnTo>
                    <a:pt x="53034" y="144967"/>
                  </a:lnTo>
                </a:path>
                <a:path w="434975" h="145414">
                  <a:moveTo>
                    <a:pt x="53034" y="144967"/>
                  </a:moveTo>
                  <a:lnTo>
                    <a:pt x="32440" y="140783"/>
                  </a:lnTo>
                  <a:lnTo>
                    <a:pt x="15577" y="129389"/>
                  </a:lnTo>
                  <a:lnTo>
                    <a:pt x="4184" y="112525"/>
                  </a:lnTo>
                  <a:lnTo>
                    <a:pt x="0" y="91928"/>
                  </a:lnTo>
                </a:path>
                <a:path w="434975" h="145414">
                  <a:moveTo>
                    <a:pt x="0" y="91928"/>
                  </a:moveTo>
                  <a:lnTo>
                    <a:pt x="0" y="53034"/>
                  </a:lnTo>
                </a:path>
                <a:path w="434975" h="145414">
                  <a:moveTo>
                    <a:pt x="0" y="53034"/>
                  </a:moveTo>
                  <a:lnTo>
                    <a:pt x="4184" y="32443"/>
                  </a:lnTo>
                  <a:lnTo>
                    <a:pt x="15577" y="15580"/>
                  </a:lnTo>
                  <a:lnTo>
                    <a:pt x="32440" y="4185"/>
                  </a:lnTo>
                  <a:lnTo>
                    <a:pt x="53034" y="0"/>
                  </a:lnTo>
                </a:path>
              </a:pathLst>
            </a:custGeom>
            <a:ln w="5270">
              <a:solidFill>
                <a:srgbClr val="231F20"/>
              </a:solidFill>
            </a:ln>
          </p:spPr>
          <p:txBody>
            <a:bodyPr wrap="square" lIns="0" tIns="0" rIns="0" bIns="0" rtlCol="0"/>
            <a:lstStyle/>
            <a:p>
              <a:endParaRPr/>
            </a:p>
          </p:txBody>
        </p:sp>
        <p:pic>
          <p:nvPicPr>
            <p:cNvPr id="9" name="object 9"/>
            <p:cNvPicPr/>
            <p:nvPr/>
          </p:nvPicPr>
          <p:blipFill>
            <a:blip r:embed="rId6" cstate="print"/>
            <a:stretch>
              <a:fillRect/>
            </a:stretch>
          </p:blipFill>
          <p:spPr>
            <a:xfrm>
              <a:off x="940623" y="1663974"/>
              <a:ext cx="211590" cy="213040"/>
            </a:xfrm>
            <a:prstGeom prst="rect">
              <a:avLst/>
            </a:prstGeom>
          </p:spPr>
        </p:pic>
      </p:grpSp>
      <p:sp>
        <p:nvSpPr>
          <p:cNvPr id="10" name="object 10"/>
          <p:cNvSpPr/>
          <p:nvPr/>
        </p:nvSpPr>
        <p:spPr>
          <a:xfrm>
            <a:off x="586936" y="1403065"/>
            <a:ext cx="488315" cy="0"/>
          </a:xfrm>
          <a:custGeom>
            <a:avLst/>
            <a:gdLst/>
            <a:ahLst/>
            <a:cxnLst/>
            <a:rect l="l" t="t" r="r" b="b"/>
            <a:pathLst>
              <a:path w="488315">
                <a:moveTo>
                  <a:pt x="0" y="0"/>
                </a:moveTo>
                <a:lnTo>
                  <a:pt x="487937" y="0"/>
                </a:lnTo>
              </a:path>
            </a:pathLst>
          </a:custGeom>
          <a:ln w="5270">
            <a:solidFill>
              <a:srgbClr val="231F20"/>
            </a:solidFill>
          </a:ln>
        </p:spPr>
        <p:txBody>
          <a:bodyPr wrap="square" lIns="0" tIns="0" rIns="0" bIns="0" rtlCol="0"/>
          <a:lstStyle/>
          <a:p>
            <a:endParaRPr/>
          </a:p>
        </p:txBody>
      </p:sp>
      <p:sp>
        <p:nvSpPr>
          <p:cNvPr id="11" name="object 11"/>
          <p:cNvSpPr txBox="1"/>
          <p:nvPr/>
        </p:nvSpPr>
        <p:spPr>
          <a:xfrm>
            <a:off x="1136875" y="1211025"/>
            <a:ext cx="184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INIT</a:t>
            </a:r>
            <a:endParaRPr sz="650">
              <a:latin typeface="Arial"/>
              <a:cs typeface="Arial"/>
            </a:endParaRPr>
          </a:p>
        </p:txBody>
      </p:sp>
      <p:sp>
        <p:nvSpPr>
          <p:cNvPr id="12" name="object 12"/>
          <p:cNvSpPr txBox="1"/>
          <p:nvPr/>
        </p:nvSpPr>
        <p:spPr>
          <a:xfrm>
            <a:off x="1121936" y="1524769"/>
            <a:ext cx="233679" cy="127000"/>
          </a:xfrm>
          <a:prstGeom prst="rect">
            <a:avLst/>
          </a:prstGeom>
        </p:spPr>
        <p:txBody>
          <a:bodyPr vert="horz" wrap="square" lIns="0" tIns="13970" rIns="0" bIns="0" rtlCol="0">
            <a:spAutoFit/>
          </a:bodyPr>
          <a:lstStyle/>
          <a:p>
            <a:pPr marL="12700">
              <a:lnSpc>
                <a:spcPct val="100000"/>
              </a:lnSpc>
              <a:spcBef>
                <a:spcPts val="110"/>
              </a:spcBef>
            </a:pPr>
            <a:r>
              <a:rPr sz="650" spc="-15" dirty="0">
                <a:solidFill>
                  <a:srgbClr val="231F20"/>
                </a:solidFill>
                <a:latin typeface="Arial"/>
                <a:cs typeface="Arial"/>
              </a:rPr>
              <a:t>W</a:t>
            </a:r>
            <a:r>
              <a:rPr sz="650" spc="5" dirty="0">
                <a:solidFill>
                  <a:srgbClr val="231F20"/>
                </a:solidFill>
                <a:latin typeface="Arial"/>
                <a:cs typeface="Arial"/>
              </a:rPr>
              <a:t>AIT</a:t>
            </a:r>
            <a:endParaRPr sz="650">
              <a:latin typeface="Arial"/>
              <a:cs typeface="Arial"/>
            </a:endParaRPr>
          </a:p>
        </p:txBody>
      </p:sp>
      <p:sp>
        <p:nvSpPr>
          <p:cNvPr id="13" name="object 13"/>
          <p:cNvSpPr txBox="1"/>
          <p:nvPr/>
        </p:nvSpPr>
        <p:spPr>
          <a:xfrm>
            <a:off x="584098" y="1291096"/>
            <a:ext cx="3162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Commit</a:t>
            </a:r>
            <a:endParaRPr sz="650">
              <a:latin typeface="Arial"/>
              <a:cs typeface="Arial"/>
            </a:endParaRPr>
          </a:p>
        </p:txBody>
      </p:sp>
      <p:sp>
        <p:nvSpPr>
          <p:cNvPr id="14" name="object 14"/>
          <p:cNvSpPr txBox="1"/>
          <p:nvPr/>
        </p:nvSpPr>
        <p:spPr>
          <a:xfrm>
            <a:off x="584098" y="1385302"/>
            <a:ext cx="503555" cy="127000"/>
          </a:xfrm>
          <a:prstGeom prst="rect">
            <a:avLst/>
          </a:prstGeom>
        </p:spPr>
        <p:txBody>
          <a:bodyPr vert="horz" wrap="square" lIns="0" tIns="13970" rIns="0" bIns="0" rtlCol="0">
            <a:spAutoFit/>
          </a:bodyPr>
          <a:lstStyle/>
          <a:p>
            <a:pPr marL="12700">
              <a:lnSpc>
                <a:spcPct val="100000"/>
              </a:lnSpc>
              <a:spcBef>
                <a:spcPts val="110"/>
              </a:spcBef>
            </a:pPr>
            <a:r>
              <a:rPr sz="650" dirty="0">
                <a:solidFill>
                  <a:srgbClr val="231F20"/>
                </a:solidFill>
                <a:latin typeface="Arial"/>
                <a:cs typeface="Arial"/>
              </a:rPr>
              <a:t>Vote-request</a:t>
            </a:r>
            <a:endParaRPr sz="650">
              <a:latin typeface="Arial"/>
              <a:cs typeface="Arial"/>
            </a:endParaRPr>
          </a:p>
        </p:txBody>
      </p:sp>
      <p:sp>
        <p:nvSpPr>
          <p:cNvPr id="15" name="object 15"/>
          <p:cNvSpPr txBox="1"/>
          <p:nvPr/>
        </p:nvSpPr>
        <p:spPr>
          <a:xfrm>
            <a:off x="449445" y="1626760"/>
            <a:ext cx="489584" cy="220979"/>
          </a:xfrm>
          <a:prstGeom prst="rect">
            <a:avLst/>
          </a:prstGeom>
        </p:spPr>
        <p:txBody>
          <a:bodyPr vert="horz" wrap="square" lIns="0" tIns="21590" rIns="0" bIns="0" rtlCol="0">
            <a:spAutoFit/>
          </a:bodyPr>
          <a:lstStyle/>
          <a:p>
            <a:pPr marL="12700" marR="5080">
              <a:lnSpc>
                <a:spcPts val="740"/>
              </a:lnSpc>
              <a:spcBef>
                <a:spcPts val="170"/>
              </a:spcBef>
            </a:pPr>
            <a:r>
              <a:rPr sz="650" u="sng" dirty="0">
                <a:solidFill>
                  <a:srgbClr val="231F20"/>
                </a:solidFill>
                <a:uFill>
                  <a:solidFill>
                    <a:srgbClr val="231F20"/>
                  </a:solidFill>
                </a:uFill>
                <a:latin typeface="Arial"/>
                <a:cs typeface="Arial"/>
              </a:rPr>
              <a:t>Vote-abort </a:t>
            </a:r>
            <a:r>
              <a:rPr sz="650" spc="5" dirty="0">
                <a:solidFill>
                  <a:srgbClr val="231F20"/>
                </a:solidFill>
                <a:latin typeface="Arial"/>
                <a:cs typeface="Arial"/>
              </a:rPr>
              <a:t> Global-abort</a:t>
            </a:r>
            <a:endParaRPr sz="650">
              <a:latin typeface="Arial"/>
              <a:cs typeface="Arial"/>
            </a:endParaRPr>
          </a:p>
        </p:txBody>
      </p:sp>
      <p:sp>
        <p:nvSpPr>
          <p:cNvPr id="16" name="object 16"/>
          <p:cNvSpPr txBox="1"/>
          <p:nvPr/>
        </p:nvSpPr>
        <p:spPr>
          <a:xfrm>
            <a:off x="1545330" y="1626756"/>
            <a:ext cx="578485" cy="220979"/>
          </a:xfrm>
          <a:prstGeom prst="rect">
            <a:avLst/>
          </a:prstGeom>
        </p:spPr>
        <p:txBody>
          <a:bodyPr vert="horz" wrap="square" lIns="0" tIns="21590" rIns="0" bIns="0" rtlCol="0">
            <a:spAutoFit/>
          </a:bodyPr>
          <a:lstStyle/>
          <a:p>
            <a:pPr marL="12700" marR="5080">
              <a:lnSpc>
                <a:spcPts val="740"/>
              </a:lnSpc>
              <a:spcBef>
                <a:spcPts val="170"/>
              </a:spcBef>
            </a:pPr>
            <a:r>
              <a:rPr sz="650" u="sng" dirty="0">
                <a:solidFill>
                  <a:srgbClr val="231F20"/>
                </a:solidFill>
                <a:uFill>
                  <a:solidFill>
                    <a:srgbClr val="231F20"/>
                  </a:solidFill>
                </a:uFill>
                <a:latin typeface="Arial"/>
                <a:cs typeface="Arial"/>
              </a:rPr>
              <a:t>Vote-commit </a:t>
            </a:r>
            <a:r>
              <a:rPr sz="650" spc="5" dirty="0">
                <a:solidFill>
                  <a:srgbClr val="231F20"/>
                </a:solidFill>
                <a:latin typeface="Arial"/>
                <a:cs typeface="Arial"/>
              </a:rPr>
              <a:t> Global-commit</a:t>
            </a:r>
            <a:endParaRPr sz="650">
              <a:latin typeface="Arial"/>
              <a:cs typeface="Arial"/>
            </a:endParaRPr>
          </a:p>
        </p:txBody>
      </p:sp>
      <p:sp>
        <p:nvSpPr>
          <p:cNvPr id="17" name="object 17"/>
          <p:cNvSpPr txBox="1"/>
          <p:nvPr/>
        </p:nvSpPr>
        <p:spPr>
          <a:xfrm>
            <a:off x="740228" y="1883327"/>
            <a:ext cx="1027430" cy="368300"/>
          </a:xfrm>
          <a:prstGeom prst="rect">
            <a:avLst/>
          </a:prstGeom>
        </p:spPr>
        <p:txBody>
          <a:bodyPr vert="horz" wrap="square" lIns="0" tIns="13970" rIns="0" bIns="0" rtlCol="0">
            <a:spAutoFit/>
          </a:bodyPr>
          <a:lstStyle/>
          <a:p>
            <a:pPr marL="12700">
              <a:lnSpc>
                <a:spcPct val="100000"/>
              </a:lnSpc>
              <a:spcBef>
                <a:spcPts val="110"/>
              </a:spcBef>
              <a:tabLst>
                <a:tab pos="672465" algn="l"/>
              </a:tabLst>
            </a:pPr>
            <a:r>
              <a:rPr sz="650" spc="5" dirty="0">
                <a:solidFill>
                  <a:srgbClr val="231F20"/>
                </a:solidFill>
                <a:latin typeface="Arial"/>
                <a:cs typeface="Arial"/>
              </a:rPr>
              <a:t>ABO</a:t>
            </a:r>
            <a:r>
              <a:rPr sz="650" spc="-5" dirty="0">
                <a:solidFill>
                  <a:srgbClr val="231F20"/>
                </a:solidFill>
                <a:latin typeface="Arial"/>
                <a:cs typeface="Arial"/>
              </a:rPr>
              <a:t>R</a:t>
            </a:r>
            <a:r>
              <a:rPr sz="650" spc="5" dirty="0">
                <a:solidFill>
                  <a:srgbClr val="231F20"/>
                </a:solidFill>
                <a:latin typeface="Arial"/>
                <a:cs typeface="Arial"/>
              </a:rPr>
              <a:t>T</a:t>
            </a:r>
            <a:r>
              <a:rPr sz="650" dirty="0">
                <a:solidFill>
                  <a:srgbClr val="231F20"/>
                </a:solidFill>
                <a:latin typeface="Arial"/>
                <a:cs typeface="Arial"/>
              </a:rPr>
              <a:t>	</a:t>
            </a:r>
            <a:r>
              <a:rPr sz="975" spc="7" baseline="4273" dirty="0">
                <a:solidFill>
                  <a:srgbClr val="231F20"/>
                </a:solidFill>
                <a:latin typeface="Arial"/>
                <a:cs typeface="Arial"/>
              </a:rPr>
              <a:t>COMMIT</a:t>
            </a:r>
            <a:endParaRPr sz="975" baseline="4273">
              <a:latin typeface="Arial"/>
              <a:cs typeface="Arial"/>
            </a:endParaRPr>
          </a:p>
          <a:p>
            <a:pPr>
              <a:lnSpc>
                <a:spcPct val="100000"/>
              </a:lnSpc>
              <a:spcBef>
                <a:spcPts val="15"/>
              </a:spcBef>
            </a:pPr>
            <a:endParaRPr sz="600">
              <a:latin typeface="Arial"/>
              <a:cs typeface="Arial"/>
            </a:endParaRPr>
          </a:p>
          <a:p>
            <a:pPr marL="219075">
              <a:lnSpc>
                <a:spcPct val="100000"/>
              </a:lnSpc>
              <a:spcBef>
                <a:spcPts val="5"/>
              </a:spcBef>
            </a:pPr>
            <a:r>
              <a:rPr sz="1000" spc="-5" dirty="0">
                <a:latin typeface="Arial"/>
                <a:cs typeface="Arial"/>
              </a:rPr>
              <a:t>Coordinator</a:t>
            </a:r>
            <a:endParaRPr sz="1000">
              <a:latin typeface="Arial"/>
              <a:cs typeface="Arial"/>
            </a:endParaRPr>
          </a:p>
        </p:txBody>
      </p:sp>
      <p:grpSp>
        <p:nvGrpSpPr>
          <p:cNvPr id="18" name="object 18"/>
          <p:cNvGrpSpPr/>
          <p:nvPr/>
        </p:nvGrpSpPr>
        <p:grpSpPr>
          <a:xfrm>
            <a:off x="2476079" y="1201043"/>
            <a:ext cx="1317625" cy="824230"/>
            <a:chOff x="2476079" y="1201043"/>
            <a:chExt cx="1317625" cy="824230"/>
          </a:xfrm>
        </p:grpSpPr>
        <p:sp>
          <p:nvSpPr>
            <p:cNvPr id="19" name="object 19"/>
            <p:cNvSpPr/>
            <p:nvPr/>
          </p:nvSpPr>
          <p:spPr>
            <a:xfrm>
              <a:off x="3006760" y="1203901"/>
              <a:ext cx="783590" cy="818515"/>
            </a:xfrm>
            <a:custGeom>
              <a:avLst/>
              <a:gdLst/>
              <a:ahLst/>
              <a:cxnLst/>
              <a:rect l="l" t="t" r="r" b="b"/>
              <a:pathLst>
                <a:path w="783589" h="818514">
                  <a:moveTo>
                    <a:pt x="401599" y="673491"/>
                  </a:moveTo>
                  <a:lnTo>
                    <a:pt x="730425" y="673491"/>
                  </a:lnTo>
                </a:path>
                <a:path w="783589" h="818514">
                  <a:moveTo>
                    <a:pt x="730425" y="673491"/>
                  </a:moveTo>
                  <a:lnTo>
                    <a:pt x="751021" y="677676"/>
                  </a:lnTo>
                  <a:lnTo>
                    <a:pt x="767883" y="689069"/>
                  </a:lnTo>
                  <a:lnTo>
                    <a:pt x="779274" y="705932"/>
                  </a:lnTo>
                  <a:lnTo>
                    <a:pt x="783457" y="726526"/>
                  </a:lnTo>
                </a:path>
                <a:path w="783589" h="818514">
                  <a:moveTo>
                    <a:pt x="783457" y="726526"/>
                  </a:moveTo>
                  <a:lnTo>
                    <a:pt x="783457" y="765420"/>
                  </a:lnTo>
                </a:path>
                <a:path w="783589" h="818514">
                  <a:moveTo>
                    <a:pt x="783457" y="765420"/>
                  </a:moveTo>
                  <a:lnTo>
                    <a:pt x="779274" y="786012"/>
                  </a:lnTo>
                  <a:lnTo>
                    <a:pt x="767883" y="802874"/>
                  </a:lnTo>
                  <a:lnTo>
                    <a:pt x="751021" y="814267"/>
                  </a:lnTo>
                  <a:lnTo>
                    <a:pt x="730425" y="818451"/>
                  </a:lnTo>
                </a:path>
                <a:path w="783589" h="818514">
                  <a:moveTo>
                    <a:pt x="730425" y="818451"/>
                  </a:moveTo>
                  <a:lnTo>
                    <a:pt x="401599" y="818451"/>
                  </a:lnTo>
                </a:path>
                <a:path w="783589" h="818514">
                  <a:moveTo>
                    <a:pt x="401599" y="818451"/>
                  </a:moveTo>
                  <a:lnTo>
                    <a:pt x="381002" y="814267"/>
                  </a:lnTo>
                  <a:lnTo>
                    <a:pt x="364136" y="802874"/>
                  </a:lnTo>
                  <a:lnTo>
                    <a:pt x="352741" y="786012"/>
                  </a:lnTo>
                  <a:lnTo>
                    <a:pt x="348557" y="765420"/>
                  </a:lnTo>
                </a:path>
                <a:path w="783589" h="818514">
                  <a:moveTo>
                    <a:pt x="348557" y="765420"/>
                  </a:moveTo>
                  <a:lnTo>
                    <a:pt x="348557" y="726526"/>
                  </a:lnTo>
                </a:path>
                <a:path w="783589" h="818514">
                  <a:moveTo>
                    <a:pt x="348557" y="726526"/>
                  </a:moveTo>
                  <a:lnTo>
                    <a:pt x="352741" y="705932"/>
                  </a:lnTo>
                  <a:lnTo>
                    <a:pt x="364136" y="689069"/>
                  </a:lnTo>
                  <a:lnTo>
                    <a:pt x="381002" y="677676"/>
                  </a:lnTo>
                  <a:lnTo>
                    <a:pt x="401599" y="673491"/>
                  </a:lnTo>
                </a:path>
                <a:path w="783589" h="818514">
                  <a:moveTo>
                    <a:pt x="53033" y="0"/>
                  </a:moveTo>
                  <a:lnTo>
                    <a:pt x="381866" y="0"/>
                  </a:lnTo>
                </a:path>
                <a:path w="783589" h="818514">
                  <a:moveTo>
                    <a:pt x="381866" y="0"/>
                  </a:moveTo>
                  <a:lnTo>
                    <a:pt x="402457" y="4185"/>
                  </a:lnTo>
                  <a:lnTo>
                    <a:pt x="419320" y="15581"/>
                  </a:lnTo>
                  <a:lnTo>
                    <a:pt x="430713" y="32447"/>
                  </a:lnTo>
                  <a:lnTo>
                    <a:pt x="434898" y="53043"/>
                  </a:lnTo>
                </a:path>
                <a:path w="783589" h="818514">
                  <a:moveTo>
                    <a:pt x="434898" y="53043"/>
                  </a:moveTo>
                  <a:lnTo>
                    <a:pt x="434898" y="91929"/>
                  </a:lnTo>
                </a:path>
                <a:path w="783589" h="818514">
                  <a:moveTo>
                    <a:pt x="434898" y="91929"/>
                  </a:moveTo>
                  <a:lnTo>
                    <a:pt x="430713" y="112525"/>
                  </a:lnTo>
                  <a:lnTo>
                    <a:pt x="419320" y="129390"/>
                  </a:lnTo>
                  <a:lnTo>
                    <a:pt x="402457" y="140783"/>
                  </a:lnTo>
                  <a:lnTo>
                    <a:pt x="381866" y="144968"/>
                  </a:lnTo>
                </a:path>
                <a:path w="783589" h="818514">
                  <a:moveTo>
                    <a:pt x="381866" y="144968"/>
                  </a:moveTo>
                  <a:lnTo>
                    <a:pt x="53033" y="144968"/>
                  </a:lnTo>
                </a:path>
                <a:path w="783589" h="818514">
                  <a:moveTo>
                    <a:pt x="53033" y="144968"/>
                  </a:moveTo>
                  <a:lnTo>
                    <a:pt x="32442" y="140783"/>
                  </a:lnTo>
                  <a:lnTo>
                    <a:pt x="15578" y="129390"/>
                  </a:lnTo>
                  <a:lnTo>
                    <a:pt x="4184" y="112525"/>
                  </a:lnTo>
                  <a:lnTo>
                    <a:pt x="0" y="91929"/>
                  </a:lnTo>
                </a:path>
                <a:path w="783589" h="818514">
                  <a:moveTo>
                    <a:pt x="0" y="91929"/>
                  </a:moveTo>
                  <a:lnTo>
                    <a:pt x="0" y="53043"/>
                  </a:lnTo>
                </a:path>
                <a:path w="783589" h="818514">
                  <a:moveTo>
                    <a:pt x="0" y="53043"/>
                  </a:moveTo>
                  <a:lnTo>
                    <a:pt x="4184" y="32447"/>
                  </a:lnTo>
                  <a:lnTo>
                    <a:pt x="15578" y="15581"/>
                  </a:lnTo>
                  <a:lnTo>
                    <a:pt x="32442" y="4185"/>
                  </a:lnTo>
                  <a:lnTo>
                    <a:pt x="53033" y="0"/>
                  </a:lnTo>
                </a:path>
                <a:path w="783589" h="818514">
                  <a:moveTo>
                    <a:pt x="63641" y="318223"/>
                  </a:moveTo>
                  <a:lnTo>
                    <a:pt x="392481" y="318223"/>
                  </a:lnTo>
                </a:path>
                <a:path w="783589" h="818514">
                  <a:moveTo>
                    <a:pt x="392481" y="318223"/>
                  </a:moveTo>
                  <a:lnTo>
                    <a:pt x="413070" y="322408"/>
                  </a:lnTo>
                  <a:lnTo>
                    <a:pt x="429929" y="333802"/>
                  </a:lnTo>
                  <a:lnTo>
                    <a:pt x="441319" y="350667"/>
                  </a:lnTo>
                  <a:lnTo>
                    <a:pt x="445502" y="371261"/>
                  </a:lnTo>
                </a:path>
                <a:path w="783589" h="818514">
                  <a:moveTo>
                    <a:pt x="445502" y="371261"/>
                  </a:moveTo>
                  <a:lnTo>
                    <a:pt x="445502" y="410156"/>
                  </a:lnTo>
                </a:path>
                <a:path w="783589" h="818514">
                  <a:moveTo>
                    <a:pt x="445502" y="410156"/>
                  </a:moveTo>
                  <a:lnTo>
                    <a:pt x="441319" y="430748"/>
                  </a:lnTo>
                  <a:lnTo>
                    <a:pt x="429929" y="447611"/>
                  </a:lnTo>
                  <a:lnTo>
                    <a:pt x="413070" y="459005"/>
                  </a:lnTo>
                  <a:lnTo>
                    <a:pt x="392481" y="463190"/>
                  </a:lnTo>
                </a:path>
                <a:path w="783589" h="818514">
                  <a:moveTo>
                    <a:pt x="392481" y="463190"/>
                  </a:moveTo>
                  <a:lnTo>
                    <a:pt x="63641" y="463190"/>
                  </a:lnTo>
                </a:path>
                <a:path w="783589" h="818514">
                  <a:moveTo>
                    <a:pt x="63641" y="463190"/>
                  </a:moveTo>
                  <a:lnTo>
                    <a:pt x="43048" y="459005"/>
                  </a:lnTo>
                  <a:lnTo>
                    <a:pt x="26183" y="447611"/>
                  </a:lnTo>
                  <a:lnTo>
                    <a:pt x="14787" y="430748"/>
                  </a:lnTo>
                  <a:lnTo>
                    <a:pt x="10602" y="410156"/>
                  </a:lnTo>
                </a:path>
                <a:path w="783589" h="818514">
                  <a:moveTo>
                    <a:pt x="10602" y="410156"/>
                  </a:moveTo>
                  <a:lnTo>
                    <a:pt x="10602" y="371261"/>
                  </a:lnTo>
                </a:path>
                <a:path w="783589" h="818514">
                  <a:moveTo>
                    <a:pt x="10602" y="371261"/>
                  </a:moveTo>
                  <a:lnTo>
                    <a:pt x="14787" y="350667"/>
                  </a:lnTo>
                  <a:lnTo>
                    <a:pt x="26183" y="333802"/>
                  </a:lnTo>
                  <a:lnTo>
                    <a:pt x="43048" y="322408"/>
                  </a:lnTo>
                  <a:lnTo>
                    <a:pt x="63641" y="318223"/>
                  </a:lnTo>
                </a:path>
                <a:path w="783589" h="818514">
                  <a:moveTo>
                    <a:pt x="212141" y="144968"/>
                  </a:moveTo>
                  <a:lnTo>
                    <a:pt x="213154" y="280848"/>
                  </a:lnTo>
                </a:path>
              </a:pathLst>
            </a:custGeom>
            <a:ln w="5270">
              <a:solidFill>
                <a:srgbClr val="231F20"/>
              </a:solidFill>
            </a:ln>
          </p:spPr>
          <p:txBody>
            <a:bodyPr wrap="square" lIns="0" tIns="0" rIns="0" bIns="0" rtlCol="0"/>
            <a:lstStyle/>
            <a:p>
              <a:endParaRPr/>
            </a:p>
          </p:txBody>
        </p:sp>
        <p:sp>
          <p:nvSpPr>
            <p:cNvPr id="20" name="object 20"/>
            <p:cNvSpPr/>
            <p:nvPr/>
          </p:nvSpPr>
          <p:spPr>
            <a:xfrm>
              <a:off x="3187765" y="1447510"/>
              <a:ext cx="64135" cy="74930"/>
            </a:xfrm>
            <a:custGeom>
              <a:avLst/>
              <a:gdLst/>
              <a:ahLst/>
              <a:cxnLst/>
              <a:rect l="l" t="t" r="r" b="b"/>
              <a:pathLst>
                <a:path w="64135" h="74930">
                  <a:moveTo>
                    <a:pt x="63747" y="0"/>
                  </a:moveTo>
                  <a:lnTo>
                    <a:pt x="47856" y="6095"/>
                  </a:lnTo>
                  <a:lnTo>
                    <a:pt x="31933" y="8207"/>
                  </a:lnTo>
                  <a:lnTo>
                    <a:pt x="15981" y="6335"/>
                  </a:lnTo>
                  <a:lnTo>
                    <a:pt x="0" y="477"/>
                  </a:lnTo>
                  <a:lnTo>
                    <a:pt x="32429" y="74614"/>
                  </a:lnTo>
                  <a:lnTo>
                    <a:pt x="63747" y="0"/>
                  </a:lnTo>
                  <a:close/>
                </a:path>
              </a:pathLst>
            </a:custGeom>
            <a:solidFill>
              <a:srgbClr val="231F20"/>
            </a:solidFill>
          </p:spPr>
          <p:txBody>
            <a:bodyPr wrap="square" lIns="0" tIns="0" rIns="0" bIns="0" rtlCol="0"/>
            <a:lstStyle/>
            <a:p>
              <a:endParaRPr/>
            </a:p>
          </p:txBody>
        </p:sp>
        <p:sp>
          <p:nvSpPr>
            <p:cNvPr id="21" name="object 21"/>
            <p:cNvSpPr/>
            <p:nvPr/>
          </p:nvSpPr>
          <p:spPr>
            <a:xfrm>
              <a:off x="2478936" y="1743012"/>
              <a:ext cx="607695" cy="279400"/>
            </a:xfrm>
            <a:custGeom>
              <a:avLst/>
              <a:gdLst/>
              <a:ahLst/>
              <a:cxnLst/>
              <a:rect l="l" t="t" r="r" b="b"/>
              <a:pathLst>
                <a:path w="607694" h="279400">
                  <a:moveTo>
                    <a:pt x="225597" y="134380"/>
                  </a:moveTo>
                  <a:lnTo>
                    <a:pt x="554427" y="134380"/>
                  </a:lnTo>
                </a:path>
                <a:path w="607694" h="279400">
                  <a:moveTo>
                    <a:pt x="554427" y="134380"/>
                  </a:moveTo>
                  <a:lnTo>
                    <a:pt x="575020" y="138565"/>
                  </a:lnTo>
                  <a:lnTo>
                    <a:pt x="591885" y="149958"/>
                  </a:lnTo>
                  <a:lnTo>
                    <a:pt x="603280" y="166821"/>
                  </a:lnTo>
                  <a:lnTo>
                    <a:pt x="607466" y="187415"/>
                  </a:lnTo>
                </a:path>
                <a:path w="607694" h="279400">
                  <a:moveTo>
                    <a:pt x="607466" y="187415"/>
                  </a:moveTo>
                  <a:lnTo>
                    <a:pt x="607466" y="226309"/>
                  </a:lnTo>
                </a:path>
                <a:path w="607694" h="279400">
                  <a:moveTo>
                    <a:pt x="607466" y="226309"/>
                  </a:moveTo>
                  <a:lnTo>
                    <a:pt x="603280" y="246901"/>
                  </a:lnTo>
                  <a:lnTo>
                    <a:pt x="591885" y="263763"/>
                  </a:lnTo>
                  <a:lnTo>
                    <a:pt x="575020" y="275156"/>
                  </a:lnTo>
                  <a:lnTo>
                    <a:pt x="554427" y="279340"/>
                  </a:lnTo>
                </a:path>
                <a:path w="607694" h="279400">
                  <a:moveTo>
                    <a:pt x="554427" y="279340"/>
                  </a:moveTo>
                  <a:lnTo>
                    <a:pt x="225597" y="279340"/>
                  </a:lnTo>
                </a:path>
                <a:path w="607694" h="279400">
                  <a:moveTo>
                    <a:pt x="225597" y="279340"/>
                  </a:moveTo>
                  <a:lnTo>
                    <a:pt x="205004" y="275156"/>
                  </a:lnTo>
                  <a:lnTo>
                    <a:pt x="188139" y="263763"/>
                  </a:lnTo>
                  <a:lnTo>
                    <a:pt x="176744" y="246901"/>
                  </a:lnTo>
                  <a:lnTo>
                    <a:pt x="172559" y="226309"/>
                  </a:lnTo>
                </a:path>
                <a:path w="607694" h="279400">
                  <a:moveTo>
                    <a:pt x="172559" y="226309"/>
                  </a:moveTo>
                  <a:lnTo>
                    <a:pt x="172559" y="187415"/>
                  </a:lnTo>
                </a:path>
                <a:path w="607694" h="279400">
                  <a:moveTo>
                    <a:pt x="172559" y="187415"/>
                  </a:moveTo>
                  <a:lnTo>
                    <a:pt x="176744" y="166821"/>
                  </a:lnTo>
                  <a:lnTo>
                    <a:pt x="188139" y="149958"/>
                  </a:lnTo>
                  <a:lnTo>
                    <a:pt x="205004" y="138565"/>
                  </a:lnTo>
                  <a:lnTo>
                    <a:pt x="225597" y="134380"/>
                  </a:lnTo>
                </a:path>
                <a:path w="607694" h="279400">
                  <a:moveTo>
                    <a:pt x="0" y="0"/>
                  </a:moveTo>
                  <a:lnTo>
                    <a:pt x="487944" y="0"/>
                  </a:lnTo>
                </a:path>
              </a:pathLst>
            </a:custGeom>
            <a:ln w="5270">
              <a:solidFill>
                <a:srgbClr val="231F20"/>
              </a:solidFill>
            </a:ln>
          </p:spPr>
          <p:txBody>
            <a:bodyPr wrap="square" lIns="0" tIns="0" rIns="0" bIns="0" rtlCol="0"/>
            <a:lstStyle/>
            <a:p>
              <a:endParaRPr/>
            </a:p>
          </p:txBody>
        </p:sp>
        <p:pic>
          <p:nvPicPr>
            <p:cNvPr id="22" name="object 22"/>
            <p:cNvPicPr/>
            <p:nvPr/>
          </p:nvPicPr>
          <p:blipFill>
            <a:blip r:embed="rId7" cstate="print"/>
            <a:stretch>
              <a:fillRect/>
            </a:stretch>
          </p:blipFill>
          <p:spPr>
            <a:xfrm>
              <a:off x="2868949" y="1664456"/>
              <a:ext cx="257129" cy="212936"/>
            </a:xfrm>
            <a:prstGeom prst="rect">
              <a:avLst/>
            </a:prstGeom>
          </p:spPr>
        </p:pic>
        <p:pic>
          <p:nvPicPr>
            <p:cNvPr id="23" name="object 23"/>
            <p:cNvPicPr/>
            <p:nvPr/>
          </p:nvPicPr>
          <p:blipFill>
            <a:blip r:embed="rId8" cstate="print"/>
            <a:stretch>
              <a:fillRect/>
            </a:stretch>
          </p:blipFill>
          <p:spPr>
            <a:xfrm>
              <a:off x="3332959" y="1664456"/>
              <a:ext cx="250306" cy="212936"/>
            </a:xfrm>
            <a:prstGeom prst="rect">
              <a:avLst/>
            </a:prstGeom>
          </p:spPr>
        </p:pic>
        <p:sp>
          <p:nvSpPr>
            <p:cNvPr id="24" name="object 24"/>
            <p:cNvSpPr/>
            <p:nvPr/>
          </p:nvSpPr>
          <p:spPr>
            <a:xfrm>
              <a:off x="2608775" y="1429800"/>
              <a:ext cx="478155" cy="3175"/>
            </a:xfrm>
            <a:custGeom>
              <a:avLst/>
              <a:gdLst/>
              <a:ahLst/>
              <a:cxnLst/>
              <a:rect l="l" t="t" r="r" b="b"/>
              <a:pathLst>
                <a:path w="478155" h="3175">
                  <a:moveTo>
                    <a:pt x="0" y="2952"/>
                  </a:moveTo>
                  <a:lnTo>
                    <a:pt x="477627" y="0"/>
                  </a:lnTo>
                </a:path>
              </a:pathLst>
            </a:custGeom>
            <a:ln w="5270">
              <a:solidFill>
                <a:srgbClr val="231F20"/>
              </a:solidFill>
            </a:ln>
          </p:spPr>
          <p:txBody>
            <a:bodyPr wrap="square" lIns="0" tIns="0" rIns="0" bIns="0" rtlCol="0"/>
            <a:lstStyle/>
            <a:p>
              <a:endParaRPr/>
            </a:p>
          </p:txBody>
        </p:sp>
      </p:grpSp>
      <p:sp>
        <p:nvSpPr>
          <p:cNvPr id="25" name="object 25"/>
          <p:cNvSpPr txBox="1"/>
          <p:nvPr/>
        </p:nvSpPr>
        <p:spPr>
          <a:xfrm>
            <a:off x="3133455" y="1213249"/>
            <a:ext cx="184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INIT</a:t>
            </a:r>
            <a:endParaRPr sz="650">
              <a:latin typeface="Arial"/>
              <a:cs typeface="Arial"/>
            </a:endParaRPr>
          </a:p>
        </p:txBody>
      </p:sp>
      <p:sp>
        <p:nvSpPr>
          <p:cNvPr id="26" name="object 26"/>
          <p:cNvSpPr txBox="1"/>
          <p:nvPr/>
        </p:nvSpPr>
        <p:spPr>
          <a:xfrm>
            <a:off x="3073697" y="1526988"/>
            <a:ext cx="3162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READY</a:t>
            </a:r>
            <a:endParaRPr sz="650">
              <a:latin typeface="Arial"/>
              <a:cs typeface="Arial"/>
            </a:endParaRPr>
          </a:p>
        </p:txBody>
      </p:sp>
      <p:sp>
        <p:nvSpPr>
          <p:cNvPr id="27" name="object 27"/>
          <p:cNvSpPr txBox="1"/>
          <p:nvPr/>
        </p:nvSpPr>
        <p:spPr>
          <a:xfrm>
            <a:off x="2595617" y="1317831"/>
            <a:ext cx="503555" cy="127000"/>
          </a:xfrm>
          <a:prstGeom prst="rect">
            <a:avLst/>
          </a:prstGeom>
        </p:spPr>
        <p:txBody>
          <a:bodyPr vert="horz" wrap="square" lIns="0" tIns="13970" rIns="0" bIns="0" rtlCol="0">
            <a:spAutoFit/>
          </a:bodyPr>
          <a:lstStyle/>
          <a:p>
            <a:pPr marL="12700">
              <a:lnSpc>
                <a:spcPct val="100000"/>
              </a:lnSpc>
              <a:spcBef>
                <a:spcPts val="110"/>
              </a:spcBef>
            </a:pPr>
            <a:r>
              <a:rPr sz="650" dirty="0">
                <a:solidFill>
                  <a:srgbClr val="231F20"/>
                </a:solidFill>
                <a:latin typeface="Arial"/>
                <a:cs typeface="Arial"/>
              </a:rPr>
              <a:t>Vote-request</a:t>
            </a:r>
            <a:endParaRPr sz="650">
              <a:latin typeface="Arial"/>
              <a:cs typeface="Arial"/>
            </a:endParaRPr>
          </a:p>
        </p:txBody>
      </p:sp>
      <p:sp>
        <p:nvSpPr>
          <p:cNvPr id="28" name="object 28"/>
          <p:cNvSpPr txBox="1"/>
          <p:nvPr/>
        </p:nvSpPr>
        <p:spPr>
          <a:xfrm>
            <a:off x="2595617" y="1412033"/>
            <a:ext cx="494030" cy="127000"/>
          </a:xfrm>
          <a:prstGeom prst="rect">
            <a:avLst/>
          </a:prstGeom>
        </p:spPr>
        <p:txBody>
          <a:bodyPr vert="horz" wrap="square" lIns="0" tIns="13970" rIns="0" bIns="0" rtlCol="0">
            <a:spAutoFit/>
          </a:bodyPr>
          <a:lstStyle/>
          <a:p>
            <a:pPr marL="12700">
              <a:lnSpc>
                <a:spcPct val="100000"/>
              </a:lnSpc>
              <a:spcBef>
                <a:spcPts val="110"/>
              </a:spcBef>
            </a:pPr>
            <a:r>
              <a:rPr sz="650" dirty="0">
                <a:solidFill>
                  <a:srgbClr val="231F20"/>
                </a:solidFill>
                <a:latin typeface="Arial"/>
                <a:cs typeface="Arial"/>
              </a:rPr>
              <a:t>Vote-commit</a:t>
            </a:r>
            <a:endParaRPr sz="650">
              <a:latin typeface="Arial"/>
              <a:cs typeface="Arial"/>
            </a:endParaRPr>
          </a:p>
        </p:txBody>
      </p:sp>
      <p:sp>
        <p:nvSpPr>
          <p:cNvPr id="29" name="object 29"/>
          <p:cNvSpPr txBox="1"/>
          <p:nvPr/>
        </p:nvSpPr>
        <p:spPr>
          <a:xfrm>
            <a:off x="2266941" y="1087572"/>
            <a:ext cx="518795" cy="220979"/>
          </a:xfrm>
          <a:prstGeom prst="rect">
            <a:avLst/>
          </a:prstGeom>
        </p:spPr>
        <p:txBody>
          <a:bodyPr vert="horz" wrap="square" lIns="0" tIns="21590" rIns="0" bIns="0" rtlCol="0">
            <a:spAutoFit/>
          </a:bodyPr>
          <a:lstStyle/>
          <a:p>
            <a:pPr marL="27305" marR="5080" indent="-15240">
              <a:lnSpc>
                <a:spcPts val="740"/>
              </a:lnSpc>
              <a:spcBef>
                <a:spcPts val="170"/>
              </a:spcBef>
            </a:pPr>
            <a:r>
              <a:rPr sz="650" u="sng" spc="-50" dirty="0">
                <a:solidFill>
                  <a:srgbClr val="231F20"/>
                </a:solidFill>
                <a:uFill>
                  <a:solidFill>
                    <a:srgbClr val="231F20"/>
                  </a:solidFill>
                </a:uFill>
                <a:latin typeface="Times New Roman"/>
                <a:cs typeface="Times New Roman"/>
              </a:rPr>
              <a:t> </a:t>
            </a:r>
            <a:r>
              <a:rPr sz="650" u="sng" spc="-35" dirty="0">
                <a:solidFill>
                  <a:srgbClr val="231F20"/>
                </a:solidFill>
                <a:uFill>
                  <a:solidFill>
                    <a:srgbClr val="231F20"/>
                  </a:solidFill>
                </a:uFill>
                <a:latin typeface="Arial"/>
                <a:cs typeface="Arial"/>
              </a:rPr>
              <a:t>V</a:t>
            </a:r>
            <a:r>
              <a:rPr sz="650" u="sng" spc="5" dirty="0">
                <a:solidFill>
                  <a:srgbClr val="231F20"/>
                </a:solidFill>
                <a:uFill>
                  <a:solidFill>
                    <a:srgbClr val="231F20"/>
                  </a:solidFill>
                </a:uFill>
                <a:latin typeface="Arial"/>
                <a:cs typeface="Arial"/>
              </a:rPr>
              <a:t>ote-reques</a:t>
            </a:r>
            <a:r>
              <a:rPr sz="650" dirty="0">
                <a:solidFill>
                  <a:srgbClr val="231F20"/>
                </a:solidFill>
                <a:latin typeface="Arial"/>
                <a:cs typeface="Arial"/>
              </a:rPr>
              <a:t>t  Vote-abort</a:t>
            </a:r>
            <a:endParaRPr sz="650">
              <a:latin typeface="Arial"/>
              <a:cs typeface="Arial"/>
            </a:endParaRPr>
          </a:p>
        </p:txBody>
      </p:sp>
      <p:sp>
        <p:nvSpPr>
          <p:cNvPr id="30" name="object 30"/>
          <p:cNvSpPr txBox="1"/>
          <p:nvPr/>
        </p:nvSpPr>
        <p:spPr>
          <a:xfrm>
            <a:off x="2479377" y="1632595"/>
            <a:ext cx="489584"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Global-abort</a:t>
            </a:r>
            <a:endParaRPr sz="650">
              <a:latin typeface="Arial"/>
              <a:cs typeface="Arial"/>
            </a:endParaRPr>
          </a:p>
        </p:txBody>
      </p:sp>
      <p:sp>
        <p:nvSpPr>
          <p:cNvPr id="31" name="object 31"/>
          <p:cNvSpPr txBox="1"/>
          <p:nvPr/>
        </p:nvSpPr>
        <p:spPr>
          <a:xfrm>
            <a:off x="2479377" y="1726805"/>
            <a:ext cx="1993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ACK</a:t>
            </a:r>
            <a:endParaRPr sz="650">
              <a:latin typeface="Arial"/>
              <a:cs typeface="Arial"/>
            </a:endParaRPr>
          </a:p>
        </p:txBody>
      </p:sp>
      <p:sp>
        <p:nvSpPr>
          <p:cNvPr id="32" name="object 32"/>
          <p:cNvSpPr txBox="1"/>
          <p:nvPr/>
        </p:nvSpPr>
        <p:spPr>
          <a:xfrm>
            <a:off x="3581649" y="1631574"/>
            <a:ext cx="568960" cy="220979"/>
          </a:xfrm>
          <a:prstGeom prst="rect">
            <a:avLst/>
          </a:prstGeom>
        </p:spPr>
        <p:txBody>
          <a:bodyPr vert="horz" wrap="square" lIns="0" tIns="21590" rIns="0" bIns="0" rtlCol="0">
            <a:spAutoFit/>
          </a:bodyPr>
          <a:lstStyle/>
          <a:p>
            <a:pPr marL="12700" marR="5080">
              <a:lnSpc>
                <a:spcPts val="740"/>
              </a:lnSpc>
              <a:spcBef>
                <a:spcPts val="170"/>
              </a:spcBef>
            </a:pPr>
            <a:r>
              <a:rPr sz="650" u="sng" spc="5" dirty="0">
                <a:solidFill>
                  <a:srgbClr val="231F20"/>
                </a:solidFill>
                <a:uFill>
                  <a:solidFill>
                    <a:srgbClr val="231F20"/>
                  </a:solidFill>
                </a:uFill>
                <a:latin typeface="Arial"/>
                <a:cs typeface="Arial"/>
              </a:rPr>
              <a:t>Global-commi</a:t>
            </a:r>
            <a:r>
              <a:rPr sz="650" dirty="0">
                <a:solidFill>
                  <a:srgbClr val="231F20"/>
                </a:solidFill>
                <a:latin typeface="Arial"/>
                <a:cs typeface="Arial"/>
              </a:rPr>
              <a:t>t  </a:t>
            </a:r>
            <a:r>
              <a:rPr sz="650" spc="5" dirty="0">
                <a:solidFill>
                  <a:srgbClr val="231F20"/>
                </a:solidFill>
                <a:latin typeface="Arial"/>
                <a:cs typeface="Arial"/>
              </a:rPr>
              <a:t>ACK</a:t>
            </a:r>
            <a:endParaRPr sz="650">
              <a:latin typeface="Arial"/>
              <a:cs typeface="Arial"/>
            </a:endParaRPr>
          </a:p>
        </p:txBody>
      </p:sp>
      <p:grpSp>
        <p:nvGrpSpPr>
          <p:cNvPr id="33" name="object 33"/>
          <p:cNvGrpSpPr/>
          <p:nvPr/>
        </p:nvGrpSpPr>
        <p:grpSpPr>
          <a:xfrm>
            <a:off x="2347002" y="1254309"/>
            <a:ext cx="663575" cy="723900"/>
            <a:chOff x="2347002" y="1254309"/>
            <a:chExt cx="663575" cy="723900"/>
          </a:xfrm>
        </p:grpSpPr>
        <p:sp>
          <p:nvSpPr>
            <p:cNvPr id="34" name="object 34"/>
            <p:cNvSpPr/>
            <p:nvPr/>
          </p:nvSpPr>
          <p:spPr>
            <a:xfrm>
              <a:off x="2349637" y="1256944"/>
              <a:ext cx="658495" cy="688975"/>
            </a:xfrm>
            <a:custGeom>
              <a:avLst/>
              <a:gdLst/>
              <a:ahLst/>
              <a:cxnLst/>
              <a:rect l="l" t="t" r="r" b="b"/>
              <a:pathLst>
                <a:path w="658494" h="688975">
                  <a:moveTo>
                    <a:pt x="658213" y="0"/>
                  </a:moveTo>
                  <a:lnTo>
                    <a:pt x="589279" y="3234"/>
                  </a:lnTo>
                  <a:lnTo>
                    <a:pt x="524728" y="9130"/>
                  </a:lnTo>
                  <a:lnTo>
                    <a:pt x="464460" y="17534"/>
                  </a:lnTo>
                  <a:lnTo>
                    <a:pt x="408378" y="28289"/>
                  </a:lnTo>
                  <a:lnTo>
                    <a:pt x="356383" y="41241"/>
                  </a:lnTo>
                  <a:lnTo>
                    <a:pt x="308376" y="56235"/>
                  </a:lnTo>
                  <a:lnTo>
                    <a:pt x="264260" y="73116"/>
                  </a:lnTo>
                  <a:lnTo>
                    <a:pt x="223935" y="91730"/>
                  </a:lnTo>
                  <a:lnTo>
                    <a:pt x="187305" y="111922"/>
                  </a:lnTo>
                  <a:lnTo>
                    <a:pt x="154269" y="133536"/>
                  </a:lnTo>
                  <a:lnTo>
                    <a:pt x="98589" y="180412"/>
                  </a:lnTo>
                  <a:lnTo>
                    <a:pt x="56109" y="231120"/>
                  </a:lnTo>
                  <a:lnTo>
                    <a:pt x="26042" y="284420"/>
                  </a:lnTo>
                  <a:lnTo>
                    <a:pt x="7601" y="339074"/>
                  </a:lnTo>
                  <a:lnTo>
                    <a:pt x="0" y="393843"/>
                  </a:lnTo>
                  <a:lnTo>
                    <a:pt x="17" y="420883"/>
                  </a:lnTo>
                  <a:lnTo>
                    <a:pt x="7198" y="473501"/>
                  </a:lnTo>
                  <a:lnTo>
                    <a:pt x="23251" y="523135"/>
                  </a:lnTo>
                  <a:lnTo>
                    <a:pt x="47388" y="568546"/>
                  </a:lnTo>
                  <a:lnTo>
                    <a:pt x="78822" y="608497"/>
                  </a:lnTo>
                  <a:lnTo>
                    <a:pt x="116767" y="641747"/>
                  </a:lnTo>
                  <a:lnTo>
                    <a:pt x="160435" y="667057"/>
                  </a:lnTo>
                  <a:lnTo>
                    <a:pt x="209039" y="683189"/>
                  </a:lnTo>
                  <a:lnTo>
                    <a:pt x="234947" y="687425"/>
                  </a:lnTo>
                  <a:lnTo>
                    <a:pt x="261793" y="688903"/>
                  </a:lnTo>
                </a:path>
              </a:pathLst>
            </a:custGeom>
            <a:ln w="5270">
              <a:solidFill>
                <a:srgbClr val="231F20"/>
              </a:solidFill>
            </a:ln>
          </p:spPr>
          <p:txBody>
            <a:bodyPr wrap="square" lIns="0" tIns="0" rIns="0" bIns="0" rtlCol="0"/>
            <a:lstStyle/>
            <a:p>
              <a:endParaRPr/>
            </a:p>
          </p:txBody>
        </p:sp>
        <p:pic>
          <p:nvPicPr>
            <p:cNvPr id="35" name="object 35"/>
            <p:cNvPicPr/>
            <p:nvPr/>
          </p:nvPicPr>
          <p:blipFill>
            <a:blip r:embed="rId9" cstate="print"/>
            <a:stretch>
              <a:fillRect/>
            </a:stretch>
          </p:blipFill>
          <p:spPr>
            <a:xfrm>
              <a:off x="2574376" y="1913904"/>
              <a:ext cx="74429" cy="63752"/>
            </a:xfrm>
            <a:prstGeom prst="rect">
              <a:avLst/>
            </a:prstGeom>
          </p:spPr>
        </p:pic>
      </p:grpSp>
      <p:sp>
        <p:nvSpPr>
          <p:cNvPr id="36" name="object 36"/>
          <p:cNvSpPr txBox="1"/>
          <p:nvPr/>
        </p:nvSpPr>
        <p:spPr>
          <a:xfrm>
            <a:off x="2709468" y="1824152"/>
            <a:ext cx="1057275" cy="427355"/>
          </a:xfrm>
          <a:prstGeom prst="rect">
            <a:avLst/>
          </a:prstGeom>
        </p:spPr>
        <p:txBody>
          <a:bodyPr vert="horz" wrap="square" lIns="0" tIns="635" rIns="0" bIns="0" rtlCol="0">
            <a:spAutoFit/>
          </a:bodyPr>
          <a:lstStyle/>
          <a:p>
            <a:pPr>
              <a:lnSpc>
                <a:spcPct val="100000"/>
              </a:lnSpc>
              <a:spcBef>
                <a:spcPts val="5"/>
              </a:spcBef>
            </a:pPr>
            <a:endParaRPr sz="500">
              <a:latin typeface="Times New Roman"/>
              <a:cs typeface="Times New Roman"/>
            </a:endParaRPr>
          </a:p>
          <a:p>
            <a:pPr algn="ctr">
              <a:lnSpc>
                <a:spcPct val="100000"/>
              </a:lnSpc>
              <a:tabLst>
                <a:tab pos="689610" algn="l"/>
              </a:tabLst>
            </a:pPr>
            <a:r>
              <a:rPr sz="650" spc="5" dirty="0">
                <a:solidFill>
                  <a:srgbClr val="231F20"/>
                </a:solidFill>
                <a:latin typeface="Arial"/>
                <a:cs typeface="Arial"/>
              </a:rPr>
              <a:t>ABORT	COMMIT</a:t>
            </a:r>
            <a:endParaRPr sz="650">
              <a:latin typeface="Arial"/>
              <a:cs typeface="Arial"/>
            </a:endParaRPr>
          </a:p>
          <a:p>
            <a:pPr>
              <a:lnSpc>
                <a:spcPct val="100000"/>
              </a:lnSpc>
              <a:spcBef>
                <a:spcPts val="15"/>
              </a:spcBef>
            </a:pPr>
            <a:endParaRPr sz="600">
              <a:latin typeface="Arial"/>
              <a:cs typeface="Arial"/>
            </a:endParaRPr>
          </a:p>
          <a:p>
            <a:pPr marR="53340" algn="ctr">
              <a:lnSpc>
                <a:spcPct val="100000"/>
              </a:lnSpc>
            </a:pPr>
            <a:r>
              <a:rPr sz="1000" spc="-5" dirty="0">
                <a:latin typeface="Arial"/>
                <a:cs typeface="Arial"/>
              </a:rPr>
              <a:t>Participant</a:t>
            </a:r>
            <a:endParaRPr sz="1000">
              <a:latin typeface="Arial"/>
              <a:cs typeface="Arial"/>
            </a:endParaRPr>
          </a:p>
        </p:txBody>
      </p:sp>
      <p:sp>
        <p:nvSpPr>
          <p:cNvPr id="37" name="object 3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53</a:t>
            </a:r>
            <a:r>
              <a:rPr spc="-40" dirty="0"/>
              <a:t> </a:t>
            </a:r>
            <a:r>
              <a:rPr spc="-5" dirty="0"/>
              <a:t>/</a:t>
            </a:r>
            <a:r>
              <a:rPr spc="-35" dirty="0"/>
              <a:t> </a:t>
            </a:r>
            <a:r>
              <a:rPr spc="-5" dirty="0"/>
              <a:t>68</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54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3" action="ppaction://hlinksldjump"/>
              </a:rPr>
              <a:t>Distributed commit</a:t>
            </a:r>
            <a:endParaRPr sz="600">
              <a:latin typeface="Arial"/>
              <a:cs typeface="Arial"/>
            </a:endParaRPr>
          </a:p>
        </p:txBody>
      </p:sp>
      <p:sp>
        <p:nvSpPr>
          <p:cNvPr id="3" name="object 3"/>
          <p:cNvSpPr txBox="1"/>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2PC</a:t>
            </a:r>
            <a:r>
              <a:rPr sz="1400" dirty="0">
                <a:solidFill>
                  <a:srgbClr val="3333B2"/>
                </a:solidFill>
                <a:latin typeface="Arial"/>
                <a:cs typeface="Arial"/>
              </a:rPr>
              <a:t> </a:t>
            </a:r>
            <a:r>
              <a:rPr sz="1400" spc="15" dirty="0">
                <a:solidFill>
                  <a:srgbClr val="3333B2"/>
                </a:solidFill>
                <a:latin typeface="Arial"/>
                <a:cs typeface="Arial"/>
              </a:rPr>
              <a:t>–</a:t>
            </a:r>
            <a:r>
              <a:rPr sz="1400" dirty="0">
                <a:solidFill>
                  <a:srgbClr val="3333B2"/>
                </a:solidFill>
                <a:latin typeface="Arial"/>
                <a:cs typeface="Arial"/>
              </a:rPr>
              <a:t> Failing </a:t>
            </a:r>
            <a:r>
              <a:rPr sz="1400" spc="15" dirty="0">
                <a:solidFill>
                  <a:srgbClr val="3333B2"/>
                </a:solidFill>
                <a:latin typeface="Arial"/>
                <a:cs typeface="Arial"/>
              </a:rPr>
              <a:t>participant</a:t>
            </a:r>
            <a:endParaRPr sz="1400">
              <a:latin typeface="Arial"/>
              <a:cs typeface="Arial"/>
            </a:endParaRPr>
          </a:p>
        </p:txBody>
      </p:sp>
      <p:sp>
        <p:nvSpPr>
          <p:cNvPr id="4" name="object 4"/>
          <p:cNvSpPr txBox="1"/>
          <p:nvPr/>
        </p:nvSpPr>
        <p:spPr>
          <a:xfrm>
            <a:off x="329590" y="543455"/>
            <a:ext cx="3936365" cy="459105"/>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Analysis:</a:t>
            </a:r>
            <a:r>
              <a:rPr sz="1200" spc="75" dirty="0">
                <a:solidFill>
                  <a:srgbClr val="3333B2"/>
                </a:solidFill>
                <a:latin typeface="Arial"/>
                <a:cs typeface="Arial"/>
              </a:rPr>
              <a:t> </a:t>
            </a:r>
            <a:r>
              <a:rPr sz="1200" dirty="0">
                <a:solidFill>
                  <a:srgbClr val="3333B2"/>
                </a:solidFill>
                <a:latin typeface="Arial"/>
                <a:cs typeface="Arial"/>
              </a:rPr>
              <a:t>participant</a:t>
            </a:r>
            <a:r>
              <a:rPr sz="1200" spc="-5" dirty="0">
                <a:solidFill>
                  <a:srgbClr val="3333B2"/>
                </a:solidFill>
                <a:latin typeface="Arial"/>
                <a:cs typeface="Arial"/>
              </a:rPr>
              <a:t> </a:t>
            </a:r>
            <a:r>
              <a:rPr sz="1200" spc="-10" dirty="0">
                <a:solidFill>
                  <a:srgbClr val="3333B2"/>
                </a:solidFill>
                <a:latin typeface="Arial"/>
                <a:cs typeface="Arial"/>
              </a:rPr>
              <a:t>crashes</a:t>
            </a:r>
            <a:r>
              <a:rPr sz="1200" spc="-5" dirty="0">
                <a:solidFill>
                  <a:srgbClr val="3333B2"/>
                </a:solidFill>
                <a:latin typeface="Arial"/>
                <a:cs typeface="Arial"/>
              </a:rPr>
              <a:t> in state </a:t>
            </a:r>
            <a:r>
              <a:rPr sz="1200" i="1" spc="25" dirty="0">
                <a:solidFill>
                  <a:srgbClr val="3333B2"/>
                </a:solidFill>
                <a:latin typeface="Arial"/>
                <a:cs typeface="Arial"/>
              </a:rPr>
              <a:t>S</a:t>
            </a:r>
            <a:r>
              <a:rPr sz="1200" spc="25" dirty="0">
                <a:solidFill>
                  <a:srgbClr val="3333B2"/>
                </a:solidFill>
                <a:latin typeface="Arial"/>
                <a:cs typeface="Arial"/>
              </a:rPr>
              <a:t>,</a:t>
            </a:r>
            <a:r>
              <a:rPr sz="1200" spc="-5" dirty="0">
                <a:solidFill>
                  <a:srgbClr val="3333B2"/>
                </a:solidFill>
                <a:latin typeface="Arial"/>
                <a:cs typeface="Arial"/>
              </a:rPr>
              <a:t> and</a:t>
            </a:r>
            <a:r>
              <a:rPr sz="1200" dirty="0">
                <a:solidFill>
                  <a:srgbClr val="3333B2"/>
                </a:solidFill>
                <a:latin typeface="Arial"/>
                <a:cs typeface="Arial"/>
              </a:rPr>
              <a:t> </a:t>
            </a:r>
            <a:r>
              <a:rPr sz="1200" spc="-10" dirty="0">
                <a:solidFill>
                  <a:srgbClr val="3333B2"/>
                </a:solidFill>
                <a:latin typeface="Arial"/>
                <a:cs typeface="Arial"/>
              </a:rPr>
              <a:t>recovers</a:t>
            </a:r>
            <a:r>
              <a:rPr sz="1200" spc="-5" dirty="0">
                <a:solidFill>
                  <a:srgbClr val="3333B2"/>
                </a:solidFill>
                <a:latin typeface="Arial"/>
                <a:cs typeface="Arial"/>
              </a:rPr>
              <a:t> to </a:t>
            </a:r>
            <a:r>
              <a:rPr sz="1200" i="1" spc="-5" dirty="0">
                <a:solidFill>
                  <a:srgbClr val="3333B2"/>
                </a:solidFill>
                <a:latin typeface="Arial"/>
                <a:cs typeface="Arial"/>
              </a:rPr>
              <a:t>S</a:t>
            </a:r>
            <a:endParaRPr sz="1200">
              <a:latin typeface="Arial"/>
              <a:cs typeface="Arial"/>
            </a:endParaRPr>
          </a:p>
          <a:p>
            <a:pPr marL="307340" indent="-168275">
              <a:lnSpc>
                <a:spcPct val="100000"/>
              </a:lnSpc>
              <a:spcBef>
                <a:spcPts val="780"/>
              </a:spcBef>
              <a:buClr>
                <a:srgbClr val="3333B2"/>
              </a:buClr>
              <a:buFont typeface="Arial"/>
              <a:buChar char="►"/>
              <a:tabLst>
                <a:tab pos="307975" algn="l"/>
              </a:tabLst>
            </a:pPr>
            <a:r>
              <a:rPr sz="1000" i="1" spc="-5" dirty="0">
                <a:solidFill>
                  <a:srgbClr val="FA0000"/>
                </a:solidFill>
                <a:latin typeface="Arial"/>
                <a:cs typeface="Arial"/>
              </a:rPr>
              <a:t>INIT</a:t>
            </a:r>
            <a:r>
              <a:rPr sz="1000" i="1" spc="-140" dirty="0">
                <a:solidFill>
                  <a:srgbClr val="FA0000"/>
                </a:solidFill>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No problem:</a:t>
            </a:r>
            <a:r>
              <a:rPr sz="1000" spc="60" dirty="0">
                <a:latin typeface="Arial"/>
                <a:cs typeface="Arial"/>
              </a:rPr>
              <a:t> </a:t>
            </a:r>
            <a:r>
              <a:rPr sz="1000" dirty="0">
                <a:latin typeface="Arial"/>
                <a:cs typeface="Arial"/>
              </a:rPr>
              <a:t>participant</a:t>
            </a:r>
            <a:r>
              <a:rPr sz="1000" spc="-5" dirty="0">
                <a:latin typeface="Arial"/>
                <a:cs typeface="Arial"/>
              </a:rPr>
              <a:t> </a:t>
            </a:r>
            <a:r>
              <a:rPr sz="1000" spc="-10" dirty="0">
                <a:latin typeface="Arial"/>
                <a:cs typeface="Arial"/>
              </a:rPr>
              <a:t>was</a:t>
            </a:r>
            <a:r>
              <a:rPr sz="1000" spc="-5" dirty="0">
                <a:latin typeface="Arial"/>
                <a:cs typeface="Arial"/>
              </a:rPr>
              <a:t> </a:t>
            </a:r>
            <a:r>
              <a:rPr sz="1000" spc="-10" dirty="0">
                <a:latin typeface="Arial"/>
                <a:cs typeface="Arial"/>
              </a:rPr>
              <a:t>unaware</a:t>
            </a:r>
            <a:r>
              <a:rPr sz="1000" spc="-5" dirty="0">
                <a:latin typeface="Arial"/>
                <a:cs typeface="Arial"/>
              </a:rPr>
              <a:t> of protocol</a:t>
            </a:r>
            <a:endParaRPr sz="1000">
              <a:latin typeface="Arial"/>
              <a:cs typeface="Arial"/>
            </a:endParaRP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54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3"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pc="20" dirty="0"/>
              <a:t>2PC</a:t>
            </a:r>
            <a:r>
              <a:rPr dirty="0"/>
              <a:t> </a:t>
            </a:r>
            <a:r>
              <a:rPr spc="15" dirty="0"/>
              <a:t>–</a:t>
            </a:r>
            <a:r>
              <a:rPr dirty="0"/>
              <a:t> Failing </a:t>
            </a:r>
            <a:r>
              <a:rPr spc="15" dirty="0"/>
              <a:t>participant</a:t>
            </a:r>
          </a:p>
        </p:txBody>
      </p:sp>
      <p:sp>
        <p:nvSpPr>
          <p:cNvPr id="4" name="object 4"/>
          <p:cNvSpPr txBox="1"/>
          <p:nvPr/>
        </p:nvSpPr>
        <p:spPr>
          <a:xfrm>
            <a:off x="329590" y="543455"/>
            <a:ext cx="3936365" cy="990600"/>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Analysis:</a:t>
            </a:r>
            <a:r>
              <a:rPr sz="1200" spc="75" dirty="0">
                <a:solidFill>
                  <a:srgbClr val="3333B2"/>
                </a:solidFill>
                <a:latin typeface="Arial"/>
                <a:cs typeface="Arial"/>
              </a:rPr>
              <a:t> </a:t>
            </a:r>
            <a:r>
              <a:rPr sz="1200" dirty="0">
                <a:solidFill>
                  <a:srgbClr val="3333B2"/>
                </a:solidFill>
                <a:latin typeface="Arial"/>
                <a:cs typeface="Arial"/>
              </a:rPr>
              <a:t>participant</a:t>
            </a:r>
            <a:r>
              <a:rPr sz="1200" spc="-5" dirty="0">
                <a:solidFill>
                  <a:srgbClr val="3333B2"/>
                </a:solidFill>
                <a:latin typeface="Arial"/>
                <a:cs typeface="Arial"/>
              </a:rPr>
              <a:t> </a:t>
            </a:r>
            <a:r>
              <a:rPr sz="1200" spc="-10" dirty="0">
                <a:solidFill>
                  <a:srgbClr val="3333B2"/>
                </a:solidFill>
                <a:latin typeface="Arial"/>
                <a:cs typeface="Arial"/>
              </a:rPr>
              <a:t>crashes</a:t>
            </a:r>
            <a:r>
              <a:rPr sz="1200" spc="-5" dirty="0">
                <a:solidFill>
                  <a:srgbClr val="3333B2"/>
                </a:solidFill>
                <a:latin typeface="Arial"/>
                <a:cs typeface="Arial"/>
              </a:rPr>
              <a:t> in state </a:t>
            </a:r>
            <a:r>
              <a:rPr sz="1200" i="1" spc="25" dirty="0">
                <a:solidFill>
                  <a:srgbClr val="3333B2"/>
                </a:solidFill>
                <a:latin typeface="Arial"/>
                <a:cs typeface="Arial"/>
              </a:rPr>
              <a:t>S</a:t>
            </a:r>
            <a:r>
              <a:rPr sz="1200" spc="25" dirty="0">
                <a:solidFill>
                  <a:srgbClr val="3333B2"/>
                </a:solidFill>
                <a:latin typeface="Arial"/>
                <a:cs typeface="Arial"/>
              </a:rPr>
              <a:t>,</a:t>
            </a:r>
            <a:r>
              <a:rPr sz="1200" spc="-5" dirty="0">
                <a:solidFill>
                  <a:srgbClr val="3333B2"/>
                </a:solidFill>
                <a:latin typeface="Arial"/>
                <a:cs typeface="Arial"/>
              </a:rPr>
              <a:t> and</a:t>
            </a:r>
            <a:r>
              <a:rPr sz="1200" dirty="0">
                <a:solidFill>
                  <a:srgbClr val="3333B2"/>
                </a:solidFill>
                <a:latin typeface="Arial"/>
                <a:cs typeface="Arial"/>
              </a:rPr>
              <a:t> </a:t>
            </a:r>
            <a:r>
              <a:rPr sz="1200" spc="-10" dirty="0">
                <a:solidFill>
                  <a:srgbClr val="3333B2"/>
                </a:solidFill>
                <a:latin typeface="Arial"/>
                <a:cs typeface="Arial"/>
              </a:rPr>
              <a:t>recovers</a:t>
            </a:r>
            <a:r>
              <a:rPr sz="1200" spc="-5" dirty="0">
                <a:solidFill>
                  <a:srgbClr val="3333B2"/>
                </a:solidFill>
                <a:latin typeface="Arial"/>
                <a:cs typeface="Arial"/>
              </a:rPr>
              <a:t> to </a:t>
            </a:r>
            <a:r>
              <a:rPr sz="1200" i="1" spc="-5" dirty="0">
                <a:solidFill>
                  <a:srgbClr val="3333B2"/>
                </a:solidFill>
                <a:latin typeface="Arial"/>
                <a:cs typeface="Arial"/>
              </a:rPr>
              <a:t>S</a:t>
            </a:r>
            <a:endParaRPr sz="1200">
              <a:latin typeface="Arial"/>
              <a:cs typeface="Arial"/>
            </a:endParaRPr>
          </a:p>
          <a:p>
            <a:pPr>
              <a:lnSpc>
                <a:spcPct val="100000"/>
              </a:lnSpc>
              <a:spcBef>
                <a:spcPts val="40"/>
              </a:spcBef>
            </a:pPr>
            <a:endParaRPr sz="2200">
              <a:latin typeface="Arial"/>
              <a:cs typeface="Arial"/>
            </a:endParaRPr>
          </a:p>
          <a:p>
            <a:pPr marL="307340" marR="191770" indent="-168275">
              <a:lnSpc>
                <a:spcPct val="100000"/>
              </a:lnSpc>
              <a:buClr>
                <a:srgbClr val="3333B2"/>
              </a:buClr>
              <a:buFont typeface="Arial"/>
              <a:buChar char="►"/>
              <a:tabLst>
                <a:tab pos="307975" algn="l"/>
              </a:tabLst>
            </a:pPr>
            <a:r>
              <a:rPr sz="1000" i="1" spc="-25" dirty="0">
                <a:solidFill>
                  <a:srgbClr val="FA0000"/>
                </a:solidFill>
                <a:latin typeface="Arial"/>
                <a:cs typeface="Arial"/>
              </a:rPr>
              <a:t>READY</a:t>
            </a:r>
            <a:r>
              <a:rPr sz="1000" i="1" spc="-140" dirty="0">
                <a:solidFill>
                  <a:srgbClr val="FA0000"/>
                </a:solidFill>
                <a:latin typeface="Arial"/>
                <a:cs typeface="Arial"/>
              </a:rPr>
              <a:t> </a:t>
            </a:r>
            <a:r>
              <a:rPr sz="1000" spc="-5" dirty="0">
                <a:latin typeface="Arial"/>
                <a:cs typeface="Arial"/>
              </a:rPr>
              <a:t>:</a:t>
            </a:r>
            <a:r>
              <a:rPr sz="1000" spc="70" dirty="0">
                <a:latin typeface="Arial"/>
                <a:cs typeface="Arial"/>
              </a:rPr>
              <a:t> </a:t>
            </a:r>
            <a:r>
              <a:rPr sz="1000" spc="-5" dirty="0">
                <a:latin typeface="Arial"/>
                <a:cs typeface="Arial"/>
              </a:rPr>
              <a:t>Participant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waiting</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either</a:t>
            </a:r>
            <a:r>
              <a:rPr sz="1000" dirty="0">
                <a:latin typeface="Arial"/>
                <a:cs typeface="Arial"/>
              </a:rPr>
              <a:t> </a:t>
            </a:r>
            <a:r>
              <a:rPr sz="1000" spc="-5" dirty="0">
                <a:latin typeface="Arial"/>
                <a:cs typeface="Arial"/>
              </a:rPr>
              <a:t>commit</a:t>
            </a:r>
            <a:r>
              <a:rPr sz="1000" spc="5" dirty="0">
                <a:latin typeface="Arial"/>
                <a:cs typeface="Arial"/>
              </a:rPr>
              <a:t> </a:t>
            </a:r>
            <a:r>
              <a:rPr sz="1000" spc="-5" dirty="0">
                <a:latin typeface="Arial"/>
                <a:cs typeface="Arial"/>
              </a:rPr>
              <a:t>or</a:t>
            </a:r>
            <a:r>
              <a:rPr sz="1000" dirty="0">
                <a:latin typeface="Arial"/>
                <a:cs typeface="Arial"/>
              </a:rPr>
              <a:t> abort.</a:t>
            </a:r>
            <a:r>
              <a:rPr sz="1000" spc="65" dirty="0">
                <a:latin typeface="Arial"/>
                <a:cs typeface="Arial"/>
              </a:rPr>
              <a:t> </a:t>
            </a:r>
            <a:r>
              <a:rPr sz="1000" spc="-5" dirty="0">
                <a:latin typeface="Arial"/>
                <a:cs typeface="Arial"/>
              </a:rPr>
              <a:t>After </a:t>
            </a:r>
            <a:r>
              <a:rPr sz="1000" spc="-260" dirty="0">
                <a:latin typeface="Arial"/>
                <a:cs typeface="Arial"/>
              </a:rPr>
              <a:t> </a:t>
            </a:r>
            <a:r>
              <a:rPr sz="1000" spc="-15" dirty="0">
                <a:latin typeface="Arial"/>
                <a:cs typeface="Arial"/>
              </a:rPr>
              <a:t>recovery,</a:t>
            </a:r>
            <a:r>
              <a:rPr sz="1000" spc="-5" dirty="0">
                <a:latin typeface="Arial"/>
                <a:cs typeface="Arial"/>
              </a:rPr>
              <a:t> </a:t>
            </a:r>
            <a:r>
              <a:rPr sz="1000" dirty="0">
                <a:latin typeface="Arial"/>
                <a:cs typeface="Arial"/>
              </a:rPr>
              <a:t>participant</a:t>
            </a:r>
            <a:r>
              <a:rPr sz="1000" spc="-5" dirty="0">
                <a:latin typeface="Arial"/>
                <a:cs typeface="Arial"/>
              </a:rPr>
              <a:t> needs</a:t>
            </a:r>
            <a:r>
              <a:rPr sz="1000" dirty="0">
                <a:latin typeface="Arial"/>
                <a:cs typeface="Arial"/>
              </a:rPr>
              <a:t> </a:t>
            </a:r>
            <a:r>
              <a:rPr sz="1000" spc="-5" dirty="0">
                <a:latin typeface="Arial"/>
                <a:cs typeface="Arial"/>
              </a:rPr>
              <a:t>to </a:t>
            </a:r>
            <a:r>
              <a:rPr sz="1000" spc="-10" dirty="0">
                <a:latin typeface="Arial"/>
                <a:cs typeface="Arial"/>
              </a:rPr>
              <a:t>know</a:t>
            </a:r>
            <a:r>
              <a:rPr sz="1000" spc="-5" dirty="0">
                <a:latin typeface="Arial"/>
                <a:cs typeface="Arial"/>
              </a:rPr>
              <a:t> which</a:t>
            </a:r>
            <a:r>
              <a:rPr sz="1000" dirty="0">
                <a:latin typeface="Arial"/>
                <a:cs typeface="Arial"/>
              </a:rPr>
              <a:t> </a:t>
            </a:r>
            <a:r>
              <a:rPr sz="1000" spc="-5" dirty="0">
                <a:latin typeface="Arial"/>
                <a:cs typeface="Arial"/>
              </a:rPr>
              <a:t>state transition it </a:t>
            </a:r>
            <a:r>
              <a:rPr sz="1000" dirty="0">
                <a:latin typeface="Arial"/>
                <a:cs typeface="Arial"/>
              </a:rPr>
              <a:t> </a:t>
            </a:r>
            <a:r>
              <a:rPr sz="1000" spc="-5" dirty="0">
                <a:latin typeface="Arial"/>
                <a:cs typeface="Arial"/>
              </a:rPr>
              <a:t>should </a:t>
            </a:r>
            <a:r>
              <a:rPr sz="1000" spc="-10" dirty="0">
                <a:latin typeface="Arial"/>
                <a:cs typeface="Arial"/>
              </a:rPr>
              <a:t>make</a:t>
            </a:r>
            <a:r>
              <a:rPr sz="1000" spc="-5"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log the </a:t>
            </a:r>
            <a:r>
              <a:rPr sz="1000" spc="-10" dirty="0">
                <a:latin typeface="Arial"/>
                <a:cs typeface="Arial"/>
              </a:rPr>
              <a:t>coordinator’s</a:t>
            </a:r>
            <a:r>
              <a:rPr sz="1000" dirty="0">
                <a:latin typeface="Arial"/>
                <a:cs typeface="Arial"/>
              </a:rPr>
              <a:t> </a:t>
            </a:r>
            <a:r>
              <a:rPr sz="1000" spc="-5" dirty="0">
                <a:latin typeface="Arial"/>
                <a:cs typeface="Arial"/>
              </a:rPr>
              <a:t>decision</a:t>
            </a:r>
            <a:endParaRPr sz="1000">
              <a:latin typeface="Arial"/>
              <a:cs typeface="Arial"/>
            </a:endParaRP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54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3"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pc="20" dirty="0"/>
              <a:t>2PC</a:t>
            </a:r>
            <a:r>
              <a:rPr dirty="0"/>
              <a:t> </a:t>
            </a:r>
            <a:r>
              <a:rPr spc="15" dirty="0"/>
              <a:t>–</a:t>
            </a:r>
            <a:r>
              <a:rPr dirty="0"/>
              <a:t> Failing </a:t>
            </a:r>
            <a:r>
              <a:rPr spc="15" dirty="0"/>
              <a:t>participant</a:t>
            </a:r>
          </a:p>
        </p:txBody>
      </p:sp>
      <p:sp>
        <p:nvSpPr>
          <p:cNvPr id="4" name="object 4"/>
          <p:cNvSpPr txBox="1"/>
          <p:nvPr/>
        </p:nvSpPr>
        <p:spPr>
          <a:xfrm>
            <a:off x="342290" y="543455"/>
            <a:ext cx="3910965" cy="20764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Analysis:</a:t>
            </a:r>
            <a:r>
              <a:rPr sz="1200" spc="75" dirty="0">
                <a:solidFill>
                  <a:srgbClr val="3333B2"/>
                </a:solidFill>
                <a:latin typeface="Arial"/>
                <a:cs typeface="Arial"/>
              </a:rPr>
              <a:t> </a:t>
            </a:r>
            <a:r>
              <a:rPr sz="1200" dirty="0">
                <a:solidFill>
                  <a:srgbClr val="3333B2"/>
                </a:solidFill>
                <a:latin typeface="Arial"/>
                <a:cs typeface="Arial"/>
              </a:rPr>
              <a:t>participant</a:t>
            </a:r>
            <a:r>
              <a:rPr sz="1200" spc="-5" dirty="0">
                <a:solidFill>
                  <a:srgbClr val="3333B2"/>
                </a:solidFill>
                <a:latin typeface="Arial"/>
                <a:cs typeface="Arial"/>
              </a:rPr>
              <a:t> </a:t>
            </a:r>
            <a:r>
              <a:rPr sz="1200" spc="-10" dirty="0">
                <a:solidFill>
                  <a:srgbClr val="3333B2"/>
                </a:solidFill>
                <a:latin typeface="Arial"/>
                <a:cs typeface="Arial"/>
              </a:rPr>
              <a:t>crashes</a:t>
            </a:r>
            <a:r>
              <a:rPr sz="1200" spc="-5" dirty="0">
                <a:solidFill>
                  <a:srgbClr val="3333B2"/>
                </a:solidFill>
                <a:latin typeface="Arial"/>
                <a:cs typeface="Arial"/>
              </a:rPr>
              <a:t> in state </a:t>
            </a:r>
            <a:r>
              <a:rPr sz="1200" i="1" spc="25" dirty="0">
                <a:solidFill>
                  <a:srgbClr val="3333B2"/>
                </a:solidFill>
                <a:latin typeface="Arial"/>
                <a:cs typeface="Arial"/>
              </a:rPr>
              <a:t>S</a:t>
            </a:r>
            <a:r>
              <a:rPr sz="1200" spc="25" dirty="0">
                <a:solidFill>
                  <a:srgbClr val="3333B2"/>
                </a:solidFill>
                <a:latin typeface="Arial"/>
                <a:cs typeface="Arial"/>
              </a:rPr>
              <a:t>,</a:t>
            </a:r>
            <a:r>
              <a:rPr sz="1200" spc="-5" dirty="0">
                <a:solidFill>
                  <a:srgbClr val="3333B2"/>
                </a:solidFill>
                <a:latin typeface="Arial"/>
                <a:cs typeface="Arial"/>
              </a:rPr>
              <a:t> and</a:t>
            </a:r>
            <a:r>
              <a:rPr sz="1200" dirty="0">
                <a:solidFill>
                  <a:srgbClr val="3333B2"/>
                </a:solidFill>
                <a:latin typeface="Arial"/>
                <a:cs typeface="Arial"/>
              </a:rPr>
              <a:t> </a:t>
            </a:r>
            <a:r>
              <a:rPr sz="1200" spc="-10" dirty="0">
                <a:solidFill>
                  <a:srgbClr val="3333B2"/>
                </a:solidFill>
                <a:latin typeface="Arial"/>
                <a:cs typeface="Arial"/>
              </a:rPr>
              <a:t>recovers</a:t>
            </a:r>
            <a:r>
              <a:rPr sz="1200" spc="-5" dirty="0">
                <a:solidFill>
                  <a:srgbClr val="3333B2"/>
                </a:solidFill>
                <a:latin typeface="Arial"/>
                <a:cs typeface="Arial"/>
              </a:rPr>
              <a:t> to </a:t>
            </a:r>
            <a:r>
              <a:rPr sz="1200" i="1" spc="-5" dirty="0">
                <a:solidFill>
                  <a:srgbClr val="3333B2"/>
                </a:solidFill>
                <a:latin typeface="Arial"/>
                <a:cs typeface="Arial"/>
              </a:rPr>
              <a:t>S</a:t>
            </a:r>
            <a:endParaRPr sz="1200">
              <a:latin typeface="Arial"/>
              <a:cs typeface="Arial"/>
            </a:endParaRPr>
          </a:p>
        </p:txBody>
      </p:sp>
      <p:sp>
        <p:nvSpPr>
          <p:cNvPr id="5" name="object 5"/>
          <p:cNvSpPr txBox="1"/>
          <p:nvPr/>
        </p:nvSpPr>
        <p:spPr>
          <a:xfrm>
            <a:off x="456704" y="1584266"/>
            <a:ext cx="3616325" cy="329565"/>
          </a:xfrm>
          <a:prstGeom prst="rect">
            <a:avLst/>
          </a:prstGeom>
        </p:spPr>
        <p:txBody>
          <a:bodyPr vert="horz" wrap="square" lIns="0" tIns="12065" rIns="0" bIns="0" rtlCol="0">
            <a:spAutoFit/>
          </a:bodyPr>
          <a:lstStyle/>
          <a:p>
            <a:pPr marL="180340" marR="5080" indent="-168275">
              <a:lnSpc>
                <a:spcPct val="100000"/>
              </a:lnSpc>
              <a:spcBef>
                <a:spcPts val="95"/>
              </a:spcBef>
              <a:buClr>
                <a:srgbClr val="3333B2"/>
              </a:buClr>
              <a:buFont typeface="Arial"/>
              <a:buChar char="►"/>
              <a:tabLst>
                <a:tab pos="180975" algn="l"/>
              </a:tabLst>
            </a:pPr>
            <a:r>
              <a:rPr sz="1000" i="1" spc="-10" dirty="0">
                <a:solidFill>
                  <a:srgbClr val="FA0000"/>
                </a:solidFill>
                <a:latin typeface="Arial"/>
                <a:cs typeface="Arial"/>
              </a:rPr>
              <a:t>ABORT</a:t>
            </a:r>
            <a:r>
              <a:rPr sz="1000" i="1" spc="-140" dirty="0">
                <a:solidFill>
                  <a:srgbClr val="FA0000"/>
                </a:solidFill>
                <a:latin typeface="Arial"/>
                <a:cs typeface="Arial"/>
              </a:rPr>
              <a:t> </a:t>
            </a:r>
            <a:r>
              <a:rPr sz="1000" spc="-5" dirty="0">
                <a:latin typeface="Arial"/>
                <a:cs typeface="Arial"/>
              </a:rPr>
              <a:t>:</a:t>
            </a:r>
            <a:r>
              <a:rPr sz="1000" spc="65" dirty="0">
                <a:latin typeface="Arial"/>
                <a:cs typeface="Arial"/>
              </a:rPr>
              <a:t> </a:t>
            </a:r>
            <a:r>
              <a:rPr sz="1000" spc="-5" dirty="0">
                <a:latin typeface="Arial"/>
                <a:cs typeface="Arial"/>
              </a:rPr>
              <a:t>Merely </a:t>
            </a:r>
            <a:r>
              <a:rPr sz="1000" spc="-10" dirty="0">
                <a:latin typeface="Arial"/>
                <a:cs typeface="Arial"/>
              </a:rPr>
              <a:t>make</a:t>
            </a:r>
            <a:r>
              <a:rPr sz="1000" dirty="0">
                <a:latin typeface="Arial"/>
                <a:cs typeface="Arial"/>
              </a:rPr>
              <a:t> entry</a:t>
            </a:r>
            <a:r>
              <a:rPr sz="1000" spc="-5" dirty="0">
                <a:latin typeface="Arial"/>
                <a:cs typeface="Arial"/>
              </a:rPr>
              <a:t> into</a:t>
            </a:r>
            <a:r>
              <a:rPr sz="1000" dirty="0">
                <a:latin typeface="Arial"/>
                <a:cs typeface="Arial"/>
              </a:rPr>
              <a:t> </a:t>
            </a:r>
            <a:r>
              <a:rPr sz="1000" spc="5" dirty="0">
                <a:latin typeface="Arial"/>
                <a:cs typeface="Arial"/>
              </a:rPr>
              <a:t>abort</a:t>
            </a:r>
            <a:r>
              <a:rPr sz="1000" spc="-5" dirty="0">
                <a:latin typeface="Arial"/>
                <a:cs typeface="Arial"/>
              </a:rPr>
              <a:t> state</a:t>
            </a:r>
            <a:r>
              <a:rPr sz="1000" dirty="0">
                <a:latin typeface="Arial"/>
                <a:cs typeface="Arial"/>
              </a:rPr>
              <a:t> </a:t>
            </a:r>
            <a:r>
              <a:rPr sz="1000" spc="-5" dirty="0">
                <a:solidFill>
                  <a:srgbClr val="0000FA"/>
                </a:solidFill>
                <a:latin typeface="Arial"/>
                <a:cs typeface="Arial"/>
              </a:rPr>
              <a:t>idempotent</a:t>
            </a:r>
            <a:r>
              <a:rPr sz="1000" spc="-5" dirty="0">
                <a:latin typeface="Arial"/>
                <a:cs typeface="Arial"/>
              </a:rPr>
              <a:t>,</a:t>
            </a:r>
            <a:r>
              <a:rPr sz="1000" dirty="0">
                <a:latin typeface="Arial"/>
                <a:cs typeface="Arial"/>
              </a:rPr>
              <a:t> </a:t>
            </a:r>
            <a:r>
              <a:rPr sz="1000" spc="-5" dirty="0">
                <a:latin typeface="Arial"/>
                <a:cs typeface="Arial"/>
              </a:rPr>
              <a:t>e.g., </a:t>
            </a:r>
            <a:r>
              <a:rPr sz="1000" spc="-265" dirty="0">
                <a:latin typeface="Arial"/>
                <a:cs typeface="Arial"/>
              </a:rPr>
              <a:t> </a:t>
            </a:r>
            <a:r>
              <a:rPr sz="1000" spc="-5" dirty="0">
                <a:latin typeface="Arial"/>
                <a:cs typeface="Arial"/>
              </a:rPr>
              <a:t>removing</a:t>
            </a:r>
            <a:r>
              <a:rPr sz="1000" spc="-10" dirty="0">
                <a:latin typeface="Arial"/>
                <a:cs typeface="Arial"/>
              </a:rPr>
              <a:t> </a:t>
            </a:r>
            <a:r>
              <a:rPr sz="1000" spc="-5" dirty="0">
                <a:latin typeface="Arial"/>
                <a:cs typeface="Arial"/>
              </a:rPr>
              <a:t>the workspace of results</a:t>
            </a:r>
            <a:endParaRPr sz="1000">
              <a:latin typeface="Arial"/>
              <a:cs typeface="Arial"/>
            </a:endParaRP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54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3"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pc="20" dirty="0"/>
              <a:t>2PC</a:t>
            </a:r>
            <a:r>
              <a:rPr dirty="0"/>
              <a:t> </a:t>
            </a:r>
            <a:r>
              <a:rPr spc="15" dirty="0"/>
              <a:t>–</a:t>
            </a:r>
            <a:r>
              <a:rPr dirty="0"/>
              <a:t> Failing </a:t>
            </a:r>
            <a:r>
              <a:rPr spc="15" dirty="0"/>
              <a:t>participant</a:t>
            </a:r>
          </a:p>
        </p:txBody>
      </p:sp>
      <p:sp>
        <p:nvSpPr>
          <p:cNvPr id="4" name="object 4"/>
          <p:cNvSpPr txBox="1"/>
          <p:nvPr/>
        </p:nvSpPr>
        <p:spPr>
          <a:xfrm>
            <a:off x="342290" y="543455"/>
            <a:ext cx="3910965" cy="20764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Analysis:</a:t>
            </a:r>
            <a:r>
              <a:rPr sz="1200" spc="75" dirty="0">
                <a:solidFill>
                  <a:srgbClr val="3333B2"/>
                </a:solidFill>
                <a:latin typeface="Arial"/>
                <a:cs typeface="Arial"/>
              </a:rPr>
              <a:t> </a:t>
            </a:r>
            <a:r>
              <a:rPr sz="1200" dirty="0">
                <a:solidFill>
                  <a:srgbClr val="3333B2"/>
                </a:solidFill>
                <a:latin typeface="Arial"/>
                <a:cs typeface="Arial"/>
              </a:rPr>
              <a:t>participant</a:t>
            </a:r>
            <a:r>
              <a:rPr sz="1200" spc="-5" dirty="0">
                <a:solidFill>
                  <a:srgbClr val="3333B2"/>
                </a:solidFill>
                <a:latin typeface="Arial"/>
                <a:cs typeface="Arial"/>
              </a:rPr>
              <a:t> </a:t>
            </a:r>
            <a:r>
              <a:rPr sz="1200" spc="-10" dirty="0">
                <a:solidFill>
                  <a:srgbClr val="3333B2"/>
                </a:solidFill>
                <a:latin typeface="Arial"/>
                <a:cs typeface="Arial"/>
              </a:rPr>
              <a:t>crashes</a:t>
            </a:r>
            <a:r>
              <a:rPr sz="1200" spc="-5" dirty="0">
                <a:solidFill>
                  <a:srgbClr val="3333B2"/>
                </a:solidFill>
                <a:latin typeface="Arial"/>
                <a:cs typeface="Arial"/>
              </a:rPr>
              <a:t> in state </a:t>
            </a:r>
            <a:r>
              <a:rPr sz="1200" i="1" spc="25" dirty="0">
                <a:solidFill>
                  <a:srgbClr val="3333B2"/>
                </a:solidFill>
                <a:latin typeface="Arial"/>
                <a:cs typeface="Arial"/>
              </a:rPr>
              <a:t>S</a:t>
            </a:r>
            <a:r>
              <a:rPr sz="1200" spc="25" dirty="0">
                <a:solidFill>
                  <a:srgbClr val="3333B2"/>
                </a:solidFill>
                <a:latin typeface="Arial"/>
                <a:cs typeface="Arial"/>
              </a:rPr>
              <a:t>,</a:t>
            </a:r>
            <a:r>
              <a:rPr sz="1200" spc="-5" dirty="0">
                <a:solidFill>
                  <a:srgbClr val="3333B2"/>
                </a:solidFill>
                <a:latin typeface="Arial"/>
                <a:cs typeface="Arial"/>
              </a:rPr>
              <a:t> and</a:t>
            </a:r>
            <a:r>
              <a:rPr sz="1200" dirty="0">
                <a:solidFill>
                  <a:srgbClr val="3333B2"/>
                </a:solidFill>
                <a:latin typeface="Arial"/>
                <a:cs typeface="Arial"/>
              </a:rPr>
              <a:t> </a:t>
            </a:r>
            <a:r>
              <a:rPr sz="1200" spc="-10" dirty="0">
                <a:solidFill>
                  <a:srgbClr val="3333B2"/>
                </a:solidFill>
                <a:latin typeface="Arial"/>
                <a:cs typeface="Arial"/>
              </a:rPr>
              <a:t>recovers</a:t>
            </a:r>
            <a:r>
              <a:rPr sz="1200" spc="-5" dirty="0">
                <a:solidFill>
                  <a:srgbClr val="3333B2"/>
                </a:solidFill>
                <a:latin typeface="Arial"/>
                <a:cs typeface="Arial"/>
              </a:rPr>
              <a:t> to </a:t>
            </a:r>
            <a:r>
              <a:rPr sz="1200" i="1" spc="-5" dirty="0">
                <a:solidFill>
                  <a:srgbClr val="3333B2"/>
                </a:solidFill>
                <a:latin typeface="Arial"/>
                <a:cs typeface="Arial"/>
              </a:rPr>
              <a:t>S</a:t>
            </a:r>
            <a:endParaRPr sz="1200">
              <a:latin typeface="Arial"/>
              <a:cs typeface="Arial"/>
            </a:endParaRPr>
          </a:p>
        </p:txBody>
      </p:sp>
      <p:sp>
        <p:nvSpPr>
          <p:cNvPr id="5" name="object 5"/>
          <p:cNvSpPr txBox="1"/>
          <p:nvPr/>
        </p:nvSpPr>
        <p:spPr>
          <a:xfrm>
            <a:off x="456704" y="1963844"/>
            <a:ext cx="3678554" cy="329565"/>
          </a:xfrm>
          <a:prstGeom prst="rect">
            <a:avLst/>
          </a:prstGeom>
        </p:spPr>
        <p:txBody>
          <a:bodyPr vert="horz" wrap="square" lIns="0" tIns="12065" rIns="0" bIns="0" rtlCol="0">
            <a:spAutoFit/>
          </a:bodyPr>
          <a:lstStyle/>
          <a:p>
            <a:pPr marL="180340" marR="5080" indent="-168275">
              <a:lnSpc>
                <a:spcPct val="100000"/>
              </a:lnSpc>
              <a:spcBef>
                <a:spcPts val="95"/>
              </a:spcBef>
              <a:buClr>
                <a:srgbClr val="3333B2"/>
              </a:buClr>
              <a:buFont typeface="Arial"/>
              <a:buChar char="►"/>
              <a:tabLst>
                <a:tab pos="180975" algn="l"/>
              </a:tabLst>
            </a:pPr>
            <a:r>
              <a:rPr sz="1000" i="1" spc="-5" dirty="0">
                <a:solidFill>
                  <a:srgbClr val="FA0000"/>
                </a:solidFill>
                <a:latin typeface="Arial"/>
                <a:cs typeface="Arial"/>
              </a:rPr>
              <a:t>COMMIT </a:t>
            </a:r>
            <a:r>
              <a:rPr sz="1000" spc="-5" dirty="0">
                <a:latin typeface="Arial"/>
                <a:cs typeface="Arial"/>
              </a:rPr>
              <a:t>: Also </a:t>
            </a:r>
            <a:r>
              <a:rPr sz="1000" spc="-10" dirty="0">
                <a:latin typeface="Arial"/>
                <a:cs typeface="Arial"/>
              </a:rPr>
              <a:t>make </a:t>
            </a:r>
            <a:r>
              <a:rPr sz="1000" dirty="0">
                <a:latin typeface="Arial"/>
                <a:cs typeface="Arial"/>
              </a:rPr>
              <a:t>entry </a:t>
            </a:r>
            <a:r>
              <a:rPr sz="1000" spc="-5" dirty="0">
                <a:latin typeface="Arial"/>
                <a:cs typeface="Arial"/>
              </a:rPr>
              <a:t>into commit state idempotent, e.g., </a:t>
            </a:r>
            <a:r>
              <a:rPr sz="1000" spc="-265" dirty="0">
                <a:latin typeface="Arial"/>
                <a:cs typeface="Arial"/>
              </a:rPr>
              <a:t> </a:t>
            </a:r>
            <a:r>
              <a:rPr sz="1000" spc="-10" dirty="0">
                <a:latin typeface="Arial"/>
                <a:cs typeface="Arial"/>
              </a:rPr>
              <a:t>copying </a:t>
            </a:r>
            <a:r>
              <a:rPr sz="1000" spc="-5" dirty="0">
                <a:latin typeface="Arial"/>
                <a:cs typeface="Arial"/>
              </a:rPr>
              <a:t>workspace to storage.</a:t>
            </a:r>
            <a:endParaRPr sz="1000">
              <a:latin typeface="Arial"/>
              <a:cs typeface="Arial"/>
            </a:endParaRP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54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pc="20" dirty="0"/>
              <a:t>2PC</a:t>
            </a:r>
            <a:r>
              <a:rPr dirty="0"/>
              <a:t> </a:t>
            </a:r>
            <a:r>
              <a:rPr spc="15" dirty="0"/>
              <a:t>–</a:t>
            </a:r>
            <a:r>
              <a:rPr dirty="0"/>
              <a:t> Failing </a:t>
            </a:r>
            <a:r>
              <a:rPr spc="15" dirty="0"/>
              <a:t>participant</a:t>
            </a:r>
          </a:p>
        </p:txBody>
      </p:sp>
      <p:sp>
        <p:nvSpPr>
          <p:cNvPr id="4" name="object 4"/>
          <p:cNvSpPr txBox="1"/>
          <p:nvPr/>
        </p:nvSpPr>
        <p:spPr>
          <a:xfrm>
            <a:off x="316890" y="543455"/>
            <a:ext cx="3961765" cy="257365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Analysis:</a:t>
            </a:r>
            <a:r>
              <a:rPr sz="1200" spc="75" dirty="0">
                <a:solidFill>
                  <a:srgbClr val="3333B2"/>
                </a:solidFill>
                <a:latin typeface="Arial"/>
                <a:cs typeface="Arial"/>
              </a:rPr>
              <a:t> </a:t>
            </a:r>
            <a:r>
              <a:rPr sz="1200" dirty="0">
                <a:solidFill>
                  <a:srgbClr val="3333B2"/>
                </a:solidFill>
                <a:latin typeface="Arial"/>
                <a:cs typeface="Arial"/>
              </a:rPr>
              <a:t>participant</a:t>
            </a:r>
            <a:r>
              <a:rPr sz="1200" spc="-5" dirty="0">
                <a:solidFill>
                  <a:srgbClr val="3333B2"/>
                </a:solidFill>
                <a:latin typeface="Arial"/>
                <a:cs typeface="Arial"/>
              </a:rPr>
              <a:t> </a:t>
            </a:r>
            <a:r>
              <a:rPr sz="1200" spc="-10" dirty="0">
                <a:solidFill>
                  <a:srgbClr val="3333B2"/>
                </a:solidFill>
                <a:latin typeface="Arial"/>
                <a:cs typeface="Arial"/>
              </a:rPr>
              <a:t>crashes</a:t>
            </a:r>
            <a:r>
              <a:rPr sz="1200" spc="-5" dirty="0">
                <a:solidFill>
                  <a:srgbClr val="3333B2"/>
                </a:solidFill>
                <a:latin typeface="Arial"/>
                <a:cs typeface="Arial"/>
              </a:rPr>
              <a:t> in state </a:t>
            </a:r>
            <a:r>
              <a:rPr sz="1200" i="1" spc="25" dirty="0">
                <a:solidFill>
                  <a:srgbClr val="3333B2"/>
                </a:solidFill>
                <a:latin typeface="Arial"/>
                <a:cs typeface="Arial"/>
              </a:rPr>
              <a:t>S</a:t>
            </a:r>
            <a:r>
              <a:rPr sz="1200" spc="25" dirty="0">
                <a:solidFill>
                  <a:srgbClr val="3333B2"/>
                </a:solidFill>
                <a:latin typeface="Arial"/>
                <a:cs typeface="Arial"/>
              </a:rPr>
              <a:t>,</a:t>
            </a:r>
            <a:r>
              <a:rPr sz="1200" spc="-5" dirty="0">
                <a:solidFill>
                  <a:srgbClr val="3333B2"/>
                </a:solidFill>
                <a:latin typeface="Arial"/>
                <a:cs typeface="Arial"/>
              </a:rPr>
              <a:t> and</a:t>
            </a:r>
            <a:r>
              <a:rPr sz="1200" dirty="0">
                <a:solidFill>
                  <a:srgbClr val="3333B2"/>
                </a:solidFill>
                <a:latin typeface="Arial"/>
                <a:cs typeface="Arial"/>
              </a:rPr>
              <a:t> </a:t>
            </a:r>
            <a:r>
              <a:rPr sz="1200" spc="-10" dirty="0">
                <a:solidFill>
                  <a:srgbClr val="3333B2"/>
                </a:solidFill>
                <a:latin typeface="Arial"/>
                <a:cs typeface="Arial"/>
              </a:rPr>
              <a:t>recovers</a:t>
            </a:r>
            <a:r>
              <a:rPr sz="1200" spc="-5" dirty="0">
                <a:solidFill>
                  <a:srgbClr val="3333B2"/>
                </a:solidFill>
                <a:latin typeface="Arial"/>
                <a:cs typeface="Arial"/>
              </a:rPr>
              <a:t> to </a:t>
            </a:r>
            <a:r>
              <a:rPr sz="1200" i="1" spc="-5" dirty="0">
                <a:solidFill>
                  <a:srgbClr val="3333B2"/>
                </a:solidFill>
                <a:latin typeface="Arial"/>
                <a:cs typeface="Arial"/>
              </a:rPr>
              <a:t>S</a:t>
            </a:r>
            <a:endParaRPr sz="1200">
              <a:latin typeface="Arial"/>
              <a:cs typeface="Arial"/>
            </a:endParaRPr>
          </a:p>
          <a:p>
            <a:pPr marL="320040" indent="-168275">
              <a:lnSpc>
                <a:spcPct val="100000"/>
              </a:lnSpc>
              <a:spcBef>
                <a:spcPts val="780"/>
              </a:spcBef>
              <a:buClr>
                <a:srgbClr val="3333B2"/>
              </a:buClr>
              <a:buFont typeface="Arial"/>
              <a:buChar char="►"/>
              <a:tabLst>
                <a:tab pos="320675" algn="l"/>
              </a:tabLst>
            </a:pPr>
            <a:r>
              <a:rPr sz="1000" i="1" spc="-5" dirty="0">
                <a:solidFill>
                  <a:srgbClr val="FA0000"/>
                </a:solidFill>
                <a:latin typeface="Arial"/>
                <a:cs typeface="Arial"/>
              </a:rPr>
              <a:t>INIT</a:t>
            </a:r>
            <a:r>
              <a:rPr sz="1000" i="1" spc="-140" dirty="0">
                <a:solidFill>
                  <a:srgbClr val="FA0000"/>
                </a:solidFill>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No problem:</a:t>
            </a:r>
            <a:r>
              <a:rPr sz="1000" spc="60" dirty="0">
                <a:latin typeface="Arial"/>
                <a:cs typeface="Arial"/>
              </a:rPr>
              <a:t> </a:t>
            </a:r>
            <a:r>
              <a:rPr sz="1000" dirty="0">
                <a:latin typeface="Arial"/>
                <a:cs typeface="Arial"/>
              </a:rPr>
              <a:t>participant</a:t>
            </a:r>
            <a:r>
              <a:rPr sz="1000" spc="-5" dirty="0">
                <a:latin typeface="Arial"/>
                <a:cs typeface="Arial"/>
              </a:rPr>
              <a:t> </a:t>
            </a:r>
            <a:r>
              <a:rPr sz="1000" spc="-10" dirty="0">
                <a:latin typeface="Arial"/>
                <a:cs typeface="Arial"/>
              </a:rPr>
              <a:t>was</a:t>
            </a:r>
            <a:r>
              <a:rPr sz="1000" spc="-5" dirty="0">
                <a:latin typeface="Arial"/>
                <a:cs typeface="Arial"/>
              </a:rPr>
              <a:t> </a:t>
            </a:r>
            <a:r>
              <a:rPr sz="1000" spc="-10" dirty="0">
                <a:latin typeface="Arial"/>
                <a:cs typeface="Arial"/>
              </a:rPr>
              <a:t>unaware</a:t>
            </a:r>
            <a:r>
              <a:rPr sz="1000" spc="-5" dirty="0">
                <a:latin typeface="Arial"/>
                <a:cs typeface="Arial"/>
              </a:rPr>
              <a:t> of protocol</a:t>
            </a:r>
            <a:endParaRPr sz="1000">
              <a:latin typeface="Arial"/>
              <a:cs typeface="Arial"/>
            </a:endParaRPr>
          </a:p>
          <a:p>
            <a:pPr marL="320040" marR="204470" indent="-168275">
              <a:lnSpc>
                <a:spcPct val="100000"/>
              </a:lnSpc>
              <a:spcBef>
                <a:spcPts val="590"/>
              </a:spcBef>
              <a:buClr>
                <a:srgbClr val="3333B2"/>
              </a:buClr>
              <a:buFont typeface="Arial"/>
              <a:buChar char="►"/>
              <a:tabLst>
                <a:tab pos="320675" algn="l"/>
              </a:tabLst>
            </a:pPr>
            <a:r>
              <a:rPr sz="1000" i="1" spc="-25" dirty="0">
                <a:solidFill>
                  <a:srgbClr val="FA0000"/>
                </a:solidFill>
                <a:latin typeface="Arial"/>
                <a:cs typeface="Arial"/>
              </a:rPr>
              <a:t>READY</a:t>
            </a:r>
            <a:r>
              <a:rPr sz="1000" i="1" spc="-140" dirty="0">
                <a:solidFill>
                  <a:srgbClr val="FA0000"/>
                </a:solidFill>
                <a:latin typeface="Arial"/>
                <a:cs typeface="Arial"/>
              </a:rPr>
              <a:t> </a:t>
            </a:r>
            <a:r>
              <a:rPr sz="1000" spc="-5" dirty="0">
                <a:latin typeface="Arial"/>
                <a:cs typeface="Arial"/>
              </a:rPr>
              <a:t>:</a:t>
            </a:r>
            <a:r>
              <a:rPr sz="1000" spc="70" dirty="0">
                <a:latin typeface="Arial"/>
                <a:cs typeface="Arial"/>
              </a:rPr>
              <a:t> </a:t>
            </a:r>
            <a:r>
              <a:rPr sz="1000" spc="-5" dirty="0">
                <a:latin typeface="Arial"/>
                <a:cs typeface="Arial"/>
              </a:rPr>
              <a:t>Participant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waiting</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either</a:t>
            </a:r>
            <a:r>
              <a:rPr sz="1000" dirty="0">
                <a:latin typeface="Arial"/>
                <a:cs typeface="Arial"/>
              </a:rPr>
              <a:t> </a:t>
            </a:r>
            <a:r>
              <a:rPr sz="1000" spc="-5" dirty="0">
                <a:latin typeface="Arial"/>
                <a:cs typeface="Arial"/>
              </a:rPr>
              <a:t>commit</a:t>
            </a:r>
            <a:r>
              <a:rPr sz="1000" spc="5" dirty="0">
                <a:latin typeface="Arial"/>
                <a:cs typeface="Arial"/>
              </a:rPr>
              <a:t> </a:t>
            </a:r>
            <a:r>
              <a:rPr sz="1000" spc="-5" dirty="0">
                <a:latin typeface="Arial"/>
                <a:cs typeface="Arial"/>
              </a:rPr>
              <a:t>or</a:t>
            </a:r>
            <a:r>
              <a:rPr sz="1000" dirty="0">
                <a:latin typeface="Arial"/>
                <a:cs typeface="Arial"/>
              </a:rPr>
              <a:t> abort.</a:t>
            </a:r>
            <a:r>
              <a:rPr sz="1000" spc="65" dirty="0">
                <a:latin typeface="Arial"/>
                <a:cs typeface="Arial"/>
              </a:rPr>
              <a:t> </a:t>
            </a:r>
            <a:r>
              <a:rPr sz="1000" spc="-5" dirty="0">
                <a:latin typeface="Arial"/>
                <a:cs typeface="Arial"/>
              </a:rPr>
              <a:t>After </a:t>
            </a:r>
            <a:r>
              <a:rPr sz="1000" spc="-260" dirty="0">
                <a:latin typeface="Arial"/>
                <a:cs typeface="Arial"/>
              </a:rPr>
              <a:t> </a:t>
            </a:r>
            <a:r>
              <a:rPr sz="1000" spc="-15" dirty="0">
                <a:latin typeface="Arial"/>
                <a:cs typeface="Arial"/>
              </a:rPr>
              <a:t>recovery,</a:t>
            </a:r>
            <a:r>
              <a:rPr sz="1000" spc="-5" dirty="0">
                <a:latin typeface="Arial"/>
                <a:cs typeface="Arial"/>
              </a:rPr>
              <a:t> </a:t>
            </a:r>
            <a:r>
              <a:rPr sz="1000" dirty="0">
                <a:latin typeface="Arial"/>
                <a:cs typeface="Arial"/>
              </a:rPr>
              <a:t>participant</a:t>
            </a:r>
            <a:r>
              <a:rPr sz="1000" spc="-5" dirty="0">
                <a:latin typeface="Arial"/>
                <a:cs typeface="Arial"/>
              </a:rPr>
              <a:t> needs</a:t>
            </a:r>
            <a:r>
              <a:rPr sz="1000" dirty="0">
                <a:latin typeface="Arial"/>
                <a:cs typeface="Arial"/>
              </a:rPr>
              <a:t> </a:t>
            </a:r>
            <a:r>
              <a:rPr sz="1000" spc="-5" dirty="0">
                <a:latin typeface="Arial"/>
                <a:cs typeface="Arial"/>
              </a:rPr>
              <a:t>to </a:t>
            </a:r>
            <a:r>
              <a:rPr sz="1000" spc="-10" dirty="0">
                <a:latin typeface="Arial"/>
                <a:cs typeface="Arial"/>
              </a:rPr>
              <a:t>know</a:t>
            </a:r>
            <a:r>
              <a:rPr sz="1000" spc="-5" dirty="0">
                <a:latin typeface="Arial"/>
                <a:cs typeface="Arial"/>
              </a:rPr>
              <a:t> which</a:t>
            </a:r>
            <a:r>
              <a:rPr sz="1000" dirty="0">
                <a:latin typeface="Arial"/>
                <a:cs typeface="Arial"/>
              </a:rPr>
              <a:t> </a:t>
            </a:r>
            <a:r>
              <a:rPr sz="1000" spc="-5" dirty="0">
                <a:latin typeface="Arial"/>
                <a:cs typeface="Arial"/>
              </a:rPr>
              <a:t>state transition it </a:t>
            </a:r>
            <a:r>
              <a:rPr sz="1000" dirty="0">
                <a:latin typeface="Arial"/>
                <a:cs typeface="Arial"/>
              </a:rPr>
              <a:t> </a:t>
            </a:r>
            <a:r>
              <a:rPr sz="1000" spc="-5" dirty="0">
                <a:latin typeface="Arial"/>
                <a:cs typeface="Arial"/>
              </a:rPr>
              <a:t>should </a:t>
            </a:r>
            <a:r>
              <a:rPr sz="1000" spc="-10" dirty="0">
                <a:latin typeface="Arial"/>
                <a:cs typeface="Arial"/>
              </a:rPr>
              <a:t>make</a:t>
            </a:r>
            <a:r>
              <a:rPr sz="1000" spc="-5"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log the </a:t>
            </a:r>
            <a:r>
              <a:rPr sz="1000" spc="-10" dirty="0">
                <a:latin typeface="Arial"/>
                <a:cs typeface="Arial"/>
              </a:rPr>
              <a:t>coordinator’s</a:t>
            </a:r>
            <a:r>
              <a:rPr sz="1000" dirty="0">
                <a:latin typeface="Arial"/>
                <a:cs typeface="Arial"/>
              </a:rPr>
              <a:t> </a:t>
            </a:r>
            <a:r>
              <a:rPr sz="1000" spc="-5" dirty="0">
                <a:latin typeface="Arial"/>
                <a:cs typeface="Arial"/>
              </a:rPr>
              <a:t>decision</a:t>
            </a:r>
            <a:endParaRPr sz="1000">
              <a:latin typeface="Arial"/>
              <a:cs typeface="Arial"/>
            </a:endParaRPr>
          </a:p>
          <a:p>
            <a:pPr marL="320040" marR="210185" indent="-168275">
              <a:lnSpc>
                <a:spcPct val="100000"/>
              </a:lnSpc>
              <a:spcBef>
                <a:spcPts val="585"/>
              </a:spcBef>
              <a:buClr>
                <a:srgbClr val="3333B2"/>
              </a:buClr>
              <a:buFont typeface="Arial"/>
              <a:buChar char="►"/>
              <a:tabLst>
                <a:tab pos="320675" algn="l"/>
              </a:tabLst>
            </a:pPr>
            <a:r>
              <a:rPr sz="1000" i="1" spc="-10" dirty="0">
                <a:solidFill>
                  <a:srgbClr val="FA0000"/>
                </a:solidFill>
                <a:latin typeface="Arial"/>
                <a:cs typeface="Arial"/>
              </a:rPr>
              <a:t>ABORT </a:t>
            </a:r>
            <a:r>
              <a:rPr sz="1000" spc="-5" dirty="0">
                <a:latin typeface="Arial"/>
                <a:cs typeface="Arial"/>
              </a:rPr>
              <a:t>: Merely </a:t>
            </a:r>
            <a:r>
              <a:rPr sz="1000" spc="-10" dirty="0">
                <a:latin typeface="Arial"/>
                <a:cs typeface="Arial"/>
              </a:rPr>
              <a:t>make </a:t>
            </a:r>
            <a:r>
              <a:rPr sz="1000" dirty="0">
                <a:latin typeface="Arial"/>
                <a:cs typeface="Arial"/>
              </a:rPr>
              <a:t>entry </a:t>
            </a:r>
            <a:r>
              <a:rPr sz="1000" spc="-5" dirty="0">
                <a:latin typeface="Arial"/>
                <a:cs typeface="Arial"/>
              </a:rPr>
              <a:t>into </a:t>
            </a:r>
            <a:r>
              <a:rPr sz="1000" spc="5" dirty="0">
                <a:latin typeface="Arial"/>
                <a:cs typeface="Arial"/>
              </a:rPr>
              <a:t>abort </a:t>
            </a:r>
            <a:r>
              <a:rPr sz="1000" spc="-5" dirty="0">
                <a:latin typeface="Arial"/>
                <a:cs typeface="Arial"/>
              </a:rPr>
              <a:t>state </a:t>
            </a:r>
            <a:r>
              <a:rPr sz="1000" spc="-5" dirty="0">
                <a:solidFill>
                  <a:srgbClr val="0000FA"/>
                </a:solidFill>
                <a:latin typeface="Arial"/>
                <a:cs typeface="Arial"/>
              </a:rPr>
              <a:t>idempotent</a:t>
            </a:r>
            <a:r>
              <a:rPr sz="1000" spc="-5" dirty="0">
                <a:latin typeface="Arial"/>
                <a:cs typeface="Arial"/>
              </a:rPr>
              <a:t>, e.g., </a:t>
            </a:r>
            <a:r>
              <a:rPr sz="1000" spc="-270" dirty="0">
                <a:latin typeface="Arial"/>
                <a:cs typeface="Arial"/>
              </a:rPr>
              <a:t> </a:t>
            </a:r>
            <a:r>
              <a:rPr sz="1000" spc="-5" dirty="0">
                <a:latin typeface="Arial"/>
                <a:cs typeface="Arial"/>
              </a:rPr>
              <a:t>removing</a:t>
            </a:r>
            <a:r>
              <a:rPr sz="1000" spc="-10" dirty="0">
                <a:latin typeface="Arial"/>
                <a:cs typeface="Arial"/>
              </a:rPr>
              <a:t> </a:t>
            </a:r>
            <a:r>
              <a:rPr sz="1000" spc="-5" dirty="0">
                <a:latin typeface="Arial"/>
                <a:cs typeface="Arial"/>
              </a:rPr>
              <a:t>the workspace of results</a:t>
            </a:r>
            <a:endParaRPr sz="1000">
              <a:latin typeface="Arial"/>
              <a:cs typeface="Arial"/>
            </a:endParaRPr>
          </a:p>
          <a:p>
            <a:pPr marL="320040" marR="148590" indent="-168275">
              <a:lnSpc>
                <a:spcPct val="100000"/>
              </a:lnSpc>
              <a:spcBef>
                <a:spcPts val="590"/>
              </a:spcBef>
              <a:buClr>
                <a:srgbClr val="3333B2"/>
              </a:buClr>
              <a:buFont typeface="Arial"/>
              <a:buChar char="►"/>
              <a:tabLst>
                <a:tab pos="320675" algn="l"/>
              </a:tabLst>
            </a:pPr>
            <a:r>
              <a:rPr sz="1000" i="1" spc="-5" dirty="0">
                <a:solidFill>
                  <a:srgbClr val="FA0000"/>
                </a:solidFill>
                <a:latin typeface="Arial"/>
                <a:cs typeface="Arial"/>
              </a:rPr>
              <a:t>COMMIT </a:t>
            </a:r>
            <a:r>
              <a:rPr sz="1000" spc="-5" dirty="0">
                <a:latin typeface="Arial"/>
                <a:cs typeface="Arial"/>
              </a:rPr>
              <a:t>: Also </a:t>
            </a:r>
            <a:r>
              <a:rPr sz="1000" spc="-10" dirty="0">
                <a:latin typeface="Arial"/>
                <a:cs typeface="Arial"/>
              </a:rPr>
              <a:t>make </a:t>
            </a:r>
            <a:r>
              <a:rPr sz="1000" dirty="0">
                <a:latin typeface="Arial"/>
                <a:cs typeface="Arial"/>
              </a:rPr>
              <a:t>entry </a:t>
            </a:r>
            <a:r>
              <a:rPr sz="1000" spc="-5" dirty="0">
                <a:latin typeface="Arial"/>
                <a:cs typeface="Arial"/>
              </a:rPr>
              <a:t>into commit state idempotent, e.g., </a:t>
            </a:r>
            <a:r>
              <a:rPr sz="1000" spc="-265" dirty="0">
                <a:latin typeface="Arial"/>
                <a:cs typeface="Arial"/>
              </a:rPr>
              <a:t> </a:t>
            </a:r>
            <a:r>
              <a:rPr sz="1000" spc="-10" dirty="0">
                <a:latin typeface="Arial"/>
                <a:cs typeface="Arial"/>
              </a:rPr>
              <a:t>copying </a:t>
            </a:r>
            <a:r>
              <a:rPr sz="1000" spc="-5" dirty="0">
                <a:latin typeface="Arial"/>
                <a:cs typeface="Arial"/>
              </a:rPr>
              <a:t>workspace to storage.</a:t>
            </a:r>
            <a:endParaRPr sz="1000">
              <a:latin typeface="Arial"/>
              <a:cs typeface="Arial"/>
            </a:endParaRPr>
          </a:p>
          <a:p>
            <a:pPr>
              <a:lnSpc>
                <a:spcPct val="100000"/>
              </a:lnSpc>
              <a:spcBef>
                <a:spcPts val="10"/>
              </a:spcBef>
            </a:pPr>
            <a:endParaRPr sz="1300">
              <a:latin typeface="Arial"/>
              <a:cs typeface="Arial"/>
            </a:endParaRPr>
          </a:p>
          <a:p>
            <a:pPr marL="42545">
              <a:lnSpc>
                <a:spcPts val="1410"/>
              </a:lnSpc>
            </a:pPr>
            <a:r>
              <a:rPr sz="1200" spc="-5" dirty="0">
                <a:solidFill>
                  <a:srgbClr val="FA0000"/>
                </a:solidFill>
                <a:latin typeface="Arial"/>
                <a:cs typeface="Arial"/>
              </a:rPr>
              <a:t>Observation</a:t>
            </a:r>
            <a:endParaRPr sz="1200">
              <a:latin typeface="Arial"/>
              <a:cs typeface="Arial"/>
            </a:endParaRPr>
          </a:p>
          <a:p>
            <a:pPr marL="42545" marR="19685" indent="-6350">
              <a:lnSpc>
                <a:spcPts val="1200"/>
              </a:lnSpc>
              <a:spcBef>
                <a:spcPts val="15"/>
              </a:spcBef>
            </a:pPr>
            <a:r>
              <a:rPr sz="1000" spc="-5" dirty="0">
                <a:latin typeface="Arial"/>
                <a:cs typeface="Arial"/>
              </a:rPr>
              <a:t>When distributed commit</a:t>
            </a:r>
            <a:r>
              <a:rPr sz="1000" dirty="0">
                <a:latin typeface="Arial"/>
                <a:cs typeface="Arial"/>
              </a:rPr>
              <a:t> </a:t>
            </a:r>
            <a:r>
              <a:rPr sz="1000" spc="-5" dirty="0">
                <a:latin typeface="Arial"/>
                <a:cs typeface="Arial"/>
              </a:rPr>
              <a:t>is required, </a:t>
            </a:r>
            <a:r>
              <a:rPr sz="1000" spc="-10" dirty="0">
                <a:latin typeface="Arial"/>
                <a:cs typeface="Arial"/>
              </a:rPr>
              <a:t>having</a:t>
            </a:r>
            <a:r>
              <a:rPr sz="1000" dirty="0">
                <a:latin typeface="Arial"/>
                <a:cs typeface="Arial"/>
              </a:rPr>
              <a:t> participants</a:t>
            </a:r>
            <a:r>
              <a:rPr sz="1000" spc="-5" dirty="0">
                <a:latin typeface="Arial"/>
                <a:cs typeface="Arial"/>
              </a:rPr>
              <a:t> use </a:t>
            </a:r>
            <a:r>
              <a:rPr sz="1000" dirty="0">
                <a:latin typeface="Arial"/>
                <a:cs typeface="Arial"/>
              </a:rPr>
              <a:t> </a:t>
            </a:r>
            <a:r>
              <a:rPr sz="1000" spc="-5" dirty="0">
                <a:latin typeface="Arial"/>
                <a:cs typeface="Arial"/>
              </a:rPr>
              <a:t>temporary workspaces</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keep</a:t>
            </a:r>
            <a:r>
              <a:rPr sz="1000" dirty="0">
                <a:latin typeface="Arial"/>
                <a:cs typeface="Arial"/>
              </a:rPr>
              <a:t> </a:t>
            </a:r>
            <a:r>
              <a:rPr sz="1000" spc="-5" dirty="0">
                <a:latin typeface="Arial"/>
                <a:cs typeface="Arial"/>
              </a:rPr>
              <a:t>their</a:t>
            </a:r>
            <a:r>
              <a:rPr sz="1000" dirty="0">
                <a:latin typeface="Arial"/>
                <a:cs typeface="Arial"/>
              </a:rPr>
              <a:t> </a:t>
            </a:r>
            <a:r>
              <a:rPr sz="1000" spc="-5" dirty="0">
                <a:latin typeface="Arial"/>
                <a:cs typeface="Arial"/>
              </a:rPr>
              <a:t>results</a:t>
            </a:r>
            <a:r>
              <a:rPr sz="1000" dirty="0">
                <a:latin typeface="Arial"/>
                <a:cs typeface="Arial"/>
              </a:rPr>
              <a:t> </a:t>
            </a:r>
            <a:r>
              <a:rPr sz="1000" spc="-5" dirty="0">
                <a:latin typeface="Arial"/>
                <a:cs typeface="Arial"/>
              </a:rPr>
              <a:t>allows</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simple</a:t>
            </a:r>
            <a:r>
              <a:rPr sz="1000" dirty="0">
                <a:latin typeface="Arial"/>
                <a:cs typeface="Arial"/>
              </a:rPr>
              <a:t> </a:t>
            </a:r>
            <a:r>
              <a:rPr sz="1000" spc="-5" dirty="0">
                <a:latin typeface="Arial"/>
                <a:cs typeface="Arial"/>
              </a:rPr>
              <a:t>recovery </a:t>
            </a:r>
            <a:r>
              <a:rPr sz="1000" spc="-265" dirty="0">
                <a:latin typeface="Arial"/>
                <a:cs typeface="Arial"/>
              </a:rPr>
              <a:t> </a:t>
            </a:r>
            <a:r>
              <a:rPr sz="1000" spc="-5" dirty="0">
                <a:latin typeface="Arial"/>
                <a:cs typeface="Arial"/>
              </a:rPr>
              <a:t>in</a:t>
            </a:r>
            <a:r>
              <a:rPr sz="1000" spc="-10" dirty="0">
                <a:latin typeface="Arial"/>
                <a:cs typeface="Arial"/>
              </a:rPr>
              <a:t> </a:t>
            </a:r>
            <a:r>
              <a:rPr sz="1000" spc="-5" dirty="0">
                <a:latin typeface="Arial"/>
                <a:cs typeface="Arial"/>
              </a:rPr>
              <a:t>the presence of </a:t>
            </a:r>
            <a:r>
              <a:rPr sz="1000" spc="-10" dirty="0">
                <a:latin typeface="Arial"/>
                <a:cs typeface="Arial"/>
              </a:rPr>
              <a:t>failures.</a:t>
            </a:r>
            <a:endParaRPr sz="1000">
              <a:latin typeface="Arial"/>
              <a:cs typeface="Arial"/>
            </a:endParaRP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55</a:t>
            </a:r>
            <a:r>
              <a:rPr spc="-40" dirty="0"/>
              <a:t> </a:t>
            </a:r>
            <a:r>
              <a:rPr spc="-5" dirty="0"/>
              <a:t>/</a:t>
            </a:r>
            <a:r>
              <a:rPr spc="-35" dirty="0"/>
              <a:t> </a:t>
            </a:r>
            <a:r>
              <a:rPr spc="-5" dirty="0"/>
              <a:t>68</a:t>
            </a: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008505" cy="244475"/>
          </a:xfrm>
          <a:prstGeom prst="rect">
            <a:avLst/>
          </a:prstGeom>
        </p:spPr>
        <p:txBody>
          <a:bodyPr vert="horz" wrap="square" lIns="0" tIns="17145" rIns="0" bIns="0" rtlCol="0">
            <a:spAutoFit/>
          </a:bodyPr>
          <a:lstStyle/>
          <a:p>
            <a:pPr marL="12700">
              <a:lnSpc>
                <a:spcPct val="100000"/>
              </a:lnSpc>
              <a:spcBef>
                <a:spcPts val="135"/>
              </a:spcBef>
            </a:pPr>
            <a:r>
              <a:rPr spc="20" dirty="0"/>
              <a:t>2PC</a:t>
            </a:r>
            <a:r>
              <a:rPr dirty="0"/>
              <a:t> </a:t>
            </a:r>
            <a:r>
              <a:rPr spc="15" dirty="0"/>
              <a:t>–</a:t>
            </a:r>
            <a:r>
              <a:rPr dirty="0"/>
              <a:t> Failing </a:t>
            </a:r>
            <a:r>
              <a:rPr spc="15" dirty="0"/>
              <a:t>participant</a:t>
            </a:r>
          </a:p>
        </p:txBody>
      </p:sp>
      <p:sp>
        <p:nvSpPr>
          <p:cNvPr id="4" name="object 4"/>
          <p:cNvSpPr txBox="1"/>
          <p:nvPr/>
        </p:nvSpPr>
        <p:spPr>
          <a:xfrm>
            <a:off x="341350" y="532089"/>
            <a:ext cx="3771900" cy="775970"/>
          </a:xfrm>
          <a:prstGeom prst="rect">
            <a:avLst/>
          </a:prstGeom>
        </p:spPr>
        <p:txBody>
          <a:bodyPr vert="horz" wrap="square" lIns="0" tIns="12065" rIns="0" bIns="0" rtlCol="0">
            <a:spAutoFit/>
          </a:bodyPr>
          <a:lstStyle/>
          <a:p>
            <a:pPr marL="13335">
              <a:lnSpc>
                <a:spcPts val="1410"/>
              </a:lnSpc>
              <a:spcBef>
                <a:spcPts val="95"/>
              </a:spcBef>
            </a:pPr>
            <a:r>
              <a:rPr sz="1200" spc="-5" dirty="0">
                <a:solidFill>
                  <a:srgbClr val="3333B2"/>
                </a:solidFill>
                <a:latin typeface="Arial"/>
                <a:cs typeface="Arial"/>
              </a:rPr>
              <a:t>Alternative</a:t>
            </a:r>
            <a:endParaRPr sz="1200">
              <a:latin typeface="Arial"/>
              <a:cs typeface="Arial"/>
            </a:endParaRPr>
          </a:p>
          <a:p>
            <a:pPr marL="18415" marR="114935" indent="-6350">
              <a:lnSpc>
                <a:spcPts val="1200"/>
              </a:lnSpc>
              <a:spcBef>
                <a:spcPts val="10"/>
              </a:spcBef>
            </a:pPr>
            <a:r>
              <a:rPr sz="1000" spc="-5" dirty="0">
                <a:latin typeface="Arial"/>
                <a:cs typeface="Arial"/>
              </a:rPr>
              <a:t>When a recovery is needed to </a:t>
            </a:r>
            <a:r>
              <a:rPr sz="1000" i="1" spc="-25" dirty="0">
                <a:latin typeface="Arial"/>
                <a:cs typeface="Arial"/>
              </a:rPr>
              <a:t>READY</a:t>
            </a:r>
            <a:r>
              <a:rPr sz="1000" i="1" spc="-20" dirty="0">
                <a:latin typeface="Arial"/>
                <a:cs typeface="Arial"/>
              </a:rPr>
              <a:t> </a:t>
            </a:r>
            <a:r>
              <a:rPr sz="1000" spc="-5" dirty="0">
                <a:latin typeface="Arial"/>
                <a:cs typeface="Arial"/>
              </a:rPr>
              <a:t>state, </a:t>
            </a:r>
            <a:r>
              <a:rPr sz="1000" spc="-10" dirty="0">
                <a:latin typeface="Arial"/>
                <a:cs typeface="Arial"/>
              </a:rPr>
              <a:t>check </a:t>
            </a:r>
            <a:r>
              <a:rPr sz="1000" spc="-5" dirty="0">
                <a:latin typeface="Arial"/>
                <a:cs typeface="Arial"/>
              </a:rPr>
              <a:t>state of other </a:t>
            </a:r>
            <a:r>
              <a:rPr sz="1000" spc="-265" dirty="0">
                <a:latin typeface="Arial"/>
                <a:cs typeface="Arial"/>
              </a:rPr>
              <a:t> </a:t>
            </a:r>
            <a:r>
              <a:rPr sz="1000" dirty="0">
                <a:latin typeface="Arial"/>
                <a:cs typeface="Arial"/>
              </a:rPr>
              <a:t>participants</a:t>
            </a:r>
            <a:r>
              <a:rPr sz="1000" spc="-5" dirty="0">
                <a:latin typeface="Arial"/>
                <a:cs typeface="Arial"/>
              </a:rPr>
              <a:t> </a:t>
            </a:r>
            <a:r>
              <a:rPr sz="1000" i="1" spc="-5" dirty="0">
                <a:latin typeface="メイリオ"/>
                <a:cs typeface="メイリオ"/>
              </a:rPr>
              <a:t>⇒</a:t>
            </a:r>
            <a:r>
              <a:rPr sz="1000" i="1" spc="-65" dirty="0">
                <a:latin typeface="メイリオ"/>
                <a:cs typeface="メイリオ"/>
              </a:rPr>
              <a:t> </a:t>
            </a:r>
            <a:r>
              <a:rPr sz="1000" spc="-5" dirty="0">
                <a:latin typeface="Arial"/>
                <a:cs typeface="Arial"/>
              </a:rPr>
              <a:t>no need</a:t>
            </a:r>
            <a:r>
              <a:rPr sz="1000" dirty="0">
                <a:latin typeface="Arial"/>
                <a:cs typeface="Arial"/>
              </a:rPr>
              <a:t> </a:t>
            </a:r>
            <a:r>
              <a:rPr sz="1000" spc="-5" dirty="0">
                <a:latin typeface="Arial"/>
                <a:cs typeface="Arial"/>
              </a:rPr>
              <a:t>to log </a:t>
            </a:r>
            <a:r>
              <a:rPr sz="1000" spc="-10" dirty="0">
                <a:latin typeface="Arial"/>
                <a:cs typeface="Arial"/>
              </a:rPr>
              <a:t>coordinator’s</a:t>
            </a:r>
            <a:r>
              <a:rPr sz="1000" spc="-5" dirty="0">
                <a:latin typeface="Arial"/>
                <a:cs typeface="Arial"/>
              </a:rPr>
              <a:t> decision.</a:t>
            </a:r>
            <a:endParaRPr sz="1000">
              <a:latin typeface="Arial"/>
              <a:cs typeface="Arial"/>
            </a:endParaRPr>
          </a:p>
          <a:p>
            <a:pPr marL="18415">
              <a:lnSpc>
                <a:spcPct val="100000"/>
              </a:lnSpc>
              <a:spcBef>
                <a:spcPts val="650"/>
              </a:spcBef>
            </a:pPr>
            <a:r>
              <a:rPr sz="1200" spc="-10" dirty="0">
                <a:solidFill>
                  <a:srgbClr val="007C00"/>
                </a:solidFill>
                <a:latin typeface="Arial"/>
                <a:cs typeface="Arial"/>
              </a:rPr>
              <a:t>Recovering</a:t>
            </a:r>
            <a:r>
              <a:rPr sz="1200" dirty="0">
                <a:solidFill>
                  <a:srgbClr val="007C00"/>
                </a:solidFill>
                <a:latin typeface="Arial"/>
                <a:cs typeface="Arial"/>
              </a:rPr>
              <a:t> participant </a:t>
            </a:r>
            <a:r>
              <a:rPr sz="1200" i="1" spc="-5" dirty="0">
                <a:solidFill>
                  <a:srgbClr val="007C00"/>
                </a:solidFill>
                <a:latin typeface="Arial"/>
                <a:cs typeface="Arial"/>
              </a:rPr>
              <a:t>P</a:t>
            </a:r>
            <a:r>
              <a:rPr sz="1200" i="1" spc="85" dirty="0">
                <a:solidFill>
                  <a:srgbClr val="007C00"/>
                </a:solidFill>
                <a:latin typeface="Arial"/>
                <a:cs typeface="Arial"/>
              </a:rPr>
              <a:t> </a:t>
            </a:r>
            <a:r>
              <a:rPr sz="1200" spc="-5" dirty="0">
                <a:solidFill>
                  <a:srgbClr val="007C00"/>
                </a:solidFill>
                <a:latin typeface="Arial"/>
                <a:cs typeface="Arial"/>
              </a:rPr>
              <a:t>contacts</a:t>
            </a:r>
            <a:r>
              <a:rPr sz="1200" dirty="0">
                <a:solidFill>
                  <a:srgbClr val="007C00"/>
                </a:solidFill>
                <a:latin typeface="Arial"/>
                <a:cs typeface="Arial"/>
              </a:rPr>
              <a:t> </a:t>
            </a:r>
            <a:r>
              <a:rPr sz="1200" spc="-5" dirty="0">
                <a:solidFill>
                  <a:srgbClr val="007C00"/>
                </a:solidFill>
                <a:latin typeface="Arial"/>
                <a:cs typeface="Arial"/>
              </a:rPr>
              <a:t>another</a:t>
            </a:r>
            <a:r>
              <a:rPr sz="1200" dirty="0">
                <a:solidFill>
                  <a:srgbClr val="007C00"/>
                </a:solidFill>
                <a:latin typeface="Arial"/>
                <a:cs typeface="Arial"/>
              </a:rPr>
              <a:t> participant </a:t>
            </a:r>
            <a:r>
              <a:rPr sz="1200" i="1" spc="-5" dirty="0">
                <a:solidFill>
                  <a:srgbClr val="007C00"/>
                </a:solidFill>
                <a:latin typeface="Arial"/>
                <a:cs typeface="Arial"/>
              </a:rPr>
              <a:t>Q</a:t>
            </a:r>
            <a:endParaRPr sz="1200">
              <a:latin typeface="Arial"/>
              <a:cs typeface="Arial"/>
            </a:endParaRPr>
          </a:p>
        </p:txBody>
      </p:sp>
      <p:graphicFrame>
        <p:nvGraphicFramePr>
          <p:cNvPr id="5" name="object 5"/>
          <p:cNvGraphicFramePr>
            <a:graphicFrameLocks noGrp="1"/>
          </p:cNvGraphicFramePr>
          <p:nvPr/>
        </p:nvGraphicFramePr>
        <p:xfrm>
          <a:off x="1170673" y="1421015"/>
          <a:ext cx="2261869" cy="857250"/>
        </p:xfrm>
        <a:graphic>
          <a:graphicData uri="http://schemas.openxmlformats.org/drawingml/2006/table">
            <a:tbl>
              <a:tblPr firstRow="1" bandRow="1">
                <a:tableStyleId>{2D5ABB26-0587-4C30-8999-92F81FD0307C}</a:tableStyleId>
              </a:tblPr>
              <a:tblGrid>
                <a:gridCol w="700405">
                  <a:extLst>
                    <a:ext uri="{9D8B030D-6E8A-4147-A177-3AD203B41FA5}">
                      <a16:colId xmlns:a16="http://schemas.microsoft.com/office/drawing/2014/main" val="20000"/>
                    </a:ext>
                  </a:extLst>
                </a:gridCol>
                <a:gridCol w="1561464">
                  <a:extLst>
                    <a:ext uri="{9D8B030D-6E8A-4147-A177-3AD203B41FA5}">
                      <a16:colId xmlns:a16="http://schemas.microsoft.com/office/drawing/2014/main" val="20001"/>
                    </a:ext>
                  </a:extLst>
                </a:gridCol>
              </a:tblGrid>
              <a:tr h="171450">
                <a:tc>
                  <a:txBody>
                    <a:bodyPr/>
                    <a:lstStyle/>
                    <a:p>
                      <a:pPr marL="78105">
                        <a:lnSpc>
                          <a:spcPct val="100000"/>
                        </a:lnSpc>
                        <a:spcBef>
                          <a:spcPts val="40"/>
                        </a:spcBef>
                      </a:pPr>
                      <a:r>
                        <a:rPr sz="900" b="1" spc="-5" dirty="0">
                          <a:latin typeface="Arial"/>
                          <a:cs typeface="Arial"/>
                        </a:rPr>
                        <a:t>State</a:t>
                      </a:r>
                      <a:r>
                        <a:rPr sz="900" b="1" spc="-30" dirty="0">
                          <a:latin typeface="Arial"/>
                          <a:cs typeface="Arial"/>
                        </a:rPr>
                        <a:t> </a:t>
                      </a:r>
                      <a:r>
                        <a:rPr sz="900" b="1" spc="-5" dirty="0">
                          <a:latin typeface="Arial"/>
                          <a:cs typeface="Arial"/>
                        </a:rPr>
                        <a:t>of</a:t>
                      </a:r>
                      <a:r>
                        <a:rPr sz="900" b="1" spc="-30" dirty="0">
                          <a:latin typeface="Arial"/>
                          <a:cs typeface="Arial"/>
                        </a:rPr>
                        <a:t> </a:t>
                      </a:r>
                      <a:r>
                        <a:rPr sz="900" i="1" spc="-5" dirty="0">
                          <a:latin typeface="Arial"/>
                          <a:cs typeface="Arial"/>
                        </a:rPr>
                        <a:t>Q</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b="1" spc="-5" dirty="0">
                          <a:latin typeface="Arial"/>
                          <a:cs typeface="Arial"/>
                        </a:rPr>
                        <a:t>Action</a:t>
                      </a:r>
                      <a:r>
                        <a:rPr sz="900" b="1" spc="-30" dirty="0">
                          <a:latin typeface="Arial"/>
                          <a:cs typeface="Arial"/>
                        </a:rPr>
                        <a:t> </a:t>
                      </a:r>
                      <a:r>
                        <a:rPr sz="900" b="1" spc="-15" dirty="0">
                          <a:latin typeface="Arial"/>
                          <a:cs typeface="Arial"/>
                        </a:rPr>
                        <a:t>by</a:t>
                      </a:r>
                      <a:r>
                        <a:rPr sz="900" b="1" spc="-25" dirty="0">
                          <a:latin typeface="Arial"/>
                          <a:cs typeface="Arial"/>
                        </a:rPr>
                        <a:t> </a:t>
                      </a:r>
                      <a:r>
                        <a:rPr sz="900" i="1" spc="-5" dirty="0">
                          <a:latin typeface="Arial"/>
                          <a:cs typeface="Arial"/>
                        </a:rPr>
                        <a:t>P</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1450">
                <a:tc>
                  <a:txBody>
                    <a:bodyPr/>
                    <a:lstStyle/>
                    <a:p>
                      <a:pPr marL="78105">
                        <a:lnSpc>
                          <a:spcPct val="100000"/>
                        </a:lnSpc>
                        <a:spcBef>
                          <a:spcPts val="40"/>
                        </a:spcBef>
                      </a:pPr>
                      <a:r>
                        <a:rPr sz="900" i="1" spc="-5" dirty="0">
                          <a:latin typeface="Arial"/>
                          <a:cs typeface="Arial"/>
                        </a:rPr>
                        <a:t>COMMIT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10" dirty="0">
                          <a:latin typeface="Arial"/>
                          <a:cs typeface="Arial"/>
                        </a:rPr>
                        <a:t>Make</a:t>
                      </a:r>
                      <a:r>
                        <a:rPr sz="900" spc="-15" dirty="0">
                          <a:latin typeface="Arial"/>
                          <a:cs typeface="Arial"/>
                        </a:rPr>
                        <a:t> </a:t>
                      </a:r>
                      <a:r>
                        <a:rPr sz="900" spc="-5" dirty="0">
                          <a:latin typeface="Arial"/>
                          <a:cs typeface="Arial"/>
                        </a:rPr>
                        <a:t>transition</a:t>
                      </a:r>
                      <a:r>
                        <a:rPr sz="900" spc="-15" dirty="0">
                          <a:latin typeface="Arial"/>
                          <a:cs typeface="Arial"/>
                        </a:rPr>
                        <a:t> </a:t>
                      </a:r>
                      <a:r>
                        <a:rPr sz="900" spc="-5" dirty="0">
                          <a:latin typeface="Arial"/>
                          <a:cs typeface="Arial"/>
                        </a:rPr>
                        <a:t>to</a:t>
                      </a:r>
                      <a:r>
                        <a:rPr sz="900" spc="-15" dirty="0">
                          <a:latin typeface="Arial"/>
                          <a:cs typeface="Arial"/>
                        </a:rPr>
                        <a:t> </a:t>
                      </a:r>
                      <a:r>
                        <a:rPr sz="900" i="1" spc="-5" dirty="0">
                          <a:latin typeface="Arial"/>
                          <a:cs typeface="Arial"/>
                        </a:rPr>
                        <a:t>COMMIT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1450">
                <a:tc>
                  <a:txBody>
                    <a:bodyPr/>
                    <a:lstStyle/>
                    <a:p>
                      <a:pPr marL="78105">
                        <a:lnSpc>
                          <a:spcPct val="100000"/>
                        </a:lnSpc>
                        <a:spcBef>
                          <a:spcPts val="40"/>
                        </a:spcBef>
                      </a:pPr>
                      <a:r>
                        <a:rPr sz="900" i="1" spc="-10" dirty="0">
                          <a:latin typeface="Arial"/>
                          <a:cs typeface="Arial"/>
                        </a:rPr>
                        <a:t>ABORT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10" dirty="0">
                          <a:latin typeface="Arial"/>
                          <a:cs typeface="Arial"/>
                        </a:rPr>
                        <a:t>Make</a:t>
                      </a:r>
                      <a:r>
                        <a:rPr sz="900" spc="-20" dirty="0">
                          <a:latin typeface="Arial"/>
                          <a:cs typeface="Arial"/>
                        </a:rPr>
                        <a:t> </a:t>
                      </a:r>
                      <a:r>
                        <a:rPr sz="900" spc="-5" dirty="0">
                          <a:latin typeface="Arial"/>
                          <a:cs typeface="Arial"/>
                        </a:rPr>
                        <a:t>transition</a:t>
                      </a:r>
                      <a:r>
                        <a:rPr sz="900" spc="-15" dirty="0">
                          <a:latin typeface="Arial"/>
                          <a:cs typeface="Arial"/>
                        </a:rPr>
                        <a:t> </a:t>
                      </a:r>
                      <a:r>
                        <a:rPr sz="900" spc="-5" dirty="0">
                          <a:latin typeface="Arial"/>
                          <a:cs typeface="Arial"/>
                        </a:rPr>
                        <a:t>to</a:t>
                      </a:r>
                      <a:r>
                        <a:rPr sz="900" spc="-15" dirty="0">
                          <a:latin typeface="Arial"/>
                          <a:cs typeface="Arial"/>
                        </a:rPr>
                        <a:t> </a:t>
                      </a:r>
                      <a:r>
                        <a:rPr sz="900" i="1" spc="-10" dirty="0">
                          <a:latin typeface="Arial"/>
                          <a:cs typeface="Arial"/>
                        </a:rPr>
                        <a:t>ABORT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71450">
                <a:tc>
                  <a:txBody>
                    <a:bodyPr/>
                    <a:lstStyle/>
                    <a:p>
                      <a:pPr marL="78105">
                        <a:lnSpc>
                          <a:spcPct val="100000"/>
                        </a:lnSpc>
                        <a:spcBef>
                          <a:spcPts val="40"/>
                        </a:spcBef>
                      </a:pPr>
                      <a:r>
                        <a:rPr sz="900" i="1" spc="-5" dirty="0">
                          <a:latin typeface="Arial"/>
                          <a:cs typeface="Arial"/>
                        </a:rPr>
                        <a:t>INIT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10" dirty="0">
                          <a:latin typeface="Arial"/>
                          <a:cs typeface="Arial"/>
                        </a:rPr>
                        <a:t>Make</a:t>
                      </a:r>
                      <a:r>
                        <a:rPr sz="900" spc="-20" dirty="0">
                          <a:latin typeface="Arial"/>
                          <a:cs typeface="Arial"/>
                        </a:rPr>
                        <a:t> </a:t>
                      </a:r>
                      <a:r>
                        <a:rPr sz="900" spc="-5" dirty="0">
                          <a:latin typeface="Arial"/>
                          <a:cs typeface="Arial"/>
                        </a:rPr>
                        <a:t>transition</a:t>
                      </a:r>
                      <a:r>
                        <a:rPr sz="900" spc="-15" dirty="0">
                          <a:latin typeface="Arial"/>
                          <a:cs typeface="Arial"/>
                        </a:rPr>
                        <a:t> </a:t>
                      </a:r>
                      <a:r>
                        <a:rPr sz="900" spc="-5" dirty="0">
                          <a:latin typeface="Arial"/>
                          <a:cs typeface="Arial"/>
                        </a:rPr>
                        <a:t>to</a:t>
                      </a:r>
                      <a:r>
                        <a:rPr sz="900" spc="-15" dirty="0">
                          <a:latin typeface="Arial"/>
                          <a:cs typeface="Arial"/>
                        </a:rPr>
                        <a:t> </a:t>
                      </a:r>
                      <a:r>
                        <a:rPr sz="900" i="1" spc="-10" dirty="0">
                          <a:latin typeface="Arial"/>
                          <a:cs typeface="Arial"/>
                        </a:rPr>
                        <a:t>ABORT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71450">
                <a:tc>
                  <a:txBody>
                    <a:bodyPr/>
                    <a:lstStyle/>
                    <a:p>
                      <a:pPr marL="78105">
                        <a:lnSpc>
                          <a:spcPct val="100000"/>
                        </a:lnSpc>
                        <a:spcBef>
                          <a:spcPts val="40"/>
                        </a:spcBef>
                      </a:pPr>
                      <a:r>
                        <a:rPr sz="900" i="1" spc="-20" dirty="0">
                          <a:latin typeface="Arial"/>
                          <a:cs typeface="Arial"/>
                        </a:rPr>
                        <a:t>READY</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40"/>
                        </a:spcBef>
                      </a:pPr>
                      <a:r>
                        <a:rPr sz="900" spc="-5" dirty="0">
                          <a:latin typeface="Arial"/>
                          <a:cs typeface="Arial"/>
                        </a:rPr>
                        <a:t>Contact</a:t>
                      </a:r>
                      <a:r>
                        <a:rPr sz="900" spc="-20" dirty="0">
                          <a:latin typeface="Arial"/>
                          <a:cs typeface="Arial"/>
                        </a:rPr>
                        <a:t> </a:t>
                      </a:r>
                      <a:r>
                        <a:rPr sz="900" spc="-5" dirty="0">
                          <a:latin typeface="Arial"/>
                          <a:cs typeface="Arial"/>
                        </a:rPr>
                        <a:t>another</a:t>
                      </a:r>
                      <a:r>
                        <a:rPr sz="900" spc="-15" dirty="0">
                          <a:latin typeface="Arial"/>
                          <a:cs typeface="Arial"/>
                        </a:rPr>
                        <a:t> </a:t>
                      </a:r>
                      <a:r>
                        <a:rPr sz="900" dirty="0">
                          <a:latin typeface="Arial"/>
                          <a:cs typeface="Arial"/>
                        </a:rPr>
                        <a:t>participant</a:t>
                      </a:r>
                      <a:endParaRPr sz="900">
                        <a:latin typeface="Arial"/>
                        <a:cs typeface="Arial"/>
                      </a:endParaRPr>
                    </a:p>
                  </a:txBody>
                  <a:tcPr marL="0" marR="0" marT="50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343128" y="2501491"/>
            <a:ext cx="3768725" cy="657225"/>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Result</a:t>
            </a:r>
            <a:endParaRPr sz="1200">
              <a:latin typeface="Arial"/>
              <a:cs typeface="Arial"/>
            </a:endParaRPr>
          </a:p>
          <a:p>
            <a:pPr marL="12700" marR="5080" indent="3810">
              <a:lnSpc>
                <a:spcPts val="1200"/>
              </a:lnSpc>
              <a:spcBef>
                <a:spcPts val="10"/>
              </a:spcBef>
            </a:pPr>
            <a:r>
              <a:rPr sz="1000" spc="-5" dirty="0">
                <a:latin typeface="Arial"/>
                <a:cs typeface="Arial"/>
              </a:rPr>
              <a:t>If all </a:t>
            </a:r>
            <a:r>
              <a:rPr sz="1000" dirty="0">
                <a:latin typeface="Arial"/>
                <a:cs typeface="Arial"/>
              </a:rPr>
              <a:t>participants </a:t>
            </a:r>
            <a:r>
              <a:rPr sz="1000" spc="-5" dirty="0">
                <a:latin typeface="Arial"/>
                <a:cs typeface="Arial"/>
              </a:rPr>
              <a:t>are in the </a:t>
            </a:r>
            <a:r>
              <a:rPr sz="1000" i="1" spc="-25" dirty="0">
                <a:latin typeface="Arial"/>
                <a:cs typeface="Arial"/>
              </a:rPr>
              <a:t>READY</a:t>
            </a:r>
            <a:r>
              <a:rPr sz="1000" i="1" spc="-20" dirty="0">
                <a:latin typeface="Arial"/>
                <a:cs typeface="Arial"/>
              </a:rPr>
              <a:t> </a:t>
            </a:r>
            <a:r>
              <a:rPr sz="1000" spc="-5" dirty="0">
                <a:latin typeface="Arial"/>
                <a:cs typeface="Arial"/>
              </a:rPr>
              <a:t>state, the protocol </a:t>
            </a:r>
            <a:r>
              <a:rPr sz="1000" spc="-10" dirty="0">
                <a:latin typeface="Arial"/>
                <a:cs typeface="Arial"/>
              </a:rPr>
              <a:t>blocks. </a:t>
            </a:r>
            <a:r>
              <a:rPr sz="1000" spc="-5" dirty="0">
                <a:latin typeface="Arial"/>
                <a:cs typeface="Arial"/>
              </a:rPr>
              <a:t> </a:t>
            </a:r>
            <a:r>
              <a:rPr sz="1000" spc="-15" dirty="0">
                <a:latin typeface="Arial"/>
                <a:cs typeface="Arial"/>
              </a:rPr>
              <a:t>Apparently,</a:t>
            </a:r>
            <a:r>
              <a:rPr sz="1000" spc="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coordinator</a:t>
            </a:r>
            <a:r>
              <a:rPr sz="1000" spc="10" dirty="0">
                <a:latin typeface="Arial"/>
                <a:cs typeface="Arial"/>
              </a:rPr>
              <a:t> </a:t>
            </a:r>
            <a:r>
              <a:rPr sz="1000" spc="-5" dirty="0">
                <a:latin typeface="Arial"/>
                <a:cs typeface="Arial"/>
              </a:rPr>
              <a:t>is</a:t>
            </a:r>
            <a:r>
              <a:rPr sz="1000" spc="10" dirty="0">
                <a:latin typeface="Arial"/>
                <a:cs typeface="Arial"/>
              </a:rPr>
              <a:t> </a:t>
            </a:r>
            <a:r>
              <a:rPr sz="1000" spc="-10" dirty="0">
                <a:latin typeface="Arial"/>
                <a:cs typeface="Arial"/>
              </a:rPr>
              <a:t>failing.</a:t>
            </a:r>
            <a:r>
              <a:rPr sz="1000" spc="80" dirty="0">
                <a:latin typeface="Arial"/>
                <a:cs typeface="Arial"/>
              </a:rPr>
              <a:t> </a:t>
            </a:r>
            <a:r>
              <a:rPr sz="1000" spc="-5" dirty="0">
                <a:solidFill>
                  <a:srgbClr val="FA0000"/>
                </a:solidFill>
                <a:latin typeface="Arial"/>
                <a:cs typeface="Arial"/>
              </a:rPr>
              <a:t>Note:</a:t>
            </a:r>
            <a:r>
              <a:rPr sz="1000" spc="80" dirty="0">
                <a:solidFill>
                  <a:srgbClr val="FA0000"/>
                </a:solidFill>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protocol</a:t>
            </a:r>
            <a:r>
              <a:rPr sz="1000" spc="10" dirty="0">
                <a:latin typeface="Arial"/>
                <a:cs typeface="Arial"/>
              </a:rPr>
              <a:t> </a:t>
            </a:r>
            <a:r>
              <a:rPr sz="1000" spc="-5" dirty="0">
                <a:latin typeface="Arial"/>
                <a:cs typeface="Arial"/>
              </a:rPr>
              <a:t>prescribes </a:t>
            </a:r>
            <a:r>
              <a:rPr sz="1000" spc="-265" dirty="0">
                <a:latin typeface="Arial"/>
                <a:cs typeface="Arial"/>
              </a:rPr>
              <a:t> </a:t>
            </a:r>
            <a:r>
              <a:rPr sz="1000" spc="-5" dirty="0">
                <a:latin typeface="Arial"/>
                <a:cs typeface="Arial"/>
              </a:rPr>
              <a:t>that </a:t>
            </a:r>
            <a:r>
              <a:rPr sz="1000" spc="-10" dirty="0">
                <a:latin typeface="Arial"/>
                <a:cs typeface="Arial"/>
              </a:rPr>
              <a:t>we</a:t>
            </a:r>
            <a:r>
              <a:rPr sz="1000" spc="-5" dirty="0">
                <a:latin typeface="Arial"/>
                <a:cs typeface="Arial"/>
              </a:rPr>
              <a:t> need the decision from</a:t>
            </a:r>
            <a:r>
              <a:rPr sz="1000" dirty="0">
                <a:latin typeface="Arial"/>
                <a:cs typeface="Arial"/>
              </a:rPr>
              <a:t> </a:t>
            </a:r>
            <a:r>
              <a:rPr sz="1000" spc="-5" dirty="0">
                <a:latin typeface="Arial"/>
                <a:cs typeface="Arial"/>
              </a:rPr>
              <a:t>the </a:t>
            </a:r>
            <a:r>
              <a:rPr sz="1000" spc="-10" dirty="0">
                <a:latin typeface="Arial"/>
                <a:cs typeface="Arial"/>
              </a:rPr>
              <a:t>coordinator.</a:t>
            </a:r>
            <a:endParaRPr sz="1000">
              <a:latin typeface="Arial"/>
              <a:cs typeface="Arial"/>
            </a:endParaRPr>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56</a:t>
            </a:r>
            <a:r>
              <a:rPr spc="-40" dirty="0"/>
              <a:t> </a:t>
            </a:r>
            <a:r>
              <a:rPr spc="-5" dirty="0"/>
              <a:t>/</a:t>
            </a:r>
            <a:r>
              <a:rPr spc="-35" dirty="0"/>
              <a:t> </a:t>
            </a:r>
            <a:r>
              <a:rPr spc="-5" dirty="0"/>
              <a:t>68</a:t>
            </a: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4"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2072005" cy="244475"/>
          </a:xfrm>
          <a:prstGeom prst="rect">
            <a:avLst/>
          </a:prstGeom>
        </p:spPr>
        <p:txBody>
          <a:bodyPr vert="horz" wrap="square" lIns="0" tIns="17145" rIns="0" bIns="0" rtlCol="0">
            <a:spAutoFit/>
          </a:bodyPr>
          <a:lstStyle/>
          <a:p>
            <a:pPr marL="12700">
              <a:lnSpc>
                <a:spcPct val="100000"/>
              </a:lnSpc>
              <a:spcBef>
                <a:spcPts val="135"/>
              </a:spcBef>
            </a:pPr>
            <a:r>
              <a:rPr spc="20" dirty="0"/>
              <a:t>2PC</a:t>
            </a:r>
            <a:r>
              <a:rPr spc="-15" dirty="0"/>
              <a:t> </a:t>
            </a:r>
            <a:r>
              <a:rPr spc="15" dirty="0"/>
              <a:t>–</a:t>
            </a:r>
            <a:r>
              <a:rPr spc="-10" dirty="0"/>
              <a:t> </a:t>
            </a:r>
            <a:r>
              <a:rPr dirty="0"/>
              <a:t>Failing</a:t>
            </a:r>
            <a:r>
              <a:rPr spc="-15" dirty="0"/>
              <a:t> </a:t>
            </a:r>
            <a:r>
              <a:rPr spc="15" dirty="0"/>
              <a:t>coordinator</a:t>
            </a:r>
          </a:p>
        </p:txBody>
      </p:sp>
      <p:sp>
        <p:nvSpPr>
          <p:cNvPr id="4" name="object 4"/>
          <p:cNvSpPr txBox="1"/>
          <p:nvPr/>
        </p:nvSpPr>
        <p:spPr>
          <a:xfrm>
            <a:off x="342290" y="855469"/>
            <a:ext cx="3918585" cy="1792605"/>
          </a:xfrm>
          <a:prstGeom prst="rect">
            <a:avLst/>
          </a:prstGeom>
        </p:spPr>
        <p:txBody>
          <a:bodyPr vert="horz" wrap="square" lIns="0" tIns="12065" rIns="0" bIns="0" rtlCol="0">
            <a:spAutoFit/>
          </a:bodyPr>
          <a:lstStyle/>
          <a:p>
            <a:pPr marL="17145">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17145" marR="161290"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real</a:t>
            </a:r>
            <a:r>
              <a:rPr sz="1000" dirty="0">
                <a:latin typeface="Arial"/>
                <a:cs typeface="Arial"/>
              </a:rPr>
              <a:t> </a:t>
            </a:r>
            <a:r>
              <a:rPr sz="1000" spc="-5" dirty="0">
                <a:latin typeface="Arial"/>
                <a:cs typeface="Arial"/>
              </a:rPr>
              <a:t>problem</a:t>
            </a:r>
            <a:r>
              <a:rPr sz="1000" spc="5" dirty="0">
                <a:latin typeface="Arial"/>
                <a:cs typeface="Arial"/>
              </a:rPr>
              <a:t> </a:t>
            </a:r>
            <a:r>
              <a:rPr sz="1000" spc="-5" dirty="0">
                <a:latin typeface="Arial"/>
                <a:cs typeface="Arial"/>
              </a:rPr>
              <a:t>lies</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fact</a:t>
            </a:r>
            <a:r>
              <a:rPr sz="1000"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coordinator’s</a:t>
            </a:r>
            <a:r>
              <a:rPr sz="1000" spc="5" dirty="0">
                <a:latin typeface="Arial"/>
                <a:cs typeface="Arial"/>
              </a:rPr>
              <a:t> </a:t>
            </a:r>
            <a:r>
              <a:rPr sz="1000" spc="-5" dirty="0">
                <a:latin typeface="Arial"/>
                <a:cs typeface="Arial"/>
              </a:rPr>
              <a:t>final</a:t>
            </a:r>
            <a:r>
              <a:rPr sz="1000" dirty="0">
                <a:latin typeface="Arial"/>
                <a:cs typeface="Arial"/>
              </a:rPr>
              <a:t> </a:t>
            </a:r>
            <a:r>
              <a:rPr sz="1000" spc="-5" dirty="0">
                <a:latin typeface="Arial"/>
                <a:cs typeface="Arial"/>
              </a:rPr>
              <a:t>decision </a:t>
            </a:r>
            <a:r>
              <a:rPr sz="1000" spc="-260" dirty="0">
                <a:latin typeface="Arial"/>
                <a:cs typeface="Arial"/>
              </a:rPr>
              <a:t> </a:t>
            </a:r>
            <a:r>
              <a:rPr sz="1000" spc="-15" dirty="0">
                <a:latin typeface="Arial"/>
                <a:cs typeface="Arial"/>
              </a:rPr>
              <a:t>may</a:t>
            </a:r>
            <a:r>
              <a:rPr sz="1000" spc="-5" dirty="0">
                <a:latin typeface="Arial"/>
                <a:cs typeface="Arial"/>
              </a:rPr>
              <a:t> not be </a:t>
            </a:r>
            <a:r>
              <a:rPr sz="1000" spc="-10" dirty="0">
                <a:latin typeface="Arial"/>
                <a:cs typeface="Arial"/>
              </a:rPr>
              <a:t>available</a:t>
            </a:r>
            <a:r>
              <a:rPr sz="1000" spc="-5" dirty="0">
                <a:latin typeface="Arial"/>
                <a:cs typeface="Arial"/>
              </a:rPr>
              <a:t> </a:t>
            </a:r>
            <a:r>
              <a:rPr sz="1000" spc="-15" dirty="0">
                <a:latin typeface="Arial"/>
                <a:cs typeface="Arial"/>
              </a:rPr>
              <a:t>for</a:t>
            </a:r>
            <a:r>
              <a:rPr sz="1000" spc="-5" dirty="0">
                <a:latin typeface="Arial"/>
                <a:cs typeface="Arial"/>
              </a:rPr>
              <a:t> some time</a:t>
            </a:r>
            <a:r>
              <a:rPr sz="1000" dirty="0">
                <a:latin typeface="Arial"/>
                <a:cs typeface="Arial"/>
              </a:rPr>
              <a:t> </a:t>
            </a:r>
            <a:r>
              <a:rPr sz="1000" spc="-5" dirty="0">
                <a:latin typeface="Arial"/>
                <a:cs typeface="Arial"/>
              </a:rPr>
              <a:t>(or actually lost).</a:t>
            </a:r>
            <a:endParaRPr sz="1000">
              <a:latin typeface="Arial"/>
              <a:cs typeface="Arial"/>
            </a:endParaRPr>
          </a:p>
          <a:p>
            <a:pPr marL="12700">
              <a:lnSpc>
                <a:spcPts val="1410"/>
              </a:lnSpc>
              <a:spcBef>
                <a:spcPts val="650"/>
              </a:spcBef>
            </a:pPr>
            <a:r>
              <a:rPr sz="1200" spc="-5" dirty="0">
                <a:solidFill>
                  <a:srgbClr val="3333B2"/>
                </a:solidFill>
                <a:latin typeface="Arial"/>
                <a:cs typeface="Arial"/>
              </a:rPr>
              <a:t>Alternative</a:t>
            </a:r>
            <a:endParaRPr sz="1200">
              <a:latin typeface="Arial"/>
              <a:cs typeface="Arial"/>
            </a:endParaRPr>
          </a:p>
          <a:p>
            <a:pPr marL="17145" marR="5080">
              <a:lnSpc>
                <a:spcPts val="1200"/>
              </a:lnSpc>
              <a:spcBef>
                <a:spcPts val="10"/>
              </a:spcBef>
            </a:pPr>
            <a:r>
              <a:rPr sz="1000" spc="-10" dirty="0">
                <a:latin typeface="Arial"/>
                <a:cs typeface="Arial"/>
              </a:rPr>
              <a:t>Let</a:t>
            </a:r>
            <a:r>
              <a:rPr sz="1000" spc="-5" dirty="0">
                <a:latin typeface="Arial"/>
                <a:cs typeface="Arial"/>
              </a:rPr>
              <a:t> </a:t>
            </a:r>
            <a:r>
              <a:rPr sz="1000" spc="-15" dirty="0">
                <a:latin typeface="Arial"/>
                <a:cs typeface="Arial"/>
              </a:rPr>
              <a:t>a</a:t>
            </a:r>
            <a:r>
              <a:rPr sz="1000" spc="-5" dirty="0">
                <a:latin typeface="Arial"/>
                <a:cs typeface="Arial"/>
              </a:rPr>
              <a:t> participant </a:t>
            </a:r>
            <a:r>
              <a:rPr sz="1000" i="1" spc="-5" dirty="0">
                <a:latin typeface="Arial"/>
                <a:cs typeface="Arial"/>
              </a:rPr>
              <a:t>P</a:t>
            </a:r>
            <a:r>
              <a:rPr sz="1000" i="1" spc="65" dirty="0">
                <a:latin typeface="Arial"/>
                <a:cs typeface="Arial"/>
              </a:rPr>
              <a:t> </a:t>
            </a:r>
            <a:r>
              <a:rPr sz="1000" spc="-10" dirty="0">
                <a:latin typeface="Arial"/>
                <a:cs typeface="Arial"/>
              </a:rPr>
              <a:t>in</a:t>
            </a:r>
            <a:r>
              <a:rPr sz="1000" spc="-5" dirty="0">
                <a:latin typeface="Arial"/>
                <a:cs typeface="Arial"/>
              </a:rPr>
              <a:t> </a:t>
            </a:r>
            <a:r>
              <a:rPr sz="1000" spc="-10" dirty="0">
                <a:latin typeface="Arial"/>
                <a:cs typeface="Arial"/>
              </a:rPr>
              <a:t>the</a:t>
            </a:r>
            <a:r>
              <a:rPr sz="1000" dirty="0">
                <a:latin typeface="Arial"/>
                <a:cs typeface="Arial"/>
              </a:rPr>
              <a:t> </a:t>
            </a:r>
            <a:r>
              <a:rPr sz="1000" i="1" spc="-25" dirty="0">
                <a:latin typeface="Arial"/>
                <a:cs typeface="Arial"/>
              </a:rPr>
              <a:t>READY</a:t>
            </a:r>
            <a:r>
              <a:rPr sz="1000" i="1" spc="135" dirty="0">
                <a:latin typeface="Arial"/>
                <a:cs typeface="Arial"/>
              </a:rPr>
              <a:t> </a:t>
            </a:r>
            <a:r>
              <a:rPr sz="1000" spc="-10" dirty="0">
                <a:latin typeface="Arial"/>
                <a:cs typeface="Arial"/>
              </a:rPr>
              <a:t>state</a:t>
            </a:r>
            <a:r>
              <a:rPr sz="1000" spc="-5" dirty="0">
                <a:latin typeface="Arial"/>
                <a:cs typeface="Arial"/>
              </a:rPr>
              <a:t> </a:t>
            </a:r>
            <a:r>
              <a:rPr sz="1000" spc="-10" dirty="0">
                <a:latin typeface="Arial"/>
                <a:cs typeface="Arial"/>
              </a:rPr>
              <a:t>timeout</a:t>
            </a:r>
            <a:r>
              <a:rPr sz="1000" spc="-5" dirty="0">
                <a:latin typeface="Arial"/>
                <a:cs typeface="Arial"/>
              </a:rPr>
              <a:t> </a:t>
            </a:r>
            <a:r>
              <a:rPr sz="1000" spc="-15" dirty="0">
                <a:latin typeface="Arial"/>
                <a:cs typeface="Arial"/>
              </a:rPr>
              <a:t>when</a:t>
            </a:r>
            <a:r>
              <a:rPr sz="1000" spc="-5" dirty="0">
                <a:latin typeface="Arial"/>
                <a:cs typeface="Arial"/>
              </a:rPr>
              <a:t> it </a:t>
            </a:r>
            <a:r>
              <a:rPr sz="1000" spc="-10" dirty="0">
                <a:latin typeface="Arial"/>
                <a:cs typeface="Arial"/>
              </a:rPr>
              <a:t>hasn’t</a:t>
            </a:r>
            <a:r>
              <a:rPr sz="1000" dirty="0">
                <a:latin typeface="Arial"/>
                <a:cs typeface="Arial"/>
              </a:rPr>
              <a:t> </a:t>
            </a:r>
            <a:r>
              <a:rPr sz="1000" spc="-15" dirty="0">
                <a:latin typeface="Arial"/>
                <a:cs typeface="Arial"/>
              </a:rPr>
              <a:t>received </a:t>
            </a:r>
            <a:r>
              <a:rPr sz="1000" spc="-265"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coordinator’s</a:t>
            </a:r>
            <a:r>
              <a:rPr sz="1000" dirty="0">
                <a:latin typeface="Arial"/>
                <a:cs typeface="Arial"/>
              </a:rPr>
              <a:t> </a:t>
            </a:r>
            <a:r>
              <a:rPr sz="1000" spc="-5" dirty="0">
                <a:latin typeface="Arial"/>
                <a:cs typeface="Arial"/>
              </a:rPr>
              <a:t>decision;</a:t>
            </a:r>
            <a:r>
              <a:rPr sz="1000" spc="5" dirty="0">
                <a:latin typeface="Arial"/>
                <a:cs typeface="Arial"/>
              </a:rPr>
              <a:t> </a:t>
            </a:r>
            <a:r>
              <a:rPr sz="1000" i="1" spc="-5" dirty="0">
                <a:latin typeface="Arial"/>
                <a:cs typeface="Arial"/>
              </a:rPr>
              <a:t>P</a:t>
            </a:r>
            <a:r>
              <a:rPr sz="1000" i="1" spc="70" dirty="0">
                <a:latin typeface="Arial"/>
                <a:cs typeface="Arial"/>
              </a:rPr>
              <a:t> </a:t>
            </a:r>
            <a:r>
              <a:rPr sz="1000" dirty="0">
                <a:latin typeface="Arial"/>
                <a:cs typeface="Arial"/>
              </a:rPr>
              <a:t>tries </a:t>
            </a:r>
            <a:r>
              <a:rPr sz="1000" spc="-5" dirty="0">
                <a:latin typeface="Arial"/>
                <a:cs typeface="Arial"/>
              </a:rPr>
              <a:t>to</a:t>
            </a:r>
            <a:r>
              <a:rPr sz="1000" dirty="0">
                <a:latin typeface="Arial"/>
                <a:cs typeface="Arial"/>
              </a:rPr>
              <a:t> </a:t>
            </a:r>
            <a:r>
              <a:rPr sz="1000" spc="-5" dirty="0">
                <a:latin typeface="Arial"/>
                <a:cs typeface="Arial"/>
              </a:rPr>
              <a:t>find</a:t>
            </a:r>
            <a:r>
              <a:rPr sz="1000" dirty="0">
                <a:latin typeface="Arial"/>
                <a:cs typeface="Arial"/>
              </a:rPr>
              <a:t> </a:t>
            </a:r>
            <a:r>
              <a:rPr sz="1000" spc="-5" dirty="0">
                <a:latin typeface="Arial"/>
                <a:cs typeface="Arial"/>
              </a:rPr>
              <a:t>out</a:t>
            </a:r>
            <a:r>
              <a:rPr sz="1000" dirty="0">
                <a:latin typeface="Arial"/>
                <a:cs typeface="Arial"/>
              </a:rPr>
              <a:t> </a:t>
            </a:r>
            <a:r>
              <a:rPr sz="1000" spc="-5" dirty="0">
                <a:latin typeface="Arial"/>
                <a:cs typeface="Arial"/>
              </a:rPr>
              <a:t>what</a:t>
            </a:r>
            <a:r>
              <a:rPr sz="1000" dirty="0">
                <a:latin typeface="Arial"/>
                <a:cs typeface="Arial"/>
              </a:rPr>
              <a:t> </a:t>
            </a:r>
            <a:r>
              <a:rPr sz="1000" spc="-5" dirty="0">
                <a:latin typeface="Arial"/>
                <a:cs typeface="Arial"/>
              </a:rPr>
              <a:t>other</a:t>
            </a:r>
            <a:r>
              <a:rPr sz="1000" dirty="0">
                <a:latin typeface="Arial"/>
                <a:cs typeface="Arial"/>
              </a:rPr>
              <a:t> participants </a:t>
            </a:r>
            <a:r>
              <a:rPr sz="1000" spc="5" dirty="0">
                <a:latin typeface="Arial"/>
                <a:cs typeface="Arial"/>
              </a:rPr>
              <a:t> </a:t>
            </a:r>
            <a:r>
              <a:rPr sz="1000" spc="-10" dirty="0">
                <a:latin typeface="Arial"/>
                <a:cs typeface="Arial"/>
              </a:rPr>
              <a:t>know </a:t>
            </a:r>
            <a:r>
              <a:rPr sz="1000" spc="-5" dirty="0">
                <a:latin typeface="Arial"/>
                <a:cs typeface="Arial"/>
              </a:rPr>
              <a:t>(as discussed).</a:t>
            </a:r>
            <a:endParaRPr sz="1000">
              <a:latin typeface="Arial"/>
              <a:cs typeface="Arial"/>
            </a:endParaRPr>
          </a:p>
          <a:p>
            <a:pPr marL="17145">
              <a:lnSpc>
                <a:spcPts val="1410"/>
              </a:lnSpc>
              <a:spcBef>
                <a:spcPts val="645"/>
              </a:spcBef>
            </a:pPr>
            <a:r>
              <a:rPr sz="1200" spc="-5" dirty="0">
                <a:solidFill>
                  <a:srgbClr val="3333B2"/>
                </a:solidFill>
                <a:latin typeface="Arial"/>
                <a:cs typeface="Arial"/>
              </a:rPr>
              <a:t>Observation</a:t>
            </a:r>
            <a:endParaRPr sz="1200">
              <a:latin typeface="Arial"/>
              <a:cs typeface="Arial"/>
            </a:endParaRPr>
          </a:p>
          <a:p>
            <a:pPr marL="17145" marR="5080">
              <a:lnSpc>
                <a:spcPts val="1200"/>
              </a:lnSpc>
              <a:spcBef>
                <a:spcPts val="10"/>
              </a:spcBef>
            </a:pPr>
            <a:r>
              <a:rPr sz="1000" spc="-10" dirty="0">
                <a:latin typeface="Arial"/>
                <a:cs typeface="Arial"/>
              </a:rPr>
              <a:t>Essence</a:t>
            </a:r>
            <a:r>
              <a:rPr sz="1000" spc="-5" dirty="0">
                <a:latin typeface="Arial"/>
                <a:cs typeface="Arial"/>
              </a:rPr>
              <a:t> of</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problem</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that</a:t>
            </a:r>
            <a:r>
              <a:rPr sz="1000" dirty="0">
                <a:latin typeface="Arial"/>
                <a:cs typeface="Arial"/>
              </a:rPr>
              <a:t> </a:t>
            </a:r>
            <a:r>
              <a:rPr sz="1000" spc="-10" dirty="0">
                <a:latin typeface="Arial"/>
                <a:cs typeface="Arial"/>
              </a:rPr>
              <a:t>a</a:t>
            </a:r>
            <a:r>
              <a:rPr sz="1000" dirty="0">
                <a:latin typeface="Arial"/>
                <a:cs typeface="Arial"/>
              </a:rPr>
              <a:t> </a:t>
            </a:r>
            <a:r>
              <a:rPr sz="1000" spc="-10" dirty="0">
                <a:latin typeface="Arial"/>
                <a:cs typeface="Arial"/>
              </a:rPr>
              <a:t>recovering</a:t>
            </a:r>
            <a:r>
              <a:rPr sz="1000" dirty="0">
                <a:latin typeface="Arial"/>
                <a:cs typeface="Arial"/>
              </a:rPr>
              <a:t> </a:t>
            </a:r>
            <a:r>
              <a:rPr sz="1000" spc="-5" dirty="0">
                <a:latin typeface="Arial"/>
                <a:cs typeface="Arial"/>
              </a:rPr>
              <a:t>participant</a:t>
            </a:r>
            <a:r>
              <a:rPr sz="1000" dirty="0">
                <a:latin typeface="Arial"/>
                <a:cs typeface="Arial"/>
              </a:rPr>
              <a:t> </a:t>
            </a:r>
            <a:r>
              <a:rPr sz="1000" spc="-10" dirty="0">
                <a:latin typeface="Arial"/>
                <a:cs typeface="Arial"/>
              </a:rPr>
              <a:t>cannot</a:t>
            </a:r>
            <a:r>
              <a:rPr sz="1000" dirty="0">
                <a:latin typeface="Arial"/>
                <a:cs typeface="Arial"/>
              </a:rPr>
              <a:t> </a:t>
            </a:r>
            <a:r>
              <a:rPr sz="1000" spc="-15" dirty="0">
                <a:latin typeface="Arial"/>
                <a:cs typeface="Arial"/>
              </a:rPr>
              <a:t>make</a:t>
            </a:r>
            <a:r>
              <a:rPr sz="1000" dirty="0">
                <a:latin typeface="Arial"/>
                <a:cs typeface="Arial"/>
              </a:rPr>
              <a:t> </a:t>
            </a:r>
            <a:r>
              <a:rPr sz="1000" spc="-10" dirty="0">
                <a:latin typeface="Arial"/>
                <a:cs typeface="Arial"/>
              </a:rPr>
              <a:t>a </a:t>
            </a:r>
            <a:r>
              <a:rPr sz="1000" spc="-265" dirty="0">
                <a:latin typeface="Arial"/>
                <a:cs typeface="Arial"/>
              </a:rPr>
              <a:t> </a:t>
            </a:r>
            <a:r>
              <a:rPr sz="1000" spc="-5" dirty="0">
                <a:solidFill>
                  <a:srgbClr val="0000FA"/>
                </a:solidFill>
                <a:latin typeface="Arial"/>
                <a:cs typeface="Arial"/>
              </a:rPr>
              <a:t>local </a:t>
            </a:r>
            <a:r>
              <a:rPr sz="1000" spc="-5" dirty="0">
                <a:latin typeface="Arial"/>
                <a:cs typeface="Arial"/>
              </a:rPr>
              <a:t>decision:</a:t>
            </a:r>
            <a:r>
              <a:rPr sz="1000" spc="7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dependent</a:t>
            </a:r>
            <a:r>
              <a:rPr sz="1000" dirty="0">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(possibly</a:t>
            </a:r>
            <a:r>
              <a:rPr sz="1000" dirty="0">
                <a:latin typeface="Arial"/>
                <a:cs typeface="Arial"/>
              </a:rPr>
              <a:t> </a:t>
            </a:r>
            <a:r>
              <a:rPr sz="1000" spc="-10" dirty="0">
                <a:latin typeface="Arial"/>
                <a:cs typeface="Arial"/>
              </a:rPr>
              <a:t>failed)</a:t>
            </a:r>
            <a:r>
              <a:rPr sz="1000" dirty="0">
                <a:latin typeface="Arial"/>
                <a:cs typeface="Arial"/>
              </a:rPr>
              <a:t> </a:t>
            </a:r>
            <a:r>
              <a:rPr sz="1000" spc="-5" dirty="0">
                <a:latin typeface="Arial"/>
                <a:cs typeface="Arial"/>
              </a:rPr>
              <a:t>processes</a:t>
            </a:r>
            <a:endParaRPr sz="1000">
              <a:latin typeface="Arial"/>
              <a:cs typeface="Arial"/>
            </a:endParaRP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57</a:t>
            </a:r>
            <a:r>
              <a:rPr spc="-40" dirty="0"/>
              <a:t> </a:t>
            </a:r>
            <a:r>
              <a:rPr spc="-5" dirty="0"/>
              <a:t>/</a:t>
            </a:r>
            <a:r>
              <a:rPr spc="-35" dirty="0"/>
              <a:t> </a:t>
            </a:r>
            <a:r>
              <a:rPr spc="-5" dirty="0"/>
              <a:t>68</a:t>
            </a: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3"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1787525" cy="244475"/>
          </a:xfrm>
          <a:prstGeom prst="rect">
            <a:avLst/>
          </a:prstGeom>
        </p:spPr>
        <p:txBody>
          <a:bodyPr vert="horz" wrap="square" lIns="0" tIns="17145" rIns="0" bIns="0" rtlCol="0">
            <a:spAutoFit/>
          </a:bodyPr>
          <a:lstStyle/>
          <a:p>
            <a:pPr marL="12700">
              <a:lnSpc>
                <a:spcPct val="100000"/>
              </a:lnSpc>
              <a:spcBef>
                <a:spcPts val="135"/>
              </a:spcBef>
            </a:pPr>
            <a:r>
              <a:rPr spc="15" dirty="0"/>
              <a:t>Coordinator</a:t>
            </a:r>
            <a:r>
              <a:rPr spc="-25" dirty="0"/>
              <a:t> </a:t>
            </a:r>
            <a:r>
              <a:rPr spc="10" dirty="0"/>
              <a:t>in</a:t>
            </a:r>
            <a:r>
              <a:rPr spc="-20" dirty="0"/>
              <a:t> </a:t>
            </a:r>
            <a:r>
              <a:rPr spc="15" dirty="0"/>
              <a:t>Python</a:t>
            </a:r>
          </a:p>
        </p:txBody>
      </p:sp>
      <p:sp>
        <p:nvSpPr>
          <p:cNvPr id="4" name="object 4"/>
          <p:cNvSpPr txBox="1"/>
          <p:nvPr/>
        </p:nvSpPr>
        <p:spPr>
          <a:xfrm>
            <a:off x="289600" y="965338"/>
            <a:ext cx="2309495" cy="1433830"/>
          </a:xfrm>
          <a:prstGeom prst="rect">
            <a:avLst/>
          </a:prstGeom>
        </p:spPr>
        <p:txBody>
          <a:bodyPr vert="horz" wrap="square" lIns="0" tIns="29845" rIns="0" bIns="0" rtlCol="0">
            <a:spAutoFit/>
          </a:bodyPr>
          <a:lstStyle/>
          <a:p>
            <a:pPr marL="48895">
              <a:lnSpc>
                <a:spcPct val="100000"/>
              </a:lnSpc>
              <a:spcBef>
                <a:spcPts val="235"/>
              </a:spcBef>
            </a:pPr>
            <a:r>
              <a:rPr sz="450" spc="60" dirty="0">
                <a:latin typeface="Times New Roman"/>
                <a:cs typeface="Times New Roman"/>
              </a:rPr>
              <a:t>1 </a:t>
            </a:r>
            <a:r>
              <a:rPr sz="450" spc="125" dirty="0">
                <a:latin typeface="Times New Roman"/>
                <a:cs typeface="Times New Roman"/>
              </a:rPr>
              <a:t> </a:t>
            </a:r>
            <a:r>
              <a:rPr sz="600" b="1" spc="95" dirty="0">
                <a:solidFill>
                  <a:srgbClr val="FF0059"/>
                </a:solidFill>
                <a:latin typeface="Times New Roman"/>
                <a:cs typeface="Times New Roman"/>
              </a:rPr>
              <a:t>class</a:t>
            </a:r>
            <a:r>
              <a:rPr sz="600" b="1" spc="45" dirty="0">
                <a:solidFill>
                  <a:srgbClr val="FF0059"/>
                </a:solidFill>
                <a:latin typeface="Times New Roman"/>
                <a:cs typeface="Times New Roman"/>
              </a:rPr>
              <a:t> </a:t>
            </a:r>
            <a:r>
              <a:rPr sz="600" spc="65" dirty="0">
                <a:latin typeface="Times New Roman"/>
                <a:cs typeface="Times New Roman"/>
              </a:rPr>
              <a:t>Coordinator:</a:t>
            </a:r>
            <a:endParaRPr sz="600">
              <a:latin typeface="Times New Roman"/>
              <a:cs typeface="Times New Roman"/>
            </a:endParaRPr>
          </a:p>
          <a:p>
            <a:pPr marL="48895">
              <a:lnSpc>
                <a:spcPts val="535"/>
              </a:lnSpc>
              <a:spcBef>
                <a:spcPts val="115"/>
              </a:spcBef>
            </a:pPr>
            <a:r>
              <a:rPr sz="450" spc="60" dirty="0">
                <a:latin typeface="Times New Roman"/>
                <a:cs typeface="Times New Roman"/>
              </a:rPr>
              <a:t>2</a:t>
            </a:r>
            <a:endParaRPr sz="450">
              <a:latin typeface="Times New Roman"/>
              <a:cs typeface="Times New Roman"/>
            </a:endParaRPr>
          </a:p>
          <a:p>
            <a:pPr marL="48895">
              <a:lnSpc>
                <a:spcPts val="695"/>
              </a:lnSpc>
              <a:tabLst>
                <a:tab pos="220979" algn="l"/>
              </a:tabLst>
            </a:pPr>
            <a:r>
              <a:rPr sz="450" spc="60" dirty="0">
                <a:latin typeface="Times New Roman"/>
                <a:cs typeface="Times New Roman"/>
              </a:rPr>
              <a:t>3	</a:t>
            </a:r>
            <a:r>
              <a:rPr sz="600" b="1" spc="80" dirty="0">
                <a:solidFill>
                  <a:srgbClr val="FF0059"/>
                </a:solidFill>
                <a:latin typeface="Times New Roman"/>
                <a:cs typeface="Times New Roman"/>
              </a:rPr>
              <a:t>def</a:t>
            </a:r>
            <a:r>
              <a:rPr sz="600" b="1" spc="25" dirty="0">
                <a:solidFill>
                  <a:srgbClr val="FF0059"/>
                </a:solidFill>
                <a:latin typeface="Times New Roman"/>
                <a:cs typeface="Times New Roman"/>
              </a:rPr>
              <a:t> </a:t>
            </a:r>
            <a:r>
              <a:rPr sz="600" spc="100" dirty="0">
                <a:latin typeface="Times New Roman"/>
                <a:cs typeface="Times New Roman"/>
              </a:rPr>
              <a:t>run(self):</a:t>
            </a:r>
            <a:endParaRPr sz="600">
              <a:latin typeface="Times New Roman"/>
              <a:cs typeface="Times New Roman"/>
            </a:endParaRPr>
          </a:p>
          <a:p>
            <a:pPr marL="48895">
              <a:lnSpc>
                <a:spcPts val="680"/>
              </a:lnSpc>
              <a:tabLst>
                <a:tab pos="300355" algn="l"/>
              </a:tabLst>
            </a:pPr>
            <a:r>
              <a:rPr sz="450" spc="60" dirty="0">
                <a:latin typeface="Times New Roman"/>
                <a:cs typeface="Times New Roman"/>
              </a:rPr>
              <a:t>4	</a:t>
            </a:r>
            <a:r>
              <a:rPr sz="600" spc="45" dirty="0">
                <a:latin typeface="Times New Roman"/>
                <a:cs typeface="Times New Roman"/>
              </a:rPr>
              <a:t>yetToReceive</a:t>
            </a:r>
            <a:r>
              <a:rPr sz="600" spc="65" dirty="0">
                <a:latin typeface="Times New Roman"/>
                <a:cs typeface="Times New Roman"/>
              </a:rPr>
              <a:t> </a:t>
            </a:r>
            <a:r>
              <a:rPr sz="600" spc="40" dirty="0">
                <a:latin typeface="Times New Roman"/>
                <a:cs typeface="Times New Roman"/>
              </a:rPr>
              <a:t>=</a:t>
            </a:r>
            <a:r>
              <a:rPr sz="600" spc="80" dirty="0">
                <a:latin typeface="Times New Roman"/>
                <a:cs typeface="Times New Roman"/>
              </a:rPr>
              <a:t> </a:t>
            </a:r>
            <a:r>
              <a:rPr sz="600" b="1" spc="100" dirty="0">
                <a:solidFill>
                  <a:srgbClr val="FF0059"/>
                </a:solidFill>
                <a:latin typeface="Times New Roman"/>
                <a:cs typeface="Times New Roman"/>
              </a:rPr>
              <a:t>list</a:t>
            </a:r>
            <a:r>
              <a:rPr sz="600" spc="100" dirty="0">
                <a:latin typeface="Times New Roman"/>
                <a:cs typeface="Times New Roman"/>
              </a:rPr>
              <a:t>(participants)</a:t>
            </a:r>
            <a:endParaRPr sz="600">
              <a:latin typeface="Times New Roman"/>
              <a:cs typeface="Times New Roman"/>
            </a:endParaRPr>
          </a:p>
          <a:p>
            <a:pPr marL="48895">
              <a:lnSpc>
                <a:spcPts val="680"/>
              </a:lnSpc>
              <a:tabLst>
                <a:tab pos="301625" algn="l"/>
              </a:tabLst>
            </a:pPr>
            <a:r>
              <a:rPr sz="450" spc="60" dirty="0">
                <a:latin typeface="Times New Roman"/>
                <a:cs typeface="Times New Roman"/>
              </a:rPr>
              <a:t>5	</a:t>
            </a:r>
            <a:r>
              <a:rPr sz="600" spc="65" dirty="0">
                <a:latin typeface="Times New Roman"/>
                <a:cs typeface="Times New Roman"/>
              </a:rPr>
              <a:t>self.log.info(</a:t>
            </a:r>
            <a:r>
              <a:rPr sz="600" spc="65" dirty="0">
                <a:solidFill>
                  <a:srgbClr val="FA0000"/>
                </a:solidFill>
                <a:latin typeface="Times New Roman"/>
                <a:cs typeface="Times New Roman"/>
              </a:rPr>
              <a:t>’WAIT’</a:t>
            </a:r>
            <a:r>
              <a:rPr sz="600" spc="65" dirty="0">
                <a:latin typeface="Times New Roman"/>
                <a:cs typeface="Times New Roman"/>
              </a:rPr>
              <a:t>)</a:t>
            </a:r>
            <a:endParaRPr sz="600">
              <a:latin typeface="Times New Roman"/>
              <a:cs typeface="Times New Roman"/>
            </a:endParaRPr>
          </a:p>
          <a:p>
            <a:pPr marL="48895">
              <a:lnSpc>
                <a:spcPts val="680"/>
              </a:lnSpc>
              <a:tabLst>
                <a:tab pos="301625" algn="l"/>
              </a:tabLst>
            </a:pPr>
            <a:r>
              <a:rPr sz="450" spc="60" dirty="0">
                <a:latin typeface="Times New Roman"/>
                <a:cs typeface="Times New Roman"/>
              </a:rPr>
              <a:t>6	</a:t>
            </a:r>
            <a:r>
              <a:rPr sz="600" spc="75" dirty="0">
                <a:latin typeface="Times New Roman"/>
                <a:cs typeface="Times New Roman"/>
              </a:rPr>
              <a:t>self.chan.sendTo(participants,</a:t>
            </a:r>
            <a:r>
              <a:rPr sz="600" spc="95" dirty="0">
                <a:latin typeface="Times New Roman"/>
                <a:cs typeface="Times New Roman"/>
              </a:rPr>
              <a:t> </a:t>
            </a:r>
            <a:r>
              <a:rPr sz="600" spc="-45" dirty="0">
                <a:latin typeface="Times New Roman"/>
                <a:cs typeface="Times New Roman"/>
              </a:rPr>
              <a:t>VOTE_REQUEST)</a:t>
            </a:r>
            <a:endParaRPr sz="600">
              <a:latin typeface="Times New Roman"/>
              <a:cs typeface="Times New Roman"/>
            </a:endParaRPr>
          </a:p>
          <a:p>
            <a:pPr marL="48895">
              <a:lnSpc>
                <a:spcPts val="680"/>
              </a:lnSpc>
              <a:tabLst>
                <a:tab pos="300990" algn="l"/>
              </a:tabLst>
            </a:pPr>
            <a:r>
              <a:rPr sz="450" spc="60" dirty="0">
                <a:latin typeface="Times New Roman"/>
                <a:cs typeface="Times New Roman"/>
              </a:rPr>
              <a:t>7	</a:t>
            </a:r>
            <a:r>
              <a:rPr sz="600" b="1" spc="65" dirty="0">
                <a:solidFill>
                  <a:srgbClr val="FF0059"/>
                </a:solidFill>
                <a:latin typeface="Times New Roman"/>
                <a:cs typeface="Times New Roman"/>
              </a:rPr>
              <a:t>while</a:t>
            </a:r>
            <a:r>
              <a:rPr sz="600" b="1" spc="50" dirty="0">
                <a:solidFill>
                  <a:srgbClr val="FF0059"/>
                </a:solidFill>
                <a:latin typeface="Times New Roman"/>
                <a:cs typeface="Times New Roman"/>
              </a:rPr>
              <a:t> </a:t>
            </a:r>
            <a:r>
              <a:rPr sz="600" b="1" spc="55" dirty="0">
                <a:solidFill>
                  <a:srgbClr val="FF0059"/>
                </a:solidFill>
                <a:latin typeface="Times New Roman"/>
                <a:cs typeface="Times New Roman"/>
              </a:rPr>
              <a:t>len</a:t>
            </a:r>
            <a:r>
              <a:rPr sz="600" spc="55" dirty="0">
                <a:latin typeface="Times New Roman"/>
                <a:cs typeface="Times New Roman"/>
              </a:rPr>
              <a:t>(yetToReceive)</a:t>
            </a:r>
            <a:r>
              <a:rPr sz="600" spc="75" dirty="0">
                <a:latin typeface="Times New Roman"/>
                <a:cs typeface="Times New Roman"/>
              </a:rPr>
              <a:t> </a:t>
            </a:r>
            <a:r>
              <a:rPr sz="600" spc="40" dirty="0">
                <a:latin typeface="Times New Roman"/>
                <a:cs typeface="Times New Roman"/>
              </a:rPr>
              <a:t>&gt;</a:t>
            </a:r>
            <a:r>
              <a:rPr sz="600" spc="90" dirty="0">
                <a:latin typeface="Times New Roman"/>
                <a:cs typeface="Times New Roman"/>
              </a:rPr>
              <a:t> </a:t>
            </a:r>
            <a:r>
              <a:rPr sz="600" spc="125" dirty="0">
                <a:latin typeface="Times New Roman"/>
                <a:cs typeface="Times New Roman"/>
              </a:rPr>
              <a:t>0:</a:t>
            </a:r>
            <a:endParaRPr sz="600">
              <a:latin typeface="Times New Roman"/>
              <a:cs typeface="Times New Roman"/>
            </a:endParaRPr>
          </a:p>
          <a:p>
            <a:pPr marL="48895">
              <a:lnSpc>
                <a:spcPts val="680"/>
              </a:lnSpc>
              <a:tabLst>
                <a:tab pos="382905" algn="l"/>
              </a:tabLst>
            </a:pPr>
            <a:r>
              <a:rPr sz="450" spc="60" dirty="0">
                <a:latin typeface="Times New Roman"/>
                <a:cs typeface="Times New Roman"/>
              </a:rPr>
              <a:t>8	</a:t>
            </a:r>
            <a:r>
              <a:rPr sz="600" spc="15" dirty="0">
                <a:latin typeface="Times New Roman"/>
                <a:cs typeface="Times New Roman"/>
              </a:rPr>
              <a:t>msg</a:t>
            </a:r>
            <a:r>
              <a:rPr sz="600" spc="75" dirty="0">
                <a:latin typeface="Times New Roman"/>
                <a:cs typeface="Times New Roman"/>
              </a:rPr>
              <a:t> </a:t>
            </a:r>
            <a:r>
              <a:rPr sz="600" spc="40" dirty="0">
                <a:latin typeface="Times New Roman"/>
                <a:cs typeface="Times New Roman"/>
              </a:rPr>
              <a:t>=</a:t>
            </a:r>
            <a:r>
              <a:rPr sz="600" spc="80" dirty="0">
                <a:latin typeface="Times New Roman"/>
                <a:cs typeface="Times New Roman"/>
              </a:rPr>
              <a:t> </a:t>
            </a:r>
            <a:r>
              <a:rPr sz="600" spc="75" dirty="0">
                <a:latin typeface="Times New Roman"/>
                <a:cs typeface="Times New Roman"/>
              </a:rPr>
              <a:t>self.chan.recvFrom(participants,</a:t>
            </a:r>
            <a:r>
              <a:rPr sz="600" spc="70" dirty="0">
                <a:latin typeface="Times New Roman"/>
                <a:cs typeface="Times New Roman"/>
              </a:rPr>
              <a:t> </a:t>
            </a:r>
            <a:r>
              <a:rPr sz="600" spc="-40" dirty="0">
                <a:latin typeface="Times New Roman"/>
                <a:cs typeface="Times New Roman"/>
              </a:rPr>
              <a:t>TIMEOUT)</a:t>
            </a:r>
            <a:endParaRPr sz="600">
              <a:latin typeface="Times New Roman"/>
              <a:cs typeface="Times New Roman"/>
            </a:endParaRPr>
          </a:p>
          <a:p>
            <a:pPr marL="48895">
              <a:lnSpc>
                <a:spcPts val="680"/>
              </a:lnSpc>
              <a:tabLst>
                <a:tab pos="383540" algn="l"/>
              </a:tabLst>
            </a:pPr>
            <a:r>
              <a:rPr sz="450" spc="60" dirty="0">
                <a:latin typeface="Times New Roman"/>
                <a:cs typeface="Times New Roman"/>
              </a:rPr>
              <a:t>9	</a:t>
            </a:r>
            <a:r>
              <a:rPr sz="600" b="1" spc="175" dirty="0">
                <a:solidFill>
                  <a:srgbClr val="FF0059"/>
                </a:solidFill>
                <a:latin typeface="Times New Roman"/>
                <a:cs typeface="Times New Roman"/>
              </a:rPr>
              <a:t>if</a:t>
            </a:r>
            <a:r>
              <a:rPr sz="600" b="1" spc="85" dirty="0">
                <a:solidFill>
                  <a:srgbClr val="FF0059"/>
                </a:solidFill>
                <a:latin typeface="Times New Roman"/>
                <a:cs typeface="Times New Roman"/>
              </a:rPr>
              <a:t> </a:t>
            </a:r>
            <a:r>
              <a:rPr sz="600" spc="75" dirty="0">
                <a:latin typeface="Times New Roman"/>
                <a:cs typeface="Times New Roman"/>
              </a:rPr>
              <a:t>(</a:t>
            </a:r>
            <a:r>
              <a:rPr sz="600" b="1" spc="75" dirty="0">
                <a:solidFill>
                  <a:srgbClr val="FF0059"/>
                </a:solidFill>
                <a:latin typeface="Times New Roman"/>
                <a:cs typeface="Times New Roman"/>
              </a:rPr>
              <a:t>not</a:t>
            </a:r>
            <a:r>
              <a:rPr sz="600" b="1" spc="65" dirty="0">
                <a:solidFill>
                  <a:srgbClr val="FF0059"/>
                </a:solidFill>
                <a:latin typeface="Times New Roman"/>
                <a:cs typeface="Times New Roman"/>
              </a:rPr>
              <a:t> </a:t>
            </a:r>
            <a:r>
              <a:rPr sz="600" spc="35" dirty="0">
                <a:latin typeface="Times New Roman"/>
                <a:cs typeface="Times New Roman"/>
              </a:rPr>
              <a:t>msg)</a:t>
            </a:r>
            <a:r>
              <a:rPr sz="600" spc="85" dirty="0">
                <a:latin typeface="Times New Roman"/>
                <a:cs typeface="Times New Roman"/>
              </a:rPr>
              <a:t> </a:t>
            </a:r>
            <a:r>
              <a:rPr sz="600" b="1" spc="75" dirty="0">
                <a:solidFill>
                  <a:srgbClr val="FF0059"/>
                </a:solidFill>
                <a:latin typeface="Times New Roman"/>
                <a:cs typeface="Times New Roman"/>
              </a:rPr>
              <a:t>or</a:t>
            </a:r>
            <a:r>
              <a:rPr sz="600" b="1" spc="85" dirty="0">
                <a:solidFill>
                  <a:srgbClr val="FF0059"/>
                </a:solidFill>
                <a:latin typeface="Times New Roman"/>
                <a:cs typeface="Times New Roman"/>
              </a:rPr>
              <a:t> </a:t>
            </a:r>
            <a:r>
              <a:rPr sz="600" spc="55" dirty="0">
                <a:latin typeface="Times New Roman"/>
                <a:cs typeface="Times New Roman"/>
              </a:rPr>
              <a:t>(msg[1]</a:t>
            </a:r>
            <a:r>
              <a:rPr sz="600" spc="70" dirty="0">
                <a:latin typeface="Times New Roman"/>
                <a:cs typeface="Times New Roman"/>
              </a:rPr>
              <a:t> </a:t>
            </a:r>
            <a:r>
              <a:rPr sz="600" spc="20" dirty="0">
                <a:latin typeface="Times New Roman"/>
                <a:cs typeface="Times New Roman"/>
              </a:rPr>
              <a:t>==</a:t>
            </a:r>
            <a:r>
              <a:rPr sz="600" spc="65" dirty="0">
                <a:latin typeface="Times New Roman"/>
                <a:cs typeface="Times New Roman"/>
              </a:rPr>
              <a:t> </a:t>
            </a:r>
            <a:r>
              <a:rPr sz="600" spc="-35" dirty="0">
                <a:latin typeface="Times New Roman"/>
                <a:cs typeface="Times New Roman"/>
              </a:rPr>
              <a:t>VOTE_ABORT):</a:t>
            </a:r>
            <a:endParaRPr sz="600">
              <a:latin typeface="Times New Roman"/>
              <a:cs typeface="Times New Roman"/>
            </a:endParaRPr>
          </a:p>
          <a:p>
            <a:pPr marL="12700">
              <a:lnSpc>
                <a:spcPts val="680"/>
              </a:lnSpc>
              <a:tabLst>
                <a:tab pos="463550" algn="l"/>
              </a:tabLst>
            </a:pPr>
            <a:r>
              <a:rPr sz="450" spc="60" dirty="0">
                <a:latin typeface="Times New Roman"/>
                <a:cs typeface="Times New Roman"/>
              </a:rPr>
              <a:t>10	</a:t>
            </a:r>
            <a:r>
              <a:rPr sz="600" spc="55" dirty="0">
                <a:latin typeface="Times New Roman"/>
                <a:cs typeface="Times New Roman"/>
              </a:rPr>
              <a:t>self.log.info(</a:t>
            </a:r>
            <a:r>
              <a:rPr sz="600" spc="55" dirty="0">
                <a:solidFill>
                  <a:srgbClr val="FA0000"/>
                </a:solidFill>
                <a:latin typeface="Times New Roman"/>
                <a:cs typeface="Times New Roman"/>
              </a:rPr>
              <a:t>’ABORT’</a:t>
            </a:r>
            <a:r>
              <a:rPr sz="600" spc="55" dirty="0">
                <a:latin typeface="Times New Roman"/>
                <a:cs typeface="Times New Roman"/>
              </a:rPr>
              <a:t>)</a:t>
            </a:r>
            <a:endParaRPr sz="600">
              <a:latin typeface="Times New Roman"/>
              <a:cs typeface="Times New Roman"/>
            </a:endParaRPr>
          </a:p>
          <a:p>
            <a:pPr marL="12700">
              <a:lnSpc>
                <a:spcPts val="680"/>
              </a:lnSpc>
              <a:tabLst>
                <a:tab pos="463550" algn="l"/>
              </a:tabLst>
            </a:pPr>
            <a:r>
              <a:rPr sz="450" spc="60" dirty="0">
                <a:latin typeface="Times New Roman"/>
                <a:cs typeface="Times New Roman"/>
              </a:rPr>
              <a:t>11	</a:t>
            </a:r>
            <a:r>
              <a:rPr sz="600" spc="75" dirty="0">
                <a:latin typeface="Times New Roman"/>
                <a:cs typeface="Times New Roman"/>
              </a:rPr>
              <a:t>self.chan.sendTo(participants,</a:t>
            </a:r>
            <a:r>
              <a:rPr sz="600" spc="110" dirty="0">
                <a:latin typeface="Times New Roman"/>
                <a:cs typeface="Times New Roman"/>
              </a:rPr>
              <a:t> </a:t>
            </a:r>
            <a:r>
              <a:rPr sz="600" spc="-60" dirty="0">
                <a:latin typeface="Times New Roman"/>
                <a:cs typeface="Times New Roman"/>
              </a:rPr>
              <a:t>GLOBAL_ABORT)</a:t>
            </a:r>
            <a:endParaRPr sz="600">
              <a:latin typeface="Times New Roman"/>
              <a:cs typeface="Times New Roman"/>
            </a:endParaRPr>
          </a:p>
          <a:p>
            <a:pPr marL="12700">
              <a:lnSpc>
                <a:spcPts val="680"/>
              </a:lnSpc>
              <a:tabLst>
                <a:tab pos="462915" algn="l"/>
              </a:tabLst>
            </a:pPr>
            <a:r>
              <a:rPr sz="450" spc="60" dirty="0">
                <a:latin typeface="Times New Roman"/>
                <a:cs typeface="Times New Roman"/>
              </a:rPr>
              <a:t>12	</a:t>
            </a:r>
            <a:r>
              <a:rPr sz="600" b="1" spc="55" dirty="0">
                <a:solidFill>
                  <a:srgbClr val="FF0059"/>
                </a:solidFill>
                <a:latin typeface="Times New Roman"/>
                <a:cs typeface="Times New Roman"/>
              </a:rPr>
              <a:t>return</a:t>
            </a:r>
            <a:endParaRPr sz="600">
              <a:latin typeface="Times New Roman"/>
              <a:cs typeface="Times New Roman"/>
            </a:endParaRPr>
          </a:p>
          <a:p>
            <a:pPr marL="12700">
              <a:lnSpc>
                <a:spcPts val="680"/>
              </a:lnSpc>
              <a:tabLst>
                <a:tab pos="382270" algn="l"/>
              </a:tabLst>
            </a:pPr>
            <a:r>
              <a:rPr sz="450" spc="60" dirty="0">
                <a:latin typeface="Times New Roman"/>
                <a:cs typeface="Times New Roman"/>
              </a:rPr>
              <a:t>13	</a:t>
            </a:r>
            <a:r>
              <a:rPr sz="600" b="1" spc="110" dirty="0">
                <a:solidFill>
                  <a:srgbClr val="FF0059"/>
                </a:solidFill>
                <a:latin typeface="Times New Roman"/>
                <a:cs typeface="Times New Roman"/>
              </a:rPr>
              <a:t>else</a:t>
            </a:r>
            <a:r>
              <a:rPr sz="600" spc="110" dirty="0">
                <a:latin typeface="Times New Roman"/>
                <a:cs typeface="Times New Roman"/>
              </a:rPr>
              <a:t>:</a:t>
            </a:r>
            <a:r>
              <a:rPr sz="600" spc="100" dirty="0">
                <a:latin typeface="Times New Roman"/>
                <a:cs typeface="Times New Roman"/>
              </a:rPr>
              <a:t> </a:t>
            </a:r>
            <a:r>
              <a:rPr sz="600" i="1" spc="80" dirty="0">
                <a:solidFill>
                  <a:srgbClr val="009600"/>
                </a:solidFill>
                <a:latin typeface="Times New Roman"/>
                <a:cs typeface="Times New Roman"/>
              </a:rPr>
              <a:t># </a:t>
            </a:r>
            <a:r>
              <a:rPr sz="600" i="1" spc="40" dirty="0">
                <a:solidFill>
                  <a:srgbClr val="009600"/>
                </a:solidFill>
                <a:latin typeface="Times New Roman"/>
                <a:cs typeface="Times New Roman"/>
              </a:rPr>
              <a:t>msg[1]</a:t>
            </a:r>
            <a:r>
              <a:rPr sz="600" i="1" spc="70" dirty="0">
                <a:solidFill>
                  <a:srgbClr val="009600"/>
                </a:solidFill>
                <a:latin typeface="Times New Roman"/>
                <a:cs typeface="Times New Roman"/>
              </a:rPr>
              <a:t> </a:t>
            </a:r>
            <a:r>
              <a:rPr sz="600" i="1" spc="-45" dirty="0">
                <a:solidFill>
                  <a:srgbClr val="009600"/>
                </a:solidFill>
                <a:latin typeface="Times New Roman"/>
                <a:cs typeface="Times New Roman"/>
              </a:rPr>
              <a:t>==</a:t>
            </a:r>
            <a:r>
              <a:rPr sz="600" i="1" spc="60" dirty="0">
                <a:solidFill>
                  <a:srgbClr val="009600"/>
                </a:solidFill>
                <a:latin typeface="Times New Roman"/>
                <a:cs typeface="Times New Roman"/>
              </a:rPr>
              <a:t> </a:t>
            </a:r>
            <a:r>
              <a:rPr sz="600" i="1" spc="-55" dirty="0">
                <a:solidFill>
                  <a:srgbClr val="009600"/>
                </a:solidFill>
                <a:latin typeface="Times New Roman"/>
                <a:cs typeface="Times New Roman"/>
              </a:rPr>
              <a:t>VOTE_COMMIT</a:t>
            </a:r>
            <a:endParaRPr sz="600">
              <a:latin typeface="Times New Roman"/>
              <a:cs typeface="Times New Roman"/>
            </a:endParaRPr>
          </a:p>
          <a:p>
            <a:pPr marL="12700">
              <a:lnSpc>
                <a:spcPts val="680"/>
              </a:lnSpc>
              <a:tabLst>
                <a:tab pos="462280" algn="l"/>
              </a:tabLst>
            </a:pPr>
            <a:r>
              <a:rPr sz="450" spc="60" dirty="0">
                <a:latin typeface="Times New Roman"/>
                <a:cs typeface="Times New Roman"/>
              </a:rPr>
              <a:t>14	</a:t>
            </a:r>
            <a:r>
              <a:rPr sz="600" spc="45" dirty="0">
                <a:latin typeface="Times New Roman"/>
                <a:cs typeface="Times New Roman"/>
              </a:rPr>
              <a:t>yetToReceive.remove(msg[0])</a:t>
            </a:r>
            <a:endParaRPr sz="600">
              <a:latin typeface="Times New Roman"/>
              <a:cs typeface="Times New Roman"/>
            </a:endParaRPr>
          </a:p>
          <a:p>
            <a:pPr marL="12700">
              <a:lnSpc>
                <a:spcPts val="680"/>
              </a:lnSpc>
              <a:tabLst>
                <a:tab pos="301625" algn="l"/>
              </a:tabLst>
            </a:pPr>
            <a:r>
              <a:rPr sz="450" spc="60" dirty="0">
                <a:latin typeface="Times New Roman"/>
                <a:cs typeface="Times New Roman"/>
              </a:rPr>
              <a:t>15	</a:t>
            </a:r>
            <a:r>
              <a:rPr sz="600" spc="50" dirty="0">
                <a:latin typeface="Times New Roman"/>
                <a:cs typeface="Times New Roman"/>
              </a:rPr>
              <a:t>self.log.info(</a:t>
            </a:r>
            <a:r>
              <a:rPr sz="600" spc="50" dirty="0">
                <a:solidFill>
                  <a:srgbClr val="FA0000"/>
                </a:solidFill>
                <a:latin typeface="Times New Roman"/>
                <a:cs typeface="Times New Roman"/>
              </a:rPr>
              <a:t>’COMMIT’</a:t>
            </a:r>
            <a:r>
              <a:rPr sz="600" spc="50" dirty="0">
                <a:latin typeface="Times New Roman"/>
                <a:cs typeface="Times New Roman"/>
              </a:rPr>
              <a:t>)</a:t>
            </a:r>
            <a:endParaRPr sz="600">
              <a:latin typeface="Times New Roman"/>
              <a:cs typeface="Times New Roman"/>
            </a:endParaRPr>
          </a:p>
          <a:p>
            <a:pPr marL="12700">
              <a:lnSpc>
                <a:spcPts val="700"/>
              </a:lnSpc>
              <a:tabLst>
                <a:tab pos="301625" algn="l"/>
              </a:tabLst>
            </a:pPr>
            <a:r>
              <a:rPr sz="450" spc="60" dirty="0">
                <a:latin typeface="Times New Roman"/>
                <a:cs typeface="Times New Roman"/>
              </a:rPr>
              <a:t>16	</a:t>
            </a:r>
            <a:r>
              <a:rPr sz="600" spc="75" dirty="0">
                <a:latin typeface="Times New Roman"/>
                <a:cs typeface="Times New Roman"/>
              </a:rPr>
              <a:t>self.chan.sendTo(participants,</a:t>
            </a:r>
            <a:r>
              <a:rPr sz="600" spc="125" dirty="0">
                <a:latin typeface="Times New Roman"/>
                <a:cs typeface="Times New Roman"/>
              </a:rPr>
              <a:t> </a:t>
            </a:r>
            <a:r>
              <a:rPr sz="600" spc="-65" dirty="0">
                <a:latin typeface="Times New Roman"/>
                <a:cs typeface="Times New Roman"/>
              </a:rPr>
              <a:t>GLOBAL_COMMIT)</a:t>
            </a:r>
            <a:endParaRPr sz="600">
              <a:latin typeface="Times New Roman"/>
              <a:cs typeface="Times New Roman"/>
            </a:endParaRPr>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58</a:t>
            </a:r>
            <a:r>
              <a:rPr spc="-40" dirty="0"/>
              <a:t> </a:t>
            </a:r>
            <a:r>
              <a:rPr spc="-5" dirty="0"/>
              <a:t>/</a:t>
            </a:r>
            <a:r>
              <a:rPr spc="-35" dirty="0"/>
              <a:t> </a:t>
            </a:r>
            <a:r>
              <a:rPr spc="-5" dirty="0"/>
              <a:t>68</a:t>
            </a:r>
          </a:p>
        </p:txBody>
      </p:sp>
      <p:sp>
        <p:nvSpPr>
          <p:cNvPr id="2" name="object 2"/>
          <p:cNvSpPr txBox="1"/>
          <p:nvPr/>
        </p:nvSpPr>
        <p:spPr>
          <a:xfrm>
            <a:off x="66713" y="716"/>
            <a:ext cx="121221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2" action="ppaction://hlinksldjump"/>
              </a:rPr>
              <a:t>Fault</a:t>
            </a:r>
            <a:r>
              <a:rPr sz="600" spc="-5" dirty="0">
                <a:solidFill>
                  <a:srgbClr val="3333B2"/>
                </a:solidFill>
                <a:latin typeface="Arial"/>
                <a:cs typeface="Arial"/>
                <a:hlinkClick r:id="rId2" action="ppaction://hlinksldjump"/>
              </a:rPr>
              <a:t> tolerance:</a:t>
            </a:r>
            <a:r>
              <a:rPr sz="600" spc="140" dirty="0">
                <a:solidFill>
                  <a:srgbClr val="3333B2"/>
                </a:solidFill>
                <a:latin typeface="Arial"/>
                <a:cs typeface="Arial"/>
              </a:rPr>
              <a:t> </a:t>
            </a:r>
            <a:r>
              <a:rPr sz="600" spc="-5" dirty="0">
                <a:solidFill>
                  <a:srgbClr val="3333B2"/>
                </a:solidFill>
                <a:latin typeface="Arial"/>
                <a:cs typeface="Arial"/>
                <a:hlinkClick r:id="rId3" action="ppaction://hlinksldjump"/>
              </a:rPr>
              <a:t>Distributed commit</a:t>
            </a:r>
            <a:endParaRPr sz="600">
              <a:latin typeface="Arial"/>
              <a:cs typeface="Arial"/>
            </a:endParaRPr>
          </a:p>
        </p:txBody>
      </p:sp>
      <p:sp>
        <p:nvSpPr>
          <p:cNvPr id="3" name="object 3"/>
          <p:cNvSpPr txBox="1">
            <a:spLocks noGrp="1"/>
          </p:cNvSpPr>
          <p:nvPr>
            <p:ph type="title"/>
          </p:nvPr>
        </p:nvSpPr>
        <p:spPr>
          <a:xfrm>
            <a:off x="95300" y="188846"/>
            <a:ext cx="1696720" cy="244475"/>
          </a:xfrm>
          <a:prstGeom prst="rect">
            <a:avLst/>
          </a:prstGeom>
        </p:spPr>
        <p:txBody>
          <a:bodyPr vert="horz" wrap="square" lIns="0" tIns="17145" rIns="0" bIns="0" rtlCol="0">
            <a:spAutoFit/>
          </a:bodyPr>
          <a:lstStyle/>
          <a:p>
            <a:pPr marL="12700">
              <a:lnSpc>
                <a:spcPct val="100000"/>
              </a:lnSpc>
              <a:spcBef>
                <a:spcPts val="135"/>
              </a:spcBef>
            </a:pPr>
            <a:r>
              <a:rPr spc="10" dirty="0"/>
              <a:t>Participant</a:t>
            </a:r>
            <a:r>
              <a:rPr spc="-10" dirty="0"/>
              <a:t> </a:t>
            </a:r>
            <a:r>
              <a:rPr spc="10" dirty="0"/>
              <a:t>in</a:t>
            </a:r>
            <a:r>
              <a:rPr spc="-5" dirty="0"/>
              <a:t> </a:t>
            </a:r>
            <a:r>
              <a:rPr spc="15" dirty="0"/>
              <a:t>Python</a:t>
            </a:r>
          </a:p>
        </p:txBody>
      </p:sp>
      <p:sp>
        <p:nvSpPr>
          <p:cNvPr id="4" name="object 4"/>
          <p:cNvSpPr txBox="1"/>
          <p:nvPr/>
        </p:nvSpPr>
        <p:spPr>
          <a:xfrm>
            <a:off x="326044" y="631984"/>
            <a:ext cx="855980" cy="123189"/>
          </a:xfrm>
          <a:prstGeom prst="rect">
            <a:avLst/>
          </a:prstGeom>
        </p:spPr>
        <p:txBody>
          <a:bodyPr vert="horz" wrap="square" lIns="0" tIns="17145" rIns="0" bIns="0" rtlCol="0">
            <a:spAutoFit/>
          </a:bodyPr>
          <a:lstStyle/>
          <a:p>
            <a:pPr marL="12700">
              <a:lnSpc>
                <a:spcPct val="100000"/>
              </a:lnSpc>
              <a:spcBef>
                <a:spcPts val="135"/>
              </a:spcBef>
            </a:pPr>
            <a:r>
              <a:rPr sz="450" spc="60" dirty="0">
                <a:latin typeface="Times New Roman"/>
                <a:cs typeface="Times New Roman"/>
              </a:rPr>
              <a:t>1 </a:t>
            </a:r>
            <a:r>
              <a:rPr sz="450" spc="125" dirty="0">
                <a:latin typeface="Times New Roman"/>
                <a:cs typeface="Times New Roman"/>
              </a:rPr>
              <a:t> </a:t>
            </a:r>
            <a:r>
              <a:rPr sz="600" b="1" spc="95" dirty="0">
                <a:solidFill>
                  <a:srgbClr val="FF0059"/>
                </a:solidFill>
                <a:latin typeface="Times New Roman"/>
                <a:cs typeface="Times New Roman"/>
              </a:rPr>
              <a:t>class</a:t>
            </a:r>
            <a:r>
              <a:rPr sz="600" b="1" spc="45" dirty="0">
                <a:solidFill>
                  <a:srgbClr val="FF0059"/>
                </a:solidFill>
                <a:latin typeface="Times New Roman"/>
                <a:cs typeface="Times New Roman"/>
              </a:rPr>
              <a:t> </a:t>
            </a:r>
            <a:r>
              <a:rPr sz="600" spc="90" dirty="0">
                <a:latin typeface="Times New Roman"/>
                <a:cs typeface="Times New Roman"/>
              </a:rPr>
              <a:t>Participant:</a:t>
            </a:r>
            <a:endParaRPr sz="600">
              <a:latin typeface="Times New Roman"/>
              <a:cs typeface="Times New Roman"/>
            </a:endParaRPr>
          </a:p>
        </p:txBody>
      </p:sp>
      <p:sp>
        <p:nvSpPr>
          <p:cNvPr id="5" name="object 5"/>
          <p:cNvSpPr txBox="1"/>
          <p:nvPr/>
        </p:nvSpPr>
        <p:spPr>
          <a:xfrm>
            <a:off x="289600" y="718526"/>
            <a:ext cx="2917825" cy="2195830"/>
          </a:xfrm>
          <a:prstGeom prst="rect">
            <a:avLst/>
          </a:prstGeom>
        </p:spPr>
        <p:txBody>
          <a:bodyPr vert="horz" wrap="square" lIns="0" tIns="17145" rIns="0" bIns="0" rtlCol="0">
            <a:spAutoFit/>
          </a:bodyPr>
          <a:lstStyle/>
          <a:p>
            <a:pPr marL="48895">
              <a:lnSpc>
                <a:spcPts val="700"/>
              </a:lnSpc>
              <a:spcBef>
                <a:spcPts val="135"/>
              </a:spcBef>
              <a:tabLst>
                <a:tab pos="220979" algn="l"/>
              </a:tabLst>
            </a:pPr>
            <a:r>
              <a:rPr sz="450" spc="60" dirty="0">
                <a:latin typeface="Times New Roman"/>
                <a:cs typeface="Times New Roman"/>
              </a:rPr>
              <a:t>2	</a:t>
            </a:r>
            <a:r>
              <a:rPr sz="600" b="1" spc="80" dirty="0">
                <a:solidFill>
                  <a:srgbClr val="FF0059"/>
                </a:solidFill>
                <a:latin typeface="Times New Roman"/>
                <a:cs typeface="Times New Roman"/>
              </a:rPr>
              <a:t>def</a:t>
            </a:r>
            <a:r>
              <a:rPr sz="600" b="1" spc="25" dirty="0">
                <a:solidFill>
                  <a:srgbClr val="FF0059"/>
                </a:solidFill>
                <a:latin typeface="Times New Roman"/>
                <a:cs typeface="Times New Roman"/>
              </a:rPr>
              <a:t> </a:t>
            </a:r>
            <a:r>
              <a:rPr sz="600" spc="100" dirty="0">
                <a:latin typeface="Times New Roman"/>
                <a:cs typeface="Times New Roman"/>
              </a:rPr>
              <a:t>run(self):</a:t>
            </a:r>
            <a:endParaRPr sz="600">
              <a:latin typeface="Times New Roman"/>
              <a:cs typeface="Times New Roman"/>
            </a:endParaRPr>
          </a:p>
          <a:p>
            <a:pPr marL="48895">
              <a:lnSpc>
                <a:spcPts val="680"/>
              </a:lnSpc>
              <a:tabLst>
                <a:tab pos="301625" algn="l"/>
              </a:tabLst>
            </a:pPr>
            <a:r>
              <a:rPr sz="450" spc="60" dirty="0">
                <a:latin typeface="Times New Roman"/>
                <a:cs typeface="Times New Roman"/>
              </a:rPr>
              <a:t>3	</a:t>
            </a:r>
            <a:r>
              <a:rPr sz="600" spc="15" dirty="0">
                <a:latin typeface="Times New Roman"/>
                <a:cs typeface="Times New Roman"/>
              </a:rPr>
              <a:t>msg</a:t>
            </a:r>
            <a:r>
              <a:rPr sz="600" spc="100" dirty="0">
                <a:latin typeface="Times New Roman"/>
                <a:cs typeface="Times New Roman"/>
              </a:rPr>
              <a:t> </a:t>
            </a:r>
            <a:r>
              <a:rPr sz="600" spc="40" dirty="0">
                <a:latin typeface="Times New Roman"/>
                <a:cs typeface="Times New Roman"/>
              </a:rPr>
              <a:t>=</a:t>
            </a:r>
            <a:r>
              <a:rPr sz="600" spc="105" dirty="0">
                <a:latin typeface="Times New Roman"/>
                <a:cs typeface="Times New Roman"/>
              </a:rPr>
              <a:t> </a:t>
            </a:r>
            <a:r>
              <a:rPr sz="600" spc="65" dirty="0">
                <a:latin typeface="Times New Roman"/>
                <a:cs typeface="Times New Roman"/>
              </a:rPr>
              <a:t>self.chan.recvFrom(coordinator,</a:t>
            </a:r>
            <a:r>
              <a:rPr sz="600" spc="100" dirty="0">
                <a:latin typeface="Times New Roman"/>
                <a:cs typeface="Times New Roman"/>
              </a:rPr>
              <a:t> </a:t>
            </a:r>
            <a:r>
              <a:rPr sz="600" spc="-40" dirty="0">
                <a:latin typeface="Times New Roman"/>
                <a:cs typeface="Times New Roman"/>
              </a:rPr>
              <a:t>TIMEOUT)</a:t>
            </a:r>
            <a:endParaRPr sz="600">
              <a:latin typeface="Times New Roman"/>
              <a:cs typeface="Times New Roman"/>
            </a:endParaRPr>
          </a:p>
          <a:p>
            <a:pPr marL="48895">
              <a:lnSpc>
                <a:spcPts val="680"/>
              </a:lnSpc>
              <a:tabLst>
                <a:tab pos="302260" algn="l"/>
              </a:tabLst>
            </a:pPr>
            <a:r>
              <a:rPr sz="450" spc="60" dirty="0">
                <a:latin typeface="Times New Roman"/>
                <a:cs typeface="Times New Roman"/>
              </a:rPr>
              <a:t>4	</a:t>
            </a:r>
            <a:r>
              <a:rPr sz="600" b="1" spc="175" dirty="0">
                <a:solidFill>
                  <a:srgbClr val="FF0059"/>
                </a:solidFill>
                <a:latin typeface="Times New Roman"/>
                <a:cs typeface="Times New Roman"/>
              </a:rPr>
              <a:t>if</a:t>
            </a:r>
            <a:r>
              <a:rPr sz="600" b="1" spc="85" dirty="0">
                <a:solidFill>
                  <a:srgbClr val="FF0059"/>
                </a:solidFill>
                <a:latin typeface="Times New Roman"/>
                <a:cs typeface="Times New Roman"/>
              </a:rPr>
              <a:t> </a:t>
            </a:r>
            <a:r>
              <a:rPr sz="600" spc="75" dirty="0">
                <a:latin typeface="Times New Roman"/>
                <a:cs typeface="Times New Roman"/>
              </a:rPr>
              <a:t>(</a:t>
            </a:r>
            <a:r>
              <a:rPr sz="600" b="1" spc="75" dirty="0">
                <a:solidFill>
                  <a:srgbClr val="FF0059"/>
                </a:solidFill>
                <a:latin typeface="Times New Roman"/>
                <a:cs typeface="Times New Roman"/>
              </a:rPr>
              <a:t>not</a:t>
            </a:r>
            <a:r>
              <a:rPr sz="600" b="1" spc="70" dirty="0">
                <a:solidFill>
                  <a:srgbClr val="FF0059"/>
                </a:solidFill>
                <a:latin typeface="Times New Roman"/>
                <a:cs typeface="Times New Roman"/>
              </a:rPr>
              <a:t> </a:t>
            </a:r>
            <a:r>
              <a:rPr sz="600" spc="60" dirty="0">
                <a:latin typeface="Times New Roman"/>
                <a:cs typeface="Times New Roman"/>
              </a:rPr>
              <a:t>msg): </a:t>
            </a:r>
            <a:r>
              <a:rPr sz="600" spc="195" dirty="0">
                <a:latin typeface="Times New Roman"/>
                <a:cs typeface="Times New Roman"/>
              </a:rPr>
              <a:t> </a:t>
            </a:r>
            <a:r>
              <a:rPr sz="600" i="1" spc="80" dirty="0">
                <a:solidFill>
                  <a:srgbClr val="009600"/>
                </a:solidFill>
                <a:latin typeface="Times New Roman"/>
                <a:cs typeface="Times New Roman"/>
              </a:rPr>
              <a:t>#</a:t>
            </a:r>
            <a:r>
              <a:rPr sz="600" i="1" spc="75" dirty="0">
                <a:solidFill>
                  <a:srgbClr val="009600"/>
                </a:solidFill>
                <a:latin typeface="Times New Roman"/>
                <a:cs typeface="Times New Roman"/>
              </a:rPr>
              <a:t> </a:t>
            </a:r>
            <a:r>
              <a:rPr sz="600" i="1" spc="40" dirty="0">
                <a:solidFill>
                  <a:srgbClr val="009600"/>
                </a:solidFill>
                <a:latin typeface="Times New Roman"/>
                <a:cs typeface="Times New Roman"/>
              </a:rPr>
              <a:t>Crashed</a:t>
            </a:r>
            <a:r>
              <a:rPr sz="600" i="1" spc="50" dirty="0">
                <a:solidFill>
                  <a:srgbClr val="009600"/>
                </a:solidFill>
                <a:latin typeface="Times New Roman"/>
                <a:cs typeface="Times New Roman"/>
              </a:rPr>
              <a:t> </a:t>
            </a:r>
            <a:r>
              <a:rPr sz="600" i="1" spc="65" dirty="0">
                <a:solidFill>
                  <a:srgbClr val="009600"/>
                </a:solidFill>
                <a:latin typeface="Times New Roman"/>
                <a:cs typeface="Times New Roman"/>
              </a:rPr>
              <a:t>coordinator</a:t>
            </a:r>
            <a:r>
              <a:rPr sz="600" i="1" spc="60" dirty="0">
                <a:solidFill>
                  <a:srgbClr val="009600"/>
                </a:solidFill>
                <a:latin typeface="Times New Roman"/>
                <a:cs typeface="Times New Roman"/>
              </a:rPr>
              <a:t> </a:t>
            </a:r>
            <a:r>
              <a:rPr sz="600" i="1" spc="180" dirty="0">
                <a:solidFill>
                  <a:srgbClr val="009600"/>
                </a:solidFill>
                <a:latin typeface="Times New Roman"/>
                <a:cs typeface="Times New Roman"/>
              </a:rPr>
              <a:t>-</a:t>
            </a:r>
            <a:r>
              <a:rPr sz="600" i="1" spc="95" dirty="0">
                <a:solidFill>
                  <a:srgbClr val="009600"/>
                </a:solidFill>
                <a:latin typeface="Times New Roman"/>
                <a:cs typeface="Times New Roman"/>
              </a:rPr>
              <a:t> </a:t>
            </a:r>
            <a:r>
              <a:rPr sz="600" i="1" spc="90" dirty="0">
                <a:solidFill>
                  <a:srgbClr val="009600"/>
                </a:solidFill>
                <a:latin typeface="Times New Roman"/>
                <a:cs typeface="Times New Roman"/>
              </a:rPr>
              <a:t>give</a:t>
            </a:r>
            <a:r>
              <a:rPr sz="600" i="1" spc="75" dirty="0">
                <a:solidFill>
                  <a:srgbClr val="009600"/>
                </a:solidFill>
                <a:latin typeface="Times New Roman"/>
                <a:cs typeface="Times New Roman"/>
              </a:rPr>
              <a:t> </a:t>
            </a:r>
            <a:r>
              <a:rPr sz="600" i="1" spc="60" dirty="0">
                <a:solidFill>
                  <a:srgbClr val="009600"/>
                </a:solidFill>
                <a:latin typeface="Times New Roman"/>
                <a:cs typeface="Times New Roman"/>
              </a:rPr>
              <a:t>up </a:t>
            </a:r>
            <a:r>
              <a:rPr sz="600" i="1" spc="100" dirty="0">
                <a:solidFill>
                  <a:srgbClr val="009600"/>
                </a:solidFill>
                <a:latin typeface="Times New Roman"/>
                <a:cs typeface="Times New Roman"/>
              </a:rPr>
              <a:t>entirely</a:t>
            </a:r>
            <a:endParaRPr sz="600">
              <a:latin typeface="Times New Roman"/>
              <a:cs typeface="Times New Roman"/>
            </a:endParaRPr>
          </a:p>
          <a:p>
            <a:pPr marL="48895">
              <a:lnSpc>
                <a:spcPts val="680"/>
              </a:lnSpc>
              <a:tabLst>
                <a:tab pos="381635" algn="l"/>
              </a:tabLst>
            </a:pPr>
            <a:r>
              <a:rPr sz="450" spc="60" dirty="0">
                <a:latin typeface="Times New Roman"/>
                <a:cs typeface="Times New Roman"/>
              </a:rPr>
              <a:t>5	</a:t>
            </a:r>
            <a:r>
              <a:rPr sz="600" spc="80" dirty="0">
                <a:latin typeface="Times New Roman"/>
                <a:cs typeface="Times New Roman"/>
              </a:rPr>
              <a:t>decision</a:t>
            </a:r>
            <a:r>
              <a:rPr sz="600" spc="60" dirty="0">
                <a:latin typeface="Times New Roman"/>
                <a:cs typeface="Times New Roman"/>
              </a:rPr>
              <a:t> </a:t>
            </a:r>
            <a:r>
              <a:rPr sz="600" spc="40" dirty="0">
                <a:latin typeface="Times New Roman"/>
                <a:cs typeface="Times New Roman"/>
              </a:rPr>
              <a:t>=</a:t>
            </a:r>
            <a:r>
              <a:rPr sz="600" spc="55" dirty="0">
                <a:latin typeface="Times New Roman"/>
                <a:cs typeface="Times New Roman"/>
              </a:rPr>
              <a:t> </a:t>
            </a:r>
            <a:r>
              <a:rPr sz="600" spc="-70" dirty="0">
                <a:latin typeface="Times New Roman"/>
                <a:cs typeface="Times New Roman"/>
              </a:rPr>
              <a:t>LOCAL_ABORT</a:t>
            </a:r>
            <a:endParaRPr sz="600">
              <a:latin typeface="Times New Roman"/>
              <a:cs typeface="Times New Roman"/>
            </a:endParaRPr>
          </a:p>
          <a:p>
            <a:pPr marL="48895">
              <a:lnSpc>
                <a:spcPts val="680"/>
              </a:lnSpc>
              <a:tabLst>
                <a:tab pos="301625" algn="l"/>
              </a:tabLst>
            </a:pPr>
            <a:r>
              <a:rPr sz="450" spc="60" dirty="0">
                <a:latin typeface="Times New Roman"/>
                <a:cs typeface="Times New Roman"/>
              </a:rPr>
              <a:t>6	</a:t>
            </a:r>
            <a:r>
              <a:rPr sz="600" b="1" spc="110" dirty="0">
                <a:solidFill>
                  <a:srgbClr val="FF0059"/>
                </a:solidFill>
                <a:latin typeface="Times New Roman"/>
                <a:cs typeface="Times New Roman"/>
              </a:rPr>
              <a:t>else</a:t>
            </a:r>
            <a:r>
              <a:rPr sz="600" spc="110" dirty="0">
                <a:latin typeface="Times New Roman"/>
                <a:cs typeface="Times New Roman"/>
              </a:rPr>
              <a:t>:</a:t>
            </a:r>
            <a:r>
              <a:rPr sz="600" spc="95" dirty="0">
                <a:latin typeface="Times New Roman"/>
                <a:cs typeface="Times New Roman"/>
              </a:rPr>
              <a:t> </a:t>
            </a:r>
            <a:r>
              <a:rPr sz="600" i="1" spc="80" dirty="0">
                <a:solidFill>
                  <a:srgbClr val="009600"/>
                </a:solidFill>
                <a:latin typeface="Times New Roman"/>
                <a:cs typeface="Times New Roman"/>
              </a:rPr>
              <a:t>#</a:t>
            </a:r>
            <a:r>
              <a:rPr sz="600" i="1" spc="70" dirty="0">
                <a:solidFill>
                  <a:srgbClr val="009600"/>
                </a:solidFill>
                <a:latin typeface="Times New Roman"/>
                <a:cs typeface="Times New Roman"/>
              </a:rPr>
              <a:t> </a:t>
            </a:r>
            <a:r>
              <a:rPr sz="600" i="1" spc="55" dirty="0">
                <a:solidFill>
                  <a:srgbClr val="009600"/>
                </a:solidFill>
                <a:latin typeface="Times New Roman"/>
                <a:cs typeface="Times New Roman"/>
              </a:rPr>
              <a:t>Coordinator</a:t>
            </a:r>
            <a:r>
              <a:rPr sz="600" i="1" spc="50" dirty="0">
                <a:solidFill>
                  <a:srgbClr val="009600"/>
                </a:solidFill>
                <a:latin typeface="Times New Roman"/>
                <a:cs typeface="Times New Roman"/>
              </a:rPr>
              <a:t> </a:t>
            </a:r>
            <a:r>
              <a:rPr sz="600" i="1" spc="114" dirty="0">
                <a:solidFill>
                  <a:srgbClr val="009600"/>
                </a:solidFill>
                <a:latin typeface="Times New Roman"/>
                <a:cs typeface="Times New Roman"/>
              </a:rPr>
              <a:t>will</a:t>
            </a:r>
            <a:r>
              <a:rPr sz="600" i="1" spc="60" dirty="0">
                <a:solidFill>
                  <a:srgbClr val="009600"/>
                </a:solidFill>
                <a:latin typeface="Times New Roman"/>
                <a:cs typeface="Times New Roman"/>
              </a:rPr>
              <a:t> </a:t>
            </a:r>
            <a:r>
              <a:rPr sz="600" i="1" spc="55" dirty="0">
                <a:solidFill>
                  <a:srgbClr val="009600"/>
                </a:solidFill>
                <a:latin typeface="Times New Roman"/>
                <a:cs typeface="Times New Roman"/>
              </a:rPr>
              <a:t>have</a:t>
            </a:r>
            <a:r>
              <a:rPr sz="600" i="1" spc="60" dirty="0">
                <a:solidFill>
                  <a:srgbClr val="009600"/>
                </a:solidFill>
                <a:latin typeface="Times New Roman"/>
                <a:cs typeface="Times New Roman"/>
              </a:rPr>
              <a:t> </a:t>
            </a:r>
            <a:r>
              <a:rPr sz="600" i="1" spc="95" dirty="0">
                <a:solidFill>
                  <a:srgbClr val="009600"/>
                </a:solidFill>
                <a:latin typeface="Times New Roman"/>
                <a:cs typeface="Times New Roman"/>
              </a:rPr>
              <a:t>sent</a:t>
            </a:r>
            <a:r>
              <a:rPr sz="600" i="1" spc="50" dirty="0">
                <a:solidFill>
                  <a:srgbClr val="009600"/>
                </a:solidFill>
                <a:latin typeface="Times New Roman"/>
                <a:cs typeface="Times New Roman"/>
              </a:rPr>
              <a:t> </a:t>
            </a:r>
            <a:r>
              <a:rPr sz="600" i="1" spc="-40" dirty="0">
                <a:solidFill>
                  <a:srgbClr val="009600"/>
                </a:solidFill>
                <a:latin typeface="Times New Roman"/>
                <a:cs typeface="Times New Roman"/>
              </a:rPr>
              <a:t>VOTE_REQUEST</a:t>
            </a:r>
            <a:endParaRPr sz="600">
              <a:latin typeface="Times New Roman"/>
              <a:cs typeface="Times New Roman"/>
            </a:endParaRPr>
          </a:p>
          <a:p>
            <a:pPr marL="48895">
              <a:lnSpc>
                <a:spcPts val="680"/>
              </a:lnSpc>
              <a:tabLst>
                <a:tab pos="381635" algn="l"/>
              </a:tabLst>
            </a:pPr>
            <a:r>
              <a:rPr sz="450" spc="60" dirty="0">
                <a:latin typeface="Times New Roman"/>
                <a:cs typeface="Times New Roman"/>
              </a:rPr>
              <a:t>7	</a:t>
            </a:r>
            <a:r>
              <a:rPr sz="600" spc="80" dirty="0">
                <a:latin typeface="Times New Roman"/>
                <a:cs typeface="Times New Roman"/>
              </a:rPr>
              <a:t>decision</a:t>
            </a:r>
            <a:r>
              <a:rPr sz="600" spc="60" dirty="0">
                <a:latin typeface="Times New Roman"/>
                <a:cs typeface="Times New Roman"/>
              </a:rPr>
              <a:t> </a:t>
            </a:r>
            <a:r>
              <a:rPr sz="600" spc="40" dirty="0">
                <a:latin typeface="Times New Roman"/>
                <a:cs typeface="Times New Roman"/>
              </a:rPr>
              <a:t>=</a:t>
            </a:r>
            <a:r>
              <a:rPr sz="600" spc="70" dirty="0">
                <a:latin typeface="Times New Roman"/>
                <a:cs typeface="Times New Roman"/>
              </a:rPr>
              <a:t> </a:t>
            </a:r>
            <a:r>
              <a:rPr sz="600" spc="65" dirty="0">
                <a:latin typeface="Times New Roman"/>
                <a:cs typeface="Times New Roman"/>
              </a:rPr>
              <a:t>self.do_work()</a:t>
            </a:r>
            <a:endParaRPr sz="600">
              <a:latin typeface="Times New Roman"/>
              <a:cs typeface="Times New Roman"/>
            </a:endParaRPr>
          </a:p>
          <a:p>
            <a:pPr marL="48895">
              <a:lnSpc>
                <a:spcPts val="680"/>
              </a:lnSpc>
              <a:tabLst>
                <a:tab pos="383540" algn="l"/>
              </a:tabLst>
            </a:pPr>
            <a:r>
              <a:rPr sz="450" spc="60" dirty="0">
                <a:latin typeface="Times New Roman"/>
                <a:cs typeface="Times New Roman"/>
              </a:rPr>
              <a:t>8	</a:t>
            </a:r>
            <a:r>
              <a:rPr sz="600" b="1" spc="175" dirty="0">
                <a:solidFill>
                  <a:srgbClr val="FF0059"/>
                </a:solidFill>
                <a:latin typeface="Times New Roman"/>
                <a:cs typeface="Times New Roman"/>
              </a:rPr>
              <a:t>if</a:t>
            </a:r>
            <a:r>
              <a:rPr sz="600" b="1" spc="55" dirty="0">
                <a:solidFill>
                  <a:srgbClr val="FF0059"/>
                </a:solidFill>
                <a:latin typeface="Times New Roman"/>
                <a:cs typeface="Times New Roman"/>
              </a:rPr>
              <a:t> </a:t>
            </a:r>
            <a:r>
              <a:rPr sz="600" spc="80" dirty="0">
                <a:latin typeface="Times New Roman"/>
                <a:cs typeface="Times New Roman"/>
              </a:rPr>
              <a:t>decision</a:t>
            </a:r>
            <a:r>
              <a:rPr sz="600" spc="55" dirty="0">
                <a:latin typeface="Times New Roman"/>
                <a:cs typeface="Times New Roman"/>
              </a:rPr>
              <a:t> </a:t>
            </a:r>
            <a:r>
              <a:rPr sz="600" spc="20" dirty="0">
                <a:latin typeface="Times New Roman"/>
                <a:cs typeface="Times New Roman"/>
              </a:rPr>
              <a:t>==</a:t>
            </a:r>
            <a:r>
              <a:rPr sz="600" spc="55" dirty="0">
                <a:latin typeface="Times New Roman"/>
                <a:cs typeface="Times New Roman"/>
              </a:rPr>
              <a:t> </a:t>
            </a:r>
            <a:r>
              <a:rPr sz="600" spc="-55" dirty="0">
                <a:latin typeface="Times New Roman"/>
                <a:cs typeface="Times New Roman"/>
              </a:rPr>
              <a:t>LOCAL_ABORT:</a:t>
            </a:r>
            <a:endParaRPr sz="600">
              <a:latin typeface="Times New Roman"/>
              <a:cs typeface="Times New Roman"/>
            </a:endParaRPr>
          </a:p>
          <a:p>
            <a:pPr marL="48895">
              <a:lnSpc>
                <a:spcPts val="680"/>
              </a:lnSpc>
              <a:tabLst>
                <a:tab pos="463550" algn="l"/>
              </a:tabLst>
            </a:pPr>
            <a:r>
              <a:rPr sz="450" spc="60" dirty="0">
                <a:latin typeface="Times New Roman"/>
                <a:cs typeface="Times New Roman"/>
              </a:rPr>
              <a:t>9	</a:t>
            </a:r>
            <a:r>
              <a:rPr sz="600" spc="70" dirty="0">
                <a:latin typeface="Times New Roman"/>
                <a:cs typeface="Times New Roman"/>
              </a:rPr>
              <a:t>self.chan.sendTo(coordinator,</a:t>
            </a:r>
            <a:r>
              <a:rPr sz="600" spc="80" dirty="0">
                <a:latin typeface="Times New Roman"/>
                <a:cs typeface="Times New Roman"/>
              </a:rPr>
              <a:t> </a:t>
            </a:r>
            <a:r>
              <a:rPr sz="600" spc="-55" dirty="0">
                <a:latin typeface="Times New Roman"/>
                <a:cs typeface="Times New Roman"/>
              </a:rPr>
              <a:t>VOTE_ABORT)</a:t>
            </a:r>
            <a:endParaRPr sz="600">
              <a:latin typeface="Times New Roman"/>
              <a:cs typeface="Times New Roman"/>
            </a:endParaRPr>
          </a:p>
          <a:p>
            <a:pPr marL="12700">
              <a:lnSpc>
                <a:spcPts val="680"/>
              </a:lnSpc>
              <a:tabLst>
                <a:tab pos="382270" algn="l"/>
              </a:tabLst>
            </a:pPr>
            <a:r>
              <a:rPr sz="450" spc="60" dirty="0">
                <a:latin typeface="Times New Roman"/>
                <a:cs typeface="Times New Roman"/>
              </a:rPr>
              <a:t>10	</a:t>
            </a:r>
            <a:r>
              <a:rPr sz="600" b="1" spc="110" dirty="0">
                <a:solidFill>
                  <a:srgbClr val="FF0059"/>
                </a:solidFill>
                <a:latin typeface="Times New Roman"/>
                <a:cs typeface="Times New Roman"/>
              </a:rPr>
              <a:t>else</a:t>
            </a:r>
            <a:r>
              <a:rPr sz="600" spc="110" dirty="0">
                <a:latin typeface="Times New Roman"/>
                <a:cs typeface="Times New Roman"/>
              </a:rPr>
              <a:t>:</a:t>
            </a:r>
            <a:r>
              <a:rPr sz="600" spc="100" dirty="0">
                <a:latin typeface="Times New Roman"/>
                <a:cs typeface="Times New Roman"/>
              </a:rPr>
              <a:t> </a:t>
            </a:r>
            <a:r>
              <a:rPr sz="600" i="1" spc="80" dirty="0">
                <a:solidFill>
                  <a:srgbClr val="009600"/>
                </a:solidFill>
                <a:latin typeface="Times New Roman"/>
                <a:cs typeface="Times New Roman"/>
              </a:rPr>
              <a:t># </a:t>
            </a:r>
            <a:r>
              <a:rPr sz="600" i="1" spc="35" dirty="0">
                <a:solidFill>
                  <a:srgbClr val="009600"/>
                </a:solidFill>
                <a:latin typeface="Times New Roman"/>
                <a:cs typeface="Times New Roman"/>
              </a:rPr>
              <a:t>Ready</a:t>
            </a:r>
            <a:r>
              <a:rPr sz="600" i="1" spc="70" dirty="0">
                <a:solidFill>
                  <a:srgbClr val="009600"/>
                </a:solidFill>
                <a:latin typeface="Times New Roman"/>
                <a:cs typeface="Times New Roman"/>
              </a:rPr>
              <a:t> </a:t>
            </a:r>
            <a:r>
              <a:rPr sz="600" i="1" spc="125" dirty="0">
                <a:solidFill>
                  <a:srgbClr val="009600"/>
                </a:solidFill>
                <a:latin typeface="Times New Roman"/>
                <a:cs typeface="Times New Roman"/>
              </a:rPr>
              <a:t>to</a:t>
            </a:r>
            <a:r>
              <a:rPr sz="600" i="1" spc="75" dirty="0">
                <a:solidFill>
                  <a:srgbClr val="009600"/>
                </a:solidFill>
                <a:latin typeface="Times New Roman"/>
                <a:cs typeface="Times New Roman"/>
              </a:rPr>
              <a:t> </a:t>
            </a:r>
            <a:r>
              <a:rPr sz="600" i="1" spc="50" dirty="0">
                <a:solidFill>
                  <a:srgbClr val="009600"/>
                </a:solidFill>
                <a:latin typeface="Times New Roman"/>
                <a:cs typeface="Times New Roman"/>
              </a:rPr>
              <a:t>commit,</a:t>
            </a:r>
            <a:r>
              <a:rPr sz="600" i="1" spc="75" dirty="0">
                <a:solidFill>
                  <a:srgbClr val="009600"/>
                </a:solidFill>
                <a:latin typeface="Times New Roman"/>
                <a:cs typeface="Times New Roman"/>
              </a:rPr>
              <a:t> </a:t>
            </a:r>
            <a:r>
              <a:rPr sz="600" i="1" spc="90" dirty="0">
                <a:solidFill>
                  <a:srgbClr val="009600"/>
                </a:solidFill>
                <a:latin typeface="Times New Roman"/>
                <a:cs typeface="Times New Roman"/>
              </a:rPr>
              <a:t>enter</a:t>
            </a:r>
            <a:r>
              <a:rPr sz="600" i="1" spc="60" dirty="0">
                <a:solidFill>
                  <a:srgbClr val="009600"/>
                </a:solidFill>
                <a:latin typeface="Times New Roman"/>
                <a:cs typeface="Times New Roman"/>
              </a:rPr>
              <a:t> </a:t>
            </a:r>
            <a:r>
              <a:rPr sz="600" i="1" spc="-35" dirty="0">
                <a:solidFill>
                  <a:srgbClr val="009600"/>
                </a:solidFill>
                <a:latin typeface="Times New Roman"/>
                <a:cs typeface="Times New Roman"/>
              </a:rPr>
              <a:t>READY</a:t>
            </a:r>
            <a:r>
              <a:rPr sz="600" i="1" spc="60" dirty="0">
                <a:solidFill>
                  <a:srgbClr val="009600"/>
                </a:solidFill>
                <a:latin typeface="Times New Roman"/>
                <a:cs typeface="Times New Roman"/>
              </a:rPr>
              <a:t> </a:t>
            </a:r>
            <a:r>
              <a:rPr sz="600" i="1" spc="110" dirty="0">
                <a:solidFill>
                  <a:srgbClr val="009600"/>
                </a:solidFill>
                <a:latin typeface="Times New Roman"/>
                <a:cs typeface="Times New Roman"/>
              </a:rPr>
              <a:t>state</a:t>
            </a:r>
            <a:endParaRPr sz="600">
              <a:latin typeface="Times New Roman"/>
              <a:cs typeface="Times New Roman"/>
            </a:endParaRPr>
          </a:p>
          <a:p>
            <a:pPr marL="12700">
              <a:lnSpc>
                <a:spcPts val="680"/>
              </a:lnSpc>
              <a:tabLst>
                <a:tab pos="463550" algn="l"/>
              </a:tabLst>
            </a:pPr>
            <a:r>
              <a:rPr sz="450" spc="60" dirty="0">
                <a:latin typeface="Times New Roman"/>
                <a:cs typeface="Times New Roman"/>
              </a:rPr>
              <a:t>11	</a:t>
            </a:r>
            <a:r>
              <a:rPr sz="600" spc="70" dirty="0">
                <a:latin typeface="Times New Roman"/>
                <a:cs typeface="Times New Roman"/>
              </a:rPr>
              <a:t>self.chan.sendTo(coordinator,</a:t>
            </a:r>
            <a:r>
              <a:rPr sz="600" spc="80" dirty="0">
                <a:latin typeface="Times New Roman"/>
                <a:cs typeface="Times New Roman"/>
              </a:rPr>
              <a:t> </a:t>
            </a:r>
            <a:r>
              <a:rPr sz="600" spc="-60" dirty="0">
                <a:latin typeface="Times New Roman"/>
                <a:cs typeface="Times New Roman"/>
              </a:rPr>
              <a:t>VOTE_COMMIT)</a:t>
            </a:r>
            <a:endParaRPr sz="600">
              <a:latin typeface="Times New Roman"/>
              <a:cs typeface="Times New Roman"/>
            </a:endParaRPr>
          </a:p>
          <a:p>
            <a:pPr marL="12700">
              <a:lnSpc>
                <a:spcPts val="680"/>
              </a:lnSpc>
              <a:tabLst>
                <a:tab pos="463550" algn="l"/>
              </a:tabLst>
            </a:pPr>
            <a:r>
              <a:rPr sz="450" spc="60" dirty="0">
                <a:latin typeface="Times New Roman"/>
                <a:cs typeface="Times New Roman"/>
              </a:rPr>
              <a:t>12	</a:t>
            </a:r>
            <a:r>
              <a:rPr sz="600" spc="15" dirty="0">
                <a:latin typeface="Times New Roman"/>
                <a:cs typeface="Times New Roman"/>
              </a:rPr>
              <a:t>msg</a:t>
            </a:r>
            <a:r>
              <a:rPr sz="600" spc="100" dirty="0">
                <a:latin typeface="Times New Roman"/>
                <a:cs typeface="Times New Roman"/>
              </a:rPr>
              <a:t> </a:t>
            </a:r>
            <a:r>
              <a:rPr sz="600" spc="40" dirty="0">
                <a:latin typeface="Times New Roman"/>
                <a:cs typeface="Times New Roman"/>
              </a:rPr>
              <a:t>=</a:t>
            </a:r>
            <a:r>
              <a:rPr sz="600" spc="105" dirty="0">
                <a:latin typeface="Times New Roman"/>
                <a:cs typeface="Times New Roman"/>
              </a:rPr>
              <a:t> </a:t>
            </a:r>
            <a:r>
              <a:rPr sz="600" spc="65" dirty="0">
                <a:latin typeface="Times New Roman"/>
                <a:cs typeface="Times New Roman"/>
              </a:rPr>
              <a:t>self.chan.recvFrom(coordinator,</a:t>
            </a:r>
            <a:r>
              <a:rPr sz="600" spc="100" dirty="0">
                <a:latin typeface="Times New Roman"/>
                <a:cs typeface="Times New Roman"/>
              </a:rPr>
              <a:t> </a:t>
            </a:r>
            <a:r>
              <a:rPr sz="600" spc="-40" dirty="0">
                <a:latin typeface="Times New Roman"/>
                <a:cs typeface="Times New Roman"/>
              </a:rPr>
              <a:t>TIMEOUT)</a:t>
            </a:r>
            <a:endParaRPr sz="600">
              <a:latin typeface="Times New Roman"/>
              <a:cs typeface="Times New Roman"/>
            </a:endParaRPr>
          </a:p>
          <a:p>
            <a:pPr marL="12700">
              <a:lnSpc>
                <a:spcPts val="680"/>
              </a:lnSpc>
              <a:tabLst>
                <a:tab pos="464184" algn="l"/>
              </a:tabLst>
            </a:pPr>
            <a:r>
              <a:rPr sz="450" spc="60" dirty="0">
                <a:latin typeface="Times New Roman"/>
                <a:cs typeface="Times New Roman"/>
              </a:rPr>
              <a:t>13	</a:t>
            </a:r>
            <a:r>
              <a:rPr sz="600" b="1" spc="175" dirty="0">
                <a:solidFill>
                  <a:srgbClr val="FF0059"/>
                </a:solidFill>
                <a:latin typeface="Times New Roman"/>
                <a:cs typeface="Times New Roman"/>
              </a:rPr>
              <a:t>if</a:t>
            </a:r>
            <a:r>
              <a:rPr sz="600" b="1" spc="85" dirty="0">
                <a:solidFill>
                  <a:srgbClr val="FF0059"/>
                </a:solidFill>
                <a:latin typeface="Times New Roman"/>
                <a:cs typeface="Times New Roman"/>
              </a:rPr>
              <a:t> </a:t>
            </a:r>
            <a:r>
              <a:rPr sz="600" spc="75" dirty="0">
                <a:latin typeface="Times New Roman"/>
                <a:cs typeface="Times New Roman"/>
              </a:rPr>
              <a:t>(</a:t>
            </a:r>
            <a:r>
              <a:rPr sz="600" b="1" spc="75" dirty="0">
                <a:solidFill>
                  <a:srgbClr val="FF0059"/>
                </a:solidFill>
                <a:latin typeface="Times New Roman"/>
                <a:cs typeface="Times New Roman"/>
              </a:rPr>
              <a:t>not</a:t>
            </a:r>
            <a:r>
              <a:rPr sz="600" b="1" spc="70" dirty="0">
                <a:solidFill>
                  <a:srgbClr val="FF0059"/>
                </a:solidFill>
                <a:latin typeface="Times New Roman"/>
                <a:cs typeface="Times New Roman"/>
              </a:rPr>
              <a:t> </a:t>
            </a:r>
            <a:r>
              <a:rPr sz="600" spc="60" dirty="0">
                <a:latin typeface="Times New Roman"/>
                <a:cs typeface="Times New Roman"/>
              </a:rPr>
              <a:t>msg):</a:t>
            </a:r>
            <a:r>
              <a:rPr sz="600" spc="90" dirty="0">
                <a:latin typeface="Times New Roman"/>
                <a:cs typeface="Times New Roman"/>
              </a:rPr>
              <a:t> </a:t>
            </a:r>
            <a:r>
              <a:rPr sz="600" i="1" spc="80" dirty="0">
                <a:solidFill>
                  <a:srgbClr val="009600"/>
                </a:solidFill>
                <a:latin typeface="Times New Roman"/>
                <a:cs typeface="Times New Roman"/>
              </a:rPr>
              <a:t># </a:t>
            </a:r>
            <a:r>
              <a:rPr sz="600" i="1" spc="40" dirty="0">
                <a:solidFill>
                  <a:srgbClr val="009600"/>
                </a:solidFill>
                <a:latin typeface="Times New Roman"/>
                <a:cs typeface="Times New Roman"/>
              </a:rPr>
              <a:t>Crashed</a:t>
            </a:r>
            <a:r>
              <a:rPr sz="600" i="1" spc="50" dirty="0">
                <a:solidFill>
                  <a:srgbClr val="009600"/>
                </a:solidFill>
                <a:latin typeface="Times New Roman"/>
                <a:cs typeface="Times New Roman"/>
              </a:rPr>
              <a:t> </a:t>
            </a:r>
            <a:r>
              <a:rPr sz="600" i="1" spc="65" dirty="0">
                <a:solidFill>
                  <a:srgbClr val="009600"/>
                </a:solidFill>
                <a:latin typeface="Times New Roman"/>
                <a:cs typeface="Times New Roman"/>
              </a:rPr>
              <a:t>coordinator</a:t>
            </a:r>
            <a:r>
              <a:rPr sz="600" i="1" spc="60" dirty="0">
                <a:solidFill>
                  <a:srgbClr val="009600"/>
                </a:solidFill>
                <a:latin typeface="Times New Roman"/>
                <a:cs typeface="Times New Roman"/>
              </a:rPr>
              <a:t> </a:t>
            </a:r>
            <a:r>
              <a:rPr sz="600" i="1" spc="180" dirty="0">
                <a:solidFill>
                  <a:srgbClr val="009600"/>
                </a:solidFill>
                <a:latin typeface="Times New Roman"/>
                <a:cs typeface="Times New Roman"/>
              </a:rPr>
              <a:t>-</a:t>
            </a:r>
            <a:r>
              <a:rPr sz="600" i="1" spc="90" dirty="0">
                <a:solidFill>
                  <a:srgbClr val="009600"/>
                </a:solidFill>
                <a:latin typeface="Times New Roman"/>
                <a:cs typeface="Times New Roman"/>
              </a:rPr>
              <a:t> </a:t>
            </a:r>
            <a:r>
              <a:rPr sz="600" i="1" spc="65" dirty="0">
                <a:solidFill>
                  <a:srgbClr val="009600"/>
                </a:solidFill>
                <a:latin typeface="Times New Roman"/>
                <a:cs typeface="Times New Roman"/>
              </a:rPr>
              <a:t>check </a:t>
            </a:r>
            <a:r>
              <a:rPr sz="600" i="1" spc="100" dirty="0">
                <a:solidFill>
                  <a:srgbClr val="009600"/>
                </a:solidFill>
                <a:latin typeface="Times New Roman"/>
                <a:cs typeface="Times New Roman"/>
              </a:rPr>
              <a:t>the</a:t>
            </a:r>
            <a:r>
              <a:rPr sz="600" i="1" spc="65" dirty="0">
                <a:solidFill>
                  <a:srgbClr val="009600"/>
                </a:solidFill>
                <a:latin typeface="Times New Roman"/>
                <a:cs typeface="Times New Roman"/>
              </a:rPr>
              <a:t> </a:t>
            </a:r>
            <a:r>
              <a:rPr sz="600" i="1" spc="85" dirty="0">
                <a:solidFill>
                  <a:srgbClr val="009600"/>
                </a:solidFill>
                <a:latin typeface="Times New Roman"/>
                <a:cs typeface="Times New Roman"/>
              </a:rPr>
              <a:t>others</a:t>
            </a:r>
            <a:endParaRPr sz="600">
              <a:latin typeface="Times New Roman"/>
              <a:cs typeface="Times New Roman"/>
            </a:endParaRPr>
          </a:p>
          <a:p>
            <a:pPr marL="12700">
              <a:lnSpc>
                <a:spcPts val="680"/>
              </a:lnSpc>
              <a:tabLst>
                <a:tab pos="544195" algn="l"/>
              </a:tabLst>
            </a:pPr>
            <a:r>
              <a:rPr sz="450" spc="60" dirty="0">
                <a:latin typeface="Times New Roman"/>
                <a:cs typeface="Times New Roman"/>
              </a:rPr>
              <a:t>14	</a:t>
            </a:r>
            <a:r>
              <a:rPr sz="600" spc="75" dirty="0">
                <a:latin typeface="Times New Roman"/>
                <a:cs typeface="Times New Roman"/>
              </a:rPr>
              <a:t>self.chan.sendTo(all_participants,</a:t>
            </a:r>
            <a:r>
              <a:rPr sz="600" spc="150" dirty="0">
                <a:latin typeface="Times New Roman"/>
                <a:cs typeface="Times New Roman"/>
              </a:rPr>
              <a:t> </a:t>
            </a:r>
            <a:r>
              <a:rPr sz="600" spc="-30" dirty="0">
                <a:latin typeface="Times New Roman"/>
                <a:cs typeface="Times New Roman"/>
              </a:rPr>
              <a:t>NEED_DECISION)</a:t>
            </a:r>
            <a:endParaRPr sz="600">
              <a:latin typeface="Times New Roman"/>
              <a:cs typeface="Times New Roman"/>
            </a:endParaRPr>
          </a:p>
          <a:p>
            <a:pPr marL="12700">
              <a:lnSpc>
                <a:spcPts val="680"/>
              </a:lnSpc>
              <a:tabLst>
                <a:tab pos="544195" algn="l"/>
              </a:tabLst>
            </a:pPr>
            <a:r>
              <a:rPr sz="450" spc="60" dirty="0">
                <a:latin typeface="Times New Roman"/>
                <a:cs typeface="Times New Roman"/>
              </a:rPr>
              <a:t>15	</a:t>
            </a:r>
            <a:r>
              <a:rPr sz="600" b="1" spc="65" dirty="0">
                <a:solidFill>
                  <a:srgbClr val="FF0059"/>
                </a:solidFill>
                <a:latin typeface="Times New Roman"/>
                <a:cs typeface="Times New Roman"/>
              </a:rPr>
              <a:t>while</a:t>
            </a:r>
            <a:r>
              <a:rPr sz="600" b="1" spc="10" dirty="0">
                <a:solidFill>
                  <a:srgbClr val="FF0059"/>
                </a:solidFill>
                <a:latin typeface="Times New Roman"/>
                <a:cs typeface="Times New Roman"/>
              </a:rPr>
              <a:t> </a:t>
            </a:r>
            <a:r>
              <a:rPr sz="600" spc="70" dirty="0">
                <a:latin typeface="Times New Roman"/>
                <a:cs typeface="Times New Roman"/>
              </a:rPr>
              <a:t>True:</a:t>
            </a:r>
            <a:endParaRPr sz="600">
              <a:latin typeface="Times New Roman"/>
              <a:cs typeface="Times New Roman"/>
            </a:endParaRPr>
          </a:p>
          <a:p>
            <a:pPr marL="12700">
              <a:lnSpc>
                <a:spcPts val="680"/>
              </a:lnSpc>
              <a:tabLst>
                <a:tab pos="625475" algn="l"/>
              </a:tabLst>
            </a:pPr>
            <a:r>
              <a:rPr sz="450" spc="60" dirty="0">
                <a:latin typeface="Times New Roman"/>
                <a:cs typeface="Times New Roman"/>
              </a:rPr>
              <a:t>16	</a:t>
            </a:r>
            <a:r>
              <a:rPr sz="600" spc="15" dirty="0">
                <a:latin typeface="Times New Roman"/>
                <a:cs typeface="Times New Roman"/>
              </a:rPr>
              <a:t>msg</a:t>
            </a:r>
            <a:r>
              <a:rPr sz="600" spc="60" dirty="0">
                <a:latin typeface="Times New Roman"/>
                <a:cs typeface="Times New Roman"/>
              </a:rPr>
              <a:t> </a:t>
            </a:r>
            <a:r>
              <a:rPr sz="600" spc="40" dirty="0">
                <a:latin typeface="Times New Roman"/>
                <a:cs typeface="Times New Roman"/>
              </a:rPr>
              <a:t>=</a:t>
            </a:r>
            <a:r>
              <a:rPr sz="600" spc="65" dirty="0">
                <a:latin typeface="Times New Roman"/>
                <a:cs typeface="Times New Roman"/>
              </a:rPr>
              <a:t> </a:t>
            </a:r>
            <a:r>
              <a:rPr sz="600" spc="55" dirty="0">
                <a:latin typeface="Times New Roman"/>
                <a:cs typeface="Times New Roman"/>
              </a:rPr>
              <a:t>self.chan.recvFromAny()</a:t>
            </a:r>
            <a:endParaRPr sz="600">
              <a:latin typeface="Times New Roman"/>
              <a:cs typeface="Times New Roman"/>
            </a:endParaRPr>
          </a:p>
          <a:p>
            <a:pPr marL="12700">
              <a:lnSpc>
                <a:spcPts val="680"/>
              </a:lnSpc>
              <a:tabLst>
                <a:tab pos="626110" algn="l"/>
              </a:tabLst>
            </a:pPr>
            <a:r>
              <a:rPr sz="450" spc="60" dirty="0">
                <a:latin typeface="Times New Roman"/>
                <a:cs typeface="Times New Roman"/>
              </a:rPr>
              <a:t>17	</a:t>
            </a:r>
            <a:r>
              <a:rPr sz="600" b="1" spc="175" dirty="0">
                <a:solidFill>
                  <a:srgbClr val="FF0059"/>
                </a:solidFill>
                <a:latin typeface="Times New Roman"/>
                <a:cs typeface="Times New Roman"/>
              </a:rPr>
              <a:t>if</a:t>
            </a:r>
            <a:r>
              <a:rPr sz="600" b="1" spc="75" dirty="0">
                <a:solidFill>
                  <a:srgbClr val="FF0059"/>
                </a:solidFill>
                <a:latin typeface="Times New Roman"/>
                <a:cs typeface="Times New Roman"/>
              </a:rPr>
              <a:t> </a:t>
            </a:r>
            <a:r>
              <a:rPr sz="600" spc="45" dirty="0">
                <a:latin typeface="Times New Roman"/>
                <a:cs typeface="Times New Roman"/>
              </a:rPr>
              <a:t>msg[1]</a:t>
            </a:r>
            <a:r>
              <a:rPr sz="600" spc="75" dirty="0">
                <a:latin typeface="Times New Roman"/>
                <a:cs typeface="Times New Roman"/>
              </a:rPr>
              <a:t> </a:t>
            </a:r>
            <a:r>
              <a:rPr sz="600" b="1" spc="105" dirty="0">
                <a:solidFill>
                  <a:srgbClr val="FF0059"/>
                </a:solidFill>
                <a:latin typeface="Times New Roman"/>
                <a:cs typeface="Times New Roman"/>
              </a:rPr>
              <a:t>in</a:t>
            </a:r>
            <a:r>
              <a:rPr sz="600" b="1" spc="90" dirty="0">
                <a:solidFill>
                  <a:srgbClr val="FF0059"/>
                </a:solidFill>
                <a:latin typeface="Times New Roman"/>
                <a:cs typeface="Times New Roman"/>
              </a:rPr>
              <a:t> </a:t>
            </a:r>
            <a:r>
              <a:rPr sz="600" spc="-50" dirty="0">
                <a:latin typeface="Times New Roman"/>
                <a:cs typeface="Times New Roman"/>
              </a:rPr>
              <a:t>[GLOBAL_COMMIT,</a:t>
            </a:r>
            <a:r>
              <a:rPr sz="600" spc="85" dirty="0">
                <a:latin typeface="Times New Roman"/>
                <a:cs typeface="Times New Roman"/>
              </a:rPr>
              <a:t> </a:t>
            </a:r>
            <a:r>
              <a:rPr sz="600" spc="-55" dirty="0">
                <a:latin typeface="Times New Roman"/>
                <a:cs typeface="Times New Roman"/>
              </a:rPr>
              <a:t>GLOBAL_ABORT,</a:t>
            </a:r>
            <a:r>
              <a:rPr sz="600" spc="75" dirty="0">
                <a:latin typeface="Times New Roman"/>
                <a:cs typeface="Times New Roman"/>
              </a:rPr>
              <a:t> </a:t>
            </a:r>
            <a:r>
              <a:rPr sz="600" spc="-40" dirty="0">
                <a:latin typeface="Times New Roman"/>
                <a:cs typeface="Times New Roman"/>
              </a:rPr>
              <a:t>LOCAL_ABORT]:</a:t>
            </a:r>
            <a:endParaRPr sz="600">
              <a:latin typeface="Times New Roman"/>
              <a:cs typeface="Times New Roman"/>
            </a:endParaRPr>
          </a:p>
          <a:p>
            <a:pPr marL="12700">
              <a:lnSpc>
                <a:spcPts val="680"/>
              </a:lnSpc>
              <a:tabLst>
                <a:tab pos="705485" algn="l"/>
              </a:tabLst>
            </a:pPr>
            <a:r>
              <a:rPr sz="450" spc="60" dirty="0">
                <a:latin typeface="Times New Roman"/>
                <a:cs typeface="Times New Roman"/>
              </a:rPr>
              <a:t>18	</a:t>
            </a:r>
            <a:r>
              <a:rPr sz="600" spc="80" dirty="0">
                <a:latin typeface="Times New Roman"/>
                <a:cs typeface="Times New Roman"/>
              </a:rPr>
              <a:t>decision</a:t>
            </a:r>
            <a:r>
              <a:rPr sz="600" spc="50" dirty="0">
                <a:latin typeface="Times New Roman"/>
                <a:cs typeface="Times New Roman"/>
              </a:rPr>
              <a:t> </a:t>
            </a:r>
            <a:r>
              <a:rPr sz="600" spc="40" dirty="0">
                <a:latin typeface="Times New Roman"/>
                <a:cs typeface="Times New Roman"/>
              </a:rPr>
              <a:t>=</a:t>
            </a:r>
            <a:r>
              <a:rPr sz="600" spc="60" dirty="0">
                <a:latin typeface="Times New Roman"/>
                <a:cs typeface="Times New Roman"/>
              </a:rPr>
              <a:t> </a:t>
            </a:r>
            <a:r>
              <a:rPr sz="600" spc="45" dirty="0">
                <a:latin typeface="Times New Roman"/>
                <a:cs typeface="Times New Roman"/>
              </a:rPr>
              <a:t>msg[1]</a:t>
            </a:r>
            <a:endParaRPr sz="600">
              <a:latin typeface="Times New Roman"/>
              <a:cs typeface="Times New Roman"/>
            </a:endParaRPr>
          </a:p>
          <a:p>
            <a:pPr marL="12700">
              <a:lnSpc>
                <a:spcPts val="680"/>
              </a:lnSpc>
              <a:tabLst>
                <a:tab pos="706120" algn="l"/>
              </a:tabLst>
            </a:pPr>
            <a:r>
              <a:rPr sz="450" spc="60" dirty="0">
                <a:latin typeface="Times New Roman"/>
                <a:cs typeface="Times New Roman"/>
              </a:rPr>
              <a:t>19	</a:t>
            </a:r>
            <a:r>
              <a:rPr sz="600" b="1" spc="35" dirty="0">
                <a:solidFill>
                  <a:srgbClr val="FF0059"/>
                </a:solidFill>
                <a:latin typeface="Times New Roman"/>
                <a:cs typeface="Times New Roman"/>
              </a:rPr>
              <a:t>break</a:t>
            </a:r>
            <a:endParaRPr sz="600">
              <a:latin typeface="Times New Roman"/>
              <a:cs typeface="Times New Roman"/>
            </a:endParaRPr>
          </a:p>
          <a:p>
            <a:pPr marL="12700">
              <a:lnSpc>
                <a:spcPts val="680"/>
              </a:lnSpc>
              <a:tabLst>
                <a:tab pos="463550" algn="l"/>
              </a:tabLst>
            </a:pPr>
            <a:r>
              <a:rPr sz="450" spc="60" dirty="0">
                <a:latin typeface="Times New Roman"/>
                <a:cs typeface="Times New Roman"/>
              </a:rPr>
              <a:t>20	</a:t>
            </a:r>
            <a:r>
              <a:rPr sz="600" b="1" spc="110" dirty="0">
                <a:solidFill>
                  <a:srgbClr val="FF0059"/>
                </a:solidFill>
                <a:latin typeface="Times New Roman"/>
                <a:cs typeface="Times New Roman"/>
              </a:rPr>
              <a:t>else</a:t>
            </a:r>
            <a:r>
              <a:rPr sz="600" spc="110" dirty="0">
                <a:latin typeface="Times New Roman"/>
                <a:cs typeface="Times New Roman"/>
              </a:rPr>
              <a:t>:</a:t>
            </a:r>
            <a:r>
              <a:rPr sz="600" spc="95" dirty="0">
                <a:latin typeface="Times New Roman"/>
                <a:cs typeface="Times New Roman"/>
              </a:rPr>
              <a:t> </a:t>
            </a:r>
            <a:r>
              <a:rPr sz="600" i="1" spc="80" dirty="0">
                <a:solidFill>
                  <a:srgbClr val="009600"/>
                </a:solidFill>
                <a:latin typeface="Times New Roman"/>
                <a:cs typeface="Times New Roman"/>
              </a:rPr>
              <a:t>#</a:t>
            </a:r>
            <a:r>
              <a:rPr sz="600" i="1" spc="65" dirty="0">
                <a:solidFill>
                  <a:srgbClr val="009600"/>
                </a:solidFill>
                <a:latin typeface="Times New Roman"/>
                <a:cs typeface="Times New Roman"/>
              </a:rPr>
              <a:t> </a:t>
            </a:r>
            <a:r>
              <a:rPr sz="600" i="1" spc="55" dirty="0">
                <a:solidFill>
                  <a:srgbClr val="009600"/>
                </a:solidFill>
                <a:latin typeface="Times New Roman"/>
                <a:cs typeface="Times New Roman"/>
              </a:rPr>
              <a:t>Coordinator</a:t>
            </a:r>
            <a:r>
              <a:rPr sz="600" i="1" spc="50" dirty="0">
                <a:solidFill>
                  <a:srgbClr val="009600"/>
                </a:solidFill>
                <a:latin typeface="Times New Roman"/>
                <a:cs typeface="Times New Roman"/>
              </a:rPr>
              <a:t> </a:t>
            </a:r>
            <a:r>
              <a:rPr sz="600" i="1" spc="20" dirty="0">
                <a:solidFill>
                  <a:srgbClr val="009600"/>
                </a:solidFill>
                <a:latin typeface="Times New Roman"/>
                <a:cs typeface="Times New Roman"/>
              </a:rPr>
              <a:t>came</a:t>
            </a:r>
            <a:r>
              <a:rPr sz="600" i="1" spc="65" dirty="0">
                <a:solidFill>
                  <a:srgbClr val="009600"/>
                </a:solidFill>
                <a:latin typeface="Times New Roman"/>
                <a:cs typeface="Times New Roman"/>
              </a:rPr>
              <a:t> </a:t>
            </a:r>
            <a:r>
              <a:rPr sz="600" i="1" spc="125" dirty="0">
                <a:solidFill>
                  <a:srgbClr val="009600"/>
                </a:solidFill>
                <a:latin typeface="Times New Roman"/>
                <a:cs typeface="Times New Roman"/>
              </a:rPr>
              <a:t>to</a:t>
            </a:r>
            <a:r>
              <a:rPr sz="600" i="1" spc="80" dirty="0">
                <a:solidFill>
                  <a:srgbClr val="009600"/>
                </a:solidFill>
                <a:latin typeface="Times New Roman"/>
                <a:cs typeface="Times New Roman"/>
              </a:rPr>
              <a:t> a</a:t>
            </a:r>
            <a:r>
              <a:rPr sz="600" i="1" spc="75" dirty="0">
                <a:solidFill>
                  <a:srgbClr val="009600"/>
                </a:solidFill>
                <a:latin typeface="Times New Roman"/>
                <a:cs typeface="Times New Roman"/>
              </a:rPr>
              <a:t> </a:t>
            </a:r>
            <a:r>
              <a:rPr sz="600" i="1" spc="80" dirty="0">
                <a:solidFill>
                  <a:srgbClr val="009600"/>
                </a:solidFill>
                <a:latin typeface="Times New Roman"/>
                <a:cs typeface="Times New Roman"/>
              </a:rPr>
              <a:t>decision</a:t>
            </a:r>
            <a:endParaRPr sz="600">
              <a:latin typeface="Times New Roman"/>
              <a:cs typeface="Times New Roman"/>
            </a:endParaRPr>
          </a:p>
          <a:p>
            <a:pPr marL="12700">
              <a:lnSpc>
                <a:spcPts val="700"/>
              </a:lnSpc>
              <a:tabLst>
                <a:tab pos="543560" algn="l"/>
              </a:tabLst>
            </a:pPr>
            <a:r>
              <a:rPr sz="450" spc="60" dirty="0">
                <a:latin typeface="Times New Roman"/>
                <a:cs typeface="Times New Roman"/>
              </a:rPr>
              <a:t>21	</a:t>
            </a:r>
            <a:r>
              <a:rPr sz="600" spc="80" dirty="0">
                <a:latin typeface="Times New Roman"/>
                <a:cs typeface="Times New Roman"/>
              </a:rPr>
              <a:t>decision</a:t>
            </a:r>
            <a:r>
              <a:rPr sz="600" spc="50" dirty="0">
                <a:latin typeface="Times New Roman"/>
                <a:cs typeface="Times New Roman"/>
              </a:rPr>
              <a:t> </a:t>
            </a:r>
            <a:r>
              <a:rPr sz="600" spc="40" dirty="0">
                <a:latin typeface="Times New Roman"/>
                <a:cs typeface="Times New Roman"/>
              </a:rPr>
              <a:t>=</a:t>
            </a:r>
            <a:r>
              <a:rPr sz="600" spc="60" dirty="0">
                <a:latin typeface="Times New Roman"/>
                <a:cs typeface="Times New Roman"/>
              </a:rPr>
              <a:t> </a:t>
            </a:r>
            <a:r>
              <a:rPr sz="600" spc="45" dirty="0">
                <a:latin typeface="Times New Roman"/>
                <a:cs typeface="Times New Roman"/>
              </a:rPr>
              <a:t>msg[1]</a:t>
            </a:r>
            <a:endParaRPr sz="600">
              <a:latin typeface="Times New Roman"/>
              <a:cs typeface="Times New Roman"/>
            </a:endParaRPr>
          </a:p>
          <a:p>
            <a:pPr marL="12700">
              <a:lnSpc>
                <a:spcPct val="100000"/>
              </a:lnSpc>
              <a:spcBef>
                <a:spcPts val="115"/>
              </a:spcBef>
            </a:pPr>
            <a:r>
              <a:rPr sz="450" spc="60" dirty="0">
                <a:latin typeface="Times New Roman"/>
                <a:cs typeface="Times New Roman"/>
              </a:rPr>
              <a:t>22</a:t>
            </a:r>
            <a:endParaRPr sz="450">
              <a:latin typeface="Times New Roman"/>
              <a:cs typeface="Times New Roman"/>
            </a:endParaRPr>
          </a:p>
          <a:p>
            <a:pPr marL="12700">
              <a:lnSpc>
                <a:spcPct val="100000"/>
              </a:lnSpc>
              <a:spcBef>
                <a:spcPts val="140"/>
              </a:spcBef>
            </a:pPr>
            <a:r>
              <a:rPr sz="450" spc="60" dirty="0">
                <a:latin typeface="Times New Roman"/>
                <a:cs typeface="Times New Roman"/>
              </a:rPr>
              <a:t>23</a:t>
            </a:r>
            <a:endParaRPr sz="450">
              <a:latin typeface="Times New Roman"/>
              <a:cs typeface="Times New Roman"/>
            </a:endParaRPr>
          </a:p>
          <a:p>
            <a:pPr marL="12700">
              <a:lnSpc>
                <a:spcPct val="100000"/>
              </a:lnSpc>
              <a:spcBef>
                <a:spcPts val="140"/>
              </a:spcBef>
            </a:pPr>
            <a:r>
              <a:rPr sz="450" spc="60" dirty="0">
                <a:latin typeface="Times New Roman"/>
                <a:cs typeface="Times New Roman"/>
              </a:rPr>
              <a:t>24</a:t>
            </a:r>
            <a:endParaRPr sz="450">
              <a:latin typeface="Times New Roman"/>
              <a:cs typeface="Times New Roman"/>
            </a:endParaRPr>
          </a:p>
          <a:p>
            <a:pPr marL="12700">
              <a:lnSpc>
                <a:spcPct val="100000"/>
              </a:lnSpc>
              <a:spcBef>
                <a:spcPts val="140"/>
              </a:spcBef>
            </a:pPr>
            <a:r>
              <a:rPr sz="450" spc="60" dirty="0">
                <a:latin typeface="Times New Roman"/>
                <a:cs typeface="Times New Roman"/>
              </a:rPr>
              <a:t>25</a:t>
            </a:r>
            <a:endParaRPr sz="450">
              <a:latin typeface="Times New Roman"/>
              <a:cs typeface="Times New Roman"/>
            </a:endParaRPr>
          </a:p>
          <a:p>
            <a:pPr marL="12700">
              <a:lnSpc>
                <a:spcPct val="100000"/>
              </a:lnSpc>
              <a:spcBef>
                <a:spcPts val="145"/>
              </a:spcBef>
            </a:pPr>
            <a:r>
              <a:rPr sz="450" spc="60" dirty="0">
                <a:latin typeface="Times New Roman"/>
                <a:cs typeface="Times New Roman"/>
              </a:rPr>
              <a:t>26</a:t>
            </a:r>
            <a:endParaRPr sz="450">
              <a:latin typeface="Times New Roman"/>
              <a:cs typeface="Times New Roman"/>
            </a:endParaRPr>
          </a:p>
        </p:txBody>
      </p:sp>
      <p:sp>
        <p:nvSpPr>
          <p:cNvPr id="6" name="object 6"/>
          <p:cNvSpPr txBox="1"/>
          <p:nvPr/>
        </p:nvSpPr>
        <p:spPr>
          <a:xfrm>
            <a:off x="578418" y="2535927"/>
            <a:ext cx="2671445" cy="382270"/>
          </a:xfrm>
          <a:prstGeom prst="rect">
            <a:avLst/>
          </a:prstGeom>
        </p:spPr>
        <p:txBody>
          <a:bodyPr vert="horz" wrap="square" lIns="0" tIns="17145" rIns="0" bIns="0" rtlCol="0">
            <a:spAutoFit/>
          </a:bodyPr>
          <a:lstStyle/>
          <a:p>
            <a:pPr marL="12700">
              <a:lnSpc>
                <a:spcPts val="700"/>
              </a:lnSpc>
              <a:spcBef>
                <a:spcPts val="135"/>
              </a:spcBef>
            </a:pPr>
            <a:r>
              <a:rPr sz="600" b="1" spc="65" dirty="0">
                <a:solidFill>
                  <a:srgbClr val="FF0059"/>
                </a:solidFill>
                <a:latin typeface="Times New Roman"/>
                <a:cs typeface="Times New Roman"/>
              </a:rPr>
              <a:t>while</a:t>
            </a:r>
            <a:r>
              <a:rPr sz="600" b="1" spc="60" dirty="0">
                <a:solidFill>
                  <a:srgbClr val="FF0059"/>
                </a:solidFill>
                <a:latin typeface="Times New Roman"/>
                <a:cs typeface="Times New Roman"/>
              </a:rPr>
              <a:t> </a:t>
            </a:r>
            <a:r>
              <a:rPr sz="600" spc="70" dirty="0">
                <a:latin typeface="Times New Roman"/>
                <a:cs typeface="Times New Roman"/>
              </a:rPr>
              <a:t>True:</a:t>
            </a:r>
            <a:r>
              <a:rPr sz="600" spc="110" dirty="0">
                <a:latin typeface="Times New Roman"/>
                <a:cs typeface="Times New Roman"/>
              </a:rPr>
              <a:t> </a:t>
            </a:r>
            <a:r>
              <a:rPr sz="600" i="1" spc="80" dirty="0">
                <a:solidFill>
                  <a:srgbClr val="009600"/>
                </a:solidFill>
                <a:latin typeface="Times New Roman"/>
                <a:cs typeface="Times New Roman"/>
              </a:rPr>
              <a:t>#</a:t>
            </a:r>
            <a:r>
              <a:rPr sz="600" i="1" spc="85" dirty="0">
                <a:solidFill>
                  <a:srgbClr val="009600"/>
                </a:solidFill>
                <a:latin typeface="Times New Roman"/>
                <a:cs typeface="Times New Roman"/>
              </a:rPr>
              <a:t> </a:t>
            </a:r>
            <a:r>
              <a:rPr sz="600" i="1" spc="45" dirty="0">
                <a:solidFill>
                  <a:srgbClr val="009600"/>
                </a:solidFill>
                <a:latin typeface="Times New Roman"/>
                <a:cs typeface="Times New Roman"/>
              </a:rPr>
              <a:t>Help</a:t>
            </a:r>
            <a:r>
              <a:rPr sz="600" i="1" spc="75" dirty="0">
                <a:solidFill>
                  <a:srgbClr val="009600"/>
                </a:solidFill>
                <a:latin typeface="Times New Roman"/>
                <a:cs typeface="Times New Roman"/>
              </a:rPr>
              <a:t> </a:t>
            </a:r>
            <a:r>
              <a:rPr sz="600" i="1" spc="60" dirty="0">
                <a:solidFill>
                  <a:srgbClr val="009600"/>
                </a:solidFill>
                <a:latin typeface="Times New Roman"/>
                <a:cs typeface="Times New Roman"/>
              </a:rPr>
              <a:t>any</a:t>
            </a:r>
            <a:r>
              <a:rPr sz="600" i="1" spc="65" dirty="0">
                <a:solidFill>
                  <a:srgbClr val="009600"/>
                </a:solidFill>
                <a:latin typeface="Times New Roman"/>
                <a:cs typeface="Times New Roman"/>
              </a:rPr>
              <a:t> </a:t>
            </a:r>
            <a:r>
              <a:rPr sz="600" i="1" spc="85" dirty="0">
                <a:solidFill>
                  <a:srgbClr val="009600"/>
                </a:solidFill>
                <a:latin typeface="Times New Roman"/>
                <a:cs typeface="Times New Roman"/>
              </a:rPr>
              <a:t>other</a:t>
            </a:r>
            <a:r>
              <a:rPr sz="600" i="1" spc="60" dirty="0">
                <a:solidFill>
                  <a:srgbClr val="009600"/>
                </a:solidFill>
                <a:latin typeface="Times New Roman"/>
                <a:cs typeface="Times New Roman"/>
              </a:rPr>
              <a:t> </a:t>
            </a:r>
            <a:r>
              <a:rPr sz="600" i="1" spc="85" dirty="0">
                <a:solidFill>
                  <a:srgbClr val="009600"/>
                </a:solidFill>
                <a:latin typeface="Times New Roman"/>
                <a:cs typeface="Times New Roman"/>
              </a:rPr>
              <a:t>participant</a:t>
            </a:r>
            <a:r>
              <a:rPr sz="600" i="1" spc="55" dirty="0">
                <a:solidFill>
                  <a:srgbClr val="009600"/>
                </a:solidFill>
                <a:latin typeface="Times New Roman"/>
                <a:cs typeface="Times New Roman"/>
              </a:rPr>
              <a:t> </a:t>
            </a:r>
            <a:r>
              <a:rPr sz="600" i="1" spc="20" dirty="0">
                <a:solidFill>
                  <a:srgbClr val="009600"/>
                </a:solidFill>
                <a:latin typeface="Times New Roman"/>
                <a:cs typeface="Times New Roman"/>
              </a:rPr>
              <a:t>when</a:t>
            </a:r>
            <a:r>
              <a:rPr sz="600" i="1" spc="55" dirty="0">
                <a:solidFill>
                  <a:srgbClr val="009600"/>
                </a:solidFill>
                <a:latin typeface="Times New Roman"/>
                <a:cs typeface="Times New Roman"/>
              </a:rPr>
              <a:t> </a:t>
            </a:r>
            <a:r>
              <a:rPr sz="600" i="1" spc="65" dirty="0">
                <a:solidFill>
                  <a:srgbClr val="009600"/>
                </a:solidFill>
                <a:latin typeface="Times New Roman"/>
                <a:cs typeface="Times New Roman"/>
              </a:rPr>
              <a:t>coordinator</a:t>
            </a:r>
            <a:r>
              <a:rPr sz="600" i="1" spc="55" dirty="0">
                <a:solidFill>
                  <a:srgbClr val="009600"/>
                </a:solidFill>
                <a:latin typeface="Times New Roman"/>
                <a:cs typeface="Times New Roman"/>
              </a:rPr>
              <a:t> crashed</a:t>
            </a:r>
            <a:endParaRPr sz="600">
              <a:latin typeface="Times New Roman"/>
              <a:cs typeface="Times New Roman"/>
            </a:endParaRPr>
          </a:p>
          <a:p>
            <a:pPr marL="93980">
              <a:lnSpc>
                <a:spcPts val="680"/>
              </a:lnSpc>
            </a:pPr>
            <a:r>
              <a:rPr sz="600" spc="15" dirty="0">
                <a:latin typeface="Times New Roman"/>
                <a:cs typeface="Times New Roman"/>
              </a:rPr>
              <a:t>msg</a:t>
            </a:r>
            <a:r>
              <a:rPr sz="600" spc="70" dirty="0">
                <a:latin typeface="Times New Roman"/>
                <a:cs typeface="Times New Roman"/>
              </a:rPr>
              <a:t> </a:t>
            </a:r>
            <a:r>
              <a:rPr sz="600" spc="40" dirty="0">
                <a:latin typeface="Times New Roman"/>
                <a:cs typeface="Times New Roman"/>
              </a:rPr>
              <a:t>=</a:t>
            </a:r>
            <a:r>
              <a:rPr sz="600" spc="70" dirty="0">
                <a:latin typeface="Times New Roman"/>
                <a:cs typeface="Times New Roman"/>
              </a:rPr>
              <a:t> </a:t>
            </a:r>
            <a:r>
              <a:rPr sz="600" spc="75" dirty="0">
                <a:latin typeface="Times New Roman"/>
                <a:cs typeface="Times New Roman"/>
              </a:rPr>
              <a:t>self.chan.recvFrom(all_participants)</a:t>
            </a:r>
            <a:endParaRPr sz="600">
              <a:latin typeface="Times New Roman"/>
              <a:cs typeface="Times New Roman"/>
            </a:endParaRPr>
          </a:p>
          <a:p>
            <a:pPr marL="94615">
              <a:lnSpc>
                <a:spcPts val="680"/>
              </a:lnSpc>
            </a:pPr>
            <a:r>
              <a:rPr sz="600" b="1" spc="175" dirty="0">
                <a:solidFill>
                  <a:srgbClr val="FF0059"/>
                </a:solidFill>
                <a:latin typeface="Times New Roman"/>
                <a:cs typeface="Times New Roman"/>
              </a:rPr>
              <a:t>if</a:t>
            </a:r>
            <a:r>
              <a:rPr sz="600" b="1" spc="60" dirty="0">
                <a:solidFill>
                  <a:srgbClr val="FF0059"/>
                </a:solidFill>
                <a:latin typeface="Times New Roman"/>
                <a:cs typeface="Times New Roman"/>
              </a:rPr>
              <a:t> </a:t>
            </a:r>
            <a:r>
              <a:rPr sz="600" spc="45" dirty="0">
                <a:latin typeface="Times New Roman"/>
                <a:cs typeface="Times New Roman"/>
              </a:rPr>
              <a:t>msg[1]</a:t>
            </a:r>
            <a:r>
              <a:rPr sz="600" spc="65" dirty="0">
                <a:latin typeface="Times New Roman"/>
                <a:cs typeface="Times New Roman"/>
              </a:rPr>
              <a:t> </a:t>
            </a:r>
            <a:r>
              <a:rPr sz="600" spc="20" dirty="0">
                <a:latin typeface="Times New Roman"/>
                <a:cs typeface="Times New Roman"/>
              </a:rPr>
              <a:t>==</a:t>
            </a:r>
            <a:r>
              <a:rPr sz="600" spc="55" dirty="0">
                <a:latin typeface="Times New Roman"/>
                <a:cs typeface="Times New Roman"/>
              </a:rPr>
              <a:t> </a:t>
            </a:r>
            <a:r>
              <a:rPr sz="600" spc="-25" dirty="0">
                <a:latin typeface="Times New Roman"/>
                <a:cs typeface="Times New Roman"/>
              </a:rPr>
              <a:t>NEED_DECISION:</a:t>
            </a:r>
            <a:endParaRPr sz="600">
              <a:latin typeface="Times New Roman"/>
              <a:cs typeface="Times New Roman"/>
            </a:endParaRPr>
          </a:p>
          <a:p>
            <a:pPr marL="174625">
              <a:lnSpc>
                <a:spcPts val="700"/>
              </a:lnSpc>
            </a:pPr>
            <a:r>
              <a:rPr sz="600" spc="65" dirty="0">
                <a:latin typeface="Times New Roman"/>
                <a:cs typeface="Times New Roman"/>
              </a:rPr>
              <a:t>self.chan.sendTo([msg[0]],</a:t>
            </a:r>
            <a:r>
              <a:rPr sz="600" spc="75" dirty="0">
                <a:latin typeface="Times New Roman"/>
                <a:cs typeface="Times New Roman"/>
              </a:rPr>
              <a:t> </a:t>
            </a:r>
            <a:r>
              <a:rPr sz="600" spc="80" dirty="0">
                <a:latin typeface="Times New Roman"/>
                <a:cs typeface="Times New Roman"/>
              </a:rPr>
              <a:t>decision)</a:t>
            </a:r>
            <a:endParaRPr sz="600">
              <a:latin typeface="Times New Roman"/>
              <a:cs typeface="Times New Roman"/>
            </a:endParaRPr>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59</a:t>
            </a:r>
            <a:r>
              <a:rPr spc="-40" dirty="0"/>
              <a:t> </a:t>
            </a:r>
            <a:r>
              <a:rPr spc="-5" dirty="0"/>
              <a:t>/</a:t>
            </a:r>
            <a:r>
              <a:rPr spc="-35" dirty="0"/>
              <a:t> </a:t>
            </a:r>
            <a:r>
              <a:rPr spc="-5" dirty="0"/>
              <a:t>68</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406463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Introduction</a:t>
            </a:r>
            <a:endParaRPr sz="600">
              <a:latin typeface="Arial"/>
              <a:cs typeface="Arial"/>
            </a:endParaRPr>
          </a:p>
        </p:txBody>
      </p:sp>
      <p:sp>
        <p:nvSpPr>
          <p:cNvPr id="3" name="object 3"/>
          <p:cNvSpPr txBox="1">
            <a:spLocks noGrp="1"/>
          </p:cNvSpPr>
          <p:nvPr>
            <p:ph type="title"/>
          </p:nvPr>
        </p:nvSpPr>
        <p:spPr>
          <a:xfrm>
            <a:off x="95300" y="188846"/>
            <a:ext cx="1873250" cy="244475"/>
          </a:xfrm>
          <a:prstGeom prst="rect">
            <a:avLst/>
          </a:prstGeom>
        </p:spPr>
        <p:txBody>
          <a:bodyPr vert="horz" wrap="square" lIns="0" tIns="17145" rIns="0" bIns="0" rtlCol="0">
            <a:spAutoFit/>
          </a:bodyPr>
          <a:lstStyle/>
          <a:p>
            <a:pPr marL="12700">
              <a:lnSpc>
                <a:spcPct val="100000"/>
              </a:lnSpc>
              <a:spcBef>
                <a:spcPts val="135"/>
              </a:spcBef>
            </a:pPr>
            <a:r>
              <a:rPr spc="10" dirty="0"/>
              <a:t>Recovery:</a:t>
            </a:r>
            <a:r>
              <a:rPr spc="75" dirty="0"/>
              <a:t> </a:t>
            </a:r>
            <a:r>
              <a:rPr spc="10" dirty="0"/>
              <a:t>Background</a:t>
            </a:r>
          </a:p>
        </p:txBody>
      </p:sp>
      <p:sp>
        <p:nvSpPr>
          <p:cNvPr id="4" name="object 4"/>
          <p:cNvSpPr txBox="1"/>
          <p:nvPr/>
        </p:nvSpPr>
        <p:spPr>
          <a:xfrm>
            <a:off x="315950" y="530603"/>
            <a:ext cx="3937000" cy="2630170"/>
          </a:xfrm>
          <a:prstGeom prst="rect">
            <a:avLst/>
          </a:prstGeom>
        </p:spPr>
        <p:txBody>
          <a:bodyPr vert="horz" wrap="square" lIns="0" tIns="12065" rIns="0" bIns="0" rtlCol="0">
            <a:spAutoFit/>
          </a:bodyPr>
          <a:lstStyle/>
          <a:p>
            <a:pPr marL="43815">
              <a:lnSpc>
                <a:spcPts val="1410"/>
              </a:lnSpc>
              <a:spcBef>
                <a:spcPts val="95"/>
              </a:spcBef>
            </a:pPr>
            <a:r>
              <a:rPr sz="1200" spc="-5" dirty="0">
                <a:solidFill>
                  <a:srgbClr val="3333B2"/>
                </a:solidFill>
                <a:latin typeface="Arial"/>
                <a:cs typeface="Arial"/>
              </a:rPr>
              <a:t>Essence</a:t>
            </a:r>
            <a:endParaRPr sz="1200">
              <a:latin typeface="Arial"/>
              <a:cs typeface="Arial"/>
            </a:endParaRPr>
          </a:p>
          <a:p>
            <a:pPr marL="43815" marR="42545" indent="-6350">
              <a:lnSpc>
                <a:spcPts val="1200"/>
              </a:lnSpc>
              <a:spcBef>
                <a:spcPts val="10"/>
              </a:spcBef>
            </a:pPr>
            <a:r>
              <a:rPr sz="1000" spc="-5" dirty="0">
                <a:latin typeface="Arial"/>
                <a:cs typeface="Arial"/>
              </a:rPr>
              <a:t>When a</a:t>
            </a:r>
            <a:r>
              <a:rPr sz="1000" dirty="0">
                <a:latin typeface="Arial"/>
                <a:cs typeface="Arial"/>
              </a:rPr>
              <a:t> </a:t>
            </a:r>
            <a:r>
              <a:rPr sz="1000" spc="-10" dirty="0">
                <a:latin typeface="Arial"/>
                <a:cs typeface="Arial"/>
              </a:rPr>
              <a:t>failure</a:t>
            </a:r>
            <a:r>
              <a:rPr sz="1000" dirty="0">
                <a:latin typeface="Arial"/>
                <a:cs typeface="Arial"/>
              </a:rPr>
              <a:t> </a:t>
            </a:r>
            <a:r>
              <a:rPr sz="1000" spc="-5" dirty="0">
                <a:latin typeface="Arial"/>
                <a:cs typeface="Arial"/>
              </a:rPr>
              <a:t>occurs,</a:t>
            </a:r>
            <a:r>
              <a:rPr sz="1000" dirty="0">
                <a:latin typeface="Arial"/>
                <a:cs typeface="Arial"/>
              </a:rPr>
              <a:t> </a:t>
            </a:r>
            <a:r>
              <a:rPr sz="1000" spc="-10" dirty="0">
                <a:latin typeface="Arial"/>
                <a:cs typeface="Arial"/>
              </a:rPr>
              <a:t>we</a:t>
            </a:r>
            <a:r>
              <a:rPr sz="1000" dirty="0">
                <a:latin typeface="Arial"/>
                <a:cs typeface="Arial"/>
              </a:rPr>
              <a:t> </a:t>
            </a:r>
            <a:r>
              <a:rPr sz="1000" spc="-5" dirty="0">
                <a:latin typeface="Arial"/>
                <a:cs typeface="Arial"/>
              </a:rPr>
              <a:t>need</a:t>
            </a:r>
            <a:r>
              <a:rPr sz="1000" dirty="0">
                <a:latin typeface="Arial"/>
                <a:cs typeface="Arial"/>
              </a:rPr>
              <a:t> </a:t>
            </a:r>
            <a:r>
              <a:rPr sz="1000" spc="-5" dirty="0">
                <a:latin typeface="Arial"/>
                <a:cs typeface="Arial"/>
              </a:rPr>
              <a:t>to</a:t>
            </a:r>
            <a:r>
              <a:rPr sz="1000" dirty="0">
                <a:latin typeface="Arial"/>
                <a:cs typeface="Arial"/>
              </a:rPr>
              <a:t> bring </a:t>
            </a:r>
            <a:r>
              <a:rPr sz="1000" spc="-5" dirty="0">
                <a:latin typeface="Arial"/>
                <a:cs typeface="Arial"/>
              </a:rPr>
              <a:t>the</a:t>
            </a:r>
            <a:r>
              <a:rPr sz="1000" dirty="0">
                <a:latin typeface="Arial"/>
                <a:cs typeface="Arial"/>
              </a:rPr>
              <a:t> </a:t>
            </a:r>
            <a:r>
              <a:rPr sz="1000" spc="-5" dirty="0">
                <a:latin typeface="Arial"/>
                <a:cs typeface="Arial"/>
              </a:rPr>
              <a:t>system into</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error-free </a:t>
            </a:r>
            <a:r>
              <a:rPr sz="1000" spc="-260" dirty="0">
                <a:latin typeface="Arial"/>
                <a:cs typeface="Arial"/>
              </a:rPr>
              <a:t> </a:t>
            </a:r>
            <a:r>
              <a:rPr sz="1000" spc="-5" dirty="0">
                <a:latin typeface="Arial"/>
                <a:cs typeface="Arial"/>
              </a:rPr>
              <a:t>state:</a:t>
            </a:r>
            <a:endParaRPr sz="1000">
              <a:latin typeface="Arial"/>
              <a:cs typeface="Arial"/>
            </a:endParaRPr>
          </a:p>
          <a:p>
            <a:pPr marL="320675" marR="30480" indent="-168275">
              <a:lnSpc>
                <a:spcPct val="100000"/>
              </a:lnSpc>
              <a:spcBef>
                <a:spcPts val="550"/>
              </a:spcBef>
              <a:buClr>
                <a:srgbClr val="3333B2"/>
              </a:buClr>
              <a:buChar char="►"/>
              <a:tabLst>
                <a:tab pos="321310" algn="l"/>
              </a:tabLst>
            </a:pPr>
            <a:r>
              <a:rPr sz="1000" spc="-10" dirty="0">
                <a:solidFill>
                  <a:srgbClr val="FA0000"/>
                </a:solidFill>
                <a:latin typeface="Arial"/>
                <a:cs typeface="Arial"/>
              </a:rPr>
              <a:t>Forward</a:t>
            </a:r>
            <a:r>
              <a:rPr sz="1000" spc="-5" dirty="0">
                <a:solidFill>
                  <a:srgbClr val="FA0000"/>
                </a:solidFill>
                <a:latin typeface="Arial"/>
                <a:cs typeface="Arial"/>
              </a:rPr>
              <a:t> error</a:t>
            </a:r>
            <a:r>
              <a:rPr sz="1000" dirty="0">
                <a:solidFill>
                  <a:srgbClr val="FA0000"/>
                </a:solidFill>
                <a:latin typeface="Arial"/>
                <a:cs typeface="Arial"/>
              </a:rPr>
              <a:t> </a:t>
            </a:r>
            <a:r>
              <a:rPr sz="1000" spc="-5" dirty="0">
                <a:solidFill>
                  <a:srgbClr val="FA0000"/>
                </a:solidFill>
                <a:latin typeface="Arial"/>
                <a:cs typeface="Arial"/>
              </a:rPr>
              <a:t>recovery</a:t>
            </a:r>
            <a:r>
              <a:rPr sz="1000" spc="-5" dirty="0">
                <a:latin typeface="Arial"/>
                <a:cs typeface="Arial"/>
              </a:rPr>
              <a:t>:</a:t>
            </a:r>
            <a:r>
              <a:rPr sz="1000" spc="60" dirty="0">
                <a:latin typeface="Arial"/>
                <a:cs typeface="Arial"/>
              </a:rPr>
              <a:t> </a:t>
            </a:r>
            <a:r>
              <a:rPr sz="1000" spc="-5" dirty="0">
                <a:latin typeface="Arial"/>
                <a:cs typeface="Arial"/>
              </a:rPr>
              <a:t>Find</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new</a:t>
            </a:r>
            <a:r>
              <a:rPr sz="1000" spc="-5" dirty="0">
                <a:latin typeface="Arial"/>
                <a:cs typeface="Arial"/>
              </a:rPr>
              <a:t> state</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which the</a:t>
            </a:r>
            <a:r>
              <a:rPr sz="1000" dirty="0">
                <a:latin typeface="Arial"/>
                <a:cs typeface="Arial"/>
              </a:rPr>
              <a:t> </a:t>
            </a:r>
            <a:r>
              <a:rPr sz="1000" spc="-5" dirty="0">
                <a:latin typeface="Arial"/>
                <a:cs typeface="Arial"/>
              </a:rPr>
              <a:t>system </a:t>
            </a:r>
            <a:r>
              <a:rPr sz="1000" spc="-265" dirty="0">
                <a:latin typeface="Arial"/>
                <a:cs typeface="Arial"/>
              </a:rPr>
              <a:t> </a:t>
            </a:r>
            <a:r>
              <a:rPr sz="1000" spc="-5" dirty="0">
                <a:latin typeface="Arial"/>
                <a:cs typeface="Arial"/>
              </a:rPr>
              <a:t>can</a:t>
            </a:r>
            <a:r>
              <a:rPr sz="1000" spc="-10" dirty="0">
                <a:latin typeface="Arial"/>
                <a:cs typeface="Arial"/>
              </a:rPr>
              <a:t> </a:t>
            </a:r>
            <a:r>
              <a:rPr sz="1000" spc="-5" dirty="0">
                <a:latin typeface="Arial"/>
                <a:cs typeface="Arial"/>
              </a:rPr>
              <a:t>continue operation</a:t>
            </a:r>
            <a:endParaRPr sz="1000">
              <a:latin typeface="Arial"/>
              <a:cs typeface="Arial"/>
            </a:endParaRPr>
          </a:p>
          <a:p>
            <a:pPr marL="320675" marR="59055" indent="-168275">
              <a:lnSpc>
                <a:spcPct val="100000"/>
              </a:lnSpc>
              <a:spcBef>
                <a:spcPts val="590"/>
              </a:spcBef>
              <a:buClr>
                <a:srgbClr val="3333B2"/>
              </a:buClr>
              <a:buChar char="►"/>
              <a:tabLst>
                <a:tab pos="321310" algn="l"/>
              </a:tabLst>
            </a:pPr>
            <a:r>
              <a:rPr sz="1000" spc="-10" dirty="0">
                <a:solidFill>
                  <a:srgbClr val="FA0000"/>
                </a:solidFill>
                <a:latin typeface="Arial"/>
                <a:cs typeface="Arial"/>
              </a:rPr>
              <a:t>Backward</a:t>
            </a:r>
            <a:r>
              <a:rPr sz="1000" dirty="0">
                <a:solidFill>
                  <a:srgbClr val="FA0000"/>
                </a:solidFill>
                <a:latin typeface="Arial"/>
                <a:cs typeface="Arial"/>
              </a:rPr>
              <a:t> </a:t>
            </a:r>
            <a:r>
              <a:rPr sz="1000" spc="-5" dirty="0">
                <a:solidFill>
                  <a:srgbClr val="FA0000"/>
                </a:solidFill>
                <a:latin typeface="Arial"/>
                <a:cs typeface="Arial"/>
              </a:rPr>
              <a:t>error</a:t>
            </a:r>
            <a:r>
              <a:rPr sz="1000" dirty="0">
                <a:solidFill>
                  <a:srgbClr val="FA0000"/>
                </a:solidFill>
                <a:latin typeface="Arial"/>
                <a:cs typeface="Arial"/>
              </a:rPr>
              <a:t> </a:t>
            </a:r>
            <a:r>
              <a:rPr sz="1000" spc="-5" dirty="0">
                <a:solidFill>
                  <a:srgbClr val="FA0000"/>
                </a:solidFill>
                <a:latin typeface="Arial"/>
                <a:cs typeface="Arial"/>
              </a:rPr>
              <a:t>recovery</a:t>
            </a:r>
            <a:r>
              <a:rPr sz="1000" spc="-5" dirty="0">
                <a:latin typeface="Arial"/>
                <a:cs typeface="Arial"/>
              </a:rPr>
              <a:t>:</a:t>
            </a:r>
            <a:r>
              <a:rPr sz="1000" spc="65" dirty="0">
                <a:latin typeface="Arial"/>
                <a:cs typeface="Arial"/>
              </a:rPr>
              <a:t> </a:t>
            </a:r>
            <a:r>
              <a:rPr sz="1000" dirty="0">
                <a:latin typeface="Arial"/>
                <a:cs typeface="Arial"/>
              </a:rPr>
              <a:t>Bring </a:t>
            </a:r>
            <a:r>
              <a:rPr sz="1000" spc="-5" dirty="0">
                <a:latin typeface="Arial"/>
                <a:cs typeface="Arial"/>
              </a:rPr>
              <a:t>the</a:t>
            </a:r>
            <a:r>
              <a:rPr sz="1000" dirty="0">
                <a:latin typeface="Arial"/>
                <a:cs typeface="Arial"/>
              </a:rPr>
              <a:t> </a:t>
            </a:r>
            <a:r>
              <a:rPr sz="1000" spc="-5" dirty="0">
                <a:latin typeface="Arial"/>
                <a:cs typeface="Arial"/>
              </a:rPr>
              <a:t>system</a:t>
            </a:r>
            <a:r>
              <a:rPr sz="1000" dirty="0">
                <a:latin typeface="Arial"/>
                <a:cs typeface="Arial"/>
              </a:rPr>
              <a:t> </a:t>
            </a:r>
            <a:r>
              <a:rPr sz="1000" spc="-10" dirty="0">
                <a:latin typeface="Arial"/>
                <a:cs typeface="Arial"/>
              </a:rPr>
              <a:t>back</a:t>
            </a:r>
            <a:r>
              <a:rPr sz="1000" dirty="0">
                <a:latin typeface="Arial"/>
                <a:cs typeface="Arial"/>
              </a:rPr>
              <a:t> </a:t>
            </a:r>
            <a:r>
              <a:rPr sz="1000" spc="-5" dirty="0">
                <a:latin typeface="Arial"/>
                <a:cs typeface="Arial"/>
              </a:rPr>
              <a:t>into</a:t>
            </a:r>
            <a:r>
              <a:rPr sz="1000" dirty="0">
                <a:latin typeface="Arial"/>
                <a:cs typeface="Arial"/>
              </a:rPr>
              <a:t> </a:t>
            </a:r>
            <a:r>
              <a:rPr sz="1000" spc="-5" dirty="0">
                <a:latin typeface="Arial"/>
                <a:cs typeface="Arial"/>
              </a:rPr>
              <a:t>a</a:t>
            </a:r>
            <a:r>
              <a:rPr sz="1000" dirty="0">
                <a:latin typeface="Arial"/>
                <a:cs typeface="Arial"/>
              </a:rPr>
              <a:t> </a:t>
            </a:r>
            <a:r>
              <a:rPr sz="1000" spc="-10" dirty="0">
                <a:solidFill>
                  <a:srgbClr val="0000FA"/>
                </a:solidFill>
                <a:latin typeface="Arial"/>
                <a:cs typeface="Arial"/>
              </a:rPr>
              <a:t>previous </a:t>
            </a:r>
            <a:r>
              <a:rPr sz="1000" spc="-260" dirty="0">
                <a:solidFill>
                  <a:srgbClr val="0000FA"/>
                </a:solidFill>
                <a:latin typeface="Arial"/>
                <a:cs typeface="Arial"/>
              </a:rPr>
              <a:t> </a:t>
            </a:r>
            <a:r>
              <a:rPr sz="1000" spc="-5" dirty="0">
                <a:latin typeface="Arial"/>
                <a:cs typeface="Arial"/>
              </a:rPr>
              <a:t>error-free</a:t>
            </a:r>
            <a:r>
              <a:rPr sz="1000" spc="-10" dirty="0">
                <a:latin typeface="Arial"/>
                <a:cs typeface="Arial"/>
              </a:rPr>
              <a:t> </a:t>
            </a:r>
            <a:r>
              <a:rPr sz="1000" spc="-5" dirty="0">
                <a:latin typeface="Arial"/>
                <a:cs typeface="Arial"/>
              </a:rPr>
              <a:t>state</a:t>
            </a:r>
            <a:endParaRPr sz="1000">
              <a:latin typeface="Arial"/>
              <a:cs typeface="Arial"/>
            </a:endParaRPr>
          </a:p>
          <a:p>
            <a:pPr>
              <a:lnSpc>
                <a:spcPct val="100000"/>
              </a:lnSpc>
              <a:spcBef>
                <a:spcPts val="35"/>
              </a:spcBef>
            </a:pPr>
            <a:endParaRPr sz="1100">
              <a:latin typeface="Arial"/>
              <a:cs typeface="Arial"/>
            </a:endParaRPr>
          </a:p>
          <a:p>
            <a:pPr marL="43815">
              <a:lnSpc>
                <a:spcPts val="1410"/>
              </a:lnSpc>
            </a:pPr>
            <a:r>
              <a:rPr sz="1200" spc="-5" dirty="0">
                <a:solidFill>
                  <a:srgbClr val="FA0000"/>
                </a:solidFill>
                <a:latin typeface="Arial"/>
                <a:cs typeface="Arial"/>
              </a:rPr>
              <a:t>Practice</a:t>
            </a:r>
            <a:endParaRPr sz="1200">
              <a:latin typeface="Arial"/>
              <a:cs typeface="Arial"/>
            </a:endParaRPr>
          </a:p>
          <a:p>
            <a:pPr marL="43815" marR="222250">
              <a:lnSpc>
                <a:spcPts val="1200"/>
              </a:lnSpc>
              <a:spcBef>
                <a:spcPts val="15"/>
              </a:spcBef>
            </a:pPr>
            <a:r>
              <a:rPr sz="1000" spc="-5" dirty="0">
                <a:latin typeface="Arial"/>
                <a:cs typeface="Arial"/>
              </a:rPr>
              <a:t>Use </a:t>
            </a:r>
            <a:r>
              <a:rPr sz="1000" spc="-10" dirty="0">
                <a:latin typeface="Arial"/>
                <a:cs typeface="Arial"/>
              </a:rPr>
              <a:t>backward</a:t>
            </a:r>
            <a:r>
              <a:rPr sz="1000" dirty="0">
                <a:latin typeface="Arial"/>
                <a:cs typeface="Arial"/>
              </a:rPr>
              <a:t> </a:t>
            </a:r>
            <a:r>
              <a:rPr sz="1000" spc="-5" dirty="0">
                <a:latin typeface="Arial"/>
                <a:cs typeface="Arial"/>
              </a:rPr>
              <a:t>error</a:t>
            </a:r>
            <a:r>
              <a:rPr sz="1000" dirty="0">
                <a:latin typeface="Arial"/>
                <a:cs typeface="Arial"/>
              </a:rPr>
              <a:t> </a:t>
            </a:r>
            <a:r>
              <a:rPr sz="1000" spc="-15" dirty="0">
                <a:latin typeface="Arial"/>
                <a:cs typeface="Arial"/>
              </a:rPr>
              <a:t>recovery,</a:t>
            </a:r>
            <a:r>
              <a:rPr sz="1000" dirty="0">
                <a:latin typeface="Arial"/>
                <a:cs typeface="Arial"/>
              </a:rPr>
              <a:t> </a:t>
            </a:r>
            <a:r>
              <a:rPr sz="1000" spc="-5" dirty="0">
                <a:latin typeface="Arial"/>
                <a:cs typeface="Arial"/>
              </a:rPr>
              <a:t>requiring</a:t>
            </a:r>
            <a:r>
              <a:rPr sz="1000" dirty="0">
                <a:latin typeface="Arial"/>
                <a:cs typeface="Arial"/>
              </a:rPr>
              <a:t> </a:t>
            </a:r>
            <a:r>
              <a:rPr sz="1000" spc="-5" dirty="0">
                <a:latin typeface="Arial"/>
                <a:cs typeface="Arial"/>
              </a:rPr>
              <a:t>that</a:t>
            </a:r>
            <a:r>
              <a:rPr sz="1000" dirty="0">
                <a:latin typeface="Arial"/>
                <a:cs typeface="Arial"/>
              </a:rPr>
              <a:t> </a:t>
            </a:r>
            <a:r>
              <a:rPr sz="1000" spc="-10" dirty="0">
                <a:latin typeface="Arial"/>
                <a:cs typeface="Arial"/>
              </a:rPr>
              <a:t>we</a:t>
            </a:r>
            <a:r>
              <a:rPr sz="1000" spc="-5" dirty="0">
                <a:latin typeface="Arial"/>
                <a:cs typeface="Arial"/>
              </a:rPr>
              <a:t> establish</a:t>
            </a:r>
            <a:r>
              <a:rPr sz="1000" dirty="0">
                <a:latin typeface="Arial"/>
                <a:cs typeface="Arial"/>
              </a:rPr>
              <a:t> </a:t>
            </a:r>
            <a:r>
              <a:rPr sz="1000" spc="-5" dirty="0">
                <a:solidFill>
                  <a:srgbClr val="FA0000"/>
                </a:solidFill>
                <a:latin typeface="Arial"/>
                <a:cs typeface="Arial"/>
              </a:rPr>
              <a:t>recovery </a:t>
            </a:r>
            <a:r>
              <a:rPr sz="1000" spc="-260" dirty="0">
                <a:solidFill>
                  <a:srgbClr val="FA0000"/>
                </a:solidFill>
                <a:latin typeface="Arial"/>
                <a:cs typeface="Arial"/>
              </a:rPr>
              <a:t> </a:t>
            </a:r>
            <a:r>
              <a:rPr sz="1000" spc="-5" dirty="0">
                <a:solidFill>
                  <a:srgbClr val="FA0000"/>
                </a:solidFill>
                <a:latin typeface="Arial"/>
                <a:cs typeface="Arial"/>
              </a:rPr>
              <a:t>points</a:t>
            </a:r>
            <a:endParaRPr sz="1000">
              <a:latin typeface="Arial"/>
              <a:cs typeface="Arial"/>
            </a:endParaRPr>
          </a:p>
          <a:p>
            <a:pPr marL="43815">
              <a:lnSpc>
                <a:spcPts val="1410"/>
              </a:lnSpc>
              <a:spcBef>
                <a:spcPts val="645"/>
              </a:spcBef>
            </a:pPr>
            <a:r>
              <a:rPr sz="1200" spc="-5" dirty="0">
                <a:solidFill>
                  <a:srgbClr val="3333B2"/>
                </a:solidFill>
                <a:latin typeface="Arial"/>
                <a:cs typeface="Arial"/>
              </a:rPr>
              <a:t>Observation</a:t>
            </a:r>
            <a:endParaRPr sz="1200">
              <a:latin typeface="Arial"/>
              <a:cs typeface="Arial"/>
            </a:endParaRPr>
          </a:p>
          <a:p>
            <a:pPr marL="39370" marR="208279" indent="4445">
              <a:lnSpc>
                <a:spcPts val="1200"/>
              </a:lnSpc>
              <a:spcBef>
                <a:spcPts val="15"/>
              </a:spcBef>
            </a:pPr>
            <a:r>
              <a:rPr sz="1000" spc="-5" dirty="0">
                <a:latin typeface="Arial"/>
                <a:cs typeface="Arial"/>
              </a:rPr>
              <a:t>Recovery in</a:t>
            </a:r>
            <a:r>
              <a:rPr sz="1000" dirty="0">
                <a:latin typeface="Arial"/>
                <a:cs typeface="Arial"/>
              </a:rPr>
              <a:t> </a:t>
            </a:r>
            <a:r>
              <a:rPr sz="1000" spc="-5" dirty="0">
                <a:latin typeface="Arial"/>
                <a:cs typeface="Arial"/>
              </a:rPr>
              <a:t>distributed systems</a:t>
            </a:r>
            <a:r>
              <a:rPr sz="1000" dirty="0">
                <a:latin typeface="Arial"/>
                <a:cs typeface="Arial"/>
              </a:rPr>
              <a:t> </a:t>
            </a:r>
            <a:r>
              <a:rPr sz="1000" spc="-5" dirty="0">
                <a:latin typeface="Arial"/>
                <a:cs typeface="Arial"/>
              </a:rPr>
              <a:t>is complicated</a:t>
            </a:r>
            <a:r>
              <a:rPr sz="1000" dirty="0">
                <a:latin typeface="Arial"/>
                <a:cs typeface="Arial"/>
              </a:rPr>
              <a:t> </a:t>
            </a:r>
            <a:r>
              <a:rPr sz="1000" spc="-15" dirty="0">
                <a:latin typeface="Arial"/>
                <a:cs typeface="Arial"/>
              </a:rPr>
              <a:t>by</a:t>
            </a:r>
            <a:r>
              <a:rPr sz="1000" spc="-5" dirty="0">
                <a:latin typeface="Arial"/>
                <a:cs typeface="Arial"/>
              </a:rPr>
              <a:t> the</a:t>
            </a:r>
            <a:r>
              <a:rPr sz="1000" dirty="0">
                <a:latin typeface="Arial"/>
                <a:cs typeface="Arial"/>
              </a:rPr>
              <a:t> </a:t>
            </a:r>
            <a:r>
              <a:rPr sz="1000" spc="-10" dirty="0">
                <a:latin typeface="Arial"/>
                <a:cs typeface="Arial"/>
              </a:rPr>
              <a:t>fact</a:t>
            </a:r>
            <a:r>
              <a:rPr sz="1000" spc="-5" dirty="0">
                <a:latin typeface="Arial"/>
                <a:cs typeface="Arial"/>
              </a:rPr>
              <a:t> that </a:t>
            </a:r>
            <a:r>
              <a:rPr sz="1000" dirty="0">
                <a:latin typeface="Arial"/>
                <a:cs typeface="Arial"/>
              </a:rPr>
              <a:t> </a:t>
            </a:r>
            <a:r>
              <a:rPr sz="1000" spc="-5" dirty="0">
                <a:latin typeface="Arial"/>
                <a:cs typeface="Arial"/>
              </a:rPr>
              <a:t>processes</a:t>
            </a:r>
            <a:r>
              <a:rPr sz="1000" dirty="0">
                <a:latin typeface="Arial"/>
                <a:cs typeface="Arial"/>
              </a:rPr>
              <a:t> </a:t>
            </a:r>
            <a:r>
              <a:rPr sz="1000" spc="-5" dirty="0">
                <a:latin typeface="Arial"/>
                <a:cs typeface="Arial"/>
              </a:rPr>
              <a:t>need</a:t>
            </a:r>
            <a:r>
              <a:rPr sz="1000" spc="5"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cooperate</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identifying</a:t>
            </a:r>
            <a:r>
              <a:rPr sz="1000" spc="5" dirty="0">
                <a:latin typeface="Arial"/>
                <a:cs typeface="Arial"/>
              </a:rPr>
              <a:t> </a:t>
            </a:r>
            <a:r>
              <a:rPr sz="1000" spc="-5" dirty="0">
                <a:latin typeface="Arial"/>
                <a:cs typeface="Arial"/>
              </a:rPr>
              <a:t>a</a:t>
            </a:r>
            <a:r>
              <a:rPr sz="1000" dirty="0">
                <a:latin typeface="Arial"/>
                <a:cs typeface="Arial"/>
              </a:rPr>
              <a:t> </a:t>
            </a:r>
            <a:r>
              <a:rPr sz="1000" spc="-5" dirty="0">
                <a:solidFill>
                  <a:srgbClr val="0000FA"/>
                </a:solidFill>
                <a:latin typeface="Arial"/>
                <a:cs typeface="Arial"/>
              </a:rPr>
              <a:t>consistent</a:t>
            </a:r>
            <a:r>
              <a:rPr sz="1000" spc="5" dirty="0">
                <a:solidFill>
                  <a:srgbClr val="0000FA"/>
                </a:solidFill>
                <a:latin typeface="Arial"/>
                <a:cs typeface="Arial"/>
              </a:rPr>
              <a:t> </a:t>
            </a:r>
            <a:r>
              <a:rPr sz="1000" spc="-5" dirty="0">
                <a:solidFill>
                  <a:srgbClr val="0000FA"/>
                </a:solidFill>
                <a:latin typeface="Arial"/>
                <a:cs typeface="Arial"/>
              </a:rPr>
              <a:t>state</a:t>
            </a:r>
            <a:r>
              <a:rPr sz="1000" dirty="0">
                <a:solidFill>
                  <a:srgbClr val="0000FA"/>
                </a:solidFill>
                <a:latin typeface="Arial"/>
                <a:cs typeface="Arial"/>
              </a:rPr>
              <a:t> </a:t>
            </a:r>
            <a:r>
              <a:rPr sz="1000" spc="-5" dirty="0">
                <a:latin typeface="Arial"/>
                <a:cs typeface="Arial"/>
              </a:rPr>
              <a:t>from </a:t>
            </a:r>
            <a:r>
              <a:rPr sz="1000" spc="-260" dirty="0">
                <a:latin typeface="Arial"/>
                <a:cs typeface="Arial"/>
              </a:rPr>
              <a:t> </a:t>
            </a:r>
            <a:r>
              <a:rPr sz="1000" spc="-5" dirty="0">
                <a:latin typeface="Arial"/>
                <a:cs typeface="Arial"/>
              </a:rPr>
              <a:t>where</a:t>
            </a:r>
            <a:r>
              <a:rPr sz="1000" spc="-10" dirty="0">
                <a:latin typeface="Arial"/>
                <a:cs typeface="Arial"/>
              </a:rPr>
              <a:t> </a:t>
            </a:r>
            <a:r>
              <a:rPr sz="1000" spc="-5" dirty="0">
                <a:latin typeface="Arial"/>
                <a:cs typeface="Arial"/>
              </a:rPr>
              <a:t>to </a:t>
            </a:r>
            <a:r>
              <a:rPr sz="1000" spc="-10" dirty="0">
                <a:latin typeface="Arial"/>
                <a:cs typeface="Arial"/>
              </a:rPr>
              <a:t>recover</a:t>
            </a:r>
            <a:endParaRPr sz="1000">
              <a:latin typeface="Arial"/>
              <a:cs typeface="Arial"/>
            </a:endParaRPr>
          </a:p>
        </p:txBody>
      </p:sp>
    </p:spTree>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079625" cy="244475"/>
          </a:xfrm>
          <a:prstGeom prst="rect">
            <a:avLst/>
          </a:prstGeom>
        </p:spPr>
        <p:txBody>
          <a:bodyPr vert="horz" wrap="square" lIns="0" tIns="17145" rIns="0" bIns="0" rtlCol="0">
            <a:spAutoFit/>
          </a:bodyPr>
          <a:lstStyle/>
          <a:p>
            <a:pPr marL="12700">
              <a:lnSpc>
                <a:spcPct val="100000"/>
              </a:lnSpc>
              <a:spcBef>
                <a:spcPts val="135"/>
              </a:spcBef>
            </a:pPr>
            <a:r>
              <a:rPr spc="15" dirty="0"/>
              <a:t>Consistent</a:t>
            </a:r>
            <a:r>
              <a:rPr spc="-25" dirty="0"/>
              <a:t> </a:t>
            </a:r>
            <a:r>
              <a:rPr spc="10" dirty="0"/>
              <a:t>recovery</a:t>
            </a:r>
            <a:r>
              <a:rPr spc="-30" dirty="0"/>
              <a:t> </a:t>
            </a:r>
            <a:r>
              <a:rPr spc="15" dirty="0"/>
              <a:t>state</a:t>
            </a:r>
          </a:p>
        </p:txBody>
      </p:sp>
      <p:sp>
        <p:nvSpPr>
          <p:cNvPr id="4" name="object 4"/>
          <p:cNvSpPr txBox="1"/>
          <p:nvPr/>
        </p:nvSpPr>
        <p:spPr>
          <a:xfrm>
            <a:off x="343128" y="457377"/>
            <a:ext cx="3883660" cy="1159510"/>
          </a:xfrm>
          <a:prstGeom prst="rect">
            <a:avLst/>
          </a:prstGeom>
        </p:spPr>
        <p:txBody>
          <a:bodyPr vert="horz" wrap="square" lIns="0" tIns="39370" rIns="0" bIns="0" rtlCol="0">
            <a:spAutoFit/>
          </a:bodyPr>
          <a:lstStyle/>
          <a:p>
            <a:pPr marL="16510">
              <a:lnSpc>
                <a:spcPct val="100000"/>
              </a:lnSpc>
              <a:spcBef>
                <a:spcPts val="310"/>
              </a:spcBef>
            </a:pPr>
            <a:r>
              <a:rPr sz="1200" spc="-5" dirty="0">
                <a:solidFill>
                  <a:srgbClr val="FA0000"/>
                </a:solidFill>
                <a:latin typeface="Arial"/>
                <a:cs typeface="Arial"/>
              </a:rPr>
              <a:t>Requirement</a:t>
            </a:r>
            <a:endParaRPr sz="1200">
              <a:latin typeface="Arial"/>
              <a:cs typeface="Arial"/>
            </a:endParaRPr>
          </a:p>
          <a:p>
            <a:pPr marL="16510" marR="120014">
              <a:lnSpc>
                <a:spcPct val="100000"/>
              </a:lnSpc>
              <a:spcBef>
                <a:spcPts val="175"/>
              </a:spcBef>
            </a:pPr>
            <a:r>
              <a:rPr sz="1000" spc="-5" dirty="0">
                <a:latin typeface="Arial"/>
                <a:cs typeface="Arial"/>
              </a:rPr>
              <a:t>Every message</a:t>
            </a:r>
            <a:r>
              <a:rPr sz="1000" dirty="0">
                <a:latin typeface="Arial"/>
                <a:cs typeface="Arial"/>
              </a:rPr>
              <a:t> </a:t>
            </a:r>
            <a:r>
              <a:rPr sz="1000" spc="-5" dirty="0">
                <a:latin typeface="Arial"/>
                <a:cs typeface="Arial"/>
              </a:rPr>
              <a:t>that has</a:t>
            </a:r>
            <a:r>
              <a:rPr sz="1000" dirty="0">
                <a:latin typeface="Arial"/>
                <a:cs typeface="Arial"/>
              </a:rPr>
              <a:t> </a:t>
            </a:r>
            <a:r>
              <a:rPr sz="1000" spc="-5" dirty="0">
                <a:latin typeface="Arial"/>
                <a:cs typeface="Arial"/>
              </a:rPr>
              <a:t>been</a:t>
            </a:r>
            <a:r>
              <a:rPr sz="1000" dirty="0">
                <a:latin typeface="Arial"/>
                <a:cs typeface="Arial"/>
              </a:rPr>
              <a:t> </a:t>
            </a:r>
            <a:r>
              <a:rPr sz="1000" spc="-5" dirty="0">
                <a:latin typeface="Arial"/>
                <a:cs typeface="Arial"/>
              </a:rPr>
              <a:t>received is</a:t>
            </a:r>
            <a:r>
              <a:rPr sz="1000" dirty="0">
                <a:latin typeface="Arial"/>
                <a:cs typeface="Arial"/>
              </a:rPr>
              <a:t> </a:t>
            </a:r>
            <a:r>
              <a:rPr sz="1000" spc="-5" dirty="0">
                <a:latin typeface="Arial"/>
                <a:cs typeface="Arial"/>
              </a:rPr>
              <a:t>also</a:t>
            </a:r>
            <a:r>
              <a:rPr sz="1000" dirty="0">
                <a:latin typeface="Arial"/>
                <a:cs typeface="Arial"/>
              </a:rPr>
              <a:t> </a:t>
            </a:r>
            <a:r>
              <a:rPr sz="1000" spc="-10" dirty="0">
                <a:latin typeface="Arial"/>
                <a:cs typeface="Arial"/>
              </a:rPr>
              <a:t>shown</a:t>
            </a:r>
            <a:r>
              <a:rPr sz="1000" spc="-5" dirty="0">
                <a:latin typeface="Arial"/>
                <a:cs typeface="Arial"/>
              </a:rPr>
              <a:t> to</a:t>
            </a:r>
            <a:r>
              <a:rPr sz="1000"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been </a:t>
            </a:r>
            <a:r>
              <a:rPr sz="1000" spc="-265" dirty="0">
                <a:latin typeface="Arial"/>
                <a:cs typeface="Arial"/>
              </a:rPr>
              <a:t> </a:t>
            </a:r>
            <a:r>
              <a:rPr sz="1000" spc="-5" dirty="0">
                <a:latin typeface="Arial"/>
                <a:cs typeface="Arial"/>
              </a:rPr>
              <a:t>sent</a:t>
            </a:r>
            <a:r>
              <a:rPr sz="1000" spc="-10" dirty="0">
                <a:latin typeface="Arial"/>
                <a:cs typeface="Arial"/>
              </a:rPr>
              <a:t> </a:t>
            </a:r>
            <a:r>
              <a:rPr sz="1000" spc="-5" dirty="0">
                <a:latin typeface="Arial"/>
                <a:cs typeface="Arial"/>
              </a:rPr>
              <a:t>in the state of the </a:t>
            </a:r>
            <a:r>
              <a:rPr sz="1000" spc="-10" dirty="0">
                <a:latin typeface="Arial"/>
                <a:cs typeface="Arial"/>
              </a:rPr>
              <a:t>sender.</a:t>
            </a:r>
            <a:endParaRPr sz="1000">
              <a:latin typeface="Arial"/>
              <a:cs typeface="Arial"/>
            </a:endParaRPr>
          </a:p>
          <a:p>
            <a:pPr marL="16510">
              <a:lnSpc>
                <a:spcPct val="100000"/>
              </a:lnSpc>
              <a:spcBef>
                <a:spcPts val="685"/>
              </a:spcBef>
            </a:pPr>
            <a:r>
              <a:rPr sz="1200" spc="-5" dirty="0">
                <a:solidFill>
                  <a:srgbClr val="3333B2"/>
                </a:solidFill>
                <a:latin typeface="Arial"/>
                <a:cs typeface="Arial"/>
              </a:rPr>
              <a:t>Recovery</a:t>
            </a:r>
            <a:r>
              <a:rPr sz="1200" spc="-45" dirty="0">
                <a:solidFill>
                  <a:srgbClr val="3333B2"/>
                </a:solidFill>
                <a:latin typeface="Arial"/>
                <a:cs typeface="Arial"/>
              </a:rPr>
              <a:t> </a:t>
            </a:r>
            <a:r>
              <a:rPr sz="1200" spc="-5" dirty="0">
                <a:solidFill>
                  <a:srgbClr val="3333B2"/>
                </a:solidFill>
                <a:latin typeface="Arial"/>
                <a:cs typeface="Arial"/>
              </a:rPr>
              <a:t>line</a:t>
            </a:r>
            <a:endParaRPr sz="1200">
              <a:latin typeface="Arial"/>
              <a:cs typeface="Arial"/>
            </a:endParaRPr>
          </a:p>
          <a:p>
            <a:pPr marL="16510" marR="5080" indent="-4445">
              <a:lnSpc>
                <a:spcPct val="100000"/>
              </a:lnSpc>
              <a:spcBef>
                <a:spcPts val="180"/>
              </a:spcBef>
            </a:pPr>
            <a:r>
              <a:rPr sz="1000" spc="-5" dirty="0">
                <a:latin typeface="Arial"/>
                <a:cs typeface="Arial"/>
              </a:rPr>
              <a:t>Assuming</a:t>
            </a:r>
            <a:r>
              <a:rPr sz="1000" dirty="0">
                <a:latin typeface="Arial"/>
                <a:cs typeface="Arial"/>
              </a:rPr>
              <a:t> </a:t>
            </a:r>
            <a:r>
              <a:rPr sz="1000" spc="-5" dirty="0">
                <a:latin typeface="Arial"/>
                <a:cs typeface="Arial"/>
              </a:rPr>
              <a:t>processes</a:t>
            </a:r>
            <a:r>
              <a:rPr sz="1000" spc="5" dirty="0">
                <a:latin typeface="Arial"/>
                <a:cs typeface="Arial"/>
              </a:rPr>
              <a:t> </a:t>
            </a:r>
            <a:r>
              <a:rPr sz="1000" spc="-5" dirty="0">
                <a:latin typeface="Arial"/>
                <a:cs typeface="Arial"/>
              </a:rPr>
              <a:t>regularly</a:t>
            </a:r>
            <a:r>
              <a:rPr sz="1000" dirty="0">
                <a:latin typeface="Arial"/>
                <a:cs typeface="Arial"/>
              </a:rPr>
              <a:t> </a:t>
            </a:r>
            <a:r>
              <a:rPr sz="1000" spc="-5" dirty="0">
                <a:solidFill>
                  <a:srgbClr val="0000FA"/>
                </a:solidFill>
                <a:latin typeface="Arial"/>
                <a:cs typeface="Arial"/>
              </a:rPr>
              <a:t>checkpoint</a:t>
            </a:r>
            <a:r>
              <a:rPr sz="1000" spc="5" dirty="0">
                <a:solidFill>
                  <a:srgbClr val="0000FA"/>
                </a:solidFill>
                <a:latin typeface="Arial"/>
                <a:cs typeface="Arial"/>
              </a:rPr>
              <a:t> </a:t>
            </a:r>
            <a:r>
              <a:rPr sz="1000" spc="-5" dirty="0">
                <a:latin typeface="Arial"/>
                <a:cs typeface="Arial"/>
              </a:rPr>
              <a:t>their</a:t>
            </a:r>
            <a:r>
              <a:rPr sz="1000" spc="5" dirty="0">
                <a:latin typeface="Arial"/>
                <a:cs typeface="Arial"/>
              </a:rPr>
              <a:t> </a:t>
            </a:r>
            <a:r>
              <a:rPr sz="1000" spc="-5" dirty="0">
                <a:latin typeface="Arial"/>
                <a:cs typeface="Arial"/>
              </a:rPr>
              <a:t>state,</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most</a:t>
            </a:r>
            <a:r>
              <a:rPr sz="1000" dirty="0">
                <a:latin typeface="Arial"/>
                <a:cs typeface="Arial"/>
              </a:rPr>
              <a:t> </a:t>
            </a:r>
            <a:r>
              <a:rPr sz="1000" spc="-5" dirty="0">
                <a:latin typeface="Arial"/>
                <a:cs typeface="Arial"/>
              </a:rPr>
              <a:t>recent </a:t>
            </a:r>
            <a:r>
              <a:rPr sz="1000" spc="-260" dirty="0">
                <a:latin typeface="Arial"/>
                <a:cs typeface="Arial"/>
              </a:rPr>
              <a:t> </a:t>
            </a:r>
            <a:r>
              <a:rPr sz="1000" spc="-5" dirty="0">
                <a:solidFill>
                  <a:srgbClr val="0000FA"/>
                </a:solidFill>
                <a:latin typeface="Arial"/>
                <a:cs typeface="Arial"/>
              </a:rPr>
              <a:t>consistent</a:t>
            </a:r>
            <a:r>
              <a:rPr sz="1000" spc="-10" dirty="0">
                <a:solidFill>
                  <a:srgbClr val="0000FA"/>
                </a:solidFill>
                <a:latin typeface="Arial"/>
                <a:cs typeface="Arial"/>
              </a:rPr>
              <a:t> </a:t>
            </a:r>
            <a:r>
              <a:rPr sz="1000" spc="-5" dirty="0">
                <a:solidFill>
                  <a:srgbClr val="0000FA"/>
                </a:solidFill>
                <a:latin typeface="Arial"/>
                <a:cs typeface="Arial"/>
              </a:rPr>
              <a:t>global checkpoint</a:t>
            </a:r>
            <a:r>
              <a:rPr sz="1000" spc="-5" dirty="0">
                <a:latin typeface="Arial"/>
                <a:cs typeface="Arial"/>
              </a:rPr>
              <a:t>.</a:t>
            </a:r>
            <a:endParaRPr sz="1000">
              <a:latin typeface="Arial"/>
              <a:cs typeface="Arial"/>
            </a:endParaRPr>
          </a:p>
        </p:txBody>
      </p:sp>
      <p:sp>
        <p:nvSpPr>
          <p:cNvPr id="5" name="object 5"/>
          <p:cNvSpPr txBox="1"/>
          <p:nvPr/>
        </p:nvSpPr>
        <p:spPr>
          <a:xfrm>
            <a:off x="404361" y="1919751"/>
            <a:ext cx="149860"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P1</a:t>
            </a:r>
            <a:endParaRPr sz="800">
              <a:latin typeface="Arial"/>
              <a:cs typeface="Arial"/>
            </a:endParaRPr>
          </a:p>
        </p:txBody>
      </p:sp>
      <p:sp>
        <p:nvSpPr>
          <p:cNvPr id="6" name="object 6"/>
          <p:cNvSpPr txBox="1"/>
          <p:nvPr/>
        </p:nvSpPr>
        <p:spPr>
          <a:xfrm>
            <a:off x="386358" y="2495750"/>
            <a:ext cx="149860"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P2</a:t>
            </a:r>
            <a:endParaRPr sz="800">
              <a:latin typeface="Arial"/>
              <a:cs typeface="Arial"/>
            </a:endParaRPr>
          </a:p>
        </p:txBody>
      </p:sp>
      <p:grpSp>
        <p:nvGrpSpPr>
          <p:cNvPr id="7" name="object 7"/>
          <p:cNvGrpSpPr/>
          <p:nvPr/>
        </p:nvGrpSpPr>
        <p:grpSpPr>
          <a:xfrm>
            <a:off x="395883" y="2066879"/>
            <a:ext cx="3768725" cy="582930"/>
            <a:chOff x="395883" y="2066879"/>
            <a:chExt cx="3768725" cy="582930"/>
          </a:xfrm>
        </p:grpSpPr>
        <p:sp>
          <p:nvSpPr>
            <p:cNvPr id="8" name="object 8"/>
            <p:cNvSpPr/>
            <p:nvPr/>
          </p:nvSpPr>
          <p:spPr>
            <a:xfrm>
              <a:off x="399058" y="2070054"/>
              <a:ext cx="3762375" cy="576580"/>
            </a:xfrm>
            <a:custGeom>
              <a:avLst/>
              <a:gdLst/>
              <a:ahLst/>
              <a:cxnLst/>
              <a:rect l="l" t="t" r="r" b="b"/>
              <a:pathLst>
                <a:path w="3762375" h="576580">
                  <a:moveTo>
                    <a:pt x="0" y="0"/>
                  </a:moveTo>
                  <a:lnTo>
                    <a:pt x="3762007" y="0"/>
                  </a:lnTo>
                </a:path>
                <a:path w="3762375" h="576580">
                  <a:moveTo>
                    <a:pt x="0" y="575990"/>
                  </a:moveTo>
                  <a:lnTo>
                    <a:pt x="3762007" y="575990"/>
                  </a:lnTo>
                </a:path>
                <a:path w="3762375" h="576580">
                  <a:moveTo>
                    <a:pt x="342002" y="575990"/>
                  </a:moveTo>
                  <a:lnTo>
                    <a:pt x="445546" y="44202"/>
                  </a:lnTo>
                </a:path>
              </a:pathLst>
            </a:custGeom>
            <a:ln w="6350">
              <a:solidFill>
                <a:srgbClr val="231F20"/>
              </a:solidFill>
            </a:ln>
          </p:spPr>
          <p:txBody>
            <a:bodyPr wrap="square" lIns="0" tIns="0" rIns="0" bIns="0" rtlCol="0"/>
            <a:lstStyle/>
            <a:p>
              <a:endParaRPr/>
            </a:p>
          </p:txBody>
        </p:sp>
        <p:pic>
          <p:nvPicPr>
            <p:cNvPr id="9" name="object 9"/>
            <p:cNvPicPr/>
            <p:nvPr/>
          </p:nvPicPr>
          <p:blipFill>
            <a:blip r:embed="rId6" cstate="print"/>
            <a:stretch>
              <a:fillRect/>
            </a:stretch>
          </p:blipFill>
          <p:spPr>
            <a:xfrm>
              <a:off x="798384" y="2070054"/>
              <a:ext cx="75396" cy="95299"/>
            </a:xfrm>
            <a:prstGeom prst="rect">
              <a:avLst/>
            </a:prstGeom>
          </p:spPr>
        </p:pic>
        <p:sp>
          <p:nvSpPr>
            <p:cNvPr id="10" name="object 10"/>
            <p:cNvSpPr/>
            <p:nvPr/>
          </p:nvSpPr>
          <p:spPr>
            <a:xfrm>
              <a:off x="1011059" y="2070054"/>
              <a:ext cx="157480" cy="533400"/>
            </a:xfrm>
            <a:custGeom>
              <a:avLst/>
              <a:gdLst/>
              <a:ahLst/>
              <a:cxnLst/>
              <a:rect l="l" t="t" r="r" b="b"/>
              <a:pathLst>
                <a:path w="157480" h="533400">
                  <a:moveTo>
                    <a:pt x="0" y="0"/>
                  </a:moveTo>
                  <a:lnTo>
                    <a:pt x="157280" y="532800"/>
                  </a:lnTo>
                </a:path>
              </a:pathLst>
            </a:custGeom>
            <a:ln w="6350">
              <a:solidFill>
                <a:srgbClr val="231F20"/>
              </a:solidFill>
            </a:ln>
          </p:spPr>
          <p:txBody>
            <a:bodyPr wrap="square" lIns="0" tIns="0" rIns="0" bIns="0" rtlCol="0"/>
            <a:lstStyle/>
            <a:p>
              <a:endParaRPr/>
            </a:p>
          </p:txBody>
        </p:sp>
        <p:pic>
          <p:nvPicPr>
            <p:cNvPr id="11" name="object 11"/>
            <p:cNvPicPr/>
            <p:nvPr/>
          </p:nvPicPr>
          <p:blipFill>
            <a:blip r:embed="rId7" cstate="print"/>
            <a:stretch>
              <a:fillRect/>
            </a:stretch>
          </p:blipFill>
          <p:spPr>
            <a:xfrm>
              <a:off x="1118885" y="2549226"/>
              <a:ext cx="73665" cy="96818"/>
            </a:xfrm>
            <a:prstGeom prst="rect">
              <a:avLst/>
            </a:prstGeom>
          </p:spPr>
        </p:pic>
        <p:sp>
          <p:nvSpPr>
            <p:cNvPr id="12" name="object 12"/>
            <p:cNvSpPr/>
            <p:nvPr/>
          </p:nvSpPr>
          <p:spPr>
            <a:xfrm>
              <a:off x="1191061" y="2070054"/>
              <a:ext cx="182880" cy="533400"/>
            </a:xfrm>
            <a:custGeom>
              <a:avLst/>
              <a:gdLst/>
              <a:ahLst/>
              <a:cxnLst/>
              <a:rect l="l" t="t" r="r" b="b"/>
              <a:pathLst>
                <a:path w="182880" h="533400">
                  <a:moveTo>
                    <a:pt x="0" y="0"/>
                  </a:moveTo>
                  <a:lnTo>
                    <a:pt x="182765" y="533391"/>
                  </a:lnTo>
                </a:path>
              </a:pathLst>
            </a:custGeom>
            <a:ln w="6350">
              <a:solidFill>
                <a:srgbClr val="231F20"/>
              </a:solidFill>
            </a:ln>
          </p:spPr>
          <p:txBody>
            <a:bodyPr wrap="square" lIns="0" tIns="0" rIns="0" bIns="0" rtlCol="0"/>
            <a:lstStyle/>
            <a:p>
              <a:endParaRPr/>
            </a:p>
          </p:txBody>
        </p:sp>
        <p:pic>
          <p:nvPicPr>
            <p:cNvPr id="13" name="object 13"/>
            <p:cNvPicPr/>
            <p:nvPr/>
          </p:nvPicPr>
          <p:blipFill>
            <a:blip r:embed="rId8" cstate="print"/>
            <a:stretch>
              <a:fillRect/>
            </a:stretch>
          </p:blipFill>
          <p:spPr>
            <a:xfrm>
              <a:off x="1323042" y="2548825"/>
              <a:ext cx="72663" cy="97219"/>
            </a:xfrm>
            <a:prstGeom prst="rect">
              <a:avLst/>
            </a:prstGeom>
          </p:spPr>
        </p:pic>
        <p:sp>
          <p:nvSpPr>
            <p:cNvPr id="14" name="object 14"/>
            <p:cNvSpPr/>
            <p:nvPr/>
          </p:nvSpPr>
          <p:spPr>
            <a:xfrm>
              <a:off x="1623060" y="2113660"/>
              <a:ext cx="137795" cy="532765"/>
            </a:xfrm>
            <a:custGeom>
              <a:avLst/>
              <a:gdLst/>
              <a:ahLst/>
              <a:cxnLst/>
              <a:rect l="l" t="t" r="r" b="b"/>
              <a:pathLst>
                <a:path w="137794" h="532764">
                  <a:moveTo>
                    <a:pt x="0" y="532384"/>
                  </a:moveTo>
                  <a:lnTo>
                    <a:pt x="137388" y="0"/>
                  </a:lnTo>
                </a:path>
              </a:pathLst>
            </a:custGeom>
            <a:ln w="6350">
              <a:solidFill>
                <a:srgbClr val="231F20"/>
              </a:solidFill>
            </a:ln>
          </p:spPr>
          <p:txBody>
            <a:bodyPr wrap="square" lIns="0" tIns="0" rIns="0" bIns="0" rtlCol="0"/>
            <a:lstStyle/>
            <a:p>
              <a:endParaRPr/>
            </a:p>
          </p:txBody>
        </p:sp>
        <p:pic>
          <p:nvPicPr>
            <p:cNvPr id="15" name="object 15"/>
            <p:cNvPicPr/>
            <p:nvPr/>
          </p:nvPicPr>
          <p:blipFill>
            <a:blip r:embed="rId9" cstate="print"/>
            <a:stretch>
              <a:fillRect/>
            </a:stretch>
          </p:blipFill>
          <p:spPr>
            <a:xfrm>
              <a:off x="1712125" y="2070054"/>
              <a:ext cx="74371" cy="96361"/>
            </a:xfrm>
            <a:prstGeom prst="rect">
              <a:avLst/>
            </a:prstGeom>
          </p:spPr>
        </p:pic>
        <p:sp>
          <p:nvSpPr>
            <p:cNvPr id="16" name="object 16"/>
            <p:cNvSpPr/>
            <p:nvPr/>
          </p:nvSpPr>
          <p:spPr>
            <a:xfrm>
              <a:off x="1947062" y="2113715"/>
              <a:ext cx="134620" cy="532765"/>
            </a:xfrm>
            <a:custGeom>
              <a:avLst/>
              <a:gdLst/>
              <a:ahLst/>
              <a:cxnLst/>
              <a:rect l="l" t="t" r="r" b="b"/>
              <a:pathLst>
                <a:path w="134619" h="532764">
                  <a:moveTo>
                    <a:pt x="0" y="532329"/>
                  </a:moveTo>
                  <a:lnTo>
                    <a:pt x="134493" y="0"/>
                  </a:lnTo>
                </a:path>
              </a:pathLst>
            </a:custGeom>
            <a:ln w="6350">
              <a:solidFill>
                <a:srgbClr val="231F20"/>
              </a:solidFill>
            </a:ln>
          </p:spPr>
          <p:txBody>
            <a:bodyPr wrap="square" lIns="0" tIns="0" rIns="0" bIns="0" rtlCol="0"/>
            <a:lstStyle/>
            <a:p>
              <a:endParaRPr/>
            </a:p>
          </p:txBody>
        </p:sp>
        <p:pic>
          <p:nvPicPr>
            <p:cNvPr id="17" name="object 17"/>
            <p:cNvPicPr/>
            <p:nvPr/>
          </p:nvPicPr>
          <p:blipFill>
            <a:blip r:embed="rId10" cstate="print"/>
            <a:stretch>
              <a:fillRect/>
            </a:stretch>
          </p:blipFill>
          <p:spPr>
            <a:xfrm>
              <a:off x="2033397" y="2070054"/>
              <a:ext cx="74472" cy="96287"/>
            </a:xfrm>
            <a:prstGeom prst="rect">
              <a:avLst/>
            </a:prstGeom>
          </p:spPr>
        </p:pic>
        <p:sp>
          <p:nvSpPr>
            <p:cNvPr id="18" name="object 18"/>
            <p:cNvSpPr/>
            <p:nvPr/>
          </p:nvSpPr>
          <p:spPr>
            <a:xfrm>
              <a:off x="2145068" y="2070054"/>
              <a:ext cx="167640" cy="533400"/>
            </a:xfrm>
            <a:custGeom>
              <a:avLst/>
              <a:gdLst/>
              <a:ahLst/>
              <a:cxnLst/>
              <a:rect l="l" t="t" r="r" b="b"/>
              <a:pathLst>
                <a:path w="167639" h="533400">
                  <a:moveTo>
                    <a:pt x="0" y="0"/>
                  </a:moveTo>
                  <a:lnTo>
                    <a:pt x="167081" y="533019"/>
                  </a:lnTo>
                </a:path>
              </a:pathLst>
            </a:custGeom>
            <a:ln w="6350">
              <a:solidFill>
                <a:srgbClr val="231F20"/>
              </a:solidFill>
            </a:ln>
          </p:spPr>
          <p:txBody>
            <a:bodyPr wrap="square" lIns="0" tIns="0" rIns="0" bIns="0" rtlCol="0"/>
            <a:lstStyle/>
            <a:p>
              <a:endParaRPr/>
            </a:p>
          </p:txBody>
        </p:sp>
        <p:pic>
          <p:nvPicPr>
            <p:cNvPr id="19" name="object 19"/>
            <p:cNvPicPr/>
            <p:nvPr/>
          </p:nvPicPr>
          <p:blipFill>
            <a:blip r:embed="rId11" cstate="print"/>
            <a:stretch>
              <a:fillRect/>
            </a:stretch>
          </p:blipFill>
          <p:spPr>
            <a:xfrm>
              <a:off x="2262174" y="2549052"/>
              <a:ext cx="73291" cy="96992"/>
            </a:xfrm>
            <a:prstGeom prst="rect">
              <a:avLst/>
            </a:prstGeom>
          </p:spPr>
        </p:pic>
        <p:sp>
          <p:nvSpPr>
            <p:cNvPr id="20" name="object 20"/>
            <p:cNvSpPr/>
            <p:nvPr/>
          </p:nvSpPr>
          <p:spPr>
            <a:xfrm>
              <a:off x="2541066" y="2113061"/>
              <a:ext cx="165735" cy="533400"/>
            </a:xfrm>
            <a:custGeom>
              <a:avLst/>
              <a:gdLst/>
              <a:ahLst/>
              <a:cxnLst/>
              <a:rect l="l" t="t" r="r" b="b"/>
              <a:pathLst>
                <a:path w="165735" h="533400">
                  <a:moveTo>
                    <a:pt x="0" y="532983"/>
                  </a:moveTo>
                  <a:lnTo>
                    <a:pt x="165646" y="0"/>
                  </a:lnTo>
                </a:path>
              </a:pathLst>
            </a:custGeom>
            <a:ln w="6350">
              <a:solidFill>
                <a:srgbClr val="231F20"/>
              </a:solidFill>
            </a:ln>
          </p:spPr>
          <p:txBody>
            <a:bodyPr wrap="square" lIns="0" tIns="0" rIns="0" bIns="0" rtlCol="0"/>
            <a:lstStyle/>
            <a:p>
              <a:endParaRPr/>
            </a:p>
          </p:txBody>
        </p:sp>
        <p:pic>
          <p:nvPicPr>
            <p:cNvPr id="21" name="object 21"/>
            <p:cNvPicPr/>
            <p:nvPr/>
          </p:nvPicPr>
          <p:blipFill>
            <a:blip r:embed="rId12" cstate="print"/>
            <a:stretch>
              <a:fillRect/>
            </a:stretch>
          </p:blipFill>
          <p:spPr>
            <a:xfrm>
              <a:off x="2656801" y="2070054"/>
              <a:ext cx="73355" cy="96972"/>
            </a:xfrm>
            <a:prstGeom prst="rect">
              <a:avLst/>
            </a:prstGeom>
          </p:spPr>
        </p:pic>
        <p:sp>
          <p:nvSpPr>
            <p:cNvPr id="22" name="object 22"/>
            <p:cNvSpPr/>
            <p:nvPr/>
          </p:nvSpPr>
          <p:spPr>
            <a:xfrm>
              <a:off x="2991053" y="2070054"/>
              <a:ext cx="197485" cy="534035"/>
            </a:xfrm>
            <a:custGeom>
              <a:avLst/>
              <a:gdLst/>
              <a:ahLst/>
              <a:cxnLst/>
              <a:rect l="l" t="t" r="r" b="b"/>
              <a:pathLst>
                <a:path w="197485" h="534035">
                  <a:moveTo>
                    <a:pt x="0" y="0"/>
                  </a:moveTo>
                  <a:lnTo>
                    <a:pt x="197040" y="533747"/>
                  </a:lnTo>
                </a:path>
              </a:pathLst>
            </a:custGeom>
            <a:ln w="6350">
              <a:solidFill>
                <a:srgbClr val="231F20"/>
              </a:solidFill>
            </a:ln>
          </p:spPr>
          <p:txBody>
            <a:bodyPr wrap="square" lIns="0" tIns="0" rIns="0" bIns="0" rtlCol="0"/>
            <a:lstStyle/>
            <a:p>
              <a:endParaRPr/>
            </a:p>
          </p:txBody>
        </p:sp>
        <p:pic>
          <p:nvPicPr>
            <p:cNvPr id="23" name="object 23"/>
            <p:cNvPicPr/>
            <p:nvPr/>
          </p:nvPicPr>
          <p:blipFill>
            <a:blip r:embed="rId13" cstate="print"/>
            <a:stretch>
              <a:fillRect/>
            </a:stretch>
          </p:blipFill>
          <p:spPr>
            <a:xfrm>
              <a:off x="3136633" y="2548680"/>
              <a:ext cx="72047" cy="97364"/>
            </a:xfrm>
            <a:prstGeom prst="rect">
              <a:avLst/>
            </a:prstGeom>
          </p:spPr>
        </p:pic>
        <p:sp>
          <p:nvSpPr>
            <p:cNvPr id="24" name="object 24"/>
            <p:cNvSpPr/>
            <p:nvPr/>
          </p:nvSpPr>
          <p:spPr>
            <a:xfrm>
              <a:off x="3333064" y="2070054"/>
              <a:ext cx="210185" cy="534670"/>
            </a:xfrm>
            <a:custGeom>
              <a:avLst/>
              <a:gdLst/>
              <a:ahLst/>
              <a:cxnLst/>
              <a:rect l="l" t="t" r="r" b="b"/>
              <a:pathLst>
                <a:path w="210185" h="534669">
                  <a:moveTo>
                    <a:pt x="0" y="0"/>
                  </a:moveTo>
                  <a:lnTo>
                    <a:pt x="209905" y="534075"/>
                  </a:lnTo>
                </a:path>
              </a:pathLst>
            </a:custGeom>
            <a:ln w="6350">
              <a:solidFill>
                <a:srgbClr val="231F20"/>
              </a:solidFill>
            </a:ln>
          </p:spPr>
          <p:txBody>
            <a:bodyPr wrap="square" lIns="0" tIns="0" rIns="0" bIns="0" rtlCol="0"/>
            <a:lstStyle/>
            <a:p>
              <a:endParaRPr/>
            </a:p>
          </p:txBody>
        </p:sp>
        <p:pic>
          <p:nvPicPr>
            <p:cNvPr id="25" name="object 25"/>
            <p:cNvPicPr/>
            <p:nvPr/>
          </p:nvPicPr>
          <p:blipFill>
            <a:blip r:embed="rId14" cstate="print"/>
            <a:stretch>
              <a:fillRect/>
            </a:stretch>
          </p:blipFill>
          <p:spPr>
            <a:xfrm>
              <a:off x="3490912" y="2548596"/>
              <a:ext cx="71488" cy="97448"/>
            </a:xfrm>
            <a:prstGeom prst="rect">
              <a:avLst/>
            </a:prstGeom>
          </p:spPr>
        </p:pic>
      </p:grpSp>
      <p:sp>
        <p:nvSpPr>
          <p:cNvPr id="26" name="object 26"/>
          <p:cNvSpPr txBox="1"/>
          <p:nvPr/>
        </p:nvSpPr>
        <p:spPr>
          <a:xfrm>
            <a:off x="872366" y="1723951"/>
            <a:ext cx="51117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Initial</a:t>
            </a:r>
            <a:r>
              <a:rPr sz="800" spc="-45" dirty="0">
                <a:solidFill>
                  <a:srgbClr val="231F20"/>
                </a:solidFill>
                <a:latin typeface="Arial"/>
                <a:cs typeface="Arial"/>
              </a:rPr>
              <a:t> </a:t>
            </a:r>
            <a:r>
              <a:rPr sz="800" dirty="0">
                <a:solidFill>
                  <a:srgbClr val="231F20"/>
                </a:solidFill>
                <a:latin typeface="Arial"/>
                <a:cs typeface="Arial"/>
              </a:rPr>
              <a:t>state</a:t>
            </a:r>
            <a:endParaRPr sz="800">
              <a:latin typeface="Arial"/>
              <a:cs typeface="Arial"/>
            </a:endParaRPr>
          </a:p>
        </p:txBody>
      </p:sp>
      <p:sp>
        <p:nvSpPr>
          <p:cNvPr id="27" name="object 27"/>
          <p:cNvSpPr txBox="1"/>
          <p:nvPr/>
        </p:nvSpPr>
        <p:spPr>
          <a:xfrm>
            <a:off x="3878367" y="2261746"/>
            <a:ext cx="33591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Failure</a:t>
            </a:r>
            <a:endParaRPr sz="800">
              <a:latin typeface="Arial"/>
              <a:cs typeface="Arial"/>
            </a:endParaRPr>
          </a:p>
        </p:txBody>
      </p:sp>
      <p:grpSp>
        <p:nvGrpSpPr>
          <p:cNvPr id="28" name="object 28"/>
          <p:cNvGrpSpPr/>
          <p:nvPr/>
        </p:nvGrpSpPr>
        <p:grpSpPr>
          <a:xfrm>
            <a:off x="605537" y="1846390"/>
            <a:ext cx="3528695" cy="982344"/>
            <a:chOff x="605537" y="1846390"/>
            <a:chExt cx="3528695" cy="982344"/>
          </a:xfrm>
        </p:grpSpPr>
        <p:sp>
          <p:nvSpPr>
            <p:cNvPr id="29" name="object 29"/>
            <p:cNvSpPr/>
            <p:nvPr/>
          </p:nvSpPr>
          <p:spPr>
            <a:xfrm>
              <a:off x="3711054" y="2574051"/>
              <a:ext cx="144145" cy="144145"/>
            </a:xfrm>
            <a:custGeom>
              <a:avLst/>
              <a:gdLst/>
              <a:ahLst/>
              <a:cxnLst/>
              <a:rect l="l" t="t" r="r" b="b"/>
              <a:pathLst>
                <a:path w="144145" h="144144">
                  <a:moveTo>
                    <a:pt x="0" y="0"/>
                  </a:moveTo>
                  <a:lnTo>
                    <a:pt x="144005" y="143996"/>
                  </a:lnTo>
                </a:path>
                <a:path w="144145" h="144144">
                  <a:moveTo>
                    <a:pt x="0" y="143996"/>
                  </a:moveTo>
                  <a:lnTo>
                    <a:pt x="144005" y="0"/>
                  </a:lnTo>
                </a:path>
              </a:pathLst>
            </a:custGeom>
            <a:ln w="12700">
              <a:solidFill>
                <a:srgbClr val="231F20"/>
              </a:solidFill>
            </a:ln>
          </p:spPr>
          <p:txBody>
            <a:bodyPr wrap="square" lIns="0" tIns="0" rIns="0" bIns="0" rtlCol="0"/>
            <a:lstStyle/>
            <a:p>
              <a:endParaRPr/>
            </a:p>
          </p:txBody>
        </p:sp>
        <p:sp>
          <p:nvSpPr>
            <p:cNvPr id="30" name="object 30"/>
            <p:cNvSpPr/>
            <p:nvPr/>
          </p:nvSpPr>
          <p:spPr>
            <a:xfrm>
              <a:off x="2851746" y="1849565"/>
              <a:ext cx="1237615" cy="941069"/>
            </a:xfrm>
            <a:custGeom>
              <a:avLst/>
              <a:gdLst/>
              <a:ahLst/>
              <a:cxnLst/>
              <a:rect l="l" t="t" r="r" b="b"/>
              <a:pathLst>
                <a:path w="1237614" h="941069">
                  <a:moveTo>
                    <a:pt x="250050" y="0"/>
                  </a:moveTo>
                  <a:lnTo>
                    <a:pt x="0" y="186119"/>
                  </a:lnTo>
                </a:path>
                <a:path w="1237614" h="941069">
                  <a:moveTo>
                    <a:pt x="985316" y="940479"/>
                  </a:moveTo>
                  <a:lnTo>
                    <a:pt x="1237437" y="940479"/>
                  </a:lnTo>
                </a:path>
              </a:pathLst>
            </a:custGeom>
            <a:ln w="6350">
              <a:solidFill>
                <a:srgbClr val="231F20"/>
              </a:solidFill>
            </a:ln>
          </p:spPr>
          <p:txBody>
            <a:bodyPr wrap="square" lIns="0" tIns="0" rIns="0" bIns="0" rtlCol="0"/>
            <a:lstStyle/>
            <a:p>
              <a:endParaRPr/>
            </a:p>
          </p:txBody>
        </p:sp>
        <p:sp>
          <p:nvSpPr>
            <p:cNvPr id="31" name="object 31"/>
            <p:cNvSpPr/>
            <p:nvPr/>
          </p:nvSpPr>
          <p:spPr>
            <a:xfrm>
              <a:off x="4044607" y="2751642"/>
              <a:ext cx="90170" cy="76835"/>
            </a:xfrm>
            <a:custGeom>
              <a:avLst/>
              <a:gdLst/>
              <a:ahLst/>
              <a:cxnLst/>
              <a:rect l="l" t="t" r="r" b="b"/>
              <a:pathLst>
                <a:path w="90170" h="76835">
                  <a:moveTo>
                    <a:pt x="0" y="0"/>
                  </a:moveTo>
                  <a:lnTo>
                    <a:pt x="7200" y="19202"/>
                  </a:lnTo>
                  <a:lnTo>
                    <a:pt x="9601" y="38404"/>
                  </a:lnTo>
                  <a:lnTo>
                    <a:pt x="7200" y="57607"/>
                  </a:lnTo>
                  <a:lnTo>
                    <a:pt x="0" y="76809"/>
                  </a:lnTo>
                  <a:lnTo>
                    <a:pt x="89611" y="38402"/>
                  </a:lnTo>
                  <a:lnTo>
                    <a:pt x="0" y="0"/>
                  </a:lnTo>
                  <a:close/>
                </a:path>
              </a:pathLst>
            </a:custGeom>
            <a:solidFill>
              <a:srgbClr val="231F20"/>
            </a:solidFill>
          </p:spPr>
          <p:txBody>
            <a:bodyPr wrap="square" lIns="0" tIns="0" rIns="0" bIns="0" rtlCol="0"/>
            <a:lstStyle/>
            <a:p>
              <a:endParaRPr/>
            </a:p>
          </p:txBody>
        </p:sp>
        <p:sp>
          <p:nvSpPr>
            <p:cNvPr id="32" name="object 32"/>
            <p:cNvSpPr/>
            <p:nvPr/>
          </p:nvSpPr>
          <p:spPr>
            <a:xfrm>
              <a:off x="3783063" y="2412051"/>
              <a:ext cx="90170" cy="234315"/>
            </a:xfrm>
            <a:custGeom>
              <a:avLst/>
              <a:gdLst/>
              <a:ahLst/>
              <a:cxnLst/>
              <a:rect l="l" t="t" r="r" b="b"/>
              <a:pathLst>
                <a:path w="90170" h="234314">
                  <a:moveTo>
                    <a:pt x="89992" y="0"/>
                  </a:moveTo>
                  <a:lnTo>
                    <a:pt x="0" y="233997"/>
                  </a:lnTo>
                </a:path>
              </a:pathLst>
            </a:custGeom>
            <a:ln w="6350">
              <a:solidFill>
                <a:srgbClr val="231F20"/>
              </a:solidFill>
            </a:ln>
          </p:spPr>
          <p:txBody>
            <a:bodyPr wrap="square" lIns="0" tIns="0" rIns="0" bIns="0" rtlCol="0"/>
            <a:lstStyle/>
            <a:p>
              <a:endParaRPr/>
            </a:p>
          </p:txBody>
        </p:sp>
        <p:sp>
          <p:nvSpPr>
            <p:cNvPr id="33" name="object 33"/>
            <p:cNvSpPr/>
            <p:nvPr/>
          </p:nvSpPr>
          <p:spPr>
            <a:xfrm>
              <a:off x="615062" y="1998051"/>
              <a:ext cx="2736215" cy="720090"/>
            </a:xfrm>
            <a:custGeom>
              <a:avLst/>
              <a:gdLst/>
              <a:ahLst/>
              <a:cxnLst/>
              <a:rect l="l" t="t" r="r" b="b"/>
              <a:pathLst>
                <a:path w="2736215" h="720089">
                  <a:moveTo>
                    <a:pt x="0" y="719996"/>
                  </a:moveTo>
                  <a:lnTo>
                    <a:pt x="0" y="0"/>
                  </a:lnTo>
                </a:path>
                <a:path w="2736215" h="720089">
                  <a:moveTo>
                    <a:pt x="287997" y="0"/>
                  </a:moveTo>
                  <a:lnTo>
                    <a:pt x="287997" y="143996"/>
                  </a:lnTo>
                </a:path>
                <a:path w="2736215" h="720089">
                  <a:moveTo>
                    <a:pt x="864002" y="575999"/>
                  </a:moveTo>
                  <a:lnTo>
                    <a:pt x="864002" y="719996"/>
                  </a:lnTo>
                </a:path>
                <a:path w="2736215" h="720089">
                  <a:moveTo>
                    <a:pt x="1295995" y="0"/>
                  </a:moveTo>
                  <a:lnTo>
                    <a:pt x="1295995" y="143996"/>
                  </a:lnTo>
                </a:path>
                <a:path w="2736215" h="720089">
                  <a:moveTo>
                    <a:pt x="1691994" y="0"/>
                  </a:moveTo>
                  <a:lnTo>
                    <a:pt x="1691994" y="143996"/>
                  </a:lnTo>
                </a:path>
                <a:path w="2736215" h="720089">
                  <a:moveTo>
                    <a:pt x="1835999" y="575999"/>
                  </a:moveTo>
                  <a:lnTo>
                    <a:pt x="1835999" y="719996"/>
                  </a:lnTo>
                </a:path>
                <a:path w="2736215" h="720089">
                  <a:moveTo>
                    <a:pt x="2231998" y="0"/>
                  </a:moveTo>
                  <a:lnTo>
                    <a:pt x="2231998" y="143996"/>
                  </a:lnTo>
                </a:path>
                <a:path w="2736215" h="720089">
                  <a:moveTo>
                    <a:pt x="2735997" y="575999"/>
                  </a:moveTo>
                  <a:lnTo>
                    <a:pt x="2735997" y="719996"/>
                  </a:lnTo>
                </a:path>
              </a:pathLst>
            </a:custGeom>
            <a:ln w="19051">
              <a:solidFill>
                <a:srgbClr val="231F20"/>
              </a:solidFill>
            </a:ln>
          </p:spPr>
          <p:txBody>
            <a:bodyPr wrap="square" lIns="0" tIns="0" rIns="0" bIns="0" rtlCol="0"/>
            <a:lstStyle/>
            <a:p>
              <a:endParaRPr/>
            </a:p>
          </p:txBody>
        </p:sp>
        <p:sp>
          <p:nvSpPr>
            <p:cNvPr id="34" name="object 34"/>
            <p:cNvSpPr/>
            <p:nvPr/>
          </p:nvSpPr>
          <p:spPr>
            <a:xfrm>
              <a:off x="616545" y="1849804"/>
              <a:ext cx="233679" cy="177800"/>
            </a:xfrm>
            <a:custGeom>
              <a:avLst/>
              <a:gdLst/>
              <a:ahLst/>
              <a:cxnLst/>
              <a:rect l="l" t="t" r="r" b="b"/>
              <a:pathLst>
                <a:path w="233680" h="177800">
                  <a:moveTo>
                    <a:pt x="233575" y="0"/>
                  </a:moveTo>
                  <a:lnTo>
                    <a:pt x="0" y="177407"/>
                  </a:lnTo>
                </a:path>
              </a:pathLst>
            </a:custGeom>
            <a:ln w="6350">
              <a:solidFill>
                <a:srgbClr val="231F20"/>
              </a:solidFill>
            </a:ln>
          </p:spPr>
          <p:txBody>
            <a:bodyPr wrap="square" lIns="0" tIns="0" rIns="0" bIns="0" rtlCol="0"/>
            <a:lstStyle/>
            <a:p>
              <a:endParaRPr/>
            </a:p>
          </p:txBody>
        </p:sp>
        <p:sp>
          <p:nvSpPr>
            <p:cNvPr id="35" name="object 35"/>
            <p:cNvSpPr/>
            <p:nvPr/>
          </p:nvSpPr>
          <p:spPr>
            <a:xfrm>
              <a:off x="2181059" y="1890052"/>
              <a:ext cx="1350010" cy="864235"/>
            </a:xfrm>
            <a:custGeom>
              <a:avLst/>
              <a:gdLst/>
              <a:ahLst/>
              <a:cxnLst/>
              <a:rect l="l" t="t" r="r" b="b"/>
              <a:pathLst>
                <a:path w="1350010" h="864235">
                  <a:moveTo>
                    <a:pt x="0" y="0"/>
                  </a:moveTo>
                  <a:lnTo>
                    <a:pt x="35481" y="22705"/>
                  </a:lnTo>
                  <a:lnTo>
                    <a:pt x="65155" y="49398"/>
                  </a:lnTo>
                  <a:lnTo>
                    <a:pt x="89581" y="79660"/>
                  </a:lnTo>
                  <a:lnTo>
                    <a:pt x="109319" y="113071"/>
                  </a:lnTo>
                  <a:lnTo>
                    <a:pt x="124929" y="149210"/>
                  </a:lnTo>
                  <a:lnTo>
                    <a:pt x="136970" y="187659"/>
                  </a:lnTo>
                  <a:lnTo>
                    <a:pt x="146002" y="227997"/>
                  </a:lnTo>
                  <a:lnTo>
                    <a:pt x="152586" y="269804"/>
                  </a:lnTo>
                  <a:lnTo>
                    <a:pt x="157280" y="312661"/>
                  </a:lnTo>
                  <a:lnTo>
                    <a:pt x="160645" y="356148"/>
                  </a:lnTo>
                  <a:lnTo>
                    <a:pt x="163240" y="399844"/>
                  </a:lnTo>
                  <a:lnTo>
                    <a:pt x="165625" y="443331"/>
                  </a:lnTo>
                  <a:lnTo>
                    <a:pt x="168360" y="486188"/>
                  </a:lnTo>
                  <a:lnTo>
                    <a:pt x="172005" y="527995"/>
                  </a:lnTo>
                  <a:lnTo>
                    <a:pt x="177118" y="568333"/>
                  </a:lnTo>
                  <a:lnTo>
                    <a:pt x="184261" y="606782"/>
                  </a:lnTo>
                  <a:lnTo>
                    <a:pt x="206873" y="676332"/>
                  </a:lnTo>
                  <a:lnTo>
                    <a:pt x="244317" y="733287"/>
                  </a:lnTo>
                  <a:lnTo>
                    <a:pt x="270002" y="755992"/>
                  </a:lnTo>
                </a:path>
                <a:path w="1350010" h="864235">
                  <a:moveTo>
                    <a:pt x="270002" y="755992"/>
                  </a:moveTo>
                  <a:lnTo>
                    <a:pt x="431990" y="827995"/>
                  </a:lnTo>
                </a:path>
                <a:path w="1350010" h="864235">
                  <a:moveTo>
                    <a:pt x="557999" y="107999"/>
                  </a:moveTo>
                  <a:lnTo>
                    <a:pt x="601864" y="133924"/>
                  </a:lnTo>
                  <a:lnTo>
                    <a:pt x="643580" y="163405"/>
                  </a:lnTo>
                  <a:lnTo>
                    <a:pt x="683334" y="195998"/>
                  </a:lnTo>
                  <a:lnTo>
                    <a:pt x="721310" y="231256"/>
                  </a:lnTo>
                  <a:lnTo>
                    <a:pt x="757693" y="268738"/>
                  </a:lnTo>
                  <a:lnTo>
                    <a:pt x="792669" y="307997"/>
                  </a:lnTo>
                  <a:lnTo>
                    <a:pt x="826422" y="348589"/>
                  </a:lnTo>
                  <a:lnTo>
                    <a:pt x="859138" y="390070"/>
                  </a:lnTo>
                  <a:lnTo>
                    <a:pt x="891003" y="431996"/>
                  </a:lnTo>
                  <a:lnTo>
                    <a:pt x="922201" y="473921"/>
                  </a:lnTo>
                  <a:lnTo>
                    <a:pt x="952917" y="515403"/>
                  </a:lnTo>
                  <a:lnTo>
                    <a:pt x="983337" y="555995"/>
                  </a:lnTo>
                  <a:lnTo>
                    <a:pt x="1013645" y="595254"/>
                  </a:lnTo>
                  <a:lnTo>
                    <a:pt x="1044027" y="632735"/>
                  </a:lnTo>
                  <a:lnTo>
                    <a:pt x="1074669" y="667994"/>
                  </a:lnTo>
                  <a:lnTo>
                    <a:pt x="1105755" y="700586"/>
                  </a:lnTo>
                  <a:lnTo>
                    <a:pt x="1137470" y="730067"/>
                  </a:lnTo>
                  <a:lnTo>
                    <a:pt x="1170000" y="755992"/>
                  </a:lnTo>
                </a:path>
                <a:path w="1350010" h="864235">
                  <a:moveTo>
                    <a:pt x="1170000" y="755992"/>
                  </a:moveTo>
                  <a:lnTo>
                    <a:pt x="1349997" y="863992"/>
                  </a:lnTo>
                </a:path>
              </a:pathLst>
            </a:custGeom>
            <a:ln w="6350">
              <a:solidFill>
                <a:srgbClr val="231F20"/>
              </a:solidFill>
              <a:prstDash val="lgDash"/>
            </a:ln>
          </p:spPr>
          <p:txBody>
            <a:bodyPr wrap="square" lIns="0" tIns="0" rIns="0" bIns="0" rtlCol="0"/>
            <a:lstStyle/>
            <a:p>
              <a:endParaRPr/>
            </a:p>
          </p:txBody>
        </p:sp>
      </p:grpSp>
      <p:sp>
        <p:nvSpPr>
          <p:cNvPr id="36" name="object 36"/>
          <p:cNvSpPr txBox="1"/>
          <p:nvPr/>
        </p:nvSpPr>
        <p:spPr>
          <a:xfrm>
            <a:off x="2204364" y="1704950"/>
            <a:ext cx="127190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Recovery</a:t>
            </a:r>
            <a:r>
              <a:rPr sz="800" dirty="0">
                <a:solidFill>
                  <a:srgbClr val="231F20"/>
                </a:solidFill>
                <a:latin typeface="Arial"/>
                <a:cs typeface="Arial"/>
              </a:rPr>
              <a:t> </a:t>
            </a:r>
            <a:r>
              <a:rPr sz="800" spc="-5" dirty="0">
                <a:solidFill>
                  <a:srgbClr val="231F20"/>
                </a:solidFill>
                <a:latin typeface="Arial"/>
                <a:cs typeface="Arial"/>
              </a:rPr>
              <a:t>line</a:t>
            </a:r>
            <a:r>
              <a:rPr sz="800" spc="260" dirty="0">
                <a:solidFill>
                  <a:srgbClr val="231F20"/>
                </a:solidFill>
                <a:latin typeface="Arial"/>
                <a:cs typeface="Arial"/>
              </a:rPr>
              <a:t>  </a:t>
            </a:r>
            <a:r>
              <a:rPr sz="800" spc="-5" dirty="0">
                <a:solidFill>
                  <a:srgbClr val="231F20"/>
                </a:solidFill>
                <a:latin typeface="Arial"/>
                <a:cs typeface="Arial"/>
              </a:rPr>
              <a:t>Checkpoint</a:t>
            </a:r>
            <a:endParaRPr sz="800">
              <a:latin typeface="Arial"/>
              <a:cs typeface="Arial"/>
            </a:endParaRPr>
          </a:p>
        </p:txBody>
      </p:sp>
      <p:sp>
        <p:nvSpPr>
          <p:cNvPr id="37" name="object 37"/>
          <p:cNvSpPr/>
          <p:nvPr/>
        </p:nvSpPr>
        <p:spPr>
          <a:xfrm>
            <a:off x="2259076" y="1836051"/>
            <a:ext cx="102235" cy="115570"/>
          </a:xfrm>
          <a:custGeom>
            <a:avLst/>
            <a:gdLst/>
            <a:ahLst/>
            <a:cxnLst/>
            <a:rect l="l" t="t" r="r" b="b"/>
            <a:pathLst>
              <a:path w="102235" h="115569">
                <a:moveTo>
                  <a:pt x="101981" y="0"/>
                </a:moveTo>
                <a:lnTo>
                  <a:pt x="0" y="114965"/>
                </a:lnTo>
              </a:path>
            </a:pathLst>
          </a:custGeom>
          <a:ln w="6350">
            <a:solidFill>
              <a:srgbClr val="231F20"/>
            </a:solidFill>
          </a:ln>
        </p:spPr>
        <p:txBody>
          <a:bodyPr wrap="square" lIns="0" tIns="0" rIns="0" bIns="0" rtlCol="0"/>
          <a:lstStyle/>
          <a:p>
            <a:endParaRPr/>
          </a:p>
        </p:txBody>
      </p:sp>
      <p:sp>
        <p:nvSpPr>
          <p:cNvPr id="38" name="object 38"/>
          <p:cNvSpPr txBox="1"/>
          <p:nvPr/>
        </p:nvSpPr>
        <p:spPr>
          <a:xfrm>
            <a:off x="2642209" y="2695663"/>
            <a:ext cx="1160145" cy="422275"/>
          </a:xfrm>
          <a:prstGeom prst="rect">
            <a:avLst/>
          </a:prstGeom>
        </p:spPr>
        <p:txBody>
          <a:bodyPr vert="horz" wrap="square" lIns="0" tIns="12700" rIns="0" bIns="0" rtlCol="0">
            <a:spAutoFit/>
          </a:bodyPr>
          <a:lstStyle/>
          <a:p>
            <a:pPr marL="12700" marR="5080" indent="911860">
              <a:lnSpc>
                <a:spcPct val="113199"/>
              </a:lnSpc>
              <a:spcBef>
                <a:spcPts val="100"/>
              </a:spcBef>
            </a:pPr>
            <a:r>
              <a:rPr sz="800" spc="-30" dirty="0">
                <a:solidFill>
                  <a:srgbClr val="231F20"/>
                </a:solidFill>
                <a:latin typeface="Arial"/>
                <a:cs typeface="Arial"/>
              </a:rPr>
              <a:t>T</a:t>
            </a:r>
            <a:r>
              <a:rPr sz="800" spc="-5" dirty="0">
                <a:solidFill>
                  <a:srgbClr val="231F20"/>
                </a:solidFill>
                <a:latin typeface="Arial"/>
                <a:cs typeface="Arial"/>
              </a:rPr>
              <a:t>ime  </a:t>
            </a:r>
            <a:r>
              <a:rPr sz="800" dirty="0">
                <a:solidFill>
                  <a:srgbClr val="231F20"/>
                </a:solidFill>
                <a:latin typeface="Arial"/>
                <a:cs typeface="Arial"/>
              </a:rPr>
              <a:t>Inconsistent</a:t>
            </a:r>
            <a:r>
              <a:rPr sz="800" spc="-10" dirty="0">
                <a:solidFill>
                  <a:srgbClr val="231F20"/>
                </a:solidFill>
                <a:latin typeface="Arial"/>
                <a:cs typeface="Arial"/>
              </a:rPr>
              <a:t> </a:t>
            </a:r>
            <a:r>
              <a:rPr sz="800" spc="-5" dirty="0">
                <a:solidFill>
                  <a:srgbClr val="231F20"/>
                </a:solidFill>
                <a:latin typeface="Arial"/>
                <a:cs typeface="Arial"/>
              </a:rPr>
              <a:t>collection</a:t>
            </a:r>
            <a:endParaRPr sz="800">
              <a:latin typeface="Arial"/>
              <a:cs typeface="Arial"/>
            </a:endParaRPr>
          </a:p>
          <a:p>
            <a:pPr marL="12700">
              <a:lnSpc>
                <a:spcPts val="950"/>
              </a:lnSpc>
            </a:pPr>
            <a:r>
              <a:rPr sz="800" dirty="0">
                <a:solidFill>
                  <a:srgbClr val="231F20"/>
                </a:solidFill>
                <a:latin typeface="Arial"/>
                <a:cs typeface="Arial"/>
              </a:rPr>
              <a:t>of</a:t>
            </a:r>
            <a:r>
              <a:rPr sz="800" spc="-25" dirty="0">
                <a:solidFill>
                  <a:srgbClr val="231F20"/>
                </a:solidFill>
                <a:latin typeface="Arial"/>
                <a:cs typeface="Arial"/>
              </a:rPr>
              <a:t> </a:t>
            </a:r>
            <a:r>
              <a:rPr sz="800" spc="-5" dirty="0">
                <a:solidFill>
                  <a:srgbClr val="231F20"/>
                </a:solidFill>
                <a:latin typeface="Arial"/>
                <a:cs typeface="Arial"/>
              </a:rPr>
              <a:t>checkpoints</a:t>
            </a:r>
            <a:endParaRPr sz="800">
              <a:latin typeface="Arial"/>
              <a:cs typeface="Arial"/>
            </a:endParaRPr>
          </a:p>
        </p:txBody>
      </p:sp>
      <p:sp>
        <p:nvSpPr>
          <p:cNvPr id="39" name="object 39"/>
          <p:cNvSpPr/>
          <p:nvPr/>
        </p:nvSpPr>
        <p:spPr>
          <a:xfrm>
            <a:off x="3126905" y="2573312"/>
            <a:ext cx="139700" cy="309245"/>
          </a:xfrm>
          <a:custGeom>
            <a:avLst/>
            <a:gdLst/>
            <a:ahLst/>
            <a:cxnLst/>
            <a:rect l="l" t="t" r="r" b="b"/>
            <a:pathLst>
              <a:path w="139700" h="309244">
                <a:moveTo>
                  <a:pt x="0" y="309036"/>
                </a:moveTo>
                <a:lnTo>
                  <a:pt x="139700" y="0"/>
                </a:lnTo>
              </a:path>
            </a:pathLst>
          </a:custGeom>
          <a:ln w="6350">
            <a:solidFill>
              <a:srgbClr val="231F20"/>
            </a:solidFill>
          </a:ln>
        </p:spPr>
        <p:txBody>
          <a:bodyPr wrap="square" lIns="0" tIns="0" rIns="0" bIns="0" rtlCol="0"/>
          <a:lstStyle/>
          <a:p>
            <a:endParaRPr/>
          </a:p>
        </p:txBody>
      </p:sp>
      <p:sp>
        <p:nvSpPr>
          <p:cNvPr id="40" name="object 40"/>
          <p:cNvSpPr txBox="1"/>
          <p:nvPr/>
        </p:nvSpPr>
        <p:spPr>
          <a:xfrm>
            <a:off x="1591989" y="2849921"/>
            <a:ext cx="657860" cy="260985"/>
          </a:xfrm>
          <a:prstGeom prst="rect">
            <a:avLst/>
          </a:prstGeom>
        </p:spPr>
        <p:txBody>
          <a:bodyPr vert="horz" wrap="square" lIns="0" tIns="23495" rIns="0" bIns="0" rtlCol="0">
            <a:spAutoFit/>
          </a:bodyPr>
          <a:lstStyle/>
          <a:p>
            <a:pPr marL="12700" marR="5080">
              <a:lnSpc>
                <a:spcPts val="890"/>
              </a:lnSpc>
              <a:spcBef>
                <a:spcPts val="185"/>
              </a:spcBef>
            </a:pPr>
            <a:r>
              <a:rPr sz="800" spc="-5" dirty="0">
                <a:solidFill>
                  <a:srgbClr val="231F20"/>
                </a:solidFill>
                <a:latin typeface="Arial"/>
                <a:cs typeface="Arial"/>
              </a:rPr>
              <a:t>Message sent  </a:t>
            </a:r>
            <a:r>
              <a:rPr sz="800" dirty="0">
                <a:solidFill>
                  <a:srgbClr val="231F20"/>
                </a:solidFill>
                <a:latin typeface="Arial"/>
                <a:cs typeface="Arial"/>
              </a:rPr>
              <a:t>from</a:t>
            </a:r>
            <a:r>
              <a:rPr sz="800" spc="-25" dirty="0">
                <a:solidFill>
                  <a:srgbClr val="231F20"/>
                </a:solidFill>
                <a:latin typeface="Arial"/>
                <a:cs typeface="Arial"/>
              </a:rPr>
              <a:t> </a:t>
            </a:r>
            <a:r>
              <a:rPr sz="800" spc="-5" dirty="0">
                <a:solidFill>
                  <a:srgbClr val="231F20"/>
                </a:solidFill>
                <a:latin typeface="Arial"/>
                <a:cs typeface="Arial"/>
              </a:rPr>
              <a:t>P2</a:t>
            </a:r>
            <a:r>
              <a:rPr sz="800" spc="-25" dirty="0">
                <a:solidFill>
                  <a:srgbClr val="231F20"/>
                </a:solidFill>
                <a:latin typeface="Arial"/>
                <a:cs typeface="Arial"/>
              </a:rPr>
              <a:t> </a:t>
            </a:r>
            <a:r>
              <a:rPr sz="800" dirty="0">
                <a:solidFill>
                  <a:srgbClr val="231F20"/>
                </a:solidFill>
                <a:latin typeface="Arial"/>
                <a:cs typeface="Arial"/>
              </a:rPr>
              <a:t>to</a:t>
            </a:r>
            <a:r>
              <a:rPr sz="800" spc="-20" dirty="0">
                <a:solidFill>
                  <a:srgbClr val="231F20"/>
                </a:solidFill>
                <a:latin typeface="Arial"/>
                <a:cs typeface="Arial"/>
              </a:rPr>
              <a:t> </a:t>
            </a:r>
            <a:r>
              <a:rPr sz="800" spc="-5" dirty="0">
                <a:solidFill>
                  <a:srgbClr val="231F20"/>
                </a:solidFill>
                <a:latin typeface="Arial"/>
                <a:cs typeface="Arial"/>
              </a:rPr>
              <a:t>P1</a:t>
            </a:r>
            <a:endParaRPr sz="800">
              <a:latin typeface="Arial"/>
              <a:cs typeface="Arial"/>
            </a:endParaRPr>
          </a:p>
        </p:txBody>
      </p:sp>
      <p:sp>
        <p:nvSpPr>
          <p:cNvPr id="41" name="object 41"/>
          <p:cNvSpPr/>
          <p:nvPr/>
        </p:nvSpPr>
        <p:spPr>
          <a:xfrm>
            <a:off x="1691817" y="2395512"/>
            <a:ext cx="231775" cy="429895"/>
          </a:xfrm>
          <a:custGeom>
            <a:avLst/>
            <a:gdLst/>
            <a:ahLst/>
            <a:cxnLst/>
            <a:rect l="l" t="t" r="r" b="b"/>
            <a:pathLst>
              <a:path w="231775" h="429894">
                <a:moveTo>
                  <a:pt x="231343" y="429374"/>
                </a:moveTo>
                <a:lnTo>
                  <a:pt x="0" y="0"/>
                </a:lnTo>
              </a:path>
            </a:pathLst>
          </a:custGeom>
          <a:ln w="6350">
            <a:solidFill>
              <a:srgbClr val="231F20"/>
            </a:solidFill>
          </a:ln>
        </p:spPr>
        <p:txBody>
          <a:bodyPr wrap="square" lIns="0" tIns="0" rIns="0" bIns="0" rtlCol="0"/>
          <a:lstStyle/>
          <a:p>
            <a:endParaRPr/>
          </a:p>
        </p:txBody>
      </p:sp>
      <p:sp>
        <p:nvSpPr>
          <p:cNvPr id="42" name="object 4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60</a:t>
            </a:r>
            <a:r>
              <a:rPr spc="-40" dirty="0"/>
              <a:t> </a:t>
            </a:r>
            <a:r>
              <a:rPr spc="-5" dirty="0"/>
              <a:t>/</a:t>
            </a:r>
            <a:r>
              <a:rPr spc="-35" dirty="0"/>
              <a:t> </a:t>
            </a:r>
            <a:r>
              <a:rPr spc="-5" dirty="0"/>
              <a:t>68</a:t>
            </a:r>
          </a:p>
        </p:txBody>
      </p:sp>
    </p:spTree>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226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Coordinated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79320" cy="244475"/>
          </a:xfrm>
          <a:prstGeom prst="rect">
            <a:avLst/>
          </a:prstGeom>
        </p:spPr>
        <p:txBody>
          <a:bodyPr vert="horz" wrap="square" lIns="0" tIns="17145" rIns="0" bIns="0" rtlCol="0">
            <a:spAutoFit/>
          </a:bodyPr>
          <a:lstStyle/>
          <a:p>
            <a:pPr marL="12700">
              <a:lnSpc>
                <a:spcPct val="100000"/>
              </a:lnSpc>
              <a:spcBef>
                <a:spcPts val="135"/>
              </a:spcBef>
            </a:pPr>
            <a:r>
              <a:rPr spc="15" dirty="0"/>
              <a:t>Coordinated</a:t>
            </a:r>
            <a:r>
              <a:rPr spc="-20" dirty="0"/>
              <a:t> </a:t>
            </a:r>
            <a:r>
              <a:rPr spc="10" dirty="0"/>
              <a:t>checkpointing</a:t>
            </a:r>
          </a:p>
        </p:txBody>
      </p:sp>
      <p:sp>
        <p:nvSpPr>
          <p:cNvPr id="4" name="object 4"/>
          <p:cNvSpPr txBox="1"/>
          <p:nvPr/>
        </p:nvSpPr>
        <p:spPr>
          <a:xfrm>
            <a:off x="347294" y="528609"/>
            <a:ext cx="3832225" cy="800100"/>
          </a:xfrm>
          <a:prstGeom prst="rect">
            <a:avLst/>
          </a:prstGeom>
        </p:spPr>
        <p:txBody>
          <a:bodyPr vert="horz" wrap="square" lIns="0" tIns="12065" rIns="0" bIns="0" rtlCol="0">
            <a:spAutoFit/>
          </a:bodyPr>
          <a:lstStyle/>
          <a:p>
            <a:pPr marL="12700">
              <a:lnSpc>
                <a:spcPts val="1420"/>
              </a:lnSpc>
              <a:spcBef>
                <a:spcPts val="95"/>
              </a:spcBef>
            </a:pPr>
            <a:r>
              <a:rPr sz="1200" spc="-5" dirty="0">
                <a:solidFill>
                  <a:srgbClr val="3333B2"/>
                </a:solidFill>
                <a:latin typeface="Arial"/>
                <a:cs typeface="Arial"/>
              </a:rPr>
              <a:t>Essence</a:t>
            </a:r>
            <a:endParaRPr sz="1200">
              <a:latin typeface="Arial"/>
              <a:cs typeface="Arial"/>
            </a:endParaRPr>
          </a:p>
          <a:p>
            <a:pPr marL="12700">
              <a:lnSpc>
                <a:spcPts val="1180"/>
              </a:lnSpc>
            </a:pPr>
            <a:r>
              <a:rPr sz="1000" spc="-5" dirty="0">
                <a:latin typeface="Arial"/>
                <a:cs typeface="Arial"/>
              </a:rPr>
              <a:t>Each</a:t>
            </a:r>
            <a:r>
              <a:rPr sz="1000" dirty="0">
                <a:latin typeface="Arial"/>
                <a:cs typeface="Arial"/>
              </a:rPr>
              <a:t> </a:t>
            </a:r>
            <a:r>
              <a:rPr sz="1000" spc="-5" dirty="0">
                <a:latin typeface="Arial"/>
                <a:cs typeface="Arial"/>
              </a:rPr>
              <a:t>process</a:t>
            </a:r>
            <a:r>
              <a:rPr sz="1000" spc="5" dirty="0">
                <a:latin typeface="Arial"/>
                <a:cs typeface="Arial"/>
              </a:rPr>
              <a:t> </a:t>
            </a:r>
            <a:r>
              <a:rPr sz="1000" spc="-10" dirty="0">
                <a:latin typeface="Arial"/>
                <a:cs typeface="Arial"/>
              </a:rPr>
              <a:t>takes</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checkpoint</a:t>
            </a:r>
            <a:r>
              <a:rPr sz="1000" dirty="0">
                <a:latin typeface="Arial"/>
                <a:cs typeface="Arial"/>
              </a:rPr>
              <a:t> </a:t>
            </a:r>
            <a:r>
              <a:rPr sz="1000" spc="-5" dirty="0">
                <a:latin typeface="Arial"/>
                <a:cs typeface="Arial"/>
              </a:rPr>
              <a:t>after</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globally</a:t>
            </a:r>
            <a:r>
              <a:rPr sz="1000" spc="5" dirty="0">
                <a:latin typeface="Arial"/>
                <a:cs typeface="Arial"/>
              </a:rPr>
              <a:t> </a:t>
            </a:r>
            <a:r>
              <a:rPr sz="1000" spc="-5" dirty="0">
                <a:latin typeface="Arial"/>
                <a:cs typeface="Arial"/>
              </a:rPr>
              <a:t>coordinated</a:t>
            </a:r>
            <a:r>
              <a:rPr sz="1000" dirty="0">
                <a:latin typeface="Arial"/>
                <a:cs typeface="Arial"/>
              </a:rPr>
              <a:t> </a:t>
            </a:r>
            <a:r>
              <a:rPr sz="1000" spc="-5" dirty="0">
                <a:latin typeface="Arial"/>
                <a:cs typeface="Arial"/>
              </a:rPr>
              <a:t>action.</a:t>
            </a:r>
            <a:endParaRPr sz="1000">
              <a:latin typeface="Arial"/>
              <a:cs typeface="Arial"/>
            </a:endParaRPr>
          </a:p>
          <a:p>
            <a:pPr marL="12700">
              <a:lnSpc>
                <a:spcPct val="100000"/>
              </a:lnSpc>
              <a:spcBef>
                <a:spcPts val="690"/>
              </a:spcBef>
            </a:pPr>
            <a:r>
              <a:rPr sz="1200" spc="-5" dirty="0">
                <a:solidFill>
                  <a:srgbClr val="3333B2"/>
                </a:solidFill>
                <a:latin typeface="Arial"/>
                <a:cs typeface="Arial"/>
              </a:rPr>
              <a:t>Simple</a:t>
            </a:r>
            <a:r>
              <a:rPr sz="1200" spc="-35"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12700">
              <a:lnSpc>
                <a:spcPct val="100000"/>
              </a:lnSpc>
              <a:spcBef>
                <a:spcPts val="175"/>
              </a:spcBef>
            </a:pPr>
            <a:r>
              <a:rPr sz="1000" spc="-5" dirty="0">
                <a:latin typeface="Arial"/>
                <a:cs typeface="Arial"/>
              </a:rPr>
              <a:t>Use</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two-phase </a:t>
            </a:r>
            <a:r>
              <a:rPr sz="1000" spc="-10" dirty="0">
                <a:latin typeface="Arial"/>
                <a:cs typeface="Arial"/>
              </a:rPr>
              <a:t>blocking </a:t>
            </a:r>
            <a:r>
              <a:rPr sz="1000" spc="-5" dirty="0">
                <a:latin typeface="Arial"/>
                <a:cs typeface="Arial"/>
              </a:rPr>
              <a:t>protocol:</a:t>
            </a:r>
            <a:endParaRPr sz="1000">
              <a:latin typeface="Arial"/>
              <a:cs typeface="Arial"/>
            </a:endParaRPr>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226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Coordinated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79320" cy="244475"/>
          </a:xfrm>
          <a:prstGeom prst="rect">
            <a:avLst/>
          </a:prstGeom>
        </p:spPr>
        <p:txBody>
          <a:bodyPr vert="horz" wrap="square" lIns="0" tIns="17145" rIns="0" bIns="0" rtlCol="0">
            <a:spAutoFit/>
          </a:bodyPr>
          <a:lstStyle/>
          <a:p>
            <a:pPr marL="12700">
              <a:lnSpc>
                <a:spcPct val="100000"/>
              </a:lnSpc>
              <a:spcBef>
                <a:spcPts val="135"/>
              </a:spcBef>
            </a:pPr>
            <a:r>
              <a:rPr spc="15" dirty="0"/>
              <a:t>Coordinated</a:t>
            </a:r>
            <a:r>
              <a:rPr spc="-20" dirty="0"/>
              <a:t> </a:t>
            </a:r>
            <a:r>
              <a:rPr spc="10" dirty="0"/>
              <a:t>checkpointing</a:t>
            </a:r>
          </a:p>
        </p:txBody>
      </p:sp>
      <p:sp>
        <p:nvSpPr>
          <p:cNvPr id="4" name="object 4"/>
          <p:cNvSpPr txBox="1"/>
          <p:nvPr/>
        </p:nvSpPr>
        <p:spPr>
          <a:xfrm>
            <a:off x="334594" y="528609"/>
            <a:ext cx="3857625" cy="1027430"/>
          </a:xfrm>
          <a:prstGeom prst="rect">
            <a:avLst/>
          </a:prstGeom>
        </p:spPr>
        <p:txBody>
          <a:bodyPr vert="horz" wrap="square" lIns="0" tIns="12065" rIns="0" bIns="0" rtlCol="0">
            <a:spAutoFit/>
          </a:bodyPr>
          <a:lstStyle/>
          <a:p>
            <a:pPr marL="25400">
              <a:lnSpc>
                <a:spcPts val="1420"/>
              </a:lnSpc>
              <a:spcBef>
                <a:spcPts val="95"/>
              </a:spcBef>
            </a:pPr>
            <a:r>
              <a:rPr sz="1200" spc="-5" dirty="0">
                <a:solidFill>
                  <a:srgbClr val="3333B2"/>
                </a:solidFill>
                <a:latin typeface="Arial"/>
                <a:cs typeface="Arial"/>
              </a:rPr>
              <a:t>Essence</a:t>
            </a:r>
            <a:endParaRPr sz="1200">
              <a:latin typeface="Arial"/>
              <a:cs typeface="Arial"/>
            </a:endParaRPr>
          </a:p>
          <a:p>
            <a:pPr marL="25400">
              <a:lnSpc>
                <a:spcPts val="1180"/>
              </a:lnSpc>
            </a:pPr>
            <a:r>
              <a:rPr sz="1000" spc="-5" dirty="0">
                <a:latin typeface="Arial"/>
                <a:cs typeface="Arial"/>
              </a:rPr>
              <a:t>Each</a:t>
            </a:r>
            <a:r>
              <a:rPr sz="1000" dirty="0">
                <a:latin typeface="Arial"/>
                <a:cs typeface="Arial"/>
              </a:rPr>
              <a:t> </a:t>
            </a:r>
            <a:r>
              <a:rPr sz="1000" spc="-5" dirty="0">
                <a:latin typeface="Arial"/>
                <a:cs typeface="Arial"/>
              </a:rPr>
              <a:t>process</a:t>
            </a:r>
            <a:r>
              <a:rPr sz="1000" dirty="0">
                <a:latin typeface="Arial"/>
                <a:cs typeface="Arial"/>
              </a:rPr>
              <a:t> </a:t>
            </a:r>
            <a:r>
              <a:rPr sz="1000" spc="-10" dirty="0">
                <a:latin typeface="Arial"/>
                <a:cs typeface="Arial"/>
              </a:rPr>
              <a:t>takes</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checkpoint</a:t>
            </a:r>
            <a:r>
              <a:rPr sz="1000" spc="5" dirty="0">
                <a:latin typeface="Arial"/>
                <a:cs typeface="Arial"/>
              </a:rPr>
              <a:t> </a:t>
            </a:r>
            <a:r>
              <a:rPr sz="1000" spc="-5" dirty="0">
                <a:latin typeface="Arial"/>
                <a:cs typeface="Arial"/>
              </a:rPr>
              <a:t>after</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globally</a:t>
            </a:r>
            <a:r>
              <a:rPr sz="1000" dirty="0">
                <a:latin typeface="Arial"/>
                <a:cs typeface="Arial"/>
              </a:rPr>
              <a:t> </a:t>
            </a:r>
            <a:r>
              <a:rPr sz="1000" spc="-5" dirty="0">
                <a:latin typeface="Arial"/>
                <a:cs typeface="Arial"/>
              </a:rPr>
              <a:t>coordinated</a:t>
            </a:r>
            <a:r>
              <a:rPr sz="1000" spc="5" dirty="0">
                <a:latin typeface="Arial"/>
                <a:cs typeface="Arial"/>
              </a:rPr>
              <a:t> </a:t>
            </a:r>
            <a:r>
              <a:rPr sz="1000" spc="-5" dirty="0">
                <a:latin typeface="Arial"/>
                <a:cs typeface="Arial"/>
              </a:rPr>
              <a:t>action.</a:t>
            </a:r>
            <a:endParaRPr sz="1000">
              <a:latin typeface="Arial"/>
              <a:cs typeface="Arial"/>
            </a:endParaRPr>
          </a:p>
          <a:p>
            <a:pPr marL="25400">
              <a:lnSpc>
                <a:spcPct val="100000"/>
              </a:lnSpc>
              <a:spcBef>
                <a:spcPts val="690"/>
              </a:spcBef>
            </a:pPr>
            <a:r>
              <a:rPr sz="1200" spc="-5" dirty="0">
                <a:solidFill>
                  <a:srgbClr val="3333B2"/>
                </a:solidFill>
                <a:latin typeface="Arial"/>
                <a:cs typeface="Arial"/>
              </a:rPr>
              <a:t>Simple</a:t>
            </a:r>
            <a:r>
              <a:rPr sz="1200" spc="-35"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25400">
              <a:lnSpc>
                <a:spcPct val="100000"/>
              </a:lnSpc>
              <a:spcBef>
                <a:spcPts val="175"/>
              </a:spcBef>
            </a:pPr>
            <a:r>
              <a:rPr sz="1000" spc="-5" dirty="0">
                <a:latin typeface="Arial"/>
                <a:cs typeface="Arial"/>
              </a:rPr>
              <a:t>Use</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two-phase </a:t>
            </a:r>
            <a:r>
              <a:rPr sz="1000" spc="-10" dirty="0">
                <a:latin typeface="Arial"/>
                <a:cs typeface="Arial"/>
              </a:rPr>
              <a:t>blocking </a:t>
            </a:r>
            <a:r>
              <a:rPr sz="1000" spc="-5" dirty="0">
                <a:latin typeface="Arial"/>
                <a:cs typeface="Arial"/>
              </a:rPr>
              <a:t>protocol:</a:t>
            </a:r>
            <a:endParaRPr sz="1000">
              <a:latin typeface="Arial"/>
              <a:cs typeface="Arial"/>
            </a:endParaRPr>
          </a:p>
          <a:p>
            <a:pPr marL="302260" indent="-168275">
              <a:lnSpc>
                <a:spcPct val="100000"/>
              </a:lnSpc>
              <a:spcBef>
                <a:spcPts val="595"/>
              </a:spcBef>
              <a:buClr>
                <a:srgbClr val="3333B2"/>
              </a:buClr>
              <a:buChar char="►"/>
              <a:tabLst>
                <a:tab pos="302895" algn="l"/>
              </a:tabLst>
            </a:pPr>
            <a:r>
              <a:rPr sz="1000" spc="-5" dirty="0">
                <a:latin typeface="Arial"/>
                <a:cs typeface="Arial"/>
              </a:rPr>
              <a:t>A coordinator multicasts</a:t>
            </a:r>
            <a:r>
              <a:rPr sz="1000" dirty="0">
                <a:latin typeface="Arial"/>
                <a:cs typeface="Arial"/>
              </a:rPr>
              <a:t> </a:t>
            </a:r>
            <a:r>
              <a:rPr sz="1000" spc="-5" dirty="0">
                <a:latin typeface="Arial"/>
                <a:cs typeface="Arial"/>
              </a:rPr>
              <a:t>a </a:t>
            </a:r>
            <a:r>
              <a:rPr sz="1000" spc="-5" dirty="0">
                <a:solidFill>
                  <a:srgbClr val="0000FA"/>
                </a:solidFill>
                <a:latin typeface="Arial"/>
                <a:cs typeface="Arial"/>
              </a:rPr>
              <a:t>checkpoint</a:t>
            </a:r>
            <a:r>
              <a:rPr sz="1000" dirty="0">
                <a:solidFill>
                  <a:srgbClr val="0000FA"/>
                </a:solidFill>
                <a:latin typeface="Arial"/>
                <a:cs typeface="Arial"/>
              </a:rPr>
              <a:t> </a:t>
            </a:r>
            <a:r>
              <a:rPr sz="1000" spc="-5" dirty="0">
                <a:solidFill>
                  <a:srgbClr val="0000FA"/>
                </a:solidFill>
                <a:latin typeface="Arial"/>
                <a:cs typeface="Arial"/>
              </a:rPr>
              <a:t>request </a:t>
            </a:r>
            <a:r>
              <a:rPr sz="1000" spc="-5" dirty="0">
                <a:latin typeface="Arial"/>
                <a:cs typeface="Arial"/>
              </a:rPr>
              <a:t>message</a:t>
            </a:r>
            <a:endParaRPr sz="1000">
              <a:latin typeface="Arial"/>
              <a:cs typeface="Arial"/>
            </a:endParaRPr>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226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Coordinated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79320" cy="244475"/>
          </a:xfrm>
          <a:prstGeom prst="rect">
            <a:avLst/>
          </a:prstGeom>
        </p:spPr>
        <p:txBody>
          <a:bodyPr vert="horz" wrap="square" lIns="0" tIns="17145" rIns="0" bIns="0" rtlCol="0">
            <a:spAutoFit/>
          </a:bodyPr>
          <a:lstStyle/>
          <a:p>
            <a:pPr marL="12700">
              <a:lnSpc>
                <a:spcPct val="100000"/>
              </a:lnSpc>
              <a:spcBef>
                <a:spcPts val="135"/>
              </a:spcBef>
            </a:pPr>
            <a:r>
              <a:rPr spc="15" dirty="0"/>
              <a:t>Coordinated</a:t>
            </a:r>
            <a:r>
              <a:rPr spc="-20" dirty="0"/>
              <a:t> </a:t>
            </a:r>
            <a:r>
              <a:rPr spc="10" dirty="0"/>
              <a:t>checkpointing</a:t>
            </a:r>
          </a:p>
        </p:txBody>
      </p:sp>
      <p:sp>
        <p:nvSpPr>
          <p:cNvPr id="4" name="object 4"/>
          <p:cNvSpPr txBox="1"/>
          <p:nvPr/>
        </p:nvSpPr>
        <p:spPr>
          <a:xfrm>
            <a:off x="334594" y="528609"/>
            <a:ext cx="3857625" cy="1483360"/>
          </a:xfrm>
          <a:prstGeom prst="rect">
            <a:avLst/>
          </a:prstGeom>
        </p:spPr>
        <p:txBody>
          <a:bodyPr vert="horz" wrap="square" lIns="0" tIns="12065" rIns="0" bIns="0" rtlCol="0">
            <a:spAutoFit/>
          </a:bodyPr>
          <a:lstStyle/>
          <a:p>
            <a:pPr marL="25400">
              <a:lnSpc>
                <a:spcPts val="1420"/>
              </a:lnSpc>
              <a:spcBef>
                <a:spcPts val="95"/>
              </a:spcBef>
            </a:pPr>
            <a:r>
              <a:rPr sz="1200" spc="-5" dirty="0">
                <a:solidFill>
                  <a:srgbClr val="3333B2"/>
                </a:solidFill>
                <a:latin typeface="Arial"/>
                <a:cs typeface="Arial"/>
              </a:rPr>
              <a:t>Essence</a:t>
            </a:r>
            <a:endParaRPr sz="1200">
              <a:latin typeface="Arial"/>
              <a:cs typeface="Arial"/>
            </a:endParaRPr>
          </a:p>
          <a:p>
            <a:pPr marL="25400">
              <a:lnSpc>
                <a:spcPts val="1180"/>
              </a:lnSpc>
            </a:pPr>
            <a:r>
              <a:rPr sz="1000" spc="-5" dirty="0">
                <a:latin typeface="Arial"/>
                <a:cs typeface="Arial"/>
              </a:rPr>
              <a:t>Each</a:t>
            </a:r>
            <a:r>
              <a:rPr sz="1000" dirty="0">
                <a:latin typeface="Arial"/>
                <a:cs typeface="Arial"/>
              </a:rPr>
              <a:t> </a:t>
            </a:r>
            <a:r>
              <a:rPr sz="1000" spc="-5" dirty="0">
                <a:latin typeface="Arial"/>
                <a:cs typeface="Arial"/>
              </a:rPr>
              <a:t>process</a:t>
            </a:r>
            <a:r>
              <a:rPr sz="1000" dirty="0">
                <a:latin typeface="Arial"/>
                <a:cs typeface="Arial"/>
              </a:rPr>
              <a:t> </a:t>
            </a:r>
            <a:r>
              <a:rPr sz="1000" spc="-10" dirty="0">
                <a:latin typeface="Arial"/>
                <a:cs typeface="Arial"/>
              </a:rPr>
              <a:t>takes</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checkpoint</a:t>
            </a:r>
            <a:r>
              <a:rPr sz="1000" spc="5" dirty="0">
                <a:latin typeface="Arial"/>
                <a:cs typeface="Arial"/>
              </a:rPr>
              <a:t> </a:t>
            </a:r>
            <a:r>
              <a:rPr sz="1000" spc="-5" dirty="0">
                <a:latin typeface="Arial"/>
                <a:cs typeface="Arial"/>
              </a:rPr>
              <a:t>after</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globally</a:t>
            </a:r>
            <a:r>
              <a:rPr sz="1000" dirty="0">
                <a:latin typeface="Arial"/>
                <a:cs typeface="Arial"/>
              </a:rPr>
              <a:t> </a:t>
            </a:r>
            <a:r>
              <a:rPr sz="1000" spc="-5" dirty="0">
                <a:latin typeface="Arial"/>
                <a:cs typeface="Arial"/>
              </a:rPr>
              <a:t>coordinated</a:t>
            </a:r>
            <a:r>
              <a:rPr sz="1000" spc="5" dirty="0">
                <a:latin typeface="Arial"/>
                <a:cs typeface="Arial"/>
              </a:rPr>
              <a:t> </a:t>
            </a:r>
            <a:r>
              <a:rPr sz="1000" spc="-5" dirty="0">
                <a:latin typeface="Arial"/>
                <a:cs typeface="Arial"/>
              </a:rPr>
              <a:t>action.</a:t>
            </a:r>
            <a:endParaRPr sz="1000">
              <a:latin typeface="Arial"/>
              <a:cs typeface="Arial"/>
            </a:endParaRPr>
          </a:p>
          <a:p>
            <a:pPr marL="25400">
              <a:lnSpc>
                <a:spcPct val="100000"/>
              </a:lnSpc>
              <a:spcBef>
                <a:spcPts val="690"/>
              </a:spcBef>
            </a:pPr>
            <a:r>
              <a:rPr sz="1200" spc="-5" dirty="0">
                <a:solidFill>
                  <a:srgbClr val="3333B2"/>
                </a:solidFill>
                <a:latin typeface="Arial"/>
                <a:cs typeface="Arial"/>
              </a:rPr>
              <a:t>Simple</a:t>
            </a:r>
            <a:r>
              <a:rPr sz="1200" spc="-35"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25400">
              <a:lnSpc>
                <a:spcPct val="100000"/>
              </a:lnSpc>
              <a:spcBef>
                <a:spcPts val="175"/>
              </a:spcBef>
            </a:pPr>
            <a:r>
              <a:rPr sz="1000" spc="-5" dirty="0">
                <a:latin typeface="Arial"/>
                <a:cs typeface="Arial"/>
              </a:rPr>
              <a:t>Use</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two-phase </a:t>
            </a:r>
            <a:r>
              <a:rPr sz="1000" spc="-10" dirty="0">
                <a:latin typeface="Arial"/>
                <a:cs typeface="Arial"/>
              </a:rPr>
              <a:t>blocking </a:t>
            </a:r>
            <a:r>
              <a:rPr sz="1000" spc="-5" dirty="0">
                <a:latin typeface="Arial"/>
                <a:cs typeface="Arial"/>
              </a:rPr>
              <a:t>protocol:</a:t>
            </a:r>
            <a:endParaRPr sz="1000">
              <a:latin typeface="Arial"/>
              <a:cs typeface="Arial"/>
            </a:endParaRPr>
          </a:p>
          <a:p>
            <a:pPr marL="302260" indent="-168275">
              <a:lnSpc>
                <a:spcPts val="1200"/>
              </a:lnSpc>
              <a:spcBef>
                <a:spcPts val="595"/>
              </a:spcBef>
              <a:buClr>
                <a:srgbClr val="3333B2"/>
              </a:buClr>
              <a:buChar char="►"/>
              <a:tabLst>
                <a:tab pos="302895" algn="l"/>
              </a:tabLst>
            </a:pPr>
            <a:r>
              <a:rPr sz="1000" spc="-5" dirty="0">
                <a:latin typeface="Arial"/>
                <a:cs typeface="Arial"/>
              </a:rPr>
              <a:t>A coordinator multicasts</a:t>
            </a:r>
            <a:r>
              <a:rPr sz="1000" dirty="0">
                <a:latin typeface="Arial"/>
                <a:cs typeface="Arial"/>
              </a:rPr>
              <a:t> </a:t>
            </a:r>
            <a:r>
              <a:rPr sz="1000" spc="-5" dirty="0">
                <a:latin typeface="Arial"/>
                <a:cs typeface="Arial"/>
              </a:rPr>
              <a:t>a </a:t>
            </a:r>
            <a:r>
              <a:rPr sz="1000" spc="-5" dirty="0">
                <a:solidFill>
                  <a:srgbClr val="0000FA"/>
                </a:solidFill>
                <a:latin typeface="Arial"/>
                <a:cs typeface="Arial"/>
              </a:rPr>
              <a:t>checkpoint</a:t>
            </a:r>
            <a:r>
              <a:rPr sz="1000" dirty="0">
                <a:solidFill>
                  <a:srgbClr val="0000FA"/>
                </a:solidFill>
                <a:latin typeface="Arial"/>
                <a:cs typeface="Arial"/>
              </a:rPr>
              <a:t> </a:t>
            </a:r>
            <a:r>
              <a:rPr sz="1000" spc="-5" dirty="0">
                <a:solidFill>
                  <a:srgbClr val="0000FA"/>
                </a:solidFill>
                <a:latin typeface="Arial"/>
                <a:cs typeface="Arial"/>
              </a:rPr>
              <a:t>request </a:t>
            </a:r>
            <a:r>
              <a:rPr sz="1000" spc="-5" dirty="0">
                <a:latin typeface="Arial"/>
                <a:cs typeface="Arial"/>
              </a:rPr>
              <a:t>message</a:t>
            </a:r>
            <a:endParaRPr sz="1000">
              <a:latin typeface="Arial"/>
              <a:cs typeface="Arial"/>
            </a:endParaRPr>
          </a:p>
          <a:p>
            <a:pPr marL="302260" marR="44450" indent="-168275">
              <a:lnSpc>
                <a:spcPts val="1200"/>
              </a:lnSpc>
              <a:spcBef>
                <a:spcPts val="35"/>
              </a:spcBef>
              <a:buClr>
                <a:srgbClr val="3333B2"/>
              </a:buClr>
              <a:buChar char="►"/>
              <a:tabLst>
                <a:tab pos="302895" algn="l"/>
              </a:tabLst>
            </a:pPr>
            <a:r>
              <a:rPr sz="1000" spc="-5" dirty="0">
                <a:latin typeface="Arial"/>
                <a:cs typeface="Arial"/>
              </a:rPr>
              <a:t>When a </a:t>
            </a:r>
            <a:r>
              <a:rPr sz="1000" dirty="0">
                <a:latin typeface="Arial"/>
                <a:cs typeface="Arial"/>
              </a:rPr>
              <a:t>participant </a:t>
            </a:r>
            <a:r>
              <a:rPr sz="1000" spc="-5" dirty="0">
                <a:latin typeface="Arial"/>
                <a:cs typeface="Arial"/>
              </a:rPr>
              <a:t>receives such a message, it </a:t>
            </a:r>
            <a:r>
              <a:rPr sz="1000" spc="-10" dirty="0">
                <a:latin typeface="Arial"/>
                <a:cs typeface="Arial"/>
              </a:rPr>
              <a:t>takes </a:t>
            </a:r>
            <a:r>
              <a:rPr sz="1000" spc="-5" dirty="0">
                <a:latin typeface="Arial"/>
                <a:cs typeface="Arial"/>
              </a:rPr>
              <a:t>a </a:t>
            </a:r>
            <a:r>
              <a:rPr sz="1000" dirty="0">
                <a:latin typeface="Arial"/>
                <a:cs typeface="Arial"/>
              </a:rPr>
              <a:t> </a:t>
            </a:r>
            <a:r>
              <a:rPr sz="1000" spc="-5" dirty="0">
                <a:latin typeface="Arial"/>
                <a:cs typeface="Arial"/>
              </a:rPr>
              <a:t>checkpoint,</a:t>
            </a:r>
            <a:r>
              <a:rPr sz="1000" dirty="0">
                <a:latin typeface="Arial"/>
                <a:cs typeface="Arial"/>
              </a:rPr>
              <a:t> </a:t>
            </a:r>
            <a:r>
              <a:rPr sz="1000" spc="-5" dirty="0">
                <a:latin typeface="Arial"/>
                <a:cs typeface="Arial"/>
              </a:rPr>
              <a:t>stops</a:t>
            </a:r>
            <a:r>
              <a:rPr sz="1000" dirty="0">
                <a:latin typeface="Arial"/>
                <a:cs typeface="Arial"/>
              </a:rPr>
              <a:t> </a:t>
            </a:r>
            <a:r>
              <a:rPr sz="1000" spc="-5" dirty="0">
                <a:latin typeface="Arial"/>
                <a:cs typeface="Arial"/>
              </a:rPr>
              <a:t>sending</a:t>
            </a:r>
            <a:r>
              <a:rPr sz="1000" dirty="0">
                <a:latin typeface="Arial"/>
                <a:cs typeface="Arial"/>
              </a:rPr>
              <a:t> </a:t>
            </a:r>
            <a:r>
              <a:rPr sz="1000" spc="-5" dirty="0">
                <a:latin typeface="Arial"/>
                <a:cs typeface="Arial"/>
              </a:rPr>
              <a:t>(application)</a:t>
            </a:r>
            <a:r>
              <a:rPr sz="1000" spc="5"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and</a:t>
            </a:r>
            <a:r>
              <a:rPr sz="1000" dirty="0">
                <a:latin typeface="Arial"/>
                <a:cs typeface="Arial"/>
              </a:rPr>
              <a:t> reports </a:t>
            </a:r>
            <a:r>
              <a:rPr sz="1000" spc="-265" dirty="0">
                <a:latin typeface="Arial"/>
                <a:cs typeface="Arial"/>
              </a:rPr>
              <a:t> </a:t>
            </a:r>
            <a:r>
              <a:rPr sz="1000" spc="-10" dirty="0">
                <a:latin typeface="Arial"/>
                <a:cs typeface="Arial"/>
              </a:rPr>
              <a:t>back </a:t>
            </a:r>
            <a:r>
              <a:rPr sz="1000" spc="-5" dirty="0">
                <a:latin typeface="Arial"/>
                <a:cs typeface="Arial"/>
              </a:rPr>
              <a:t>that it has </a:t>
            </a:r>
            <a:r>
              <a:rPr sz="1000" spc="-10" dirty="0">
                <a:latin typeface="Arial"/>
                <a:cs typeface="Arial"/>
              </a:rPr>
              <a:t>taken</a:t>
            </a:r>
            <a:r>
              <a:rPr sz="1000" spc="-5" dirty="0">
                <a:latin typeface="Arial"/>
                <a:cs typeface="Arial"/>
              </a:rPr>
              <a:t> a checkpoint</a:t>
            </a:r>
            <a:endParaRPr sz="1000">
              <a:latin typeface="Arial"/>
              <a:cs typeface="Arial"/>
            </a:endParaRPr>
          </a:p>
        </p:txBody>
      </p:sp>
    </p:spTree>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226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Coordinated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79320" cy="244475"/>
          </a:xfrm>
          <a:prstGeom prst="rect">
            <a:avLst/>
          </a:prstGeom>
        </p:spPr>
        <p:txBody>
          <a:bodyPr vert="horz" wrap="square" lIns="0" tIns="17145" rIns="0" bIns="0" rtlCol="0">
            <a:spAutoFit/>
          </a:bodyPr>
          <a:lstStyle/>
          <a:p>
            <a:pPr marL="12700">
              <a:lnSpc>
                <a:spcPct val="100000"/>
              </a:lnSpc>
              <a:spcBef>
                <a:spcPts val="135"/>
              </a:spcBef>
            </a:pPr>
            <a:r>
              <a:rPr spc="15" dirty="0"/>
              <a:t>Coordinated</a:t>
            </a:r>
            <a:r>
              <a:rPr spc="-20" dirty="0"/>
              <a:t> </a:t>
            </a:r>
            <a:r>
              <a:rPr spc="10" dirty="0"/>
              <a:t>checkpointing</a:t>
            </a:r>
          </a:p>
        </p:txBody>
      </p:sp>
      <p:sp>
        <p:nvSpPr>
          <p:cNvPr id="4" name="object 4"/>
          <p:cNvSpPr txBox="1"/>
          <p:nvPr/>
        </p:nvSpPr>
        <p:spPr>
          <a:xfrm>
            <a:off x="334594" y="528609"/>
            <a:ext cx="3937635" cy="1938655"/>
          </a:xfrm>
          <a:prstGeom prst="rect">
            <a:avLst/>
          </a:prstGeom>
        </p:spPr>
        <p:txBody>
          <a:bodyPr vert="horz" wrap="square" lIns="0" tIns="12065" rIns="0" bIns="0" rtlCol="0">
            <a:spAutoFit/>
          </a:bodyPr>
          <a:lstStyle/>
          <a:p>
            <a:pPr marL="25400">
              <a:lnSpc>
                <a:spcPts val="1420"/>
              </a:lnSpc>
              <a:spcBef>
                <a:spcPts val="95"/>
              </a:spcBef>
            </a:pPr>
            <a:r>
              <a:rPr sz="1200" spc="-5" dirty="0">
                <a:solidFill>
                  <a:srgbClr val="3333B2"/>
                </a:solidFill>
                <a:latin typeface="Arial"/>
                <a:cs typeface="Arial"/>
              </a:rPr>
              <a:t>Essence</a:t>
            </a:r>
            <a:endParaRPr sz="1200">
              <a:latin typeface="Arial"/>
              <a:cs typeface="Arial"/>
            </a:endParaRPr>
          </a:p>
          <a:p>
            <a:pPr marL="25400">
              <a:lnSpc>
                <a:spcPts val="1180"/>
              </a:lnSpc>
            </a:pPr>
            <a:r>
              <a:rPr sz="1000" spc="-5" dirty="0">
                <a:latin typeface="Arial"/>
                <a:cs typeface="Arial"/>
              </a:rPr>
              <a:t>Each</a:t>
            </a:r>
            <a:r>
              <a:rPr sz="1000" dirty="0">
                <a:latin typeface="Arial"/>
                <a:cs typeface="Arial"/>
              </a:rPr>
              <a:t> </a:t>
            </a:r>
            <a:r>
              <a:rPr sz="1000" spc="-5" dirty="0">
                <a:latin typeface="Arial"/>
                <a:cs typeface="Arial"/>
              </a:rPr>
              <a:t>process</a:t>
            </a:r>
            <a:r>
              <a:rPr sz="1000" dirty="0">
                <a:latin typeface="Arial"/>
                <a:cs typeface="Arial"/>
              </a:rPr>
              <a:t> </a:t>
            </a:r>
            <a:r>
              <a:rPr sz="1000" spc="-10" dirty="0">
                <a:latin typeface="Arial"/>
                <a:cs typeface="Arial"/>
              </a:rPr>
              <a:t>takes</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checkpoint</a:t>
            </a:r>
            <a:r>
              <a:rPr sz="1000" spc="5" dirty="0">
                <a:latin typeface="Arial"/>
                <a:cs typeface="Arial"/>
              </a:rPr>
              <a:t> </a:t>
            </a:r>
            <a:r>
              <a:rPr sz="1000" spc="-5" dirty="0">
                <a:latin typeface="Arial"/>
                <a:cs typeface="Arial"/>
              </a:rPr>
              <a:t>after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globally</a:t>
            </a:r>
            <a:r>
              <a:rPr sz="1000" spc="5" dirty="0">
                <a:latin typeface="Arial"/>
                <a:cs typeface="Arial"/>
              </a:rPr>
              <a:t> </a:t>
            </a:r>
            <a:r>
              <a:rPr sz="1000" spc="-5" dirty="0">
                <a:latin typeface="Arial"/>
                <a:cs typeface="Arial"/>
              </a:rPr>
              <a:t>coordinated</a:t>
            </a:r>
            <a:r>
              <a:rPr sz="1000" dirty="0">
                <a:latin typeface="Arial"/>
                <a:cs typeface="Arial"/>
              </a:rPr>
              <a:t> </a:t>
            </a:r>
            <a:r>
              <a:rPr sz="1000" spc="-5" dirty="0">
                <a:latin typeface="Arial"/>
                <a:cs typeface="Arial"/>
              </a:rPr>
              <a:t>action.</a:t>
            </a:r>
            <a:endParaRPr sz="1000">
              <a:latin typeface="Arial"/>
              <a:cs typeface="Arial"/>
            </a:endParaRPr>
          </a:p>
          <a:p>
            <a:pPr marL="25400">
              <a:lnSpc>
                <a:spcPct val="100000"/>
              </a:lnSpc>
              <a:spcBef>
                <a:spcPts val="690"/>
              </a:spcBef>
            </a:pPr>
            <a:r>
              <a:rPr sz="1200" spc="-5" dirty="0">
                <a:solidFill>
                  <a:srgbClr val="3333B2"/>
                </a:solidFill>
                <a:latin typeface="Arial"/>
                <a:cs typeface="Arial"/>
              </a:rPr>
              <a:t>Simple</a:t>
            </a:r>
            <a:r>
              <a:rPr sz="1200" spc="-35"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25400">
              <a:lnSpc>
                <a:spcPct val="100000"/>
              </a:lnSpc>
              <a:spcBef>
                <a:spcPts val="175"/>
              </a:spcBef>
            </a:pPr>
            <a:r>
              <a:rPr sz="1000" spc="-5" dirty="0">
                <a:latin typeface="Arial"/>
                <a:cs typeface="Arial"/>
              </a:rPr>
              <a:t>Use</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two-phase </a:t>
            </a:r>
            <a:r>
              <a:rPr sz="1000" spc="-10" dirty="0">
                <a:latin typeface="Arial"/>
                <a:cs typeface="Arial"/>
              </a:rPr>
              <a:t>blocking </a:t>
            </a:r>
            <a:r>
              <a:rPr sz="1000" spc="-5" dirty="0">
                <a:latin typeface="Arial"/>
                <a:cs typeface="Arial"/>
              </a:rPr>
              <a:t>protocol:</a:t>
            </a:r>
            <a:endParaRPr sz="1000">
              <a:latin typeface="Arial"/>
              <a:cs typeface="Arial"/>
            </a:endParaRPr>
          </a:p>
          <a:p>
            <a:pPr marL="302260" indent="-168275">
              <a:lnSpc>
                <a:spcPts val="1200"/>
              </a:lnSpc>
              <a:spcBef>
                <a:spcPts val="595"/>
              </a:spcBef>
              <a:buClr>
                <a:srgbClr val="3333B2"/>
              </a:buClr>
              <a:buChar char="►"/>
              <a:tabLst>
                <a:tab pos="302895" algn="l"/>
              </a:tabLst>
            </a:pPr>
            <a:r>
              <a:rPr sz="1000" spc="-5" dirty="0">
                <a:latin typeface="Arial"/>
                <a:cs typeface="Arial"/>
              </a:rPr>
              <a:t>A coordinator multicasts</a:t>
            </a:r>
            <a:r>
              <a:rPr sz="1000" dirty="0">
                <a:latin typeface="Arial"/>
                <a:cs typeface="Arial"/>
              </a:rPr>
              <a:t> </a:t>
            </a:r>
            <a:r>
              <a:rPr sz="1000" spc="-5" dirty="0">
                <a:latin typeface="Arial"/>
                <a:cs typeface="Arial"/>
              </a:rPr>
              <a:t>a </a:t>
            </a:r>
            <a:r>
              <a:rPr sz="1000" spc="-5" dirty="0">
                <a:solidFill>
                  <a:srgbClr val="0000FA"/>
                </a:solidFill>
                <a:latin typeface="Arial"/>
                <a:cs typeface="Arial"/>
              </a:rPr>
              <a:t>checkpoint</a:t>
            </a:r>
            <a:r>
              <a:rPr sz="1000" dirty="0">
                <a:solidFill>
                  <a:srgbClr val="0000FA"/>
                </a:solidFill>
                <a:latin typeface="Arial"/>
                <a:cs typeface="Arial"/>
              </a:rPr>
              <a:t> </a:t>
            </a:r>
            <a:r>
              <a:rPr sz="1000" spc="-5" dirty="0">
                <a:solidFill>
                  <a:srgbClr val="0000FA"/>
                </a:solidFill>
                <a:latin typeface="Arial"/>
                <a:cs typeface="Arial"/>
              </a:rPr>
              <a:t>request </a:t>
            </a:r>
            <a:r>
              <a:rPr sz="1000" spc="-5" dirty="0">
                <a:latin typeface="Arial"/>
                <a:cs typeface="Arial"/>
              </a:rPr>
              <a:t>message</a:t>
            </a:r>
            <a:endParaRPr sz="1000">
              <a:latin typeface="Arial"/>
              <a:cs typeface="Arial"/>
            </a:endParaRPr>
          </a:p>
          <a:p>
            <a:pPr marL="302260" marR="124460" indent="-168275">
              <a:lnSpc>
                <a:spcPts val="1200"/>
              </a:lnSpc>
              <a:spcBef>
                <a:spcPts val="35"/>
              </a:spcBef>
              <a:buClr>
                <a:srgbClr val="3333B2"/>
              </a:buClr>
              <a:buChar char="►"/>
              <a:tabLst>
                <a:tab pos="302895" algn="l"/>
              </a:tabLst>
            </a:pPr>
            <a:r>
              <a:rPr sz="1000" spc="-5" dirty="0">
                <a:latin typeface="Arial"/>
                <a:cs typeface="Arial"/>
              </a:rPr>
              <a:t>When a </a:t>
            </a:r>
            <a:r>
              <a:rPr sz="1000" dirty="0">
                <a:latin typeface="Arial"/>
                <a:cs typeface="Arial"/>
              </a:rPr>
              <a:t>participant </a:t>
            </a:r>
            <a:r>
              <a:rPr sz="1000" spc="-5" dirty="0">
                <a:latin typeface="Arial"/>
                <a:cs typeface="Arial"/>
              </a:rPr>
              <a:t>receives such a message, it </a:t>
            </a:r>
            <a:r>
              <a:rPr sz="1000" spc="-10" dirty="0">
                <a:latin typeface="Arial"/>
                <a:cs typeface="Arial"/>
              </a:rPr>
              <a:t>takes </a:t>
            </a:r>
            <a:r>
              <a:rPr sz="1000" spc="-5" dirty="0">
                <a:latin typeface="Arial"/>
                <a:cs typeface="Arial"/>
              </a:rPr>
              <a:t>a </a:t>
            </a:r>
            <a:r>
              <a:rPr sz="1000" dirty="0">
                <a:latin typeface="Arial"/>
                <a:cs typeface="Arial"/>
              </a:rPr>
              <a:t> </a:t>
            </a:r>
            <a:r>
              <a:rPr sz="1000" spc="-5" dirty="0">
                <a:latin typeface="Arial"/>
                <a:cs typeface="Arial"/>
              </a:rPr>
              <a:t>checkpoint,</a:t>
            </a:r>
            <a:r>
              <a:rPr sz="1000" dirty="0">
                <a:latin typeface="Arial"/>
                <a:cs typeface="Arial"/>
              </a:rPr>
              <a:t> </a:t>
            </a:r>
            <a:r>
              <a:rPr sz="1000" spc="-5" dirty="0">
                <a:latin typeface="Arial"/>
                <a:cs typeface="Arial"/>
              </a:rPr>
              <a:t>stops</a:t>
            </a:r>
            <a:r>
              <a:rPr sz="1000" dirty="0">
                <a:latin typeface="Arial"/>
                <a:cs typeface="Arial"/>
              </a:rPr>
              <a:t> </a:t>
            </a:r>
            <a:r>
              <a:rPr sz="1000" spc="-5" dirty="0">
                <a:latin typeface="Arial"/>
                <a:cs typeface="Arial"/>
              </a:rPr>
              <a:t>sending</a:t>
            </a:r>
            <a:r>
              <a:rPr sz="1000" dirty="0">
                <a:latin typeface="Arial"/>
                <a:cs typeface="Arial"/>
              </a:rPr>
              <a:t> </a:t>
            </a:r>
            <a:r>
              <a:rPr sz="1000" spc="-5" dirty="0">
                <a:latin typeface="Arial"/>
                <a:cs typeface="Arial"/>
              </a:rPr>
              <a:t>(application)</a:t>
            </a:r>
            <a:r>
              <a:rPr sz="1000" spc="5"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and</a:t>
            </a:r>
            <a:r>
              <a:rPr sz="1000" dirty="0">
                <a:latin typeface="Arial"/>
                <a:cs typeface="Arial"/>
              </a:rPr>
              <a:t> reports </a:t>
            </a:r>
            <a:r>
              <a:rPr sz="1000" spc="-265" dirty="0">
                <a:latin typeface="Arial"/>
                <a:cs typeface="Arial"/>
              </a:rPr>
              <a:t> </a:t>
            </a:r>
            <a:r>
              <a:rPr sz="1000" spc="-10" dirty="0">
                <a:latin typeface="Arial"/>
                <a:cs typeface="Arial"/>
              </a:rPr>
              <a:t>back </a:t>
            </a:r>
            <a:r>
              <a:rPr sz="1000" spc="-5" dirty="0">
                <a:latin typeface="Arial"/>
                <a:cs typeface="Arial"/>
              </a:rPr>
              <a:t>that it has </a:t>
            </a:r>
            <a:r>
              <a:rPr sz="1000" spc="-10" dirty="0">
                <a:latin typeface="Arial"/>
                <a:cs typeface="Arial"/>
              </a:rPr>
              <a:t>taken</a:t>
            </a:r>
            <a:r>
              <a:rPr sz="1000" spc="-5" dirty="0">
                <a:latin typeface="Arial"/>
                <a:cs typeface="Arial"/>
              </a:rPr>
              <a:t> a checkpoint</a:t>
            </a:r>
            <a:endParaRPr sz="1000">
              <a:latin typeface="Arial"/>
              <a:cs typeface="Arial"/>
            </a:endParaRPr>
          </a:p>
          <a:p>
            <a:pPr marL="302260" indent="-168275">
              <a:lnSpc>
                <a:spcPts val="1145"/>
              </a:lnSpc>
              <a:buClr>
                <a:srgbClr val="3333B2"/>
              </a:buClr>
              <a:buChar char="►"/>
              <a:tabLst>
                <a:tab pos="302895" algn="l"/>
              </a:tabLst>
            </a:pPr>
            <a:r>
              <a:rPr sz="1000" spc="-15" dirty="0">
                <a:latin typeface="Arial"/>
                <a:cs typeface="Arial"/>
              </a:rPr>
              <a:t>When</a:t>
            </a:r>
            <a:r>
              <a:rPr sz="1000" spc="-5" dirty="0">
                <a:latin typeface="Arial"/>
                <a:cs typeface="Arial"/>
              </a:rPr>
              <a:t> </a:t>
            </a:r>
            <a:r>
              <a:rPr sz="1000" spc="-10" dirty="0">
                <a:latin typeface="Arial"/>
                <a:cs typeface="Arial"/>
              </a:rPr>
              <a:t>all</a:t>
            </a:r>
            <a:r>
              <a:rPr sz="1000" spc="-5" dirty="0">
                <a:latin typeface="Arial"/>
                <a:cs typeface="Arial"/>
              </a:rPr>
              <a:t> </a:t>
            </a:r>
            <a:r>
              <a:rPr sz="1000" spc="-15" dirty="0">
                <a:latin typeface="Arial"/>
                <a:cs typeface="Arial"/>
              </a:rPr>
              <a:t>checkpoints</a:t>
            </a:r>
            <a:r>
              <a:rPr sz="1000" spc="-5" dirty="0">
                <a:latin typeface="Arial"/>
                <a:cs typeface="Arial"/>
              </a:rPr>
              <a:t> </a:t>
            </a:r>
            <a:r>
              <a:rPr sz="1000" spc="-25" dirty="0">
                <a:latin typeface="Arial"/>
                <a:cs typeface="Arial"/>
              </a:rPr>
              <a:t>have</a:t>
            </a:r>
            <a:r>
              <a:rPr sz="1000" spc="-5" dirty="0">
                <a:latin typeface="Arial"/>
                <a:cs typeface="Arial"/>
              </a:rPr>
              <a:t> </a:t>
            </a:r>
            <a:r>
              <a:rPr sz="1000" spc="-15" dirty="0">
                <a:latin typeface="Arial"/>
                <a:cs typeface="Arial"/>
              </a:rPr>
              <a:t>been</a:t>
            </a:r>
            <a:r>
              <a:rPr sz="1000" spc="-5" dirty="0">
                <a:latin typeface="Arial"/>
                <a:cs typeface="Arial"/>
              </a:rPr>
              <a:t> </a:t>
            </a:r>
            <a:r>
              <a:rPr sz="1000" spc="-10" dirty="0">
                <a:latin typeface="Arial"/>
                <a:cs typeface="Arial"/>
              </a:rPr>
              <a:t>confirmed</a:t>
            </a:r>
            <a:r>
              <a:rPr sz="1000" spc="-5" dirty="0">
                <a:latin typeface="Arial"/>
                <a:cs typeface="Arial"/>
              </a:rPr>
              <a:t> </a:t>
            </a:r>
            <a:r>
              <a:rPr sz="1000" spc="-10" dirty="0">
                <a:latin typeface="Arial"/>
                <a:cs typeface="Arial"/>
              </a:rPr>
              <a:t>at</a:t>
            </a:r>
            <a:r>
              <a:rPr sz="1000" spc="-5" dirty="0">
                <a:latin typeface="Arial"/>
                <a:cs typeface="Arial"/>
              </a:rPr>
              <a:t> </a:t>
            </a:r>
            <a:r>
              <a:rPr sz="1000" spc="-10" dirty="0">
                <a:latin typeface="Arial"/>
                <a:cs typeface="Arial"/>
              </a:rPr>
              <a:t>the</a:t>
            </a:r>
            <a:r>
              <a:rPr sz="1000" spc="-5" dirty="0">
                <a:latin typeface="Arial"/>
                <a:cs typeface="Arial"/>
              </a:rPr>
              <a:t> </a:t>
            </a:r>
            <a:r>
              <a:rPr sz="1000" spc="-15" dirty="0">
                <a:latin typeface="Arial"/>
                <a:cs typeface="Arial"/>
              </a:rPr>
              <a:t>coordinator,</a:t>
            </a:r>
            <a:r>
              <a:rPr sz="1000" spc="-5" dirty="0">
                <a:latin typeface="Arial"/>
                <a:cs typeface="Arial"/>
              </a:rPr>
              <a:t> </a:t>
            </a:r>
            <a:r>
              <a:rPr sz="1000" spc="-10" dirty="0">
                <a:latin typeface="Arial"/>
                <a:cs typeface="Arial"/>
              </a:rPr>
              <a:t>the</a:t>
            </a:r>
            <a:endParaRPr sz="1000">
              <a:latin typeface="Arial"/>
              <a:cs typeface="Arial"/>
            </a:endParaRPr>
          </a:p>
          <a:p>
            <a:pPr marL="302260" marR="459740">
              <a:lnSpc>
                <a:spcPts val="1200"/>
              </a:lnSpc>
              <a:spcBef>
                <a:spcPts val="40"/>
              </a:spcBef>
            </a:pPr>
            <a:r>
              <a:rPr sz="1000" spc="-5" dirty="0">
                <a:latin typeface="Arial"/>
                <a:cs typeface="Arial"/>
              </a:rPr>
              <a:t>latter broadcasts a</a:t>
            </a:r>
            <a:r>
              <a:rPr sz="1000" dirty="0">
                <a:latin typeface="Arial"/>
                <a:cs typeface="Arial"/>
              </a:rPr>
              <a:t> </a:t>
            </a:r>
            <a:r>
              <a:rPr sz="1000" spc="-5" dirty="0">
                <a:solidFill>
                  <a:srgbClr val="0000FA"/>
                </a:solidFill>
                <a:latin typeface="Arial"/>
                <a:cs typeface="Arial"/>
              </a:rPr>
              <a:t>checkpoint done </a:t>
            </a:r>
            <a:r>
              <a:rPr sz="1000" spc="-5" dirty="0">
                <a:latin typeface="Arial"/>
                <a:cs typeface="Arial"/>
              </a:rPr>
              <a:t>message</a:t>
            </a:r>
            <a:r>
              <a:rPr sz="1000" dirty="0">
                <a:latin typeface="Arial"/>
                <a:cs typeface="Arial"/>
              </a:rPr>
              <a:t> </a:t>
            </a:r>
            <a:r>
              <a:rPr sz="1000" spc="-5" dirty="0">
                <a:latin typeface="Arial"/>
                <a:cs typeface="Arial"/>
              </a:rPr>
              <a:t>to allow</a:t>
            </a:r>
            <a:r>
              <a:rPr sz="1000" dirty="0">
                <a:latin typeface="Arial"/>
                <a:cs typeface="Arial"/>
              </a:rPr>
              <a:t> </a:t>
            </a:r>
            <a:r>
              <a:rPr sz="1000" spc="-5" dirty="0">
                <a:latin typeface="Arial"/>
                <a:cs typeface="Arial"/>
              </a:rPr>
              <a:t>all </a:t>
            </a:r>
            <a:r>
              <a:rPr sz="1000" spc="-265" dirty="0">
                <a:latin typeface="Arial"/>
                <a:cs typeface="Arial"/>
              </a:rPr>
              <a:t> </a:t>
            </a:r>
            <a:r>
              <a:rPr sz="1000" spc="-5" dirty="0">
                <a:latin typeface="Arial"/>
                <a:cs typeface="Arial"/>
              </a:rPr>
              <a:t>processes</a:t>
            </a:r>
            <a:r>
              <a:rPr sz="1000" spc="-10" dirty="0">
                <a:latin typeface="Arial"/>
                <a:cs typeface="Arial"/>
              </a:rPr>
              <a:t> </a:t>
            </a:r>
            <a:r>
              <a:rPr sz="1000" spc="-5" dirty="0">
                <a:latin typeface="Arial"/>
                <a:cs typeface="Arial"/>
              </a:rPr>
              <a:t>to continue</a:t>
            </a:r>
            <a:endParaRPr sz="1000">
              <a:latin typeface="Arial"/>
              <a:cs typeface="Arial"/>
            </a:endParaRPr>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9226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Coordinated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79320" cy="244475"/>
          </a:xfrm>
          <a:prstGeom prst="rect">
            <a:avLst/>
          </a:prstGeom>
        </p:spPr>
        <p:txBody>
          <a:bodyPr vert="horz" wrap="square" lIns="0" tIns="17145" rIns="0" bIns="0" rtlCol="0">
            <a:spAutoFit/>
          </a:bodyPr>
          <a:lstStyle/>
          <a:p>
            <a:pPr marL="12700">
              <a:lnSpc>
                <a:spcPct val="100000"/>
              </a:lnSpc>
              <a:spcBef>
                <a:spcPts val="135"/>
              </a:spcBef>
            </a:pPr>
            <a:r>
              <a:rPr spc="15" dirty="0"/>
              <a:t>Coordinated</a:t>
            </a:r>
            <a:r>
              <a:rPr spc="-20" dirty="0"/>
              <a:t> </a:t>
            </a:r>
            <a:r>
              <a:rPr spc="10" dirty="0"/>
              <a:t>checkpointing</a:t>
            </a:r>
          </a:p>
        </p:txBody>
      </p:sp>
      <p:sp>
        <p:nvSpPr>
          <p:cNvPr id="4" name="object 4"/>
          <p:cNvSpPr txBox="1"/>
          <p:nvPr/>
        </p:nvSpPr>
        <p:spPr>
          <a:xfrm>
            <a:off x="321894" y="528609"/>
            <a:ext cx="3963035" cy="2609215"/>
          </a:xfrm>
          <a:prstGeom prst="rect">
            <a:avLst/>
          </a:prstGeom>
        </p:spPr>
        <p:txBody>
          <a:bodyPr vert="horz" wrap="square" lIns="0" tIns="12065" rIns="0" bIns="0" rtlCol="0">
            <a:spAutoFit/>
          </a:bodyPr>
          <a:lstStyle/>
          <a:p>
            <a:pPr marL="38100">
              <a:lnSpc>
                <a:spcPts val="1420"/>
              </a:lnSpc>
              <a:spcBef>
                <a:spcPts val="95"/>
              </a:spcBef>
            </a:pPr>
            <a:r>
              <a:rPr sz="1200" spc="-5" dirty="0">
                <a:solidFill>
                  <a:srgbClr val="3333B2"/>
                </a:solidFill>
                <a:latin typeface="Arial"/>
                <a:cs typeface="Arial"/>
              </a:rPr>
              <a:t>Essence</a:t>
            </a:r>
            <a:endParaRPr sz="1200">
              <a:latin typeface="Arial"/>
              <a:cs typeface="Arial"/>
            </a:endParaRPr>
          </a:p>
          <a:p>
            <a:pPr marL="38100">
              <a:lnSpc>
                <a:spcPts val="1180"/>
              </a:lnSpc>
            </a:pPr>
            <a:r>
              <a:rPr sz="1000" spc="-5" dirty="0">
                <a:latin typeface="Arial"/>
                <a:cs typeface="Arial"/>
              </a:rPr>
              <a:t>Each</a:t>
            </a:r>
            <a:r>
              <a:rPr sz="1000" dirty="0">
                <a:latin typeface="Arial"/>
                <a:cs typeface="Arial"/>
              </a:rPr>
              <a:t> </a:t>
            </a:r>
            <a:r>
              <a:rPr sz="1000" spc="-5" dirty="0">
                <a:latin typeface="Arial"/>
                <a:cs typeface="Arial"/>
              </a:rPr>
              <a:t>process</a:t>
            </a:r>
            <a:r>
              <a:rPr sz="1000" dirty="0">
                <a:latin typeface="Arial"/>
                <a:cs typeface="Arial"/>
              </a:rPr>
              <a:t> </a:t>
            </a:r>
            <a:r>
              <a:rPr sz="1000" spc="-10" dirty="0">
                <a:latin typeface="Arial"/>
                <a:cs typeface="Arial"/>
              </a:rPr>
              <a:t>takes</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checkpoint</a:t>
            </a:r>
            <a:r>
              <a:rPr sz="1000" spc="5" dirty="0">
                <a:latin typeface="Arial"/>
                <a:cs typeface="Arial"/>
              </a:rPr>
              <a:t> </a:t>
            </a:r>
            <a:r>
              <a:rPr sz="1000" spc="-5" dirty="0">
                <a:latin typeface="Arial"/>
                <a:cs typeface="Arial"/>
              </a:rPr>
              <a:t>after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globally</a:t>
            </a:r>
            <a:r>
              <a:rPr sz="1000" spc="5" dirty="0">
                <a:latin typeface="Arial"/>
                <a:cs typeface="Arial"/>
              </a:rPr>
              <a:t> </a:t>
            </a:r>
            <a:r>
              <a:rPr sz="1000" spc="-5" dirty="0">
                <a:latin typeface="Arial"/>
                <a:cs typeface="Arial"/>
              </a:rPr>
              <a:t>coordinated</a:t>
            </a:r>
            <a:r>
              <a:rPr sz="1000" dirty="0">
                <a:latin typeface="Arial"/>
                <a:cs typeface="Arial"/>
              </a:rPr>
              <a:t> </a:t>
            </a:r>
            <a:r>
              <a:rPr sz="1000" spc="-5" dirty="0">
                <a:latin typeface="Arial"/>
                <a:cs typeface="Arial"/>
              </a:rPr>
              <a:t>action.</a:t>
            </a:r>
            <a:endParaRPr sz="1000">
              <a:latin typeface="Arial"/>
              <a:cs typeface="Arial"/>
            </a:endParaRPr>
          </a:p>
          <a:p>
            <a:pPr marL="38100">
              <a:lnSpc>
                <a:spcPct val="100000"/>
              </a:lnSpc>
              <a:spcBef>
                <a:spcPts val="690"/>
              </a:spcBef>
            </a:pPr>
            <a:r>
              <a:rPr sz="1200" spc="-5" dirty="0">
                <a:solidFill>
                  <a:srgbClr val="3333B2"/>
                </a:solidFill>
                <a:latin typeface="Arial"/>
                <a:cs typeface="Arial"/>
              </a:rPr>
              <a:t>Simple</a:t>
            </a:r>
            <a:r>
              <a:rPr sz="1200" spc="-35" dirty="0">
                <a:solidFill>
                  <a:srgbClr val="3333B2"/>
                </a:solidFill>
                <a:latin typeface="Arial"/>
                <a:cs typeface="Arial"/>
              </a:rPr>
              <a:t> </a:t>
            </a:r>
            <a:r>
              <a:rPr sz="1200" spc="-5" dirty="0">
                <a:solidFill>
                  <a:srgbClr val="3333B2"/>
                </a:solidFill>
                <a:latin typeface="Arial"/>
                <a:cs typeface="Arial"/>
              </a:rPr>
              <a:t>solution</a:t>
            </a:r>
            <a:endParaRPr sz="1200">
              <a:latin typeface="Arial"/>
              <a:cs typeface="Arial"/>
            </a:endParaRPr>
          </a:p>
          <a:p>
            <a:pPr marL="38100">
              <a:lnSpc>
                <a:spcPct val="100000"/>
              </a:lnSpc>
              <a:spcBef>
                <a:spcPts val="175"/>
              </a:spcBef>
            </a:pPr>
            <a:r>
              <a:rPr sz="1000" spc="-5" dirty="0">
                <a:latin typeface="Arial"/>
                <a:cs typeface="Arial"/>
              </a:rPr>
              <a:t>Use</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two-phase </a:t>
            </a:r>
            <a:r>
              <a:rPr sz="1000" spc="-10" dirty="0">
                <a:latin typeface="Arial"/>
                <a:cs typeface="Arial"/>
              </a:rPr>
              <a:t>blocking </a:t>
            </a:r>
            <a:r>
              <a:rPr sz="1000" spc="-5" dirty="0">
                <a:latin typeface="Arial"/>
                <a:cs typeface="Arial"/>
              </a:rPr>
              <a:t>protocol:</a:t>
            </a:r>
            <a:endParaRPr sz="1000">
              <a:latin typeface="Arial"/>
              <a:cs typeface="Arial"/>
            </a:endParaRPr>
          </a:p>
          <a:p>
            <a:pPr marL="314960" indent="-168275">
              <a:lnSpc>
                <a:spcPts val="1200"/>
              </a:lnSpc>
              <a:spcBef>
                <a:spcPts val="595"/>
              </a:spcBef>
              <a:buClr>
                <a:srgbClr val="3333B2"/>
              </a:buClr>
              <a:buChar char="►"/>
              <a:tabLst>
                <a:tab pos="315595" algn="l"/>
              </a:tabLst>
            </a:pPr>
            <a:r>
              <a:rPr sz="1000" spc="-5" dirty="0">
                <a:latin typeface="Arial"/>
                <a:cs typeface="Arial"/>
              </a:rPr>
              <a:t>A coordinator multicasts</a:t>
            </a:r>
            <a:r>
              <a:rPr sz="1000" dirty="0">
                <a:latin typeface="Arial"/>
                <a:cs typeface="Arial"/>
              </a:rPr>
              <a:t> </a:t>
            </a:r>
            <a:r>
              <a:rPr sz="1000" spc="-5" dirty="0">
                <a:latin typeface="Arial"/>
                <a:cs typeface="Arial"/>
              </a:rPr>
              <a:t>a </a:t>
            </a:r>
            <a:r>
              <a:rPr sz="1000" spc="-5" dirty="0">
                <a:solidFill>
                  <a:srgbClr val="0000FA"/>
                </a:solidFill>
                <a:latin typeface="Arial"/>
                <a:cs typeface="Arial"/>
              </a:rPr>
              <a:t>checkpoint</a:t>
            </a:r>
            <a:r>
              <a:rPr sz="1000" dirty="0">
                <a:solidFill>
                  <a:srgbClr val="0000FA"/>
                </a:solidFill>
                <a:latin typeface="Arial"/>
                <a:cs typeface="Arial"/>
              </a:rPr>
              <a:t> </a:t>
            </a:r>
            <a:r>
              <a:rPr sz="1000" spc="-5" dirty="0">
                <a:solidFill>
                  <a:srgbClr val="0000FA"/>
                </a:solidFill>
                <a:latin typeface="Arial"/>
                <a:cs typeface="Arial"/>
              </a:rPr>
              <a:t>request </a:t>
            </a:r>
            <a:r>
              <a:rPr sz="1000" spc="-5" dirty="0">
                <a:latin typeface="Arial"/>
                <a:cs typeface="Arial"/>
              </a:rPr>
              <a:t>message</a:t>
            </a:r>
            <a:endParaRPr sz="1000">
              <a:latin typeface="Arial"/>
              <a:cs typeface="Arial"/>
            </a:endParaRPr>
          </a:p>
          <a:p>
            <a:pPr marL="314960" marR="137160" indent="-168275">
              <a:lnSpc>
                <a:spcPts val="1200"/>
              </a:lnSpc>
              <a:spcBef>
                <a:spcPts val="35"/>
              </a:spcBef>
              <a:buClr>
                <a:srgbClr val="3333B2"/>
              </a:buClr>
              <a:buChar char="►"/>
              <a:tabLst>
                <a:tab pos="315595" algn="l"/>
              </a:tabLst>
            </a:pPr>
            <a:r>
              <a:rPr sz="1000" spc="-5" dirty="0">
                <a:latin typeface="Arial"/>
                <a:cs typeface="Arial"/>
              </a:rPr>
              <a:t>When a </a:t>
            </a:r>
            <a:r>
              <a:rPr sz="1000" dirty="0">
                <a:latin typeface="Arial"/>
                <a:cs typeface="Arial"/>
              </a:rPr>
              <a:t>participant </a:t>
            </a:r>
            <a:r>
              <a:rPr sz="1000" spc="-5" dirty="0">
                <a:latin typeface="Arial"/>
                <a:cs typeface="Arial"/>
              </a:rPr>
              <a:t>receives such a message, it </a:t>
            </a:r>
            <a:r>
              <a:rPr sz="1000" spc="-10" dirty="0">
                <a:latin typeface="Arial"/>
                <a:cs typeface="Arial"/>
              </a:rPr>
              <a:t>takes </a:t>
            </a:r>
            <a:r>
              <a:rPr sz="1000" spc="-5" dirty="0">
                <a:latin typeface="Arial"/>
                <a:cs typeface="Arial"/>
              </a:rPr>
              <a:t>a </a:t>
            </a:r>
            <a:r>
              <a:rPr sz="1000" dirty="0">
                <a:latin typeface="Arial"/>
                <a:cs typeface="Arial"/>
              </a:rPr>
              <a:t> </a:t>
            </a:r>
            <a:r>
              <a:rPr sz="1000" spc="-5" dirty="0">
                <a:latin typeface="Arial"/>
                <a:cs typeface="Arial"/>
              </a:rPr>
              <a:t>checkpoint,</a:t>
            </a:r>
            <a:r>
              <a:rPr sz="1000" dirty="0">
                <a:latin typeface="Arial"/>
                <a:cs typeface="Arial"/>
              </a:rPr>
              <a:t> </a:t>
            </a:r>
            <a:r>
              <a:rPr sz="1000" spc="-5" dirty="0">
                <a:latin typeface="Arial"/>
                <a:cs typeface="Arial"/>
              </a:rPr>
              <a:t>stops</a:t>
            </a:r>
            <a:r>
              <a:rPr sz="1000" dirty="0">
                <a:latin typeface="Arial"/>
                <a:cs typeface="Arial"/>
              </a:rPr>
              <a:t> </a:t>
            </a:r>
            <a:r>
              <a:rPr sz="1000" spc="-5" dirty="0">
                <a:latin typeface="Arial"/>
                <a:cs typeface="Arial"/>
              </a:rPr>
              <a:t>sending</a:t>
            </a:r>
            <a:r>
              <a:rPr sz="1000" dirty="0">
                <a:latin typeface="Arial"/>
                <a:cs typeface="Arial"/>
              </a:rPr>
              <a:t> </a:t>
            </a:r>
            <a:r>
              <a:rPr sz="1000" spc="-5" dirty="0">
                <a:latin typeface="Arial"/>
                <a:cs typeface="Arial"/>
              </a:rPr>
              <a:t>(application)</a:t>
            </a:r>
            <a:r>
              <a:rPr sz="1000" spc="5"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and</a:t>
            </a:r>
            <a:r>
              <a:rPr sz="1000" dirty="0">
                <a:latin typeface="Arial"/>
                <a:cs typeface="Arial"/>
              </a:rPr>
              <a:t> reports </a:t>
            </a:r>
            <a:r>
              <a:rPr sz="1000" spc="-265" dirty="0">
                <a:latin typeface="Arial"/>
                <a:cs typeface="Arial"/>
              </a:rPr>
              <a:t> </a:t>
            </a:r>
            <a:r>
              <a:rPr sz="1000" spc="-10" dirty="0">
                <a:latin typeface="Arial"/>
                <a:cs typeface="Arial"/>
              </a:rPr>
              <a:t>back </a:t>
            </a:r>
            <a:r>
              <a:rPr sz="1000" spc="-5" dirty="0">
                <a:latin typeface="Arial"/>
                <a:cs typeface="Arial"/>
              </a:rPr>
              <a:t>that it has </a:t>
            </a:r>
            <a:r>
              <a:rPr sz="1000" spc="-10" dirty="0">
                <a:latin typeface="Arial"/>
                <a:cs typeface="Arial"/>
              </a:rPr>
              <a:t>taken</a:t>
            </a:r>
            <a:r>
              <a:rPr sz="1000" spc="-5" dirty="0">
                <a:latin typeface="Arial"/>
                <a:cs typeface="Arial"/>
              </a:rPr>
              <a:t> a checkpoint</a:t>
            </a:r>
            <a:endParaRPr sz="1000">
              <a:latin typeface="Arial"/>
              <a:cs typeface="Arial"/>
            </a:endParaRPr>
          </a:p>
          <a:p>
            <a:pPr marL="314960" indent="-168275">
              <a:lnSpc>
                <a:spcPts val="1145"/>
              </a:lnSpc>
              <a:buClr>
                <a:srgbClr val="3333B2"/>
              </a:buClr>
              <a:buChar char="►"/>
              <a:tabLst>
                <a:tab pos="315595" algn="l"/>
              </a:tabLst>
            </a:pPr>
            <a:r>
              <a:rPr sz="1000" spc="-15" dirty="0">
                <a:latin typeface="Arial"/>
                <a:cs typeface="Arial"/>
              </a:rPr>
              <a:t>When</a:t>
            </a:r>
            <a:r>
              <a:rPr sz="1000" spc="-5" dirty="0">
                <a:latin typeface="Arial"/>
                <a:cs typeface="Arial"/>
              </a:rPr>
              <a:t> </a:t>
            </a:r>
            <a:r>
              <a:rPr sz="1000" spc="-10" dirty="0">
                <a:latin typeface="Arial"/>
                <a:cs typeface="Arial"/>
              </a:rPr>
              <a:t>all</a:t>
            </a:r>
            <a:r>
              <a:rPr sz="1000" spc="-5" dirty="0">
                <a:latin typeface="Arial"/>
                <a:cs typeface="Arial"/>
              </a:rPr>
              <a:t> </a:t>
            </a:r>
            <a:r>
              <a:rPr sz="1000" spc="-15" dirty="0">
                <a:latin typeface="Arial"/>
                <a:cs typeface="Arial"/>
              </a:rPr>
              <a:t>checkpoints</a:t>
            </a:r>
            <a:r>
              <a:rPr sz="1000" spc="-5" dirty="0">
                <a:latin typeface="Arial"/>
                <a:cs typeface="Arial"/>
              </a:rPr>
              <a:t> </a:t>
            </a:r>
            <a:r>
              <a:rPr sz="1000" spc="-25" dirty="0">
                <a:latin typeface="Arial"/>
                <a:cs typeface="Arial"/>
              </a:rPr>
              <a:t>have</a:t>
            </a:r>
            <a:r>
              <a:rPr sz="1000" spc="-5" dirty="0">
                <a:latin typeface="Arial"/>
                <a:cs typeface="Arial"/>
              </a:rPr>
              <a:t> </a:t>
            </a:r>
            <a:r>
              <a:rPr sz="1000" spc="-15" dirty="0">
                <a:latin typeface="Arial"/>
                <a:cs typeface="Arial"/>
              </a:rPr>
              <a:t>been</a:t>
            </a:r>
            <a:r>
              <a:rPr sz="1000" spc="-5" dirty="0">
                <a:latin typeface="Arial"/>
                <a:cs typeface="Arial"/>
              </a:rPr>
              <a:t> </a:t>
            </a:r>
            <a:r>
              <a:rPr sz="1000" spc="-10" dirty="0">
                <a:latin typeface="Arial"/>
                <a:cs typeface="Arial"/>
              </a:rPr>
              <a:t>confirmed</a:t>
            </a:r>
            <a:r>
              <a:rPr sz="1000" spc="-5" dirty="0">
                <a:latin typeface="Arial"/>
                <a:cs typeface="Arial"/>
              </a:rPr>
              <a:t> </a:t>
            </a:r>
            <a:r>
              <a:rPr sz="1000" spc="-10" dirty="0">
                <a:latin typeface="Arial"/>
                <a:cs typeface="Arial"/>
              </a:rPr>
              <a:t>at</a:t>
            </a:r>
            <a:r>
              <a:rPr sz="1000" spc="-5" dirty="0">
                <a:latin typeface="Arial"/>
                <a:cs typeface="Arial"/>
              </a:rPr>
              <a:t> </a:t>
            </a:r>
            <a:r>
              <a:rPr sz="1000" spc="-10" dirty="0">
                <a:latin typeface="Arial"/>
                <a:cs typeface="Arial"/>
              </a:rPr>
              <a:t>the</a:t>
            </a:r>
            <a:r>
              <a:rPr sz="1000" spc="-5" dirty="0">
                <a:latin typeface="Arial"/>
                <a:cs typeface="Arial"/>
              </a:rPr>
              <a:t> </a:t>
            </a:r>
            <a:r>
              <a:rPr sz="1000" spc="-15" dirty="0">
                <a:latin typeface="Arial"/>
                <a:cs typeface="Arial"/>
              </a:rPr>
              <a:t>coordinator,</a:t>
            </a:r>
            <a:r>
              <a:rPr sz="1000" spc="-5" dirty="0">
                <a:latin typeface="Arial"/>
                <a:cs typeface="Arial"/>
              </a:rPr>
              <a:t> </a:t>
            </a:r>
            <a:r>
              <a:rPr sz="1000" spc="-10" dirty="0">
                <a:latin typeface="Arial"/>
                <a:cs typeface="Arial"/>
              </a:rPr>
              <a:t>the</a:t>
            </a:r>
            <a:endParaRPr sz="1000">
              <a:latin typeface="Arial"/>
              <a:cs typeface="Arial"/>
            </a:endParaRPr>
          </a:p>
          <a:p>
            <a:pPr marL="314960" marR="472440">
              <a:lnSpc>
                <a:spcPts val="1200"/>
              </a:lnSpc>
              <a:spcBef>
                <a:spcPts val="40"/>
              </a:spcBef>
            </a:pPr>
            <a:r>
              <a:rPr sz="1000" spc="-5" dirty="0">
                <a:latin typeface="Arial"/>
                <a:cs typeface="Arial"/>
              </a:rPr>
              <a:t>latter broadcasts a</a:t>
            </a:r>
            <a:r>
              <a:rPr sz="1000" dirty="0">
                <a:latin typeface="Arial"/>
                <a:cs typeface="Arial"/>
              </a:rPr>
              <a:t> </a:t>
            </a:r>
            <a:r>
              <a:rPr sz="1000" spc="-5" dirty="0">
                <a:solidFill>
                  <a:srgbClr val="0000FA"/>
                </a:solidFill>
                <a:latin typeface="Arial"/>
                <a:cs typeface="Arial"/>
              </a:rPr>
              <a:t>checkpoint done </a:t>
            </a:r>
            <a:r>
              <a:rPr sz="1000" spc="-5" dirty="0">
                <a:latin typeface="Arial"/>
                <a:cs typeface="Arial"/>
              </a:rPr>
              <a:t>message</a:t>
            </a:r>
            <a:r>
              <a:rPr sz="1000" dirty="0">
                <a:latin typeface="Arial"/>
                <a:cs typeface="Arial"/>
              </a:rPr>
              <a:t> </a:t>
            </a:r>
            <a:r>
              <a:rPr sz="1000" spc="-5" dirty="0">
                <a:latin typeface="Arial"/>
                <a:cs typeface="Arial"/>
              </a:rPr>
              <a:t>to allow</a:t>
            </a:r>
            <a:r>
              <a:rPr sz="1000" dirty="0">
                <a:latin typeface="Arial"/>
                <a:cs typeface="Arial"/>
              </a:rPr>
              <a:t> </a:t>
            </a:r>
            <a:r>
              <a:rPr sz="1000" spc="-5" dirty="0">
                <a:latin typeface="Arial"/>
                <a:cs typeface="Arial"/>
              </a:rPr>
              <a:t>all </a:t>
            </a:r>
            <a:r>
              <a:rPr sz="1000" spc="-265" dirty="0">
                <a:latin typeface="Arial"/>
                <a:cs typeface="Arial"/>
              </a:rPr>
              <a:t> </a:t>
            </a:r>
            <a:r>
              <a:rPr sz="1000" spc="-5" dirty="0">
                <a:latin typeface="Arial"/>
                <a:cs typeface="Arial"/>
              </a:rPr>
              <a:t>processes</a:t>
            </a:r>
            <a:r>
              <a:rPr sz="1000" spc="-10" dirty="0">
                <a:latin typeface="Arial"/>
                <a:cs typeface="Arial"/>
              </a:rPr>
              <a:t> </a:t>
            </a:r>
            <a:r>
              <a:rPr sz="1000" spc="-5" dirty="0">
                <a:latin typeface="Arial"/>
                <a:cs typeface="Arial"/>
              </a:rPr>
              <a:t>to continue</a:t>
            </a:r>
            <a:endParaRPr sz="1000">
              <a:latin typeface="Arial"/>
              <a:cs typeface="Arial"/>
            </a:endParaRPr>
          </a:p>
          <a:p>
            <a:pPr>
              <a:lnSpc>
                <a:spcPct val="100000"/>
              </a:lnSpc>
              <a:spcBef>
                <a:spcPts val="15"/>
              </a:spcBef>
            </a:pPr>
            <a:endParaRPr sz="1250">
              <a:latin typeface="Arial"/>
              <a:cs typeface="Arial"/>
            </a:endParaRPr>
          </a:p>
          <a:p>
            <a:pPr marL="38100">
              <a:lnSpc>
                <a:spcPts val="1410"/>
              </a:lnSpc>
            </a:pPr>
            <a:r>
              <a:rPr sz="1200" spc="-5" dirty="0">
                <a:solidFill>
                  <a:srgbClr val="3333B2"/>
                </a:solidFill>
                <a:latin typeface="Arial"/>
                <a:cs typeface="Arial"/>
              </a:rPr>
              <a:t>Observation</a:t>
            </a:r>
            <a:endParaRPr sz="1200">
              <a:latin typeface="Arial"/>
              <a:cs typeface="Arial"/>
            </a:endParaRPr>
          </a:p>
          <a:p>
            <a:pPr marL="38100" marR="255270">
              <a:lnSpc>
                <a:spcPts val="1200"/>
              </a:lnSpc>
              <a:spcBef>
                <a:spcPts val="10"/>
              </a:spcBef>
            </a:pPr>
            <a:r>
              <a:rPr sz="1000" spc="-5" dirty="0">
                <a:latin typeface="Arial"/>
                <a:cs typeface="Arial"/>
              </a:rPr>
              <a:t>It is</a:t>
            </a:r>
            <a:r>
              <a:rPr sz="1000"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consider</a:t>
            </a:r>
            <a:r>
              <a:rPr sz="1000" dirty="0">
                <a:latin typeface="Arial"/>
                <a:cs typeface="Arial"/>
              </a:rPr>
              <a:t> </a:t>
            </a:r>
            <a:r>
              <a:rPr sz="1000" spc="-5" dirty="0">
                <a:latin typeface="Arial"/>
                <a:cs typeface="Arial"/>
              </a:rPr>
              <a:t>only</a:t>
            </a:r>
            <a:r>
              <a:rPr sz="1000" dirty="0">
                <a:latin typeface="Arial"/>
                <a:cs typeface="Arial"/>
              </a:rPr>
              <a:t> </a:t>
            </a:r>
            <a:r>
              <a:rPr sz="1000" spc="-5" dirty="0">
                <a:latin typeface="Arial"/>
                <a:cs typeface="Arial"/>
              </a:rPr>
              <a:t>those</a:t>
            </a:r>
            <a:r>
              <a:rPr sz="1000" dirty="0">
                <a:latin typeface="Arial"/>
                <a:cs typeface="Arial"/>
              </a:rPr>
              <a:t> </a:t>
            </a:r>
            <a:r>
              <a:rPr sz="1000" spc="-5" dirty="0">
                <a:latin typeface="Arial"/>
                <a:cs typeface="Arial"/>
              </a:rPr>
              <a:t>processes</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depend</a:t>
            </a:r>
            <a:r>
              <a:rPr sz="1000" dirty="0">
                <a:latin typeface="Arial"/>
                <a:cs typeface="Arial"/>
              </a:rPr>
              <a:t> </a:t>
            </a:r>
            <a:r>
              <a:rPr sz="1000" spc="-5" dirty="0">
                <a:latin typeface="Arial"/>
                <a:cs typeface="Arial"/>
              </a:rPr>
              <a:t>on</a:t>
            </a:r>
            <a:r>
              <a:rPr sz="1000" dirty="0">
                <a:latin typeface="Arial"/>
                <a:cs typeface="Arial"/>
              </a:rPr>
              <a:t> </a:t>
            </a:r>
            <a:r>
              <a:rPr sz="1000" spc="-5" dirty="0">
                <a:latin typeface="Arial"/>
                <a:cs typeface="Arial"/>
              </a:rPr>
              <a:t>the </a:t>
            </a:r>
            <a:r>
              <a:rPr sz="1000" spc="-260" dirty="0">
                <a:latin typeface="Arial"/>
                <a:cs typeface="Arial"/>
              </a:rPr>
              <a:t> </a:t>
            </a:r>
            <a:r>
              <a:rPr sz="1000" spc="-5" dirty="0">
                <a:latin typeface="Arial"/>
                <a:cs typeface="Arial"/>
              </a:rPr>
              <a:t>recovery of the </a:t>
            </a:r>
            <a:r>
              <a:rPr sz="1000" spc="-10" dirty="0">
                <a:latin typeface="Arial"/>
                <a:cs typeface="Arial"/>
              </a:rPr>
              <a:t>coordinator,</a:t>
            </a:r>
            <a:r>
              <a:rPr sz="1000" spc="-5" dirty="0">
                <a:latin typeface="Arial"/>
                <a:cs typeface="Arial"/>
              </a:rPr>
              <a:t> and ignore the</a:t>
            </a:r>
            <a:r>
              <a:rPr sz="1000" dirty="0">
                <a:latin typeface="Arial"/>
                <a:cs typeface="Arial"/>
              </a:rPr>
              <a:t> </a:t>
            </a:r>
            <a:r>
              <a:rPr sz="1000" spc="-5" dirty="0">
                <a:latin typeface="Arial"/>
                <a:cs typeface="Arial"/>
              </a:rPr>
              <a:t>rest</a:t>
            </a:r>
            <a:endParaRPr sz="1000">
              <a:latin typeface="Arial"/>
              <a:cs typeface="Arial"/>
            </a:endParaRPr>
          </a:p>
        </p:txBody>
      </p:sp>
    </p:spTree>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036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Recovery</a:t>
            </a:r>
            <a:endParaRPr sz="600">
              <a:latin typeface="Arial"/>
              <a:cs typeface="Arial"/>
            </a:endParaRPr>
          </a:p>
        </p:txBody>
      </p:sp>
      <p:sp>
        <p:nvSpPr>
          <p:cNvPr id="3" name="object 3"/>
          <p:cNvSpPr txBox="1"/>
          <p:nvPr/>
        </p:nvSpPr>
        <p:spPr>
          <a:xfrm>
            <a:off x="4036415" y="716"/>
            <a:ext cx="5054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4" name="object 4"/>
          <p:cNvSpPr txBox="1"/>
          <p:nvPr/>
        </p:nvSpPr>
        <p:spPr>
          <a:xfrm>
            <a:off x="95300" y="188846"/>
            <a:ext cx="152082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Cascaded</a:t>
            </a:r>
            <a:r>
              <a:rPr sz="1400" spc="-40" dirty="0">
                <a:solidFill>
                  <a:srgbClr val="3333B2"/>
                </a:solidFill>
                <a:latin typeface="Arial"/>
                <a:cs typeface="Arial"/>
              </a:rPr>
              <a:t> </a:t>
            </a:r>
            <a:r>
              <a:rPr sz="1400" spc="10" dirty="0">
                <a:solidFill>
                  <a:srgbClr val="3333B2"/>
                </a:solidFill>
                <a:latin typeface="Arial"/>
                <a:cs typeface="Arial"/>
              </a:rPr>
              <a:t>rollback</a:t>
            </a:r>
            <a:endParaRPr sz="1400">
              <a:latin typeface="Arial"/>
              <a:cs typeface="Arial"/>
            </a:endParaRPr>
          </a:p>
        </p:txBody>
      </p:sp>
      <p:sp>
        <p:nvSpPr>
          <p:cNvPr id="5" name="object 5"/>
          <p:cNvSpPr txBox="1"/>
          <p:nvPr/>
        </p:nvSpPr>
        <p:spPr>
          <a:xfrm>
            <a:off x="347294" y="852726"/>
            <a:ext cx="3898265" cy="5048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Observation</a:t>
            </a:r>
            <a:endParaRPr sz="1200">
              <a:latin typeface="Arial"/>
              <a:cs typeface="Arial"/>
            </a:endParaRPr>
          </a:p>
          <a:p>
            <a:pPr marL="12700" marR="5080">
              <a:lnSpc>
                <a:spcPts val="1200"/>
              </a:lnSpc>
              <a:spcBef>
                <a:spcPts val="10"/>
              </a:spcBef>
            </a:pPr>
            <a:r>
              <a:rPr sz="1000" spc="-5" dirty="0">
                <a:latin typeface="Arial"/>
                <a:cs typeface="Arial"/>
              </a:rPr>
              <a:t>If checkpointing</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done</a:t>
            </a:r>
            <a:r>
              <a:rPr sz="1000" dirty="0">
                <a:latin typeface="Arial"/>
                <a:cs typeface="Arial"/>
              </a:rPr>
              <a:t> </a:t>
            </a:r>
            <a:r>
              <a:rPr sz="1000" spc="-5" dirty="0">
                <a:latin typeface="Arial"/>
                <a:cs typeface="Arial"/>
              </a:rPr>
              <a:t>at the</a:t>
            </a:r>
            <a:r>
              <a:rPr sz="1000" dirty="0">
                <a:latin typeface="Arial"/>
                <a:cs typeface="Arial"/>
              </a:rPr>
              <a:t> </a:t>
            </a:r>
            <a:r>
              <a:rPr sz="1000" spc="-5" dirty="0">
                <a:latin typeface="Arial"/>
                <a:cs typeface="Arial"/>
              </a:rPr>
              <a:t>“wrong”</a:t>
            </a:r>
            <a:r>
              <a:rPr sz="1000" dirty="0">
                <a:latin typeface="Arial"/>
                <a:cs typeface="Arial"/>
              </a:rPr>
              <a:t> </a:t>
            </a:r>
            <a:r>
              <a:rPr sz="1000" spc="-5" dirty="0">
                <a:latin typeface="Arial"/>
                <a:cs typeface="Arial"/>
              </a:rPr>
              <a:t>instants,</a:t>
            </a:r>
            <a:r>
              <a:rPr sz="1000" dirty="0">
                <a:latin typeface="Arial"/>
                <a:cs typeface="Arial"/>
              </a:rPr>
              <a:t> </a:t>
            </a:r>
            <a:r>
              <a:rPr sz="1000" spc="-5" dirty="0">
                <a:latin typeface="Arial"/>
                <a:cs typeface="Arial"/>
              </a:rPr>
              <a:t>the recovery</a:t>
            </a:r>
            <a:r>
              <a:rPr sz="1000" dirty="0">
                <a:latin typeface="Arial"/>
                <a:cs typeface="Arial"/>
              </a:rPr>
              <a:t> </a:t>
            </a:r>
            <a:r>
              <a:rPr sz="1000" spc="-5" dirty="0">
                <a:latin typeface="Arial"/>
                <a:cs typeface="Arial"/>
              </a:rPr>
              <a:t>line</a:t>
            </a:r>
            <a:r>
              <a:rPr sz="1000" dirty="0">
                <a:latin typeface="Arial"/>
                <a:cs typeface="Arial"/>
              </a:rPr>
              <a:t> </a:t>
            </a:r>
            <a:r>
              <a:rPr sz="1000" spc="-15" dirty="0">
                <a:latin typeface="Arial"/>
                <a:cs typeface="Arial"/>
              </a:rPr>
              <a:t>may </a:t>
            </a:r>
            <a:r>
              <a:rPr sz="1000" spc="-265" dirty="0">
                <a:latin typeface="Arial"/>
                <a:cs typeface="Arial"/>
              </a:rPr>
              <a:t> </a:t>
            </a:r>
            <a:r>
              <a:rPr sz="1000" spc="-5" dirty="0">
                <a:latin typeface="Arial"/>
                <a:cs typeface="Arial"/>
              </a:rPr>
              <a:t>lie at system</a:t>
            </a:r>
            <a:r>
              <a:rPr sz="1000" dirty="0">
                <a:latin typeface="Arial"/>
                <a:cs typeface="Arial"/>
              </a:rPr>
              <a:t> startup</a:t>
            </a:r>
            <a:r>
              <a:rPr sz="1000" spc="-5" dirty="0">
                <a:latin typeface="Arial"/>
                <a:cs typeface="Arial"/>
              </a:rPr>
              <a:t> time.</a:t>
            </a:r>
            <a:r>
              <a:rPr sz="1000" spc="65" dirty="0">
                <a:latin typeface="Arial"/>
                <a:cs typeface="Arial"/>
              </a:rPr>
              <a:t> </a:t>
            </a:r>
            <a:r>
              <a:rPr sz="1000" spc="-20" dirty="0">
                <a:latin typeface="Arial"/>
                <a:cs typeface="Arial"/>
              </a:rPr>
              <a:t>We</a:t>
            </a:r>
            <a:r>
              <a:rPr sz="1000" dirty="0">
                <a:latin typeface="Arial"/>
                <a:cs typeface="Arial"/>
              </a:rPr>
              <a:t> </a:t>
            </a:r>
            <a:r>
              <a:rPr sz="1000" spc="-15" dirty="0">
                <a:latin typeface="Arial"/>
                <a:cs typeface="Arial"/>
              </a:rPr>
              <a:t>have</a:t>
            </a:r>
            <a:r>
              <a:rPr sz="1000" spc="-5" dirty="0">
                <a:latin typeface="Arial"/>
                <a:cs typeface="Arial"/>
              </a:rPr>
              <a:t> a</a:t>
            </a:r>
            <a:r>
              <a:rPr sz="1000" dirty="0">
                <a:latin typeface="Arial"/>
                <a:cs typeface="Arial"/>
              </a:rPr>
              <a:t> </a:t>
            </a:r>
            <a:r>
              <a:rPr sz="1000" spc="-5" dirty="0">
                <a:latin typeface="Arial"/>
                <a:cs typeface="Arial"/>
              </a:rPr>
              <a:t>so-called </a:t>
            </a:r>
            <a:r>
              <a:rPr sz="1000" spc="-5" dirty="0">
                <a:solidFill>
                  <a:srgbClr val="FA0000"/>
                </a:solidFill>
                <a:latin typeface="Arial"/>
                <a:cs typeface="Arial"/>
              </a:rPr>
              <a:t>cascaded rollback</a:t>
            </a:r>
            <a:r>
              <a:rPr sz="1000" spc="-5" dirty="0">
                <a:latin typeface="Arial"/>
                <a:cs typeface="Arial"/>
              </a:rPr>
              <a:t>.</a:t>
            </a:r>
            <a:endParaRPr sz="1000">
              <a:latin typeface="Arial"/>
              <a:cs typeface="Arial"/>
            </a:endParaRPr>
          </a:p>
        </p:txBody>
      </p:sp>
      <p:sp>
        <p:nvSpPr>
          <p:cNvPr id="6" name="object 6"/>
          <p:cNvSpPr txBox="1"/>
          <p:nvPr/>
        </p:nvSpPr>
        <p:spPr>
          <a:xfrm>
            <a:off x="3142424" y="2021744"/>
            <a:ext cx="110489"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m</a:t>
            </a:r>
            <a:endParaRPr sz="800">
              <a:latin typeface="Arial"/>
              <a:cs typeface="Arial"/>
            </a:endParaRPr>
          </a:p>
        </p:txBody>
      </p:sp>
      <p:sp>
        <p:nvSpPr>
          <p:cNvPr id="7" name="object 7"/>
          <p:cNvSpPr txBox="1"/>
          <p:nvPr/>
        </p:nvSpPr>
        <p:spPr>
          <a:xfrm>
            <a:off x="2640799" y="2031368"/>
            <a:ext cx="149860"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m*</a:t>
            </a:r>
            <a:endParaRPr sz="800">
              <a:latin typeface="Arial"/>
              <a:cs typeface="Arial"/>
            </a:endParaRPr>
          </a:p>
        </p:txBody>
      </p:sp>
      <p:sp>
        <p:nvSpPr>
          <p:cNvPr id="8" name="object 8"/>
          <p:cNvSpPr txBox="1"/>
          <p:nvPr/>
        </p:nvSpPr>
        <p:spPr>
          <a:xfrm>
            <a:off x="410883" y="1652005"/>
            <a:ext cx="149860"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P1</a:t>
            </a:r>
            <a:endParaRPr sz="800">
              <a:latin typeface="Arial"/>
              <a:cs typeface="Arial"/>
            </a:endParaRPr>
          </a:p>
        </p:txBody>
      </p:sp>
      <p:sp>
        <p:nvSpPr>
          <p:cNvPr id="9" name="object 9"/>
          <p:cNvSpPr txBox="1"/>
          <p:nvPr/>
        </p:nvSpPr>
        <p:spPr>
          <a:xfrm>
            <a:off x="392884" y="2228005"/>
            <a:ext cx="149860"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P2</a:t>
            </a:r>
            <a:endParaRPr sz="800">
              <a:latin typeface="Arial"/>
              <a:cs typeface="Arial"/>
            </a:endParaRPr>
          </a:p>
        </p:txBody>
      </p:sp>
      <p:grpSp>
        <p:nvGrpSpPr>
          <p:cNvPr id="10" name="object 10"/>
          <p:cNvGrpSpPr/>
          <p:nvPr/>
        </p:nvGrpSpPr>
        <p:grpSpPr>
          <a:xfrm>
            <a:off x="402406" y="1799129"/>
            <a:ext cx="3768725" cy="582930"/>
            <a:chOff x="402406" y="1799129"/>
            <a:chExt cx="3768725" cy="582930"/>
          </a:xfrm>
        </p:grpSpPr>
        <p:sp>
          <p:nvSpPr>
            <p:cNvPr id="11" name="object 11"/>
            <p:cNvSpPr/>
            <p:nvPr/>
          </p:nvSpPr>
          <p:spPr>
            <a:xfrm>
              <a:off x="405581" y="1802304"/>
              <a:ext cx="3762375" cy="576580"/>
            </a:xfrm>
            <a:custGeom>
              <a:avLst/>
              <a:gdLst/>
              <a:ahLst/>
              <a:cxnLst/>
              <a:rect l="l" t="t" r="r" b="b"/>
              <a:pathLst>
                <a:path w="3762375" h="576580">
                  <a:moveTo>
                    <a:pt x="0" y="0"/>
                  </a:moveTo>
                  <a:lnTo>
                    <a:pt x="3761999" y="0"/>
                  </a:lnTo>
                </a:path>
                <a:path w="3762375" h="576580">
                  <a:moveTo>
                    <a:pt x="0" y="575995"/>
                  </a:moveTo>
                  <a:lnTo>
                    <a:pt x="3761999" y="575995"/>
                  </a:lnTo>
                </a:path>
                <a:path w="3762375" h="576580">
                  <a:moveTo>
                    <a:pt x="341997" y="575995"/>
                  </a:moveTo>
                  <a:lnTo>
                    <a:pt x="445541" y="44207"/>
                  </a:lnTo>
                </a:path>
              </a:pathLst>
            </a:custGeom>
            <a:ln w="6350">
              <a:solidFill>
                <a:srgbClr val="231F20"/>
              </a:solidFill>
            </a:ln>
          </p:spPr>
          <p:txBody>
            <a:bodyPr wrap="square" lIns="0" tIns="0" rIns="0" bIns="0" rtlCol="0"/>
            <a:lstStyle/>
            <a:p>
              <a:endParaRPr/>
            </a:p>
          </p:txBody>
        </p:sp>
        <p:pic>
          <p:nvPicPr>
            <p:cNvPr id="12" name="object 12"/>
            <p:cNvPicPr/>
            <p:nvPr/>
          </p:nvPicPr>
          <p:blipFill>
            <a:blip r:embed="rId6" cstate="print"/>
            <a:stretch>
              <a:fillRect/>
            </a:stretch>
          </p:blipFill>
          <p:spPr>
            <a:xfrm>
              <a:off x="804903" y="1802304"/>
              <a:ext cx="75396" cy="95300"/>
            </a:xfrm>
            <a:prstGeom prst="rect">
              <a:avLst/>
            </a:prstGeom>
          </p:spPr>
        </p:pic>
        <p:sp>
          <p:nvSpPr>
            <p:cNvPr id="13" name="object 13"/>
            <p:cNvSpPr/>
            <p:nvPr/>
          </p:nvSpPr>
          <p:spPr>
            <a:xfrm>
              <a:off x="1017582" y="1802304"/>
              <a:ext cx="157480" cy="533400"/>
            </a:xfrm>
            <a:custGeom>
              <a:avLst/>
              <a:gdLst/>
              <a:ahLst/>
              <a:cxnLst/>
              <a:rect l="l" t="t" r="r" b="b"/>
              <a:pathLst>
                <a:path w="157480" h="533400">
                  <a:moveTo>
                    <a:pt x="0" y="0"/>
                  </a:moveTo>
                  <a:lnTo>
                    <a:pt x="157276" y="532800"/>
                  </a:lnTo>
                </a:path>
              </a:pathLst>
            </a:custGeom>
            <a:ln w="6350">
              <a:solidFill>
                <a:srgbClr val="231F20"/>
              </a:solidFill>
            </a:ln>
          </p:spPr>
          <p:txBody>
            <a:bodyPr wrap="square" lIns="0" tIns="0" rIns="0" bIns="0" rtlCol="0"/>
            <a:lstStyle/>
            <a:p>
              <a:endParaRPr/>
            </a:p>
          </p:txBody>
        </p:sp>
        <p:pic>
          <p:nvPicPr>
            <p:cNvPr id="14" name="object 14"/>
            <p:cNvPicPr/>
            <p:nvPr/>
          </p:nvPicPr>
          <p:blipFill>
            <a:blip r:embed="rId7" cstate="print"/>
            <a:stretch>
              <a:fillRect/>
            </a:stretch>
          </p:blipFill>
          <p:spPr>
            <a:xfrm>
              <a:off x="1125404" y="2281481"/>
              <a:ext cx="73670" cy="96818"/>
            </a:xfrm>
            <a:prstGeom prst="rect">
              <a:avLst/>
            </a:prstGeom>
          </p:spPr>
        </p:pic>
        <p:sp>
          <p:nvSpPr>
            <p:cNvPr id="15" name="object 15"/>
            <p:cNvSpPr/>
            <p:nvPr/>
          </p:nvSpPr>
          <p:spPr>
            <a:xfrm>
              <a:off x="1197580" y="1802304"/>
              <a:ext cx="182880" cy="533400"/>
            </a:xfrm>
            <a:custGeom>
              <a:avLst/>
              <a:gdLst/>
              <a:ahLst/>
              <a:cxnLst/>
              <a:rect l="l" t="t" r="r" b="b"/>
              <a:pathLst>
                <a:path w="182880" h="533400">
                  <a:moveTo>
                    <a:pt x="0" y="0"/>
                  </a:moveTo>
                  <a:lnTo>
                    <a:pt x="182765" y="533396"/>
                  </a:lnTo>
                </a:path>
              </a:pathLst>
            </a:custGeom>
            <a:ln w="6350">
              <a:solidFill>
                <a:srgbClr val="231F20"/>
              </a:solidFill>
            </a:ln>
          </p:spPr>
          <p:txBody>
            <a:bodyPr wrap="square" lIns="0" tIns="0" rIns="0" bIns="0" rtlCol="0"/>
            <a:lstStyle/>
            <a:p>
              <a:endParaRPr/>
            </a:p>
          </p:txBody>
        </p:sp>
        <p:pic>
          <p:nvPicPr>
            <p:cNvPr id="16" name="object 16"/>
            <p:cNvPicPr/>
            <p:nvPr/>
          </p:nvPicPr>
          <p:blipFill>
            <a:blip r:embed="rId8" cstate="print"/>
            <a:stretch>
              <a:fillRect/>
            </a:stretch>
          </p:blipFill>
          <p:spPr>
            <a:xfrm>
              <a:off x="1329566" y="2281080"/>
              <a:ext cx="72657" cy="97219"/>
            </a:xfrm>
            <a:prstGeom prst="rect">
              <a:avLst/>
            </a:prstGeom>
          </p:spPr>
        </p:pic>
        <p:sp>
          <p:nvSpPr>
            <p:cNvPr id="17" name="object 17"/>
            <p:cNvSpPr/>
            <p:nvPr/>
          </p:nvSpPr>
          <p:spPr>
            <a:xfrm>
              <a:off x="1629578" y="1845915"/>
              <a:ext cx="137795" cy="532765"/>
            </a:xfrm>
            <a:custGeom>
              <a:avLst/>
              <a:gdLst/>
              <a:ahLst/>
              <a:cxnLst/>
              <a:rect l="l" t="t" r="r" b="b"/>
              <a:pathLst>
                <a:path w="137794" h="532764">
                  <a:moveTo>
                    <a:pt x="0" y="532384"/>
                  </a:moveTo>
                  <a:lnTo>
                    <a:pt x="137384" y="0"/>
                  </a:lnTo>
                </a:path>
              </a:pathLst>
            </a:custGeom>
            <a:ln w="6350">
              <a:solidFill>
                <a:srgbClr val="231F20"/>
              </a:solidFill>
            </a:ln>
          </p:spPr>
          <p:txBody>
            <a:bodyPr wrap="square" lIns="0" tIns="0" rIns="0" bIns="0" rtlCol="0"/>
            <a:lstStyle/>
            <a:p>
              <a:endParaRPr/>
            </a:p>
          </p:txBody>
        </p:sp>
        <p:pic>
          <p:nvPicPr>
            <p:cNvPr id="18" name="object 18"/>
            <p:cNvPicPr/>
            <p:nvPr/>
          </p:nvPicPr>
          <p:blipFill>
            <a:blip r:embed="rId9" cstate="print"/>
            <a:stretch>
              <a:fillRect/>
            </a:stretch>
          </p:blipFill>
          <p:spPr>
            <a:xfrm>
              <a:off x="1718640" y="1802304"/>
              <a:ext cx="74371" cy="96366"/>
            </a:xfrm>
            <a:prstGeom prst="rect">
              <a:avLst/>
            </a:prstGeom>
          </p:spPr>
        </p:pic>
        <p:sp>
          <p:nvSpPr>
            <p:cNvPr id="19" name="object 19"/>
            <p:cNvSpPr/>
            <p:nvPr/>
          </p:nvSpPr>
          <p:spPr>
            <a:xfrm>
              <a:off x="1953577" y="1845965"/>
              <a:ext cx="134620" cy="532765"/>
            </a:xfrm>
            <a:custGeom>
              <a:avLst/>
              <a:gdLst/>
              <a:ahLst/>
              <a:cxnLst/>
              <a:rect l="l" t="t" r="r" b="b"/>
              <a:pathLst>
                <a:path w="134619" h="532764">
                  <a:moveTo>
                    <a:pt x="0" y="532334"/>
                  </a:moveTo>
                  <a:lnTo>
                    <a:pt x="134493" y="0"/>
                  </a:lnTo>
                </a:path>
              </a:pathLst>
            </a:custGeom>
            <a:ln w="6350">
              <a:solidFill>
                <a:srgbClr val="231F20"/>
              </a:solidFill>
            </a:ln>
          </p:spPr>
          <p:txBody>
            <a:bodyPr wrap="square" lIns="0" tIns="0" rIns="0" bIns="0" rtlCol="0"/>
            <a:lstStyle/>
            <a:p>
              <a:endParaRPr/>
            </a:p>
          </p:txBody>
        </p:sp>
        <p:pic>
          <p:nvPicPr>
            <p:cNvPr id="20" name="object 20"/>
            <p:cNvPicPr/>
            <p:nvPr/>
          </p:nvPicPr>
          <p:blipFill>
            <a:blip r:embed="rId10" cstate="print"/>
            <a:stretch>
              <a:fillRect/>
            </a:stretch>
          </p:blipFill>
          <p:spPr>
            <a:xfrm>
              <a:off x="2039912" y="1802304"/>
              <a:ext cx="74485" cy="96292"/>
            </a:xfrm>
            <a:prstGeom prst="rect">
              <a:avLst/>
            </a:prstGeom>
          </p:spPr>
        </p:pic>
        <p:sp>
          <p:nvSpPr>
            <p:cNvPr id="21" name="object 21"/>
            <p:cNvSpPr/>
            <p:nvPr/>
          </p:nvSpPr>
          <p:spPr>
            <a:xfrm>
              <a:off x="2151583" y="1802304"/>
              <a:ext cx="167640" cy="533400"/>
            </a:xfrm>
            <a:custGeom>
              <a:avLst/>
              <a:gdLst/>
              <a:ahLst/>
              <a:cxnLst/>
              <a:rect l="l" t="t" r="r" b="b"/>
              <a:pathLst>
                <a:path w="167639" h="533400">
                  <a:moveTo>
                    <a:pt x="0" y="0"/>
                  </a:moveTo>
                  <a:lnTo>
                    <a:pt x="167093" y="533024"/>
                  </a:lnTo>
                </a:path>
              </a:pathLst>
            </a:custGeom>
            <a:ln w="6350">
              <a:solidFill>
                <a:srgbClr val="231F20"/>
              </a:solidFill>
            </a:ln>
          </p:spPr>
          <p:txBody>
            <a:bodyPr wrap="square" lIns="0" tIns="0" rIns="0" bIns="0" rtlCol="0"/>
            <a:lstStyle/>
            <a:p>
              <a:endParaRPr/>
            </a:p>
          </p:txBody>
        </p:sp>
        <p:pic>
          <p:nvPicPr>
            <p:cNvPr id="22" name="object 22"/>
            <p:cNvPicPr/>
            <p:nvPr/>
          </p:nvPicPr>
          <p:blipFill>
            <a:blip r:embed="rId11" cstate="print"/>
            <a:stretch>
              <a:fillRect/>
            </a:stretch>
          </p:blipFill>
          <p:spPr>
            <a:xfrm>
              <a:off x="2268702" y="2281303"/>
              <a:ext cx="73291" cy="96996"/>
            </a:xfrm>
            <a:prstGeom prst="rect">
              <a:avLst/>
            </a:prstGeom>
          </p:spPr>
        </p:pic>
        <p:sp>
          <p:nvSpPr>
            <p:cNvPr id="23" name="object 23"/>
            <p:cNvSpPr/>
            <p:nvPr/>
          </p:nvSpPr>
          <p:spPr>
            <a:xfrm>
              <a:off x="2547581" y="1845311"/>
              <a:ext cx="165735" cy="533400"/>
            </a:xfrm>
            <a:custGeom>
              <a:avLst/>
              <a:gdLst/>
              <a:ahLst/>
              <a:cxnLst/>
              <a:rect l="l" t="t" r="r" b="b"/>
              <a:pathLst>
                <a:path w="165735" h="533400">
                  <a:moveTo>
                    <a:pt x="0" y="532988"/>
                  </a:moveTo>
                  <a:lnTo>
                    <a:pt x="165646" y="0"/>
                  </a:lnTo>
                </a:path>
              </a:pathLst>
            </a:custGeom>
            <a:ln w="6350">
              <a:solidFill>
                <a:srgbClr val="231F20"/>
              </a:solidFill>
            </a:ln>
          </p:spPr>
          <p:txBody>
            <a:bodyPr wrap="square" lIns="0" tIns="0" rIns="0" bIns="0" rtlCol="0"/>
            <a:lstStyle/>
            <a:p>
              <a:endParaRPr/>
            </a:p>
          </p:txBody>
        </p:sp>
        <p:pic>
          <p:nvPicPr>
            <p:cNvPr id="24" name="object 24"/>
            <p:cNvPicPr/>
            <p:nvPr/>
          </p:nvPicPr>
          <p:blipFill>
            <a:blip r:embed="rId12" cstate="print"/>
            <a:stretch>
              <a:fillRect/>
            </a:stretch>
          </p:blipFill>
          <p:spPr>
            <a:xfrm>
              <a:off x="2663317" y="1802304"/>
              <a:ext cx="73355" cy="96977"/>
            </a:xfrm>
            <a:prstGeom prst="rect">
              <a:avLst/>
            </a:prstGeom>
          </p:spPr>
        </p:pic>
        <p:sp>
          <p:nvSpPr>
            <p:cNvPr id="25" name="object 25"/>
            <p:cNvSpPr/>
            <p:nvPr/>
          </p:nvSpPr>
          <p:spPr>
            <a:xfrm>
              <a:off x="2997580" y="1802304"/>
              <a:ext cx="197485" cy="534035"/>
            </a:xfrm>
            <a:custGeom>
              <a:avLst/>
              <a:gdLst/>
              <a:ahLst/>
              <a:cxnLst/>
              <a:rect l="l" t="t" r="r" b="b"/>
              <a:pathLst>
                <a:path w="197485" h="534035">
                  <a:moveTo>
                    <a:pt x="0" y="0"/>
                  </a:moveTo>
                  <a:lnTo>
                    <a:pt x="197027" y="533747"/>
                  </a:lnTo>
                </a:path>
              </a:pathLst>
            </a:custGeom>
            <a:ln w="6350">
              <a:solidFill>
                <a:srgbClr val="231F20"/>
              </a:solidFill>
            </a:ln>
          </p:spPr>
          <p:txBody>
            <a:bodyPr wrap="square" lIns="0" tIns="0" rIns="0" bIns="0" rtlCol="0"/>
            <a:lstStyle/>
            <a:p>
              <a:endParaRPr/>
            </a:p>
          </p:txBody>
        </p:sp>
        <p:pic>
          <p:nvPicPr>
            <p:cNvPr id="26" name="object 26"/>
            <p:cNvPicPr/>
            <p:nvPr/>
          </p:nvPicPr>
          <p:blipFill>
            <a:blip r:embed="rId13" cstate="print"/>
            <a:stretch>
              <a:fillRect/>
            </a:stretch>
          </p:blipFill>
          <p:spPr>
            <a:xfrm>
              <a:off x="3143148" y="2280935"/>
              <a:ext cx="72059" cy="97364"/>
            </a:xfrm>
            <a:prstGeom prst="rect">
              <a:avLst/>
            </a:prstGeom>
          </p:spPr>
        </p:pic>
        <p:sp>
          <p:nvSpPr>
            <p:cNvPr id="27" name="object 27"/>
            <p:cNvSpPr/>
            <p:nvPr/>
          </p:nvSpPr>
          <p:spPr>
            <a:xfrm>
              <a:off x="3339579" y="1802304"/>
              <a:ext cx="210185" cy="534670"/>
            </a:xfrm>
            <a:custGeom>
              <a:avLst/>
              <a:gdLst/>
              <a:ahLst/>
              <a:cxnLst/>
              <a:rect l="l" t="t" r="r" b="b"/>
              <a:pathLst>
                <a:path w="210185" h="534669">
                  <a:moveTo>
                    <a:pt x="0" y="0"/>
                  </a:moveTo>
                  <a:lnTo>
                    <a:pt x="209918" y="534080"/>
                  </a:lnTo>
                </a:path>
              </a:pathLst>
            </a:custGeom>
            <a:ln w="6350">
              <a:solidFill>
                <a:srgbClr val="231F20"/>
              </a:solidFill>
            </a:ln>
          </p:spPr>
          <p:txBody>
            <a:bodyPr wrap="square" lIns="0" tIns="0" rIns="0" bIns="0" rtlCol="0"/>
            <a:lstStyle/>
            <a:p>
              <a:endParaRPr/>
            </a:p>
          </p:txBody>
        </p:sp>
        <p:pic>
          <p:nvPicPr>
            <p:cNvPr id="28" name="object 28"/>
            <p:cNvPicPr/>
            <p:nvPr/>
          </p:nvPicPr>
          <p:blipFill>
            <a:blip r:embed="rId14" cstate="print"/>
            <a:stretch>
              <a:fillRect/>
            </a:stretch>
          </p:blipFill>
          <p:spPr>
            <a:xfrm>
              <a:off x="3497440" y="2280851"/>
              <a:ext cx="71488" cy="97448"/>
            </a:xfrm>
            <a:prstGeom prst="rect">
              <a:avLst/>
            </a:prstGeom>
          </p:spPr>
        </p:pic>
      </p:grpSp>
      <p:sp>
        <p:nvSpPr>
          <p:cNvPr id="29" name="object 29"/>
          <p:cNvSpPr txBox="1"/>
          <p:nvPr/>
        </p:nvSpPr>
        <p:spPr>
          <a:xfrm>
            <a:off x="878884" y="1456207"/>
            <a:ext cx="51117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Initial</a:t>
            </a:r>
            <a:r>
              <a:rPr sz="800" spc="-45" dirty="0">
                <a:solidFill>
                  <a:srgbClr val="231F20"/>
                </a:solidFill>
                <a:latin typeface="Arial"/>
                <a:cs typeface="Arial"/>
              </a:rPr>
              <a:t> </a:t>
            </a:r>
            <a:r>
              <a:rPr sz="800" dirty="0">
                <a:solidFill>
                  <a:srgbClr val="231F20"/>
                </a:solidFill>
                <a:latin typeface="Arial"/>
                <a:cs typeface="Arial"/>
              </a:rPr>
              <a:t>state</a:t>
            </a:r>
            <a:endParaRPr sz="800">
              <a:latin typeface="Arial"/>
              <a:cs typeface="Arial"/>
            </a:endParaRPr>
          </a:p>
        </p:txBody>
      </p:sp>
      <p:sp>
        <p:nvSpPr>
          <p:cNvPr id="30" name="object 30"/>
          <p:cNvSpPr txBox="1"/>
          <p:nvPr/>
        </p:nvSpPr>
        <p:spPr>
          <a:xfrm>
            <a:off x="3884885" y="1994002"/>
            <a:ext cx="33591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Failure</a:t>
            </a:r>
            <a:endParaRPr sz="800">
              <a:latin typeface="Arial"/>
              <a:cs typeface="Arial"/>
            </a:endParaRPr>
          </a:p>
        </p:txBody>
      </p:sp>
      <p:sp>
        <p:nvSpPr>
          <p:cNvPr id="31" name="object 31"/>
          <p:cNvSpPr txBox="1"/>
          <p:nvPr/>
        </p:nvSpPr>
        <p:spPr>
          <a:xfrm>
            <a:off x="2951911" y="1439647"/>
            <a:ext cx="53403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Checkpoint</a:t>
            </a:r>
            <a:endParaRPr sz="800">
              <a:latin typeface="Arial"/>
              <a:cs typeface="Arial"/>
            </a:endParaRPr>
          </a:p>
        </p:txBody>
      </p:sp>
      <p:grpSp>
        <p:nvGrpSpPr>
          <p:cNvPr id="32" name="object 32"/>
          <p:cNvGrpSpPr/>
          <p:nvPr/>
        </p:nvGrpSpPr>
        <p:grpSpPr>
          <a:xfrm>
            <a:off x="2855086" y="1578645"/>
            <a:ext cx="1013460" cy="878205"/>
            <a:chOff x="2855086" y="1578645"/>
            <a:chExt cx="1013460" cy="878205"/>
          </a:xfrm>
        </p:grpSpPr>
        <p:sp>
          <p:nvSpPr>
            <p:cNvPr id="33" name="object 33"/>
            <p:cNvSpPr/>
            <p:nvPr/>
          </p:nvSpPr>
          <p:spPr>
            <a:xfrm>
              <a:off x="3717582" y="2306300"/>
              <a:ext cx="144145" cy="144145"/>
            </a:xfrm>
            <a:custGeom>
              <a:avLst/>
              <a:gdLst/>
              <a:ahLst/>
              <a:cxnLst/>
              <a:rect l="l" t="t" r="r" b="b"/>
              <a:pathLst>
                <a:path w="144145" h="144144">
                  <a:moveTo>
                    <a:pt x="0" y="0"/>
                  </a:moveTo>
                  <a:lnTo>
                    <a:pt x="143992" y="143996"/>
                  </a:lnTo>
                </a:path>
                <a:path w="144145" h="144144">
                  <a:moveTo>
                    <a:pt x="0" y="143996"/>
                  </a:moveTo>
                  <a:lnTo>
                    <a:pt x="143992" y="0"/>
                  </a:lnTo>
                </a:path>
              </a:pathLst>
            </a:custGeom>
            <a:ln w="12700">
              <a:solidFill>
                <a:srgbClr val="231F20"/>
              </a:solidFill>
            </a:ln>
          </p:spPr>
          <p:txBody>
            <a:bodyPr wrap="square" lIns="0" tIns="0" rIns="0" bIns="0" rtlCol="0"/>
            <a:lstStyle/>
            <a:p>
              <a:endParaRPr/>
            </a:p>
          </p:txBody>
        </p:sp>
        <p:sp>
          <p:nvSpPr>
            <p:cNvPr id="34" name="object 34"/>
            <p:cNvSpPr/>
            <p:nvPr/>
          </p:nvSpPr>
          <p:spPr>
            <a:xfrm>
              <a:off x="2858261" y="1581820"/>
              <a:ext cx="250190" cy="186690"/>
            </a:xfrm>
            <a:custGeom>
              <a:avLst/>
              <a:gdLst/>
              <a:ahLst/>
              <a:cxnLst/>
              <a:rect l="l" t="t" r="r" b="b"/>
              <a:pathLst>
                <a:path w="250189" h="186689">
                  <a:moveTo>
                    <a:pt x="250050" y="0"/>
                  </a:moveTo>
                  <a:lnTo>
                    <a:pt x="0" y="186114"/>
                  </a:lnTo>
                </a:path>
              </a:pathLst>
            </a:custGeom>
            <a:ln w="6350">
              <a:solidFill>
                <a:srgbClr val="231F20"/>
              </a:solidFill>
            </a:ln>
          </p:spPr>
          <p:txBody>
            <a:bodyPr wrap="square" lIns="0" tIns="0" rIns="0" bIns="0" rtlCol="0"/>
            <a:lstStyle/>
            <a:p>
              <a:endParaRPr/>
            </a:p>
          </p:txBody>
        </p:sp>
      </p:grpSp>
      <p:sp>
        <p:nvSpPr>
          <p:cNvPr id="35" name="object 35"/>
          <p:cNvSpPr txBox="1"/>
          <p:nvPr/>
        </p:nvSpPr>
        <p:spPr>
          <a:xfrm>
            <a:off x="3560876" y="2444004"/>
            <a:ext cx="247650" cy="147320"/>
          </a:xfrm>
          <a:prstGeom prst="rect">
            <a:avLst/>
          </a:prstGeom>
        </p:spPr>
        <p:txBody>
          <a:bodyPr vert="horz" wrap="square" lIns="0" tIns="12700" rIns="0" bIns="0" rtlCol="0">
            <a:spAutoFit/>
          </a:bodyPr>
          <a:lstStyle/>
          <a:p>
            <a:pPr marL="12700">
              <a:lnSpc>
                <a:spcPct val="100000"/>
              </a:lnSpc>
              <a:spcBef>
                <a:spcPts val="100"/>
              </a:spcBef>
            </a:pPr>
            <a:r>
              <a:rPr sz="800" spc="-30" dirty="0">
                <a:solidFill>
                  <a:srgbClr val="231F20"/>
                </a:solidFill>
                <a:latin typeface="Arial"/>
                <a:cs typeface="Arial"/>
              </a:rPr>
              <a:t>T</a:t>
            </a:r>
            <a:r>
              <a:rPr sz="800" spc="-5" dirty="0">
                <a:solidFill>
                  <a:srgbClr val="231F20"/>
                </a:solidFill>
                <a:latin typeface="Arial"/>
                <a:cs typeface="Arial"/>
              </a:rPr>
              <a:t>ime</a:t>
            </a:r>
            <a:endParaRPr sz="800">
              <a:latin typeface="Arial"/>
              <a:cs typeface="Arial"/>
            </a:endParaRPr>
          </a:p>
        </p:txBody>
      </p:sp>
      <p:grpSp>
        <p:nvGrpSpPr>
          <p:cNvPr id="36" name="object 36"/>
          <p:cNvGrpSpPr/>
          <p:nvPr/>
        </p:nvGrpSpPr>
        <p:grpSpPr>
          <a:xfrm>
            <a:off x="612055" y="1578884"/>
            <a:ext cx="3528695" cy="982344"/>
            <a:chOff x="612055" y="1578884"/>
            <a:chExt cx="3528695" cy="982344"/>
          </a:xfrm>
        </p:grpSpPr>
        <p:sp>
          <p:nvSpPr>
            <p:cNvPr id="37" name="object 37"/>
            <p:cNvSpPr/>
            <p:nvPr/>
          </p:nvSpPr>
          <p:spPr>
            <a:xfrm>
              <a:off x="3843578" y="2522300"/>
              <a:ext cx="252729" cy="0"/>
            </a:xfrm>
            <a:custGeom>
              <a:avLst/>
              <a:gdLst/>
              <a:ahLst/>
              <a:cxnLst/>
              <a:rect l="l" t="t" r="r" b="b"/>
              <a:pathLst>
                <a:path w="252729">
                  <a:moveTo>
                    <a:pt x="0" y="0"/>
                  </a:moveTo>
                  <a:lnTo>
                    <a:pt x="252133" y="0"/>
                  </a:lnTo>
                </a:path>
              </a:pathLst>
            </a:custGeom>
            <a:ln w="6350">
              <a:solidFill>
                <a:srgbClr val="231F20"/>
              </a:solidFill>
            </a:ln>
          </p:spPr>
          <p:txBody>
            <a:bodyPr wrap="square" lIns="0" tIns="0" rIns="0" bIns="0" rtlCol="0"/>
            <a:lstStyle/>
            <a:p>
              <a:endParaRPr/>
            </a:p>
          </p:txBody>
        </p:sp>
        <p:sp>
          <p:nvSpPr>
            <p:cNvPr id="38" name="object 38"/>
            <p:cNvSpPr/>
            <p:nvPr/>
          </p:nvSpPr>
          <p:spPr>
            <a:xfrm>
              <a:off x="4051122" y="2483892"/>
              <a:ext cx="90170" cy="76835"/>
            </a:xfrm>
            <a:custGeom>
              <a:avLst/>
              <a:gdLst/>
              <a:ahLst/>
              <a:cxnLst/>
              <a:rect l="l" t="t" r="r" b="b"/>
              <a:pathLst>
                <a:path w="90170" h="76835">
                  <a:moveTo>
                    <a:pt x="0" y="0"/>
                  </a:moveTo>
                  <a:lnTo>
                    <a:pt x="7208" y="19202"/>
                  </a:lnTo>
                  <a:lnTo>
                    <a:pt x="9610" y="38405"/>
                  </a:lnTo>
                  <a:lnTo>
                    <a:pt x="7208" y="57607"/>
                  </a:lnTo>
                  <a:lnTo>
                    <a:pt x="0" y="76810"/>
                  </a:lnTo>
                  <a:lnTo>
                    <a:pt x="89623" y="38407"/>
                  </a:lnTo>
                  <a:lnTo>
                    <a:pt x="0" y="0"/>
                  </a:lnTo>
                  <a:close/>
                </a:path>
              </a:pathLst>
            </a:custGeom>
            <a:solidFill>
              <a:srgbClr val="231F20"/>
            </a:solidFill>
          </p:spPr>
          <p:txBody>
            <a:bodyPr wrap="square" lIns="0" tIns="0" rIns="0" bIns="0" rtlCol="0"/>
            <a:lstStyle/>
            <a:p>
              <a:endParaRPr/>
            </a:p>
          </p:txBody>
        </p:sp>
        <p:sp>
          <p:nvSpPr>
            <p:cNvPr id="39" name="object 39"/>
            <p:cNvSpPr/>
            <p:nvPr/>
          </p:nvSpPr>
          <p:spPr>
            <a:xfrm>
              <a:off x="3789578" y="2144302"/>
              <a:ext cx="90170" cy="234315"/>
            </a:xfrm>
            <a:custGeom>
              <a:avLst/>
              <a:gdLst/>
              <a:ahLst/>
              <a:cxnLst/>
              <a:rect l="l" t="t" r="r" b="b"/>
              <a:pathLst>
                <a:path w="90170" h="234314">
                  <a:moveTo>
                    <a:pt x="90004" y="0"/>
                  </a:moveTo>
                  <a:lnTo>
                    <a:pt x="0" y="234001"/>
                  </a:lnTo>
                </a:path>
              </a:pathLst>
            </a:custGeom>
            <a:ln w="6350">
              <a:solidFill>
                <a:srgbClr val="231F20"/>
              </a:solidFill>
            </a:ln>
          </p:spPr>
          <p:txBody>
            <a:bodyPr wrap="square" lIns="0" tIns="0" rIns="0" bIns="0" rtlCol="0"/>
            <a:lstStyle/>
            <a:p>
              <a:endParaRPr/>
            </a:p>
          </p:txBody>
        </p:sp>
        <p:sp>
          <p:nvSpPr>
            <p:cNvPr id="40" name="object 40"/>
            <p:cNvSpPr/>
            <p:nvPr/>
          </p:nvSpPr>
          <p:spPr>
            <a:xfrm>
              <a:off x="621581" y="1730301"/>
              <a:ext cx="2736215" cy="720090"/>
            </a:xfrm>
            <a:custGeom>
              <a:avLst/>
              <a:gdLst/>
              <a:ahLst/>
              <a:cxnLst/>
              <a:rect l="l" t="t" r="r" b="b"/>
              <a:pathLst>
                <a:path w="2736215" h="720089">
                  <a:moveTo>
                    <a:pt x="0" y="719996"/>
                  </a:moveTo>
                  <a:lnTo>
                    <a:pt x="0" y="0"/>
                  </a:lnTo>
                </a:path>
                <a:path w="2736215" h="720089">
                  <a:moveTo>
                    <a:pt x="288001" y="0"/>
                  </a:moveTo>
                  <a:lnTo>
                    <a:pt x="288001" y="143996"/>
                  </a:lnTo>
                </a:path>
                <a:path w="2736215" h="720089">
                  <a:moveTo>
                    <a:pt x="864001" y="575999"/>
                  </a:moveTo>
                  <a:lnTo>
                    <a:pt x="864001" y="719996"/>
                  </a:lnTo>
                </a:path>
                <a:path w="2736215" h="720089">
                  <a:moveTo>
                    <a:pt x="1296004" y="0"/>
                  </a:moveTo>
                  <a:lnTo>
                    <a:pt x="1296004" y="143996"/>
                  </a:lnTo>
                </a:path>
                <a:path w="2736215" h="720089">
                  <a:moveTo>
                    <a:pt x="1692003" y="0"/>
                  </a:moveTo>
                  <a:lnTo>
                    <a:pt x="1692003" y="143996"/>
                  </a:lnTo>
                </a:path>
                <a:path w="2736215" h="720089">
                  <a:moveTo>
                    <a:pt x="1835995" y="575999"/>
                  </a:moveTo>
                  <a:lnTo>
                    <a:pt x="1835995" y="719996"/>
                  </a:lnTo>
                </a:path>
                <a:path w="2736215" h="720089">
                  <a:moveTo>
                    <a:pt x="2231994" y="0"/>
                  </a:moveTo>
                  <a:lnTo>
                    <a:pt x="2231994" y="143996"/>
                  </a:lnTo>
                </a:path>
                <a:path w="2736215" h="720089">
                  <a:moveTo>
                    <a:pt x="2735994" y="575999"/>
                  </a:moveTo>
                  <a:lnTo>
                    <a:pt x="2735994" y="719996"/>
                  </a:lnTo>
                </a:path>
              </a:pathLst>
            </a:custGeom>
            <a:ln w="19051">
              <a:solidFill>
                <a:srgbClr val="231F20"/>
              </a:solidFill>
            </a:ln>
          </p:spPr>
          <p:txBody>
            <a:bodyPr wrap="square" lIns="0" tIns="0" rIns="0" bIns="0" rtlCol="0"/>
            <a:lstStyle/>
            <a:p>
              <a:endParaRPr/>
            </a:p>
          </p:txBody>
        </p:sp>
        <p:sp>
          <p:nvSpPr>
            <p:cNvPr id="41" name="object 41"/>
            <p:cNvSpPr/>
            <p:nvPr/>
          </p:nvSpPr>
          <p:spPr>
            <a:xfrm>
              <a:off x="623069" y="1582059"/>
              <a:ext cx="233679" cy="177800"/>
            </a:xfrm>
            <a:custGeom>
              <a:avLst/>
              <a:gdLst/>
              <a:ahLst/>
              <a:cxnLst/>
              <a:rect l="l" t="t" r="r" b="b"/>
              <a:pathLst>
                <a:path w="233680" h="177800">
                  <a:moveTo>
                    <a:pt x="233575" y="0"/>
                  </a:moveTo>
                  <a:lnTo>
                    <a:pt x="0" y="177407"/>
                  </a:lnTo>
                </a:path>
              </a:pathLst>
            </a:custGeom>
            <a:ln w="6350">
              <a:solidFill>
                <a:srgbClr val="231F20"/>
              </a:solidFill>
            </a:ln>
          </p:spPr>
          <p:txBody>
            <a:bodyPr wrap="square" lIns="0" tIns="0" rIns="0" bIns="0" rtlCol="0"/>
            <a:lstStyle/>
            <a:p>
              <a:endParaRPr/>
            </a:p>
          </p:txBody>
        </p:sp>
      </p:grpSp>
      <p:sp>
        <p:nvSpPr>
          <p:cNvPr id="42" name="object 42"/>
          <p:cNvSpPr txBox="1"/>
          <p:nvPr/>
        </p:nvSpPr>
        <p:spPr>
          <a:xfrm>
            <a:off x="66713" y="3331252"/>
            <a:ext cx="931544"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5" action="ppaction://hlinksldjump"/>
              </a:rPr>
              <a:t>Independent</a:t>
            </a:r>
            <a:r>
              <a:rPr sz="600" spc="-20" dirty="0">
                <a:solidFill>
                  <a:srgbClr val="3333B2"/>
                </a:solidFill>
                <a:latin typeface="Arial"/>
                <a:cs typeface="Arial"/>
                <a:hlinkClick r:id="rId15" action="ppaction://hlinksldjump"/>
              </a:rPr>
              <a:t> </a:t>
            </a:r>
            <a:r>
              <a:rPr sz="600" spc="-5" dirty="0">
                <a:solidFill>
                  <a:srgbClr val="3333B2"/>
                </a:solidFill>
                <a:latin typeface="Arial"/>
                <a:cs typeface="Arial"/>
                <a:hlinkClick r:id="rId15" action="ppaction://hlinksldjump"/>
              </a:rPr>
              <a:t>checkpointing</a:t>
            </a:r>
            <a:endParaRPr sz="600">
              <a:latin typeface="Arial"/>
              <a:cs typeface="Arial"/>
            </a:endParaRPr>
          </a:p>
        </p:txBody>
      </p:sp>
      <p:sp>
        <p:nvSpPr>
          <p:cNvPr id="43" name="object 4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62</a:t>
            </a:r>
            <a:r>
              <a:rPr spc="-40" dirty="0"/>
              <a:t> </a:t>
            </a:r>
            <a:r>
              <a:rPr spc="-5" dirty="0"/>
              <a:t>/</a:t>
            </a:r>
            <a:r>
              <a:rPr spc="-35" dirty="0"/>
              <a:t> </a:t>
            </a:r>
            <a:r>
              <a:rPr spc="-5" dirty="0"/>
              <a:t>68</a:t>
            </a:r>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31544"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Independent</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9036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Recovery</a:t>
            </a:r>
            <a:endParaRPr sz="600">
              <a:latin typeface="Arial"/>
              <a:cs typeface="Arial"/>
            </a:endParaRPr>
          </a:p>
        </p:txBody>
      </p:sp>
      <p:sp>
        <p:nvSpPr>
          <p:cNvPr id="3" name="object 3"/>
          <p:cNvSpPr txBox="1"/>
          <p:nvPr/>
        </p:nvSpPr>
        <p:spPr>
          <a:xfrm>
            <a:off x="4036415" y="716"/>
            <a:ext cx="50545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4" name="object 4"/>
          <p:cNvSpPr txBox="1"/>
          <p:nvPr/>
        </p:nvSpPr>
        <p:spPr>
          <a:xfrm>
            <a:off x="95300" y="188846"/>
            <a:ext cx="3887470" cy="85788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Independent</a:t>
            </a:r>
            <a:r>
              <a:rPr sz="1400" spc="-10" dirty="0">
                <a:solidFill>
                  <a:srgbClr val="3333B2"/>
                </a:solidFill>
                <a:latin typeface="Arial"/>
                <a:cs typeface="Arial"/>
              </a:rPr>
              <a:t> </a:t>
            </a:r>
            <a:r>
              <a:rPr sz="1400" spc="10" dirty="0">
                <a:solidFill>
                  <a:srgbClr val="3333B2"/>
                </a:solidFill>
                <a:latin typeface="Arial"/>
                <a:cs typeface="Arial"/>
              </a:rPr>
              <a:t>checkpointing</a:t>
            </a:r>
            <a:endParaRPr sz="1400">
              <a:latin typeface="Arial"/>
              <a:cs typeface="Arial"/>
            </a:endParaRPr>
          </a:p>
          <a:p>
            <a:pPr marL="264160">
              <a:lnSpc>
                <a:spcPts val="1410"/>
              </a:lnSpc>
              <a:spcBef>
                <a:spcPts val="1060"/>
              </a:spcBef>
            </a:pPr>
            <a:r>
              <a:rPr sz="1200" spc="-5" dirty="0">
                <a:solidFill>
                  <a:srgbClr val="3333B2"/>
                </a:solidFill>
                <a:latin typeface="Arial"/>
                <a:cs typeface="Arial"/>
              </a:rPr>
              <a:t>Essence</a:t>
            </a:r>
            <a:endParaRPr sz="1200">
              <a:latin typeface="Arial"/>
              <a:cs typeface="Arial"/>
            </a:endParaRPr>
          </a:p>
          <a:p>
            <a:pPr marL="264160" marR="5080">
              <a:lnSpc>
                <a:spcPts val="1200"/>
              </a:lnSpc>
              <a:spcBef>
                <a:spcPts val="10"/>
              </a:spcBef>
            </a:pPr>
            <a:r>
              <a:rPr sz="1000" spc="-5" dirty="0">
                <a:latin typeface="Arial"/>
                <a:cs typeface="Arial"/>
              </a:rPr>
              <a:t>Each process</a:t>
            </a:r>
            <a:r>
              <a:rPr sz="1000" dirty="0">
                <a:latin typeface="Arial"/>
                <a:cs typeface="Arial"/>
              </a:rPr>
              <a:t> </a:t>
            </a:r>
            <a:r>
              <a:rPr sz="1000" spc="-5" dirty="0">
                <a:latin typeface="Arial"/>
                <a:cs typeface="Arial"/>
              </a:rPr>
              <a:t>independently</a:t>
            </a:r>
            <a:r>
              <a:rPr sz="1000" dirty="0">
                <a:latin typeface="Arial"/>
                <a:cs typeface="Arial"/>
              </a:rPr>
              <a:t> </a:t>
            </a:r>
            <a:r>
              <a:rPr sz="1000" spc="-10" dirty="0">
                <a:latin typeface="Arial"/>
                <a:cs typeface="Arial"/>
              </a:rPr>
              <a:t>takes</a:t>
            </a:r>
            <a:r>
              <a:rPr sz="1000" spc="-5" dirty="0">
                <a:latin typeface="Arial"/>
                <a:cs typeface="Arial"/>
              </a:rPr>
              <a:t> checkpoints,</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a:t>
            </a:r>
            <a:r>
              <a:rPr sz="1000" dirty="0">
                <a:latin typeface="Arial"/>
                <a:cs typeface="Arial"/>
              </a:rPr>
              <a:t> risk</a:t>
            </a:r>
            <a:r>
              <a:rPr sz="1000" spc="-5" dirty="0">
                <a:latin typeface="Arial"/>
                <a:cs typeface="Arial"/>
              </a:rPr>
              <a:t> of</a:t>
            </a:r>
            <a:r>
              <a:rPr sz="1000" dirty="0">
                <a:latin typeface="Arial"/>
                <a:cs typeface="Arial"/>
              </a:rPr>
              <a:t> </a:t>
            </a:r>
            <a:r>
              <a:rPr sz="1000" spc="-5" dirty="0">
                <a:latin typeface="Arial"/>
                <a:cs typeface="Arial"/>
              </a:rPr>
              <a:t>a </a:t>
            </a:r>
            <a:r>
              <a:rPr sz="1000" spc="-260" dirty="0">
                <a:latin typeface="Arial"/>
                <a:cs typeface="Arial"/>
              </a:rPr>
              <a:t> </a:t>
            </a:r>
            <a:r>
              <a:rPr sz="1000" spc="-5" dirty="0">
                <a:latin typeface="Arial"/>
                <a:cs typeface="Arial"/>
              </a:rPr>
              <a:t>cascaded</a:t>
            </a:r>
            <a:r>
              <a:rPr sz="1000" spc="-10" dirty="0">
                <a:latin typeface="Arial"/>
                <a:cs typeface="Arial"/>
              </a:rPr>
              <a:t> </a:t>
            </a:r>
            <a:r>
              <a:rPr sz="1000" spc="-5" dirty="0">
                <a:latin typeface="Arial"/>
                <a:cs typeface="Arial"/>
              </a:rPr>
              <a:t>rollback to system startup.</a:t>
            </a:r>
            <a:endParaRPr sz="1000">
              <a:latin typeface="Arial"/>
              <a:cs typeface="Arial"/>
            </a:endParaRPr>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31544"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Independent</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99640" cy="244475"/>
          </a:xfrm>
          <a:prstGeom prst="rect">
            <a:avLst/>
          </a:prstGeom>
        </p:spPr>
        <p:txBody>
          <a:bodyPr vert="horz" wrap="square" lIns="0" tIns="17145" rIns="0" bIns="0" rtlCol="0">
            <a:spAutoFit/>
          </a:bodyPr>
          <a:lstStyle/>
          <a:p>
            <a:pPr marL="12700">
              <a:lnSpc>
                <a:spcPct val="100000"/>
              </a:lnSpc>
              <a:spcBef>
                <a:spcPts val="135"/>
              </a:spcBef>
            </a:pPr>
            <a:r>
              <a:rPr spc="15" dirty="0"/>
              <a:t>Independent</a:t>
            </a:r>
            <a:r>
              <a:rPr spc="-15" dirty="0"/>
              <a:t> </a:t>
            </a:r>
            <a:r>
              <a:rPr spc="10" dirty="0"/>
              <a:t>checkpointing</a:t>
            </a:r>
          </a:p>
        </p:txBody>
      </p:sp>
      <p:sp>
        <p:nvSpPr>
          <p:cNvPr id="4" name="object 4"/>
          <p:cNvSpPr txBox="1"/>
          <p:nvPr/>
        </p:nvSpPr>
        <p:spPr>
          <a:xfrm>
            <a:off x="334594" y="541792"/>
            <a:ext cx="3938904" cy="884555"/>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25400" marR="295910">
              <a:lnSpc>
                <a:spcPts val="1200"/>
              </a:lnSpc>
              <a:spcBef>
                <a:spcPts val="10"/>
              </a:spcBef>
            </a:pPr>
            <a:r>
              <a:rPr sz="1000" spc="-5" dirty="0">
                <a:latin typeface="Arial"/>
                <a:cs typeface="Arial"/>
              </a:rPr>
              <a:t>Each process</a:t>
            </a:r>
            <a:r>
              <a:rPr sz="1000" dirty="0">
                <a:latin typeface="Arial"/>
                <a:cs typeface="Arial"/>
              </a:rPr>
              <a:t> </a:t>
            </a:r>
            <a:r>
              <a:rPr sz="1000" spc="-5" dirty="0">
                <a:latin typeface="Arial"/>
                <a:cs typeface="Arial"/>
              </a:rPr>
              <a:t>independently</a:t>
            </a:r>
            <a:r>
              <a:rPr sz="1000" dirty="0">
                <a:latin typeface="Arial"/>
                <a:cs typeface="Arial"/>
              </a:rPr>
              <a:t> </a:t>
            </a:r>
            <a:r>
              <a:rPr sz="1000" spc="-10" dirty="0">
                <a:latin typeface="Arial"/>
                <a:cs typeface="Arial"/>
              </a:rPr>
              <a:t>takes</a:t>
            </a:r>
            <a:r>
              <a:rPr sz="1000" spc="-5" dirty="0">
                <a:latin typeface="Arial"/>
                <a:cs typeface="Arial"/>
              </a:rPr>
              <a:t> checkpoints,</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a:t>
            </a:r>
            <a:r>
              <a:rPr sz="1000" dirty="0">
                <a:latin typeface="Arial"/>
                <a:cs typeface="Arial"/>
              </a:rPr>
              <a:t> risk</a:t>
            </a:r>
            <a:r>
              <a:rPr sz="1000" spc="-5" dirty="0">
                <a:latin typeface="Arial"/>
                <a:cs typeface="Arial"/>
              </a:rPr>
              <a:t> of</a:t>
            </a:r>
            <a:r>
              <a:rPr sz="1000" dirty="0">
                <a:latin typeface="Arial"/>
                <a:cs typeface="Arial"/>
              </a:rPr>
              <a:t> </a:t>
            </a:r>
            <a:r>
              <a:rPr sz="1000" spc="-5" dirty="0">
                <a:latin typeface="Arial"/>
                <a:cs typeface="Arial"/>
              </a:rPr>
              <a:t>a </a:t>
            </a:r>
            <a:r>
              <a:rPr sz="1000" spc="-260" dirty="0">
                <a:latin typeface="Arial"/>
                <a:cs typeface="Arial"/>
              </a:rPr>
              <a:t> </a:t>
            </a:r>
            <a:r>
              <a:rPr sz="1000" spc="-5" dirty="0">
                <a:latin typeface="Arial"/>
                <a:cs typeface="Arial"/>
              </a:rPr>
              <a:t>cascaded</a:t>
            </a:r>
            <a:r>
              <a:rPr sz="1000" spc="-10" dirty="0">
                <a:latin typeface="Arial"/>
                <a:cs typeface="Arial"/>
              </a:rPr>
              <a:t> </a:t>
            </a:r>
            <a:r>
              <a:rPr sz="1000" spc="-5" dirty="0">
                <a:latin typeface="Arial"/>
                <a:cs typeface="Arial"/>
              </a:rPr>
              <a:t>rollback to system startup.</a:t>
            </a:r>
            <a:endParaRPr sz="1000">
              <a:latin typeface="Arial"/>
              <a:cs typeface="Arial"/>
            </a:endParaRPr>
          </a:p>
          <a:p>
            <a:pPr marL="302260" marR="17780" indent="-168275">
              <a:lnSpc>
                <a:spcPct val="100000"/>
              </a:lnSpc>
              <a:spcBef>
                <a:spcPts val="550"/>
              </a:spcBef>
              <a:buClr>
                <a:srgbClr val="3333B2"/>
              </a:buClr>
              <a:buChar char="►"/>
              <a:tabLst>
                <a:tab pos="302895" algn="l"/>
              </a:tabLst>
            </a:pPr>
            <a:r>
              <a:rPr sz="1000" spc="-10" dirty="0">
                <a:latin typeface="Arial"/>
                <a:cs typeface="Arial"/>
              </a:rPr>
              <a:t>Let</a:t>
            </a:r>
            <a:r>
              <a:rPr sz="1000" spc="-5" dirty="0">
                <a:latin typeface="Arial"/>
                <a:cs typeface="Arial"/>
              </a:rPr>
              <a:t> </a:t>
            </a:r>
            <a:r>
              <a:rPr sz="1000" i="1" dirty="0">
                <a:latin typeface="Arial"/>
                <a:cs typeface="Arial"/>
              </a:rPr>
              <a:t>CP</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denote</a:t>
            </a:r>
            <a:r>
              <a:rPr sz="1000" spc="-5" dirty="0">
                <a:latin typeface="Arial"/>
                <a:cs typeface="Arial"/>
              </a:rPr>
              <a:t> </a:t>
            </a:r>
            <a:r>
              <a:rPr sz="1000" i="1" dirty="0">
                <a:latin typeface="Arial"/>
                <a:cs typeface="Arial"/>
              </a:rPr>
              <a:t>m</a:t>
            </a:r>
            <a:r>
              <a:rPr sz="1200" baseline="24305" dirty="0">
                <a:latin typeface="Arial"/>
                <a:cs typeface="Arial"/>
              </a:rPr>
              <a:t>th</a:t>
            </a:r>
            <a:r>
              <a:rPr sz="1200" spc="157" baseline="24305" dirty="0">
                <a:latin typeface="Arial"/>
                <a:cs typeface="Arial"/>
              </a:rPr>
              <a:t> </a:t>
            </a:r>
            <a:r>
              <a:rPr sz="1000" spc="-10" dirty="0">
                <a:latin typeface="Arial"/>
                <a:cs typeface="Arial"/>
              </a:rPr>
              <a:t>checkpoint</a:t>
            </a:r>
            <a:r>
              <a:rPr sz="1000" spc="-5"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process</a:t>
            </a:r>
            <a:r>
              <a:rPr sz="1000" spc="-5" dirty="0">
                <a:latin typeface="Arial"/>
                <a:cs typeface="Arial"/>
              </a:rPr>
              <a:t> </a:t>
            </a:r>
            <a:r>
              <a:rPr sz="1000" i="1" dirty="0">
                <a:latin typeface="Arial"/>
                <a:cs typeface="Arial"/>
              </a:rPr>
              <a:t>P</a:t>
            </a:r>
            <a:r>
              <a:rPr sz="1050" i="1" baseline="-15873" dirty="0">
                <a:latin typeface="Arial"/>
                <a:cs typeface="Arial"/>
              </a:rPr>
              <a:t>i</a:t>
            </a:r>
            <a:r>
              <a:rPr sz="1050" i="1" spc="7" baseline="-15873" dirty="0">
                <a:latin typeface="Arial"/>
                <a:cs typeface="Arial"/>
              </a:rPr>
              <a:t> </a:t>
            </a:r>
            <a:r>
              <a:rPr sz="1000" spc="-10" dirty="0">
                <a:latin typeface="Arial"/>
                <a:cs typeface="Arial"/>
              </a:rPr>
              <a:t>and</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the </a:t>
            </a:r>
            <a:r>
              <a:rPr sz="1000" spc="-265" dirty="0">
                <a:latin typeface="Arial"/>
                <a:cs typeface="Arial"/>
              </a:rPr>
              <a:t> </a:t>
            </a:r>
            <a:r>
              <a:rPr sz="1000" spc="-5" dirty="0">
                <a:latin typeface="Arial"/>
                <a:cs typeface="Arial"/>
              </a:rPr>
              <a:t>inte</a:t>
            </a:r>
            <a:r>
              <a:rPr sz="1000" spc="20" dirty="0">
                <a:latin typeface="Arial"/>
                <a:cs typeface="Arial"/>
              </a:rPr>
              <a:t>r</a:t>
            </a:r>
            <a:r>
              <a:rPr sz="1000" spc="-30" dirty="0">
                <a:latin typeface="Arial"/>
                <a:cs typeface="Arial"/>
              </a:rPr>
              <a:t>v</a:t>
            </a:r>
            <a:r>
              <a:rPr sz="1000" spc="-5" dirty="0">
                <a:latin typeface="Arial"/>
                <a:cs typeface="Arial"/>
              </a:rPr>
              <a:t>al bet</a:t>
            </a:r>
            <a:r>
              <a:rPr sz="1000" spc="-15" dirty="0">
                <a:latin typeface="Arial"/>
                <a:cs typeface="Arial"/>
              </a:rPr>
              <a:t>w</a:t>
            </a:r>
            <a:r>
              <a:rPr sz="1000" spc="-5" dirty="0">
                <a:latin typeface="Arial"/>
                <a:cs typeface="Arial"/>
              </a:rPr>
              <a:t>een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5" dirty="0">
                <a:latin typeface="Arial"/>
                <a:cs typeface="Arial"/>
              </a:rPr>
              <a:t>m</a:t>
            </a:r>
            <a:r>
              <a:rPr sz="1000" i="1" spc="-120"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and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31544"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Independent</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99640" cy="244475"/>
          </a:xfrm>
          <a:prstGeom prst="rect">
            <a:avLst/>
          </a:prstGeom>
        </p:spPr>
        <p:txBody>
          <a:bodyPr vert="horz" wrap="square" lIns="0" tIns="17145" rIns="0" bIns="0" rtlCol="0">
            <a:spAutoFit/>
          </a:bodyPr>
          <a:lstStyle/>
          <a:p>
            <a:pPr marL="12700">
              <a:lnSpc>
                <a:spcPct val="100000"/>
              </a:lnSpc>
              <a:spcBef>
                <a:spcPts val="135"/>
              </a:spcBef>
            </a:pPr>
            <a:r>
              <a:rPr spc="15" dirty="0"/>
              <a:t>Independent</a:t>
            </a:r>
            <a:r>
              <a:rPr spc="-15" dirty="0"/>
              <a:t> </a:t>
            </a:r>
            <a:r>
              <a:rPr spc="10" dirty="0"/>
              <a:t>checkpointing</a:t>
            </a:r>
          </a:p>
        </p:txBody>
      </p:sp>
      <p:sp>
        <p:nvSpPr>
          <p:cNvPr id="4" name="object 4"/>
          <p:cNvSpPr txBox="1"/>
          <p:nvPr/>
        </p:nvSpPr>
        <p:spPr>
          <a:xfrm>
            <a:off x="334594" y="541792"/>
            <a:ext cx="3938904" cy="1264285"/>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25400" marR="295910">
              <a:lnSpc>
                <a:spcPts val="1200"/>
              </a:lnSpc>
              <a:spcBef>
                <a:spcPts val="10"/>
              </a:spcBef>
            </a:pPr>
            <a:r>
              <a:rPr sz="1000" spc="-5" dirty="0">
                <a:latin typeface="Arial"/>
                <a:cs typeface="Arial"/>
              </a:rPr>
              <a:t>Each process</a:t>
            </a:r>
            <a:r>
              <a:rPr sz="1000" dirty="0">
                <a:latin typeface="Arial"/>
                <a:cs typeface="Arial"/>
              </a:rPr>
              <a:t> </a:t>
            </a:r>
            <a:r>
              <a:rPr sz="1000" spc="-5" dirty="0">
                <a:latin typeface="Arial"/>
                <a:cs typeface="Arial"/>
              </a:rPr>
              <a:t>independently</a:t>
            </a:r>
            <a:r>
              <a:rPr sz="1000" dirty="0">
                <a:latin typeface="Arial"/>
                <a:cs typeface="Arial"/>
              </a:rPr>
              <a:t> </a:t>
            </a:r>
            <a:r>
              <a:rPr sz="1000" spc="-10" dirty="0">
                <a:latin typeface="Arial"/>
                <a:cs typeface="Arial"/>
              </a:rPr>
              <a:t>takes</a:t>
            </a:r>
            <a:r>
              <a:rPr sz="1000" spc="-5" dirty="0">
                <a:latin typeface="Arial"/>
                <a:cs typeface="Arial"/>
              </a:rPr>
              <a:t> checkpoints,</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a:t>
            </a:r>
            <a:r>
              <a:rPr sz="1000" dirty="0">
                <a:latin typeface="Arial"/>
                <a:cs typeface="Arial"/>
              </a:rPr>
              <a:t> risk</a:t>
            </a:r>
            <a:r>
              <a:rPr sz="1000" spc="-5" dirty="0">
                <a:latin typeface="Arial"/>
                <a:cs typeface="Arial"/>
              </a:rPr>
              <a:t> of</a:t>
            </a:r>
            <a:r>
              <a:rPr sz="1000" dirty="0">
                <a:latin typeface="Arial"/>
                <a:cs typeface="Arial"/>
              </a:rPr>
              <a:t> </a:t>
            </a:r>
            <a:r>
              <a:rPr sz="1000" spc="-5" dirty="0">
                <a:latin typeface="Arial"/>
                <a:cs typeface="Arial"/>
              </a:rPr>
              <a:t>a </a:t>
            </a:r>
            <a:r>
              <a:rPr sz="1000" spc="-260" dirty="0">
                <a:latin typeface="Arial"/>
                <a:cs typeface="Arial"/>
              </a:rPr>
              <a:t> </a:t>
            </a:r>
            <a:r>
              <a:rPr sz="1000" spc="-5" dirty="0">
                <a:latin typeface="Arial"/>
                <a:cs typeface="Arial"/>
              </a:rPr>
              <a:t>cascaded</a:t>
            </a:r>
            <a:r>
              <a:rPr sz="1000" spc="-10" dirty="0">
                <a:latin typeface="Arial"/>
                <a:cs typeface="Arial"/>
              </a:rPr>
              <a:t> </a:t>
            </a:r>
            <a:r>
              <a:rPr sz="1000" spc="-5" dirty="0">
                <a:latin typeface="Arial"/>
                <a:cs typeface="Arial"/>
              </a:rPr>
              <a:t>rollback to system startup.</a:t>
            </a:r>
            <a:endParaRPr sz="1000">
              <a:latin typeface="Arial"/>
              <a:cs typeface="Arial"/>
            </a:endParaRPr>
          </a:p>
          <a:p>
            <a:pPr marL="302260" marR="17780" indent="-168275">
              <a:lnSpc>
                <a:spcPct val="100000"/>
              </a:lnSpc>
              <a:spcBef>
                <a:spcPts val="550"/>
              </a:spcBef>
              <a:buClr>
                <a:srgbClr val="3333B2"/>
              </a:buClr>
              <a:buChar char="►"/>
              <a:tabLst>
                <a:tab pos="302895" algn="l"/>
              </a:tabLst>
            </a:pPr>
            <a:r>
              <a:rPr sz="1000" spc="-10" dirty="0">
                <a:latin typeface="Arial"/>
                <a:cs typeface="Arial"/>
              </a:rPr>
              <a:t>Let</a:t>
            </a:r>
            <a:r>
              <a:rPr sz="1000" spc="-5" dirty="0">
                <a:latin typeface="Arial"/>
                <a:cs typeface="Arial"/>
              </a:rPr>
              <a:t> </a:t>
            </a:r>
            <a:r>
              <a:rPr sz="1000" i="1" dirty="0">
                <a:latin typeface="Arial"/>
                <a:cs typeface="Arial"/>
              </a:rPr>
              <a:t>CP</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denote</a:t>
            </a:r>
            <a:r>
              <a:rPr sz="1000" spc="-5" dirty="0">
                <a:latin typeface="Arial"/>
                <a:cs typeface="Arial"/>
              </a:rPr>
              <a:t> </a:t>
            </a:r>
            <a:r>
              <a:rPr sz="1000" i="1" dirty="0">
                <a:latin typeface="Arial"/>
                <a:cs typeface="Arial"/>
              </a:rPr>
              <a:t>m</a:t>
            </a:r>
            <a:r>
              <a:rPr sz="1200" baseline="24305" dirty="0">
                <a:latin typeface="Arial"/>
                <a:cs typeface="Arial"/>
              </a:rPr>
              <a:t>th</a:t>
            </a:r>
            <a:r>
              <a:rPr sz="1200" spc="157" baseline="24305" dirty="0">
                <a:latin typeface="Arial"/>
                <a:cs typeface="Arial"/>
              </a:rPr>
              <a:t> </a:t>
            </a:r>
            <a:r>
              <a:rPr sz="1000" spc="-10" dirty="0">
                <a:latin typeface="Arial"/>
                <a:cs typeface="Arial"/>
              </a:rPr>
              <a:t>checkpoint</a:t>
            </a:r>
            <a:r>
              <a:rPr sz="1000" spc="-5"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process</a:t>
            </a:r>
            <a:r>
              <a:rPr sz="1000" spc="-5" dirty="0">
                <a:latin typeface="Arial"/>
                <a:cs typeface="Arial"/>
              </a:rPr>
              <a:t> </a:t>
            </a:r>
            <a:r>
              <a:rPr sz="1000" i="1" dirty="0">
                <a:latin typeface="Arial"/>
                <a:cs typeface="Arial"/>
              </a:rPr>
              <a:t>P</a:t>
            </a:r>
            <a:r>
              <a:rPr sz="1050" i="1" baseline="-15873" dirty="0">
                <a:latin typeface="Arial"/>
                <a:cs typeface="Arial"/>
              </a:rPr>
              <a:t>i</a:t>
            </a:r>
            <a:r>
              <a:rPr sz="1050" i="1" spc="7" baseline="-15873" dirty="0">
                <a:latin typeface="Arial"/>
                <a:cs typeface="Arial"/>
              </a:rPr>
              <a:t> </a:t>
            </a:r>
            <a:r>
              <a:rPr sz="1000" spc="-10" dirty="0">
                <a:latin typeface="Arial"/>
                <a:cs typeface="Arial"/>
              </a:rPr>
              <a:t>and</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the </a:t>
            </a:r>
            <a:r>
              <a:rPr sz="1000" spc="-265" dirty="0">
                <a:latin typeface="Arial"/>
                <a:cs typeface="Arial"/>
              </a:rPr>
              <a:t> </a:t>
            </a:r>
            <a:r>
              <a:rPr sz="1000" spc="-5" dirty="0">
                <a:latin typeface="Arial"/>
                <a:cs typeface="Arial"/>
              </a:rPr>
              <a:t>inte</a:t>
            </a:r>
            <a:r>
              <a:rPr sz="1000" spc="20" dirty="0">
                <a:latin typeface="Arial"/>
                <a:cs typeface="Arial"/>
              </a:rPr>
              <a:t>r</a:t>
            </a:r>
            <a:r>
              <a:rPr sz="1000" spc="-30" dirty="0">
                <a:latin typeface="Arial"/>
                <a:cs typeface="Arial"/>
              </a:rPr>
              <a:t>v</a:t>
            </a:r>
            <a:r>
              <a:rPr sz="1000" spc="-5" dirty="0">
                <a:latin typeface="Arial"/>
                <a:cs typeface="Arial"/>
              </a:rPr>
              <a:t>al bet</a:t>
            </a:r>
            <a:r>
              <a:rPr sz="1000" spc="-15" dirty="0">
                <a:latin typeface="Arial"/>
                <a:cs typeface="Arial"/>
              </a:rPr>
              <a:t>w</a:t>
            </a:r>
            <a:r>
              <a:rPr sz="1000" spc="-5" dirty="0">
                <a:latin typeface="Arial"/>
                <a:cs typeface="Arial"/>
              </a:rPr>
              <a:t>een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5" dirty="0">
                <a:latin typeface="Arial"/>
                <a:cs typeface="Arial"/>
              </a:rPr>
              <a:t>m</a:t>
            </a:r>
            <a:r>
              <a:rPr sz="1000" i="1" spc="-120"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and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spc="-5" dirty="0">
                <a:latin typeface="Arial"/>
                <a:cs typeface="Arial"/>
              </a:rPr>
              <a:t>.</a:t>
            </a:r>
            <a:endParaRPr sz="1000">
              <a:latin typeface="Arial"/>
              <a:cs typeface="Arial"/>
            </a:endParaRPr>
          </a:p>
          <a:p>
            <a:pPr marL="302260" marR="447040" indent="-168275">
              <a:lnSpc>
                <a:spcPct val="100000"/>
              </a:lnSpc>
              <a:spcBef>
                <a:spcPts val="590"/>
              </a:spcBef>
              <a:buClr>
                <a:srgbClr val="3333B2"/>
              </a:buClr>
              <a:buChar char="►"/>
              <a:tabLst>
                <a:tab pos="302895" algn="l"/>
              </a:tabLst>
            </a:pPr>
            <a:r>
              <a:rPr sz="1000" spc="-5" dirty="0">
                <a:latin typeface="Arial"/>
                <a:cs typeface="Arial"/>
              </a:rPr>
              <a:t>When process</a:t>
            </a:r>
            <a:r>
              <a:rPr sz="1000" dirty="0">
                <a:latin typeface="Arial"/>
                <a:cs typeface="Arial"/>
              </a:rPr>
              <a:t> </a:t>
            </a:r>
            <a:r>
              <a:rPr sz="1000" i="1" dirty="0">
                <a:latin typeface="Arial"/>
                <a:cs typeface="Arial"/>
              </a:rPr>
              <a:t>P</a:t>
            </a:r>
            <a:r>
              <a:rPr sz="1050" i="1" baseline="-15873" dirty="0">
                <a:latin typeface="Arial"/>
                <a:cs typeface="Arial"/>
              </a:rPr>
              <a:t>i</a:t>
            </a:r>
            <a:r>
              <a:rPr sz="1050" i="1" spc="15" baseline="-15873" dirty="0">
                <a:latin typeface="Arial"/>
                <a:cs typeface="Arial"/>
              </a:rPr>
              <a:t> </a:t>
            </a:r>
            <a:r>
              <a:rPr sz="1000" spc="-5" dirty="0">
                <a:latin typeface="Arial"/>
                <a:cs typeface="Arial"/>
              </a:rPr>
              <a:t>sends</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interval</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25" dirty="0">
                <a:latin typeface="Arial"/>
                <a:cs typeface="Arial"/>
              </a:rPr>
              <a:t>(</a:t>
            </a:r>
            <a:r>
              <a:rPr sz="1000" i="1" spc="25" dirty="0">
                <a:latin typeface="Arial"/>
                <a:cs typeface="Arial"/>
              </a:rPr>
              <a:t>m</a:t>
            </a:r>
            <a:r>
              <a:rPr sz="1000" spc="25" dirty="0">
                <a:latin typeface="Arial"/>
                <a:cs typeface="Arial"/>
              </a:rPr>
              <a:t>),</a:t>
            </a:r>
            <a:r>
              <a:rPr sz="1000" dirty="0">
                <a:latin typeface="Arial"/>
                <a:cs typeface="Arial"/>
              </a:rPr>
              <a:t> </a:t>
            </a:r>
            <a:r>
              <a:rPr sz="1000" spc="-5" dirty="0">
                <a:latin typeface="Arial"/>
                <a:cs typeface="Arial"/>
              </a:rPr>
              <a:t>it </a:t>
            </a:r>
            <a:r>
              <a:rPr sz="1000" spc="-265" dirty="0">
                <a:latin typeface="Arial"/>
                <a:cs typeface="Arial"/>
              </a:rPr>
              <a:t> </a:t>
            </a:r>
            <a:r>
              <a:rPr sz="1000" spc="-5" dirty="0">
                <a:latin typeface="Arial"/>
                <a:cs typeface="Arial"/>
              </a:rPr>
              <a:t>piggybacks</a:t>
            </a:r>
            <a:r>
              <a:rPr sz="1000" spc="-10" dirty="0">
                <a:latin typeface="Arial"/>
                <a:cs typeface="Arial"/>
              </a:rPr>
              <a:t> </a:t>
            </a:r>
            <a:r>
              <a:rPr sz="1000" spc="45" dirty="0">
                <a:latin typeface="Arial"/>
                <a:cs typeface="Arial"/>
              </a:rPr>
              <a:t>(</a:t>
            </a:r>
            <a:r>
              <a:rPr sz="1000" i="1" spc="45" dirty="0">
                <a:latin typeface="Arial"/>
                <a:cs typeface="Arial"/>
              </a:rPr>
              <a:t>i,</a:t>
            </a:r>
            <a:r>
              <a:rPr sz="1000" i="1" spc="-170" dirty="0">
                <a:latin typeface="Arial"/>
                <a:cs typeface="Arial"/>
              </a:rPr>
              <a:t> </a:t>
            </a:r>
            <a:r>
              <a:rPr sz="1000" i="1" spc="30" dirty="0">
                <a:latin typeface="Arial"/>
                <a:cs typeface="Arial"/>
              </a:rPr>
              <a:t>m</a:t>
            </a:r>
            <a:r>
              <a:rPr sz="1000" spc="30" dirty="0">
                <a:latin typeface="Arial"/>
                <a:cs typeface="Arial"/>
              </a:rPr>
              <a:t>)</a:t>
            </a:r>
            <a:endParaRPr sz="1000">
              <a:latin typeface="Arial"/>
              <a:cs typeface="Arial"/>
            </a:endParaRPr>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31544"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Independent</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99640" cy="244475"/>
          </a:xfrm>
          <a:prstGeom prst="rect">
            <a:avLst/>
          </a:prstGeom>
        </p:spPr>
        <p:txBody>
          <a:bodyPr vert="horz" wrap="square" lIns="0" tIns="17145" rIns="0" bIns="0" rtlCol="0">
            <a:spAutoFit/>
          </a:bodyPr>
          <a:lstStyle/>
          <a:p>
            <a:pPr marL="12700">
              <a:lnSpc>
                <a:spcPct val="100000"/>
              </a:lnSpc>
              <a:spcBef>
                <a:spcPts val="135"/>
              </a:spcBef>
            </a:pPr>
            <a:r>
              <a:rPr spc="15" dirty="0"/>
              <a:t>Independent</a:t>
            </a:r>
            <a:r>
              <a:rPr spc="-15" dirty="0"/>
              <a:t> </a:t>
            </a:r>
            <a:r>
              <a:rPr spc="10" dirty="0"/>
              <a:t>checkpointing</a:t>
            </a:r>
          </a:p>
        </p:txBody>
      </p:sp>
      <p:sp>
        <p:nvSpPr>
          <p:cNvPr id="4" name="object 4"/>
          <p:cNvSpPr txBox="1"/>
          <p:nvPr/>
        </p:nvSpPr>
        <p:spPr>
          <a:xfrm>
            <a:off x="334594" y="541792"/>
            <a:ext cx="3938904" cy="1644014"/>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25400" marR="295910">
              <a:lnSpc>
                <a:spcPts val="1200"/>
              </a:lnSpc>
              <a:spcBef>
                <a:spcPts val="10"/>
              </a:spcBef>
            </a:pPr>
            <a:r>
              <a:rPr sz="1000" spc="-5" dirty="0">
                <a:latin typeface="Arial"/>
                <a:cs typeface="Arial"/>
              </a:rPr>
              <a:t>Each process</a:t>
            </a:r>
            <a:r>
              <a:rPr sz="1000" dirty="0">
                <a:latin typeface="Arial"/>
                <a:cs typeface="Arial"/>
              </a:rPr>
              <a:t> </a:t>
            </a:r>
            <a:r>
              <a:rPr sz="1000" spc="-5" dirty="0">
                <a:latin typeface="Arial"/>
                <a:cs typeface="Arial"/>
              </a:rPr>
              <a:t>independently</a:t>
            </a:r>
            <a:r>
              <a:rPr sz="1000" dirty="0">
                <a:latin typeface="Arial"/>
                <a:cs typeface="Arial"/>
              </a:rPr>
              <a:t> </a:t>
            </a:r>
            <a:r>
              <a:rPr sz="1000" spc="-10" dirty="0">
                <a:latin typeface="Arial"/>
                <a:cs typeface="Arial"/>
              </a:rPr>
              <a:t>takes</a:t>
            </a:r>
            <a:r>
              <a:rPr sz="1000" spc="-5" dirty="0">
                <a:latin typeface="Arial"/>
                <a:cs typeface="Arial"/>
              </a:rPr>
              <a:t> checkpoints,</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a:t>
            </a:r>
            <a:r>
              <a:rPr sz="1000" dirty="0">
                <a:latin typeface="Arial"/>
                <a:cs typeface="Arial"/>
              </a:rPr>
              <a:t> risk</a:t>
            </a:r>
            <a:r>
              <a:rPr sz="1000" spc="-5" dirty="0">
                <a:latin typeface="Arial"/>
                <a:cs typeface="Arial"/>
              </a:rPr>
              <a:t> of</a:t>
            </a:r>
            <a:r>
              <a:rPr sz="1000" dirty="0">
                <a:latin typeface="Arial"/>
                <a:cs typeface="Arial"/>
              </a:rPr>
              <a:t> </a:t>
            </a:r>
            <a:r>
              <a:rPr sz="1000" spc="-5" dirty="0">
                <a:latin typeface="Arial"/>
                <a:cs typeface="Arial"/>
              </a:rPr>
              <a:t>a </a:t>
            </a:r>
            <a:r>
              <a:rPr sz="1000" spc="-260" dirty="0">
                <a:latin typeface="Arial"/>
                <a:cs typeface="Arial"/>
              </a:rPr>
              <a:t> </a:t>
            </a:r>
            <a:r>
              <a:rPr sz="1000" spc="-5" dirty="0">
                <a:latin typeface="Arial"/>
                <a:cs typeface="Arial"/>
              </a:rPr>
              <a:t>cascaded</a:t>
            </a:r>
            <a:r>
              <a:rPr sz="1000" spc="-10" dirty="0">
                <a:latin typeface="Arial"/>
                <a:cs typeface="Arial"/>
              </a:rPr>
              <a:t> </a:t>
            </a:r>
            <a:r>
              <a:rPr sz="1000" spc="-5" dirty="0">
                <a:latin typeface="Arial"/>
                <a:cs typeface="Arial"/>
              </a:rPr>
              <a:t>rollback to system startup.</a:t>
            </a:r>
            <a:endParaRPr sz="1000">
              <a:latin typeface="Arial"/>
              <a:cs typeface="Arial"/>
            </a:endParaRPr>
          </a:p>
          <a:p>
            <a:pPr marL="302260" marR="17780" indent="-168275">
              <a:lnSpc>
                <a:spcPct val="100000"/>
              </a:lnSpc>
              <a:spcBef>
                <a:spcPts val="550"/>
              </a:spcBef>
              <a:buClr>
                <a:srgbClr val="3333B2"/>
              </a:buClr>
              <a:buChar char="►"/>
              <a:tabLst>
                <a:tab pos="302895" algn="l"/>
              </a:tabLst>
            </a:pPr>
            <a:r>
              <a:rPr sz="1000" spc="-10" dirty="0">
                <a:latin typeface="Arial"/>
                <a:cs typeface="Arial"/>
              </a:rPr>
              <a:t>Let</a:t>
            </a:r>
            <a:r>
              <a:rPr sz="1000" spc="-5" dirty="0">
                <a:latin typeface="Arial"/>
                <a:cs typeface="Arial"/>
              </a:rPr>
              <a:t> </a:t>
            </a:r>
            <a:r>
              <a:rPr sz="1000" i="1" dirty="0">
                <a:latin typeface="Arial"/>
                <a:cs typeface="Arial"/>
              </a:rPr>
              <a:t>CP</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denote</a:t>
            </a:r>
            <a:r>
              <a:rPr sz="1000" spc="-5" dirty="0">
                <a:latin typeface="Arial"/>
                <a:cs typeface="Arial"/>
              </a:rPr>
              <a:t> </a:t>
            </a:r>
            <a:r>
              <a:rPr sz="1000" i="1" dirty="0">
                <a:latin typeface="Arial"/>
                <a:cs typeface="Arial"/>
              </a:rPr>
              <a:t>m</a:t>
            </a:r>
            <a:r>
              <a:rPr sz="1200" baseline="24305" dirty="0">
                <a:latin typeface="Arial"/>
                <a:cs typeface="Arial"/>
              </a:rPr>
              <a:t>th</a:t>
            </a:r>
            <a:r>
              <a:rPr sz="1200" spc="157" baseline="24305" dirty="0">
                <a:latin typeface="Arial"/>
                <a:cs typeface="Arial"/>
              </a:rPr>
              <a:t> </a:t>
            </a:r>
            <a:r>
              <a:rPr sz="1000" spc="-10" dirty="0">
                <a:latin typeface="Arial"/>
                <a:cs typeface="Arial"/>
              </a:rPr>
              <a:t>checkpoint</a:t>
            </a:r>
            <a:r>
              <a:rPr sz="1000" spc="-5"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process</a:t>
            </a:r>
            <a:r>
              <a:rPr sz="1000" spc="-5" dirty="0">
                <a:latin typeface="Arial"/>
                <a:cs typeface="Arial"/>
              </a:rPr>
              <a:t> </a:t>
            </a:r>
            <a:r>
              <a:rPr sz="1000" i="1" dirty="0">
                <a:latin typeface="Arial"/>
                <a:cs typeface="Arial"/>
              </a:rPr>
              <a:t>P</a:t>
            </a:r>
            <a:r>
              <a:rPr sz="1050" i="1" baseline="-15873" dirty="0">
                <a:latin typeface="Arial"/>
                <a:cs typeface="Arial"/>
              </a:rPr>
              <a:t>i</a:t>
            </a:r>
            <a:r>
              <a:rPr sz="1050" i="1" spc="7" baseline="-15873" dirty="0">
                <a:latin typeface="Arial"/>
                <a:cs typeface="Arial"/>
              </a:rPr>
              <a:t> </a:t>
            </a:r>
            <a:r>
              <a:rPr sz="1000" spc="-10" dirty="0">
                <a:latin typeface="Arial"/>
                <a:cs typeface="Arial"/>
              </a:rPr>
              <a:t>and</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the </a:t>
            </a:r>
            <a:r>
              <a:rPr sz="1000" spc="-265" dirty="0">
                <a:latin typeface="Arial"/>
                <a:cs typeface="Arial"/>
              </a:rPr>
              <a:t> </a:t>
            </a:r>
            <a:r>
              <a:rPr sz="1000" spc="-5" dirty="0">
                <a:latin typeface="Arial"/>
                <a:cs typeface="Arial"/>
              </a:rPr>
              <a:t>inte</a:t>
            </a:r>
            <a:r>
              <a:rPr sz="1000" spc="20" dirty="0">
                <a:latin typeface="Arial"/>
                <a:cs typeface="Arial"/>
              </a:rPr>
              <a:t>r</a:t>
            </a:r>
            <a:r>
              <a:rPr sz="1000" spc="-30" dirty="0">
                <a:latin typeface="Arial"/>
                <a:cs typeface="Arial"/>
              </a:rPr>
              <a:t>v</a:t>
            </a:r>
            <a:r>
              <a:rPr sz="1000" spc="-5" dirty="0">
                <a:latin typeface="Arial"/>
                <a:cs typeface="Arial"/>
              </a:rPr>
              <a:t>al bet</a:t>
            </a:r>
            <a:r>
              <a:rPr sz="1000" spc="-15" dirty="0">
                <a:latin typeface="Arial"/>
                <a:cs typeface="Arial"/>
              </a:rPr>
              <a:t>w</a:t>
            </a:r>
            <a:r>
              <a:rPr sz="1000" spc="-5" dirty="0">
                <a:latin typeface="Arial"/>
                <a:cs typeface="Arial"/>
              </a:rPr>
              <a:t>een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5" dirty="0">
                <a:latin typeface="Arial"/>
                <a:cs typeface="Arial"/>
              </a:rPr>
              <a:t>m</a:t>
            </a:r>
            <a:r>
              <a:rPr sz="1000" i="1" spc="-120"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and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spc="-5" dirty="0">
                <a:latin typeface="Arial"/>
                <a:cs typeface="Arial"/>
              </a:rPr>
              <a:t>.</a:t>
            </a:r>
            <a:endParaRPr sz="1000">
              <a:latin typeface="Arial"/>
              <a:cs typeface="Arial"/>
            </a:endParaRPr>
          </a:p>
          <a:p>
            <a:pPr marL="302260" marR="447040" indent="-168275">
              <a:lnSpc>
                <a:spcPct val="100000"/>
              </a:lnSpc>
              <a:spcBef>
                <a:spcPts val="590"/>
              </a:spcBef>
              <a:buClr>
                <a:srgbClr val="3333B2"/>
              </a:buClr>
              <a:buChar char="►"/>
              <a:tabLst>
                <a:tab pos="302895" algn="l"/>
              </a:tabLst>
            </a:pPr>
            <a:r>
              <a:rPr sz="1000" spc="-5" dirty="0">
                <a:latin typeface="Arial"/>
                <a:cs typeface="Arial"/>
              </a:rPr>
              <a:t>When process</a:t>
            </a:r>
            <a:r>
              <a:rPr sz="1000" dirty="0">
                <a:latin typeface="Arial"/>
                <a:cs typeface="Arial"/>
              </a:rPr>
              <a:t> </a:t>
            </a:r>
            <a:r>
              <a:rPr sz="1000" i="1" dirty="0">
                <a:latin typeface="Arial"/>
                <a:cs typeface="Arial"/>
              </a:rPr>
              <a:t>P</a:t>
            </a:r>
            <a:r>
              <a:rPr sz="1050" i="1" baseline="-15873" dirty="0">
                <a:latin typeface="Arial"/>
                <a:cs typeface="Arial"/>
              </a:rPr>
              <a:t>i</a:t>
            </a:r>
            <a:r>
              <a:rPr sz="1050" i="1" spc="15" baseline="-15873" dirty="0">
                <a:latin typeface="Arial"/>
                <a:cs typeface="Arial"/>
              </a:rPr>
              <a:t> </a:t>
            </a:r>
            <a:r>
              <a:rPr sz="1000" spc="-5" dirty="0">
                <a:latin typeface="Arial"/>
                <a:cs typeface="Arial"/>
              </a:rPr>
              <a:t>sends</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interval</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25" dirty="0">
                <a:latin typeface="Arial"/>
                <a:cs typeface="Arial"/>
              </a:rPr>
              <a:t>(</a:t>
            </a:r>
            <a:r>
              <a:rPr sz="1000" i="1" spc="25" dirty="0">
                <a:latin typeface="Arial"/>
                <a:cs typeface="Arial"/>
              </a:rPr>
              <a:t>m</a:t>
            </a:r>
            <a:r>
              <a:rPr sz="1000" spc="25" dirty="0">
                <a:latin typeface="Arial"/>
                <a:cs typeface="Arial"/>
              </a:rPr>
              <a:t>),</a:t>
            </a:r>
            <a:r>
              <a:rPr sz="1000" dirty="0">
                <a:latin typeface="Arial"/>
                <a:cs typeface="Arial"/>
              </a:rPr>
              <a:t> </a:t>
            </a:r>
            <a:r>
              <a:rPr sz="1000" spc="-5" dirty="0">
                <a:latin typeface="Arial"/>
                <a:cs typeface="Arial"/>
              </a:rPr>
              <a:t>it </a:t>
            </a:r>
            <a:r>
              <a:rPr sz="1000" spc="-265" dirty="0">
                <a:latin typeface="Arial"/>
                <a:cs typeface="Arial"/>
              </a:rPr>
              <a:t> </a:t>
            </a:r>
            <a:r>
              <a:rPr sz="1000" spc="-5" dirty="0">
                <a:latin typeface="Arial"/>
                <a:cs typeface="Arial"/>
              </a:rPr>
              <a:t>piggybacks</a:t>
            </a:r>
            <a:r>
              <a:rPr sz="1000" spc="-10" dirty="0">
                <a:latin typeface="Arial"/>
                <a:cs typeface="Arial"/>
              </a:rPr>
              <a:t> </a:t>
            </a:r>
            <a:r>
              <a:rPr sz="1000" spc="45" dirty="0">
                <a:latin typeface="Arial"/>
                <a:cs typeface="Arial"/>
              </a:rPr>
              <a:t>(</a:t>
            </a:r>
            <a:r>
              <a:rPr sz="1000" i="1" spc="45" dirty="0">
                <a:latin typeface="Arial"/>
                <a:cs typeface="Arial"/>
              </a:rPr>
              <a:t>i,</a:t>
            </a:r>
            <a:r>
              <a:rPr sz="1000" i="1" spc="-170" dirty="0">
                <a:latin typeface="Arial"/>
                <a:cs typeface="Arial"/>
              </a:rPr>
              <a:t> </a:t>
            </a:r>
            <a:r>
              <a:rPr sz="1000" i="1" spc="30" dirty="0">
                <a:latin typeface="Arial"/>
                <a:cs typeface="Arial"/>
              </a:rPr>
              <a:t>m</a:t>
            </a:r>
            <a:r>
              <a:rPr sz="1000" spc="30" dirty="0">
                <a:latin typeface="Arial"/>
                <a:cs typeface="Arial"/>
              </a:rPr>
              <a:t>)</a:t>
            </a:r>
            <a:endParaRPr sz="1000">
              <a:latin typeface="Arial"/>
              <a:cs typeface="Arial"/>
            </a:endParaRPr>
          </a:p>
          <a:p>
            <a:pPr marL="302260" marR="351790" indent="-168275">
              <a:lnSpc>
                <a:spcPct val="100000"/>
              </a:lnSpc>
              <a:spcBef>
                <a:spcPts val="590"/>
              </a:spcBef>
              <a:buClr>
                <a:srgbClr val="3333B2"/>
              </a:buClr>
              <a:buChar char="►"/>
              <a:tabLst>
                <a:tab pos="302895" algn="l"/>
              </a:tabLst>
            </a:pPr>
            <a:r>
              <a:rPr sz="1000" spc="-5" dirty="0">
                <a:latin typeface="Arial"/>
                <a:cs typeface="Arial"/>
              </a:rPr>
              <a:t>When process </a:t>
            </a:r>
            <a:r>
              <a:rPr sz="1000" i="1" dirty="0">
                <a:latin typeface="Arial"/>
                <a:cs typeface="Arial"/>
              </a:rPr>
              <a:t>P</a:t>
            </a:r>
            <a:r>
              <a:rPr sz="1050" i="1" baseline="-15873" dirty="0">
                <a:latin typeface="Arial"/>
                <a:cs typeface="Arial"/>
              </a:rPr>
              <a:t>j</a:t>
            </a:r>
            <a:r>
              <a:rPr sz="1050" i="1" spc="15" baseline="-15873" dirty="0">
                <a:latin typeface="Arial"/>
                <a:cs typeface="Arial"/>
              </a:rPr>
              <a:t> </a:t>
            </a:r>
            <a:r>
              <a:rPr sz="1000" spc="-5" dirty="0">
                <a:latin typeface="Arial"/>
                <a:cs typeface="Arial"/>
              </a:rPr>
              <a:t>receives</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in interval</a:t>
            </a:r>
            <a:r>
              <a:rPr sz="1000" dirty="0">
                <a:latin typeface="Arial"/>
                <a:cs typeface="Arial"/>
              </a:rPr>
              <a:t> </a:t>
            </a:r>
            <a:r>
              <a:rPr sz="1000" i="1" dirty="0">
                <a:latin typeface="Arial"/>
                <a:cs typeface="Arial"/>
              </a:rPr>
              <a:t>INT</a:t>
            </a:r>
            <a:r>
              <a:rPr sz="1050" i="1" baseline="-15873" dirty="0">
                <a:latin typeface="Arial"/>
                <a:cs typeface="Arial"/>
              </a:rPr>
              <a:t>j</a:t>
            </a:r>
            <a:r>
              <a:rPr sz="1050" i="1" spc="-127" baseline="-15873" dirty="0">
                <a:latin typeface="Arial"/>
                <a:cs typeface="Arial"/>
              </a:rPr>
              <a:t> </a:t>
            </a:r>
            <a:r>
              <a:rPr sz="1000" spc="25" dirty="0">
                <a:latin typeface="Arial"/>
                <a:cs typeface="Arial"/>
              </a:rPr>
              <a:t>(</a:t>
            </a:r>
            <a:r>
              <a:rPr sz="1000" i="1" spc="25" dirty="0">
                <a:latin typeface="Arial"/>
                <a:cs typeface="Arial"/>
              </a:rPr>
              <a:t>n</a:t>
            </a:r>
            <a:r>
              <a:rPr sz="1000" spc="25" dirty="0">
                <a:latin typeface="Arial"/>
                <a:cs typeface="Arial"/>
              </a:rPr>
              <a:t>),</a:t>
            </a:r>
            <a:r>
              <a:rPr sz="1000" spc="-5" dirty="0">
                <a:latin typeface="Arial"/>
                <a:cs typeface="Arial"/>
              </a:rPr>
              <a:t> it </a:t>
            </a:r>
            <a:r>
              <a:rPr sz="1000" spc="-265" dirty="0">
                <a:latin typeface="Arial"/>
                <a:cs typeface="Arial"/>
              </a:rPr>
              <a:t> </a:t>
            </a:r>
            <a:r>
              <a:rPr sz="1000" spc="-5" dirty="0">
                <a:latin typeface="Arial"/>
                <a:cs typeface="Arial"/>
              </a:rPr>
              <a:t>records the dependency </a:t>
            </a:r>
            <a:r>
              <a:rPr sz="1000" i="1" spc="-5" dirty="0">
                <a:latin typeface="Arial"/>
                <a:cs typeface="Arial"/>
              </a:rPr>
              <a:t>INT</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i="1" spc="-5" dirty="0">
                <a:latin typeface="Arial"/>
                <a:cs typeface="Arial"/>
              </a:rPr>
              <a:t>INT</a:t>
            </a:r>
            <a:r>
              <a:rPr sz="1050" i="1" spc="7" baseline="-15873" dirty="0">
                <a:latin typeface="Arial"/>
                <a:cs typeface="Arial"/>
              </a:rPr>
              <a:t>j</a:t>
            </a:r>
            <a:r>
              <a:rPr sz="1050" i="1" spc="-127" baseline="-15873" dirty="0">
                <a:latin typeface="Arial"/>
                <a:cs typeface="Arial"/>
              </a:rPr>
              <a:t> </a:t>
            </a:r>
            <a:r>
              <a:rPr sz="1000" spc="50" dirty="0">
                <a:latin typeface="Arial"/>
                <a:cs typeface="Arial"/>
              </a:rPr>
              <a:t>(</a:t>
            </a:r>
            <a:r>
              <a:rPr sz="1000" i="1" spc="10" dirty="0">
                <a:latin typeface="Arial"/>
                <a:cs typeface="Arial"/>
              </a:rPr>
              <a:t>n</a:t>
            </a:r>
            <a:r>
              <a:rPr sz="1000" spc="50" dirty="0">
                <a:latin typeface="Arial"/>
                <a:cs typeface="Arial"/>
              </a:rPr>
              <a:t>)</a:t>
            </a:r>
            <a:r>
              <a:rPr sz="1000" spc="-5" dirty="0">
                <a:latin typeface="Arial"/>
                <a:cs typeface="Arial"/>
              </a:rPr>
              <a:t>.</a:t>
            </a:r>
            <a:endParaRPr sz="1000">
              <a:latin typeface="Arial"/>
              <a:cs typeface="Arial"/>
            </a:endParaRPr>
          </a:p>
        </p:txBody>
      </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931544"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Independent</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99640" cy="244475"/>
          </a:xfrm>
          <a:prstGeom prst="rect">
            <a:avLst/>
          </a:prstGeom>
        </p:spPr>
        <p:txBody>
          <a:bodyPr vert="horz" wrap="square" lIns="0" tIns="17145" rIns="0" bIns="0" rtlCol="0">
            <a:spAutoFit/>
          </a:bodyPr>
          <a:lstStyle/>
          <a:p>
            <a:pPr marL="12700">
              <a:lnSpc>
                <a:spcPct val="100000"/>
              </a:lnSpc>
              <a:spcBef>
                <a:spcPts val="135"/>
              </a:spcBef>
            </a:pPr>
            <a:r>
              <a:rPr spc="15" dirty="0"/>
              <a:t>Independent</a:t>
            </a:r>
            <a:r>
              <a:rPr spc="-15" dirty="0"/>
              <a:t> </a:t>
            </a:r>
            <a:r>
              <a:rPr spc="10" dirty="0"/>
              <a:t>checkpointing</a:t>
            </a:r>
          </a:p>
        </p:txBody>
      </p:sp>
      <p:sp>
        <p:nvSpPr>
          <p:cNvPr id="4" name="object 4"/>
          <p:cNvSpPr txBox="1"/>
          <p:nvPr/>
        </p:nvSpPr>
        <p:spPr>
          <a:xfrm>
            <a:off x="309194" y="541792"/>
            <a:ext cx="3989704" cy="2023745"/>
          </a:xfrm>
          <a:prstGeom prst="rect">
            <a:avLst/>
          </a:prstGeom>
        </p:spPr>
        <p:txBody>
          <a:bodyPr vert="horz" wrap="square" lIns="0" tIns="12065" rIns="0" bIns="0" rtlCol="0">
            <a:spAutoFit/>
          </a:bodyPr>
          <a:lstStyle/>
          <a:p>
            <a:pPr marL="508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50800" marR="321310">
              <a:lnSpc>
                <a:spcPts val="1200"/>
              </a:lnSpc>
              <a:spcBef>
                <a:spcPts val="10"/>
              </a:spcBef>
            </a:pPr>
            <a:r>
              <a:rPr sz="1000" spc="-5" dirty="0">
                <a:latin typeface="Arial"/>
                <a:cs typeface="Arial"/>
              </a:rPr>
              <a:t>Each process</a:t>
            </a:r>
            <a:r>
              <a:rPr sz="1000" dirty="0">
                <a:latin typeface="Arial"/>
                <a:cs typeface="Arial"/>
              </a:rPr>
              <a:t> </a:t>
            </a:r>
            <a:r>
              <a:rPr sz="1000" spc="-5" dirty="0">
                <a:latin typeface="Arial"/>
                <a:cs typeface="Arial"/>
              </a:rPr>
              <a:t>independently</a:t>
            </a:r>
            <a:r>
              <a:rPr sz="1000" dirty="0">
                <a:latin typeface="Arial"/>
                <a:cs typeface="Arial"/>
              </a:rPr>
              <a:t> </a:t>
            </a:r>
            <a:r>
              <a:rPr sz="1000" spc="-10" dirty="0">
                <a:latin typeface="Arial"/>
                <a:cs typeface="Arial"/>
              </a:rPr>
              <a:t>takes</a:t>
            </a:r>
            <a:r>
              <a:rPr sz="1000" spc="-5" dirty="0">
                <a:latin typeface="Arial"/>
                <a:cs typeface="Arial"/>
              </a:rPr>
              <a:t> checkpoints,</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a:t>
            </a:r>
            <a:r>
              <a:rPr sz="1000" dirty="0">
                <a:latin typeface="Arial"/>
                <a:cs typeface="Arial"/>
              </a:rPr>
              <a:t> risk</a:t>
            </a:r>
            <a:r>
              <a:rPr sz="1000" spc="-5" dirty="0">
                <a:latin typeface="Arial"/>
                <a:cs typeface="Arial"/>
              </a:rPr>
              <a:t> of</a:t>
            </a:r>
            <a:r>
              <a:rPr sz="1000" dirty="0">
                <a:latin typeface="Arial"/>
                <a:cs typeface="Arial"/>
              </a:rPr>
              <a:t> </a:t>
            </a:r>
            <a:r>
              <a:rPr sz="1000" spc="-5" dirty="0">
                <a:latin typeface="Arial"/>
                <a:cs typeface="Arial"/>
              </a:rPr>
              <a:t>a </a:t>
            </a:r>
            <a:r>
              <a:rPr sz="1000" spc="-260" dirty="0">
                <a:latin typeface="Arial"/>
                <a:cs typeface="Arial"/>
              </a:rPr>
              <a:t> </a:t>
            </a:r>
            <a:r>
              <a:rPr sz="1000" spc="-5" dirty="0">
                <a:latin typeface="Arial"/>
                <a:cs typeface="Arial"/>
              </a:rPr>
              <a:t>cascaded</a:t>
            </a:r>
            <a:r>
              <a:rPr sz="1000" spc="-10" dirty="0">
                <a:latin typeface="Arial"/>
                <a:cs typeface="Arial"/>
              </a:rPr>
              <a:t> </a:t>
            </a:r>
            <a:r>
              <a:rPr sz="1000" spc="-5" dirty="0">
                <a:latin typeface="Arial"/>
                <a:cs typeface="Arial"/>
              </a:rPr>
              <a:t>rollback to system startup.</a:t>
            </a:r>
            <a:endParaRPr sz="1000">
              <a:latin typeface="Arial"/>
              <a:cs typeface="Arial"/>
            </a:endParaRPr>
          </a:p>
          <a:p>
            <a:pPr marL="327660" marR="43180" indent="-168275">
              <a:lnSpc>
                <a:spcPct val="100000"/>
              </a:lnSpc>
              <a:spcBef>
                <a:spcPts val="550"/>
              </a:spcBef>
              <a:buClr>
                <a:srgbClr val="3333B2"/>
              </a:buClr>
              <a:buChar char="►"/>
              <a:tabLst>
                <a:tab pos="328295" algn="l"/>
              </a:tabLst>
            </a:pPr>
            <a:r>
              <a:rPr sz="1000" spc="-10" dirty="0">
                <a:latin typeface="Arial"/>
                <a:cs typeface="Arial"/>
              </a:rPr>
              <a:t>Let</a:t>
            </a:r>
            <a:r>
              <a:rPr sz="1000" spc="-5" dirty="0">
                <a:latin typeface="Arial"/>
                <a:cs typeface="Arial"/>
              </a:rPr>
              <a:t> </a:t>
            </a:r>
            <a:r>
              <a:rPr sz="1000" i="1" dirty="0">
                <a:latin typeface="Arial"/>
                <a:cs typeface="Arial"/>
              </a:rPr>
              <a:t>CP</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denote</a:t>
            </a:r>
            <a:r>
              <a:rPr sz="1000" spc="-5" dirty="0">
                <a:latin typeface="Arial"/>
                <a:cs typeface="Arial"/>
              </a:rPr>
              <a:t> </a:t>
            </a:r>
            <a:r>
              <a:rPr sz="1000" i="1" dirty="0">
                <a:latin typeface="Arial"/>
                <a:cs typeface="Arial"/>
              </a:rPr>
              <a:t>m</a:t>
            </a:r>
            <a:r>
              <a:rPr sz="1200" baseline="24305" dirty="0">
                <a:latin typeface="Arial"/>
                <a:cs typeface="Arial"/>
              </a:rPr>
              <a:t>th</a:t>
            </a:r>
            <a:r>
              <a:rPr sz="1200" spc="157" baseline="24305" dirty="0">
                <a:latin typeface="Arial"/>
                <a:cs typeface="Arial"/>
              </a:rPr>
              <a:t> </a:t>
            </a:r>
            <a:r>
              <a:rPr sz="1000" spc="-10" dirty="0">
                <a:latin typeface="Arial"/>
                <a:cs typeface="Arial"/>
              </a:rPr>
              <a:t>checkpoint</a:t>
            </a:r>
            <a:r>
              <a:rPr sz="1000" spc="-5"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process</a:t>
            </a:r>
            <a:r>
              <a:rPr sz="1000" spc="-5" dirty="0">
                <a:latin typeface="Arial"/>
                <a:cs typeface="Arial"/>
              </a:rPr>
              <a:t> </a:t>
            </a:r>
            <a:r>
              <a:rPr sz="1000" i="1" dirty="0">
                <a:latin typeface="Arial"/>
                <a:cs typeface="Arial"/>
              </a:rPr>
              <a:t>P</a:t>
            </a:r>
            <a:r>
              <a:rPr sz="1050" i="1" baseline="-15873" dirty="0">
                <a:latin typeface="Arial"/>
                <a:cs typeface="Arial"/>
              </a:rPr>
              <a:t>i</a:t>
            </a:r>
            <a:r>
              <a:rPr sz="1050" i="1" spc="7" baseline="-15873" dirty="0">
                <a:latin typeface="Arial"/>
                <a:cs typeface="Arial"/>
              </a:rPr>
              <a:t> </a:t>
            </a:r>
            <a:r>
              <a:rPr sz="1000" spc="-10" dirty="0">
                <a:latin typeface="Arial"/>
                <a:cs typeface="Arial"/>
              </a:rPr>
              <a:t>and</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the </a:t>
            </a:r>
            <a:r>
              <a:rPr sz="1000" spc="-265" dirty="0">
                <a:latin typeface="Arial"/>
                <a:cs typeface="Arial"/>
              </a:rPr>
              <a:t> </a:t>
            </a:r>
            <a:r>
              <a:rPr sz="1000" spc="-5" dirty="0">
                <a:latin typeface="Arial"/>
                <a:cs typeface="Arial"/>
              </a:rPr>
              <a:t>inte</a:t>
            </a:r>
            <a:r>
              <a:rPr sz="1000" spc="20" dirty="0">
                <a:latin typeface="Arial"/>
                <a:cs typeface="Arial"/>
              </a:rPr>
              <a:t>r</a:t>
            </a:r>
            <a:r>
              <a:rPr sz="1000" spc="-30" dirty="0">
                <a:latin typeface="Arial"/>
                <a:cs typeface="Arial"/>
              </a:rPr>
              <a:t>v</a:t>
            </a:r>
            <a:r>
              <a:rPr sz="1000" spc="-5" dirty="0">
                <a:latin typeface="Arial"/>
                <a:cs typeface="Arial"/>
              </a:rPr>
              <a:t>al bet</a:t>
            </a:r>
            <a:r>
              <a:rPr sz="1000" spc="-15" dirty="0">
                <a:latin typeface="Arial"/>
                <a:cs typeface="Arial"/>
              </a:rPr>
              <a:t>w</a:t>
            </a:r>
            <a:r>
              <a:rPr sz="1000" spc="-5" dirty="0">
                <a:latin typeface="Arial"/>
                <a:cs typeface="Arial"/>
              </a:rPr>
              <a:t>een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5" dirty="0">
                <a:latin typeface="Arial"/>
                <a:cs typeface="Arial"/>
              </a:rPr>
              <a:t>m</a:t>
            </a:r>
            <a:r>
              <a:rPr sz="1000" i="1" spc="-120"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and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spc="-5" dirty="0">
                <a:latin typeface="Arial"/>
                <a:cs typeface="Arial"/>
              </a:rPr>
              <a:t>.</a:t>
            </a:r>
            <a:endParaRPr sz="1000">
              <a:latin typeface="Arial"/>
              <a:cs typeface="Arial"/>
            </a:endParaRPr>
          </a:p>
          <a:p>
            <a:pPr marL="327660" marR="472440" indent="-168275">
              <a:lnSpc>
                <a:spcPct val="100000"/>
              </a:lnSpc>
              <a:spcBef>
                <a:spcPts val="590"/>
              </a:spcBef>
              <a:buClr>
                <a:srgbClr val="3333B2"/>
              </a:buClr>
              <a:buChar char="►"/>
              <a:tabLst>
                <a:tab pos="328295" algn="l"/>
              </a:tabLst>
            </a:pPr>
            <a:r>
              <a:rPr sz="1000" spc="-5" dirty="0">
                <a:latin typeface="Arial"/>
                <a:cs typeface="Arial"/>
              </a:rPr>
              <a:t>When process</a:t>
            </a:r>
            <a:r>
              <a:rPr sz="1000" dirty="0">
                <a:latin typeface="Arial"/>
                <a:cs typeface="Arial"/>
              </a:rPr>
              <a:t> </a:t>
            </a:r>
            <a:r>
              <a:rPr sz="1000" i="1" dirty="0">
                <a:latin typeface="Arial"/>
                <a:cs typeface="Arial"/>
              </a:rPr>
              <a:t>P</a:t>
            </a:r>
            <a:r>
              <a:rPr sz="1050" i="1" baseline="-15873" dirty="0">
                <a:latin typeface="Arial"/>
                <a:cs typeface="Arial"/>
              </a:rPr>
              <a:t>i</a:t>
            </a:r>
            <a:r>
              <a:rPr sz="1050" i="1" spc="15" baseline="-15873" dirty="0">
                <a:latin typeface="Arial"/>
                <a:cs typeface="Arial"/>
              </a:rPr>
              <a:t> </a:t>
            </a:r>
            <a:r>
              <a:rPr sz="1000" spc="-5" dirty="0">
                <a:latin typeface="Arial"/>
                <a:cs typeface="Arial"/>
              </a:rPr>
              <a:t>sends</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interval</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25" dirty="0">
                <a:latin typeface="Arial"/>
                <a:cs typeface="Arial"/>
              </a:rPr>
              <a:t>(</a:t>
            </a:r>
            <a:r>
              <a:rPr sz="1000" i="1" spc="25" dirty="0">
                <a:latin typeface="Arial"/>
                <a:cs typeface="Arial"/>
              </a:rPr>
              <a:t>m</a:t>
            </a:r>
            <a:r>
              <a:rPr sz="1000" spc="25" dirty="0">
                <a:latin typeface="Arial"/>
                <a:cs typeface="Arial"/>
              </a:rPr>
              <a:t>),</a:t>
            </a:r>
            <a:r>
              <a:rPr sz="1000" dirty="0">
                <a:latin typeface="Arial"/>
                <a:cs typeface="Arial"/>
              </a:rPr>
              <a:t> </a:t>
            </a:r>
            <a:r>
              <a:rPr sz="1000" spc="-5" dirty="0">
                <a:latin typeface="Arial"/>
                <a:cs typeface="Arial"/>
              </a:rPr>
              <a:t>it </a:t>
            </a:r>
            <a:r>
              <a:rPr sz="1000" spc="-265" dirty="0">
                <a:latin typeface="Arial"/>
                <a:cs typeface="Arial"/>
              </a:rPr>
              <a:t> </a:t>
            </a:r>
            <a:r>
              <a:rPr sz="1000" spc="-5" dirty="0">
                <a:latin typeface="Arial"/>
                <a:cs typeface="Arial"/>
              </a:rPr>
              <a:t>piggybacks</a:t>
            </a:r>
            <a:r>
              <a:rPr sz="1000" spc="-10" dirty="0">
                <a:latin typeface="Arial"/>
                <a:cs typeface="Arial"/>
              </a:rPr>
              <a:t> </a:t>
            </a:r>
            <a:r>
              <a:rPr sz="1000" spc="45" dirty="0">
                <a:latin typeface="Arial"/>
                <a:cs typeface="Arial"/>
              </a:rPr>
              <a:t>(</a:t>
            </a:r>
            <a:r>
              <a:rPr sz="1000" i="1" spc="45" dirty="0">
                <a:latin typeface="Arial"/>
                <a:cs typeface="Arial"/>
              </a:rPr>
              <a:t>i,</a:t>
            </a:r>
            <a:r>
              <a:rPr sz="1000" i="1" spc="-170" dirty="0">
                <a:latin typeface="Arial"/>
                <a:cs typeface="Arial"/>
              </a:rPr>
              <a:t> </a:t>
            </a:r>
            <a:r>
              <a:rPr sz="1000" i="1" spc="30" dirty="0">
                <a:latin typeface="Arial"/>
                <a:cs typeface="Arial"/>
              </a:rPr>
              <a:t>m</a:t>
            </a:r>
            <a:r>
              <a:rPr sz="1000" spc="30" dirty="0">
                <a:latin typeface="Arial"/>
                <a:cs typeface="Arial"/>
              </a:rPr>
              <a:t>)</a:t>
            </a:r>
            <a:endParaRPr sz="1000">
              <a:latin typeface="Arial"/>
              <a:cs typeface="Arial"/>
            </a:endParaRPr>
          </a:p>
          <a:p>
            <a:pPr marL="327660" marR="377190" indent="-168275">
              <a:lnSpc>
                <a:spcPct val="100000"/>
              </a:lnSpc>
              <a:spcBef>
                <a:spcPts val="590"/>
              </a:spcBef>
              <a:buClr>
                <a:srgbClr val="3333B2"/>
              </a:buClr>
              <a:buChar char="►"/>
              <a:tabLst>
                <a:tab pos="328295" algn="l"/>
              </a:tabLst>
            </a:pPr>
            <a:r>
              <a:rPr sz="1000" spc="-5" dirty="0">
                <a:latin typeface="Arial"/>
                <a:cs typeface="Arial"/>
              </a:rPr>
              <a:t>When process </a:t>
            </a:r>
            <a:r>
              <a:rPr sz="1000" i="1" dirty="0">
                <a:latin typeface="Arial"/>
                <a:cs typeface="Arial"/>
              </a:rPr>
              <a:t>P</a:t>
            </a:r>
            <a:r>
              <a:rPr sz="1050" i="1" baseline="-15873" dirty="0">
                <a:latin typeface="Arial"/>
                <a:cs typeface="Arial"/>
              </a:rPr>
              <a:t>j</a:t>
            </a:r>
            <a:r>
              <a:rPr sz="1050" i="1" spc="15" baseline="-15873" dirty="0">
                <a:latin typeface="Arial"/>
                <a:cs typeface="Arial"/>
              </a:rPr>
              <a:t> </a:t>
            </a:r>
            <a:r>
              <a:rPr sz="1000" spc="-5" dirty="0">
                <a:latin typeface="Arial"/>
                <a:cs typeface="Arial"/>
              </a:rPr>
              <a:t>receives</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in interval</a:t>
            </a:r>
            <a:r>
              <a:rPr sz="1000" dirty="0">
                <a:latin typeface="Arial"/>
                <a:cs typeface="Arial"/>
              </a:rPr>
              <a:t> </a:t>
            </a:r>
            <a:r>
              <a:rPr sz="1000" i="1" dirty="0">
                <a:latin typeface="Arial"/>
                <a:cs typeface="Arial"/>
              </a:rPr>
              <a:t>INT</a:t>
            </a:r>
            <a:r>
              <a:rPr sz="1050" i="1" baseline="-15873" dirty="0">
                <a:latin typeface="Arial"/>
                <a:cs typeface="Arial"/>
              </a:rPr>
              <a:t>j</a:t>
            </a:r>
            <a:r>
              <a:rPr sz="1050" i="1" spc="-127" baseline="-15873" dirty="0">
                <a:latin typeface="Arial"/>
                <a:cs typeface="Arial"/>
              </a:rPr>
              <a:t> </a:t>
            </a:r>
            <a:r>
              <a:rPr sz="1000" spc="25" dirty="0">
                <a:latin typeface="Arial"/>
                <a:cs typeface="Arial"/>
              </a:rPr>
              <a:t>(</a:t>
            </a:r>
            <a:r>
              <a:rPr sz="1000" i="1" spc="25" dirty="0">
                <a:latin typeface="Arial"/>
                <a:cs typeface="Arial"/>
              </a:rPr>
              <a:t>n</a:t>
            </a:r>
            <a:r>
              <a:rPr sz="1000" spc="25" dirty="0">
                <a:latin typeface="Arial"/>
                <a:cs typeface="Arial"/>
              </a:rPr>
              <a:t>),</a:t>
            </a:r>
            <a:r>
              <a:rPr sz="1000" spc="-5" dirty="0">
                <a:latin typeface="Arial"/>
                <a:cs typeface="Arial"/>
              </a:rPr>
              <a:t> it </a:t>
            </a:r>
            <a:r>
              <a:rPr sz="1000" spc="-265" dirty="0">
                <a:latin typeface="Arial"/>
                <a:cs typeface="Arial"/>
              </a:rPr>
              <a:t> </a:t>
            </a:r>
            <a:r>
              <a:rPr sz="1000" spc="-5" dirty="0">
                <a:latin typeface="Arial"/>
                <a:cs typeface="Arial"/>
              </a:rPr>
              <a:t>records the dependency </a:t>
            </a:r>
            <a:r>
              <a:rPr sz="1000" i="1" spc="-5" dirty="0">
                <a:latin typeface="Arial"/>
                <a:cs typeface="Arial"/>
              </a:rPr>
              <a:t>INT</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i="1" spc="-5" dirty="0">
                <a:latin typeface="Arial"/>
                <a:cs typeface="Arial"/>
              </a:rPr>
              <a:t>INT</a:t>
            </a:r>
            <a:r>
              <a:rPr sz="1050" i="1" spc="7" baseline="-15873" dirty="0">
                <a:latin typeface="Arial"/>
                <a:cs typeface="Arial"/>
              </a:rPr>
              <a:t>j</a:t>
            </a:r>
            <a:r>
              <a:rPr sz="1050" i="1" spc="-127" baseline="-15873" dirty="0">
                <a:latin typeface="Arial"/>
                <a:cs typeface="Arial"/>
              </a:rPr>
              <a:t> </a:t>
            </a:r>
            <a:r>
              <a:rPr sz="1000" spc="50" dirty="0">
                <a:latin typeface="Arial"/>
                <a:cs typeface="Arial"/>
              </a:rPr>
              <a:t>(</a:t>
            </a:r>
            <a:r>
              <a:rPr sz="1000" i="1" spc="10" dirty="0">
                <a:latin typeface="Arial"/>
                <a:cs typeface="Arial"/>
              </a:rPr>
              <a:t>n</a:t>
            </a:r>
            <a:r>
              <a:rPr sz="1000" spc="50" dirty="0">
                <a:latin typeface="Arial"/>
                <a:cs typeface="Arial"/>
              </a:rPr>
              <a:t>)</a:t>
            </a:r>
            <a:r>
              <a:rPr sz="1000" spc="-5" dirty="0">
                <a:latin typeface="Arial"/>
                <a:cs typeface="Arial"/>
              </a:rPr>
              <a:t>.</a:t>
            </a:r>
            <a:endParaRPr sz="1000">
              <a:latin typeface="Arial"/>
              <a:cs typeface="Arial"/>
            </a:endParaRPr>
          </a:p>
          <a:p>
            <a:pPr marL="327660" marR="196215" indent="-168275">
              <a:lnSpc>
                <a:spcPct val="100000"/>
              </a:lnSpc>
              <a:spcBef>
                <a:spcPts val="585"/>
              </a:spcBef>
              <a:buClr>
                <a:srgbClr val="3333B2"/>
              </a:buClr>
              <a:buChar char="►"/>
              <a:tabLst>
                <a:tab pos="328295" algn="l"/>
              </a:tabLst>
            </a:pPr>
            <a:r>
              <a:rPr sz="1000" spc="-5" dirty="0">
                <a:latin typeface="Arial"/>
                <a:cs typeface="Arial"/>
              </a:rPr>
              <a:t>The dependency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i="1" dirty="0">
                <a:latin typeface="Arial"/>
                <a:cs typeface="Arial"/>
              </a:rPr>
              <a:t>INT</a:t>
            </a:r>
            <a:r>
              <a:rPr sz="1050" i="1" baseline="-15873" dirty="0">
                <a:latin typeface="Arial"/>
                <a:cs typeface="Arial"/>
              </a:rPr>
              <a:t>j</a:t>
            </a:r>
            <a:r>
              <a:rPr sz="1050" i="1" spc="-127" baseline="-15873" dirty="0">
                <a:latin typeface="Arial"/>
                <a:cs typeface="Arial"/>
              </a:rPr>
              <a:t> </a:t>
            </a:r>
            <a:r>
              <a:rPr sz="1000" spc="40" dirty="0">
                <a:latin typeface="Arial"/>
                <a:cs typeface="Arial"/>
              </a:rPr>
              <a:t>(</a:t>
            </a:r>
            <a:r>
              <a:rPr sz="1000" i="1" spc="40" dirty="0">
                <a:latin typeface="Arial"/>
                <a:cs typeface="Arial"/>
              </a:rPr>
              <a:t>n</a:t>
            </a:r>
            <a:r>
              <a:rPr sz="1000" spc="40" dirty="0">
                <a:latin typeface="Arial"/>
                <a:cs typeface="Arial"/>
              </a:rPr>
              <a:t>)</a:t>
            </a:r>
            <a:r>
              <a:rPr sz="1000" dirty="0">
                <a:latin typeface="Arial"/>
                <a:cs typeface="Arial"/>
              </a:rPr>
              <a:t> </a:t>
            </a:r>
            <a:r>
              <a:rPr sz="1000" spc="-5" dirty="0">
                <a:latin typeface="Arial"/>
                <a:cs typeface="Arial"/>
              </a:rPr>
              <a:t>is </a:t>
            </a:r>
            <a:r>
              <a:rPr sz="1000" spc="-15" dirty="0">
                <a:latin typeface="Arial"/>
                <a:cs typeface="Arial"/>
              </a:rPr>
              <a:t>saved</a:t>
            </a:r>
            <a:r>
              <a:rPr sz="1000" spc="-5" dirty="0">
                <a:latin typeface="Arial"/>
                <a:cs typeface="Arial"/>
              </a:rPr>
              <a:t> to</a:t>
            </a:r>
            <a:r>
              <a:rPr sz="1000" dirty="0">
                <a:latin typeface="Arial"/>
                <a:cs typeface="Arial"/>
              </a:rPr>
              <a:t> </a:t>
            </a:r>
            <a:r>
              <a:rPr sz="1000" spc="-5" dirty="0">
                <a:latin typeface="Arial"/>
                <a:cs typeface="Arial"/>
              </a:rPr>
              <a:t>storage when </a:t>
            </a:r>
            <a:r>
              <a:rPr sz="1000" spc="-265" dirty="0">
                <a:latin typeface="Arial"/>
                <a:cs typeface="Arial"/>
              </a:rPr>
              <a:t> </a:t>
            </a:r>
            <a:r>
              <a:rPr sz="1000" spc="-5" dirty="0">
                <a:latin typeface="Arial"/>
                <a:cs typeface="Arial"/>
              </a:rPr>
              <a:t>taking</a:t>
            </a:r>
            <a:r>
              <a:rPr sz="1000" spc="-10" dirty="0">
                <a:latin typeface="Arial"/>
                <a:cs typeface="Arial"/>
              </a:rPr>
              <a:t> </a:t>
            </a:r>
            <a:r>
              <a:rPr sz="1000" spc="-5" dirty="0">
                <a:latin typeface="Arial"/>
                <a:cs typeface="Arial"/>
              </a:rPr>
              <a:t>checkpoint </a:t>
            </a:r>
            <a:r>
              <a:rPr sz="1000" i="1" dirty="0">
                <a:latin typeface="Arial"/>
                <a:cs typeface="Arial"/>
              </a:rPr>
              <a:t>CP</a:t>
            </a:r>
            <a:r>
              <a:rPr sz="1050" i="1" baseline="-15873" dirty="0">
                <a:latin typeface="Arial"/>
                <a:cs typeface="Arial"/>
              </a:rPr>
              <a:t>j</a:t>
            </a:r>
            <a:r>
              <a:rPr sz="1050" i="1" spc="-127" baseline="-15873" dirty="0">
                <a:latin typeface="Arial"/>
                <a:cs typeface="Arial"/>
              </a:rPr>
              <a:t> </a:t>
            </a:r>
            <a:r>
              <a:rPr sz="1000" spc="25" dirty="0">
                <a:latin typeface="Arial"/>
                <a:cs typeface="Arial"/>
              </a:rPr>
              <a:t>(</a:t>
            </a:r>
            <a:r>
              <a:rPr sz="1000" i="1" spc="25" dirty="0">
                <a:latin typeface="Arial"/>
                <a:cs typeface="Arial"/>
              </a:rPr>
              <a:t>n</a:t>
            </a:r>
            <a:r>
              <a:rPr sz="1000" spc="25" dirty="0">
                <a:latin typeface="Arial"/>
                <a:cs typeface="Arial"/>
              </a:rPr>
              <a:t>).</a:t>
            </a:r>
            <a:endParaRPr sz="1000">
              <a:latin typeface="Arial"/>
              <a:cs typeface="Arial"/>
            </a:endParaRPr>
          </a:p>
        </p:txBody>
      </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931544"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Independent</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checkpointing</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63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68</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82085" algn="l"/>
              </a:tabLst>
            </a:pPr>
            <a:r>
              <a:rPr sz="600" spc="-10" dirty="0">
                <a:solidFill>
                  <a:srgbClr val="3333B2"/>
                </a:solidFill>
                <a:latin typeface="Arial"/>
                <a:cs typeface="Arial"/>
                <a:hlinkClick r:id="rId4" action="ppaction://hlinksldjump"/>
              </a:rPr>
              <a:t>Fault</a:t>
            </a:r>
            <a:r>
              <a:rPr sz="600" spc="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5"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6" action="ppaction://hlinksldjump"/>
              </a:rPr>
              <a:t>Checkpointing</a:t>
            </a:r>
            <a:endParaRPr sz="600">
              <a:latin typeface="Arial"/>
              <a:cs typeface="Arial"/>
            </a:endParaRPr>
          </a:p>
        </p:txBody>
      </p:sp>
      <p:sp>
        <p:nvSpPr>
          <p:cNvPr id="3" name="object 3"/>
          <p:cNvSpPr txBox="1">
            <a:spLocks noGrp="1"/>
          </p:cNvSpPr>
          <p:nvPr>
            <p:ph type="title"/>
          </p:nvPr>
        </p:nvSpPr>
        <p:spPr>
          <a:xfrm>
            <a:off x="95300" y="188846"/>
            <a:ext cx="2199640" cy="244475"/>
          </a:xfrm>
          <a:prstGeom prst="rect">
            <a:avLst/>
          </a:prstGeom>
        </p:spPr>
        <p:txBody>
          <a:bodyPr vert="horz" wrap="square" lIns="0" tIns="17145" rIns="0" bIns="0" rtlCol="0">
            <a:spAutoFit/>
          </a:bodyPr>
          <a:lstStyle/>
          <a:p>
            <a:pPr marL="12700">
              <a:lnSpc>
                <a:spcPct val="100000"/>
              </a:lnSpc>
              <a:spcBef>
                <a:spcPts val="135"/>
              </a:spcBef>
            </a:pPr>
            <a:r>
              <a:rPr spc="15" dirty="0"/>
              <a:t>Independent</a:t>
            </a:r>
            <a:r>
              <a:rPr spc="-15" dirty="0"/>
              <a:t> </a:t>
            </a:r>
            <a:r>
              <a:rPr spc="10" dirty="0"/>
              <a:t>checkpointing</a:t>
            </a:r>
          </a:p>
        </p:txBody>
      </p:sp>
      <p:sp>
        <p:nvSpPr>
          <p:cNvPr id="4" name="object 4"/>
          <p:cNvSpPr txBox="1"/>
          <p:nvPr/>
        </p:nvSpPr>
        <p:spPr>
          <a:xfrm>
            <a:off x="296494" y="541792"/>
            <a:ext cx="4015104" cy="2560320"/>
          </a:xfrm>
          <a:prstGeom prst="rect">
            <a:avLst/>
          </a:prstGeom>
        </p:spPr>
        <p:txBody>
          <a:bodyPr vert="horz" wrap="square" lIns="0" tIns="12065" rIns="0" bIns="0" rtlCol="0">
            <a:spAutoFit/>
          </a:bodyPr>
          <a:lstStyle/>
          <a:p>
            <a:pPr marL="63500">
              <a:lnSpc>
                <a:spcPts val="1410"/>
              </a:lnSpc>
              <a:spcBef>
                <a:spcPts val="95"/>
              </a:spcBef>
            </a:pPr>
            <a:r>
              <a:rPr sz="1200" spc="-5" dirty="0">
                <a:solidFill>
                  <a:srgbClr val="3333B2"/>
                </a:solidFill>
                <a:latin typeface="Arial"/>
                <a:cs typeface="Arial"/>
              </a:rPr>
              <a:t>Essence</a:t>
            </a:r>
            <a:endParaRPr sz="1200">
              <a:latin typeface="Arial"/>
              <a:cs typeface="Arial"/>
            </a:endParaRPr>
          </a:p>
          <a:p>
            <a:pPr marL="63500" marR="334010">
              <a:lnSpc>
                <a:spcPts val="1200"/>
              </a:lnSpc>
              <a:spcBef>
                <a:spcPts val="10"/>
              </a:spcBef>
            </a:pPr>
            <a:r>
              <a:rPr sz="1000" spc="-5" dirty="0">
                <a:latin typeface="Arial"/>
                <a:cs typeface="Arial"/>
              </a:rPr>
              <a:t>Each process</a:t>
            </a:r>
            <a:r>
              <a:rPr sz="1000" dirty="0">
                <a:latin typeface="Arial"/>
                <a:cs typeface="Arial"/>
              </a:rPr>
              <a:t> </a:t>
            </a:r>
            <a:r>
              <a:rPr sz="1000" spc="-5" dirty="0">
                <a:latin typeface="Arial"/>
                <a:cs typeface="Arial"/>
              </a:rPr>
              <a:t>independently</a:t>
            </a:r>
            <a:r>
              <a:rPr sz="1000" dirty="0">
                <a:latin typeface="Arial"/>
                <a:cs typeface="Arial"/>
              </a:rPr>
              <a:t> </a:t>
            </a:r>
            <a:r>
              <a:rPr sz="1000" spc="-10" dirty="0">
                <a:latin typeface="Arial"/>
                <a:cs typeface="Arial"/>
              </a:rPr>
              <a:t>takes</a:t>
            </a:r>
            <a:r>
              <a:rPr sz="1000" spc="-5" dirty="0">
                <a:latin typeface="Arial"/>
                <a:cs typeface="Arial"/>
              </a:rPr>
              <a:t> checkpoints,</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the</a:t>
            </a:r>
            <a:r>
              <a:rPr sz="1000" dirty="0">
                <a:latin typeface="Arial"/>
                <a:cs typeface="Arial"/>
              </a:rPr>
              <a:t> risk</a:t>
            </a:r>
            <a:r>
              <a:rPr sz="1000" spc="-5" dirty="0">
                <a:latin typeface="Arial"/>
                <a:cs typeface="Arial"/>
              </a:rPr>
              <a:t> of</a:t>
            </a:r>
            <a:r>
              <a:rPr sz="1000" dirty="0">
                <a:latin typeface="Arial"/>
                <a:cs typeface="Arial"/>
              </a:rPr>
              <a:t> </a:t>
            </a:r>
            <a:r>
              <a:rPr sz="1000" spc="-5" dirty="0">
                <a:latin typeface="Arial"/>
                <a:cs typeface="Arial"/>
              </a:rPr>
              <a:t>a </a:t>
            </a:r>
            <a:r>
              <a:rPr sz="1000" spc="-260" dirty="0">
                <a:latin typeface="Arial"/>
                <a:cs typeface="Arial"/>
              </a:rPr>
              <a:t> </a:t>
            </a:r>
            <a:r>
              <a:rPr sz="1000" spc="-5" dirty="0">
                <a:latin typeface="Arial"/>
                <a:cs typeface="Arial"/>
              </a:rPr>
              <a:t>cascaded</a:t>
            </a:r>
            <a:r>
              <a:rPr sz="1000" spc="-10" dirty="0">
                <a:latin typeface="Arial"/>
                <a:cs typeface="Arial"/>
              </a:rPr>
              <a:t> </a:t>
            </a:r>
            <a:r>
              <a:rPr sz="1000" spc="-5" dirty="0">
                <a:latin typeface="Arial"/>
                <a:cs typeface="Arial"/>
              </a:rPr>
              <a:t>rollback to system startup.</a:t>
            </a:r>
            <a:endParaRPr sz="1000">
              <a:latin typeface="Arial"/>
              <a:cs typeface="Arial"/>
            </a:endParaRPr>
          </a:p>
          <a:p>
            <a:pPr marL="340360" marR="55880" indent="-168275">
              <a:lnSpc>
                <a:spcPct val="100000"/>
              </a:lnSpc>
              <a:spcBef>
                <a:spcPts val="550"/>
              </a:spcBef>
              <a:buClr>
                <a:srgbClr val="3333B2"/>
              </a:buClr>
              <a:buChar char="►"/>
              <a:tabLst>
                <a:tab pos="340995" algn="l"/>
              </a:tabLst>
            </a:pPr>
            <a:r>
              <a:rPr sz="1000" spc="-10" dirty="0">
                <a:latin typeface="Arial"/>
                <a:cs typeface="Arial"/>
              </a:rPr>
              <a:t>Let</a:t>
            </a:r>
            <a:r>
              <a:rPr sz="1000" spc="-5" dirty="0">
                <a:latin typeface="Arial"/>
                <a:cs typeface="Arial"/>
              </a:rPr>
              <a:t> </a:t>
            </a:r>
            <a:r>
              <a:rPr sz="1000" i="1" dirty="0">
                <a:latin typeface="Arial"/>
                <a:cs typeface="Arial"/>
              </a:rPr>
              <a:t>CP</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denote</a:t>
            </a:r>
            <a:r>
              <a:rPr sz="1000" spc="-5" dirty="0">
                <a:latin typeface="Arial"/>
                <a:cs typeface="Arial"/>
              </a:rPr>
              <a:t> </a:t>
            </a:r>
            <a:r>
              <a:rPr sz="1000" i="1" dirty="0">
                <a:latin typeface="Arial"/>
                <a:cs typeface="Arial"/>
              </a:rPr>
              <a:t>m</a:t>
            </a:r>
            <a:r>
              <a:rPr sz="1200" baseline="24305" dirty="0">
                <a:latin typeface="Arial"/>
                <a:cs typeface="Arial"/>
              </a:rPr>
              <a:t>th</a:t>
            </a:r>
            <a:r>
              <a:rPr sz="1200" spc="157" baseline="24305" dirty="0">
                <a:latin typeface="Arial"/>
                <a:cs typeface="Arial"/>
              </a:rPr>
              <a:t> </a:t>
            </a:r>
            <a:r>
              <a:rPr sz="1000" spc="-10" dirty="0">
                <a:latin typeface="Arial"/>
                <a:cs typeface="Arial"/>
              </a:rPr>
              <a:t>checkpoint</a:t>
            </a:r>
            <a:r>
              <a:rPr sz="1000" spc="-5" dirty="0">
                <a:latin typeface="Arial"/>
                <a:cs typeface="Arial"/>
              </a:rPr>
              <a:t> </a:t>
            </a:r>
            <a:r>
              <a:rPr sz="1000" spc="-10" dirty="0">
                <a:latin typeface="Arial"/>
                <a:cs typeface="Arial"/>
              </a:rPr>
              <a:t>of</a:t>
            </a:r>
            <a:r>
              <a:rPr sz="1000" dirty="0">
                <a:latin typeface="Arial"/>
                <a:cs typeface="Arial"/>
              </a:rPr>
              <a:t> </a:t>
            </a:r>
            <a:r>
              <a:rPr sz="1000" spc="-10" dirty="0">
                <a:latin typeface="Arial"/>
                <a:cs typeface="Arial"/>
              </a:rPr>
              <a:t>process</a:t>
            </a:r>
            <a:r>
              <a:rPr sz="1000" spc="-5" dirty="0">
                <a:latin typeface="Arial"/>
                <a:cs typeface="Arial"/>
              </a:rPr>
              <a:t> </a:t>
            </a:r>
            <a:r>
              <a:rPr sz="1000" i="1" dirty="0">
                <a:latin typeface="Arial"/>
                <a:cs typeface="Arial"/>
              </a:rPr>
              <a:t>P</a:t>
            </a:r>
            <a:r>
              <a:rPr sz="1050" i="1" baseline="-15873" dirty="0">
                <a:latin typeface="Arial"/>
                <a:cs typeface="Arial"/>
              </a:rPr>
              <a:t>i</a:t>
            </a:r>
            <a:r>
              <a:rPr sz="1050" i="1" spc="7" baseline="-15873" dirty="0">
                <a:latin typeface="Arial"/>
                <a:cs typeface="Arial"/>
              </a:rPr>
              <a:t> </a:t>
            </a:r>
            <a:r>
              <a:rPr sz="1000" spc="-10" dirty="0">
                <a:latin typeface="Arial"/>
                <a:cs typeface="Arial"/>
              </a:rPr>
              <a:t>and</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spc="5" dirty="0">
                <a:latin typeface="Arial"/>
                <a:cs typeface="Arial"/>
              </a:rPr>
              <a:t> </a:t>
            </a:r>
            <a:r>
              <a:rPr sz="1000" spc="-10" dirty="0">
                <a:latin typeface="Arial"/>
                <a:cs typeface="Arial"/>
              </a:rPr>
              <a:t>the </a:t>
            </a:r>
            <a:r>
              <a:rPr sz="1000" spc="-265" dirty="0">
                <a:latin typeface="Arial"/>
                <a:cs typeface="Arial"/>
              </a:rPr>
              <a:t> </a:t>
            </a:r>
            <a:r>
              <a:rPr sz="1000" spc="-5" dirty="0">
                <a:latin typeface="Arial"/>
                <a:cs typeface="Arial"/>
              </a:rPr>
              <a:t>inte</a:t>
            </a:r>
            <a:r>
              <a:rPr sz="1000" spc="20" dirty="0">
                <a:latin typeface="Arial"/>
                <a:cs typeface="Arial"/>
              </a:rPr>
              <a:t>r</a:t>
            </a:r>
            <a:r>
              <a:rPr sz="1000" spc="-30" dirty="0">
                <a:latin typeface="Arial"/>
                <a:cs typeface="Arial"/>
              </a:rPr>
              <a:t>v</a:t>
            </a:r>
            <a:r>
              <a:rPr sz="1000" spc="-5" dirty="0">
                <a:latin typeface="Arial"/>
                <a:cs typeface="Arial"/>
              </a:rPr>
              <a:t>al bet</a:t>
            </a:r>
            <a:r>
              <a:rPr sz="1000" spc="-15" dirty="0">
                <a:latin typeface="Arial"/>
                <a:cs typeface="Arial"/>
              </a:rPr>
              <a:t>w</a:t>
            </a:r>
            <a:r>
              <a:rPr sz="1000" spc="-5" dirty="0">
                <a:latin typeface="Arial"/>
                <a:cs typeface="Arial"/>
              </a:rPr>
              <a:t>een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5" dirty="0">
                <a:latin typeface="Arial"/>
                <a:cs typeface="Arial"/>
              </a:rPr>
              <a:t>m</a:t>
            </a:r>
            <a:r>
              <a:rPr sz="1000" i="1" spc="-120" dirty="0">
                <a:latin typeface="Arial"/>
                <a:cs typeface="Arial"/>
              </a:rPr>
              <a:t> </a:t>
            </a:r>
            <a:r>
              <a:rPr sz="1000" i="1" spc="-30" dirty="0">
                <a:latin typeface="メイリオ"/>
                <a:cs typeface="メイリオ"/>
              </a:rPr>
              <a:t>−</a:t>
            </a:r>
            <a:r>
              <a:rPr sz="1000" i="1" spc="-204" dirty="0">
                <a:latin typeface="メイリオ"/>
                <a:cs typeface="メイリオ"/>
              </a:rPr>
              <a:t> </a:t>
            </a:r>
            <a:r>
              <a:rPr sz="1000" spc="-5" dirty="0">
                <a:latin typeface="Arial"/>
                <a:cs typeface="Arial"/>
              </a:rPr>
              <a:t>1</a:t>
            </a:r>
            <a:r>
              <a:rPr sz="1000" spc="50" dirty="0">
                <a:latin typeface="Arial"/>
                <a:cs typeface="Arial"/>
              </a:rPr>
              <a:t>)</a:t>
            </a:r>
            <a:r>
              <a:rPr sz="1000" dirty="0">
                <a:latin typeface="Arial"/>
                <a:cs typeface="Arial"/>
              </a:rPr>
              <a:t> </a:t>
            </a:r>
            <a:r>
              <a:rPr sz="1000" spc="-5" dirty="0">
                <a:latin typeface="Arial"/>
                <a:cs typeface="Arial"/>
              </a:rPr>
              <a:t>and </a:t>
            </a:r>
            <a:r>
              <a:rPr sz="1000" i="1" spc="-5" dirty="0">
                <a:latin typeface="Arial"/>
                <a:cs typeface="Arial"/>
              </a:rPr>
              <a:t>CP</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spc="-5" dirty="0">
                <a:latin typeface="Arial"/>
                <a:cs typeface="Arial"/>
              </a:rPr>
              <a:t>.</a:t>
            </a:r>
            <a:endParaRPr sz="1000">
              <a:latin typeface="Arial"/>
              <a:cs typeface="Arial"/>
            </a:endParaRPr>
          </a:p>
          <a:p>
            <a:pPr marL="340360" marR="485140" indent="-168275">
              <a:lnSpc>
                <a:spcPct val="100000"/>
              </a:lnSpc>
              <a:spcBef>
                <a:spcPts val="590"/>
              </a:spcBef>
              <a:buClr>
                <a:srgbClr val="3333B2"/>
              </a:buClr>
              <a:buChar char="►"/>
              <a:tabLst>
                <a:tab pos="340995" algn="l"/>
              </a:tabLst>
            </a:pPr>
            <a:r>
              <a:rPr sz="1000" spc="-5" dirty="0">
                <a:latin typeface="Arial"/>
                <a:cs typeface="Arial"/>
              </a:rPr>
              <a:t>When process</a:t>
            </a:r>
            <a:r>
              <a:rPr sz="1000" dirty="0">
                <a:latin typeface="Arial"/>
                <a:cs typeface="Arial"/>
              </a:rPr>
              <a:t> </a:t>
            </a:r>
            <a:r>
              <a:rPr sz="1000" i="1" dirty="0">
                <a:latin typeface="Arial"/>
                <a:cs typeface="Arial"/>
              </a:rPr>
              <a:t>P</a:t>
            </a:r>
            <a:r>
              <a:rPr sz="1050" i="1" baseline="-15873" dirty="0">
                <a:latin typeface="Arial"/>
                <a:cs typeface="Arial"/>
              </a:rPr>
              <a:t>i</a:t>
            </a:r>
            <a:r>
              <a:rPr sz="1050" i="1" spc="15" baseline="-15873" dirty="0">
                <a:latin typeface="Arial"/>
                <a:cs typeface="Arial"/>
              </a:rPr>
              <a:t> </a:t>
            </a:r>
            <a:r>
              <a:rPr sz="1000" spc="-5" dirty="0">
                <a:latin typeface="Arial"/>
                <a:cs typeface="Arial"/>
              </a:rPr>
              <a:t>sends</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interval</a:t>
            </a:r>
            <a:r>
              <a:rPr sz="1000" dirty="0">
                <a:latin typeface="Arial"/>
                <a:cs typeface="Arial"/>
              </a:rPr>
              <a:t>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25" dirty="0">
                <a:latin typeface="Arial"/>
                <a:cs typeface="Arial"/>
              </a:rPr>
              <a:t>(</a:t>
            </a:r>
            <a:r>
              <a:rPr sz="1000" i="1" spc="25" dirty="0">
                <a:latin typeface="Arial"/>
                <a:cs typeface="Arial"/>
              </a:rPr>
              <a:t>m</a:t>
            </a:r>
            <a:r>
              <a:rPr sz="1000" spc="25" dirty="0">
                <a:latin typeface="Arial"/>
                <a:cs typeface="Arial"/>
              </a:rPr>
              <a:t>),</a:t>
            </a:r>
            <a:r>
              <a:rPr sz="1000" dirty="0">
                <a:latin typeface="Arial"/>
                <a:cs typeface="Arial"/>
              </a:rPr>
              <a:t> </a:t>
            </a:r>
            <a:r>
              <a:rPr sz="1000" spc="-5" dirty="0">
                <a:latin typeface="Arial"/>
                <a:cs typeface="Arial"/>
              </a:rPr>
              <a:t>it </a:t>
            </a:r>
            <a:r>
              <a:rPr sz="1000" spc="-265" dirty="0">
                <a:latin typeface="Arial"/>
                <a:cs typeface="Arial"/>
              </a:rPr>
              <a:t> </a:t>
            </a:r>
            <a:r>
              <a:rPr sz="1000" spc="-5" dirty="0">
                <a:latin typeface="Arial"/>
                <a:cs typeface="Arial"/>
              </a:rPr>
              <a:t>piggybacks</a:t>
            </a:r>
            <a:r>
              <a:rPr sz="1000" spc="-10" dirty="0">
                <a:latin typeface="Arial"/>
                <a:cs typeface="Arial"/>
              </a:rPr>
              <a:t> </a:t>
            </a:r>
            <a:r>
              <a:rPr sz="1000" spc="45" dirty="0">
                <a:latin typeface="Arial"/>
                <a:cs typeface="Arial"/>
              </a:rPr>
              <a:t>(</a:t>
            </a:r>
            <a:r>
              <a:rPr sz="1000" i="1" spc="45" dirty="0">
                <a:latin typeface="Arial"/>
                <a:cs typeface="Arial"/>
              </a:rPr>
              <a:t>i,</a:t>
            </a:r>
            <a:r>
              <a:rPr sz="1000" i="1" spc="-170" dirty="0">
                <a:latin typeface="Arial"/>
                <a:cs typeface="Arial"/>
              </a:rPr>
              <a:t> </a:t>
            </a:r>
            <a:r>
              <a:rPr sz="1000" i="1" spc="30" dirty="0">
                <a:latin typeface="Arial"/>
                <a:cs typeface="Arial"/>
              </a:rPr>
              <a:t>m</a:t>
            </a:r>
            <a:r>
              <a:rPr sz="1000" spc="30" dirty="0">
                <a:latin typeface="Arial"/>
                <a:cs typeface="Arial"/>
              </a:rPr>
              <a:t>)</a:t>
            </a:r>
            <a:endParaRPr sz="1000">
              <a:latin typeface="Arial"/>
              <a:cs typeface="Arial"/>
            </a:endParaRPr>
          </a:p>
          <a:p>
            <a:pPr marL="340360" marR="389890" indent="-168275">
              <a:lnSpc>
                <a:spcPct val="100000"/>
              </a:lnSpc>
              <a:spcBef>
                <a:spcPts val="590"/>
              </a:spcBef>
              <a:buClr>
                <a:srgbClr val="3333B2"/>
              </a:buClr>
              <a:buChar char="►"/>
              <a:tabLst>
                <a:tab pos="340995" algn="l"/>
              </a:tabLst>
            </a:pPr>
            <a:r>
              <a:rPr sz="1000" spc="-5" dirty="0">
                <a:latin typeface="Arial"/>
                <a:cs typeface="Arial"/>
              </a:rPr>
              <a:t>When process </a:t>
            </a:r>
            <a:r>
              <a:rPr sz="1000" i="1" dirty="0">
                <a:latin typeface="Arial"/>
                <a:cs typeface="Arial"/>
              </a:rPr>
              <a:t>P</a:t>
            </a:r>
            <a:r>
              <a:rPr sz="1050" i="1" baseline="-15873" dirty="0">
                <a:latin typeface="Arial"/>
                <a:cs typeface="Arial"/>
              </a:rPr>
              <a:t>j</a:t>
            </a:r>
            <a:r>
              <a:rPr sz="1050" i="1" spc="15" baseline="-15873" dirty="0">
                <a:latin typeface="Arial"/>
                <a:cs typeface="Arial"/>
              </a:rPr>
              <a:t> </a:t>
            </a:r>
            <a:r>
              <a:rPr sz="1000" spc="-5" dirty="0">
                <a:latin typeface="Arial"/>
                <a:cs typeface="Arial"/>
              </a:rPr>
              <a:t>receives</a:t>
            </a:r>
            <a:r>
              <a:rPr sz="1000" dirty="0">
                <a:latin typeface="Arial"/>
                <a:cs typeface="Arial"/>
              </a:rPr>
              <a:t> </a:t>
            </a:r>
            <a:r>
              <a:rPr sz="1000" spc="-5" dirty="0">
                <a:latin typeface="Arial"/>
                <a:cs typeface="Arial"/>
              </a:rPr>
              <a:t>a message</a:t>
            </a:r>
            <a:r>
              <a:rPr sz="1000" dirty="0">
                <a:latin typeface="Arial"/>
                <a:cs typeface="Arial"/>
              </a:rPr>
              <a:t> </a:t>
            </a:r>
            <a:r>
              <a:rPr sz="1000" spc="-5" dirty="0">
                <a:latin typeface="Arial"/>
                <a:cs typeface="Arial"/>
              </a:rPr>
              <a:t>in interval</a:t>
            </a:r>
            <a:r>
              <a:rPr sz="1000" dirty="0">
                <a:latin typeface="Arial"/>
                <a:cs typeface="Arial"/>
              </a:rPr>
              <a:t> </a:t>
            </a:r>
            <a:r>
              <a:rPr sz="1000" i="1" dirty="0">
                <a:latin typeface="Arial"/>
                <a:cs typeface="Arial"/>
              </a:rPr>
              <a:t>INT</a:t>
            </a:r>
            <a:r>
              <a:rPr sz="1050" i="1" baseline="-15873" dirty="0">
                <a:latin typeface="Arial"/>
                <a:cs typeface="Arial"/>
              </a:rPr>
              <a:t>j</a:t>
            </a:r>
            <a:r>
              <a:rPr sz="1050" i="1" spc="-127" baseline="-15873" dirty="0">
                <a:latin typeface="Arial"/>
                <a:cs typeface="Arial"/>
              </a:rPr>
              <a:t> </a:t>
            </a:r>
            <a:r>
              <a:rPr sz="1000" spc="25" dirty="0">
                <a:latin typeface="Arial"/>
                <a:cs typeface="Arial"/>
              </a:rPr>
              <a:t>(</a:t>
            </a:r>
            <a:r>
              <a:rPr sz="1000" i="1" spc="25" dirty="0">
                <a:latin typeface="Arial"/>
                <a:cs typeface="Arial"/>
              </a:rPr>
              <a:t>n</a:t>
            </a:r>
            <a:r>
              <a:rPr sz="1000" spc="25" dirty="0">
                <a:latin typeface="Arial"/>
                <a:cs typeface="Arial"/>
              </a:rPr>
              <a:t>),</a:t>
            </a:r>
            <a:r>
              <a:rPr sz="1000" spc="-5" dirty="0">
                <a:latin typeface="Arial"/>
                <a:cs typeface="Arial"/>
              </a:rPr>
              <a:t> it </a:t>
            </a:r>
            <a:r>
              <a:rPr sz="1000" spc="-265" dirty="0">
                <a:latin typeface="Arial"/>
                <a:cs typeface="Arial"/>
              </a:rPr>
              <a:t> </a:t>
            </a:r>
            <a:r>
              <a:rPr sz="1000" spc="-5" dirty="0">
                <a:latin typeface="Arial"/>
                <a:cs typeface="Arial"/>
              </a:rPr>
              <a:t>records the dependency </a:t>
            </a:r>
            <a:r>
              <a:rPr sz="1000" i="1" spc="-5" dirty="0">
                <a:latin typeface="Arial"/>
                <a:cs typeface="Arial"/>
              </a:rPr>
              <a:t>INT</a:t>
            </a:r>
            <a:r>
              <a:rPr sz="1050" i="1" spc="7" baseline="-15873" dirty="0">
                <a:latin typeface="Arial"/>
                <a:cs typeface="Arial"/>
              </a:rPr>
              <a:t>i</a:t>
            </a:r>
            <a:r>
              <a:rPr sz="1050" i="1" spc="-127" baseline="-15873" dirty="0">
                <a:latin typeface="Arial"/>
                <a:cs typeface="Arial"/>
              </a:rPr>
              <a:t> </a:t>
            </a:r>
            <a:r>
              <a:rPr sz="1000" spc="50" dirty="0">
                <a:latin typeface="Arial"/>
                <a:cs typeface="Arial"/>
              </a:rPr>
              <a:t>(</a:t>
            </a:r>
            <a:r>
              <a:rPr sz="1000" i="1" spc="10" dirty="0">
                <a:latin typeface="Arial"/>
                <a:cs typeface="Arial"/>
              </a:rPr>
              <a:t>m</a:t>
            </a:r>
            <a:r>
              <a:rPr sz="1000" spc="50" dirty="0">
                <a:latin typeface="Arial"/>
                <a:cs typeface="Arial"/>
              </a:rPr>
              <a:t>)</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i="1" spc="-5" dirty="0">
                <a:latin typeface="Arial"/>
                <a:cs typeface="Arial"/>
              </a:rPr>
              <a:t>INT</a:t>
            </a:r>
            <a:r>
              <a:rPr sz="1050" i="1" spc="7" baseline="-15873" dirty="0">
                <a:latin typeface="Arial"/>
                <a:cs typeface="Arial"/>
              </a:rPr>
              <a:t>j</a:t>
            </a:r>
            <a:r>
              <a:rPr sz="1050" i="1" spc="-127" baseline="-15873" dirty="0">
                <a:latin typeface="Arial"/>
                <a:cs typeface="Arial"/>
              </a:rPr>
              <a:t> </a:t>
            </a:r>
            <a:r>
              <a:rPr sz="1000" spc="50" dirty="0">
                <a:latin typeface="Arial"/>
                <a:cs typeface="Arial"/>
              </a:rPr>
              <a:t>(</a:t>
            </a:r>
            <a:r>
              <a:rPr sz="1000" i="1" spc="10" dirty="0">
                <a:latin typeface="Arial"/>
                <a:cs typeface="Arial"/>
              </a:rPr>
              <a:t>n</a:t>
            </a:r>
            <a:r>
              <a:rPr sz="1000" spc="50" dirty="0">
                <a:latin typeface="Arial"/>
                <a:cs typeface="Arial"/>
              </a:rPr>
              <a:t>)</a:t>
            </a:r>
            <a:r>
              <a:rPr sz="1000" spc="-5" dirty="0">
                <a:latin typeface="Arial"/>
                <a:cs typeface="Arial"/>
              </a:rPr>
              <a:t>.</a:t>
            </a:r>
            <a:endParaRPr sz="1000">
              <a:latin typeface="Arial"/>
              <a:cs typeface="Arial"/>
            </a:endParaRPr>
          </a:p>
          <a:p>
            <a:pPr marL="340360" marR="208915" indent="-168275">
              <a:lnSpc>
                <a:spcPct val="100000"/>
              </a:lnSpc>
              <a:spcBef>
                <a:spcPts val="585"/>
              </a:spcBef>
              <a:buClr>
                <a:srgbClr val="3333B2"/>
              </a:buClr>
              <a:buChar char="►"/>
              <a:tabLst>
                <a:tab pos="340995" algn="l"/>
              </a:tabLst>
            </a:pPr>
            <a:r>
              <a:rPr sz="1000" spc="-5" dirty="0">
                <a:latin typeface="Arial"/>
                <a:cs typeface="Arial"/>
              </a:rPr>
              <a:t>The dependency </a:t>
            </a:r>
            <a:r>
              <a:rPr sz="1000" i="1" dirty="0">
                <a:latin typeface="Arial"/>
                <a:cs typeface="Arial"/>
              </a:rPr>
              <a:t>INT</a:t>
            </a:r>
            <a:r>
              <a:rPr sz="1050" i="1" baseline="-15873" dirty="0">
                <a:latin typeface="Arial"/>
                <a:cs typeface="Arial"/>
              </a:rPr>
              <a:t>i</a:t>
            </a:r>
            <a:r>
              <a:rPr sz="1050" i="1" spc="-127" baseline="-15873" dirty="0">
                <a:latin typeface="Arial"/>
                <a:cs typeface="Arial"/>
              </a:rPr>
              <a:t> </a:t>
            </a:r>
            <a:r>
              <a:rPr sz="1000" spc="35" dirty="0">
                <a:latin typeface="Arial"/>
                <a:cs typeface="Arial"/>
              </a:rPr>
              <a:t>(</a:t>
            </a:r>
            <a:r>
              <a:rPr sz="1000" i="1" spc="35" dirty="0">
                <a:latin typeface="Arial"/>
                <a:cs typeface="Arial"/>
              </a:rPr>
              <a:t>m</a:t>
            </a:r>
            <a:r>
              <a:rPr sz="1000" spc="35" dirty="0">
                <a:latin typeface="Arial"/>
                <a:cs typeface="Arial"/>
              </a:rPr>
              <a:t>)</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i="1" dirty="0">
                <a:latin typeface="Arial"/>
                <a:cs typeface="Arial"/>
              </a:rPr>
              <a:t>INT</a:t>
            </a:r>
            <a:r>
              <a:rPr sz="1050" i="1" baseline="-15873" dirty="0">
                <a:latin typeface="Arial"/>
                <a:cs typeface="Arial"/>
              </a:rPr>
              <a:t>j</a:t>
            </a:r>
            <a:r>
              <a:rPr sz="1050" i="1" spc="-127" baseline="-15873" dirty="0">
                <a:latin typeface="Arial"/>
                <a:cs typeface="Arial"/>
              </a:rPr>
              <a:t> </a:t>
            </a:r>
            <a:r>
              <a:rPr sz="1000" spc="40" dirty="0">
                <a:latin typeface="Arial"/>
                <a:cs typeface="Arial"/>
              </a:rPr>
              <a:t>(</a:t>
            </a:r>
            <a:r>
              <a:rPr sz="1000" i="1" spc="40" dirty="0">
                <a:latin typeface="Arial"/>
                <a:cs typeface="Arial"/>
              </a:rPr>
              <a:t>n</a:t>
            </a:r>
            <a:r>
              <a:rPr sz="1000" spc="40" dirty="0">
                <a:latin typeface="Arial"/>
                <a:cs typeface="Arial"/>
              </a:rPr>
              <a:t>)</a:t>
            </a:r>
            <a:r>
              <a:rPr sz="1000" dirty="0">
                <a:latin typeface="Arial"/>
                <a:cs typeface="Arial"/>
              </a:rPr>
              <a:t> </a:t>
            </a:r>
            <a:r>
              <a:rPr sz="1000" spc="-5" dirty="0">
                <a:latin typeface="Arial"/>
                <a:cs typeface="Arial"/>
              </a:rPr>
              <a:t>is </a:t>
            </a:r>
            <a:r>
              <a:rPr sz="1000" spc="-15" dirty="0">
                <a:latin typeface="Arial"/>
                <a:cs typeface="Arial"/>
              </a:rPr>
              <a:t>saved</a:t>
            </a:r>
            <a:r>
              <a:rPr sz="1000" spc="-5" dirty="0">
                <a:latin typeface="Arial"/>
                <a:cs typeface="Arial"/>
              </a:rPr>
              <a:t> to</a:t>
            </a:r>
            <a:r>
              <a:rPr sz="1000" dirty="0">
                <a:latin typeface="Arial"/>
                <a:cs typeface="Arial"/>
              </a:rPr>
              <a:t> </a:t>
            </a:r>
            <a:r>
              <a:rPr sz="1000" spc="-5" dirty="0">
                <a:latin typeface="Arial"/>
                <a:cs typeface="Arial"/>
              </a:rPr>
              <a:t>storage when </a:t>
            </a:r>
            <a:r>
              <a:rPr sz="1000" spc="-265" dirty="0">
                <a:latin typeface="Arial"/>
                <a:cs typeface="Arial"/>
              </a:rPr>
              <a:t> </a:t>
            </a:r>
            <a:r>
              <a:rPr sz="1000" spc="-5" dirty="0">
                <a:latin typeface="Arial"/>
                <a:cs typeface="Arial"/>
              </a:rPr>
              <a:t>taking</a:t>
            </a:r>
            <a:r>
              <a:rPr sz="1000" spc="-10" dirty="0">
                <a:latin typeface="Arial"/>
                <a:cs typeface="Arial"/>
              </a:rPr>
              <a:t> </a:t>
            </a:r>
            <a:r>
              <a:rPr sz="1000" spc="-5" dirty="0">
                <a:latin typeface="Arial"/>
                <a:cs typeface="Arial"/>
              </a:rPr>
              <a:t>checkpoint </a:t>
            </a:r>
            <a:r>
              <a:rPr sz="1000" i="1" dirty="0">
                <a:latin typeface="Arial"/>
                <a:cs typeface="Arial"/>
              </a:rPr>
              <a:t>CP</a:t>
            </a:r>
            <a:r>
              <a:rPr sz="1050" i="1" baseline="-15873" dirty="0">
                <a:latin typeface="Arial"/>
                <a:cs typeface="Arial"/>
              </a:rPr>
              <a:t>j</a:t>
            </a:r>
            <a:r>
              <a:rPr sz="1050" i="1" spc="-127" baseline="-15873" dirty="0">
                <a:latin typeface="Arial"/>
                <a:cs typeface="Arial"/>
              </a:rPr>
              <a:t> </a:t>
            </a:r>
            <a:r>
              <a:rPr sz="1000" spc="25" dirty="0">
                <a:latin typeface="Arial"/>
                <a:cs typeface="Arial"/>
              </a:rPr>
              <a:t>(</a:t>
            </a:r>
            <a:r>
              <a:rPr sz="1000" i="1" spc="25" dirty="0">
                <a:latin typeface="Arial"/>
                <a:cs typeface="Arial"/>
              </a:rPr>
              <a:t>n</a:t>
            </a:r>
            <a:r>
              <a:rPr sz="1000" spc="25" dirty="0">
                <a:latin typeface="Arial"/>
                <a:cs typeface="Arial"/>
              </a:rPr>
              <a:t>).</a:t>
            </a:r>
            <a:endParaRPr sz="1000">
              <a:latin typeface="Arial"/>
              <a:cs typeface="Arial"/>
            </a:endParaRPr>
          </a:p>
          <a:p>
            <a:pPr>
              <a:lnSpc>
                <a:spcPct val="100000"/>
              </a:lnSpc>
              <a:spcBef>
                <a:spcPts val="20"/>
              </a:spcBef>
            </a:pPr>
            <a:endParaRPr sz="1400">
              <a:latin typeface="Arial"/>
              <a:cs typeface="Arial"/>
            </a:endParaRPr>
          </a:p>
          <a:p>
            <a:pPr marL="62865">
              <a:lnSpc>
                <a:spcPts val="1420"/>
              </a:lnSpc>
            </a:pPr>
            <a:r>
              <a:rPr sz="1200" spc="-5" dirty="0">
                <a:solidFill>
                  <a:srgbClr val="3333B2"/>
                </a:solidFill>
                <a:latin typeface="Arial"/>
                <a:cs typeface="Arial"/>
              </a:rPr>
              <a:t>Observation</a:t>
            </a:r>
            <a:endParaRPr sz="1200">
              <a:latin typeface="Arial"/>
              <a:cs typeface="Arial"/>
            </a:endParaRPr>
          </a:p>
          <a:p>
            <a:pPr marL="62865">
              <a:lnSpc>
                <a:spcPts val="1180"/>
              </a:lnSpc>
            </a:pPr>
            <a:r>
              <a:rPr sz="1000" spc="-5" dirty="0">
                <a:latin typeface="Arial"/>
                <a:cs typeface="Arial"/>
              </a:rPr>
              <a:t>If process </a:t>
            </a:r>
            <a:r>
              <a:rPr sz="1000" i="1" dirty="0">
                <a:latin typeface="Arial"/>
                <a:cs typeface="Arial"/>
              </a:rPr>
              <a:t>P</a:t>
            </a:r>
            <a:r>
              <a:rPr sz="1050" i="1" baseline="-15873" dirty="0">
                <a:latin typeface="Arial"/>
                <a:cs typeface="Arial"/>
              </a:rPr>
              <a:t>i</a:t>
            </a:r>
            <a:r>
              <a:rPr sz="1050" i="1" spc="7" baseline="-15873" dirty="0">
                <a:latin typeface="Arial"/>
                <a:cs typeface="Arial"/>
              </a:rPr>
              <a:t> </a:t>
            </a:r>
            <a:r>
              <a:rPr sz="1000" spc="-5" dirty="0">
                <a:latin typeface="Arial"/>
                <a:cs typeface="Arial"/>
              </a:rPr>
              <a:t>rolls</a:t>
            </a:r>
            <a:r>
              <a:rPr sz="1000" dirty="0">
                <a:latin typeface="Arial"/>
                <a:cs typeface="Arial"/>
              </a:rPr>
              <a:t> </a:t>
            </a:r>
            <a:r>
              <a:rPr sz="1000" spc="-10" dirty="0">
                <a:latin typeface="Arial"/>
                <a:cs typeface="Arial"/>
              </a:rPr>
              <a:t>back</a:t>
            </a:r>
            <a:r>
              <a:rPr sz="1000" spc="-5" dirty="0">
                <a:latin typeface="Arial"/>
                <a:cs typeface="Arial"/>
              </a:rPr>
              <a:t> to </a:t>
            </a:r>
            <a:r>
              <a:rPr sz="1000" i="1" dirty="0">
                <a:latin typeface="Arial"/>
                <a:cs typeface="Arial"/>
              </a:rPr>
              <a:t>CP</a:t>
            </a:r>
            <a:r>
              <a:rPr sz="1050" i="1" baseline="-15873" dirty="0">
                <a:latin typeface="Arial"/>
                <a:cs typeface="Arial"/>
              </a:rPr>
              <a:t>i</a:t>
            </a:r>
            <a:r>
              <a:rPr sz="1050" i="1" spc="-120" baseline="-15873" dirty="0">
                <a:latin typeface="Arial"/>
                <a:cs typeface="Arial"/>
              </a:rPr>
              <a:t> </a:t>
            </a:r>
            <a:r>
              <a:rPr sz="1000" spc="25" dirty="0">
                <a:latin typeface="Arial"/>
                <a:cs typeface="Arial"/>
              </a:rPr>
              <a:t>(</a:t>
            </a:r>
            <a:r>
              <a:rPr sz="1000" i="1" spc="25" dirty="0">
                <a:latin typeface="Arial"/>
                <a:cs typeface="Arial"/>
              </a:rPr>
              <a:t>m</a:t>
            </a:r>
            <a:r>
              <a:rPr sz="1000" i="1" spc="-120" dirty="0">
                <a:latin typeface="Arial"/>
                <a:cs typeface="Arial"/>
              </a:rPr>
              <a:t> </a:t>
            </a:r>
            <a:r>
              <a:rPr sz="1000" i="1" spc="-30" dirty="0">
                <a:latin typeface="メイリオ"/>
                <a:cs typeface="メイリオ"/>
              </a:rPr>
              <a:t>−</a:t>
            </a:r>
            <a:r>
              <a:rPr sz="1000" i="1" spc="-204" dirty="0">
                <a:latin typeface="メイリオ"/>
                <a:cs typeface="メイリオ"/>
              </a:rPr>
              <a:t> </a:t>
            </a:r>
            <a:r>
              <a:rPr sz="1000" spc="15" dirty="0">
                <a:latin typeface="Arial"/>
                <a:cs typeface="Arial"/>
              </a:rPr>
              <a:t>1),</a:t>
            </a:r>
            <a:r>
              <a:rPr sz="1000" spc="-5" dirty="0">
                <a:latin typeface="Arial"/>
                <a:cs typeface="Arial"/>
              </a:rPr>
              <a:t> </a:t>
            </a:r>
            <a:r>
              <a:rPr sz="1000" i="1" dirty="0">
                <a:latin typeface="Arial"/>
                <a:cs typeface="Arial"/>
              </a:rPr>
              <a:t>P</a:t>
            </a:r>
            <a:r>
              <a:rPr sz="1050" i="1" baseline="-15873" dirty="0">
                <a:latin typeface="Arial"/>
                <a:cs typeface="Arial"/>
              </a:rPr>
              <a:t>j</a:t>
            </a:r>
            <a:r>
              <a:rPr sz="1050" i="1" spc="300" baseline="-15873" dirty="0">
                <a:latin typeface="Arial"/>
                <a:cs typeface="Arial"/>
              </a:rPr>
              <a:t> </a:t>
            </a:r>
            <a:r>
              <a:rPr sz="1000" spc="-5" dirty="0">
                <a:latin typeface="Arial"/>
                <a:cs typeface="Arial"/>
              </a:rPr>
              <a:t>must roll </a:t>
            </a:r>
            <a:r>
              <a:rPr sz="1000" spc="-10" dirty="0">
                <a:latin typeface="Arial"/>
                <a:cs typeface="Arial"/>
              </a:rPr>
              <a:t>back</a:t>
            </a:r>
            <a:r>
              <a:rPr sz="1000" dirty="0">
                <a:latin typeface="Arial"/>
                <a:cs typeface="Arial"/>
              </a:rPr>
              <a:t> </a:t>
            </a:r>
            <a:r>
              <a:rPr sz="1000" spc="-5" dirty="0">
                <a:latin typeface="Arial"/>
                <a:cs typeface="Arial"/>
              </a:rPr>
              <a:t>to </a:t>
            </a:r>
            <a:r>
              <a:rPr sz="1000" i="1" dirty="0">
                <a:latin typeface="Arial"/>
                <a:cs typeface="Arial"/>
              </a:rPr>
              <a:t>CP</a:t>
            </a:r>
            <a:r>
              <a:rPr sz="1050" i="1" baseline="-15873" dirty="0">
                <a:latin typeface="Arial"/>
                <a:cs typeface="Arial"/>
              </a:rPr>
              <a:t>j</a:t>
            </a:r>
            <a:r>
              <a:rPr sz="1050" i="1" spc="-127" baseline="-15873" dirty="0">
                <a:latin typeface="Arial"/>
                <a:cs typeface="Arial"/>
              </a:rPr>
              <a:t> </a:t>
            </a:r>
            <a:r>
              <a:rPr sz="1000" spc="25" dirty="0">
                <a:latin typeface="Arial"/>
                <a:cs typeface="Arial"/>
              </a:rPr>
              <a:t>(</a:t>
            </a:r>
            <a:r>
              <a:rPr sz="1000" i="1" spc="25" dirty="0">
                <a:latin typeface="Arial"/>
                <a:cs typeface="Arial"/>
              </a:rPr>
              <a:t>n</a:t>
            </a:r>
            <a:r>
              <a:rPr sz="1000" i="1" spc="-120" dirty="0">
                <a:latin typeface="Arial"/>
                <a:cs typeface="Arial"/>
              </a:rPr>
              <a:t> </a:t>
            </a:r>
            <a:r>
              <a:rPr sz="1000" i="1" spc="-30" dirty="0">
                <a:latin typeface="メイリオ"/>
                <a:cs typeface="メイリオ"/>
              </a:rPr>
              <a:t>−</a:t>
            </a:r>
            <a:r>
              <a:rPr sz="1000" i="1" spc="-204" dirty="0">
                <a:latin typeface="メイリオ"/>
                <a:cs typeface="メイリオ"/>
              </a:rPr>
              <a:t> </a:t>
            </a:r>
            <a:r>
              <a:rPr sz="1000" spc="15" dirty="0">
                <a:latin typeface="Arial"/>
                <a:cs typeface="Arial"/>
              </a:rPr>
              <a:t>1).</a:t>
            </a:r>
            <a:endParaRPr sz="1000">
              <a:latin typeface="Arial"/>
              <a:cs typeface="Arial"/>
            </a:endParaRPr>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64</a:t>
            </a:r>
            <a:r>
              <a:rPr spc="-40" dirty="0"/>
              <a:t> </a:t>
            </a:r>
            <a:r>
              <a:rPr spc="-5" dirty="0"/>
              <a:t>/</a:t>
            </a:r>
            <a:r>
              <a:rPr spc="-35" dirty="0"/>
              <a:t> </a:t>
            </a:r>
            <a:r>
              <a:rPr spc="-5" dirty="0"/>
              <a:t>68</a:t>
            </a:r>
          </a:p>
        </p:txBody>
      </p:sp>
      <p:sp>
        <p:nvSpPr>
          <p:cNvPr id="2" name="object 2"/>
          <p:cNvSpPr txBox="1"/>
          <p:nvPr/>
        </p:nvSpPr>
        <p:spPr>
          <a:xfrm>
            <a:off x="66713" y="716"/>
            <a:ext cx="9036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Recovery</a:t>
            </a:r>
            <a:endParaRPr sz="600">
              <a:latin typeface="Arial"/>
              <a:cs typeface="Arial"/>
            </a:endParaRPr>
          </a:p>
        </p:txBody>
      </p:sp>
      <p:sp>
        <p:nvSpPr>
          <p:cNvPr id="3" name="object 3"/>
          <p:cNvSpPr txBox="1"/>
          <p:nvPr/>
        </p:nvSpPr>
        <p:spPr>
          <a:xfrm>
            <a:off x="3942054" y="716"/>
            <a:ext cx="5994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Message</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logging</a:t>
            </a:r>
            <a:endParaRPr sz="600">
              <a:latin typeface="Arial"/>
              <a:cs typeface="Arial"/>
            </a:endParaRPr>
          </a:p>
        </p:txBody>
      </p:sp>
      <p:sp>
        <p:nvSpPr>
          <p:cNvPr id="4" name="object 4"/>
          <p:cNvSpPr txBox="1"/>
          <p:nvPr/>
        </p:nvSpPr>
        <p:spPr>
          <a:xfrm>
            <a:off x="95300" y="188846"/>
            <a:ext cx="3711575" cy="703580"/>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Message</a:t>
            </a:r>
            <a:r>
              <a:rPr sz="1400" spc="-60" dirty="0">
                <a:solidFill>
                  <a:srgbClr val="3333B2"/>
                </a:solidFill>
                <a:latin typeface="Arial"/>
                <a:cs typeface="Arial"/>
              </a:rPr>
              <a:t> </a:t>
            </a:r>
            <a:r>
              <a:rPr sz="1400" spc="15" dirty="0">
                <a:solidFill>
                  <a:srgbClr val="3333B2"/>
                </a:solidFill>
                <a:latin typeface="Arial"/>
                <a:cs typeface="Arial"/>
              </a:rPr>
              <a:t>logging</a:t>
            </a:r>
            <a:endParaRPr sz="1400">
              <a:latin typeface="Arial"/>
              <a:cs typeface="Arial"/>
            </a:endParaRPr>
          </a:p>
          <a:p>
            <a:pPr marL="259079">
              <a:lnSpc>
                <a:spcPts val="1410"/>
              </a:lnSpc>
              <a:spcBef>
                <a:spcPts val="1040"/>
              </a:spcBef>
            </a:pPr>
            <a:r>
              <a:rPr sz="1200" spc="-5" dirty="0">
                <a:solidFill>
                  <a:srgbClr val="FA0000"/>
                </a:solidFill>
                <a:latin typeface="Arial"/>
                <a:cs typeface="Arial"/>
              </a:rPr>
              <a:t>Alternative</a:t>
            </a:r>
            <a:endParaRPr sz="1200">
              <a:latin typeface="Arial"/>
              <a:cs typeface="Arial"/>
            </a:endParaRPr>
          </a:p>
          <a:p>
            <a:pPr marL="264160">
              <a:lnSpc>
                <a:spcPts val="1170"/>
              </a:lnSpc>
            </a:pPr>
            <a:r>
              <a:rPr sz="1000" spc="-5" dirty="0">
                <a:latin typeface="Arial"/>
                <a:cs typeface="Arial"/>
              </a:rPr>
              <a:t>Instead</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taking</a:t>
            </a:r>
            <a:r>
              <a:rPr sz="1000" dirty="0">
                <a:latin typeface="Arial"/>
                <a:cs typeface="Arial"/>
              </a:rPr>
              <a:t> </a:t>
            </a:r>
            <a:r>
              <a:rPr sz="1000" spc="-5" dirty="0">
                <a:latin typeface="Arial"/>
                <a:cs typeface="Arial"/>
              </a:rPr>
              <a:t>an</a:t>
            </a:r>
            <a:r>
              <a:rPr sz="1000" dirty="0">
                <a:latin typeface="Arial"/>
                <a:cs typeface="Arial"/>
              </a:rPr>
              <a:t> </a:t>
            </a:r>
            <a:r>
              <a:rPr sz="1000" spc="-10" dirty="0">
                <a:latin typeface="Arial"/>
                <a:cs typeface="Arial"/>
              </a:rPr>
              <a:t>(expensive)</a:t>
            </a:r>
            <a:r>
              <a:rPr sz="1000" dirty="0">
                <a:latin typeface="Arial"/>
                <a:cs typeface="Arial"/>
              </a:rPr>
              <a:t> </a:t>
            </a:r>
            <a:r>
              <a:rPr sz="1000" spc="-5" dirty="0">
                <a:latin typeface="Arial"/>
                <a:cs typeface="Arial"/>
              </a:rPr>
              <a:t>checkpoint,</a:t>
            </a:r>
            <a:r>
              <a:rPr sz="1000" dirty="0">
                <a:latin typeface="Arial"/>
                <a:cs typeface="Arial"/>
              </a:rPr>
              <a:t> </a:t>
            </a:r>
            <a:r>
              <a:rPr sz="1000" spc="5" dirty="0">
                <a:latin typeface="Arial"/>
                <a:cs typeface="Arial"/>
              </a:rPr>
              <a:t>try</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0000FA"/>
                </a:solidFill>
                <a:latin typeface="Arial"/>
                <a:cs typeface="Arial"/>
              </a:rPr>
              <a:t>replay</a:t>
            </a:r>
            <a:r>
              <a:rPr sz="1000" dirty="0">
                <a:solidFill>
                  <a:srgbClr val="0000FA"/>
                </a:solidFill>
                <a:latin typeface="Arial"/>
                <a:cs typeface="Arial"/>
              </a:rPr>
              <a:t> </a:t>
            </a:r>
            <a:r>
              <a:rPr sz="1000" spc="-10" dirty="0">
                <a:latin typeface="Arial"/>
                <a:cs typeface="Arial"/>
              </a:rPr>
              <a:t>your</a:t>
            </a:r>
            <a:endParaRPr sz="1000">
              <a:latin typeface="Arial"/>
              <a:cs typeface="Arial"/>
            </a:endParaRPr>
          </a:p>
        </p:txBody>
      </p:sp>
      <p:sp>
        <p:nvSpPr>
          <p:cNvPr id="5" name="object 5"/>
          <p:cNvSpPr txBox="1"/>
          <p:nvPr/>
        </p:nvSpPr>
        <p:spPr>
          <a:xfrm>
            <a:off x="343128" y="866894"/>
            <a:ext cx="378841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(communication) behavior</a:t>
            </a:r>
            <a:r>
              <a:rPr sz="1000" dirty="0">
                <a:latin typeface="Arial"/>
                <a:cs typeface="Arial"/>
              </a:rPr>
              <a:t> </a:t>
            </a:r>
            <a:r>
              <a:rPr sz="1000" spc="-5" dirty="0">
                <a:latin typeface="Arial"/>
                <a:cs typeface="Arial"/>
              </a:rPr>
              <a:t>from the</a:t>
            </a:r>
            <a:r>
              <a:rPr sz="1000" dirty="0">
                <a:latin typeface="Arial"/>
                <a:cs typeface="Arial"/>
              </a:rPr>
              <a:t> </a:t>
            </a:r>
            <a:r>
              <a:rPr sz="1000" spc="-5" dirty="0">
                <a:latin typeface="Arial"/>
                <a:cs typeface="Arial"/>
              </a:rPr>
              <a:t>most recent</a:t>
            </a:r>
            <a:r>
              <a:rPr sz="1000" dirty="0">
                <a:latin typeface="Arial"/>
                <a:cs typeface="Arial"/>
              </a:rPr>
              <a:t> </a:t>
            </a:r>
            <a:r>
              <a:rPr sz="1000" spc="-5" dirty="0">
                <a:latin typeface="Arial"/>
                <a:cs typeface="Arial"/>
              </a:rPr>
              <a:t>checkpoint </a:t>
            </a:r>
            <a:r>
              <a:rPr sz="1000" i="1" spc="-5" dirty="0">
                <a:latin typeface="メイリオ"/>
                <a:cs typeface="メイリオ"/>
              </a:rPr>
              <a:t>⇒</a:t>
            </a:r>
            <a:r>
              <a:rPr sz="1000" i="1" spc="-60" dirty="0">
                <a:latin typeface="メイリオ"/>
                <a:cs typeface="メイリオ"/>
              </a:rPr>
              <a:t> </a:t>
            </a:r>
            <a:r>
              <a:rPr sz="1000" spc="-5" dirty="0">
                <a:latin typeface="Arial"/>
                <a:cs typeface="Arial"/>
              </a:rPr>
              <a:t>store</a:t>
            </a:r>
            <a:endParaRPr sz="1000">
              <a:latin typeface="Arial"/>
              <a:cs typeface="Arial"/>
            </a:endParaRPr>
          </a:p>
        </p:txBody>
      </p:sp>
      <p:sp>
        <p:nvSpPr>
          <p:cNvPr id="6" name="object 6"/>
          <p:cNvSpPr txBox="1"/>
          <p:nvPr/>
        </p:nvSpPr>
        <p:spPr>
          <a:xfrm>
            <a:off x="315950" y="944912"/>
            <a:ext cx="3968750" cy="1531620"/>
          </a:xfrm>
          <a:prstGeom prst="rect">
            <a:avLst/>
          </a:prstGeom>
        </p:spPr>
        <p:txBody>
          <a:bodyPr vert="horz" wrap="square" lIns="0" tIns="85725" rIns="0" bIns="0" rtlCol="0">
            <a:spAutoFit/>
          </a:bodyPr>
          <a:lstStyle/>
          <a:p>
            <a:pPr marL="43815">
              <a:lnSpc>
                <a:spcPct val="100000"/>
              </a:lnSpc>
              <a:spcBef>
                <a:spcPts val="675"/>
              </a:spcBef>
            </a:pPr>
            <a:r>
              <a:rPr sz="1000" spc="-5" dirty="0">
                <a:latin typeface="Arial"/>
                <a:cs typeface="Arial"/>
              </a:rPr>
              <a:t>messages</a:t>
            </a:r>
            <a:r>
              <a:rPr sz="1000" spc="-20" dirty="0">
                <a:latin typeface="Arial"/>
                <a:cs typeface="Arial"/>
              </a:rPr>
              <a:t> </a:t>
            </a:r>
            <a:r>
              <a:rPr sz="1000" spc="-5" dirty="0">
                <a:latin typeface="Arial"/>
                <a:cs typeface="Arial"/>
              </a:rPr>
              <a:t>in</a:t>
            </a:r>
            <a:r>
              <a:rPr sz="1000" spc="-20" dirty="0">
                <a:latin typeface="Arial"/>
                <a:cs typeface="Arial"/>
              </a:rPr>
              <a:t> </a:t>
            </a:r>
            <a:r>
              <a:rPr sz="1000" spc="-5" dirty="0">
                <a:latin typeface="Arial"/>
                <a:cs typeface="Arial"/>
              </a:rPr>
              <a:t>a</a:t>
            </a:r>
            <a:r>
              <a:rPr sz="1000" spc="-15" dirty="0">
                <a:latin typeface="Arial"/>
                <a:cs typeface="Arial"/>
              </a:rPr>
              <a:t> </a:t>
            </a:r>
            <a:r>
              <a:rPr sz="1000" spc="-5" dirty="0">
                <a:latin typeface="Arial"/>
                <a:cs typeface="Arial"/>
              </a:rPr>
              <a:t>log.</a:t>
            </a:r>
            <a:endParaRPr sz="1000">
              <a:latin typeface="Arial"/>
              <a:cs typeface="Arial"/>
            </a:endParaRPr>
          </a:p>
          <a:p>
            <a:pPr marL="38735">
              <a:lnSpc>
                <a:spcPct val="100000"/>
              </a:lnSpc>
              <a:spcBef>
                <a:spcPts val="695"/>
              </a:spcBef>
            </a:pPr>
            <a:r>
              <a:rPr sz="1200" spc="-5" dirty="0">
                <a:solidFill>
                  <a:srgbClr val="3333B2"/>
                </a:solidFill>
                <a:latin typeface="Arial"/>
                <a:cs typeface="Arial"/>
              </a:rPr>
              <a:t>Assumption</a:t>
            </a:r>
            <a:endParaRPr sz="1200">
              <a:latin typeface="Arial"/>
              <a:cs typeface="Arial"/>
            </a:endParaRPr>
          </a:p>
          <a:p>
            <a:pPr marL="38100">
              <a:lnSpc>
                <a:spcPct val="100000"/>
              </a:lnSpc>
              <a:spcBef>
                <a:spcPts val="170"/>
              </a:spcBef>
            </a:pPr>
            <a:r>
              <a:rPr sz="1000" spc="-20" dirty="0">
                <a:latin typeface="Arial"/>
                <a:cs typeface="Arial"/>
              </a:rPr>
              <a:t>We</a:t>
            </a:r>
            <a:r>
              <a:rPr sz="1000" spc="-5" dirty="0">
                <a:latin typeface="Arial"/>
                <a:cs typeface="Arial"/>
              </a:rPr>
              <a:t> assume</a:t>
            </a:r>
            <a:r>
              <a:rPr sz="1000"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piecewise deterministic</a:t>
            </a:r>
            <a:r>
              <a:rPr sz="1000" dirty="0">
                <a:solidFill>
                  <a:srgbClr val="FA0000"/>
                </a:solidFill>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model:</a:t>
            </a:r>
            <a:endParaRPr sz="1000">
              <a:latin typeface="Arial"/>
              <a:cs typeface="Arial"/>
            </a:endParaRPr>
          </a:p>
          <a:p>
            <a:pPr marL="320675" marR="30480" indent="-168275">
              <a:lnSpc>
                <a:spcPct val="100000"/>
              </a:lnSpc>
              <a:spcBef>
                <a:spcPts val="595"/>
              </a:spcBef>
              <a:buClr>
                <a:srgbClr val="3333B2"/>
              </a:buClr>
              <a:buChar char="►"/>
              <a:tabLst>
                <a:tab pos="321310" algn="l"/>
              </a:tabLst>
            </a:pPr>
            <a:r>
              <a:rPr sz="1000" spc="-10" dirty="0">
                <a:latin typeface="Arial"/>
                <a:cs typeface="Arial"/>
              </a:rPr>
              <a:t>The</a:t>
            </a:r>
            <a:r>
              <a:rPr sz="1000" spc="-5" dirty="0">
                <a:latin typeface="Arial"/>
                <a:cs typeface="Arial"/>
              </a:rPr>
              <a:t> </a:t>
            </a:r>
            <a:r>
              <a:rPr sz="1000" spc="-15" dirty="0">
                <a:latin typeface="Arial"/>
                <a:cs typeface="Arial"/>
              </a:rPr>
              <a:t>execution</a:t>
            </a:r>
            <a:r>
              <a:rPr sz="1000" dirty="0">
                <a:latin typeface="Arial"/>
                <a:cs typeface="Arial"/>
              </a:rPr>
              <a:t> </a:t>
            </a:r>
            <a:r>
              <a:rPr sz="1000" spc="-10" dirty="0">
                <a:latin typeface="Arial"/>
                <a:cs typeface="Arial"/>
              </a:rPr>
              <a:t>of</a:t>
            </a:r>
            <a:r>
              <a:rPr sz="1000" spc="-5" dirty="0">
                <a:latin typeface="Arial"/>
                <a:cs typeface="Arial"/>
              </a:rPr>
              <a:t> </a:t>
            </a:r>
            <a:r>
              <a:rPr sz="1000" spc="-10" dirty="0">
                <a:latin typeface="Arial"/>
                <a:cs typeface="Arial"/>
              </a:rPr>
              <a:t>each</a:t>
            </a:r>
            <a:r>
              <a:rPr sz="1000" dirty="0">
                <a:latin typeface="Arial"/>
                <a:cs typeface="Arial"/>
              </a:rPr>
              <a:t> </a:t>
            </a:r>
            <a:r>
              <a:rPr sz="1000" spc="-10" dirty="0">
                <a:latin typeface="Arial"/>
                <a:cs typeface="Arial"/>
              </a:rPr>
              <a:t>process</a:t>
            </a:r>
            <a:r>
              <a:rPr sz="1000" spc="-5" dirty="0">
                <a:latin typeface="Arial"/>
                <a:cs typeface="Arial"/>
              </a:rPr>
              <a:t> </a:t>
            </a:r>
            <a:r>
              <a:rPr sz="1000" spc="-10" dirty="0">
                <a:latin typeface="Arial"/>
                <a:cs typeface="Arial"/>
              </a:rPr>
              <a:t>can</a:t>
            </a:r>
            <a:r>
              <a:rPr sz="1000" dirty="0">
                <a:latin typeface="Arial"/>
                <a:cs typeface="Arial"/>
              </a:rPr>
              <a:t> </a:t>
            </a:r>
            <a:r>
              <a:rPr sz="1000" spc="-10" dirty="0">
                <a:latin typeface="Arial"/>
                <a:cs typeface="Arial"/>
              </a:rPr>
              <a:t>be</a:t>
            </a:r>
            <a:r>
              <a:rPr sz="1000" spc="-5" dirty="0">
                <a:latin typeface="Arial"/>
                <a:cs typeface="Arial"/>
              </a:rPr>
              <a:t> </a:t>
            </a:r>
            <a:r>
              <a:rPr sz="1000" spc="-10" dirty="0">
                <a:latin typeface="Arial"/>
                <a:cs typeface="Arial"/>
              </a:rPr>
              <a:t>considered</a:t>
            </a:r>
            <a:r>
              <a:rPr sz="1000" dirty="0">
                <a:latin typeface="Arial"/>
                <a:cs typeface="Arial"/>
              </a:rPr>
              <a:t> </a:t>
            </a:r>
            <a:r>
              <a:rPr sz="1000" spc="-10" dirty="0">
                <a:latin typeface="Arial"/>
                <a:cs typeface="Arial"/>
              </a:rPr>
              <a:t>as</a:t>
            </a:r>
            <a:r>
              <a:rPr sz="1000" spc="-5" dirty="0">
                <a:latin typeface="Arial"/>
                <a:cs typeface="Arial"/>
              </a:rPr>
              <a:t> </a:t>
            </a:r>
            <a:r>
              <a:rPr sz="1000" spc="-10" dirty="0">
                <a:latin typeface="Arial"/>
                <a:cs typeface="Arial"/>
              </a:rPr>
              <a:t>a</a:t>
            </a:r>
            <a:r>
              <a:rPr sz="1000" dirty="0">
                <a:latin typeface="Arial"/>
                <a:cs typeface="Arial"/>
              </a:rPr>
              <a:t> </a:t>
            </a:r>
            <a:r>
              <a:rPr sz="1000" spc="-10" dirty="0">
                <a:latin typeface="Arial"/>
                <a:cs typeface="Arial"/>
              </a:rPr>
              <a:t>sequence </a:t>
            </a:r>
            <a:r>
              <a:rPr sz="1000" spc="-265"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state intervals</a:t>
            </a:r>
            <a:endParaRPr sz="1000">
              <a:latin typeface="Arial"/>
              <a:cs typeface="Arial"/>
            </a:endParaRPr>
          </a:p>
          <a:p>
            <a:pPr marL="320675" marR="264160" indent="-168275">
              <a:lnSpc>
                <a:spcPts val="1200"/>
              </a:lnSpc>
              <a:spcBef>
                <a:spcPts val="30"/>
              </a:spcBef>
              <a:buClr>
                <a:srgbClr val="3333B2"/>
              </a:buClr>
              <a:buChar char="►"/>
              <a:tabLst>
                <a:tab pos="321310" algn="l"/>
              </a:tabLst>
            </a:pPr>
            <a:r>
              <a:rPr sz="1000" spc="-5" dirty="0">
                <a:latin typeface="Arial"/>
                <a:cs typeface="Arial"/>
              </a:rPr>
              <a:t>Each</a:t>
            </a:r>
            <a:r>
              <a:rPr sz="1000" spc="5" dirty="0">
                <a:latin typeface="Arial"/>
                <a:cs typeface="Arial"/>
              </a:rPr>
              <a:t> </a:t>
            </a:r>
            <a:r>
              <a:rPr sz="1000" spc="-5" dirty="0">
                <a:latin typeface="Arial"/>
                <a:cs typeface="Arial"/>
              </a:rPr>
              <a:t>state</a:t>
            </a:r>
            <a:r>
              <a:rPr sz="1000" spc="5" dirty="0">
                <a:latin typeface="Arial"/>
                <a:cs typeface="Arial"/>
              </a:rPr>
              <a:t> </a:t>
            </a:r>
            <a:r>
              <a:rPr sz="1000" spc="-5" dirty="0">
                <a:latin typeface="Arial"/>
                <a:cs typeface="Arial"/>
              </a:rPr>
              <a:t>interval</a:t>
            </a:r>
            <a:r>
              <a:rPr sz="1000" spc="5" dirty="0">
                <a:latin typeface="Arial"/>
                <a:cs typeface="Arial"/>
              </a:rPr>
              <a:t> </a:t>
            </a:r>
            <a:r>
              <a:rPr sz="1000" dirty="0">
                <a:latin typeface="Arial"/>
                <a:cs typeface="Arial"/>
              </a:rPr>
              <a:t>starts</a:t>
            </a:r>
            <a:r>
              <a:rPr sz="1000" spc="5"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nondeterministic</a:t>
            </a:r>
            <a:r>
              <a:rPr sz="1000" spc="5" dirty="0">
                <a:latin typeface="Arial"/>
                <a:cs typeface="Arial"/>
              </a:rPr>
              <a:t> </a:t>
            </a:r>
            <a:r>
              <a:rPr sz="1000" spc="-15" dirty="0">
                <a:latin typeface="Arial"/>
                <a:cs typeface="Arial"/>
              </a:rPr>
              <a:t>event</a:t>
            </a:r>
            <a:r>
              <a:rPr sz="1000" spc="5" dirty="0">
                <a:latin typeface="Arial"/>
                <a:cs typeface="Arial"/>
              </a:rPr>
              <a:t> </a:t>
            </a:r>
            <a:r>
              <a:rPr sz="1000" spc="-5" dirty="0">
                <a:latin typeface="Arial"/>
                <a:cs typeface="Arial"/>
              </a:rPr>
              <a:t>(e.g., </a:t>
            </a:r>
            <a:r>
              <a:rPr sz="1000" spc="-260" dirty="0">
                <a:latin typeface="Arial"/>
                <a:cs typeface="Arial"/>
              </a:rPr>
              <a:t> </a:t>
            </a:r>
            <a:r>
              <a:rPr sz="1000" spc="-5" dirty="0">
                <a:latin typeface="Arial"/>
                <a:cs typeface="Arial"/>
              </a:rPr>
              <a:t>message</a:t>
            </a:r>
            <a:r>
              <a:rPr sz="1000" spc="-10" dirty="0">
                <a:latin typeface="Arial"/>
                <a:cs typeface="Arial"/>
              </a:rPr>
              <a:t> </a:t>
            </a:r>
            <a:r>
              <a:rPr sz="1000" spc="-5" dirty="0">
                <a:latin typeface="Arial"/>
                <a:cs typeface="Arial"/>
              </a:rPr>
              <a:t>receipt)</a:t>
            </a:r>
            <a:endParaRPr sz="1000">
              <a:latin typeface="Arial"/>
              <a:cs typeface="Arial"/>
            </a:endParaRPr>
          </a:p>
          <a:p>
            <a:pPr marL="320675" indent="-168275">
              <a:lnSpc>
                <a:spcPts val="1150"/>
              </a:lnSpc>
              <a:buClr>
                <a:srgbClr val="3333B2"/>
              </a:buClr>
              <a:buChar char="►"/>
              <a:tabLst>
                <a:tab pos="321310" algn="l"/>
              </a:tabLst>
            </a:pPr>
            <a:r>
              <a:rPr sz="1000" spc="-10" dirty="0">
                <a:latin typeface="Arial"/>
                <a:cs typeface="Arial"/>
              </a:rPr>
              <a:t>Execution</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state</a:t>
            </a:r>
            <a:r>
              <a:rPr sz="1000" spc="5" dirty="0">
                <a:latin typeface="Arial"/>
                <a:cs typeface="Arial"/>
              </a:rPr>
              <a:t> </a:t>
            </a:r>
            <a:r>
              <a:rPr sz="1000" spc="-5" dirty="0">
                <a:latin typeface="Arial"/>
                <a:cs typeface="Arial"/>
              </a:rPr>
              <a:t>interval</a:t>
            </a:r>
            <a:r>
              <a:rPr sz="1000" spc="5" dirty="0">
                <a:latin typeface="Arial"/>
                <a:cs typeface="Arial"/>
              </a:rPr>
              <a:t> </a:t>
            </a:r>
            <a:r>
              <a:rPr sz="1000" spc="-5" dirty="0">
                <a:latin typeface="Arial"/>
                <a:cs typeface="Arial"/>
              </a:rPr>
              <a:t>is</a:t>
            </a:r>
            <a:r>
              <a:rPr sz="1000" spc="5" dirty="0">
                <a:latin typeface="Arial"/>
                <a:cs typeface="Arial"/>
              </a:rPr>
              <a:t> </a:t>
            </a:r>
            <a:r>
              <a:rPr sz="1000" spc="-5" dirty="0">
                <a:latin typeface="Arial"/>
                <a:cs typeface="Arial"/>
              </a:rPr>
              <a:t>deterministic</a:t>
            </a:r>
            <a:endParaRPr sz="1000">
              <a:latin typeface="Arial"/>
              <a:cs typeface="Arial"/>
            </a:endParaRPr>
          </a:p>
        </p:txBody>
      </p:sp>
      <p:sp>
        <p:nvSpPr>
          <p:cNvPr id="7" name="object 7"/>
          <p:cNvSpPr txBox="1"/>
          <p:nvPr/>
        </p:nvSpPr>
        <p:spPr>
          <a:xfrm>
            <a:off x="347294" y="2617492"/>
            <a:ext cx="3938270" cy="5048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FA0000"/>
                </a:solidFill>
                <a:latin typeface="Arial"/>
                <a:cs typeface="Arial"/>
              </a:rPr>
              <a:t>Conclusion</a:t>
            </a:r>
            <a:endParaRPr sz="1200">
              <a:latin typeface="Arial"/>
              <a:cs typeface="Arial"/>
            </a:endParaRPr>
          </a:p>
          <a:p>
            <a:pPr marL="12700" marR="5080">
              <a:lnSpc>
                <a:spcPts val="1200"/>
              </a:lnSpc>
              <a:spcBef>
                <a:spcPts val="10"/>
              </a:spcBef>
            </a:pPr>
            <a:r>
              <a:rPr sz="1000" spc="-5" dirty="0">
                <a:latin typeface="Arial"/>
                <a:cs typeface="Arial"/>
              </a:rPr>
              <a:t>If</a:t>
            </a:r>
            <a:r>
              <a:rPr sz="1000" dirty="0">
                <a:latin typeface="Arial"/>
                <a:cs typeface="Arial"/>
              </a:rPr>
              <a:t> </a:t>
            </a:r>
            <a:r>
              <a:rPr sz="1000" spc="-20" dirty="0">
                <a:latin typeface="Arial"/>
                <a:cs typeface="Arial"/>
              </a:rPr>
              <a:t>we</a:t>
            </a:r>
            <a:r>
              <a:rPr sz="1000" dirty="0">
                <a:latin typeface="Arial"/>
                <a:cs typeface="Arial"/>
              </a:rPr>
              <a:t> </a:t>
            </a:r>
            <a:r>
              <a:rPr sz="1000" spc="-10" dirty="0">
                <a:latin typeface="Arial"/>
                <a:cs typeface="Arial"/>
              </a:rPr>
              <a:t>record</a:t>
            </a:r>
            <a:r>
              <a:rPr sz="1000" dirty="0">
                <a:latin typeface="Arial"/>
                <a:cs typeface="Arial"/>
              </a:rPr>
              <a:t> </a:t>
            </a:r>
            <a:r>
              <a:rPr sz="1000" spc="-10" dirty="0">
                <a:latin typeface="Arial"/>
                <a:cs typeface="Arial"/>
              </a:rPr>
              <a:t>nondeterministic</a:t>
            </a:r>
            <a:r>
              <a:rPr sz="1000" dirty="0">
                <a:latin typeface="Arial"/>
                <a:cs typeface="Arial"/>
              </a:rPr>
              <a:t> </a:t>
            </a:r>
            <a:r>
              <a:rPr sz="1000" spc="-20" dirty="0">
                <a:latin typeface="Arial"/>
                <a:cs typeface="Arial"/>
              </a:rPr>
              <a:t>events</a:t>
            </a:r>
            <a:r>
              <a:rPr sz="1000" spc="5"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replay</a:t>
            </a:r>
            <a:r>
              <a:rPr sz="1000" dirty="0">
                <a:latin typeface="Arial"/>
                <a:cs typeface="Arial"/>
              </a:rPr>
              <a:t> </a:t>
            </a:r>
            <a:r>
              <a:rPr sz="1000" spc="-10" dirty="0">
                <a:latin typeface="Arial"/>
                <a:cs typeface="Arial"/>
              </a:rPr>
              <a:t>them</a:t>
            </a:r>
            <a:r>
              <a:rPr sz="1000" dirty="0">
                <a:latin typeface="Arial"/>
                <a:cs typeface="Arial"/>
              </a:rPr>
              <a:t> </a:t>
            </a:r>
            <a:r>
              <a:rPr sz="1000" spc="-10" dirty="0">
                <a:latin typeface="Arial"/>
                <a:cs typeface="Arial"/>
              </a:rPr>
              <a:t>later),</a:t>
            </a:r>
            <a:r>
              <a:rPr sz="1000" dirty="0">
                <a:latin typeface="Arial"/>
                <a:cs typeface="Arial"/>
              </a:rPr>
              <a:t> </a:t>
            </a:r>
            <a:r>
              <a:rPr sz="1000" spc="-20" dirty="0">
                <a:latin typeface="Arial"/>
                <a:cs typeface="Arial"/>
              </a:rPr>
              <a:t>we</a:t>
            </a:r>
            <a:r>
              <a:rPr sz="1000" spc="5" dirty="0">
                <a:latin typeface="Arial"/>
                <a:cs typeface="Arial"/>
              </a:rPr>
              <a:t> </a:t>
            </a:r>
            <a:r>
              <a:rPr sz="1000" spc="-10" dirty="0">
                <a:latin typeface="Arial"/>
                <a:cs typeface="Arial"/>
              </a:rPr>
              <a:t>obtain</a:t>
            </a:r>
            <a:r>
              <a:rPr sz="1000" dirty="0">
                <a:latin typeface="Arial"/>
                <a:cs typeface="Arial"/>
              </a:rPr>
              <a:t> </a:t>
            </a:r>
            <a:r>
              <a:rPr sz="1000" spc="-10" dirty="0">
                <a:latin typeface="Arial"/>
                <a:cs typeface="Arial"/>
              </a:rPr>
              <a:t>a </a:t>
            </a:r>
            <a:r>
              <a:rPr sz="1000" spc="-265" dirty="0">
                <a:latin typeface="Arial"/>
                <a:cs typeface="Arial"/>
              </a:rPr>
              <a:t> </a:t>
            </a:r>
            <a:r>
              <a:rPr sz="1000" spc="-10" dirty="0">
                <a:latin typeface="Arial"/>
                <a:cs typeface="Arial"/>
              </a:rPr>
              <a:t>deterministic</a:t>
            </a:r>
            <a:r>
              <a:rPr sz="1000" spc="-5" dirty="0">
                <a:latin typeface="Arial"/>
                <a:cs typeface="Arial"/>
              </a:rPr>
              <a:t> </a:t>
            </a:r>
            <a:r>
              <a:rPr sz="1000" spc="-20" dirty="0">
                <a:latin typeface="Arial"/>
                <a:cs typeface="Arial"/>
              </a:rPr>
              <a:t>execution</a:t>
            </a:r>
            <a:r>
              <a:rPr sz="1000" dirty="0">
                <a:latin typeface="Arial"/>
                <a:cs typeface="Arial"/>
              </a:rPr>
              <a:t> </a:t>
            </a:r>
            <a:r>
              <a:rPr sz="1000" spc="-15" dirty="0">
                <a:latin typeface="Arial"/>
                <a:cs typeface="Arial"/>
              </a:rPr>
              <a:t>model</a:t>
            </a:r>
            <a:r>
              <a:rPr sz="1000"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will</a:t>
            </a:r>
            <a:r>
              <a:rPr sz="1000" dirty="0">
                <a:latin typeface="Arial"/>
                <a:cs typeface="Arial"/>
              </a:rPr>
              <a:t> </a:t>
            </a:r>
            <a:r>
              <a:rPr sz="1000" spc="-15" dirty="0">
                <a:latin typeface="Arial"/>
                <a:cs typeface="Arial"/>
              </a:rPr>
              <a:t>allow</a:t>
            </a:r>
            <a:r>
              <a:rPr sz="1000" spc="-5" dirty="0">
                <a:latin typeface="Arial"/>
                <a:cs typeface="Arial"/>
              </a:rPr>
              <a:t> </a:t>
            </a:r>
            <a:r>
              <a:rPr sz="1000" spc="-15" dirty="0">
                <a:latin typeface="Arial"/>
                <a:cs typeface="Arial"/>
              </a:rPr>
              <a:t>us</a:t>
            </a:r>
            <a:r>
              <a:rPr sz="1000"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do</a:t>
            </a:r>
            <a:r>
              <a:rPr sz="1000"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complete</a:t>
            </a:r>
            <a:r>
              <a:rPr sz="1000" spc="-5" dirty="0">
                <a:latin typeface="Arial"/>
                <a:cs typeface="Arial"/>
              </a:rPr>
              <a:t> </a:t>
            </a:r>
            <a:r>
              <a:rPr sz="1000" spc="-30" dirty="0">
                <a:latin typeface="Arial"/>
                <a:cs typeface="Arial"/>
              </a:rPr>
              <a:t>replay.</a:t>
            </a:r>
            <a:endParaRPr sz="1000">
              <a:latin typeface="Arial"/>
              <a:cs typeface="Arial"/>
            </a:endParaRPr>
          </a:p>
        </p:txBody>
      </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887470" algn="l"/>
              </a:tabLst>
            </a:pPr>
            <a:r>
              <a:rPr sz="600" spc="-10" dirty="0">
                <a:solidFill>
                  <a:srgbClr val="3333B2"/>
                </a:solidFill>
                <a:latin typeface="Arial"/>
                <a:cs typeface="Arial"/>
                <a:hlinkClick r:id="rId3" action="ppaction://hlinksldjump"/>
              </a:rPr>
              <a:t>Fault</a:t>
            </a:r>
            <a:r>
              <a:rPr sz="600" spc="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Recovery</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Message</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logging</a:t>
            </a:r>
            <a:endParaRPr sz="600">
              <a:latin typeface="Arial"/>
              <a:cs typeface="Arial"/>
            </a:endParaRPr>
          </a:p>
        </p:txBody>
      </p:sp>
      <p:sp>
        <p:nvSpPr>
          <p:cNvPr id="3" name="object 3"/>
          <p:cNvSpPr txBox="1">
            <a:spLocks noGrp="1"/>
          </p:cNvSpPr>
          <p:nvPr>
            <p:ph type="title"/>
          </p:nvPr>
        </p:nvSpPr>
        <p:spPr>
          <a:xfrm>
            <a:off x="95300" y="126323"/>
            <a:ext cx="3011805" cy="717550"/>
          </a:xfrm>
          <a:prstGeom prst="rect">
            <a:avLst/>
          </a:prstGeom>
        </p:spPr>
        <p:txBody>
          <a:bodyPr vert="horz" wrap="square" lIns="0" tIns="39369" rIns="0" bIns="0" rtlCol="0">
            <a:spAutoFit/>
          </a:bodyPr>
          <a:lstStyle/>
          <a:p>
            <a:pPr marL="257175" marR="5080" indent="-245110">
              <a:lnSpc>
                <a:spcPct val="118900"/>
              </a:lnSpc>
              <a:spcBef>
                <a:spcPts val="309"/>
              </a:spcBef>
            </a:pPr>
            <a:r>
              <a:rPr spc="15" dirty="0"/>
              <a:t>Message logging and consistency </a:t>
            </a:r>
            <a:r>
              <a:rPr spc="20" dirty="0"/>
              <a:t> </a:t>
            </a:r>
            <a:r>
              <a:rPr sz="1200" spc="-5" dirty="0"/>
              <a:t>When should </a:t>
            </a:r>
            <a:r>
              <a:rPr sz="1200" spc="-15" dirty="0"/>
              <a:t>we </a:t>
            </a:r>
            <a:r>
              <a:rPr sz="1200" spc="-5" dirty="0"/>
              <a:t>actually log messages? </a:t>
            </a:r>
            <a:r>
              <a:rPr sz="1200" spc="-320" dirty="0"/>
              <a:t> </a:t>
            </a:r>
            <a:r>
              <a:rPr sz="1000" spc="-15" dirty="0">
                <a:solidFill>
                  <a:srgbClr val="000000"/>
                </a:solidFill>
              </a:rPr>
              <a:t>Avoid</a:t>
            </a:r>
            <a:r>
              <a:rPr sz="1000" spc="-10" dirty="0">
                <a:solidFill>
                  <a:srgbClr val="000000"/>
                </a:solidFill>
              </a:rPr>
              <a:t> </a:t>
            </a:r>
            <a:r>
              <a:rPr sz="1000" dirty="0">
                <a:solidFill>
                  <a:srgbClr val="FA0000"/>
                </a:solidFill>
              </a:rPr>
              <a:t>orphan</a:t>
            </a:r>
            <a:r>
              <a:rPr sz="1000" spc="-5" dirty="0">
                <a:solidFill>
                  <a:srgbClr val="FA0000"/>
                </a:solidFill>
              </a:rPr>
              <a:t> processes</a:t>
            </a:r>
            <a:r>
              <a:rPr sz="1000" spc="-5" dirty="0">
                <a:solidFill>
                  <a:srgbClr val="000000"/>
                </a:solidFill>
              </a:rPr>
              <a:t>:</a:t>
            </a:r>
            <a:endParaRPr sz="1000"/>
          </a:p>
        </p:txBody>
      </p:sp>
      <p:sp>
        <p:nvSpPr>
          <p:cNvPr id="4" name="object 4"/>
          <p:cNvSpPr txBox="1"/>
          <p:nvPr/>
        </p:nvSpPr>
        <p:spPr>
          <a:xfrm>
            <a:off x="3109760" y="2692354"/>
            <a:ext cx="247650" cy="147320"/>
          </a:xfrm>
          <a:prstGeom prst="rect">
            <a:avLst/>
          </a:prstGeom>
        </p:spPr>
        <p:txBody>
          <a:bodyPr vert="horz" wrap="square" lIns="0" tIns="12700" rIns="0" bIns="0" rtlCol="0">
            <a:spAutoFit/>
          </a:bodyPr>
          <a:lstStyle/>
          <a:p>
            <a:pPr marL="12700">
              <a:lnSpc>
                <a:spcPct val="100000"/>
              </a:lnSpc>
              <a:spcBef>
                <a:spcPts val="100"/>
              </a:spcBef>
            </a:pPr>
            <a:r>
              <a:rPr sz="800" spc="-30" dirty="0">
                <a:solidFill>
                  <a:srgbClr val="231F20"/>
                </a:solidFill>
                <a:latin typeface="Arial"/>
                <a:cs typeface="Arial"/>
              </a:rPr>
              <a:t>T</a:t>
            </a:r>
            <a:r>
              <a:rPr sz="800" spc="-5" dirty="0">
                <a:solidFill>
                  <a:srgbClr val="231F20"/>
                </a:solidFill>
                <a:latin typeface="Arial"/>
                <a:cs typeface="Arial"/>
              </a:rPr>
              <a:t>ime</a:t>
            </a:r>
            <a:endParaRPr sz="800">
              <a:latin typeface="Arial"/>
              <a:cs typeface="Arial"/>
            </a:endParaRPr>
          </a:p>
        </p:txBody>
      </p:sp>
      <p:grpSp>
        <p:nvGrpSpPr>
          <p:cNvPr id="5" name="object 5"/>
          <p:cNvGrpSpPr/>
          <p:nvPr/>
        </p:nvGrpSpPr>
        <p:grpSpPr>
          <a:xfrm>
            <a:off x="539239" y="1990097"/>
            <a:ext cx="3102610" cy="617220"/>
            <a:chOff x="539239" y="1990097"/>
            <a:chExt cx="3102610" cy="617220"/>
          </a:xfrm>
        </p:grpSpPr>
        <p:sp>
          <p:nvSpPr>
            <p:cNvPr id="6" name="object 6"/>
            <p:cNvSpPr/>
            <p:nvPr/>
          </p:nvSpPr>
          <p:spPr>
            <a:xfrm>
              <a:off x="542414" y="2027834"/>
              <a:ext cx="3096260" cy="288290"/>
            </a:xfrm>
            <a:custGeom>
              <a:avLst/>
              <a:gdLst/>
              <a:ahLst/>
              <a:cxnLst/>
              <a:rect l="l" t="t" r="r" b="b"/>
              <a:pathLst>
                <a:path w="3096260" h="288289">
                  <a:moveTo>
                    <a:pt x="0" y="0"/>
                  </a:moveTo>
                  <a:lnTo>
                    <a:pt x="3095995" y="0"/>
                  </a:lnTo>
                </a:path>
                <a:path w="3096260" h="288289">
                  <a:moveTo>
                    <a:pt x="0" y="288001"/>
                  </a:moveTo>
                  <a:lnTo>
                    <a:pt x="1080005" y="288001"/>
                  </a:lnTo>
                </a:path>
                <a:path w="3096260" h="288289">
                  <a:moveTo>
                    <a:pt x="107999" y="0"/>
                  </a:moveTo>
                  <a:lnTo>
                    <a:pt x="397385" y="258033"/>
                  </a:lnTo>
                </a:path>
              </a:pathLst>
            </a:custGeom>
            <a:ln w="6350">
              <a:solidFill>
                <a:srgbClr val="231F20"/>
              </a:solidFill>
            </a:ln>
          </p:spPr>
          <p:txBody>
            <a:bodyPr wrap="square" lIns="0" tIns="0" rIns="0" bIns="0" rtlCol="0"/>
            <a:lstStyle/>
            <a:p>
              <a:endParaRPr/>
            </a:p>
          </p:txBody>
        </p:sp>
        <p:pic>
          <p:nvPicPr>
            <p:cNvPr id="7" name="object 7"/>
            <p:cNvPicPr/>
            <p:nvPr/>
          </p:nvPicPr>
          <p:blipFill>
            <a:blip r:embed="rId6" cstate="print"/>
            <a:stretch>
              <a:fillRect/>
            </a:stretch>
          </p:blipFill>
          <p:spPr>
            <a:xfrm>
              <a:off x="880968" y="2227536"/>
              <a:ext cx="92447" cy="88299"/>
            </a:xfrm>
            <a:prstGeom prst="rect">
              <a:avLst/>
            </a:prstGeom>
          </p:spPr>
        </p:pic>
        <p:pic>
          <p:nvPicPr>
            <p:cNvPr id="8" name="object 8"/>
            <p:cNvPicPr/>
            <p:nvPr/>
          </p:nvPicPr>
          <p:blipFill>
            <a:blip r:embed="rId7" cstate="print"/>
            <a:stretch>
              <a:fillRect/>
            </a:stretch>
          </p:blipFill>
          <p:spPr>
            <a:xfrm>
              <a:off x="612735" y="1990160"/>
              <a:ext cx="75357" cy="75354"/>
            </a:xfrm>
            <a:prstGeom prst="rect">
              <a:avLst/>
            </a:prstGeom>
          </p:spPr>
        </p:pic>
        <p:sp>
          <p:nvSpPr>
            <p:cNvPr id="9" name="object 9"/>
            <p:cNvSpPr/>
            <p:nvPr/>
          </p:nvSpPr>
          <p:spPr>
            <a:xfrm>
              <a:off x="2630411" y="2027834"/>
              <a:ext cx="260350" cy="256540"/>
            </a:xfrm>
            <a:custGeom>
              <a:avLst/>
              <a:gdLst/>
              <a:ahLst/>
              <a:cxnLst/>
              <a:rect l="l" t="t" r="r" b="b"/>
              <a:pathLst>
                <a:path w="260350" h="256539">
                  <a:moveTo>
                    <a:pt x="0" y="0"/>
                  </a:moveTo>
                  <a:lnTo>
                    <a:pt x="259867" y="256376"/>
                  </a:lnTo>
                </a:path>
              </a:pathLst>
            </a:custGeom>
            <a:ln w="6350">
              <a:solidFill>
                <a:srgbClr val="231F20"/>
              </a:solidFill>
            </a:ln>
          </p:spPr>
          <p:txBody>
            <a:bodyPr wrap="square" lIns="0" tIns="0" rIns="0" bIns="0" rtlCol="0"/>
            <a:lstStyle/>
            <a:p>
              <a:endParaRPr/>
            </a:p>
          </p:txBody>
        </p:sp>
        <p:pic>
          <p:nvPicPr>
            <p:cNvPr id="10" name="object 10"/>
            <p:cNvPicPr/>
            <p:nvPr/>
          </p:nvPicPr>
          <p:blipFill>
            <a:blip r:embed="rId8" cstate="print"/>
            <a:stretch>
              <a:fillRect/>
            </a:stretch>
          </p:blipFill>
          <p:spPr>
            <a:xfrm>
              <a:off x="2831579" y="2225561"/>
              <a:ext cx="90754" cy="90274"/>
            </a:xfrm>
            <a:prstGeom prst="rect">
              <a:avLst/>
            </a:prstGeom>
          </p:spPr>
        </p:pic>
        <p:pic>
          <p:nvPicPr>
            <p:cNvPr id="11" name="object 11"/>
            <p:cNvPicPr/>
            <p:nvPr/>
          </p:nvPicPr>
          <p:blipFill>
            <a:blip r:embed="rId9" cstate="print"/>
            <a:stretch>
              <a:fillRect/>
            </a:stretch>
          </p:blipFill>
          <p:spPr>
            <a:xfrm>
              <a:off x="2592668" y="1990097"/>
              <a:ext cx="75485" cy="75484"/>
            </a:xfrm>
            <a:prstGeom prst="rect">
              <a:avLst/>
            </a:prstGeom>
          </p:spPr>
        </p:pic>
        <p:sp>
          <p:nvSpPr>
            <p:cNvPr id="12" name="object 12"/>
            <p:cNvSpPr/>
            <p:nvPr/>
          </p:nvSpPr>
          <p:spPr>
            <a:xfrm>
              <a:off x="542414" y="2315836"/>
              <a:ext cx="3096260" cy="288290"/>
            </a:xfrm>
            <a:custGeom>
              <a:avLst/>
              <a:gdLst/>
              <a:ahLst/>
              <a:cxnLst/>
              <a:rect l="l" t="t" r="r" b="b"/>
              <a:pathLst>
                <a:path w="3096260" h="288289">
                  <a:moveTo>
                    <a:pt x="0" y="287997"/>
                  </a:moveTo>
                  <a:lnTo>
                    <a:pt x="3095995" y="287997"/>
                  </a:lnTo>
                </a:path>
                <a:path w="3096260" h="288289">
                  <a:moveTo>
                    <a:pt x="648002" y="0"/>
                  </a:moveTo>
                  <a:lnTo>
                    <a:pt x="837877" y="252031"/>
                  </a:lnTo>
                </a:path>
              </a:pathLst>
            </a:custGeom>
            <a:ln w="6350">
              <a:solidFill>
                <a:srgbClr val="231F20"/>
              </a:solidFill>
            </a:ln>
          </p:spPr>
          <p:txBody>
            <a:bodyPr wrap="square" lIns="0" tIns="0" rIns="0" bIns="0" rtlCol="0"/>
            <a:lstStyle/>
            <a:p>
              <a:endParaRPr/>
            </a:p>
          </p:txBody>
        </p:sp>
        <p:pic>
          <p:nvPicPr>
            <p:cNvPr id="13" name="object 13"/>
            <p:cNvPicPr/>
            <p:nvPr/>
          </p:nvPicPr>
          <p:blipFill>
            <a:blip r:embed="rId10" cstate="print"/>
            <a:stretch>
              <a:fillRect/>
            </a:stretch>
          </p:blipFill>
          <p:spPr>
            <a:xfrm>
              <a:off x="1322790" y="2509154"/>
              <a:ext cx="84598" cy="94679"/>
            </a:xfrm>
            <a:prstGeom prst="rect">
              <a:avLst/>
            </a:prstGeom>
          </p:spPr>
        </p:pic>
        <p:pic>
          <p:nvPicPr>
            <p:cNvPr id="14" name="object 14"/>
            <p:cNvPicPr/>
            <p:nvPr/>
          </p:nvPicPr>
          <p:blipFill>
            <a:blip r:embed="rId11" cstate="print"/>
            <a:stretch>
              <a:fillRect/>
            </a:stretch>
          </p:blipFill>
          <p:spPr>
            <a:xfrm>
              <a:off x="1153050" y="2278476"/>
              <a:ext cx="74726" cy="74722"/>
            </a:xfrm>
            <a:prstGeom prst="rect">
              <a:avLst/>
            </a:prstGeom>
          </p:spPr>
        </p:pic>
        <p:sp>
          <p:nvSpPr>
            <p:cNvPr id="15" name="object 15"/>
            <p:cNvSpPr/>
            <p:nvPr/>
          </p:nvSpPr>
          <p:spPr>
            <a:xfrm>
              <a:off x="3170415" y="2315836"/>
              <a:ext cx="189865" cy="252095"/>
            </a:xfrm>
            <a:custGeom>
              <a:avLst/>
              <a:gdLst/>
              <a:ahLst/>
              <a:cxnLst/>
              <a:rect l="l" t="t" r="r" b="b"/>
              <a:pathLst>
                <a:path w="189864" h="252094">
                  <a:moveTo>
                    <a:pt x="0" y="0"/>
                  </a:moveTo>
                  <a:lnTo>
                    <a:pt x="189865" y="252031"/>
                  </a:lnTo>
                </a:path>
              </a:pathLst>
            </a:custGeom>
            <a:ln w="6350">
              <a:solidFill>
                <a:srgbClr val="231F20"/>
              </a:solidFill>
              <a:prstDash val="lgDash"/>
            </a:ln>
          </p:spPr>
          <p:txBody>
            <a:bodyPr wrap="square" lIns="0" tIns="0" rIns="0" bIns="0" rtlCol="0"/>
            <a:lstStyle/>
            <a:p>
              <a:endParaRPr/>
            </a:p>
          </p:txBody>
        </p:sp>
        <p:pic>
          <p:nvPicPr>
            <p:cNvPr id="16" name="object 16"/>
            <p:cNvPicPr/>
            <p:nvPr/>
          </p:nvPicPr>
          <p:blipFill>
            <a:blip r:embed="rId12" cstate="print"/>
            <a:stretch>
              <a:fillRect/>
            </a:stretch>
          </p:blipFill>
          <p:spPr>
            <a:xfrm>
              <a:off x="3302787" y="2509154"/>
              <a:ext cx="84594" cy="94679"/>
            </a:xfrm>
            <a:prstGeom prst="rect">
              <a:avLst/>
            </a:prstGeom>
          </p:spPr>
        </p:pic>
        <p:pic>
          <p:nvPicPr>
            <p:cNvPr id="17" name="object 17"/>
            <p:cNvPicPr/>
            <p:nvPr/>
          </p:nvPicPr>
          <p:blipFill>
            <a:blip r:embed="rId13" cstate="print"/>
            <a:stretch>
              <a:fillRect/>
            </a:stretch>
          </p:blipFill>
          <p:spPr>
            <a:xfrm>
              <a:off x="3133040" y="2278476"/>
              <a:ext cx="74737" cy="74722"/>
            </a:xfrm>
            <a:prstGeom prst="rect">
              <a:avLst/>
            </a:prstGeom>
          </p:spPr>
        </p:pic>
        <p:pic>
          <p:nvPicPr>
            <p:cNvPr id="18" name="object 18"/>
            <p:cNvPicPr/>
            <p:nvPr/>
          </p:nvPicPr>
          <p:blipFill>
            <a:blip r:embed="rId14" cstate="print"/>
            <a:stretch>
              <a:fillRect/>
            </a:stretch>
          </p:blipFill>
          <p:spPr>
            <a:xfrm>
              <a:off x="1007234" y="2315836"/>
              <a:ext cx="116587" cy="291173"/>
            </a:xfrm>
            <a:prstGeom prst="rect">
              <a:avLst/>
            </a:prstGeom>
          </p:spPr>
        </p:pic>
        <p:pic>
          <p:nvPicPr>
            <p:cNvPr id="19" name="object 19"/>
            <p:cNvPicPr/>
            <p:nvPr/>
          </p:nvPicPr>
          <p:blipFill>
            <a:blip r:embed="rId15" cstate="print"/>
            <a:stretch>
              <a:fillRect/>
            </a:stretch>
          </p:blipFill>
          <p:spPr>
            <a:xfrm>
              <a:off x="2987243" y="2315836"/>
              <a:ext cx="112204" cy="291173"/>
            </a:xfrm>
            <a:prstGeom prst="rect">
              <a:avLst/>
            </a:prstGeom>
          </p:spPr>
        </p:pic>
        <p:sp>
          <p:nvSpPr>
            <p:cNvPr id="20" name="object 20"/>
            <p:cNvSpPr/>
            <p:nvPr/>
          </p:nvSpPr>
          <p:spPr>
            <a:xfrm>
              <a:off x="1550417" y="2243833"/>
              <a:ext cx="144145" cy="144145"/>
            </a:xfrm>
            <a:custGeom>
              <a:avLst/>
              <a:gdLst/>
              <a:ahLst/>
              <a:cxnLst/>
              <a:rect l="l" t="t" r="r" b="b"/>
              <a:pathLst>
                <a:path w="144144" h="144144">
                  <a:moveTo>
                    <a:pt x="0" y="0"/>
                  </a:moveTo>
                  <a:lnTo>
                    <a:pt x="143996" y="144006"/>
                  </a:lnTo>
                </a:path>
                <a:path w="144144" h="144144">
                  <a:moveTo>
                    <a:pt x="143996" y="0"/>
                  </a:moveTo>
                  <a:lnTo>
                    <a:pt x="0" y="144006"/>
                  </a:lnTo>
                </a:path>
              </a:pathLst>
            </a:custGeom>
            <a:ln w="12700">
              <a:solidFill>
                <a:srgbClr val="231F20"/>
              </a:solidFill>
            </a:ln>
          </p:spPr>
          <p:txBody>
            <a:bodyPr wrap="square" lIns="0" tIns="0" rIns="0" bIns="0" rtlCol="0"/>
            <a:lstStyle/>
            <a:p>
              <a:endParaRPr/>
            </a:p>
          </p:txBody>
        </p:sp>
        <p:sp>
          <p:nvSpPr>
            <p:cNvPr id="21" name="object 21"/>
            <p:cNvSpPr/>
            <p:nvPr/>
          </p:nvSpPr>
          <p:spPr>
            <a:xfrm>
              <a:off x="1622411" y="2315836"/>
              <a:ext cx="720090" cy="0"/>
            </a:xfrm>
            <a:custGeom>
              <a:avLst/>
              <a:gdLst/>
              <a:ahLst/>
              <a:cxnLst/>
              <a:rect l="l" t="t" r="r" b="b"/>
              <a:pathLst>
                <a:path w="720089">
                  <a:moveTo>
                    <a:pt x="0" y="0"/>
                  </a:moveTo>
                  <a:lnTo>
                    <a:pt x="719989" y="0"/>
                  </a:lnTo>
                </a:path>
              </a:pathLst>
            </a:custGeom>
            <a:ln w="6350">
              <a:solidFill>
                <a:srgbClr val="231F20"/>
              </a:solidFill>
              <a:prstDash val="lgDash"/>
            </a:ln>
          </p:spPr>
          <p:txBody>
            <a:bodyPr wrap="square" lIns="0" tIns="0" rIns="0" bIns="0" rtlCol="0"/>
            <a:lstStyle/>
            <a:p>
              <a:endParaRPr/>
            </a:p>
          </p:txBody>
        </p:sp>
        <p:sp>
          <p:nvSpPr>
            <p:cNvPr id="22" name="object 22"/>
            <p:cNvSpPr/>
            <p:nvPr/>
          </p:nvSpPr>
          <p:spPr>
            <a:xfrm>
              <a:off x="2342400" y="2315836"/>
              <a:ext cx="1296035" cy="0"/>
            </a:xfrm>
            <a:custGeom>
              <a:avLst/>
              <a:gdLst/>
              <a:ahLst/>
              <a:cxnLst/>
              <a:rect l="l" t="t" r="r" b="b"/>
              <a:pathLst>
                <a:path w="1296035">
                  <a:moveTo>
                    <a:pt x="1296009" y="0"/>
                  </a:moveTo>
                  <a:lnTo>
                    <a:pt x="0" y="0"/>
                  </a:lnTo>
                </a:path>
              </a:pathLst>
            </a:custGeom>
            <a:ln w="6350">
              <a:solidFill>
                <a:srgbClr val="231F20"/>
              </a:solidFill>
            </a:ln>
          </p:spPr>
          <p:txBody>
            <a:bodyPr wrap="square" lIns="0" tIns="0" rIns="0" bIns="0" rtlCol="0"/>
            <a:lstStyle/>
            <a:p>
              <a:endParaRPr/>
            </a:p>
          </p:txBody>
        </p:sp>
        <p:sp>
          <p:nvSpPr>
            <p:cNvPr id="23" name="object 23"/>
            <p:cNvSpPr/>
            <p:nvPr/>
          </p:nvSpPr>
          <p:spPr>
            <a:xfrm>
              <a:off x="2342400" y="2243833"/>
              <a:ext cx="0" cy="144145"/>
            </a:xfrm>
            <a:custGeom>
              <a:avLst/>
              <a:gdLst/>
              <a:ahLst/>
              <a:cxnLst/>
              <a:rect l="l" t="t" r="r" b="b"/>
              <a:pathLst>
                <a:path h="144144">
                  <a:moveTo>
                    <a:pt x="0" y="0"/>
                  </a:moveTo>
                  <a:lnTo>
                    <a:pt x="0" y="144006"/>
                  </a:lnTo>
                </a:path>
              </a:pathLst>
            </a:custGeom>
            <a:ln w="12700">
              <a:solidFill>
                <a:srgbClr val="231F20"/>
              </a:solidFill>
            </a:ln>
          </p:spPr>
          <p:txBody>
            <a:bodyPr wrap="square" lIns="0" tIns="0" rIns="0" bIns="0" rtlCol="0"/>
            <a:lstStyle/>
            <a:p>
              <a:endParaRPr/>
            </a:p>
          </p:txBody>
        </p:sp>
      </p:grpSp>
      <p:sp>
        <p:nvSpPr>
          <p:cNvPr id="24" name="object 24"/>
          <p:cNvSpPr txBox="1"/>
          <p:nvPr/>
        </p:nvSpPr>
        <p:spPr>
          <a:xfrm>
            <a:off x="426080" y="1949543"/>
            <a:ext cx="93345"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P</a:t>
            </a:r>
            <a:endParaRPr sz="800">
              <a:latin typeface="Arial"/>
              <a:cs typeface="Arial"/>
            </a:endParaRPr>
          </a:p>
        </p:txBody>
      </p:sp>
      <p:sp>
        <p:nvSpPr>
          <p:cNvPr id="25" name="object 25"/>
          <p:cNvSpPr txBox="1"/>
          <p:nvPr/>
        </p:nvSpPr>
        <p:spPr>
          <a:xfrm>
            <a:off x="431304" y="894351"/>
            <a:ext cx="3843020" cy="1094740"/>
          </a:xfrm>
          <a:prstGeom prst="rect">
            <a:avLst/>
          </a:prstGeom>
        </p:spPr>
        <p:txBody>
          <a:bodyPr vert="horz" wrap="square" lIns="0" tIns="12065" rIns="0" bIns="0" rtlCol="0">
            <a:spAutoFit/>
          </a:bodyPr>
          <a:lstStyle/>
          <a:p>
            <a:pPr marL="205740" indent="-168275">
              <a:lnSpc>
                <a:spcPts val="1200"/>
              </a:lnSpc>
              <a:spcBef>
                <a:spcPts val="95"/>
              </a:spcBef>
              <a:buClr>
                <a:srgbClr val="3333B2"/>
              </a:buClr>
              <a:buChar char="►"/>
              <a:tabLst>
                <a:tab pos="206375" algn="l"/>
              </a:tabLst>
            </a:pPr>
            <a:r>
              <a:rPr sz="1000" spc="-10" dirty="0">
                <a:latin typeface="Arial"/>
                <a:cs typeface="Arial"/>
              </a:rPr>
              <a:t>Process</a:t>
            </a:r>
            <a:r>
              <a:rPr sz="1000" spc="-5" dirty="0">
                <a:latin typeface="Arial"/>
                <a:cs typeface="Arial"/>
              </a:rPr>
              <a:t> </a:t>
            </a:r>
            <a:r>
              <a:rPr sz="1000" i="1" spc="-5" dirty="0">
                <a:latin typeface="Arial"/>
                <a:cs typeface="Arial"/>
              </a:rPr>
              <a:t>Q</a:t>
            </a:r>
            <a:r>
              <a:rPr sz="1000" i="1" spc="50" dirty="0">
                <a:latin typeface="Arial"/>
                <a:cs typeface="Arial"/>
              </a:rPr>
              <a:t> </a:t>
            </a:r>
            <a:r>
              <a:rPr sz="1000" spc="-10" dirty="0">
                <a:latin typeface="Arial"/>
                <a:cs typeface="Arial"/>
              </a:rPr>
              <a:t>has</a:t>
            </a:r>
            <a:r>
              <a:rPr sz="1000" dirty="0">
                <a:latin typeface="Arial"/>
                <a:cs typeface="Arial"/>
              </a:rPr>
              <a:t> </a:t>
            </a:r>
            <a:r>
              <a:rPr sz="1000" spc="-5" dirty="0">
                <a:latin typeface="Arial"/>
                <a:cs typeface="Arial"/>
              </a:rPr>
              <a:t>just</a:t>
            </a:r>
            <a:r>
              <a:rPr sz="1000" dirty="0">
                <a:latin typeface="Arial"/>
                <a:cs typeface="Arial"/>
              </a:rPr>
              <a:t> </a:t>
            </a:r>
            <a:r>
              <a:rPr sz="1000" spc="-10" dirty="0">
                <a:latin typeface="Arial"/>
                <a:cs typeface="Arial"/>
              </a:rPr>
              <a:t>received</a:t>
            </a:r>
            <a:r>
              <a:rPr sz="1000" dirty="0">
                <a:latin typeface="Arial"/>
                <a:cs typeface="Arial"/>
              </a:rPr>
              <a:t> </a:t>
            </a:r>
            <a:r>
              <a:rPr sz="1000" spc="-10" dirty="0">
                <a:latin typeface="Arial"/>
                <a:cs typeface="Arial"/>
              </a:rPr>
              <a:t>and</a:t>
            </a:r>
            <a:r>
              <a:rPr sz="1000" dirty="0">
                <a:latin typeface="Arial"/>
                <a:cs typeface="Arial"/>
              </a:rPr>
              <a:t> </a:t>
            </a:r>
            <a:r>
              <a:rPr sz="1000" spc="-10" dirty="0">
                <a:latin typeface="Arial"/>
                <a:cs typeface="Arial"/>
              </a:rPr>
              <a:t>delivered</a:t>
            </a:r>
            <a:r>
              <a:rPr sz="1000" spc="-5" dirty="0">
                <a:latin typeface="Arial"/>
                <a:cs typeface="Arial"/>
              </a:rPr>
              <a:t> </a:t>
            </a:r>
            <a:r>
              <a:rPr sz="1000" spc="-10" dirty="0">
                <a:latin typeface="Arial"/>
                <a:cs typeface="Arial"/>
              </a:rPr>
              <a:t>messages</a:t>
            </a:r>
            <a:r>
              <a:rPr sz="1000" dirty="0">
                <a:latin typeface="Arial"/>
                <a:cs typeface="Arial"/>
              </a:rPr>
              <a:t> </a:t>
            </a:r>
            <a:r>
              <a:rPr sz="1000" i="1" spc="5" dirty="0">
                <a:latin typeface="Arial"/>
                <a:cs typeface="Arial"/>
              </a:rPr>
              <a:t>m</a:t>
            </a:r>
            <a:r>
              <a:rPr sz="1050" i="1" spc="7" baseline="-15873" dirty="0">
                <a:latin typeface="Arial"/>
                <a:cs typeface="Arial"/>
              </a:rPr>
              <a:t>1</a:t>
            </a:r>
            <a:r>
              <a:rPr sz="1050" i="1" spc="202" baseline="-15873" dirty="0">
                <a:latin typeface="Arial"/>
                <a:cs typeface="Arial"/>
              </a:rPr>
              <a:t> </a:t>
            </a:r>
            <a:r>
              <a:rPr sz="1000" spc="-10" dirty="0">
                <a:latin typeface="Arial"/>
                <a:cs typeface="Arial"/>
              </a:rPr>
              <a:t>and</a:t>
            </a:r>
            <a:r>
              <a:rPr sz="1000" dirty="0">
                <a:latin typeface="Arial"/>
                <a:cs typeface="Arial"/>
              </a:rPr>
              <a:t> </a:t>
            </a:r>
            <a:r>
              <a:rPr sz="1000" i="1" spc="5" dirty="0">
                <a:latin typeface="Arial"/>
                <a:cs typeface="Arial"/>
              </a:rPr>
              <a:t>m</a:t>
            </a:r>
            <a:r>
              <a:rPr sz="1050" i="1" spc="7" baseline="-15873" dirty="0">
                <a:latin typeface="Arial"/>
                <a:cs typeface="Arial"/>
              </a:rPr>
              <a:t>2</a:t>
            </a:r>
            <a:endParaRPr sz="1050" baseline="-15873">
              <a:latin typeface="Arial"/>
              <a:cs typeface="Arial"/>
            </a:endParaRPr>
          </a:p>
          <a:p>
            <a:pPr marL="205740" indent="-168275">
              <a:lnSpc>
                <a:spcPts val="1195"/>
              </a:lnSpc>
              <a:buClr>
                <a:srgbClr val="3333B2"/>
              </a:buClr>
              <a:buChar char="►"/>
              <a:tabLst>
                <a:tab pos="206375" algn="l"/>
              </a:tabLst>
            </a:pPr>
            <a:r>
              <a:rPr sz="1000" spc="-5" dirty="0">
                <a:latin typeface="Arial"/>
                <a:cs typeface="Arial"/>
              </a:rPr>
              <a:t>Assume</a:t>
            </a:r>
            <a:r>
              <a:rPr sz="1000" spc="-10" dirty="0">
                <a:latin typeface="Arial"/>
                <a:cs typeface="Arial"/>
              </a:rPr>
              <a:t> </a:t>
            </a:r>
            <a:r>
              <a:rPr sz="1000" spc="-5" dirty="0">
                <a:latin typeface="Arial"/>
                <a:cs typeface="Arial"/>
              </a:rPr>
              <a:t>that</a:t>
            </a:r>
            <a:r>
              <a:rPr sz="1000" spc="-10" dirty="0">
                <a:latin typeface="Arial"/>
                <a:cs typeface="Arial"/>
              </a:rPr>
              <a:t> </a:t>
            </a:r>
            <a:r>
              <a:rPr sz="1000" i="1" spc="5" dirty="0">
                <a:latin typeface="Arial"/>
                <a:cs typeface="Arial"/>
              </a:rPr>
              <a:t>m</a:t>
            </a:r>
            <a:r>
              <a:rPr sz="1050" i="1" spc="7" baseline="-15873" dirty="0">
                <a:latin typeface="Arial"/>
                <a:cs typeface="Arial"/>
              </a:rPr>
              <a:t>2</a:t>
            </a:r>
            <a:r>
              <a:rPr sz="1050" i="1" spc="254" baseline="-15873" dirty="0">
                <a:latin typeface="Arial"/>
                <a:cs typeface="Arial"/>
              </a:rPr>
              <a:t> </a:t>
            </a:r>
            <a:r>
              <a:rPr sz="1000" spc="-5" dirty="0">
                <a:latin typeface="Arial"/>
                <a:cs typeface="Arial"/>
              </a:rPr>
              <a:t>is</a:t>
            </a:r>
            <a:r>
              <a:rPr sz="1000" spc="-10" dirty="0">
                <a:latin typeface="Arial"/>
                <a:cs typeface="Arial"/>
              </a:rPr>
              <a:t> </a:t>
            </a:r>
            <a:r>
              <a:rPr sz="1000" spc="-15" dirty="0">
                <a:latin typeface="Arial"/>
                <a:cs typeface="Arial"/>
              </a:rPr>
              <a:t>never</a:t>
            </a:r>
            <a:r>
              <a:rPr sz="1000" spc="-5" dirty="0">
                <a:latin typeface="Arial"/>
                <a:cs typeface="Arial"/>
              </a:rPr>
              <a:t> logged.</a:t>
            </a:r>
            <a:endParaRPr sz="1000">
              <a:latin typeface="Arial"/>
              <a:cs typeface="Arial"/>
            </a:endParaRPr>
          </a:p>
          <a:p>
            <a:pPr marL="205740" indent="-168275">
              <a:lnSpc>
                <a:spcPts val="1195"/>
              </a:lnSpc>
              <a:buClr>
                <a:srgbClr val="3333B2"/>
              </a:buClr>
              <a:buChar char="►"/>
              <a:tabLst>
                <a:tab pos="206375" algn="l"/>
              </a:tabLst>
            </a:pPr>
            <a:r>
              <a:rPr sz="1000" spc="-5" dirty="0">
                <a:latin typeface="Arial"/>
                <a:cs typeface="Arial"/>
              </a:rPr>
              <a:t>After delivering </a:t>
            </a:r>
            <a:r>
              <a:rPr sz="1000" i="1" spc="5" dirty="0">
                <a:latin typeface="Arial"/>
                <a:cs typeface="Arial"/>
              </a:rPr>
              <a:t>m</a:t>
            </a:r>
            <a:r>
              <a:rPr sz="1050" i="1" spc="7" baseline="-15873" dirty="0">
                <a:latin typeface="Arial"/>
                <a:cs typeface="Arial"/>
              </a:rPr>
              <a:t>1</a:t>
            </a:r>
            <a:r>
              <a:rPr sz="1050" i="1" spc="202" baseline="-15873" dirty="0">
                <a:latin typeface="Arial"/>
                <a:cs typeface="Arial"/>
              </a:rPr>
              <a:t> </a:t>
            </a:r>
            <a:r>
              <a:rPr sz="1000" spc="-5" dirty="0">
                <a:latin typeface="Arial"/>
                <a:cs typeface="Arial"/>
              </a:rPr>
              <a:t>and </a:t>
            </a:r>
            <a:r>
              <a:rPr sz="1000" i="1" spc="5" dirty="0">
                <a:latin typeface="Arial"/>
                <a:cs typeface="Arial"/>
              </a:rPr>
              <a:t>m</a:t>
            </a:r>
            <a:r>
              <a:rPr sz="1050" i="1" spc="7" baseline="-15873" dirty="0">
                <a:latin typeface="Arial"/>
                <a:cs typeface="Arial"/>
              </a:rPr>
              <a:t>2</a:t>
            </a:r>
            <a:r>
              <a:rPr sz="1050" i="1" spc="-150" baseline="-15873" dirty="0">
                <a:latin typeface="Arial"/>
                <a:cs typeface="Arial"/>
              </a:rPr>
              <a:t> </a:t>
            </a:r>
            <a:r>
              <a:rPr sz="1000" spc="-5" dirty="0">
                <a:latin typeface="Arial"/>
                <a:cs typeface="Arial"/>
              </a:rPr>
              <a:t>, </a:t>
            </a:r>
            <a:r>
              <a:rPr sz="1000" i="1" spc="-5" dirty="0">
                <a:latin typeface="Arial"/>
                <a:cs typeface="Arial"/>
              </a:rPr>
              <a:t>Q</a:t>
            </a:r>
            <a:r>
              <a:rPr sz="1000" i="1" spc="50" dirty="0">
                <a:latin typeface="Arial"/>
                <a:cs typeface="Arial"/>
              </a:rPr>
              <a:t> </a:t>
            </a:r>
            <a:r>
              <a:rPr sz="1000" spc="-5" dirty="0">
                <a:latin typeface="Arial"/>
                <a:cs typeface="Arial"/>
              </a:rPr>
              <a:t>sends message</a:t>
            </a:r>
            <a:r>
              <a:rPr sz="1000" dirty="0">
                <a:latin typeface="Arial"/>
                <a:cs typeface="Arial"/>
              </a:rPr>
              <a:t> </a:t>
            </a:r>
            <a:r>
              <a:rPr sz="1000" i="1" spc="5" dirty="0">
                <a:latin typeface="Arial"/>
                <a:cs typeface="Arial"/>
              </a:rPr>
              <a:t>m</a:t>
            </a:r>
            <a:r>
              <a:rPr sz="1050" i="1" spc="7" baseline="-15873" dirty="0">
                <a:latin typeface="Arial"/>
                <a:cs typeface="Arial"/>
              </a:rPr>
              <a:t>3</a:t>
            </a:r>
            <a:r>
              <a:rPr sz="1050" i="1" spc="254" baseline="-15873"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process </a:t>
            </a:r>
            <a:r>
              <a:rPr sz="1000" i="1" spc="-5" dirty="0">
                <a:latin typeface="Arial"/>
                <a:cs typeface="Arial"/>
              </a:rPr>
              <a:t>R</a:t>
            </a:r>
            <a:endParaRPr sz="1000">
              <a:latin typeface="Arial"/>
              <a:cs typeface="Arial"/>
            </a:endParaRPr>
          </a:p>
          <a:p>
            <a:pPr marL="205740" marR="393065" indent="-168275">
              <a:lnSpc>
                <a:spcPts val="1200"/>
              </a:lnSpc>
              <a:spcBef>
                <a:spcPts val="40"/>
              </a:spcBef>
              <a:buClr>
                <a:srgbClr val="3333B2"/>
              </a:buClr>
              <a:buChar char="►"/>
              <a:tabLst>
                <a:tab pos="206375" algn="l"/>
              </a:tabLst>
            </a:pPr>
            <a:r>
              <a:rPr sz="1000" spc="-5" dirty="0">
                <a:latin typeface="Arial"/>
                <a:cs typeface="Arial"/>
              </a:rPr>
              <a:t>Process </a:t>
            </a:r>
            <a:r>
              <a:rPr sz="1000" i="1" spc="-5" dirty="0">
                <a:latin typeface="Arial"/>
                <a:cs typeface="Arial"/>
              </a:rPr>
              <a:t>R</a:t>
            </a:r>
            <a:r>
              <a:rPr sz="1000" i="1" spc="45" dirty="0">
                <a:latin typeface="Arial"/>
                <a:cs typeface="Arial"/>
              </a:rPr>
              <a:t> </a:t>
            </a:r>
            <a:r>
              <a:rPr sz="1000" spc="-5" dirty="0">
                <a:latin typeface="Arial"/>
                <a:cs typeface="Arial"/>
              </a:rPr>
              <a:t>receives and subsequently delivers </a:t>
            </a:r>
            <a:r>
              <a:rPr sz="1000" i="1" spc="5" dirty="0">
                <a:latin typeface="Arial"/>
                <a:cs typeface="Arial"/>
              </a:rPr>
              <a:t>m</a:t>
            </a:r>
            <a:r>
              <a:rPr sz="1050" i="1" spc="7" baseline="-15873" dirty="0">
                <a:latin typeface="Arial"/>
                <a:cs typeface="Arial"/>
              </a:rPr>
              <a:t>3</a:t>
            </a:r>
            <a:r>
              <a:rPr sz="1050" i="1" spc="-157" baseline="-15873" dirty="0">
                <a:latin typeface="Arial"/>
                <a:cs typeface="Arial"/>
              </a:rPr>
              <a:t> </a:t>
            </a:r>
            <a:r>
              <a:rPr sz="1000" spc="-5" dirty="0">
                <a:latin typeface="Arial"/>
                <a:cs typeface="Arial"/>
              </a:rPr>
              <a:t>:</a:t>
            </a:r>
            <a:r>
              <a:rPr sz="1000" spc="60" dirty="0">
                <a:latin typeface="Arial"/>
                <a:cs typeface="Arial"/>
              </a:rPr>
              <a:t> </a:t>
            </a:r>
            <a:r>
              <a:rPr sz="1000" spc="-5" dirty="0">
                <a:latin typeface="Arial"/>
                <a:cs typeface="Arial"/>
              </a:rPr>
              <a:t>it is an </a:t>
            </a:r>
            <a:r>
              <a:rPr sz="1000" spc="-265" dirty="0">
                <a:latin typeface="Arial"/>
                <a:cs typeface="Arial"/>
              </a:rPr>
              <a:t> </a:t>
            </a:r>
            <a:r>
              <a:rPr sz="1000" dirty="0">
                <a:latin typeface="Arial"/>
                <a:cs typeface="Arial"/>
              </a:rPr>
              <a:t>orphan.</a:t>
            </a:r>
            <a:endParaRPr sz="1000">
              <a:latin typeface="Arial"/>
              <a:cs typeface="Arial"/>
            </a:endParaRPr>
          </a:p>
          <a:p>
            <a:pPr>
              <a:lnSpc>
                <a:spcPct val="100000"/>
              </a:lnSpc>
              <a:spcBef>
                <a:spcPts val="50"/>
              </a:spcBef>
            </a:pPr>
            <a:endParaRPr sz="1200">
              <a:latin typeface="Arial"/>
              <a:cs typeface="Arial"/>
            </a:endParaRPr>
          </a:p>
          <a:p>
            <a:pPr marL="974725">
              <a:lnSpc>
                <a:spcPct val="100000"/>
              </a:lnSpc>
              <a:spcBef>
                <a:spcPts val="5"/>
              </a:spcBef>
            </a:pPr>
            <a:r>
              <a:rPr sz="800" dirty="0">
                <a:solidFill>
                  <a:srgbClr val="231F20"/>
                </a:solidFill>
                <a:latin typeface="Arial"/>
                <a:cs typeface="Arial"/>
              </a:rPr>
              <a:t>Q</a:t>
            </a:r>
            <a:r>
              <a:rPr sz="800" spc="-15" dirty="0">
                <a:solidFill>
                  <a:srgbClr val="231F20"/>
                </a:solidFill>
                <a:latin typeface="Arial"/>
                <a:cs typeface="Arial"/>
              </a:rPr>
              <a:t> </a:t>
            </a:r>
            <a:r>
              <a:rPr sz="800" spc="-5" dirty="0">
                <a:solidFill>
                  <a:srgbClr val="231F20"/>
                </a:solidFill>
                <a:latin typeface="Arial"/>
                <a:cs typeface="Arial"/>
              </a:rPr>
              <a:t>crashes</a:t>
            </a:r>
            <a:r>
              <a:rPr sz="800" spc="-10" dirty="0">
                <a:solidFill>
                  <a:srgbClr val="231F20"/>
                </a:solidFill>
                <a:latin typeface="Arial"/>
                <a:cs typeface="Arial"/>
              </a:rPr>
              <a:t> </a:t>
            </a:r>
            <a:r>
              <a:rPr sz="800" spc="-5" dirty="0">
                <a:solidFill>
                  <a:srgbClr val="231F20"/>
                </a:solidFill>
                <a:latin typeface="Arial"/>
                <a:cs typeface="Arial"/>
              </a:rPr>
              <a:t>and</a:t>
            </a:r>
            <a:r>
              <a:rPr sz="800" spc="-15" dirty="0">
                <a:solidFill>
                  <a:srgbClr val="231F20"/>
                </a:solidFill>
                <a:latin typeface="Arial"/>
                <a:cs typeface="Arial"/>
              </a:rPr>
              <a:t> </a:t>
            </a:r>
            <a:r>
              <a:rPr sz="800" dirty="0">
                <a:solidFill>
                  <a:srgbClr val="231F20"/>
                </a:solidFill>
                <a:latin typeface="Arial"/>
                <a:cs typeface="Arial"/>
              </a:rPr>
              <a:t>recovers</a:t>
            </a:r>
            <a:endParaRPr sz="800">
              <a:latin typeface="Arial"/>
              <a:cs typeface="Arial"/>
            </a:endParaRPr>
          </a:p>
        </p:txBody>
      </p:sp>
      <p:sp>
        <p:nvSpPr>
          <p:cNvPr id="26" name="object 26"/>
          <p:cNvSpPr txBox="1"/>
          <p:nvPr/>
        </p:nvSpPr>
        <p:spPr>
          <a:xfrm>
            <a:off x="420102" y="2237536"/>
            <a:ext cx="104775"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Q</a:t>
            </a:r>
            <a:endParaRPr sz="800">
              <a:latin typeface="Arial"/>
              <a:cs typeface="Arial"/>
            </a:endParaRPr>
          </a:p>
        </p:txBody>
      </p:sp>
      <p:sp>
        <p:nvSpPr>
          <p:cNvPr id="27" name="object 27"/>
          <p:cNvSpPr txBox="1"/>
          <p:nvPr/>
        </p:nvSpPr>
        <p:spPr>
          <a:xfrm>
            <a:off x="421714" y="2525538"/>
            <a:ext cx="99060"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R</a:t>
            </a:r>
            <a:endParaRPr sz="800">
              <a:latin typeface="Arial"/>
              <a:cs typeface="Arial"/>
            </a:endParaRPr>
          </a:p>
        </p:txBody>
      </p:sp>
      <p:sp>
        <p:nvSpPr>
          <p:cNvPr id="28" name="object 28"/>
          <p:cNvSpPr/>
          <p:nvPr/>
        </p:nvSpPr>
        <p:spPr>
          <a:xfrm>
            <a:off x="1622419" y="1991837"/>
            <a:ext cx="720090" cy="324485"/>
          </a:xfrm>
          <a:custGeom>
            <a:avLst/>
            <a:gdLst/>
            <a:ahLst/>
            <a:cxnLst/>
            <a:rect l="l" t="t" r="r" b="b"/>
            <a:pathLst>
              <a:path w="720089" h="324485">
                <a:moveTo>
                  <a:pt x="107993" y="0"/>
                </a:moveTo>
                <a:lnTo>
                  <a:pt x="0" y="323998"/>
                </a:lnTo>
              </a:path>
              <a:path w="720089" h="324485">
                <a:moveTo>
                  <a:pt x="576000" y="0"/>
                </a:moveTo>
                <a:lnTo>
                  <a:pt x="719980" y="323998"/>
                </a:lnTo>
              </a:path>
            </a:pathLst>
          </a:custGeom>
          <a:ln w="6350">
            <a:solidFill>
              <a:srgbClr val="231F20"/>
            </a:solidFill>
          </a:ln>
        </p:spPr>
        <p:txBody>
          <a:bodyPr wrap="square" lIns="0" tIns="0" rIns="0" bIns="0" rtlCol="0"/>
          <a:lstStyle/>
          <a:p>
            <a:endParaRPr/>
          </a:p>
        </p:txBody>
      </p:sp>
      <p:sp>
        <p:nvSpPr>
          <p:cNvPr id="29" name="object 29"/>
          <p:cNvSpPr txBox="1"/>
          <p:nvPr/>
        </p:nvSpPr>
        <p:spPr>
          <a:xfrm>
            <a:off x="817707" y="2058772"/>
            <a:ext cx="16700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m1</a:t>
            </a:r>
            <a:endParaRPr sz="800">
              <a:latin typeface="Arial"/>
              <a:cs typeface="Arial"/>
            </a:endParaRPr>
          </a:p>
        </p:txBody>
      </p:sp>
      <p:sp>
        <p:nvSpPr>
          <p:cNvPr id="30" name="object 30"/>
          <p:cNvSpPr txBox="1"/>
          <p:nvPr/>
        </p:nvSpPr>
        <p:spPr>
          <a:xfrm>
            <a:off x="853713" y="2418773"/>
            <a:ext cx="16700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m2</a:t>
            </a:r>
            <a:endParaRPr sz="800">
              <a:latin typeface="Arial"/>
              <a:cs typeface="Arial"/>
            </a:endParaRPr>
          </a:p>
        </p:txBody>
      </p:sp>
      <p:sp>
        <p:nvSpPr>
          <p:cNvPr id="31" name="object 31"/>
          <p:cNvSpPr txBox="1"/>
          <p:nvPr/>
        </p:nvSpPr>
        <p:spPr>
          <a:xfrm>
            <a:off x="2833707" y="2382771"/>
            <a:ext cx="16700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m2</a:t>
            </a:r>
            <a:endParaRPr sz="800">
              <a:latin typeface="Arial"/>
              <a:cs typeface="Arial"/>
            </a:endParaRPr>
          </a:p>
        </p:txBody>
      </p:sp>
      <p:sp>
        <p:nvSpPr>
          <p:cNvPr id="32" name="object 32"/>
          <p:cNvSpPr txBox="1"/>
          <p:nvPr/>
        </p:nvSpPr>
        <p:spPr>
          <a:xfrm>
            <a:off x="3373705" y="2382771"/>
            <a:ext cx="16700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m3</a:t>
            </a:r>
            <a:endParaRPr sz="800">
              <a:latin typeface="Arial"/>
              <a:cs typeface="Arial"/>
            </a:endParaRPr>
          </a:p>
        </p:txBody>
      </p:sp>
      <p:sp>
        <p:nvSpPr>
          <p:cNvPr id="33" name="object 33"/>
          <p:cNvSpPr txBox="1"/>
          <p:nvPr/>
        </p:nvSpPr>
        <p:spPr>
          <a:xfrm>
            <a:off x="1321708" y="2346775"/>
            <a:ext cx="16700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m3</a:t>
            </a:r>
            <a:endParaRPr sz="800">
              <a:latin typeface="Arial"/>
              <a:cs typeface="Arial"/>
            </a:endParaRPr>
          </a:p>
        </p:txBody>
      </p:sp>
      <p:sp>
        <p:nvSpPr>
          <p:cNvPr id="34" name="object 34"/>
          <p:cNvSpPr txBox="1"/>
          <p:nvPr/>
        </p:nvSpPr>
        <p:spPr>
          <a:xfrm>
            <a:off x="2797702" y="2058773"/>
            <a:ext cx="167005" cy="147320"/>
          </a:xfrm>
          <a:prstGeom prst="rect">
            <a:avLst/>
          </a:prstGeom>
        </p:spPr>
        <p:txBody>
          <a:bodyPr vert="horz" wrap="square" lIns="0" tIns="12700" rIns="0" bIns="0" rtlCol="0">
            <a:spAutoFit/>
          </a:bodyPr>
          <a:lstStyle/>
          <a:p>
            <a:pPr marL="12700">
              <a:lnSpc>
                <a:spcPct val="100000"/>
              </a:lnSpc>
              <a:spcBef>
                <a:spcPts val="100"/>
              </a:spcBef>
            </a:pPr>
            <a:r>
              <a:rPr sz="800" spc="-5" dirty="0">
                <a:solidFill>
                  <a:srgbClr val="231F20"/>
                </a:solidFill>
                <a:latin typeface="Arial"/>
                <a:cs typeface="Arial"/>
              </a:rPr>
              <a:t>m1</a:t>
            </a:r>
            <a:endParaRPr sz="800">
              <a:latin typeface="Arial"/>
              <a:cs typeface="Arial"/>
            </a:endParaRPr>
          </a:p>
        </p:txBody>
      </p:sp>
      <p:sp>
        <p:nvSpPr>
          <p:cNvPr id="35" name="object 35"/>
          <p:cNvSpPr/>
          <p:nvPr/>
        </p:nvSpPr>
        <p:spPr>
          <a:xfrm>
            <a:off x="3026549" y="2281075"/>
            <a:ext cx="653415" cy="396240"/>
          </a:xfrm>
          <a:custGeom>
            <a:avLst/>
            <a:gdLst/>
            <a:ahLst/>
            <a:cxnLst/>
            <a:rect l="l" t="t" r="r" b="b"/>
            <a:pathLst>
              <a:path w="653414" h="396239">
                <a:moveTo>
                  <a:pt x="467855" y="0"/>
                </a:moveTo>
                <a:lnTo>
                  <a:pt x="254000" y="170562"/>
                </a:lnTo>
              </a:path>
              <a:path w="653414" h="396239">
                <a:moveTo>
                  <a:pt x="647865" y="0"/>
                </a:moveTo>
                <a:lnTo>
                  <a:pt x="653217" y="60727"/>
                </a:lnTo>
                <a:lnTo>
                  <a:pt x="651695" y="116829"/>
                </a:lnTo>
                <a:lnTo>
                  <a:pt x="643923" y="168183"/>
                </a:lnTo>
                <a:lnTo>
                  <a:pt x="630527" y="214661"/>
                </a:lnTo>
                <a:lnTo>
                  <a:pt x="612131" y="256140"/>
                </a:lnTo>
                <a:lnTo>
                  <a:pt x="589360" y="292495"/>
                </a:lnTo>
                <a:lnTo>
                  <a:pt x="562840" y="323599"/>
                </a:lnTo>
                <a:lnTo>
                  <a:pt x="533194" y="349329"/>
                </a:lnTo>
                <a:lnTo>
                  <a:pt x="467027" y="384163"/>
                </a:lnTo>
                <a:lnTo>
                  <a:pt x="395859" y="395997"/>
                </a:lnTo>
                <a:lnTo>
                  <a:pt x="273259" y="368709"/>
                </a:lnTo>
                <a:lnTo>
                  <a:pt x="143932" y="308677"/>
                </a:lnTo>
                <a:lnTo>
                  <a:pt x="41604" y="248644"/>
                </a:lnTo>
                <a:lnTo>
                  <a:pt x="0" y="221357"/>
                </a:lnTo>
              </a:path>
            </a:pathLst>
          </a:custGeom>
          <a:ln w="6350">
            <a:solidFill>
              <a:srgbClr val="231F20"/>
            </a:solidFill>
          </a:ln>
        </p:spPr>
        <p:txBody>
          <a:bodyPr wrap="square" lIns="0" tIns="0" rIns="0" bIns="0" rtlCol="0"/>
          <a:lstStyle/>
          <a:p>
            <a:endParaRPr/>
          </a:p>
        </p:txBody>
      </p:sp>
      <p:sp>
        <p:nvSpPr>
          <p:cNvPr id="36" name="object 36"/>
          <p:cNvSpPr txBox="1"/>
          <p:nvPr/>
        </p:nvSpPr>
        <p:spPr>
          <a:xfrm>
            <a:off x="3193707" y="2022772"/>
            <a:ext cx="996950" cy="260985"/>
          </a:xfrm>
          <a:prstGeom prst="rect">
            <a:avLst/>
          </a:prstGeom>
        </p:spPr>
        <p:txBody>
          <a:bodyPr vert="horz" wrap="square" lIns="0" tIns="23495" rIns="0" bIns="0" rtlCol="0">
            <a:spAutoFit/>
          </a:bodyPr>
          <a:lstStyle/>
          <a:p>
            <a:pPr marL="12700" marR="5080">
              <a:lnSpc>
                <a:spcPts val="890"/>
              </a:lnSpc>
              <a:spcBef>
                <a:spcPts val="185"/>
              </a:spcBef>
            </a:pPr>
            <a:r>
              <a:rPr sz="800" spc="-5" dirty="0">
                <a:solidFill>
                  <a:srgbClr val="231F20"/>
                </a:solidFill>
                <a:latin typeface="Arial"/>
                <a:cs typeface="Arial"/>
              </a:rPr>
              <a:t>m2 is never replayed, </a:t>
            </a:r>
            <a:r>
              <a:rPr sz="800" spc="-210" dirty="0">
                <a:solidFill>
                  <a:srgbClr val="231F20"/>
                </a:solidFill>
                <a:latin typeface="Arial"/>
                <a:cs typeface="Arial"/>
              </a:rPr>
              <a:t> </a:t>
            </a:r>
            <a:r>
              <a:rPr sz="800" spc="-5" dirty="0">
                <a:solidFill>
                  <a:srgbClr val="231F20"/>
                </a:solidFill>
                <a:latin typeface="Arial"/>
                <a:cs typeface="Arial"/>
              </a:rPr>
              <a:t>so neither will</a:t>
            </a:r>
            <a:r>
              <a:rPr sz="800" dirty="0">
                <a:solidFill>
                  <a:srgbClr val="231F20"/>
                </a:solidFill>
                <a:latin typeface="Arial"/>
                <a:cs typeface="Arial"/>
              </a:rPr>
              <a:t> </a:t>
            </a:r>
            <a:r>
              <a:rPr sz="800" spc="-5" dirty="0">
                <a:solidFill>
                  <a:srgbClr val="231F20"/>
                </a:solidFill>
                <a:latin typeface="Arial"/>
                <a:cs typeface="Arial"/>
              </a:rPr>
              <a:t>m3</a:t>
            </a:r>
            <a:endParaRPr sz="800">
              <a:latin typeface="Arial"/>
              <a:cs typeface="Arial"/>
            </a:endParaRPr>
          </a:p>
        </p:txBody>
      </p:sp>
      <p:grpSp>
        <p:nvGrpSpPr>
          <p:cNvPr id="37" name="object 37"/>
          <p:cNvGrpSpPr/>
          <p:nvPr/>
        </p:nvGrpSpPr>
        <p:grpSpPr>
          <a:xfrm>
            <a:off x="3421862" y="2745478"/>
            <a:ext cx="207645" cy="76835"/>
            <a:chOff x="3421862" y="2745478"/>
            <a:chExt cx="207645" cy="76835"/>
          </a:xfrm>
        </p:grpSpPr>
        <p:sp>
          <p:nvSpPr>
            <p:cNvPr id="38" name="object 38"/>
            <p:cNvSpPr/>
            <p:nvPr/>
          </p:nvSpPr>
          <p:spPr>
            <a:xfrm>
              <a:off x="3421862" y="2783886"/>
              <a:ext cx="162560" cy="0"/>
            </a:xfrm>
            <a:custGeom>
              <a:avLst/>
              <a:gdLst/>
              <a:ahLst/>
              <a:cxnLst/>
              <a:rect l="l" t="t" r="r" b="b"/>
              <a:pathLst>
                <a:path w="162560">
                  <a:moveTo>
                    <a:pt x="0" y="0"/>
                  </a:moveTo>
                  <a:lnTo>
                    <a:pt x="162471" y="0"/>
                  </a:lnTo>
                </a:path>
              </a:pathLst>
            </a:custGeom>
            <a:ln w="6350">
              <a:solidFill>
                <a:srgbClr val="231F20"/>
              </a:solidFill>
            </a:ln>
          </p:spPr>
          <p:txBody>
            <a:bodyPr wrap="square" lIns="0" tIns="0" rIns="0" bIns="0" rtlCol="0"/>
            <a:lstStyle/>
            <a:p>
              <a:endParaRPr/>
            </a:p>
          </p:txBody>
        </p:sp>
        <p:sp>
          <p:nvSpPr>
            <p:cNvPr id="39" name="object 39"/>
            <p:cNvSpPr/>
            <p:nvPr/>
          </p:nvSpPr>
          <p:spPr>
            <a:xfrm>
              <a:off x="3539769" y="2745478"/>
              <a:ext cx="90170" cy="76835"/>
            </a:xfrm>
            <a:custGeom>
              <a:avLst/>
              <a:gdLst/>
              <a:ahLst/>
              <a:cxnLst/>
              <a:rect l="l" t="t" r="r" b="b"/>
              <a:pathLst>
                <a:path w="90170" h="76835">
                  <a:moveTo>
                    <a:pt x="0" y="0"/>
                  </a:moveTo>
                  <a:lnTo>
                    <a:pt x="7200" y="19205"/>
                  </a:lnTo>
                  <a:lnTo>
                    <a:pt x="9601" y="38408"/>
                  </a:lnTo>
                  <a:lnTo>
                    <a:pt x="7200" y="57610"/>
                  </a:lnTo>
                  <a:lnTo>
                    <a:pt x="0" y="76810"/>
                  </a:lnTo>
                  <a:lnTo>
                    <a:pt x="89611" y="38407"/>
                  </a:lnTo>
                  <a:lnTo>
                    <a:pt x="0" y="0"/>
                  </a:lnTo>
                  <a:close/>
                </a:path>
              </a:pathLst>
            </a:custGeom>
            <a:solidFill>
              <a:srgbClr val="231F20"/>
            </a:solidFill>
          </p:spPr>
          <p:txBody>
            <a:bodyPr wrap="square" lIns="0" tIns="0" rIns="0" bIns="0" rtlCol="0"/>
            <a:lstStyle/>
            <a:p>
              <a:endParaRPr/>
            </a:p>
          </p:txBody>
        </p:sp>
      </p:grpSp>
      <p:grpSp>
        <p:nvGrpSpPr>
          <p:cNvPr id="40" name="object 40"/>
          <p:cNvGrpSpPr/>
          <p:nvPr/>
        </p:nvGrpSpPr>
        <p:grpSpPr>
          <a:xfrm>
            <a:off x="472890" y="2899701"/>
            <a:ext cx="239395" cy="64135"/>
            <a:chOff x="472890" y="2899701"/>
            <a:chExt cx="239395" cy="64135"/>
          </a:xfrm>
        </p:grpSpPr>
        <p:sp>
          <p:nvSpPr>
            <p:cNvPr id="41" name="object 41"/>
            <p:cNvSpPr/>
            <p:nvPr/>
          </p:nvSpPr>
          <p:spPr>
            <a:xfrm>
              <a:off x="472890" y="2931575"/>
              <a:ext cx="201930" cy="0"/>
            </a:xfrm>
            <a:custGeom>
              <a:avLst/>
              <a:gdLst/>
              <a:ahLst/>
              <a:cxnLst/>
              <a:rect l="l" t="t" r="r" b="b"/>
              <a:pathLst>
                <a:path w="201929">
                  <a:moveTo>
                    <a:pt x="0" y="0"/>
                  </a:moveTo>
                  <a:lnTo>
                    <a:pt x="201662" y="0"/>
                  </a:lnTo>
                </a:path>
              </a:pathLst>
            </a:custGeom>
            <a:ln w="5270">
              <a:solidFill>
                <a:srgbClr val="231F20"/>
              </a:solidFill>
            </a:ln>
          </p:spPr>
          <p:txBody>
            <a:bodyPr wrap="square" lIns="0" tIns="0" rIns="0" bIns="0" rtlCol="0"/>
            <a:lstStyle/>
            <a:p>
              <a:endParaRPr/>
            </a:p>
          </p:txBody>
        </p:sp>
        <p:sp>
          <p:nvSpPr>
            <p:cNvPr id="42" name="object 42"/>
            <p:cNvSpPr/>
            <p:nvPr/>
          </p:nvSpPr>
          <p:spPr>
            <a:xfrm>
              <a:off x="637556" y="2899701"/>
              <a:ext cx="74930" cy="64135"/>
            </a:xfrm>
            <a:custGeom>
              <a:avLst/>
              <a:gdLst/>
              <a:ahLst/>
              <a:cxnLst/>
              <a:rect l="l" t="t" r="r" b="b"/>
              <a:pathLst>
                <a:path w="74929" h="64135">
                  <a:moveTo>
                    <a:pt x="0" y="0"/>
                  </a:moveTo>
                  <a:lnTo>
                    <a:pt x="5975" y="15935"/>
                  </a:lnTo>
                  <a:lnTo>
                    <a:pt x="7967" y="31872"/>
                  </a:lnTo>
                  <a:lnTo>
                    <a:pt x="5975" y="47809"/>
                  </a:lnTo>
                  <a:lnTo>
                    <a:pt x="0" y="63747"/>
                  </a:lnTo>
                  <a:lnTo>
                    <a:pt x="74372" y="31873"/>
                  </a:lnTo>
                  <a:lnTo>
                    <a:pt x="0" y="0"/>
                  </a:lnTo>
                  <a:close/>
                </a:path>
              </a:pathLst>
            </a:custGeom>
            <a:solidFill>
              <a:srgbClr val="231F20"/>
            </a:solidFill>
          </p:spPr>
          <p:txBody>
            <a:bodyPr wrap="square" lIns="0" tIns="0" rIns="0" bIns="0" rtlCol="0"/>
            <a:lstStyle/>
            <a:p>
              <a:endParaRPr/>
            </a:p>
          </p:txBody>
        </p:sp>
      </p:grpSp>
      <p:pic>
        <p:nvPicPr>
          <p:cNvPr id="43" name="object 43"/>
          <p:cNvPicPr/>
          <p:nvPr/>
        </p:nvPicPr>
        <p:blipFill>
          <a:blip r:embed="rId16" cstate="print"/>
          <a:stretch>
            <a:fillRect/>
          </a:stretch>
        </p:blipFill>
        <p:spPr>
          <a:xfrm>
            <a:off x="441551" y="3019218"/>
            <a:ext cx="270376" cy="63748"/>
          </a:xfrm>
          <a:prstGeom prst="rect">
            <a:avLst/>
          </a:prstGeom>
        </p:spPr>
      </p:pic>
      <p:sp>
        <p:nvSpPr>
          <p:cNvPr id="44" name="object 44"/>
          <p:cNvSpPr txBox="1"/>
          <p:nvPr/>
        </p:nvSpPr>
        <p:spPr>
          <a:xfrm>
            <a:off x="818752" y="2846100"/>
            <a:ext cx="752475" cy="264795"/>
          </a:xfrm>
          <a:prstGeom prst="rect">
            <a:avLst/>
          </a:prstGeom>
        </p:spPr>
        <p:txBody>
          <a:bodyPr vert="horz" wrap="square" lIns="0" tIns="12065" rIns="0" bIns="0" rtlCol="0">
            <a:spAutoFit/>
          </a:bodyPr>
          <a:lstStyle/>
          <a:p>
            <a:pPr marL="12700" marR="5080">
              <a:lnSpc>
                <a:spcPct val="120700"/>
              </a:lnSpc>
              <a:spcBef>
                <a:spcPts val="95"/>
              </a:spcBef>
            </a:pPr>
            <a:r>
              <a:rPr sz="650" spc="5" dirty="0">
                <a:solidFill>
                  <a:srgbClr val="231F20"/>
                </a:solidFill>
                <a:latin typeface="Arial"/>
                <a:cs typeface="Arial"/>
              </a:rPr>
              <a:t>Unlogged message  Logged</a:t>
            </a:r>
            <a:r>
              <a:rPr sz="650" spc="-15" dirty="0">
                <a:solidFill>
                  <a:srgbClr val="231F20"/>
                </a:solidFill>
                <a:latin typeface="Arial"/>
                <a:cs typeface="Arial"/>
              </a:rPr>
              <a:t> </a:t>
            </a:r>
            <a:r>
              <a:rPr sz="650" spc="5" dirty="0">
                <a:solidFill>
                  <a:srgbClr val="231F20"/>
                </a:solidFill>
                <a:latin typeface="Arial"/>
                <a:cs typeface="Arial"/>
              </a:rPr>
              <a:t>message</a:t>
            </a:r>
            <a:endParaRPr sz="650">
              <a:latin typeface="Arial"/>
              <a:cs typeface="Arial"/>
            </a:endParaRPr>
          </a:p>
        </p:txBody>
      </p:sp>
      <p:sp>
        <p:nvSpPr>
          <p:cNvPr id="45" name="object 4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65</a:t>
            </a:r>
            <a:r>
              <a:rPr spc="-40" dirty="0"/>
              <a:t> </a:t>
            </a:r>
            <a:r>
              <a:rPr spc="-5" dirty="0"/>
              <a:t>/</a:t>
            </a:r>
            <a:r>
              <a:rPr spc="-35" dirty="0"/>
              <a:t> </a:t>
            </a:r>
            <a:r>
              <a:rPr spc="-5" dirty="0"/>
              <a:t>68</a:t>
            </a:r>
          </a:p>
        </p:txBody>
      </p:sp>
    </p:spTree>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66</a:t>
            </a:r>
            <a:r>
              <a:rPr spc="-40" dirty="0"/>
              <a:t> </a:t>
            </a:r>
            <a:r>
              <a:rPr spc="-5" dirty="0"/>
              <a:t>/</a:t>
            </a:r>
            <a:r>
              <a:rPr spc="-35" dirty="0"/>
              <a:t> </a:t>
            </a:r>
            <a:r>
              <a:rPr spc="-5" dirty="0"/>
              <a:t>68</a:t>
            </a:r>
          </a:p>
        </p:txBody>
      </p:sp>
      <p:sp>
        <p:nvSpPr>
          <p:cNvPr id="2" name="object 2"/>
          <p:cNvSpPr txBox="1"/>
          <p:nvPr/>
        </p:nvSpPr>
        <p:spPr>
          <a:xfrm>
            <a:off x="66713" y="716"/>
            <a:ext cx="9036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Recovery</a:t>
            </a:r>
            <a:endParaRPr sz="600">
              <a:latin typeface="Arial"/>
              <a:cs typeface="Arial"/>
            </a:endParaRPr>
          </a:p>
        </p:txBody>
      </p:sp>
      <p:sp>
        <p:nvSpPr>
          <p:cNvPr id="3" name="object 3"/>
          <p:cNvSpPr txBox="1"/>
          <p:nvPr/>
        </p:nvSpPr>
        <p:spPr>
          <a:xfrm>
            <a:off x="3942054" y="716"/>
            <a:ext cx="5994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Message</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logging</a:t>
            </a:r>
            <a:endParaRPr sz="600">
              <a:latin typeface="Arial"/>
              <a:cs typeface="Arial"/>
            </a:endParaRPr>
          </a:p>
        </p:txBody>
      </p:sp>
      <p:sp>
        <p:nvSpPr>
          <p:cNvPr id="4" name="object 4"/>
          <p:cNvSpPr txBox="1"/>
          <p:nvPr/>
        </p:nvSpPr>
        <p:spPr>
          <a:xfrm>
            <a:off x="69900" y="188846"/>
            <a:ext cx="4219575" cy="2559685"/>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Message-logging</a:t>
            </a:r>
            <a:r>
              <a:rPr sz="1400" spc="-10" dirty="0">
                <a:solidFill>
                  <a:srgbClr val="3333B2"/>
                </a:solidFill>
                <a:latin typeface="Arial"/>
                <a:cs typeface="Arial"/>
              </a:rPr>
              <a:t> </a:t>
            </a:r>
            <a:r>
              <a:rPr sz="1400" spc="15" dirty="0">
                <a:solidFill>
                  <a:srgbClr val="3333B2"/>
                </a:solidFill>
                <a:latin typeface="Arial"/>
                <a:cs typeface="Arial"/>
              </a:rPr>
              <a:t>schemes</a:t>
            </a:r>
            <a:endParaRPr sz="1400">
              <a:latin typeface="Arial"/>
              <a:cs typeface="Arial"/>
            </a:endParaRPr>
          </a:p>
          <a:p>
            <a:pPr>
              <a:lnSpc>
                <a:spcPct val="100000"/>
              </a:lnSpc>
              <a:spcBef>
                <a:spcPts val="20"/>
              </a:spcBef>
            </a:pPr>
            <a:endParaRPr sz="2250">
              <a:latin typeface="Arial"/>
              <a:cs typeface="Arial"/>
            </a:endParaRPr>
          </a:p>
          <a:p>
            <a:pPr marL="289560">
              <a:lnSpc>
                <a:spcPct val="100000"/>
              </a:lnSpc>
            </a:pPr>
            <a:r>
              <a:rPr sz="1200" spc="-5" dirty="0">
                <a:solidFill>
                  <a:srgbClr val="3333B2"/>
                </a:solidFill>
                <a:latin typeface="Arial"/>
                <a:cs typeface="Arial"/>
              </a:rPr>
              <a:t>Notations</a:t>
            </a:r>
            <a:endParaRPr sz="1200">
              <a:latin typeface="Arial"/>
              <a:cs typeface="Arial"/>
            </a:endParaRPr>
          </a:p>
          <a:p>
            <a:pPr marL="567055" marR="55880" indent="-168275">
              <a:lnSpc>
                <a:spcPct val="100000"/>
              </a:lnSpc>
              <a:spcBef>
                <a:spcPts val="540"/>
              </a:spcBef>
              <a:buClr>
                <a:srgbClr val="3333B2"/>
              </a:buClr>
              <a:buFont typeface="Arial"/>
              <a:buChar char="►"/>
              <a:tabLst>
                <a:tab pos="567690" algn="l"/>
              </a:tabLst>
            </a:pPr>
            <a:r>
              <a:rPr sz="1000" b="1" spc="-5" dirty="0">
                <a:latin typeface="Arial"/>
                <a:cs typeface="Arial"/>
              </a:rPr>
              <a:t>DEP</a:t>
            </a:r>
            <a:r>
              <a:rPr sz="1000" spc="-5" dirty="0">
                <a:latin typeface="Arial"/>
                <a:cs typeface="Arial"/>
              </a:rPr>
              <a:t>(</a:t>
            </a:r>
            <a:r>
              <a:rPr sz="1000" i="1" spc="-5" dirty="0">
                <a:latin typeface="Arial"/>
                <a:cs typeface="Arial"/>
              </a:rPr>
              <a:t>m</a:t>
            </a:r>
            <a:r>
              <a:rPr sz="1000" spc="-5" dirty="0">
                <a:latin typeface="Arial"/>
                <a:cs typeface="Arial"/>
              </a:rPr>
              <a:t>):</a:t>
            </a:r>
            <a:r>
              <a:rPr sz="1000" spc="60" dirty="0">
                <a:latin typeface="Arial"/>
                <a:cs typeface="Arial"/>
              </a:rPr>
              <a:t> </a:t>
            </a:r>
            <a:r>
              <a:rPr sz="1000" spc="-5" dirty="0">
                <a:latin typeface="Arial"/>
                <a:cs typeface="Arial"/>
              </a:rPr>
              <a:t>processes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which </a:t>
            </a:r>
            <a:r>
              <a:rPr sz="1000" i="1" spc="-5" dirty="0">
                <a:latin typeface="Arial"/>
                <a:cs typeface="Arial"/>
              </a:rPr>
              <a:t>m</a:t>
            </a:r>
            <a:r>
              <a:rPr sz="1000" i="1" spc="2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been delivered.</a:t>
            </a:r>
            <a:r>
              <a:rPr sz="1000" spc="65" dirty="0">
                <a:latin typeface="Arial"/>
                <a:cs typeface="Arial"/>
              </a:rPr>
              <a:t> </a:t>
            </a:r>
            <a:r>
              <a:rPr sz="1000" spc="-5" dirty="0">
                <a:latin typeface="Arial"/>
                <a:cs typeface="Arial"/>
              </a:rPr>
              <a:t>If</a:t>
            </a:r>
            <a:r>
              <a:rPr sz="1000" dirty="0">
                <a:latin typeface="Arial"/>
                <a:cs typeface="Arial"/>
              </a:rPr>
              <a:t> </a:t>
            </a:r>
            <a:r>
              <a:rPr sz="1000" spc="-5" dirty="0">
                <a:latin typeface="Arial"/>
                <a:cs typeface="Arial"/>
              </a:rPr>
              <a:t>message </a:t>
            </a:r>
            <a:r>
              <a:rPr sz="1000" dirty="0">
                <a:latin typeface="Arial"/>
                <a:cs typeface="Arial"/>
              </a:rPr>
              <a:t> </a:t>
            </a:r>
            <a:r>
              <a:rPr sz="1000" i="1" spc="-30" dirty="0">
                <a:latin typeface="Arial"/>
                <a:cs typeface="Arial"/>
              </a:rPr>
              <a:t>m</a:t>
            </a:r>
            <a:r>
              <a:rPr sz="1050" i="1" spc="-44" baseline="27777" dirty="0">
                <a:latin typeface="メイリオ"/>
                <a:cs typeface="メイリオ"/>
              </a:rPr>
              <a:t>∗</a:t>
            </a:r>
            <a:r>
              <a:rPr sz="1050" i="1" spc="127" baseline="27777" dirty="0">
                <a:latin typeface="メイリオ"/>
                <a:cs typeface="メイリオ"/>
              </a:rPr>
              <a:t> </a:t>
            </a:r>
            <a:r>
              <a:rPr sz="1000" spc="-5" dirty="0">
                <a:latin typeface="Arial"/>
                <a:cs typeface="Arial"/>
              </a:rPr>
              <a:t>is</a:t>
            </a:r>
            <a:r>
              <a:rPr sz="1000" dirty="0">
                <a:latin typeface="Arial"/>
                <a:cs typeface="Arial"/>
              </a:rPr>
              <a:t> </a:t>
            </a:r>
            <a:r>
              <a:rPr sz="1000" spc="-5" dirty="0">
                <a:latin typeface="Arial"/>
                <a:cs typeface="Arial"/>
              </a:rPr>
              <a:t>causally</a:t>
            </a:r>
            <a:r>
              <a:rPr sz="1000" dirty="0">
                <a:latin typeface="Arial"/>
                <a:cs typeface="Arial"/>
              </a:rPr>
              <a:t> </a:t>
            </a:r>
            <a:r>
              <a:rPr sz="1000" spc="-5" dirty="0">
                <a:latin typeface="Arial"/>
                <a:cs typeface="Arial"/>
              </a:rPr>
              <a:t>dependent</a:t>
            </a:r>
            <a:r>
              <a:rPr sz="1000" dirty="0">
                <a:latin typeface="Arial"/>
                <a:cs typeface="Arial"/>
              </a:rPr>
              <a:t> </a:t>
            </a:r>
            <a:r>
              <a:rPr sz="1000" spc="-5" dirty="0">
                <a:latin typeface="Arial"/>
                <a:cs typeface="Arial"/>
              </a:rPr>
              <a:t>on the</a:t>
            </a:r>
            <a:r>
              <a:rPr sz="1000" dirty="0">
                <a:latin typeface="Arial"/>
                <a:cs typeface="Arial"/>
              </a:rPr>
              <a:t> </a:t>
            </a:r>
            <a:r>
              <a:rPr sz="1000" spc="-5" dirty="0">
                <a:latin typeface="Arial"/>
                <a:cs typeface="Arial"/>
              </a:rPr>
              <a:t>delivery</a:t>
            </a:r>
            <a:r>
              <a:rPr sz="1000" dirty="0">
                <a:latin typeface="Arial"/>
                <a:cs typeface="Arial"/>
              </a:rPr>
              <a:t> </a:t>
            </a:r>
            <a:r>
              <a:rPr sz="1000" spc="-5" dirty="0">
                <a:latin typeface="Arial"/>
                <a:cs typeface="Arial"/>
              </a:rPr>
              <a:t>of</a:t>
            </a:r>
            <a:r>
              <a:rPr sz="1000" dirty="0">
                <a:latin typeface="Arial"/>
                <a:cs typeface="Arial"/>
              </a:rPr>
              <a:t> </a:t>
            </a:r>
            <a:r>
              <a:rPr sz="1000" i="1" spc="5" dirty="0">
                <a:latin typeface="Arial"/>
                <a:cs typeface="Arial"/>
              </a:rPr>
              <a:t>m</a:t>
            </a:r>
            <a:r>
              <a:rPr sz="1000" spc="5" dirty="0">
                <a:latin typeface="Arial"/>
                <a:cs typeface="Arial"/>
              </a:rPr>
              <a:t>,</a:t>
            </a:r>
            <a:r>
              <a:rPr sz="1000" spc="-5" dirty="0">
                <a:latin typeface="Arial"/>
                <a:cs typeface="Arial"/>
              </a:rPr>
              <a:t> and</a:t>
            </a:r>
            <a:r>
              <a:rPr sz="1000" dirty="0">
                <a:latin typeface="Arial"/>
                <a:cs typeface="Arial"/>
              </a:rPr>
              <a:t> </a:t>
            </a:r>
            <a:r>
              <a:rPr sz="1000" i="1" spc="-30" dirty="0">
                <a:latin typeface="Arial"/>
                <a:cs typeface="Arial"/>
              </a:rPr>
              <a:t>m</a:t>
            </a:r>
            <a:r>
              <a:rPr sz="1050" i="1" spc="-44" baseline="27777" dirty="0">
                <a:latin typeface="メイリオ"/>
                <a:cs typeface="メイリオ"/>
              </a:rPr>
              <a:t>∗</a:t>
            </a:r>
            <a:r>
              <a:rPr sz="1050" i="1" spc="135" baseline="27777" dirty="0">
                <a:latin typeface="メイリオ"/>
                <a:cs typeface="メイリオ"/>
              </a:rPr>
              <a:t> </a:t>
            </a:r>
            <a:r>
              <a:rPr sz="1000" spc="-5" dirty="0">
                <a:latin typeface="Arial"/>
                <a:cs typeface="Arial"/>
              </a:rPr>
              <a:t>has</a:t>
            </a:r>
            <a:r>
              <a:rPr sz="1000" dirty="0">
                <a:latin typeface="Arial"/>
                <a:cs typeface="Arial"/>
              </a:rPr>
              <a:t> </a:t>
            </a:r>
            <a:r>
              <a:rPr sz="1000" spc="-5" dirty="0">
                <a:latin typeface="Arial"/>
                <a:cs typeface="Arial"/>
              </a:rPr>
              <a:t>been </a:t>
            </a:r>
            <a:r>
              <a:rPr sz="1000" spc="-265" dirty="0">
                <a:latin typeface="Arial"/>
                <a:cs typeface="Arial"/>
              </a:rPr>
              <a:t> </a:t>
            </a:r>
            <a:r>
              <a:rPr sz="1000" spc="-5" dirty="0">
                <a:latin typeface="Arial"/>
                <a:cs typeface="Arial"/>
              </a:rPr>
              <a:t>deli</a:t>
            </a:r>
            <a:r>
              <a:rPr sz="1000" spc="-30" dirty="0">
                <a:latin typeface="Arial"/>
                <a:cs typeface="Arial"/>
              </a:rPr>
              <a:t>v</a:t>
            </a:r>
            <a:r>
              <a:rPr sz="1000" spc="-5" dirty="0">
                <a:latin typeface="Arial"/>
                <a:cs typeface="Arial"/>
              </a:rPr>
              <a:t>ered to </a:t>
            </a:r>
            <a:r>
              <a:rPr sz="1000" i="1" spc="40" dirty="0">
                <a:latin typeface="Arial"/>
                <a:cs typeface="Arial"/>
              </a:rPr>
              <a:t>Q</a:t>
            </a:r>
            <a:r>
              <a:rPr sz="1000" spc="-5" dirty="0">
                <a:latin typeface="Arial"/>
                <a:cs typeface="Arial"/>
              </a:rPr>
              <a:t>, then </a:t>
            </a:r>
            <a:r>
              <a:rPr sz="1000" i="1" spc="-5" dirty="0">
                <a:latin typeface="Arial"/>
                <a:cs typeface="Arial"/>
              </a:rPr>
              <a:t>Q</a:t>
            </a:r>
            <a:r>
              <a:rPr sz="1000" i="1" spc="-10" dirty="0">
                <a:latin typeface="Arial"/>
                <a:cs typeface="Arial"/>
              </a:rPr>
              <a:t> </a:t>
            </a:r>
            <a:r>
              <a:rPr sz="1000" i="1" spc="-145" dirty="0">
                <a:latin typeface="メイリオ"/>
                <a:cs typeface="メイリオ"/>
              </a:rPr>
              <a:t>∈</a:t>
            </a:r>
            <a:r>
              <a:rPr sz="1000" i="1" spc="-120" dirty="0">
                <a:latin typeface="メイリオ"/>
                <a:cs typeface="メイリオ"/>
              </a:rPr>
              <a:t> </a:t>
            </a:r>
            <a:r>
              <a:rPr sz="1000" b="1" spc="-5" dirty="0">
                <a:latin typeface="Arial"/>
                <a:cs typeface="Arial"/>
              </a:rPr>
              <a:t>DEP</a:t>
            </a:r>
            <a:r>
              <a:rPr sz="1000" spc="-10" dirty="0">
                <a:latin typeface="Arial"/>
                <a:cs typeface="Arial"/>
              </a:rPr>
              <a:t>(</a:t>
            </a:r>
            <a:r>
              <a:rPr sz="1000" i="1" spc="10" dirty="0">
                <a:latin typeface="Arial"/>
                <a:cs typeface="Arial"/>
              </a:rPr>
              <a:t>m</a:t>
            </a:r>
            <a:r>
              <a:rPr sz="1000" spc="-5" dirty="0">
                <a:latin typeface="Arial"/>
                <a:cs typeface="Arial"/>
              </a:rPr>
              <a:t>).</a:t>
            </a:r>
            <a:endParaRPr sz="1000">
              <a:latin typeface="Arial"/>
              <a:cs typeface="Arial"/>
            </a:endParaRPr>
          </a:p>
          <a:p>
            <a:pPr marL="567055" marR="156210" indent="-168275">
              <a:lnSpc>
                <a:spcPct val="100000"/>
              </a:lnSpc>
              <a:spcBef>
                <a:spcPts val="585"/>
              </a:spcBef>
              <a:buClr>
                <a:srgbClr val="3333B2"/>
              </a:buClr>
              <a:buFont typeface="Arial"/>
              <a:buChar char="►"/>
              <a:tabLst>
                <a:tab pos="567690" algn="l"/>
              </a:tabLst>
            </a:pPr>
            <a:r>
              <a:rPr sz="1000" b="1" spc="-5" dirty="0">
                <a:latin typeface="Arial"/>
                <a:cs typeface="Arial"/>
              </a:rPr>
              <a:t>COPY</a:t>
            </a:r>
            <a:r>
              <a:rPr sz="1000" spc="-5" dirty="0">
                <a:latin typeface="Arial"/>
                <a:cs typeface="Arial"/>
              </a:rPr>
              <a:t>(</a:t>
            </a:r>
            <a:r>
              <a:rPr sz="1000" i="1" spc="-5" dirty="0">
                <a:latin typeface="Arial"/>
                <a:cs typeface="Arial"/>
              </a:rPr>
              <a:t>m</a:t>
            </a:r>
            <a:r>
              <a:rPr sz="1000" spc="-5" dirty="0">
                <a:latin typeface="Arial"/>
                <a:cs typeface="Arial"/>
              </a:rPr>
              <a:t>):</a:t>
            </a:r>
            <a:r>
              <a:rPr sz="1000" spc="60" dirty="0">
                <a:latin typeface="Arial"/>
                <a:cs typeface="Arial"/>
              </a:rPr>
              <a:t> </a:t>
            </a:r>
            <a:r>
              <a:rPr sz="1000" spc="-5" dirty="0">
                <a:latin typeface="Arial"/>
                <a:cs typeface="Arial"/>
              </a:rPr>
              <a:t>processes</a:t>
            </a:r>
            <a:r>
              <a:rPr sz="1000" dirty="0">
                <a:latin typeface="Arial"/>
                <a:cs typeface="Arial"/>
              </a:rPr>
              <a:t> </a:t>
            </a:r>
            <a:r>
              <a:rPr sz="1000" spc="-5" dirty="0">
                <a:latin typeface="Arial"/>
                <a:cs typeface="Arial"/>
              </a:rPr>
              <a:t>that</a:t>
            </a:r>
            <a:r>
              <a:rPr sz="1000" dirty="0">
                <a:latin typeface="Arial"/>
                <a:cs typeface="Arial"/>
              </a:rPr>
              <a:t> </a:t>
            </a:r>
            <a:r>
              <a:rPr sz="1000" spc="-15" dirty="0">
                <a:latin typeface="Arial"/>
                <a:cs typeface="Arial"/>
              </a:rPr>
              <a:t>have</a:t>
            </a:r>
            <a:r>
              <a:rPr sz="1000" spc="-5" dirty="0">
                <a:latin typeface="Arial"/>
                <a:cs typeface="Arial"/>
              </a:rPr>
              <a:t> a</a:t>
            </a:r>
            <a:r>
              <a:rPr sz="1000" dirty="0">
                <a:latin typeface="Arial"/>
                <a:cs typeface="Arial"/>
              </a:rPr>
              <a:t> </a:t>
            </a:r>
            <a:r>
              <a:rPr sz="1000" spc="-10" dirty="0">
                <a:latin typeface="Arial"/>
                <a:cs typeface="Arial"/>
              </a:rPr>
              <a:t>copy</a:t>
            </a:r>
            <a:r>
              <a:rPr sz="1000" spc="-5" dirty="0">
                <a:latin typeface="Arial"/>
                <a:cs typeface="Arial"/>
              </a:rPr>
              <a:t> of</a:t>
            </a:r>
            <a:r>
              <a:rPr sz="1000" dirty="0">
                <a:latin typeface="Arial"/>
                <a:cs typeface="Arial"/>
              </a:rPr>
              <a:t> </a:t>
            </a:r>
            <a:r>
              <a:rPr sz="1000" i="1" spc="5" dirty="0">
                <a:latin typeface="Arial"/>
                <a:cs typeface="Arial"/>
              </a:rPr>
              <a:t>m</a:t>
            </a:r>
            <a:r>
              <a:rPr sz="1000" spc="5" dirty="0">
                <a:latin typeface="Arial"/>
                <a:cs typeface="Arial"/>
              </a:rPr>
              <a:t>,</a:t>
            </a:r>
            <a:r>
              <a:rPr sz="1000" dirty="0">
                <a:latin typeface="Arial"/>
                <a:cs typeface="Arial"/>
              </a:rPr>
              <a:t> </a:t>
            </a:r>
            <a:r>
              <a:rPr sz="1000" spc="-10" dirty="0">
                <a:latin typeface="Arial"/>
                <a:cs typeface="Arial"/>
              </a:rPr>
              <a:t>but</a:t>
            </a:r>
            <a:r>
              <a:rPr sz="1000" spc="-5"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not</a:t>
            </a:r>
            <a:r>
              <a:rPr sz="1000" dirty="0">
                <a:latin typeface="Arial"/>
                <a:cs typeface="Arial"/>
              </a:rPr>
              <a:t> </a:t>
            </a:r>
            <a:r>
              <a:rPr sz="1000" spc="-10" dirty="0">
                <a:latin typeface="Arial"/>
                <a:cs typeface="Arial"/>
              </a:rPr>
              <a:t>(yet) </a:t>
            </a:r>
            <a:r>
              <a:rPr sz="1000" spc="-265" dirty="0">
                <a:latin typeface="Arial"/>
                <a:cs typeface="Arial"/>
              </a:rPr>
              <a:t> </a:t>
            </a:r>
            <a:r>
              <a:rPr sz="1000" spc="-5" dirty="0">
                <a:latin typeface="Arial"/>
                <a:cs typeface="Arial"/>
              </a:rPr>
              <a:t>reliably</a:t>
            </a:r>
            <a:r>
              <a:rPr sz="1000" spc="-10" dirty="0">
                <a:latin typeface="Arial"/>
                <a:cs typeface="Arial"/>
              </a:rPr>
              <a:t> </a:t>
            </a:r>
            <a:r>
              <a:rPr sz="1000" spc="-5" dirty="0">
                <a:latin typeface="Arial"/>
                <a:cs typeface="Arial"/>
              </a:rPr>
              <a:t>stored it.</a:t>
            </a:r>
            <a:endParaRPr sz="1000">
              <a:latin typeface="Arial"/>
              <a:cs typeface="Arial"/>
            </a:endParaRPr>
          </a:p>
          <a:p>
            <a:pPr marL="567055" indent="-168275">
              <a:lnSpc>
                <a:spcPct val="100000"/>
              </a:lnSpc>
              <a:spcBef>
                <a:spcPts val="590"/>
              </a:spcBef>
              <a:buClr>
                <a:srgbClr val="3333B2"/>
              </a:buClr>
              <a:buFont typeface="Arial"/>
              <a:buChar char="►"/>
              <a:tabLst>
                <a:tab pos="567690" algn="l"/>
              </a:tabLst>
            </a:pPr>
            <a:r>
              <a:rPr sz="1000" b="1" spc="-20" dirty="0">
                <a:latin typeface="Arial"/>
                <a:cs typeface="Arial"/>
              </a:rPr>
              <a:t>FAIL</a:t>
            </a:r>
            <a:r>
              <a:rPr sz="1000" spc="-20" dirty="0">
                <a:latin typeface="Arial"/>
                <a:cs typeface="Arial"/>
              </a:rPr>
              <a:t>:</a:t>
            </a:r>
            <a:r>
              <a:rPr sz="1000" spc="55" dirty="0">
                <a:latin typeface="Arial"/>
                <a:cs typeface="Arial"/>
              </a:rPr>
              <a:t> </a:t>
            </a:r>
            <a:r>
              <a:rPr sz="1000" spc="-5" dirty="0">
                <a:latin typeface="Arial"/>
                <a:cs typeface="Arial"/>
              </a:rPr>
              <a:t>the collection</a:t>
            </a:r>
            <a:r>
              <a:rPr sz="1000" spc="-10" dirty="0">
                <a:latin typeface="Arial"/>
                <a:cs typeface="Arial"/>
              </a:rPr>
              <a:t> </a:t>
            </a:r>
            <a:r>
              <a:rPr sz="1000" spc="-5" dirty="0">
                <a:latin typeface="Arial"/>
                <a:cs typeface="Arial"/>
              </a:rPr>
              <a:t>of crashed processes.</a:t>
            </a:r>
            <a:endParaRPr sz="1000">
              <a:latin typeface="Arial"/>
              <a:cs typeface="Arial"/>
            </a:endParaRPr>
          </a:p>
          <a:p>
            <a:pPr>
              <a:lnSpc>
                <a:spcPct val="100000"/>
              </a:lnSpc>
            </a:pPr>
            <a:endParaRPr sz="1300">
              <a:latin typeface="Arial"/>
              <a:cs typeface="Arial"/>
            </a:endParaRPr>
          </a:p>
          <a:p>
            <a:pPr marL="289560">
              <a:lnSpc>
                <a:spcPct val="100000"/>
              </a:lnSpc>
            </a:pPr>
            <a:r>
              <a:rPr sz="1200" spc="-5" dirty="0">
                <a:solidFill>
                  <a:srgbClr val="FA0000"/>
                </a:solidFill>
                <a:latin typeface="Arial"/>
                <a:cs typeface="Arial"/>
              </a:rPr>
              <a:t>Characterization</a:t>
            </a:r>
            <a:endParaRPr sz="1200">
              <a:latin typeface="Arial"/>
              <a:cs typeface="Arial"/>
            </a:endParaRPr>
          </a:p>
          <a:p>
            <a:pPr marL="248920" algn="ctr">
              <a:lnSpc>
                <a:spcPct val="100000"/>
              </a:lnSpc>
              <a:spcBef>
                <a:spcPts val="1140"/>
              </a:spcBef>
            </a:pPr>
            <a:r>
              <a:rPr sz="1000" i="1" spc="-5" dirty="0">
                <a:latin typeface="Arial"/>
                <a:cs typeface="Arial"/>
              </a:rPr>
              <a:t>Q</a:t>
            </a:r>
            <a:r>
              <a:rPr sz="1000" i="1" spc="45" dirty="0">
                <a:latin typeface="Arial"/>
                <a:cs typeface="Arial"/>
              </a:rPr>
              <a:t> </a:t>
            </a:r>
            <a:r>
              <a:rPr sz="1000" spc="-5" dirty="0">
                <a:latin typeface="Arial"/>
                <a:cs typeface="Arial"/>
              </a:rPr>
              <a:t>is </a:t>
            </a:r>
            <a:r>
              <a:rPr sz="1000" dirty="0">
                <a:latin typeface="Arial"/>
                <a:cs typeface="Arial"/>
              </a:rPr>
              <a:t>orphaned</a:t>
            </a:r>
            <a:r>
              <a:rPr sz="1000" spc="-55" dirty="0">
                <a:latin typeface="Arial"/>
                <a:cs typeface="Arial"/>
              </a:rPr>
              <a:t> </a:t>
            </a:r>
            <a:r>
              <a:rPr sz="1000" i="1" spc="-5" dirty="0">
                <a:latin typeface="メイリオ"/>
                <a:cs typeface="メイリオ"/>
              </a:rPr>
              <a:t>⇔</a:t>
            </a:r>
            <a:r>
              <a:rPr sz="1000" i="1" spc="-120" dirty="0">
                <a:latin typeface="メイリオ"/>
                <a:cs typeface="メイリオ"/>
              </a:rPr>
              <a:t> </a:t>
            </a:r>
            <a:r>
              <a:rPr sz="1000" i="1" spc="-229" dirty="0">
                <a:latin typeface="メイリオ"/>
                <a:cs typeface="メイリオ"/>
              </a:rPr>
              <a:t>∃</a:t>
            </a:r>
            <a:r>
              <a:rPr sz="1000" i="1" spc="-229" dirty="0">
                <a:latin typeface="Arial"/>
                <a:cs typeface="Arial"/>
              </a:rPr>
              <a:t>m</a:t>
            </a:r>
            <a:r>
              <a:rPr sz="1000" i="1" spc="-225" dirty="0">
                <a:latin typeface="Arial"/>
                <a:cs typeface="Arial"/>
              </a:rPr>
              <a:t> </a:t>
            </a:r>
            <a:r>
              <a:rPr sz="1000" spc="-5" dirty="0">
                <a:latin typeface="Arial"/>
                <a:cs typeface="Arial"/>
              </a:rPr>
              <a:t>:</a:t>
            </a:r>
            <a:r>
              <a:rPr sz="1000" spc="-60" dirty="0">
                <a:latin typeface="Arial"/>
                <a:cs typeface="Arial"/>
              </a:rPr>
              <a:t> </a:t>
            </a:r>
            <a:r>
              <a:rPr sz="1000" i="1" spc="-5" dirty="0">
                <a:latin typeface="Arial"/>
                <a:cs typeface="Arial"/>
              </a:rPr>
              <a:t>Q</a:t>
            </a:r>
            <a:r>
              <a:rPr sz="1000" i="1" spc="-10" dirty="0">
                <a:latin typeface="Arial"/>
                <a:cs typeface="Arial"/>
              </a:rPr>
              <a:t> </a:t>
            </a:r>
            <a:r>
              <a:rPr sz="1000" i="1" spc="-145" dirty="0">
                <a:latin typeface="メイリオ"/>
                <a:cs typeface="メイリオ"/>
              </a:rPr>
              <a:t>∈</a:t>
            </a:r>
            <a:r>
              <a:rPr sz="1000" i="1" spc="-114" dirty="0">
                <a:latin typeface="メイリオ"/>
                <a:cs typeface="メイリオ"/>
              </a:rPr>
              <a:t> </a:t>
            </a:r>
            <a:r>
              <a:rPr sz="1000" b="1" spc="-5" dirty="0">
                <a:latin typeface="Arial"/>
                <a:cs typeface="Arial"/>
              </a:rPr>
              <a:t>DEP</a:t>
            </a:r>
            <a:r>
              <a:rPr sz="1000" spc="-5" dirty="0">
                <a:latin typeface="Arial"/>
                <a:cs typeface="Arial"/>
              </a:rPr>
              <a:t>(</a:t>
            </a:r>
            <a:r>
              <a:rPr sz="1000" i="1" spc="-5" dirty="0">
                <a:latin typeface="Arial"/>
                <a:cs typeface="Arial"/>
              </a:rPr>
              <a:t>m</a:t>
            </a:r>
            <a:r>
              <a:rPr sz="1000" spc="-5" dirty="0">
                <a:latin typeface="Arial"/>
                <a:cs typeface="Arial"/>
              </a:rPr>
              <a:t>) and </a:t>
            </a:r>
            <a:r>
              <a:rPr sz="1000" b="1" spc="-5" dirty="0">
                <a:latin typeface="Arial"/>
                <a:cs typeface="Arial"/>
              </a:rPr>
              <a:t>COPY</a:t>
            </a:r>
            <a:r>
              <a:rPr sz="1000" spc="-5" dirty="0">
                <a:latin typeface="Arial"/>
                <a:cs typeface="Arial"/>
              </a:rPr>
              <a:t>(</a:t>
            </a:r>
            <a:r>
              <a:rPr sz="1000" i="1" spc="-5" dirty="0">
                <a:latin typeface="Arial"/>
                <a:cs typeface="Arial"/>
              </a:rPr>
              <a:t>m</a:t>
            </a:r>
            <a:r>
              <a:rPr sz="1000" spc="-5" dirty="0">
                <a:latin typeface="Arial"/>
                <a:cs typeface="Arial"/>
              </a:rPr>
              <a:t>)</a:t>
            </a:r>
            <a:r>
              <a:rPr sz="1000" spc="-55" dirty="0">
                <a:latin typeface="Arial"/>
                <a:cs typeface="Arial"/>
              </a:rPr>
              <a:t> </a:t>
            </a:r>
            <a:r>
              <a:rPr sz="1000" i="1" spc="-30" dirty="0">
                <a:latin typeface="メイリオ"/>
                <a:cs typeface="メイリオ"/>
              </a:rPr>
              <a:t>⊆</a:t>
            </a:r>
            <a:r>
              <a:rPr sz="1000" i="1" spc="-120" dirty="0">
                <a:latin typeface="メイリオ"/>
                <a:cs typeface="メイリオ"/>
              </a:rPr>
              <a:t> </a:t>
            </a:r>
            <a:r>
              <a:rPr sz="1000" b="1" spc="-25" dirty="0">
                <a:latin typeface="Arial"/>
                <a:cs typeface="Arial"/>
              </a:rPr>
              <a:t>FAIL</a:t>
            </a:r>
            <a:endParaRPr sz="1000">
              <a:latin typeface="Arial"/>
              <a:cs typeface="Arial"/>
            </a:endParaRPr>
          </a:p>
        </p:txBody>
      </p:sp>
    </p:spTree>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67</a:t>
            </a:r>
            <a:r>
              <a:rPr spc="-40" dirty="0"/>
              <a:t> </a:t>
            </a:r>
            <a:r>
              <a:rPr spc="-5" dirty="0"/>
              <a:t>/</a:t>
            </a:r>
            <a:r>
              <a:rPr spc="-35" dirty="0"/>
              <a:t> </a:t>
            </a:r>
            <a:r>
              <a:rPr spc="-5" dirty="0"/>
              <a:t>68</a:t>
            </a:r>
          </a:p>
        </p:txBody>
      </p:sp>
      <p:sp>
        <p:nvSpPr>
          <p:cNvPr id="2" name="object 2"/>
          <p:cNvSpPr txBox="1"/>
          <p:nvPr/>
        </p:nvSpPr>
        <p:spPr>
          <a:xfrm>
            <a:off x="66713" y="716"/>
            <a:ext cx="9036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Recovery</a:t>
            </a:r>
            <a:endParaRPr sz="600">
              <a:latin typeface="Arial"/>
              <a:cs typeface="Arial"/>
            </a:endParaRPr>
          </a:p>
        </p:txBody>
      </p:sp>
      <p:sp>
        <p:nvSpPr>
          <p:cNvPr id="3" name="object 3"/>
          <p:cNvSpPr txBox="1"/>
          <p:nvPr/>
        </p:nvSpPr>
        <p:spPr>
          <a:xfrm>
            <a:off x="3942054" y="716"/>
            <a:ext cx="5994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Message</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logging</a:t>
            </a:r>
            <a:endParaRPr sz="600">
              <a:latin typeface="Arial"/>
              <a:cs typeface="Arial"/>
            </a:endParaRPr>
          </a:p>
        </p:txBody>
      </p:sp>
      <p:sp>
        <p:nvSpPr>
          <p:cNvPr id="4" name="object 4"/>
          <p:cNvSpPr txBox="1"/>
          <p:nvPr/>
        </p:nvSpPr>
        <p:spPr>
          <a:xfrm>
            <a:off x="95300" y="188846"/>
            <a:ext cx="219265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Message-logging</a:t>
            </a:r>
            <a:r>
              <a:rPr sz="1400" spc="-20" dirty="0">
                <a:solidFill>
                  <a:srgbClr val="3333B2"/>
                </a:solidFill>
                <a:latin typeface="Arial"/>
                <a:cs typeface="Arial"/>
              </a:rPr>
              <a:t> </a:t>
            </a:r>
            <a:r>
              <a:rPr sz="1400" spc="15" dirty="0">
                <a:solidFill>
                  <a:srgbClr val="3333B2"/>
                </a:solidFill>
                <a:latin typeface="Arial"/>
                <a:cs typeface="Arial"/>
              </a:rPr>
              <a:t>schemes</a:t>
            </a:r>
            <a:endParaRPr sz="1400">
              <a:latin typeface="Arial"/>
              <a:cs typeface="Arial"/>
            </a:endParaRPr>
          </a:p>
        </p:txBody>
      </p:sp>
      <p:sp>
        <p:nvSpPr>
          <p:cNvPr id="5" name="object 5"/>
          <p:cNvSpPr txBox="1"/>
          <p:nvPr/>
        </p:nvSpPr>
        <p:spPr>
          <a:xfrm>
            <a:off x="343128" y="1092402"/>
            <a:ext cx="3823970" cy="1158875"/>
          </a:xfrm>
          <a:prstGeom prst="rect">
            <a:avLst/>
          </a:prstGeom>
        </p:spPr>
        <p:txBody>
          <a:bodyPr vert="horz" wrap="square" lIns="0" tIns="39370" rIns="0" bIns="0" rtlCol="0">
            <a:spAutoFit/>
          </a:bodyPr>
          <a:lstStyle/>
          <a:p>
            <a:pPr marL="16510">
              <a:lnSpc>
                <a:spcPct val="100000"/>
              </a:lnSpc>
              <a:spcBef>
                <a:spcPts val="310"/>
              </a:spcBef>
            </a:pPr>
            <a:r>
              <a:rPr sz="1200" spc="-10" dirty="0">
                <a:solidFill>
                  <a:srgbClr val="3333B2"/>
                </a:solidFill>
                <a:latin typeface="Arial"/>
                <a:cs typeface="Arial"/>
              </a:rPr>
              <a:t>Pessimistic</a:t>
            </a:r>
            <a:r>
              <a:rPr sz="1200" spc="-30" dirty="0">
                <a:solidFill>
                  <a:srgbClr val="3333B2"/>
                </a:solidFill>
                <a:latin typeface="Arial"/>
                <a:cs typeface="Arial"/>
              </a:rPr>
              <a:t> </a:t>
            </a:r>
            <a:r>
              <a:rPr sz="1200" spc="-5" dirty="0">
                <a:solidFill>
                  <a:srgbClr val="3333B2"/>
                </a:solidFill>
                <a:latin typeface="Arial"/>
                <a:cs typeface="Arial"/>
              </a:rPr>
              <a:t>protocol</a:t>
            </a:r>
            <a:endParaRPr sz="1200">
              <a:latin typeface="Arial"/>
              <a:cs typeface="Arial"/>
            </a:endParaRPr>
          </a:p>
          <a:p>
            <a:pPr marL="16510" marR="370840">
              <a:lnSpc>
                <a:spcPct val="100000"/>
              </a:lnSpc>
              <a:spcBef>
                <a:spcPts val="175"/>
              </a:spcBef>
            </a:pPr>
            <a:r>
              <a:rPr sz="1000" spc="-15" dirty="0">
                <a:latin typeface="Arial"/>
                <a:cs typeface="Arial"/>
              </a:rPr>
              <a:t>For</a:t>
            </a:r>
            <a:r>
              <a:rPr sz="1000" spc="-5" dirty="0">
                <a:latin typeface="Arial"/>
                <a:cs typeface="Arial"/>
              </a:rPr>
              <a:t> each </a:t>
            </a:r>
            <a:r>
              <a:rPr sz="1000" spc="-5" dirty="0">
                <a:solidFill>
                  <a:srgbClr val="0000FA"/>
                </a:solidFill>
                <a:latin typeface="Arial"/>
                <a:cs typeface="Arial"/>
              </a:rPr>
              <a:t>nonstable</a:t>
            </a:r>
            <a:r>
              <a:rPr sz="1000" dirty="0">
                <a:solidFill>
                  <a:srgbClr val="0000FA"/>
                </a:solidFill>
                <a:latin typeface="Arial"/>
                <a:cs typeface="Arial"/>
              </a:rPr>
              <a:t> </a:t>
            </a:r>
            <a:r>
              <a:rPr sz="1000" spc="-5" dirty="0">
                <a:latin typeface="Arial"/>
                <a:cs typeface="Arial"/>
              </a:rPr>
              <a:t>message </a:t>
            </a:r>
            <a:r>
              <a:rPr sz="1000" i="1" spc="5" dirty="0">
                <a:latin typeface="Arial"/>
                <a:cs typeface="Arial"/>
              </a:rPr>
              <a:t>m</a:t>
            </a:r>
            <a:r>
              <a:rPr sz="1000" spc="5" dirty="0">
                <a:latin typeface="Arial"/>
                <a:cs typeface="Arial"/>
              </a:rPr>
              <a:t>,</a:t>
            </a:r>
            <a:r>
              <a:rPr sz="1000" dirty="0">
                <a:latin typeface="Arial"/>
                <a:cs typeface="Arial"/>
              </a:rPr>
              <a:t> </a:t>
            </a:r>
            <a:r>
              <a:rPr sz="1000" spc="-5" dirty="0">
                <a:latin typeface="Arial"/>
                <a:cs typeface="Arial"/>
              </a:rPr>
              <a:t>there is at</a:t>
            </a:r>
            <a:r>
              <a:rPr sz="1000" dirty="0">
                <a:latin typeface="Arial"/>
                <a:cs typeface="Arial"/>
              </a:rPr>
              <a:t> </a:t>
            </a:r>
            <a:r>
              <a:rPr sz="1000" spc="-5" dirty="0">
                <a:latin typeface="Arial"/>
                <a:cs typeface="Arial"/>
              </a:rPr>
              <a:t>most one</a:t>
            </a:r>
            <a:r>
              <a:rPr sz="1000" dirty="0">
                <a:latin typeface="Arial"/>
                <a:cs typeface="Arial"/>
              </a:rPr>
              <a:t> </a:t>
            </a:r>
            <a:r>
              <a:rPr sz="1000" spc="-5" dirty="0">
                <a:latin typeface="Arial"/>
                <a:cs typeface="Arial"/>
              </a:rPr>
              <a:t>process </a:t>
            </a:r>
            <a:r>
              <a:rPr sz="1000" spc="-265" dirty="0">
                <a:latin typeface="Arial"/>
                <a:cs typeface="Arial"/>
              </a:rPr>
              <a:t> </a:t>
            </a:r>
            <a:r>
              <a:rPr sz="1000" spc="-5" dirty="0">
                <a:latin typeface="Arial"/>
                <a:cs typeface="Arial"/>
              </a:rPr>
              <a:t>dependent on </a:t>
            </a:r>
            <a:r>
              <a:rPr sz="1000" i="1" spc="10" dirty="0">
                <a:latin typeface="Arial"/>
                <a:cs typeface="Arial"/>
              </a:rPr>
              <a:t>m</a:t>
            </a:r>
            <a:r>
              <a:rPr sz="1000" spc="-5" dirty="0">
                <a:latin typeface="Arial"/>
                <a:cs typeface="Arial"/>
              </a:rPr>
              <a:t>, that is </a:t>
            </a:r>
            <a:r>
              <a:rPr sz="1000" i="1" spc="-165" dirty="0">
                <a:latin typeface="メイリオ"/>
                <a:cs typeface="メイリオ"/>
              </a:rPr>
              <a:t>|</a:t>
            </a:r>
            <a:r>
              <a:rPr sz="1000" b="1" spc="-5" dirty="0">
                <a:latin typeface="Arial"/>
                <a:cs typeface="Arial"/>
              </a:rPr>
              <a:t>DEP</a:t>
            </a:r>
            <a:r>
              <a:rPr sz="1000" spc="-10" dirty="0">
                <a:latin typeface="Arial"/>
                <a:cs typeface="Arial"/>
              </a:rPr>
              <a:t>(</a:t>
            </a:r>
            <a:r>
              <a:rPr sz="1000" i="1" spc="10" dirty="0">
                <a:latin typeface="Arial"/>
                <a:cs typeface="Arial"/>
              </a:rPr>
              <a:t>m</a:t>
            </a:r>
            <a:r>
              <a:rPr sz="1000" spc="-5" dirty="0">
                <a:latin typeface="Arial"/>
                <a:cs typeface="Arial"/>
              </a:rPr>
              <a:t>)</a:t>
            </a:r>
            <a:r>
              <a:rPr sz="1000" i="1" spc="-165" dirty="0">
                <a:latin typeface="メイリオ"/>
                <a:cs typeface="メイリオ"/>
              </a:rPr>
              <a:t>|</a:t>
            </a:r>
            <a:r>
              <a:rPr sz="1000" i="1" spc="-120" dirty="0">
                <a:latin typeface="メイリオ"/>
                <a:cs typeface="メイリオ"/>
              </a:rPr>
              <a:t> </a:t>
            </a:r>
            <a:r>
              <a:rPr sz="1000" i="1" spc="-35" dirty="0">
                <a:latin typeface="メイリオ"/>
                <a:cs typeface="メイリオ"/>
              </a:rPr>
              <a:t>≤</a:t>
            </a:r>
            <a:r>
              <a:rPr sz="1000" i="1" spc="-120" dirty="0">
                <a:latin typeface="メイリオ"/>
                <a:cs typeface="メイリオ"/>
              </a:rPr>
              <a:t> </a:t>
            </a:r>
            <a:r>
              <a:rPr sz="1000" spc="-5" dirty="0">
                <a:latin typeface="Arial"/>
                <a:cs typeface="Arial"/>
              </a:rPr>
              <a:t>1.</a:t>
            </a:r>
            <a:endParaRPr sz="1000">
              <a:latin typeface="Arial"/>
              <a:cs typeface="Arial"/>
            </a:endParaRPr>
          </a:p>
          <a:p>
            <a:pPr marL="16510">
              <a:lnSpc>
                <a:spcPct val="100000"/>
              </a:lnSpc>
              <a:spcBef>
                <a:spcPts val="685"/>
              </a:spcBef>
            </a:pPr>
            <a:r>
              <a:rPr sz="1200" spc="-5" dirty="0">
                <a:solidFill>
                  <a:srgbClr val="FA0000"/>
                </a:solidFill>
                <a:latin typeface="Arial"/>
                <a:cs typeface="Arial"/>
              </a:rPr>
              <a:t>Consequence</a:t>
            </a:r>
            <a:endParaRPr sz="1200">
              <a:latin typeface="Arial"/>
              <a:cs typeface="Arial"/>
            </a:endParaRPr>
          </a:p>
          <a:p>
            <a:pPr marL="16510" marR="5080" indent="-4445">
              <a:lnSpc>
                <a:spcPct val="100000"/>
              </a:lnSpc>
              <a:spcBef>
                <a:spcPts val="175"/>
              </a:spcBef>
            </a:pPr>
            <a:r>
              <a:rPr sz="1000" spc="-5" dirty="0">
                <a:latin typeface="Arial"/>
                <a:cs typeface="Arial"/>
              </a:rPr>
              <a:t>An unstable</a:t>
            </a:r>
            <a:r>
              <a:rPr sz="1000" dirty="0">
                <a:latin typeface="Arial"/>
                <a:cs typeface="Arial"/>
              </a:rPr>
              <a:t> </a:t>
            </a:r>
            <a:r>
              <a:rPr sz="1000" spc="-5" dirty="0">
                <a:latin typeface="Arial"/>
                <a:cs typeface="Arial"/>
              </a:rPr>
              <a:t>message</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pessimistic</a:t>
            </a:r>
            <a:r>
              <a:rPr sz="1000" dirty="0">
                <a:latin typeface="Arial"/>
                <a:cs typeface="Arial"/>
              </a:rPr>
              <a:t> </a:t>
            </a:r>
            <a:r>
              <a:rPr sz="1000" spc="-5" dirty="0">
                <a:latin typeface="Arial"/>
                <a:cs typeface="Arial"/>
              </a:rPr>
              <a:t>protocol</a:t>
            </a:r>
            <a:r>
              <a:rPr sz="1000" dirty="0">
                <a:latin typeface="Arial"/>
                <a:cs typeface="Arial"/>
              </a:rPr>
              <a:t> </a:t>
            </a:r>
            <a:r>
              <a:rPr sz="1000" spc="-5" dirty="0">
                <a:solidFill>
                  <a:srgbClr val="0000FA"/>
                </a:solidFill>
                <a:latin typeface="Arial"/>
                <a:cs typeface="Arial"/>
              </a:rPr>
              <a:t>must</a:t>
            </a:r>
            <a:r>
              <a:rPr sz="1000" dirty="0">
                <a:solidFill>
                  <a:srgbClr val="0000FA"/>
                </a:solidFill>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made</a:t>
            </a:r>
            <a:r>
              <a:rPr sz="1000" dirty="0">
                <a:latin typeface="Arial"/>
                <a:cs typeface="Arial"/>
              </a:rPr>
              <a:t> </a:t>
            </a:r>
            <a:r>
              <a:rPr sz="1000" spc="-10" dirty="0">
                <a:latin typeface="Arial"/>
                <a:cs typeface="Arial"/>
              </a:rPr>
              <a:t>stable </a:t>
            </a:r>
            <a:r>
              <a:rPr sz="1000" spc="-265" dirty="0">
                <a:latin typeface="Arial"/>
                <a:cs typeface="Arial"/>
              </a:rPr>
              <a:t> </a:t>
            </a:r>
            <a:r>
              <a:rPr sz="1000" spc="-10" dirty="0">
                <a:latin typeface="Arial"/>
                <a:cs typeface="Arial"/>
              </a:rPr>
              <a:t>before </a:t>
            </a:r>
            <a:r>
              <a:rPr sz="1000" spc="-5" dirty="0">
                <a:latin typeface="Arial"/>
                <a:cs typeface="Arial"/>
              </a:rPr>
              <a:t>sending a </a:t>
            </a:r>
            <a:r>
              <a:rPr sz="1000" spc="-10" dirty="0">
                <a:latin typeface="Arial"/>
                <a:cs typeface="Arial"/>
              </a:rPr>
              <a:t>next</a:t>
            </a:r>
            <a:r>
              <a:rPr sz="1000" spc="-5" dirty="0">
                <a:latin typeface="Arial"/>
                <a:cs typeface="Arial"/>
              </a:rPr>
              <a:t> message.</a:t>
            </a:r>
            <a:endParaRPr sz="1000">
              <a:latin typeface="Arial"/>
              <a:cs typeface="Arial"/>
            </a:endParaRPr>
          </a:p>
        </p:txBody>
      </p:sp>
    </p:spTree>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68</a:t>
            </a:r>
            <a:r>
              <a:rPr spc="-40" dirty="0"/>
              <a:t> </a:t>
            </a:r>
            <a:r>
              <a:rPr spc="-5" dirty="0"/>
              <a:t>/</a:t>
            </a:r>
            <a:r>
              <a:rPr spc="-35" dirty="0"/>
              <a:t> </a:t>
            </a:r>
            <a:r>
              <a:rPr spc="-5" dirty="0"/>
              <a:t>68</a:t>
            </a:r>
          </a:p>
        </p:txBody>
      </p:sp>
      <p:sp>
        <p:nvSpPr>
          <p:cNvPr id="2" name="object 2"/>
          <p:cNvSpPr txBox="1"/>
          <p:nvPr/>
        </p:nvSpPr>
        <p:spPr>
          <a:xfrm>
            <a:off x="66713" y="716"/>
            <a:ext cx="903605" cy="116839"/>
          </a:xfrm>
          <a:prstGeom prst="rect">
            <a:avLst/>
          </a:prstGeom>
        </p:spPr>
        <p:txBody>
          <a:bodyPr vert="horz" wrap="square" lIns="0" tIns="12065" rIns="0" bIns="0" rtlCol="0">
            <a:spAutoFit/>
          </a:bodyPr>
          <a:lstStyle/>
          <a:p>
            <a:pPr marL="12700">
              <a:lnSpc>
                <a:spcPct val="100000"/>
              </a:lnSpc>
              <a:spcBef>
                <a:spcPts val="95"/>
              </a:spcBef>
            </a:pPr>
            <a:r>
              <a:rPr sz="600" spc="-10" dirty="0">
                <a:solidFill>
                  <a:srgbClr val="3333B2"/>
                </a:solidFill>
                <a:latin typeface="Arial"/>
                <a:cs typeface="Arial"/>
                <a:hlinkClick r:id="rId3" action="ppaction://hlinksldjump"/>
              </a:rPr>
              <a:t>Fault</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tolerance:</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Recovery</a:t>
            </a:r>
            <a:endParaRPr sz="600">
              <a:latin typeface="Arial"/>
              <a:cs typeface="Arial"/>
            </a:endParaRPr>
          </a:p>
        </p:txBody>
      </p:sp>
      <p:sp>
        <p:nvSpPr>
          <p:cNvPr id="3" name="object 3"/>
          <p:cNvSpPr txBox="1"/>
          <p:nvPr/>
        </p:nvSpPr>
        <p:spPr>
          <a:xfrm>
            <a:off x="3942054" y="716"/>
            <a:ext cx="5994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Message</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logging</a:t>
            </a:r>
            <a:endParaRPr sz="600">
              <a:latin typeface="Arial"/>
              <a:cs typeface="Arial"/>
            </a:endParaRPr>
          </a:p>
        </p:txBody>
      </p:sp>
      <p:sp>
        <p:nvSpPr>
          <p:cNvPr id="4" name="object 4"/>
          <p:cNvSpPr txBox="1"/>
          <p:nvPr/>
        </p:nvSpPr>
        <p:spPr>
          <a:xfrm>
            <a:off x="95300" y="188846"/>
            <a:ext cx="219265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Message-logging</a:t>
            </a:r>
            <a:r>
              <a:rPr sz="1400" spc="-20" dirty="0">
                <a:solidFill>
                  <a:srgbClr val="3333B2"/>
                </a:solidFill>
                <a:latin typeface="Arial"/>
                <a:cs typeface="Arial"/>
              </a:rPr>
              <a:t> </a:t>
            </a:r>
            <a:r>
              <a:rPr sz="1400" spc="15" dirty="0">
                <a:solidFill>
                  <a:srgbClr val="3333B2"/>
                </a:solidFill>
                <a:latin typeface="Arial"/>
                <a:cs typeface="Arial"/>
              </a:rPr>
              <a:t>schemes</a:t>
            </a:r>
            <a:endParaRPr sz="1400">
              <a:latin typeface="Arial"/>
              <a:cs typeface="Arial"/>
            </a:endParaRPr>
          </a:p>
        </p:txBody>
      </p:sp>
      <p:sp>
        <p:nvSpPr>
          <p:cNvPr id="5" name="object 5"/>
          <p:cNvSpPr txBox="1"/>
          <p:nvPr/>
        </p:nvSpPr>
        <p:spPr>
          <a:xfrm>
            <a:off x="347294" y="1120353"/>
            <a:ext cx="1274445" cy="20764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Optimistic</a:t>
            </a:r>
            <a:r>
              <a:rPr sz="1200" spc="-45" dirty="0">
                <a:solidFill>
                  <a:srgbClr val="3333B2"/>
                </a:solidFill>
                <a:latin typeface="Arial"/>
                <a:cs typeface="Arial"/>
              </a:rPr>
              <a:t> </a:t>
            </a:r>
            <a:r>
              <a:rPr sz="1200" spc="-5" dirty="0">
                <a:solidFill>
                  <a:srgbClr val="3333B2"/>
                </a:solidFill>
                <a:latin typeface="Arial"/>
                <a:cs typeface="Arial"/>
              </a:rPr>
              <a:t>protocol</a:t>
            </a:r>
            <a:endParaRPr sz="1200">
              <a:latin typeface="Arial"/>
              <a:cs typeface="Arial"/>
            </a:endParaRPr>
          </a:p>
        </p:txBody>
      </p:sp>
      <p:sp>
        <p:nvSpPr>
          <p:cNvPr id="6" name="object 6"/>
          <p:cNvSpPr txBox="1"/>
          <p:nvPr/>
        </p:nvSpPr>
        <p:spPr>
          <a:xfrm>
            <a:off x="347294" y="1325250"/>
            <a:ext cx="3767454"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Arial"/>
                <a:cs typeface="Arial"/>
              </a:rPr>
              <a:t>For</a:t>
            </a:r>
            <a:r>
              <a:rPr sz="1000" spc="-5" dirty="0">
                <a:latin typeface="Arial"/>
                <a:cs typeface="Arial"/>
              </a:rPr>
              <a:t> each</a:t>
            </a:r>
            <a:r>
              <a:rPr sz="1000" dirty="0">
                <a:latin typeface="Arial"/>
                <a:cs typeface="Arial"/>
              </a:rPr>
              <a:t> </a:t>
            </a:r>
            <a:r>
              <a:rPr sz="1000" spc="-5" dirty="0">
                <a:latin typeface="Arial"/>
                <a:cs typeface="Arial"/>
              </a:rPr>
              <a:t>unstable message</a:t>
            </a:r>
            <a:r>
              <a:rPr sz="1000" dirty="0">
                <a:latin typeface="Arial"/>
                <a:cs typeface="Arial"/>
              </a:rPr>
              <a:t> </a:t>
            </a:r>
            <a:r>
              <a:rPr sz="1000" i="1" spc="5" dirty="0">
                <a:latin typeface="Arial"/>
                <a:cs typeface="Arial"/>
              </a:rPr>
              <a:t>m</a:t>
            </a:r>
            <a:r>
              <a:rPr sz="1000" spc="5" dirty="0">
                <a:latin typeface="Arial"/>
                <a:cs typeface="Arial"/>
              </a:rPr>
              <a:t>,</a:t>
            </a:r>
            <a:r>
              <a:rPr sz="1000" dirty="0">
                <a:latin typeface="Arial"/>
                <a:cs typeface="Arial"/>
              </a:rPr>
              <a:t> </a:t>
            </a:r>
            <a:r>
              <a:rPr sz="1000" spc="-10" dirty="0">
                <a:latin typeface="Arial"/>
                <a:cs typeface="Arial"/>
              </a:rPr>
              <a:t>we</a:t>
            </a:r>
            <a:r>
              <a:rPr sz="1000" spc="-5" dirty="0">
                <a:latin typeface="Arial"/>
                <a:cs typeface="Arial"/>
              </a:rPr>
              <a:t> ensure</a:t>
            </a:r>
            <a:r>
              <a:rPr sz="1000" dirty="0">
                <a:latin typeface="Arial"/>
                <a:cs typeface="Arial"/>
              </a:rPr>
              <a:t> </a:t>
            </a:r>
            <a:r>
              <a:rPr sz="1000" spc="-5" dirty="0">
                <a:latin typeface="Arial"/>
                <a:cs typeface="Arial"/>
              </a:rPr>
              <a:t>that</a:t>
            </a:r>
            <a:r>
              <a:rPr sz="1000" dirty="0">
                <a:latin typeface="Arial"/>
                <a:cs typeface="Arial"/>
              </a:rPr>
              <a:t> </a:t>
            </a:r>
            <a:r>
              <a:rPr sz="1000" spc="-5" dirty="0">
                <a:latin typeface="Arial"/>
                <a:cs typeface="Arial"/>
              </a:rPr>
              <a:t>if </a:t>
            </a:r>
            <a:r>
              <a:rPr sz="1000" b="1" spc="-5" dirty="0">
                <a:latin typeface="Arial"/>
                <a:cs typeface="Arial"/>
              </a:rPr>
              <a:t>COPY</a:t>
            </a:r>
            <a:r>
              <a:rPr sz="1000" spc="-5" dirty="0">
                <a:latin typeface="Arial"/>
                <a:cs typeface="Arial"/>
              </a:rPr>
              <a:t>(</a:t>
            </a:r>
            <a:r>
              <a:rPr sz="1000" i="1" spc="-5" dirty="0">
                <a:latin typeface="Arial"/>
                <a:cs typeface="Arial"/>
              </a:rPr>
              <a:t>m</a:t>
            </a:r>
            <a:r>
              <a:rPr sz="1000" spc="-5" dirty="0">
                <a:latin typeface="Arial"/>
                <a:cs typeface="Arial"/>
              </a:rPr>
              <a:t>)</a:t>
            </a:r>
            <a:r>
              <a:rPr sz="1000" spc="-55" dirty="0">
                <a:latin typeface="Arial"/>
                <a:cs typeface="Arial"/>
              </a:rPr>
              <a:t> </a:t>
            </a:r>
            <a:r>
              <a:rPr sz="1000" i="1" spc="-30" dirty="0">
                <a:latin typeface="メイリオ"/>
                <a:cs typeface="メイリオ"/>
              </a:rPr>
              <a:t>⊆</a:t>
            </a:r>
            <a:r>
              <a:rPr sz="1000" i="1" spc="-120" dirty="0">
                <a:latin typeface="メイリオ"/>
                <a:cs typeface="メイリオ"/>
              </a:rPr>
              <a:t> </a:t>
            </a:r>
            <a:r>
              <a:rPr sz="1000" b="1" spc="-20" dirty="0">
                <a:latin typeface="Arial"/>
                <a:cs typeface="Arial"/>
              </a:rPr>
              <a:t>FAIL</a:t>
            </a:r>
            <a:r>
              <a:rPr sz="1000" spc="-20" dirty="0">
                <a:latin typeface="Arial"/>
                <a:cs typeface="Arial"/>
              </a:rPr>
              <a:t>,</a:t>
            </a:r>
            <a:endParaRPr sz="1000">
              <a:latin typeface="Arial"/>
              <a:cs typeface="Arial"/>
            </a:endParaRPr>
          </a:p>
        </p:txBody>
      </p:sp>
      <p:sp>
        <p:nvSpPr>
          <p:cNvPr id="7" name="object 7"/>
          <p:cNvSpPr txBox="1"/>
          <p:nvPr/>
        </p:nvSpPr>
        <p:spPr>
          <a:xfrm>
            <a:off x="347294" y="1403267"/>
            <a:ext cx="2085339" cy="521970"/>
          </a:xfrm>
          <a:prstGeom prst="rect">
            <a:avLst/>
          </a:prstGeom>
        </p:spPr>
        <p:txBody>
          <a:bodyPr vert="horz" wrap="square" lIns="0" tIns="85725" rIns="0" bIns="0" rtlCol="0">
            <a:spAutoFit/>
          </a:bodyPr>
          <a:lstStyle/>
          <a:p>
            <a:pPr marL="12700">
              <a:lnSpc>
                <a:spcPct val="100000"/>
              </a:lnSpc>
              <a:spcBef>
                <a:spcPts val="675"/>
              </a:spcBef>
            </a:pPr>
            <a:r>
              <a:rPr sz="1000" spc="-5" dirty="0">
                <a:latin typeface="Arial"/>
                <a:cs typeface="Arial"/>
              </a:rPr>
              <a:t>then </a:t>
            </a:r>
            <a:r>
              <a:rPr sz="1000" spc="-35" dirty="0">
                <a:latin typeface="Arial"/>
                <a:cs typeface="Arial"/>
              </a:rPr>
              <a:t>e</a:t>
            </a:r>
            <a:r>
              <a:rPr sz="1000" spc="-30" dirty="0">
                <a:latin typeface="Arial"/>
                <a:cs typeface="Arial"/>
              </a:rPr>
              <a:t>v</a:t>
            </a:r>
            <a:r>
              <a:rPr sz="1000" spc="-5" dirty="0">
                <a:latin typeface="Arial"/>
                <a:cs typeface="Arial"/>
              </a:rPr>
              <a:t>entually also </a:t>
            </a:r>
            <a:r>
              <a:rPr sz="1000" b="1" spc="-5" dirty="0">
                <a:latin typeface="Arial"/>
                <a:cs typeface="Arial"/>
              </a:rPr>
              <a:t>DEP</a:t>
            </a:r>
            <a:r>
              <a:rPr sz="1000" spc="-10" dirty="0">
                <a:latin typeface="Arial"/>
                <a:cs typeface="Arial"/>
              </a:rPr>
              <a:t>(</a:t>
            </a:r>
            <a:r>
              <a:rPr sz="1000" i="1" spc="10" dirty="0">
                <a:latin typeface="Arial"/>
                <a:cs typeface="Arial"/>
              </a:rPr>
              <a:t>m</a:t>
            </a:r>
            <a:r>
              <a:rPr sz="1000" spc="-5" dirty="0">
                <a:latin typeface="Arial"/>
                <a:cs typeface="Arial"/>
              </a:rPr>
              <a:t>)</a:t>
            </a:r>
            <a:r>
              <a:rPr sz="1000" spc="-60" dirty="0">
                <a:latin typeface="Arial"/>
                <a:cs typeface="Arial"/>
              </a:rPr>
              <a:t> </a:t>
            </a:r>
            <a:r>
              <a:rPr sz="1000" i="1" spc="-30" dirty="0">
                <a:latin typeface="メイリオ"/>
                <a:cs typeface="メイリオ"/>
              </a:rPr>
              <a:t>⊆</a:t>
            </a:r>
            <a:r>
              <a:rPr sz="1000" i="1" spc="-120" dirty="0">
                <a:latin typeface="メイリオ"/>
                <a:cs typeface="メイリオ"/>
              </a:rPr>
              <a:t> </a:t>
            </a:r>
            <a:r>
              <a:rPr sz="1000" b="1" spc="-85" dirty="0">
                <a:latin typeface="Arial"/>
                <a:cs typeface="Arial"/>
              </a:rPr>
              <a:t>F</a:t>
            </a:r>
            <a:r>
              <a:rPr sz="1000" b="1" spc="-5" dirty="0">
                <a:latin typeface="Arial"/>
                <a:cs typeface="Arial"/>
              </a:rPr>
              <a:t>AIL</a:t>
            </a:r>
            <a:r>
              <a:rPr sz="1000" spc="-5" dirty="0">
                <a:latin typeface="Arial"/>
                <a:cs typeface="Arial"/>
              </a:rPr>
              <a:t>.</a:t>
            </a:r>
            <a:endParaRPr sz="1000">
              <a:latin typeface="Arial"/>
              <a:cs typeface="Arial"/>
            </a:endParaRPr>
          </a:p>
          <a:p>
            <a:pPr marL="12700">
              <a:lnSpc>
                <a:spcPct val="100000"/>
              </a:lnSpc>
              <a:spcBef>
                <a:spcPts val="695"/>
              </a:spcBef>
            </a:pPr>
            <a:r>
              <a:rPr sz="1200" spc="-5" dirty="0">
                <a:solidFill>
                  <a:srgbClr val="FA0000"/>
                </a:solidFill>
                <a:latin typeface="Arial"/>
                <a:cs typeface="Arial"/>
              </a:rPr>
              <a:t>Consequence</a:t>
            </a:r>
            <a:endParaRPr sz="1200">
              <a:latin typeface="Arial"/>
              <a:cs typeface="Arial"/>
            </a:endParaRPr>
          </a:p>
        </p:txBody>
      </p:sp>
      <p:sp>
        <p:nvSpPr>
          <p:cNvPr id="8" name="object 8"/>
          <p:cNvSpPr txBox="1"/>
          <p:nvPr/>
        </p:nvSpPr>
        <p:spPr>
          <a:xfrm>
            <a:off x="343382" y="1922378"/>
            <a:ext cx="3909695" cy="329565"/>
          </a:xfrm>
          <a:prstGeom prst="rect">
            <a:avLst/>
          </a:prstGeom>
        </p:spPr>
        <p:txBody>
          <a:bodyPr vert="horz" wrap="square" lIns="0" tIns="12065" rIns="0" bIns="0" rtlCol="0">
            <a:spAutoFit/>
          </a:bodyPr>
          <a:lstStyle/>
          <a:p>
            <a:pPr marL="16510" marR="5080" indent="-4445">
              <a:lnSpc>
                <a:spcPct val="100000"/>
              </a:lnSpc>
              <a:spcBef>
                <a:spcPts val="95"/>
              </a:spcBef>
            </a:pPr>
            <a:r>
              <a:rPr sz="1000" spc="-65" dirty="0">
                <a:latin typeface="Arial"/>
                <a:cs typeface="Arial"/>
              </a:rPr>
              <a:t>To </a:t>
            </a:r>
            <a:r>
              <a:rPr sz="1000" spc="-5" dirty="0">
                <a:latin typeface="Arial"/>
                <a:cs typeface="Arial"/>
              </a:rPr>
              <a:t>guarantee that </a:t>
            </a:r>
            <a:r>
              <a:rPr sz="1000" b="1" spc="-5" dirty="0">
                <a:latin typeface="Arial"/>
                <a:cs typeface="Arial"/>
              </a:rPr>
              <a:t>DEP</a:t>
            </a:r>
            <a:r>
              <a:rPr sz="1000" spc="-5" dirty="0">
                <a:latin typeface="Arial"/>
                <a:cs typeface="Arial"/>
              </a:rPr>
              <a:t>(</a:t>
            </a:r>
            <a:r>
              <a:rPr sz="1000" i="1" spc="-5" dirty="0">
                <a:latin typeface="Arial"/>
                <a:cs typeface="Arial"/>
              </a:rPr>
              <a:t>m</a:t>
            </a:r>
            <a:r>
              <a:rPr sz="1000" spc="-5" dirty="0">
                <a:latin typeface="Arial"/>
                <a:cs typeface="Arial"/>
              </a:rPr>
              <a:t>) </a:t>
            </a:r>
            <a:r>
              <a:rPr sz="1000" i="1" spc="-30" dirty="0">
                <a:latin typeface="メイリオ"/>
                <a:cs typeface="メイリオ"/>
              </a:rPr>
              <a:t>⊆ </a:t>
            </a:r>
            <a:r>
              <a:rPr sz="1000" b="1" spc="-20" dirty="0">
                <a:latin typeface="Arial"/>
                <a:cs typeface="Arial"/>
              </a:rPr>
              <a:t>FAIL</a:t>
            </a:r>
            <a:r>
              <a:rPr sz="1000" spc="-20" dirty="0">
                <a:latin typeface="Arial"/>
                <a:cs typeface="Arial"/>
              </a:rPr>
              <a:t>, </a:t>
            </a:r>
            <a:r>
              <a:rPr sz="1000" spc="-10" dirty="0">
                <a:latin typeface="Arial"/>
                <a:cs typeface="Arial"/>
              </a:rPr>
              <a:t>we </a:t>
            </a:r>
            <a:r>
              <a:rPr sz="1000" spc="-5" dirty="0">
                <a:latin typeface="Arial"/>
                <a:cs typeface="Arial"/>
              </a:rPr>
              <a:t>generally rollback each </a:t>
            </a:r>
            <a:r>
              <a:rPr sz="1000" dirty="0">
                <a:latin typeface="Arial"/>
                <a:cs typeface="Arial"/>
              </a:rPr>
              <a:t>orphan </a:t>
            </a:r>
            <a:r>
              <a:rPr sz="1000" spc="-265" dirty="0">
                <a:latin typeface="Arial"/>
                <a:cs typeface="Arial"/>
              </a:rPr>
              <a:t> </a:t>
            </a:r>
            <a:r>
              <a:rPr sz="1000" spc="-5" dirty="0">
                <a:latin typeface="Arial"/>
                <a:cs typeface="Arial"/>
              </a:rPr>
              <a:t>process </a:t>
            </a:r>
            <a:r>
              <a:rPr sz="1000" i="1" spc="-5" dirty="0">
                <a:latin typeface="Arial"/>
                <a:cs typeface="Arial"/>
              </a:rPr>
              <a:t>Q</a:t>
            </a:r>
            <a:r>
              <a:rPr sz="1000" i="1" spc="45" dirty="0">
                <a:latin typeface="Arial"/>
                <a:cs typeface="Arial"/>
              </a:rPr>
              <a:t> </a:t>
            </a:r>
            <a:r>
              <a:rPr sz="1000" spc="-5" dirty="0">
                <a:latin typeface="Arial"/>
                <a:cs typeface="Arial"/>
              </a:rPr>
              <a:t>until </a:t>
            </a:r>
            <a:r>
              <a:rPr sz="1000" i="1" spc="-5" dirty="0">
                <a:latin typeface="Arial"/>
                <a:cs typeface="Arial"/>
              </a:rPr>
              <a:t>Q</a:t>
            </a:r>
            <a:r>
              <a:rPr sz="1000" i="1" spc="-10" dirty="0">
                <a:latin typeface="Arial"/>
                <a:cs typeface="Arial"/>
              </a:rPr>
              <a:t> </a:t>
            </a:r>
            <a:r>
              <a:rPr sz="1000" i="1" spc="-295" dirty="0">
                <a:latin typeface="メイリオ"/>
                <a:cs typeface="メイリオ"/>
              </a:rPr>
              <a:t>/∈</a:t>
            </a:r>
            <a:r>
              <a:rPr sz="1000" i="1" spc="-120" dirty="0">
                <a:latin typeface="メイリオ"/>
                <a:cs typeface="メイリオ"/>
              </a:rPr>
              <a:t> </a:t>
            </a:r>
            <a:r>
              <a:rPr sz="1000" b="1" spc="-5" dirty="0">
                <a:latin typeface="Arial"/>
                <a:cs typeface="Arial"/>
              </a:rPr>
              <a:t>DEP</a:t>
            </a:r>
            <a:r>
              <a:rPr sz="1000" spc="-10" dirty="0">
                <a:latin typeface="Arial"/>
                <a:cs typeface="Arial"/>
              </a:rPr>
              <a:t>(</a:t>
            </a:r>
            <a:r>
              <a:rPr sz="1000" i="1" spc="10" dirty="0">
                <a:latin typeface="Arial"/>
                <a:cs typeface="Arial"/>
              </a:rPr>
              <a:t>m</a:t>
            </a:r>
            <a:r>
              <a:rPr sz="1000" spc="-5" dirty="0">
                <a:latin typeface="Arial"/>
                <a:cs typeface="Arial"/>
              </a:rPr>
              <a:t>).</a:t>
            </a:r>
            <a:endParaRPr sz="100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499</TotalTime>
  <Words>41067</Words>
  <Application>Microsoft Office PowerPoint</Application>
  <PresentationFormat>Custom</PresentationFormat>
  <Paragraphs>4438</Paragraphs>
  <Slides>97</Slides>
  <Notes>59</Notes>
  <HiddenSlides>38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97</vt:i4>
      </vt:variant>
    </vt:vector>
  </HeadingPairs>
  <TitlesOfParts>
    <vt:vector size="104" baseType="lpstr">
      <vt:lpstr>メイリオ</vt:lpstr>
      <vt:lpstr>Arial</vt:lpstr>
      <vt:lpstr>Arial Unicode MS</vt:lpstr>
      <vt:lpstr>Calibri</vt:lpstr>
      <vt:lpstr>quote-cjk-patch</vt:lpstr>
      <vt:lpstr>Times New Roman</vt:lpstr>
      <vt:lpstr>Office Theme</vt:lpstr>
      <vt:lpstr>PowerPoint Presentation</vt:lpstr>
      <vt:lpstr>Dependability</vt:lpstr>
      <vt:lpstr>Dependability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Halting failures</vt:lpstr>
      <vt:lpstr>PowerPoint Presentation</vt:lpstr>
      <vt:lpstr>PowerPoint Presentation</vt:lpstr>
      <vt:lpstr>PowerPoint Presentation</vt:lpstr>
      <vt:lpstr>Groups and failure masking</vt:lpstr>
      <vt:lpstr>Groups and failure masking</vt:lpstr>
      <vt:lpstr>Groups and failure masking</vt:lpstr>
      <vt:lpstr>PowerPoint Presentation</vt:lpstr>
      <vt:lpstr>Flooding-based consensus</vt:lpstr>
      <vt:lpstr>Flooding-based consensus</vt:lpstr>
      <vt:lpstr>Flooding-based consensus: Example</vt:lpstr>
      <vt:lpstr>Realistic consensus: Paxos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Consensus under arbitrary failure semantics</vt:lpstr>
      <vt:lpstr>Consensus under arbitrary failure semantics</vt:lpstr>
      <vt:lpstr>Why having 3k processes is not enough</vt:lpstr>
      <vt:lpstr>Why having 3k + 1 processes is enough</vt:lpstr>
      <vt:lpstr>PowerPoint Presentation</vt:lpstr>
      <vt:lpstr>Distributed consensus: when can it be reached</vt:lpstr>
      <vt:lpstr>Consistency, availability, and partitioning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fully transparent server recovery is impossible</vt:lpstr>
      <vt:lpstr>Why fully transparent server recovery is impossible</vt:lpstr>
      <vt:lpstr>PowerPoint Presentation</vt:lpstr>
      <vt:lpstr>PowerPoint Presentation</vt:lpstr>
      <vt:lpstr>Simple reliable group communication</vt:lpstr>
      <vt:lpstr>Less simple reliable group communication</vt:lpstr>
      <vt:lpstr>Simple reliable group communication</vt:lpstr>
      <vt:lpstr>Distributed commit protocols</vt:lpstr>
      <vt:lpstr>Two-phase commit protocol (2PC)</vt:lpstr>
      <vt:lpstr>2PC - Finite state machines</vt:lpstr>
      <vt:lpstr>PowerPoint Presentation</vt:lpstr>
      <vt:lpstr>2PC – Failing participant</vt:lpstr>
      <vt:lpstr>2PC – Failing participant</vt:lpstr>
      <vt:lpstr>2PC – Failing participant</vt:lpstr>
      <vt:lpstr>2PC – Failing participant</vt:lpstr>
      <vt:lpstr>2PC – Failing participant</vt:lpstr>
      <vt:lpstr>2PC – Failing coordinator</vt:lpstr>
      <vt:lpstr>Coordinator in Python</vt:lpstr>
      <vt:lpstr>Participant in Python</vt:lpstr>
      <vt:lpstr>Recovery: Background</vt:lpstr>
      <vt:lpstr>Consistent recovery state</vt:lpstr>
      <vt:lpstr>Coordinated checkpointing</vt:lpstr>
      <vt:lpstr>Coordinated checkpointing</vt:lpstr>
      <vt:lpstr>Coordinated checkpointing</vt:lpstr>
      <vt:lpstr>Coordinated checkpointing</vt:lpstr>
      <vt:lpstr>Coordinated checkpointing</vt:lpstr>
      <vt:lpstr>PowerPoint Presentation</vt:lpstr>
      <vt:lpstr>PowerPoint Presentation</vt:lpstr>
      <vt:lpstr>Independent checkpointing</vt:lpstr>
      <vt:lpstr>Independent checkpointing</vt:lpstr>
      <vt:lpstr>Independent checkpointing</vt:lpstr>
      <vt:lpstr>Independent checkpointing</vt:lpstr>
      <vt:lpstr>Independent checkpointing</vt:lpstr>
      <vt:lpstr>PowerPoint Presentation</vt:lpstr>
      <vt:lpstr>Message logging and consistency  When should we actually log messages?  Avoid orphan processes: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cp:lastModifiedBy>Admin</cp:lastModifiedBy>
  <cp:revision>68</cp:revision>
  <dcterms:created xsi:type="dcterms:W3CDTF">2022-03-20T07:21:48Z</dcterms:created>
  <dcterms:modified xsi:type="dcterms:W3CDTF">2025-11-18T16:15:52Z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2022-03-20T00:00:00Z</vt:filetime>
  </property>
  <property fmtid="{D5CDD505-2E9C-101B-9397-08002B2CF9AE}" pid="3" name="Creator">
    <vt:lpwstr>LaTeX with Beamer class</vt:lpwstr>
  </property>
  <property fmtid="{D5CDD505-2E9C-101B-9397-08002B2CF9AE}" pid="4" name="LastSaved">
    <vt:filetime>2022-03-20T00:00:00Z</vt:filetime>
  </property>
</Properties>
</file>